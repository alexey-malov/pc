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95" r:id="rId2"/>
    <p:sldId id="368" r:id="rId3"/>
    <p:sldId id="296" r:id="rId4"/>
    <p:sldId id="370" r:id="rId5"/>
    <p:sldId id="371" r:id="rId6"/>
    <p:sldId id="372" r:id="rId7"/>
    <p:sldId id="369" r:id="rId8"/>
    <p:sldId id="323" r:id="rId9"/>
    <p:sldId id="297" r:id="rId10"/>
    <p:sldId id="324" r:id="rId11"/>
    <p:sldId id="373" r:id="rId12"/>
    <p:sldId id="326" r:id="rId13"/>
    <p:sldId id="374" r:id="rId14"/>
    <p:sldId id="327" r:id="rId15"/>
    <p:sldId id="332" r:id="rId16"/>
    <p:sldId id="333" r:id="rId17"/>
    <p:sldId id="334" r:id="rId18"/>
    <p:sldId id="328" r:id="rId19"/>
    <p:sldId id="329" r:id="rId20"/>
    <p:sldId id="330" r:id="rId21"/>
    <p:sldId id="335" r:id="rId22"/>
    <p:sldId id="336" r:id="rId23"/>
    <p:sldId id="337" r:id="rId24"/>
    <p:sldId id="338" r:id="rId25"/>
    <p:sldId id="339" r:id="rId26"/>
    <p:sldId id="340" r:id="rId27"/>
    <p:sldId id="341" r:id="rId28"/>
    <p:sldId id="342" r:id="rId29"/>
    <p:sldId id="375" r:id="rId30"/>
    <p:sldId id="376" r:id="rId31"/>
    <p:sldId id="377" r:id="rId32"/>
    <p:sldId id="378" r:id="rId33"/>
    <p:sldId id="343" r:id="rId34"/>
    <p:sldId id="344" r:id="rId35"/>
    <p:sldId id="345" r:id="rId36"/>
    <p:sldId id="346" r:id="rId37"/>
    <p:sldId id="347" r:id="rId38"/>
    <p:sldId id="348" r:id="rId39"/>
    <p:sldId id="349" r:id="rId40"/>
    <p:sldId id="350" r:id="rId41"/>
    <p:sldId id="351" r:id="rId42"/>
    <p:sldId id="352" r:id="rId43"/>
    <p:sldId id="361" r:id="rId44"/>
    <p:sldId id="353" r:id="rId45"/>
    <p:sldId id="354" r:id="rId46"/>
    <p:sldId id="355" r:id="rId47"/>
    <p:sldId id="356" r:id="rId48"/>
    <p:sldId id="357" r:id="rId49"/>
    <p:sldId id="358" r:id="rId50"/>
    <p:sldId id="359" r:id="rId51"/>
    <p:sldId id="360" r:id="rId52"/>
    <p:sldId id="362" r:id="rId53"/>
    <p:sldId id="366" r:id="rId54"/>
    <p:sldId id="363" r:id="rId55"/>
    <p:sldId id="364" r:id="rId56"/>
    <p:sldId id="365" r:id="rId57"/>
    <p:sldId id="367" r:id="rId58"/>
    <p:sldId id="286" r:id="rId59"/>
    <p:sldId id="285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21D366-7321-4E9E-B471-1AF82A17AE44}">
          <p14:sldIdLst>
            <p14:sldId id="295"/>
            <p14:sldId id="368"/>
            <p14:sldId id="296"/>
            <p14:sldId id="370"/>
            <p14:sldId id="371"/>
            <p14:sldId id="372"/>
            <p14:sldId id="369"/>
            <p14:sldId id="323"/>
            <p14:sldId id="297"/>
            <p14:sldId id="324"/>
            <p14:sldId id="373"/>
            <p14:sldId id="326"/>
            <p14:sldId id="374"/>
            <p14:sldId id="327"/>
            <p14:sldId id="332"/>
            <p14:sldId id="333"/>
            <p14:sldId id="334"/>
            <p14:sldId id="328"/>
            <p14:sldId id="329"/>
            <p14:sldId id="330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75"/>
            <p14:sldId id="376"/>
            <p14:sldId id="377"/>
            <p14:sldId id="378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61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2"/>
            <p14:sldId id="366"/>
            <p14:sldId id="363"/>
            <p14:sldId id="364"/>
            <p14:sldId id="365"/>
            <p14:sldId id="367"/>
            <p14:sldId id="286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0" autoAdjust="0"/>
    <p:restoredTop sz="58617" autoAdjust="0"/>
  </p:normalViewPr>
  <p:slideViewPr>
    <p:cSldViewPr snapToGrid="0" showGuides="1">
      <p:cViewPr varScale="1">
        <p:scale>
          <a:sx n="53" d="100"/>
          <a:sy n="53" d="100"/>
        </p:scale>
        <p:origin x="2748" y="276"/>
      </p:cViewPr>
      <p:guideLst>
        <p:guide orient="horz" pos="2205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81A67-A27B-4083-940C-241E42A8E89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0D86D-1409-43B0-8811-9A559436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5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15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у нас всё выглядело довольно просто:</a:t>
            </a:r>
            <a:br>
              <a:rPr lang="ru-RU" dirty="0"/>
            </a:br>
            <a:r>
              <a:rPr lang="ru-RU" dirty="0"/>
              <a:t>есть общие данные — защищаем их мьютексом — и программа становится корректной.</a:t>
            </a:r>
          </a:p>
          <a:p>
            <a:endParaRPr lang="ru-RU" dirty="0"/>
          </a:p>
          <a:p>
            <a:r>
              <a:rPr lang="ru-RU" dirty="0"/>
              <a:t>Но давайте посмотрим на это с точки зрения производительности.</a:t>
            </a:r>
          </a:p>
          <a:p>
            <a:endParaRPr lang="ru-RU" dirty="0"/>
          </a:p>
          <a:p>
            <a:r>
              <a:rPr lang="ru-RU" dirty="0"/>
              <a:t>Когда несколько потоков начинают работать с одной структурой данных, они начинают конкурировать за блокировку. В каждый момент времени только один поток может владеть мьютексом, а остальные — просто ждут.</a:t>
            </a:r>
          </a:p>
          <a:p>
            <a:endParaRPr lang="ru-RU" dirty="0"/>
          </a:p>
          <a:p>
            <a:r>
              <a:rPr lang="ru-RU" dirty="0"/>
              <a:t>И чем больше потоков, тем хуже ситуация: растёт время ожидания, увеличивается количество переключений контекста, и в какой-то момент вы можете получить неожиданную вещь — программа на 8 потоках работает медленнее, чем на одном.</a:t>
            </a:r>
          </a:p>
          <a:p>
            <a:endParaRPr lang="ru-RU" dirty="0"/>
          </a:p>
          <a:p>
            <a:r>
              <a:rPr lang="ru-RU" dirty="0"/>
              <a:t>Кроме того, появляются классические проблемы: взаимные блокировки, инверсия приоритетов, эффект “конвоя”, когда потоки выстраиваются в очередь за мьютексом.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92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тем как двигаться дальше, введём важное различие.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Алгоритмы с мьютексами называются блокирующими.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Поток может остановиться и ждать, пока другой поток освободит ресурс. В этот момент операционная система может снять его с выполнения.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Есть другой класс алгоритмов — неблокирующие.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В них потоки не засыпают и не ждут друг друга. Вместо этого они используют атомарные операции и пытаются выполнить действие самостоятельно.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То есть мы переходим от модели “ждать своей очереди” к модели “соревноваться за выполнение”.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93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простая </a:t>
            </a:r>
            <a:r>
              <a:rPr lang="ru-RU" dirty="0" err="1"/>
              <a:t>потокобезопасная</a:t>
            </a:r>
            <a:r>
              <a:rPr lang="ru-RU" dirty="0"/>
              <a:t> очередь.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Внутри — обычный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queue</a:t>
            </a:r>
            <a:r>
              <a:rPr lang="ru-RU" dirty="0"/>
              <a:t>, доступ к которому защищён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 добавляет задачу под мьютексом и уведомляет один из потоков.</a:t>
            </a:r>
            <a:br>
              <a:rPr lang="ru-RU" dirty="0"/>
            </a:br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TryPop</a:t>
            </a:r>
            <a:r>
              <a:rPr lang="ru-RU" dirty="0"/>
              <a:t> тоже берёт мьютекс, проверяет, есть ли элементы, и извлекает задачу.</a:t>
            </a:r>
          </a:p>
          <a:p>
            <a:r>
              <a:rPr lang="ru-RU" dirty="0"/>
              <a:t>То есть все операции с очередью выполняются внутри критической секции.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13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 используется эта очередь.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Есть несколько потоков-поставщиков — они создают задачи и кладут их в очередь.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Каждая задача — это небольшая CPU-</a:t>
            </a:r>
            <a:r>
              <a:rPr lang="ru-RU" dirty="0" err="1"/>
              <a:t>bound</a:t>
            </a:r>
            <a:r>
              <a:rPr lang="ru-RU" dirty="0"/>
              <a:t>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CpuTask</a:t>
            </a:r>
            <a:r>
              <a:rPr lang="ru-RU" dirty="0"/>
              <a:t>.</a:t>
            </a:r>
          </a:p>
          <a:p>
            <a:r>
              <a:rPr lang="ru-RU" dirty="0"/>
              <a:t>Есть потоки-потребители — они в цикле пытаются извлечь задачу из очереди и выполнить её.</a:t>
            </a:r>
            <a:br>
              <a:rPr lang="ru-RU" dirty="0"/>
            </a:br>
            <a:r>
              <a:rPr lang="ru-RU" dirty="0"/>
              <a:t>Если задача есть — выполняем, если нет — делаем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yield</a:t>
            </a:r>
            <a:r>
              <a:rPr lang="ru-RU" dirty="0"/>
              <a:t> и пробуем снова.</a:t>
            </a:r>
          </a:p>
          <a:p>
            <a:r>
              <a:rPr lang="ru-RU" dirty="0"/>
              <a:t>Таким образом, у нас классическая схема </a:t>
            </a:r>
            <a:r>
              <a:rPr lang="ru-RU" dirty="0" err="1"/>
              <a:t>producer</a:t>
            </a:r>
            <a:r>
              <a:rPr lang="ru-RU" dirty="0"/>
              <a:t>–</a:t>
            </a:r>
            <a:r>
              <a:rPr lang="ru-RU" dirty="0" err="1"/>
              <a:t>consumer</a:t>
            </a:r>
            <a:r>
              <a:rPr lang="ru-RU" dirty="0"/>
              <a:t>: одни потоки генерируют работу, другие её обрабатывают.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42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Посмотрим на результаты бенчмарка.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 переходе от одного потока к двум мы видим ожидаемый рост производительности — почти в два раза.</a:t>
            </a:r>
            <a:br>
              <a:rPr lang="ru-RU" dirty="0"/>
            </a:br>
            <a:r>
              <a:rPr lang="ru-RU" dirty="0"/>
              <a:t>Но дальше ситуация резко меняется.</a:t>
            </a:r>
          </a:p>
          <a:p>
            <a:r>
              <a:rPr lang="ru-RU" dirty="0"/>
              <a:t>При четырёх потоках рост почти останавливается.</a:t>
            </a:r>
            <a:br>
              <a:rPr lang="ru-RU" dirty="0"/>
            </a:br>
            <a:r>
              <a:rPr lang="ru-RU" dirty="0"/>
              <a:t>А начиная с восьми потоков производительность уже начинает падать.</a:t>
            </a:r>
          </a:p>
          <a:p>
            <a:r>
              <a:rPr lang="ru-RU" dirty="0"/>
              <a:t>То есть потоков становится больше, а система не ускоряется — и даже работает медленнее.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👉 В чём причина?</a:t>
            </a:r>
          </a:p>
          <a:p>
            <a:r>
              <a:rPr lang="ru-RU" dirty="0"/>
              <a:t>Основная проблема в том, что все потоки конкурируют за одну и ту же очередь.</a:t>
            </a:r>
            <a:br>
              <a:rPr lang="ru-RU" dirty="0"/>
            </a:br>
            <a:r>
              <a:rPr lang="ru-RU" dirty="0"/>
              <a:t>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,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TryPop</a:t>
            </a:r>
            <a:r>
              <a:rPr lang="ru-RU" dirty="0"/>
              <a:t> используют один общий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</a:t>
            </a:r>
            <a:r>
              <a:rPr lang="ru-RU" dirty="0"/>
              <a:t>, поэтому доступ к очереди остаётся последовательным.</a:t>
            </a:r>
          </a:p>
          <a:p>
            <a:endParaRPr lang="ru-RU" dirty="0"/>
          </a:p>
          <a:p>
            <a:r>
              <a:rPr lang="ru-RU" dirty="0"/>
              <a:t>В результате:</a:t>
            </a:r>
          </a:p>
          <a:p>
            <a:r>
              <a:rPr lang="ru-RU" dirty="0"/>
              <a:t>потоки тратят время не на выполнение задач, а на ожидание мьютекса растёт </a:t>
            </a:r>
            <a:r>
              <a:rPr lang="ru-RU" dirty="0" err="1"/>
              <a:t>contention</a:t>
            </a:r>
            <a:r>
              <a:rPr lang="en-US" dirty="0"/>
              <a:t>, </a:t>
            </a:r>
            <a:r>
              <a:rPr lang="ru-RU" dirty="0"/>
              <a:t>увеличиваются накладные расходы на синхронизацию </a:t>
            </a:r>
          </a:p>
          <a:p>
            <a:endParaRPr lang="ru-RU" dirty="0"/>
          </a:p>
          <a:p>
            <a:r>
              <a:rPr lang="ru-RU" dirty="0"/>
              <a:t>Вывод:</a:t>
            </a:r>
          </a:p>
          <a:p>
            <a:r>
              <a:rPr lang="ru-RU" dirty="0"/>
              <a:t>Мьютекс делает структуру данных корректной, но при высокой конкуренции он становится узким местом и ограничивает масштабируемость.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40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представим другую модель.</a:t>
            </a:r>
          </a:p>
          <a:p>
            <a:endParaRPr lang="ru-RU" dirty="0"/>
          </a:p>
          <a:p>
            <a:r>
              <a:rPr lang="ru-RU" dirty="0"/>
              <a:t>Что если потоки вообще не будут ждать друг друга?</a:t>
            </a:r>
            <a:br>
              <a:rPr lang="ru-RU" dirty="0"/>
            </a:br>
            <a:r>
              <a:rPr lang="ru-RU" dirty="0"/>
              <a:t>Не будут засыпать, не будут блокироваться, не будут вызывать системные функции.</a:t>
            </a:r>
          </a:p>
          <a:p>
            <a:endParaRPr lang="ru-RU" dirty="0"/>
          </a:p>
          <a:p>
            <a:r>
              <a:rPr lang="ru-RU" dirty="0"/>
              <a:t>Вместо этого каждый поток пытается выполнить операцию сам, используя атомарные инструкции процессора.</a:t>
            </a:r>
            <a:br>
              <a:rPr lang="ru-RU" dirty="0"/>
            </a:br>
            <a:r>
              <a:rPr lang="ru-RU" dirty="0"/>
              <a:t>Если не получилось — он просто пробует ещё раз.</a:t>
            </a:r>
          </a:p>
          <a:p>
            <a:endParaRPr lang="ru-RU" dirty="0"/>
          </a:p>
          <a:p>
            <a:r>
              <a:rPr lang="ru-RU" dirty="0"/>
              <a:t>То есть мы переходим от модели “ожидания” к модели “соревнования”.</a:t>
            </a:r>
          </a:p>
          <a:p>
            <a:endParaRPr lang="ru-RU" dirty="0"/>
          </a:p>
          <a:p>
            <a:r>
              <a:rPr lang="ru-RU" dirty="0"/>
              <a:t>Потоки больше не стоят в очереди за мьютексом — они конкурируют за изменение данных.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вот такие алгоритмы называются неблокирующими.</a:t>
            </a:r>
            <a:br>
              <a:rPr lang="ru-RU" dirty="0"/>
            </a:br>
            <a:r>
              <a:rPr lang="ru-RU" dirty="0"/>
              <a:t>А самые интересные из них — это </a:t>
            </a:r>
            <a:r>
              <a:rPr lang="ru-RU" dirty="0" err="1"/>
              <a:t>lock-free</a:t>
            </a:r>
            <a:r>
              <a:rPr lang="ru-RU" dirty="0"/>
              <a:t> и </a:t>
            </a:r>
            <a:r>
              <a:rPr lang="ru-RU" dirty="0" err="1"/>
              <a:t>wait-free</a:t>
            </a:r>
            <a:r>
              <a:rPr lang="ru-RU" dirty="0"/>
              <a:t> структуры данных.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👉 Но за эту свободу приходится платить:</a:t>
            </a:r>
            <a:r>
              <a:rPr lang="en-US" dirty="0"/>
              <a:t> </a:t>
            </a:r>
            <a:r>
              <a:rPr lang="ru-RU" dirty="0"/>
              <a:t>код становится сложнее, а ошибки — гораздо более коварными.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84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простой пример </a:t>
            </a:r>
            <a:r>
              <a:rPr lang="ru-RU" dirty="0" err="1"/>
              <a:t>spinlock’а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методе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dirty="0"/>
              <a:t> поток в цикле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test_and_set</a:t>
            </a:r>
            <a:r>
              <a:rPr lang="ru-RU" dirty="0"/>
              <a:t> и крутится, пока флаг не освободится.</a:t>
            </a:r>
            <a:br>
              <a:rPr lang="ru-RU" dirty="0"/>
            </a:br>
            <a:r>
              <a:rPr lang="ru-RU" dirty="0"/>
              <a:t>То есть поток не засыпает и не вызывает блокирующих функций — он активно ждёт.</a:t>
            </a:r>
          </a:p>
          <a:p>
            <a:r>
              <a:rPr lang="ru-RU" dirty="0"/>
              <a:t>С этой точки зрения такой код действительно является неблокирующим: поток не передаёт управление операционной системе, а продолжает выполняться.</a:t>
            </a:r>
          </a:p>
          <a:p>
            <a:endParaRPr lang="ru-RU" dirty="0"/>
          </a:p>
          <a:p>
            <a:r>
              <a:rPr lang="ru-RU" dirty="0"/>
              <a:t>Но здесь есть важный момент.</a:t>
            </a:r>
          </a:p>
          <a:p>
            <a:r>
              <a:rPr lang="ru-RU" dirty="0"/>
              <a:t>👉 Несмотря на отсутствие блокировок, это всё ещё мьютекс.</a:t>
            </a:r>
          </a:p>
          <a:p>
            <a:endParaRPr lang="ru-RU" dirty="0"/>
          </a:p>
          <a:p>
            <a:r>
              <a:rPr lang="ru-RU" dirty="0"/>
              <a:t>В каждый момент времени только один поток может владеть этим флагом, а остальные продолжают крутиться в ожидании.</a:t>
            </a:r>
          </a:p>
          <a:p>
            <a:endParaRPr lang="ru-RU" dirty="0"/>
          </a:p>
          <a:p>
            <a:r>
              <a:rPr lang="ru-RU" dirty="0"/>
              <a:t>Поэтому такой код не является </a:t>
            </a:r>
            <a:r>
              <a:rPr lang="ru-RU" dirty="0" err="1"/>
              <a:t>lock-free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если один поток “захватил” структуру, остальные не могут продвигаться вперёд.</a:t>
            </a:r>
          </a:p>
          <a:p>
            <a:r>
              <a:rPr lang="ru-RU" dirty="0"/>
              <a:t>👉 Это важное различие:</a:t>
            </a:r>
            <a:r>
              <a:rPr lang="en-US" dirty="0"/>
              <a:t> </a:t>
            </a:r>
            <a:r>
              <a:rPr lang="ru-RU" b="1" dirty="0" err="1"/>
              <a:t>non-blocking</a:t>
            </a:r>
            <a:r>
              <a:rPr lang="ru-RU" b="1" dirty="0"/>
              <a:t> не означает </a:t>
            </a:r>
            <a:r>
              <a:rPr lang="ru-RU" b="1" dirty="0" err="1"/>
              <a:t>lock-free</a:t>
            </a:r>
            <a:r>
              <a:rPr lang="ru-RU" b="1" dirty="0"/>
              <a:t>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81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Существует три уровня неблокирующих алгоритмов, которые различаются по силе гарантий прогресса.</a:t>
            </a:r>
          </a:p>
          <a:p>
            <a:endParaRPr lang="ru-RU" dirty="0"/>
          </a:p>
          <a:p>
            <a:r>
              <a:rPr lang="ru-RU" dirty="0"/>
              <a:t>Самый слабый — </a:t>
            </a:r>
            <a:r>
              <a:rPr lang="ru-RU" dirty="0" err="1"/>
              <a:t>obstruction-free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 гарантирует завершение операции только если поток работает в одиночку. При конкуренции никаких гарантий нет, поэтому на практике такие алгоритмы почти не используются.</a:t>
            </a:r>
          </a:p>
          <a:p>
            <a:endParaRPr lang="ru-RU" dirty="0"/>
          </a:p>
          <a:p>
            <a:r>
              <a:rPr lang="ru-RU" dirty="0"/>
              <a:t>Следующий уровень — </a:t>
            </a:r>
            <a:r>
              <a:rPr lang="ru-RU" dirty="0" err="1"/>
              <a:t>lock-free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Здесь уже есть важное свойство: если несколько потоков работают одновременно, хотя бы один из них обязательно завершит операцию. То есть система в целом не “застревает”.</a:t>
            </a:r>
          </a:p>
          <a:p>
            <a:endParaRPr lang="ru-RU" dirty="0"/>
          </a:p>
          <a:p>
            <a:r>
              <a:rPr lang="ru-RU" dirty="0"/>
              <a:t>И, наконец, </a:t>
            </a:r>
            <a:r>
              <a:rPr lang="ru-RU" dirty="0" err="1"/>
              <a:t>wait-free</a:t>
            </a:r>
            <a:r>
              <a:rPr lang="ru-RU" dirty="0"/>
              <a:t> — самый сильный уровень.</a:t>
            </a:r>
            <a:br>
              <a:rPr lang="ru-RU" dirty="0"/>
            </a:br>
            <a:r>
              <a:rPr lang="ru-RU" dirty="0"/>
              <a:t>Здесь гарантируется, что каждый поток завершит свою операцию за конечное число шагов, независимо от других потоков.</a:t>
            </a:r>
          </a:p>
          <a:p>
            <a:endParaRPr lang="ru-RU" dirty="0"/>
          </a:p>
          <a:p>
            <a:r>
              <a:rPr lang="ru-RU" dirty="0"/>
              <a:t>Важно помнить:</a:t>
            </a:r>
            <a:br>
              <a:rPr lang="ru-RU" dirty="0"/>
            </a:br>
            <a:r>
              <a:rPr lang="ru-RU" dirty="0" err="1"/>
              <a:t>lock-free</a:t>
            </a:r>
            <a:r>
              <a:rPr lang="ru-RU" dirty="0"/>
              <a:t> не гарантирует прогресс для каждого потока — некоторые потоки могут постоянно проигрывать в конкуренции.</a:t>
            </a:r>
          </a:p>
          <a:p>
            <a:endParaRPr lang="ru-RU" dirty="0"/>
          </a:p>
          <a:p>
            <a:r>
              <a:rPr lang="ru-RU" dirty="0"/>
              <a:t>Поэтому </a:t>
            </a:r>
            <a:r>
              <a:rPr lang="ru-RU" dirty="0" err="1"/>
              <a:t>wait-free</a:t>
            </a:r>
            <a:r>
              <a:rPr lang="ru-RU" dirty="0"/>
              <a:t> алгоритмы самые сильные, но и самые сложные в реализации.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14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разберёмся, что означает, что структура данных является </a:t>
            </a:r>
            <a:r>
              <a:rPr lang="ru-RU" dirty="0" err="1"/>
              <a:t>lock-free</a:t>
            </a:r>
            <a:r>
              <a:rPr lang="ru-RU" dirty="0"/>
              <a:t>.</a:t>
            </a:r>
          </a:p>
          <a:p>
            <a:r>
              <a:rPr lang="ru-RU" dirty="0"/>
              <a:t>Главное свойство здесь — это прогресс системы в целом.</a:t>
            </a:r>
          </a:p>
          <a:p>
            <a:br>
              <a:rPr lang="ru-RU" dirty="0"/>
            </a:br>
            <a:r>
              <a:rPr lang="ru-RU" dirty="0"/>
              <a:t>Если несколько потоков одновременно работают со структурой, хотя бы один из них обязательно завершит свою операцию.</a:t>
            </a:r>
          </a:p>
          <a:p>
            <a:endParaRPr lang="ru-RU" dirty="0"/>
          </a:p>
          <a:p>
            <a:r>
              <a:rPr lang="ru-RU" dirty="0"/>
              <a:t>Это означает, что если один поток завис, остановился или был вытеснен операционной системой, остальные потоки продолжают работать и не ждут его.</a:t>
            </a:r>
          </a:p>
          <a:p>
            <a:endParaRPr lang="ru-RU" dirty="0"/>
          </a:p>
          <a:p>
            <a:r>
              <a:rPr lang="ru-RU" dirty="0"/>
              <a:t>В отличие от решений с мьютексами, здесь нет точки, на которой все потоки могут “застрять”.</a:t>
            </a:r>
          </a:p>
          <a:p>
            <a:endParaRPr lang="ru-RU" dirty="0"/>
          </a:p>
          <a:p>
            <a:r>
              <a:rPr lang="ru-RU" dirty="0"/>
              <a:t>Обычно такие структуры строятся на атомарных операциях,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compare_exchange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операция не удалась — поток просто повторяет попытку, отсюда появляются так называемые </a:t>
            </a:r>
            <a:r>
              <a:rPr lang="ru-RU" dirty="0" err="1"/>
              <a:t>retry</a:t>
            </a:r>
            <a:r>
              <a:rPr lang="ru-RU" dirty="0"/>
              <a:t>-циклы.</a:t>
            </a:r>
          </a:p>
          <a:p>
            <a:endParaRPr lang="ru-RU" dirty="0"/>
          </a:p>
          <a:p>
            <a:r>
              <a:rPr lang="ru-RU" dirty="0"/>
              <a:t>Важно понимать, что это не бесплатно.</a:t>
            </a:r>
            <a:br>
              <a:rPr lang="ru-RU" dirty="0"/>
            </a:br>
            <a:r>
              <a:rPr lang="ru-RU" dirty="0"/>
              <a:t>Потоки могут мешать друг другу, и один из потоков может долго не продвигаться вперёд — это называется голоданием.</a:t>
            </a:r>
          </a:p>
          <a:p>
            <a:endParaRPr lang="ru-RU" dirty="0"/>
          </a:p>
          <a:p>
            <a:r>
              <a:rPr lang="ru-RU" dirty="0"/>
              <a:t>Поэтому </a:t>
            </a:r>
            <a:r>
              <a:rPr lang="ru-RU" dirty="0" err="1"/>
              <a:t>lock-free</a:t>
            </a:r>
            <a:r>
              <a:rPr lang="ru-RU" dirty="0"/>
              <a:t> гарантирует прогресс системы, но не гарантирует справедливость для каждого потока.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25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посмотрим на самый простой пример </a:t>
            </a:r>
            <a:r>
              <a:rPr lang="ru-RU" dirty="0" err="1"/>
              <a:t>lock-free</a:t>
            </a:r>
            <a:r>
              <a:rPr lang="ru-RU" dirty="0"/>
              <a:t> алгоритма — атомарный инкремент.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Поток сначала читает текущее значение счётчика, а затем пытается заменить его на новое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compare_exchange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Если за это время другой поток изменил значение, операция не срабатывает, и поток повторяет попытку.</a:t>
            </a:r>
          </a:p>
          <a:p>
            <a:r>
              <a:rPr lang="ru-RU" dirty="0"/>
              <a:t>Обратите внимание: здесь нет ни мьютексов, ни ожидания — поток не блокируется, а просто делает новую попытку.</a:t>
            </a:r>
          </a:p>
          <a:p>
            <a:r>
              <a:rPr lang="ru-RU" dirty="0"/>
              <a:t>👉 Важный момент: 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compare_exchange</a:t>
            </a:r>
            <a:r>
              <a:rPr lang="ru-RU" dirty="0"/>
              <a:t> не сработал, это значит, что другой поток успешно изменил значение.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То есть:</a:t>
            </a:r>
          </a:p>
          <a:p>
            <a:r>
              <a:rPr lang="ru-RU" dirty="0"/>
              <a:t>хотя бы один поток делает прогресс.</a:t>
            </a:r>
          </a:p>
          <a:p>
            <a:r>
              <a:rPr lang="ru-RU" dirty="0"/>
              <a:t>Именно поэтому такой алгоритм является </a:t>
            </a:r>
            <a:r>
              <a:rPr lang="ru-RU" dirty="0" err="1"/>
              <a:t>lock-free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 этом нет гарантии, что каждый конкретный поток завершит операцию быстро — он может долго крутиться в цикле.</a:t>
            </a:r>
            <a:br>
              <a:rPr lang="ru-RU" dirty="0"/>
            </a:br>
            <a:r>
              <a:rPr lang="ru-RU" dirty="0"/>
              <a:t>Но система в целом продолжает двигаться вперёд.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60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Wait-free</a:t>
            </a:r>
            <a:r>
              <a:rPr lang="ru-RU" dirty="0"/>
              <a:t> алгоритмы дают самую сильную гарантию прогресса.</a:t>
            </a:r>
          </a:p>
          <a:p>
            <a:r>
              <a:rPr lang="ru-RU" dirty="0"/>
              <a:t>Здесь уже недостаточно, чтобы система в целом двигалась вперёд.</a:t>
            </a:r>
          </a:p>
          <a:p>
            <a:br>
              <a:rPr lang="ru-RU" dirty="0"/>
            </a:br>
            <a:r>
              <a:rPr lang="ru-RU" dirty="0"/>
              <a:t>Требуется, чтобы каждый поток завершал свою операцию за конечное число шагов — независимо от того, что делают другие потоки.</a:t>
            </a:r>
          </a:p>
          <a:p>
            <a:endParaRPr lang="ru-RU" dirty="0"/>
          </a:p>
          <a:p>
            <a:r>
              <a:rPr lang="ru-RU" dirty="0"/>
              <a:t>Это означает, что поток не может бесконечно крутиться в </a:t>
            </a:r>
            <a:r>
              <a:rPr lang="ru-RU" dirty="0" err="1"/>
              <a:t>retry</a:t>
            </a:r>
            <a:r>
              <a:rPr lang="ru-RU" dirty="0"/>
              <a:t>-цикле и “проигрывать” другим потокам.</a:t>
            </a:r>
          </a:p>
          <a:p>
            <a:br>
              <a:rPr lang="ru-RU" dirty="0"/>
            </a:br>
            <a:r>
              <a:rPr lang="ru-RU" dirty="0"/>
              <a:t>Поэтому классические CAS-циклы без ограничения сверху обычно не являются </a:t>
            </a:r>
            <a:r>
              <a:rPr lang="ru-RU" dirty="0" err="1"/>
              <a:t>wait-free</a:t>
            </a:r>
            <a:r>
              <a:rPr lang="ru-RU" dirty="0"/>
              <a:t>.</a:t>
            </a:r>
          </a:p>
          <a:p>
            <a:r>
              <a:rPr lang="ru-RU" dirty="0"/>
              <a:t>Фактически, мы требуем, чтобы время выполнения операции было ограничено заранее.</a:t>
            </a:r>
          </a:p>
          <a:p>
            <a:r>
              <a:rPr lang="ru-RU" dirty="0"/>
              <a:t>Это очень сильное свойство, но за него приходится платить.</a:t>
            </a:r>
          </a:p>
          <a:p>
            <a:br>
              <a:rPr lang="ru-RU" dirty="0"/>
            </a:br>
            <a:r>
              <a:rPr lang="ru-RU" dirty="0"/>
              <a:t>Такие алгоритмы крайне сложно проектировать, и на практике они встречаются значительно реже, чем </a:t>
            </a:r>
            <a:r>
              <a:rPr lang="ru-RU" dirty="0" err="1"/>
              <a:t>lock-free</a:t>
            </a:r>
            <a:r>
              <a:rPr lang="ru-RU" dirty="0"/>
              <a:t> решения.</a:t>
            </a:r>
          </a:p>
          <a:p>
            <a:endParaRPr lang="ru-RU" dirty="0"/>
          </a:p>
          <a:p>
            <a:r>
              <a:rPr lang="ru-RU" dirty="0"/>
              <a:t>Важно помнить: любой </a:t>
            </a:r>
            <a:r>
              <a:rPr lang="ru-RU" dirty="0" err="1"/>
              <a:t>wait-free</a:t>
            </a:r>
            <a:r>
              <a:rPr lang="ru-RU" dirty="0"/>
              <a:t> алгоритм автоматически является </a:t>
            </a:r>
            <a:r>
              <a:rPr lang="ru-RU" dirty="0" err="1"/>
              <a:t>lock-free</a:t>
            </a:r>
            <a:r>
              <a:rPr lang="ru-RU" dirty="0"/>
              <a:t>, но не наоборот.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54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простой пример </a:t>
            </a:r>
            <a:r>
              <a:rPr lang="ru-RU" dirty="0" err="1"/>
              <a:t>wait-free</a:t>
            </a:r>
            <a:r>
              <a:rPr lang="ru-RU" dirty="0"/>
              <a:t> алгоритма — добавление элементов в массив фиксированного размера.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Здесь используется атомарный счётчик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Каждый поток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fetch_add</a:t>
            </a:r>
            <a:r>
              <a:rPr lang="ru-RU" dirty="0"/>
              <a:t> и получает уникальный индекс в массиве.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После этого он просто записывает значение в соответствующую ячейку.</a:t>
            </a:r>
          </a:p>
          <a:p>
            <a:r>
              <a:rPr lang="ru-RU" dirty="0"/>
              <a:t>Обратите внимание: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здесь нет циклов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нет повторных попыток </a:t>
            </a:r>
          </a:p>
          <a:p>
            <a:r>
              <a:rPr lang="ru-RU" dirty="0"/>
              <a:t>каждая операция выполняется за фиксированное число шагов </a:t>
            </a:r>
          </a:p>
          <a:p>
            <a:r>
              <a:rPr lang="ru-RU" dirty="0"/>
              <a:t>независимо от того, сколько потоков работает одновременно</a:t>
            </a:r>
          </a:p>
          <a:p>
            <a:endParaRPr lang="ru-RU" dirty="0"/>
          </a:p>
          <a:p>
            <a:r>
              <a:rPr lang="ru-RU" dirty="0"/>
              <a:t>Именно поэтому такой алгоритм является </a:t>
            </a:r>
            <a:r>
              <a:rPr lang="ru-RU" dirty="0" err="1"/>
              <a:t>wait-free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каждый поток гарантированно завершит свою операцию.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Конечно, у этого решения есть ограничения — массив фиксированного размера, нет удаления элементов — но как иллюстрация идеи </a:t>
            </a:r>
            <a:r>
              <a:rPr lang="ru-RU" dirty="0" err="1"/>
              <a:t>wait-free</a:t>
            </a:r>
            <a:r>
              <a:rPr lang="ru-RU" dirty="0"/>
              <a:t> это очень показательный пример.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38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месте важно немного “приземлиться” и обсудить недостатки.</a:t>
            </a:r>
          </a:p>
          <a:p>
            <a:endParaRPr lang="ru-RU" dirty="0"/>
          </a:p>
          <a:p>
            <a:r>
              <a:rPr lang="ru-RU" dirty="0"/>
              <a:t>Во-первых, такие алгоритмы существенно сложнее.</a:t>
            </a:r>
          </a:p>
          <a:p>
            <a:br>
              <a:rPr lang="ru-RU" dirty="0"/>
            </a:br>
            <a:r>
              <a:rPr lang="ru-RU" dirty="0"/>
              <a:t>Если с мьютексами мы можем мыслить довольно прямолинейно, то здесь приходится учитывать множество тонкостей, и вероятность ошибки значительно выше.</a:t>
            </a:r>
          </a:p>
          <a:p>
            <a:endParaRPr lang="ru-RU" dirty="0"/>
          </a:p>
          <a:p>
            <a:r>
              <a:rPr lang="ru-RU" dirty="0"/>
              <a:t>Во-вторых, становится гораздо сложнее рассуждать о корректности.</a:t>
            </a:r>
            <a:br>
              <a:rPr lang="ru-RU" dirty="0"/>
            </a:br>
            <a:r>
              <a:rPr lang="ru-RU" dirty="0"/>
              <a:t>Поддержание инвариантов, отладка, воспроизведение ошибок — всё это усложняется.</a:t>
            </a:r>
          </a:p>
          <a:p>
            <a:endParaRPr lang="ru-RU" dirty="0"/>
          </a:p>
          <a:p>
            <a:r>
              <a:rPr lang="ru-RU" dirty="0"/>
              <a:t>Отдельная сложность — модель памяти.</a:t>
            </a:r>
            <a:br>
              <a:rPr lang="ru-RU" dirty="0"/>
            </a:br>
            <a:r>
              <a:rPr lang="ru-RU" dirty="0"/>
              <a:t>Нужно правильно выбирать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</a:t>
            </a:r>
            <a:r>
              <a:rPr lang="ru-RU" dirty="0"/>
              <a:t>, и ошибки здесь могут приводить к неопределённому поведению, которое очень трудно диагностировать.</a:t>
            </a:r>
          </a:p>
          <a:p>
            <a:endParaRPr lang="ru-RU" dirty="0"/>
          </a:p>
          <a:p>
            <a:r>
              <a:rPr lang="ru-RU" dirty="0"/>
              <a:t>Кроме того, </a:t>
            </a:r>
            <a:r>
              <a:rPr lang="ru-RU" dirty="0" err="1"/>
              <a:t>lock-free</a:t>
            </a:r>
            <a:r>
              <a:rPr lang="ru-RU" dirty="0"/>
              <a:t> алгоритмы не гарантируют лучшую производительность.</a:t>
            </a:r>
            <a:br>
              <a:rPr lang="ru-RU" dirty="0"/>
            </a:br>
            <a:r>
              <a:rPr lang="ru-RU" dirty="0"/>
              <a:t>Атомарные операции дороже обычных, а при высокой конкуренции потоки начинают мешать друг другу в CAS-циклах.</a:t>
            </a:r>
          </a:p>
          <a:p>
            <a:endParaRPr lang="ru-RU" dirty="0"/>
          </a:p>
          <a:p>
            <a:r>
              <a:rPr lang="ru-RU" dirty="0"/>
              <a:t>👉 Поэтому важно понимать:</a:t>
            </a:r>
            <a:br>
              <a:rPr lang="ru-RU" dirty="0"/>
            </a:br>
            <a:r>
              <a:rPr lang="ru-RU" dirty="0" err="1"/>
              <a:t>lock-free</a:t>
            </a:r>
            <a:r>
              <a:rPr lang="ru-RU" dirty="0"/>
              <a:t> означает не “всегда быстрее”, а про другие свойства системы, такие как отсутствие блокировок и устойчивость к зависшим потокам.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845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122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начнём с простой однопоточной реализации стека.</a:t>
            </a:r>
          </a:p>
          <a:p>
            <a:endParaRPr lang="ru-RU" dirty="0"/>
          </a:p>
          <a:p>
            <a:r>
              <a:rPr lang="ru-RU" dirty="0"/>
              <a:t>Здесь используется односвязный список: каждый узел хранит данные и указатель на следующий элемент.</a:t>
            </a:r>
            <a:br>
              <a:rPr lang="ru-RU" dirty="0"/>
            </a:br>
            <a:r>
              <a:rPr lang="ru-RU" dirty="0"/>
              <a:t>Указатель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m_head</a:t>
            </a:r>
            <a:r>
              <a:rPr lang="ru-RU" dirty="0"/>
              <a:t> указывает на вершину стека.</a:t>
            </a:r>
          </a:p>
          <a:p>
            <a:endParaRPr lang="ru-RU" dirty="0"/>
          </a:p>
          <a:p>
            <a:r>
              <a:rPr lang="ru-RU" dirty="0"/>
              <a:t>Обратите внимание, что копирование запрещено — это сделано, чтобы избежать проблем с управлением памятью.</a:t>
            </a:r>
          </a:p>
          <a:p>
            <a:r>
              <a:rPr lang="ru-RU" dirty="0"/>
              <a:t>В деструкторе мы просто проходим по списку и удаляем все узлы.</a:t>
            </a:r>
          </a:p>
          <a:p>
            <a:endParaRPr lang="ru-RU" dirty="0"/>
          </a:p>
          <a:p>
            <a:r>
              <a:rPr lang="ru-RU" dirty="0"/>
              <a:t>Это полностью корректная и достаточно простая реализация, но она рассчитана только на один поток.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6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основные операции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 создаёт новый узел и вставляет его в начало списка, обновляя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m_head</a:t>
            </a:r>
            <a:r>
              <a:rPr lang="ru-RU" dirty="0"/>
              <a:t>.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извлекает текущую голову стека, переносит данные и сдвигает указатель на следующий элемент.</a:t>
            </a:r>
          </a:p>
          <a:p>
            <a:r>
              <a:rPr lang="ru-RU" dirty="0"/>
              <a:t>В однопоточном коде всё работает корректно:</a:t>
            </a:r>
            <a:br>
              <a:rPr lang="ru-RU" dirty="0"/>
            </a:br>
            <a:r>
              <a:rPr lang="ru-RU" dirty="0"/>
              <a:t>операции простые, инварианты очевидны, управление памятью прозрачно.</a:t>
            </a:r>
          </a:p>
          <a:p>
            <a:endParaRPr lang="ru-RU" dirty="0"/>
          </a:p>
          <a:p>
            <a:r>
              <a:rPr lang="ru-RU" dirty="0"/>
              <a:t>Но здесь есть важный момент:</a:t>
            </a:r>
            <a:br>
              <a:rPr lang="ru-RU" dirty="0"/>
            </a:br>
            <a:r>
              <a:rPr lang="ru-RU" dirty="0"/>
              <a:t>все операции напрямую читают и записывают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m_head</a:t>
            </a:r>
            <a:r>
              <a:rPr lang="ru-RU" dirty="0"/>
              <a:t> без какой-либо синхронизации.</a:t>
            </a:r>
          </a:p>
          <a:p>
            <a:r>
              <a:rPr lang="ru-RU" dirty="0"/>
              <a:t>Если несколько потоков начнут одновременно вызывать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, структура данных сразу станет некорректной.</a:t>
            </a:r>
          </a:p>
          <a:p>
            <a:r>
              <a:rPr lang="ru-RU" dirty="0"/>
              <a:t>И дальше мы будем постепенно превращать эту реализацию в </a:t>
            </a:r>
            <a:r>
              <a:rPr lang="ru-RU" dirty="0" err="1"/>
              <a:t>потокобезопасную</a:t>
            </a:r>
            <a:r>
              <a:rPr lang="ru-RU" dirty="0"/>
              <a:t>, а затем — в </a:t>
            </a:r>
            <a:r>
              <a:rPr lang="ru-RU" dirty="0" err="1"/>
              <a:t>lock-free</a:t>
            </a:r>
            <a:r>
              <a:rPr lang="ru-RU" dirty="0"/>
              <a:t> версию.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566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023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переходим к </a:t>
            </a:r>
            <a:r>
              <a:rPr lang="ru-RU" dirty="0" err="1"/>
              <a:t>lock-free</a:t>
            </a:r>
            <a:r>
              <a:rPr lang="ru-RU" dirty="0"/>
              <a:t> версии стека.</a:t>
            </a:r>
          </a:p>
          <a:p>
            <a:endParaRPr lang="ru-RU" dirty="0"/>
          </a:p>
          <a:p>
            <a:r>
              <a:rPr lang="ru-RU" dirty="0"/>
              <a:t>Главное изменение — указатель на голову стека теперь атомарный: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*&gt;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позволяет нескольким потокам одновременно пытаться изменять структуру.</a:t>
            </a:r>
          </a:p>
          <a:p>
            <a:endParaRPr lang="ru-RU" dirty="0"/>
          </a:p>
          <a:p>
            <a:r>
              <a:rPr lang="ru-RU" dirty="0"/>
              <a:t>Сама структура данных почти не изменилась:</a:t>
            </a:r>
            <a:br>
              <a:rPr lang="ru-RU" dirty="0"/>
            </a:br>
            <a:r>
              <a:rPr lang="ru-RU" dirty="0"/>
              <a:t>по-прежнему используется односвязный список, узлы хранят данные и указатель на следующий элемент.</a:t>
            </a:r>
          </a:p>
          <a:p>
            <a:r>
              <a:rPr lang="ru-RU" dirty="0"/>
              <a:t> Ключевая идея: мы не добавляем мьютексы, а заменяем обычные операции над указателем на атомарные.</a:t>
            </a:r>
          </a:p>
          <a:p>
            <a:endParaRPr lang="ru-RU" dirty="0"/>
          </a:p>
          <a:p>
            <a:r>
              <a:rPr lang="ru-RU" dirty="0"/>
              <a:t>Пока что это выглядит почти так же, как однопоточная версия — вся сложность будет в операциях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489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показаны операции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для </a:t>
            </a:r>
            <a:r>
              <a:rPr lang="ru-RU" dirty="0" err="1"/>
              <a:t>lock-free</a:t>
            </a:r>
            <a:r>
              <a:rPr lang="ru-RU" dirty="0"/>
              <a:t> стека.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 реализован через классический CAS-цикл:</a:t>
            </a:r>
            <a:br>
              <a:rPr lang="ru-RU" dirty="0"/>
            </a:br>
            <a:r>
              <a:rPr lang="ru-RU" dirty="0"/>
              <a:t>мы читаем текущую голову, связываем новый узел с ней и пытаемся атомарно обновить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m_head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другой поток вмешался — просто повторяем попытку.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работает аналогично:</a:t>
            </a:r>
            <a:br>
              <a:rPr lang="ru-RU" dirty="0"/>
            </a:br>
            <a:r>
              <a:rPr lang="ru-RU" dirty="0"/>
              <a:t>читаем текущую голову и пытаемся сдвинуть указатель на следующий элемент.</a:t>
            </a:r>
          </a:p>
          <a:p>
            <a:r>
              <a:rPr lang="ru-RU" dirty="0"/>
              <a:t>👉 На первый взгляд всё выглядит корректно:</a:t>
            </a:r>
            <a:br>
              <a:rPr lang="ru-RU" dirty="0"/>
            </a:br>
            <a:r>
              <a:rPr lang="ru-RU" dirty="0"/>
              <a:t>мы успешно извлекаем элемент и возвращаем его данные.</a:t>
            </a:r>
          </a:p>
          <a:p>
            <a:endParaRPr lang="ru-RU" dirty="0"/>
          </a:p>
          <a:p>
            <a:r>
              <a:rPr lang="ru-RU" dirty="0"/>
              <a:t>Но здесь появляется серьёзная проблема.</a:t>
            </a:r>
          </a:p>
          <a:p>
            <a:r>
              <a:rPr lang="ru-RU" dirty="0"/>
              <a:t>После успешного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мы больше не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oldHead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но и не удаляем его.</a:t>
            </a:r>
          </a:p>
          <a:p>
            <a:endParaRPr lang="ru-RU" dirty="0"/>
          </a:p>
          <a:p>
            <a:r>
              <a:rPr lang="ru-RU" dirty="0"/>
              <a:t>То есть в этой версии стека есть утечка памяти.</a:t>
            </a:r>
          </a:p>
          <a:p>
            <a:r>
              <a:rPr lang="ru-RU" dirty="0"/>
              <a:t>Почему мы не можем просто сделать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oldHead</a:t>
            </a:r>
            <a:r>
              <a:rPr lang="ru-RU" dirty="0"/>
              <a:t>?</a:t>
            </a:r>
          </a:p>
          <a:p>
            <a:r>
              <a:rPr lang="ru-RU" dirty="0"/>
              <a:t>Потому что в многопоточной среде другой поток всё ещё может держать указатель на этот узел и пытаться с ним работать.</a:t>
            </a:r>
          </a:p>
          <a:p>
            <a:endParaRPr lang="ru-RU" dirty="0"/>
          </a:p>
          <a:p>
            <a:r>
              <a:rPr lang="ru-RU" dirty="0"/>
              <a:t>И если мы удалим память слишком рано — получим </a:t>
            </a:r>
            <a:r>
              <a:rPr lang="ru-RU" dirty="0" err="1"/>
              <a:t>use-after-free</a:t>
            </a:r>
            <a:r>
              <a:rPr lang="ru-RU" dirty="0"/>
              <a:t> и неопределённое поведение.</a:t>
            </a:r>
          </a:p>
          <a:p>
            <a:r>
              <a:rPr lang="ru-RU" dirty="0"/>
              <a:t>Это одна из ключевых сложностей </a:t>
            </a:r>
            <a:r>
              <a:rPr lang="ru-RU" dirty="0" err="1"/>
              <a:t>lock-free</a:t>
            </a:r>
            <a:r>
              <a:rPr lang="ru-RU" dirty="0"/>
              <a:t> структур данных:</a:t>
            </a:r>
            <a:br>
              <a:rPr lang="ru-RU" dirty="0"/>
            </a:br>
            <a:r>
              <a:rPr lang="ru-RU" dirty="0"/>
              <a:t>освобождение памяти становится отдельной нетривиальной задачей.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67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увидели, что в текущей реализации стека возникает утечка памяти.</a:t>
            </a:r>
          </a:p>
          <a:p>
            <a:br>
              <a:rPr lang="ru-RU" dirty="0"/>
            </a:br>
            <a:r>
              <a:rPr lang="ru-RU" dirty="0"/>
              <a:t>Но попытка просто добавить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ru-RU" dirty="0"/>
              <a:t> приводит к ещё более серьёзной проблеме.</a:t>
            </a:r>
          </a:p>
          <a:p>
            <a:endParaRPr lang="ru-RU" dirty="0"/>
          </a:p>
          <a:p>
            <a:r>
              <a:rPr lang="ru-RU" dirty="0"/>
              <a:t>Главный вопрос здесь — когда узел можно безопасно удалить.</a:t>
            </a:r>
          </a:p>
          <a:p>
            <a:r>
              <a:rPr lang="ru-RU" dirty="0"/>
              <a:t>В однопоточной программе всё просто: мы извлекли элемент — значит, больше никто к нему не обращается, можно сразу освободить память.</a:t>
            </a:r>
          </a:p>
          <a:p>
            <a:endParaRPr lang="ru-RU" dirty="0"/>
          </a:p>
          <a:p>
            <a:r>
              <a:rPr lang="ru-RU" dirty="0"/>
              <a:t>Но в многопоточном коде это уже не так.</a:t>
            </a:r>
            <a:br>
              <a:rPr lang="ru-RU" dirty="0"/>
            </a:br>
            <a:r>
              <a:rPr lang="ru-RU" dirty="0"/>
              <a:t>Другой поток мог прочитать указатель на этот узел чуть раньше и всё ещё работать с ним.</a:t>
            </a:r>
          </a:p>
          <a:p>
            <a:endParaRPr lang="ru-RU" dirty="0"/>
          </a:p>
          <a:p>
            <a:r>
              <a:rPr lang="ru-RU" dirty="0"/>
              <a:t>Если в этот момент мы удалим память, получим </a:t>
            </a:r>
            <a:r>
              <a:rPr lang="ru-RU" dirty="0" err="1"/>
              <a:t>use-after-free</a:t>
            </a:r>
            <a:r>
              <a:rPr lang="ru-RU" dirty="0"/>
              <a:t> и неопределённое поведение.</a:t>
            </a:r>
          </a:p>
          <a:p>
            <a:endParaRPr lang="ru-RU" dirty="0"/>
          </a:p>
          <a:p>
            <a:r>
              <a:rPr lang="ru-RU" dirty="0"/>
              <a:t>👉 И это ключевая сложность </a:t>
            </a:r>
            <a:r>
              <a:rPr lang="ru-RU" dirty="0" err="1"/>
              <a:t>lock-free</a:t>
            </a:r>
            <a:r>
              <a:rPr lang="ru-RU" dirty="0"/>
              <a:t> структур данных:</a:t>
            </a:r>
            <a:br>
              <a:rPr lang="ru-RU" dirty="0"/>
            </a:br>
            <a:r>
              <a:rPr lang="ru-RU" dirty="0"/>
              <a:t>у нас нет явного владельца объекта и нет точки, где можно гарантировать, что больше никто его не использует.</a:t>
            </a:r>
          </a:p>
          <a:p>
            <a:endParaRPr lang="ru-RU" dirty="0"/>
          </a:p>
          <a:p>
            <a:r>
              <a:rPr lang="ru-RU" dirty="0"/>
              <a:t>Поэтому освобождение памяти превращается в отдельную задачу.</a:t>
            </a:r>
            <a:br>
              <a:rPr lang="ru-RU" dirty="0"/>
            </a:br>
            <a:r>
              <a:rPr lang="ru-RU" dirty="0"/>
              <a:t>Фактически, нам нужно реализовать упрощённый механизм, похожий на сборщик мусора.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495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Один из простых подходов — не удалять узлы сразу.</a:t>
            </a:r>
          </a:p>
          <a:p>
            <a:endParaRPr lang="ru-RU" dirty="0"/>
          </a:p>
          <a:p>
            <a:r>
              <a:rPr lang="ru-RU" dirty="0"/>
              <a:t>Вместо этого поток помещает удалённые узлы в отдельный список.</a:t>
            </a:r>
          </a:p>
          <a:p>
            <a:br>
              <a:rPr lang="ru-RU" dirty="0"/>
            </a:br>
            <a:r>
              <a:rPr lang="ru-RU" dirty="0"/>
              <a:t>Удаление происходит позже — в момент, когда мы уверены, что ни один поток не работает с этими данными.</a:t>
            </a:r>
          </a:p>
          <a:p>
            <a:endParaRPr lang="ru-RU" dirty="0"/>
          </a:p>
          <a:p>
            <a:r>
              <a:rPr lang="ru-RU" dirty="0"/>
              <a:t>Для этого используется атомарный счётчик:</a:t>
            </a:r>
            <a:br>
              <a:rPr lang="ru-RU" dirty="0"/>
            </a:br>
            <a:r>
              <a:rPr lang="ru-RU" dirty="0"/>
              <a:t>поток увеличивает его при входе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и уменьшает при выходе.</a:t>
            </a:r>
          </a:p>
          <a:p>
            <a:endParaRPr lang="ru-RU" dirty="0"/>
          </a:p>
          <a:p>
            <a:r>
              <a:rPr lang="ru-RU" dirty="0"/>
              <a:t>👉 Когда счётчик становится равен нулю, значит никто не работает со стеком, и накопленные узлы можно безопасно удалить.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341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какие данные нам нужны для отложенного удаления.</a:t>
            </a:r>
          </a:p>
          <a:p>
            <a:r>
              <a:rPr lang="ru-RU" dirty="0"/>
              <a:t>Помимо головы стека, добавляется два новых поля:</a:t>
            </a:r>
            <a:br>
              <a:rPr lang="ru-RU" dirty="0"/>
            </a:br>
            <a:r>
              <a:rPr lang="ru-RU" dirty="0"/>
              <a:t>счётчик потоков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и список узлов, ожидающих удаления.</a:t>
            </a:r>
          </a:p>
          <a:p>
            <a:endParaRPr lang="ru-RU" dirty="0"/>
          </a:p>
          <a:p>
            <a:r>
              <a:rPr lang="ru-RU" dirty="0"/>
              <a:t>Идея простая: мы не удаляем узлы сразу, а накапливаем их в отдельном списке.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А затем пытаемся удалить их в момент, когда это безопасно.</a:t>
            </a:r>
          </a:p>
          <a:p>
            <a:endParaRPr lang="ru-RU" dirty="0"/>
          </a:p>
          <a:p>
            <a:r>
              <a:rPr lang="ru-RU" dirty="0"/>
              <a:t>В деструкторе мы просто удаляем всё, что осталось — и текущий стек, и отложенные узлы.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670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.</a:t>
            </a:r>
          </a:p>
          <a:p>
            <a:r>
              <a:rPr lang="ru-RU" dirty="0"/>
              <a:t>При входе в функцию мы увеличиваем счётчик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m_threadsInPop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означает, что текущий поток начал работать с потенциально удаляемыми узлами.</a:t>
            </a:r>
          </a:p>
          <a:p>
            <a:r>
              <a:rPr lang="ru-RU" dirty="0"/>
              <a:t>Дальше выполняется обычный CAS-цикл, чтобы извлечь голову стека.</a:t>
            </a:r>
          </a:p>
          <a:p>
            <a:r>
              <a:rPr lang="ru-RU" dirty="0"/>
              <a:t>После этого мы не удаляем узел сразу, а передаём его в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TryReclaim</a:t>
            </a:r>
            <a:r>
              <a:rPr lang="ru-RU" dirty="0"/>
              <a:t>, которая решает, можно ли его безопасно удалить или нужно отложить.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661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TryReclaim</a:t>
            </a:r>
            <a:r>
              <a:rPr lang="ru-RU" dirty="0"/>
              <a:t> — это ключевая часть.</a:t>
            </a:r>
          </a:p>
          <a:p>
            <a:endParaRPr lang="ru-RU" dirty="0"/>
          </a:p>
          <a:p>
            <a:r>
              <a:rPr lang="ru-RU" dirty="0"/>
              <a:t>Если мы видим, что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находится только один поток, то есть счётчик равен единице, значит никто больше не работает с узлами.</a:t>
            </a:r>
          </a:p>
          <a:p>
            <a:endParaRPr lang="ru-RU" dirty="0"/>
          </a:p>
          <a:p>
            <a:r>
              <a:rPr lang="ru-RU" dirty="0"/>
              <a:t>В этом случае мы можем попытаться удалить накопленные узлы.</a:t>
            </a:r>
          </a:p>
          <a:p>
            <a:r>
              <a:rPr lang="ru-RU" dirty="0"/>
              <a:t>Сначала забираем список на удаление, затем уменьшаем счётчик и проверяем,</a:t>
            </a:r>
            <a:br>
              <a:rPr lang="ru-RU" dirty="0"/>
            </a:br>
            <a:r>
              <a:rPr lang="ru-RU" dirty="0"/>
              <a:t>остались ли мы единственным потоком. Если да — безопасно удаляем узлы.</a:t>
            </a:r>
          </a:p>
          <a:p>
            <a:endParaRPr lang="ru-RU" dirty="0"/>
          </a:p>
          <a:p>
            <a:r>
              <a:rPr lang="ru-RU" dirty="0"/>
              <a:t>Если нет — возвращаем их обратно в список.</a:t>
            </a:r>
          </a:p>
          <a:p>
            <a:r>
              <a:rPr lang="ru-RU" dirty="0"/>
              <a:t>Сам текущий узел можно удалить, потому что только этот поток его извлёк.</a:t>
            </a:r>
          </a:p>
          <a:p>
            <a:endParaRPr lang="ru-RU" dirty="0"/>
          </a:p>
          <a:p>
            <a:r>
              <a:rPr lang="ru-RU" dirty="0"/>
              <a:t>Если же потоков несколько, мы не рискуем — просто добавляем узел в список</a:t>
            </a:r>
            <a:br>
              <a:rPr lang="ru-RU" dirty="0"/>
            </a:br>
            <a:r>
              <a:rPr lang="ru-RU" dirty="0"/>
              <a:t>для отложенного удаления и выходим.</a:t>
            </a:r>
          </a:p>
          <a:p>
            <a:endParaRPr lang="ru-RU" dirty="0"/>
          </a:p>
          <a:p>
            <a:r>
              <a:rPr lang="ru-RU" dirty="0"/>
              <a:t>👉 Таким образом, удаление происходит только в безопасный момент,</a:t>
            </a:r>
            <a:br>
              <a:rPr lang="ru-RU" dirty="0"/>
            </a:br>
            <a:r>
              <a:rPr lang="ru-RU" dirty="0"/>
              <a:t>когда мы уверены, что другие потоки не используют эти данные.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261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разберём, почему здесь нужна повторная проверка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threads_in_pop</a:t>
            </a:r>
            <a:r>
              <a:rPr lang="ru-RU" dirty="0"/>
              <a:t> и что может пойти не так.</a:t>
            </a:r>
          </a:p>
          <a:p>
            <a:endParaRPr lang="ru-RU" dirty="0"/>
          </a:p>
          <a:p>
            <a:r>
              <a:rPr lang="ru-RU" dirty="0"/>
              <a:t>Изначально стек содержит элементы X, Y, Z, а в списке на удаление уже есть узел A.</a:t>
            </a:r>
            <a:br>
              <a:rPr lang="ru-RU" dirty="0"/>
            </a:br>
            <a:r>
              <a:rPr lang="ru-RU" dirty="0"/>
              <a:t>Счётчик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threads_in_pop</a:t>
            </a:r>
            <a:r>
              <a:rPr lang="ru-RU" dirty="0"/>
              <a:t> равен нулю.</a:t>
            </a:r>
          </a:p>
          <a:p>
            <a:endParaRPr lang="ru-RU" dirty="0"/>
          </a:p>
          <a:p>
            <a:r>
              <a:rPr lang="ru-RU" dirty="0"/>
              <a:t>Поток A заходит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, увеличивает счётчик и доходит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TryReclaim</a:t>
            </a:r>
            <a:r>
              <a:rPr lang="ru-RU" dirty="0"/>
              <a:t>, но его прерывают после первого чтения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threads_in_pop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Затем поток B тоже заходит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, читает голову стека и тоже приостанавливается.</a:t>
            </a:r>
            <a:br>
              <a:rPr lang="ru-RU" dirty="0"/>
            </a:br>
            <a:r>
              <a:rPr lang="ru-RU" dirty="0"/>
              <a:t>Теперь в системе уже два потока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После этого поток C выполняет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до конца: он извлекает узел Y и добавляет его в список отложенного удаления.</a:t>
            </a:r>
          </a:p>
          <a:p>
            <a:endParaRPr lang="ru-RU" dirty="0"/>
          </a:p>
          <a:p>
            <a:r>
              <a:rPr lang="ru-RU" dirty="0"/>
              <a:t>Теперь ситуация такая: поток A всё ещё думает, что он один, но на самом деле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уже несколько потоков.</a:t>
            </a:r>
          </a:p>
          <a:p>
            <a:endParaRPr lang="ru-RU" dirty="0"/>
          </a:p>
          <a:p>
            <a:r>
              <a:rPr lang="ru-RU" dirty="0"/>
              <a:t>Когда поток A продолжает выполнение, он забирает список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to_be_deleted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dirty="0"/>
              <a:t>и может попытаться удалить узлы.</a:t>
            </a:r>
          </a:p>
          <a:p>
            <a:r>
              <a:rPr lang="ru-RU" dirty="0"/>
              <a:t>👉 Если бы мы не перепроверяли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threads_in_pop</a:t>
            </a:r>
            <a:r>
              <a:rPr lang="ru-RU" dirty="0"/>
              <a:t>, он мог бы удалить узлы Y и A, несмотря на то, что другие потоки всё ещё могут с ними работать.</a:t>
            </a:r>
          </a:p>
          <a:p>
            <a:endParaRPr lang="ru-RU" dirty="0"/>
          </a:p>
          <a:p>
            <a:r>
              <a:rPr lang="ru-RU" dirty="0"/>
              <a:t>В частности, поток B всё ещё держит указатель на Y и может попытаться его использовать.</a:t>
            </a:r>
          </a:p>
          <a:p>
            <a:endParaRPr lang="ru-RU" dirty="0"/>
          </a:p>
          <a:p>
            <a:r>
              <a:rPr lang="ru-RU" dirty="0"/>
              <a:t>👉 Это привело бы к </a:t>
            </a:r>
            <a:r>
              <a:rPr lang="ru-RU" dirty="0" err="1"/>
              <a:t>use-after-free</a:t>
            </a:r>
            <a:r>
              <a:rPr lang="ru-RU" dirty="0"/>
              <a:t>.</a:t>
            </a:r>
          </a:p>
          <a:p>
            <a:r>
              <a:rPr lang="ru-RU" dirty="0"/>
              <a:t>Поэтому и нужна вторая проверка: мы должны убедиться, что действительно остаёмся единственным потоком, прежде чем удалять память.</a:t>
            </a:r>
          </a:p>
          <a:p>
            <a:endParaRPr lang="ru-RU" dirty="0"/>
          </a:p>
          <a:p>
            <a:r>
              <a:rPr lang="ru-RU" dirty="0"/>
              <a:t>Это пример того, насколько тонкими могут быть ошибки в </a:t>
            </a:r>
            <a:r>
              <a:rPr lang="ru-RU" dirty="0" err="1"/>
              <a:t>lock-free</a:t>
            </a:r>
            <a:r>
              <a:rPr lang="ru-RU" dirty="0"/>
              <a:t> коде</a:t>
            </a:r>
            <a:br>
              <a:rPr lang="ru-RU" dirty="0"/>
            </a:br>
            <a:r>
              <a:rPr lang="ru-RU" dirty="0"/>
              <a:t>и почему такие алгоритмы требуют очень аккуратного проектирования.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66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показаны вспомогательные функции для работы со списком узлов, ожидающих удаления.</a:t>
            </a:r>
          </a:p>
          <a:p>
            <a:endParaRPr lang="ru-RU" dirty="0"/>
          </a:p>
          <a:p>
            <a:r>
              <a:rPr lang="ru-RU" dirty="0"/>
              <a:t>Идея в том, что мы не удаляем узлы сразу, а добавляем их в общий список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m_nodesToDelete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ChainPendingNodes</a:t>
            </a:r>
            <a:r>
              <a:rPr lang="ru-RU" dirty="0"/>
              <a:t> принимает либо один узел, либо диапазон узлов и добавляет их в начало этого списка.</a:t>
            </a:r>
            <a:br>
              <a:rPr lang="ru-RU" dirty="0"/>
            </a:br>
            <a:r>
              <a:rPr lang="ru-RU" dirty="0"/>
              <a:t>Сначала мы находим последний элемент цепочки, а затем атомарно “пришиваем” всю цепочку к текущему списку.</a:t>
            </a:r>
          </a:p>
          <a:p>
            <a:r>
              <a:rPr lang="ru-RU" dirty="0"/>
              <a:t>Обратите внимание на CAS-цикл:</a:t>
            </a:r>
            <a:br>
              <a:rPr lang="ru-RU" dirty="0"/>
            </a:br>
            <a:r>
              <a:rPr lang="ru-RU" dirty="0"/>
              <a:t>он нужен потому, что несколько потоков могут одновременно пытаться добавить узлы в этот список.</a:t>
            </a:r>
          </a:p>
          <a:p>
            <a:br>
              <a:rPr lang="ru-RU" dirty="0"/>
            </a:br>
            <a:r>
              <a:rPr lang="ru-RU" dirty="0"/>
              <a:t>Если другой поток успел изменить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m_nodesToDelete</a:t>
            </a:r>
            <a:r>
              <a:rPr lang="ru-RU" dirty="0"/>
              <a:t>, мы просто повторяем попытку.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ChainPendingNode</a:t>
            </a:r>
            <a:r>
              <a:rPr lang="ru-RU" dirty="0"/>
              <a:t> — это частный случай для одного узла.</a:t>
            </a:r>
          </a:p>
          <a:p>
            <a:endParaRPr lang="ru-RU" dirty="0"/>
          </a:p>
          <a:p>
            <a:r>
              <a:rPr lang="ru-RU" dirty="0"/>
              <a:t>👉 Важно, что даже операции с этим вспомогательным списком остаются </a:t>
            </a:r>
            <a:r>
              <a:rPr lang="ru-RU" dirty="0" err="1"/>
              <a:t>lock-free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мы не используем мьютексы, а снова полагаемся на атомарные операции и повторные попытки.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196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подход с отложенным удалением работает, но только при определённых условиях.</a:t>
            </a:r>
          </a:p>
          <a:p>
            <a:endParaRPr lang="ru-RU" dirty="0"/>
          </a:p>
          <a:p>
            <a:r>
              <a:rPr lang="ru-RU" dirty="0"/>
              <a:t>Он хорошо себя ведёт, если в системе периодически возникают так называемые “тихие периоды” — моменты, когда ни один поток не находится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В такие моменты мы можем безопасно удалить накопленные узлы.</a:t>
            </a:r>
          </a:p>
          <a:p>
            <a:r>
              <a:rPr lang="ru-RU" dirty="0"/>
              <a:t>Но при высокой нагрузке ситуация меняется.</a:t>
            </a:r>
          </a:p>
          <a:p>
            <a:br>
              <a:rPr lang="ru-RU" dirty="0"/>
            </a:br>
            <a:r>
              <a:rPr lang="ru-RU" dirty="0"/>
              <a:t>Если потоки постоянно вызывают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, счётчик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threads_in_pop</a:t>
            </a:r>
            <a:r>
              <a:rPr lang="ru-RU" dirty="0"/>
              <a:t> почти никогда не становится равным нулю.</a:t>
            </a:r>
          </a:p>
          <a:p>
            <a:endParaRPr lang="ru-RU" dirty="0"/>
          </a:p>
          <a:p>
            <a:r>
              <a:rPr lang="ru-RU" dirty="0"/>
              <a:t>В результате удаление всё время откладывается, и список узлов на удаление начинает расти.</a:t>
            </a:r>
          </a:p>
          <a:p>
            <a:endParaRPr lang="ru-RU" dirty="0"/>
          </a:p>
          <a:p>
            <a:r>
              <a:rPr lang="ru-RU" dirty="0"/>
              <a:t>Фактически мы снова приходим к утечке памяти, только уже отложенной.</a:t>
            </a:r>
          </a:p>
          <a:p>
            <a:endParaRPr lang="ru-RU" dirty="0"/>
          </a:p>
          <a:p>
            <a:r>
              <a:rPr lang="ru-RU" dirty="0"/>
              <a:t>Отсюда важный вывод:</a:t>
            </a:r>
            <a:br>
              <a:rPr lang="ru-RU" dirty="0"/>
            </a:br>
            <a:r>
              <a:rPr lang="ru-RU" dirty="0"/>
              <a:t>этот подход зависит от характера нагрузки и не даёт надёжной гарантии освобождения памяти.</a:t>
            </a:r>
          </a:p>
          <a:p>
            <a:endParaRPr lang="ru-RU" dirty="0"/>
          </a:p>
          <a:p>
            <a:r>
              <a:rPr lang="ru-RU" dirty="0"/>
              <a:t>Поэтому на практике используются более устойчивые техники, например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 или подсчёт ссылок.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067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обсудим одну из самых известных проблем </a:t>
            </a:r>
            <a:r>
              <a:rPr lang="ru-RU" dirty="0" err="1"/>
              <a:t>lock-free</a:t>
            </a:r>
            <a:r>
              <a:rPr lang="ru-RU" dirty="0"/>
              <a:t> алгоритмов — ABA.</a:t>
            </a:r>
          </a:p>
          <a:p>
            <a:endParaRPr lang="ru-RU" dirty="0"/>
          </a:p>
          <a:p>
            <a:r>
              <a:rPr lang="ru-RU" dirty="0"/>
              <a:t>На первый взгляд кажется, что 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compare_exchange</a:t>
            </a:r>
            <a:r>
              <a:rPr lang="ru-RU" dirty="0"/>
              <a:t> видит то же самое значение, которое было прочитано раньше, то всё хорошо.</a:t>
            </a:r>
          </a:p>
          <a:p>
            <a:br>
              <a:rPr lang="ru-RU" dirty="0"/>
            </a:br>
            <a:r>
              <a:rPr lang="ru-RU" dirty="0"/>
              <a:t>Но это не всегда так.</a:t>
            </a:r>
          </a:p>
          <a:p>
            <a:r>
              <a:rPr lang="ru-RU" dirty="0"/>
              <a:t>Проблема в том, что за это время значение могло измениться с A на B, а потом снова стать A.</a:t>
            </a:r>
          </a:p>
          <a:p>
            <a:endParaRPr lang="ru-RU" dirty="0"/>
          </a:p>
          <a:p>
            <a:r>
              <a:rPr lang="ru-RU" dirty="0"/>
              <a:t>Для CAS это выглядит как “ничего не поменялось”.</a:t>
            </a:r>
            <a:br>
              <a:rPr lang="ru-RU" dirty="0"/>
            </a:br>
            <a:r>
              <a:rPr lang="ru-RU" dirty="0"/>
              <a:t>Но на самом деле между чтением и обновлением структура данных уже могла существенно измениться.</a:t>
            </a:r>
          </a:p>
          <a:p>
            <a:endParaRPr lang="ru-RU" dirty="0"/>
          </a:p>
          <a:p>
            <a:r>
              <a:rPr lang="ru-RU" dirty="0"/>
              <a:t>Именно это и называется ABA-проблемой:</a:t>
            </a:r>
            <a:br>
              <a:rPr lang="ru-RU" dirty="0"/>
            </a:br>
            <a:r>
              <a:rPr lang="ru-RU" dirty="0"/>
              <a:t>значение вроде бы то же самое, но история его изменения потеряна.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623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Вот короткий пример, где ABA может проявиться в </a:t>
            </a:r>
            <a:r>
              <a:rPr lang="ru-RU" dirty="0" err="1"/>
              <a:t>lock-free</a:t>
            </a:r>
            <a:r>
              <a:rPr lang="ru-RU" dirty="0"/>
              <a:t> стеке.</a:t>
            </a:r>
          </a:p>
          <a:p>
            <a:endParaRPr lang="ru-RU" dirty="0"/>
          </a:p>
          <a:p>
            <a:r>
              <a:rPr lang="ru-RU" dirty="0"/>
              <a:t>Поток читает текущую голову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oldHead</a:t>
            </a:r>
            <a:r>
              <a:rPr lang="ru-RU" dirty="0"/>
              <a:t>, а затем пытается атомарно заменить её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oldHead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ru-RU" dirty="0"/>
              <a:t>.</a:t>
            </a:r>
          </a:p>
          <a:p>
            <a:r>
              <a:rPr lang="ru-RU" dirty="0"/>
              <a:t>Предположим, поток T1 прочитал голову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, а следующий узел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После этого его прервали.</a:t>
            </a:r>
          </a:p>
          <a:p>
            <a:endParaRPr lang="ru-RU" dirty="0"/>
          </a:p>
          <a:p>
            <a:r>
              <a:rPr lang="ru-RU" dirty="0"/>
              <a:t>Пока T1 не работает, поток T2 успевает извлечь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, затем извлечь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, а потом снова положить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в стек.</a:t>
            </a:r>
          </a:p>
          <a:p>
            <a:r>
              <a:rPr lang="ru-RU" dirty="0"/>
              <a:t>Теперь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</a:t>
            </a:r>
            <a:r>
              <a:rPr lang="ru-RU" dirty="0"/>
              <a:t> снова указывает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Когда T1 продолжает работу, его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compare_exchange</a:t>
            </a:r>
            <a:r>
              <a:rPr lang="ru-RU" dirty="0"/>
              <a:t> видит ожидаемое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и успешно срабатывает.</a:t>
            </a:r>
          </a:p>
          <a:p>
            <a:endParaRPr lang="ru-RU" dirty="0"/>
          </a:p>
          <a:p>
            <a:r>
              <a:rPr lang="ru-RU" dirty="0"/>
              <a:t>Но проблема в том, что указатель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oldHead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ru-RU" dirty="0"/>
              <a:t>, который T1 использует как новое значение головы, уже устарел.</a:t>
            </a:r>
          </a:p>
          <a:p>
            <a:br>
              <a:rPr lang="ru-RU" dirty="0"/>
            </a:br>
            <a:r>
              <a:rPr lang="ru-RU" dirty="0"/>
              <a:t>Он может указывать на узел, который уже удалён или больше не принадлежит стеку.</a:t>
            </a:r>
          </a:p>
          <a:p>
            <a:r>
              <a:rPr lang="ru-RU" dirty="0"/>
              <a:t>То есть CAS сработал успешно, но структура данных повреждена.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675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ABA-проблема возникает потому, что мы сравниваем только значение указателя и теряем информацию о том, что происходило с ним между операциями.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Самый распространённый способ решения — это добавить версию к указателю.</a:t>
            </a:r>
            <a:br>
              <a:rPr lang="ru-RU" dirty="0"/>
            </a:br>
            <a:r>
              <a:rPr lang="ru-RU" dirty="0"/>
              <a:t>То есть хранить не просто адрес, а пару: указатель и счётчик. Тогда даже если значение снова стало равно A, версия будет другой, и CAS не сработает.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этого часто используется </a:t>
            </a:r>
            <a:r>
              <a:rPr lang="ru-RU" dirty="0" err="1"/>
              <a:t>double-width</a:t>
            </a:r>
            <a:r>
              <a:rPr lang="ru-RU" dirty="0"/>
              <a:t> CAS — атомарная операция над двумя словами памяти. Но она поддерживается не на всех архитектурах.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Другой подход —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. Они не решают ABA напрямую, но позволяют гарантировать, что объект не будет удалён, пока с ним работает поток.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Также можно использовать подсчёт ссылок — объект удаляется только тогда, когда на него больше никто не ссылается.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Общая идея во всех подходах одна:</a:t>
            </a:r>
            <a:br>
              <a:rPr lang="ru-RU" dirty="0"/>
            </a:br>
            <a:r>
              <a:rPr lang="ru-RU" dirty="0"/>
              <a:t>нужно каким-то образом сохранить дополнительную информацию, чтобы отличать “настоящее A” от “A после изменений”.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450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 — это один из способов безопасно управлять памятью в </a:t>
            </a:r>
            <a:r>
              <a:rPr lang="ru-RU" dirty="0" err="1"/>
              <a:t>lock-free</a:t>
            </a:r>
            <a:r>
              <a:rPr lang="ru-RU" dirty="0"/>
              <a:t> структурах.</a:t>
            </a:r>
          </a:p>
          <a:p>
            <a:endParaRPr lang="ru-RU" dirty="0"/>
          </a:p>
          <a:p>
            <a:r>
              <a:rPr lang="ru-RU" dirty="0"/>
              <a:t>Основная идея очень простая: поток явно сообщает другим потокам, с каким объектом он сейчас работает.</a:t>
            </a:r>
          </a:p>
          <a:p>
            <a:endParaRPr lang="ru-RU" dirty="0"/>
          </a:p>
          <a:p>
            <a:r>
              <a:rPr lang="ru-RU" dirty="0"/>
              <a:t>Перед тем как начать работу с объектом, поток записывает указатель на него в специальное место —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Это как бы сигнал: “не удаляйте этот объект, я его использую”.</a:t>
            </a:r>
          </a:p>
          <a:p>
            <a:r>
              <a:rPr lang="ru-RU" dirty="0"/>
              <a:t>Когда поток заканчивает работу, он сбрасывает этот указатель.</a:t>
            </a:r>
          </a:p>
          <a:p>
            <a:endParaRPr lang="ru-RU" dirty="0"/>
          </a:p>
          <a:p>
            <a:r>
              <a:rPr lang="ru-RU" dirty="0"/>
              <a:t>Таким образом, другие потоки могут проверить, используется ли объект в данный момент, прежде чем удалять его.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876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возникает вопрос: когда объект можно безопасно удалить?</a:t>
            </a:r>
          </a:p>
          <a:p>
            <a:endParaRPr lang="ru-RU" dirty="0"/>
          </a:p>
          <a:p>
            <a:r>
              <a:rPr lang="ru-RU" dirty="0"/>
              <a:t>Перед удалением поток должен проверить все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 других потоков.</a:t>
            </a:r>
            <a:br>
              <a:rPr lang="ru-RU" dirty="0"/>
            </a:br>
            <a:r>
              <a:rPr lang="ru-RU" dirty="0"/>
              <a:t>Если ни один поток не указывает на этот объект, значит с ним никто не работает — его можно удалить.</a:t>
            </a:r>
          </a:p>
          <a:p>
            <a:endParaRPr lang="ru-RU" dirty="0"/>
          </a:p>
          <a:p>
            <a:r>
              <a:rPr lang="ru-RU" dirty="0"/>
              <a:t>Если хотя бы один поток всё ещё держит указатель, удалять нельзя — это приведёт к </a:t>
            </a:r>
            <a:r>
              <a:rPr lang="ru-RU" dirty="0" err="1"/>
              <a:t>use-after-free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этом случае объект не удаляется сразу, а помещается в список отложенного удаления.</a:t>
            </a:r>
          </a:p>
          <a:p>
            <a:r>
              <a:rPr lang="ru-RU" dirty="0"/>
              <a:t>Дальше система периодически проходит по этому списку и проверяет, какие объекты уже никто не использует.</a:t>
            </a:r>
          </a:p>
          <a:p>
            <a:br>
              <a:rPr lang="ru-RU" dirty="0"/>
            </a:br>
            <a:r>
              <a:rPr lang="ru-RU" dirty="0"/>
              <a:t>Такие объекты можно безопасно освободить.</a:t>
            </a:r>
          </a:p>
          <a:p>
            <a:r>
              <a:rPr lang="ru-RU" dirty="0"/>
              <a:t>То есть удаление становится двухфазным: сначала откладываем, потом удаляем, когда это безопасно.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997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посмотрим на схему, как работают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Сверху показана структура данных — например, стек или список узлов.</a:t>
            </a:r>
            <a:br>
              <a:rPr lang="ru-RU" dirty="0"/>
            </a:br>
            <a:r>
              <a:rPr lang="ru-RU" dirty="0"/>
              <a:t>Поток, прежде чем начать работать с узлом, записывает указатель на него в свой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данном примере поток 1 указывает на конкретный узел — это означает:</a:t>
            </a:r>
            <a:br>
              <a:rPr lang="ru-RU" dirty="0"/>
            </a:br>
            <a:r>
              <a:rPr lang="ru-RU" dirty="0"/>
              <a:t>👉 “этот узел сейчас используется, его нельзя удалять”.</a:t>
            </a:r>
          </a:p>
          <a:p>
            <a:endParaRPr lang="ru-RU" dirty="0"/>
          </a:p>
          <a:p>
            <a:r>
              <a:rPr lang="ru-RU" dirty="0"/>
              <a:t>Ниже показан массив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 — по сути, это набор указателей от разных потоков.</a:t>
            </a:r>
            <a:br>
              <a:rPr lang="ru-RU" dirty="0"/>
            </a:br>
            <a:r>
              <a:rPr lang="ru-RU" dirty="0"/>
              <a:t>Каждый поток может “застолбить” один или несколько объектов.</a:t>
            </a:r>
          </a:p>
          <a:p>
            <a:endParaRPr lang="ru-RU" dirty="0"/>
          </a:p>
          <a:p>
            <a:r>
              <a:rPr lang="ru-RU" dirty="0"/>
              <a:t>Теперь посмотрим на нижнюю часть — список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NodesToReclaim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Сюда попадают узлы, которые логически удалены из структуры, но пока не могут быть освобождены.</a:t>
            </a:r>
          </a:p>
          <a:p>
            <a:endParaRPr lang="ru-RU" dirty="0"/>
          </a:p>
          <a:p>
            <a:r>
              <a:rPr lang="ru-RU" dirty="0"/>
              <a:t>Перед тем как удалить такой узел, система проверяет все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хотя бы один поток всё ещё ссылается на этот узел — удалять нельзя.</a:t>
            </a:r>
          </a:p>
          <a:p>
            <a:endParaRPr lang="ru-RU" dirty="0"/>
          </a:p>
          <a:p>
            <a:r>
              <a:rPr lang="ru-RU" dirty="0"/>
              <a:t>Только когда ни один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 не указывает на объект, его можно безопасно удалить.</a:t>
            </a:r>
          </a:p>
          <a:p>
            <a:endParaRPr lang="ru-RU" dirty="0"/>
          </a:p>
          <a:p>
            <a:r>
              <a:rPr lang="ru-RU" dirty="0"/>
              <a:t>Таким образом:</a:t>
            </a:r>
          </a:p>
          <a:p>
            <a:r>
              <a:rPr lang="ru-RU" dirty="0"/>
              <a:t>потоки явно объявляют, с чем работают </a:t>
            </a:r>
          </a:p>
          <a:p>
            <a:r>
              <a:rPr lang="ru-RU" dirty="0"/>
              <a:t>удаление откладывается и выполняется только тогда, когда это безопасно </a:t>
            </a:r>
          </a:p>
          <a:p>
            <a:endParaRPr lang="ru-RU" dirty="0"/>
          </a:p>
          <a:p>
            <a:r>
              <a:rPr lang="ru-RU" dirty="0"/>
              <a:t>Это позволяет избежать </a:t>
            </a:r>
            <a:r>
              <a:rPr lang="ru-RU" dirty="0" err="1"/>
              <a:t>use-after-free</a:t>
            </a:r>
            <a:r>
              <a:rPr lang="ru-RU" dirty="0"/>
              <a:t> без использования мьютексов.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79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 можно реализовать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 на практике.</a:t>
            </a:r>
          </a:p>
          <a:p>
            <a:r>
              <a:rPr lang="ru-RU" dirty="0"/>
              <a:t>У нас есть глобальный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HazardPointers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Каждый элемент содержит два поля: идентификатор потока и указатель на защищаемый объект.</a:t>
            </a:r>
          </a:p>
          <a:p>
            <a:endParaRPr lang="ru-RU" dirty="0"/>
          </a:p>
          <a:p>
            <a:r>
              <a:rPr lang="ru-RU" dirty="0"/>
              <a:t>Идея такая: каждый поток “захватывает” один слот в этом массиве и использует его как свой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Для этого вводится вспомогательный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HpOwner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 отвечает за владение этим слотом: при создании поток получает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, а в деструкторе освобождает его.</a:t>
            </a:r>
          </a:p>
          <a:p>
            <a:endParaRPr lang="ru-RU" dirty="0"/>
          </a:p>
          <a:p>
            <a:r>
              <a:rPr lang="ru-RU" dirty="0"/>
              <a:t>👉 Таким образом, у каждого потока есть своё место, куда он может записать указатель на объект, с которым работает.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568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поток получает свой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конструкторе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HpOwner</a:t>
            </a:r>
            <a:r>
              <a:rPr lang="ru-RU" dirty="0"/>
              <a:t> поток проходит по массиву и ищет свободный слот —</a:t>
            </a:r>
            <a:br>
              <a:rPr lang="ru-RU" dirty="0"/>
            </a:br>
            <a:r>
              <a:rPr lang="ru-RU" dirty="0"/>
              <a:t>тот, у которого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ru-RU" dirty="0"/>
              <a:t> ещё не установлен.</a:t>
            </a:r>
          </a:p>
          <a:p>
            <a:r>
              <a:rPr lang="ru-RU" dirty="0"/>
              <a:t>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compare_exchange</a:t>
            </a:r>
            <a:r>
              <a:rPr lang="ru-RU" dirty="0"/>
              <a:t> он атомарно “занимает” этот слот, записывая свой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thread_id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свободных слотов нет — выбрасывается исключение.</a:t>
            </a:r>
            <a:br>
              <a:rPr lang="ru-RU" dirty="0"/>
            </a:br>
            <a:r>
              <a:rPr lang="ru-RU" dirty="0"/>
              <a:t>Это упрощённая реализация, в реальных системах обычно используются более гибкие подходы.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GetHazardPointerForCurrentThread</a:t>
            </a:r>
            <a:r>
              <a:rPr lang="ru-RU" dirty="0"/>
              <a:t> возвращает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 текущего потока.</a:t>
            </a:r>
            <a:br>
              <a:rPr lang="ru-RU" dirty="0"/>
            </a:br>
            <a:r>
              <a:rPr lang="ru-RU" dirty="0"/>
              <a:t>Здесь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thread_local</a:t>
            </a:r>
            <a:r>
              <a:rPr lang="ru-RU" dirty="0"/>
              <a:t>, поэтому для каждого потока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HpOwner</a:t>
            </a:r>
            <a:r>
              <a:rPr lang="ru-RU" dirty="0"/>
              <a:t> создаётся только один раз.</a:t>
            </a:r>
          </a:p>
          <a:p>
            <a:endParaRPr lang="ru-RU" dirty="0"/>
          </a:p>
          <a:p>
            <a:r>
              <a:rPr lang="ru-RU" dirty="0"/>
              <a:t>👉 В результате: у каждого потока есть свой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 </a:t>
            </a:r>
          </a:p>
          <a:p>
            <a:r>
              <a:rPr lang="ru-RU" dirty="0"/>
              <a:t>доступ к нему быстрый и его можно использовать для защиты объектов от удаления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376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функция, которая отвечает на ключевой вопрос:</a:t>
            </a:r>
            <a:br>
              <a:rPr lang="ru-RU" dirty="0"/>
            </a:br>
            <a:r>
              <a:rPr lang="ru-RU" dirty="0"/>
              <a:t>использует ли кто-то данный объект прямо сейчас.</a:t>
            </a:r>
          </a:p>
          <a:p>
            <a:r>
              <a:rPr lang="ru-RU" dirty="0"/>
              <a:t>Мы просто проходим по всем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 и проверяем, указывает ли хотя бы один из них на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ru-RU" dirty="0"/>
              <a:t>.</a:t>
            </a:r>
          </a:p>
          <a:p>
            <a:r>
              <a:rPr lang="ru-RU" dirty="0"/>
              <a:t>Если да — значит какой-то поток всё ещё работает с этим объектом, и удалять его нельзя.</a:t>
            </a:r>
            <a:br>
              <a:rPr lang="ru-RU" dirty="0"/>
            </a:br>
            <a:r>
              <a:rPr lang="ru-RU" dirty="0"/>
              <a:t>Если нет — объект можно безопасно освобождать.</a:t>
            </a:r>
          </a:p>
          <a:p>
            <a:r>
              <a:rPr lang="ru-RU" dirty="0"/>
              <a:t>На основе этой операции строится вся логика безопасного удаления.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705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вводится вспомогательная 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DataToReclaim</a:t>
            </a:r>
            <a:r>
              <a:rPr lang="ru-RU" dirty="0"/>
              <a:t>.</a:t>
            </a:r>
          </a:p>
          <a:p>
            <a:r>
              <a:rPr lang="ru-RU" dirty="0"/>
              <a:t>Она нужна для того, чтобы хранить объекты, которые мы хотим удалить позже.</a:t>
            </a:r>
            <a:br>
              <a:rPr lang="ru-RU" dirty="0"/>
            </a:br>
            <a:r>
              <a:rPr lang="ru-RU" dirty="0"/>
              <a:t>Обратите внимание: данные хранятся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, а способ удаления —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</a:t>
            </a:r>
            <a:r>
              <a:rPr lang="ru-RU" dirty="0"/>
              <a:t>.</a:t>
            </a:r>
          </a:p>
          <a:p>
            <a:r>
              <a:rPr lang="ru-RU" dirty="0"/>
              <a:t>Это позволяет работать с объектами разных типов в одном списке.</a:t>
            </a:r>
          </a:p>
          <a:p>
            <a:r>
              <a:rPr lang="ru-RU" dirty="0"/>
              <a:t>Когда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DataToReclaim</a:t>
            </a:r>
            <a:r>
              <a:rPr lang="ru-RU" dirty="0"/>
              <a:t> удаляется, вызывается соответствующий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deleter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который освобождает память.</a:t>
            </a:r>
          </a:p>
          <a:p>
            <a:r>
              <a:rPr lang="ru-RU" dirty="0"/>
              <a:t>👉 Это универсальная обёртка для отложенного удаления.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3103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реализован список объектов, ожидающих удаления.</a:t>
            </a:r>
          </a:p>
          <a:p>
            <a:r>
              <a:rPr lang="ru-RU" dirty="0"/>
              <a:t>Если мы не можем удалить объект сразу, мы добавляем его в этот список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ReclaimLater</a:t>
            </a:r>
            <a:r>
              <a:rPr lang="ru-RU" dirty="0"/>
              <a:t>.</a:t>
            </a:r>
          </a:p>
          <a:p>
            <a:r>
              <a:rPr lang="ru-RU" dirty="0"/>
              <a:t>Добавление происходит через CAS-цикл, чтобы несколько потоков могли одновременно добавлять элементы без мьютексов.</a:t>
            </a:r>
          </a:p>
          <a:p>
            <a:r>
              <a:rPr lang="ru-RU" dirty="0"/>
              <a:t>👉 Таким образом, удаление становится отложенной операцией:</a:t>
            </a:r>
            <a:br>
              <a:rPr lang="ru-RU" dirty="0"/>
            </a:br>
            <a:r>
              <a:rPr lang="ru-RU" dirty="0"/>
              <a:t>мы просто запоминаем, что объект нужно удалить позже.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820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происходит очистка.</a:t>
            </a:r>
          </a:p>
          <a:p>
            <a:r>
              <a:rPr lang="ru-RU" dirty="0"/>
              <a:t>Поток забирает весь список узлов на удаление и проходит по нему.</a:t>
            </a:r>
            <a:br>
              <a:rPr lang="ru-RU" dirty="0"/>
            </a:br>
            <a:r>
              <a:rPr lang="ru-RU" dirty="0"/>
              <a:t>Для каждого узла он проверяет: есть ли на него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.</a:t>
            </a:r>
          </a:p>
          <a:p>
            <a:r>
              <a:rPr lang="ru-RU" dirty="0"/>
              <a:t>Если нет — узел можно безопасно удалить.</a:t>
            </a:r>
            <a:br>
              <a:rPr lang="ru-RU" dirty="0"/>
            </a:br>
            <a:r>
              <a:rPr lang="ru-RU" dirty="0"/>
              <a:t>Если есть — мы не рискуем и возвращаем его обратно в список.</a:t>
            </a:r>
          </a:p>
          <a:p>
            <a:r>
              <a:rPr lang="ru-RU" dirty="0"/>
              <a:t>👉 Таким образом, объекты удаляются только тогда, когда мы уверены,</a:t>
            </a:r>
            <a:br>
              <a:rPr lang="ru-RU" dirty="0"/>
            </a:br>
            <a:r>
              <a:rPr lang="ru-RU" dirty="0"/>
              <a:t>что ни один поток их больше не использует.</a:t>
            </a:r>
          </a:p>
          <a:p>
            <a:r>
              <a:rPr lang="ru-RU" dirty="0"/>
              <a:t>Это завершает полный цикл:</a:t>
            </a:r>
            <a:br>
              <a:rPr lang="ru-RU" dirty="0"/>
            </a:br>
            <a:r>
              <a:rPr lang="ru-RU" dirty="0"/>
              <a:t>объект сначала попадает в список, а затем удаляется, когда становится безопасно.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919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соберём всё вместе и посмотрим, как выглядит </a:t>
            </a:r>
            <a:r>
              <a:rPr lang="ru-RU" dirty="0" err="1"/>
              <a:t>lock-free</a:t>
            </a:r>
            <a:r>
              <a:rPr lang="ru-RU" dirty="0"/>
              <a:t> стек с использованием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.</a:t>
            </a:r>
          </a:p>
          <a:p>
            <a:r>
              <a:rPr lang="ru-RU" dirty="0"/>
              <a:t>До этого момента у нас была проблема: мы не могли безопасно удалять узлы.</a:t>
            </a:r>
            <a:br>
              <a:rPr lang="ru-RU" dirty="0"/>
            </a:br>
            <a:r>
              <a:rPr lang="ru-RU" dirty="0"/>
              <a:t>Теперь у нас есть механизм, который позволяет понять, использует ли кто-то объект.</a:t>
            </a:r>
          </a:p>
          <a:p>
            <a:r>
              <a:rPr lang="ru-RU" dirty="0"/>
              <a:t> Значит, мы можем вернуться к реализации стека и добавить в неё безопасное освобождение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567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Структура стека остаётся очень простой.</a:t>
            </a:r>
          </a:p>
          <a:p>
            <a:r>
              <a:rPr lang="ru-RU" dirty="0"/>
              <a:t>У нас по-прежнему есть односвязный список и атомарный указатель на голову.</a:t>
            </a:r>
            <a:br>
              <a:rPr lang="ru-RU" dirty="0"/>
            </a:br>
            <a:r>
              <a:rPr lang="ru-RU" dirty="0"/>
              <a:t>Внутри узла — данные и указатель на следующий элемент.</a:t>
            </a:r>
          </a:p>
          <a:p>
            <a:r>
              <a:rPr lang="ru-RU" dirty="0"/>
              <a:t>В деструкторе 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DeleteNodesWithNoHazards</a:t>
            </a:r>
            <a:r>
              <a:rPr lang="ru-RU" dirty="0"/>
              <a:t>, чтобы удалить все оставшиеся узлы.</a:t>
            </a:r>
          </a:p>
          <a:p>
            <a:r>
              <a:rPr lang="ru-RU" dirty="0"/>
              <a:t>👉 То есть сама структура почти не изменилась — вся сложность находится в логике удаления.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803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теперь разбит на две части.</a:t>
            </a:r>
          </a:p>
          <a:p>
            <a:endParaRPr lang="ru-RU" dirty="0"/>
          </a:p>
          <a:p>
            <a:r>
              <a:rPr lang="ru-RU" dirty="0"/>
              <a:t>Сначала мы извлекаем голову стека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TryExtractHead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Затем обрабатываем данные и решаем, что делать с узлом — удалить или отложить —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TryPopDataFromHead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Такое разделение упрощает логику и делает код более читаемым.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3908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ключевой момент — безопасное извлечение головы.</a:t>
            </a:r>
          </a:p>
          <a:p>
            <a:r>
              <a:rPr lang="ru-RU" dirty="0"/>
              <a:t>Сначала поток получает свой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Дальше начинается цикл: мы читаем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m_head</a:t>
            </a:r>
            <a:r>
              <a:rPr lang="ru-RU" dirty="0"/>
              <a:t> и сразу записываем это значение в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.</a:t>
            </a:r>
          </a:p>
          <a:p>
            <a:r>
              <a:rPr lang="ru-RU" dirty="0"/>
              <a:t>Но между этими двумя действиями объект мог быть удалён — это потенциальное UB.</a:t>
            </a:r>
          </a:p>
          <a:p>
            <a:r>
              <a:rPr lang="ru-RU" dirty="0"/>
              <a:t>Поэтому мы повторно читаем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m_head</a:t>
            </a:r>
            <a:r>
              <a:rPr lang="ru-RU" dirty="0"/>
              <a:t> и проверяем, совпадает ли значение.</a:t>
            </a:r>
            <a:br>
              <a:rPr lang="ru-RU" dirty="0"/>
            </a:br>
            <a:r>
              <a:rPr lang="ru-RU" dirty="0"/>
              <a:t>Если нет — начинаем заново.</a:t>
            </a:r>
          </a:p>
          <a:p>
            <a:r>
              <a:rPr lang="ru-RU" dirty="0"/>
              <a:t>👉 Таким образом мы гарантируем, что указатель, который мы защитили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pointer’ом</a:t>
            </a:r>
            <a:r>
              <a:rPr lang="ru-RU" dirty="0"/>
              <a:t>, действительно актуален.</a:t>
            </a:r>
          </a:p>
          <a:p>
            <a:r>
              <a:rPr lang="ru-RU" dirty="0"/>
              <a:t>После этого можно безопасно разыменовывать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oldHead</a:t>
            </a:r>
            <a:r>
              <a:rPr lang="ru-RU" dirty="0"/>
              <a:t> и выполнять CAS.</a:t>
            </a:r>
          </a:p>
          <a:p>
            <a:r>
              <a:rPr lang="ru-RU" dirty="0"/>
              <a:t>Когда извлечение завершено, мы сбрасываем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260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что происходит после извлечения узла.</a:t>
            </a:r>
          </a:p>
          <a:p>
            <a:r>
              <a:rPr lang="ru-RU" dirty="0"/>
              <a:t>Мы переносим данные из узла, а затем решаем, можно ли его удалить.</a:t>
            </a:r>
          </a:p>
          <a:p>
            <a:r>
              <a:rPr lang="ru-RU" dirty="0"/>
              <a:t>Для этого проверяем: есть ли на него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 у других потоков.</a:t>
            </a:r>
          </a:p>
          <a:p>
            <a:r>
              <a:rPr lang="ru-RU" dirty="0"/>
              <a:t>Если есть — удалять нельзя, добавляем узел в список отложенного удаления.</a:t>
            </a:r>
            <a:br>
              <a:rPr lang="ru-RU" dirty="0"/>
            </a:br>
            <a:r>
              <a:rPr lang="ru-RU" dirty="0"/>
              <a:t>Если нет — удаляем сразу.</a:t>
            </a:r>
          </a:p>
          <a:p>
            <a:r>
              <a:rPr lang="ru-RU" dirty="0"/>
              <a:t>После этого запускаем очистку списка отложенных узлов.</a:t>
            </a:r>
          </a:p>
          <a:p>
            <a:r>
              <a:rPr lang="ru-RU" dirty="0"/>
              <a:t>👉 Таким образом:</a:t>
            </a:r>
          </a:p>
          <a:p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 защищают узлы во время использования </a:t>
            </a:r>
          </a:p>
          <a:p>
            <a:r>
              <a:rPr lang="ru-RU" dirty="0"/>
              <a:t>удаление откладывается, если это небезопасно </a:t>
            </a:r>
          </a:p>
          <a:p>
            <a:r>
              <a:rPr lang="ru-RU" dirty="0"/>
              <a:t>и выполняется, когда объект больше никому не нужен </a:t>
            </a:r>
          </a:p>
          <a:p>
            <a:r>
              <a:rPr lang="ru-RU" dirty="0"/>
              <a:t>Это завершённая схема безопасного управления памятью в </a:t>
            </a:r>
            <a:r>
              <a:rPr lang="ru-RU" dirty="0" err="1"/>
              <a:t>lock-free</a:t>
            </a:r>
            <a:r>
              <a:rPr lang="ru-RU" dirty="0"/>
              <a:t> структуре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43949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рассмотрели рабочую реализацию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, но она наивная.</a:t>
            </a:r>
          </a:p>
          <a:p>
            <a:r>
              <a:rPr lang="ru-RU" dirty="0"/>
              <a:t>С точки зрения корректности всё хорошо, но с производительностью начинаются проблемы.</a:t>
            </a:r>
          </a:p>
          <a:p>
            <a:r>
              <a:rPr lang="ru-RU" dirty="0"/>
              <a:t>Главная причина — это необходимость постоянно сканировать массив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Причём это происходит и при каждом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, и при попытке удалить каждый узел.</a:t>
            </a:r>
          </a:p>
          <a:p>
            <a:r>
              <a:rPr lang="ru-RU" dirty="0"/>
              <a:t>Такие проверки требуют атомарных операций и плохо масштабируются при увеличении числа потоков.</a:t>
            </a:r>
          </a:p>
          <a:p>
            <a:endParaRPr lang="ru-RU" dirty="0"/>
          </a:p>
          <a:p>
            <a:r>
              <a:rPr lang="ru-RU" dirty="0"/>
              <a:t>В итоге мы получаем корректный, но не очень эффективный алгоритм.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7528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Эту реализацию можно существенно улучшить.</a:t>
            </a:r>
          </a:p>
          <a:p>
            <a:endParaRPr lang="ru-RU" dirty="0"/>
          </a:p>
          <a:p>
            <a:r>
              <a:rPr lang="ru-RU" dirty="0"/>
              <a:t>Во-первых, нет необходимости проверять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 при каждом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Можно накапливать узлы и проверять их </a:t>
            </a:r>
            <a:r>
              <a:rPr lang="ru-RU" dirty="0" err="1"/>
              <a:t>пакетно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Например, когда количество отложенных узлов достигает определённого порога — обычно берут примерно два размера массива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Почему это работает: одновременно может быть защищено не больше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MaxHazardPointers</a:t>
            </a:r>
            <a:r>
              <a:rPr lang="ru-RU" dirty="0"/>
              <a:t> объектов, значит остальные можно безопасно удалить.</a:t>
            </a:r>
          </a:p>
          <a:p>
            <a:endParaRPr lang="ru-RU" dirty="0"/>
          </a:p>
          <a:p>
            <a:r>
              <a:rPr lang="ru-RU" dirty="0"/>
              <a:t>Во-вторых, можно хранить список узлов на удаление локально для каждого потока.</a:t>
            </a:r>
            <a:br>
              <a:rPr lang="ru-RU" dirty="0"/>
            </a:br>
            <a:r>
              <a:rPr lang="ru-RU" dirty="0"/>
              <a:t>Это уменьшает количество атомарных операций и снижает конкуренцию.</a:t>
            </a:r>
          </a:p>
          <a:p>
            <a:endParaRPr lang="ru-RU" dirty="0"/>
          </a:p>
          <a:p>
            <a:r>
              <a:rPr lang="ru-RU" dirty="0"/>
              <a:t>👉 Цена за это — увеличение потребления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3828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 есть и недостатки.</a:t>
            </a:r>
          </a:p>
          <a:p>
            <a:endParaRPr lang="ru-RU" dirty="0"/>
          </a:p>
          <a:p>
            <a:r>
              <a:rPr lang="ru-RU" dirty="0"/>
              <a:t>Во-первых, это сложность реализации — код получается нетривиальным и чувствительным к ошибкам.</a:t>
            </a:r>
          </a:p>
          <a:p>
            <a:endParaRPr lang="ru-RU" dirty="0"/>
          </a:p>
          <a:p>
            <a:r>
              <a:rPr lang="ru-RU" dirty="0"/>
              <a:t>Во-вторых, есть накладные расходы: атомарные операции и необходимость периодически сканировать массив указателей.</a:t>
            </a:r>
          </a:p>
          <a:p>
            <a:endParaRPr lang="ru-RU" dirty="0"/>
          </a:p>
          <a:p>
            <a:r>
              <a:rPr lang="ru-RU" dirty="0"/>
              <a:t>Также обычно используется фиксированное количество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, что накладывает ограничения на систему.</a:t>
            </a:r>
          </a:p>
          <a:p>
            <a:endParaRPr lang="ru-RU" dirty="0"/>
          </a:p>
          <a:p>
            <a:r>
              <a:rPr lang="ru-RU" dirty="0"/>
              <a:t>И исторически эта технология была запатентована IBM, хотя сейчас этот фактор уже менее критичен.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063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Несмотря на сложность, понимать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 очень важно.</a:t>
            </a:r>
          </a:p>
          <a:p>
            <a:endParaRPr lang="ru-RU" dirty="0"/>
          </a:p>
          <a:p>
            <a:r>
              <a:rPr lang="ru-RU" dirty="0"/>
              <a:t>Они показывают, как на практике решается одна из самых сложных задач в </a:t>
            </a:r>
            <a:r>
              <a:rPr lang="ru-RU" dirty="0" err="1"/>
              <a:t>lock-free</a:t>
            </a:r>
            <a:r>
              <a:rPr lang="ru-RU" dirty="0"/>
              <a:t> алгоритмах — безопасное освобождение памяти.</a:t>
            </a:r>
          </a:p>
          <a:p>
            <a:endParaRPr lang="ru-RU" dirty="0"/>
          </a:p>
          <a:p>
            <a:r>
              <a:rPr lang="ru-RU" dirty="0"/>
              <a:t>Через них хорошо видно, насколько дороги атомарные операции и как они влияют на масштабируемость.</a:t>
            </a:r>
          </a:p>
          <a:p>
            <a:endParaRPr lang="ru-RU" dirty="0"/>
          </a:p>
          <a:p>
            <a:r>
              <a:rPr lang="ru-RU" dirty="0"/>
              <a:t>Кроме того, это не просто академическая тема — такие подходы используются в реальных системах, и поддержка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 появится в стандартной библиотеке C++.</a:t>
            </a:r>
          </a:p>
          <a:p>
            <a:endParaRPr lang="ru-RU" dirty="0"/>
          </a:p>
          <a:p>
            <a:r>
              <a:rPr lang="ru-RU" dirty="0"/>
              <a:t>Это фундаментальный инструмент для понимания </a:t>
            </a:r>
            <a:r>
              <a:rPr lang="ru-RU" dirty="0" err="1"/>
              <a:t>lock-free</a:t>
            </a:r>
            <a:r>
              <a:rPr lang="ru-RU" dirty="0"/>
              <a:t> программирования.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750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3868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4872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9743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8199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9517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650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534B-A6AF-65FD-E801-6AA58D9D7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2731D-7764-B810-4DE6-EFEC6FF67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B64FF-4361-8A20-8632-A7357C4E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259B1-BCF5-E9E4-5DC1-A0E7FB3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78E0-C2F7-7889-A85C-AEB7F30C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3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2129-36EC-F59A-E517-4AE8C0F4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B90D9-C1D5-53E2-6F3E-B5D41EE9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264F9-DAD5-4879-8AB1-37BF95F4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55842-F7DB-7A7D-1C0E-AFFCBC86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319B0-0BDE-6FEA-C9CE-9D47CC28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6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97F7-76ED-7011-F138-E869A524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0DBCF-9801-0CD0-80D6-3F447D747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BA715-0CC9-5B9C-18CF-61BDF80E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3B509-CF39-AD98-5B9F-6F587A46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4C96F-9DB3-A7C7-7684-A6D19B1E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2573-6F50-BDB4-D64E-0EA61F6F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47B1-2CE0-DD8E-6AA7-1D71BCB16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BAA8E-0111-1C0D-1995-BAF9D0B4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EFB7E-2F96-B516-E4C4-FE880B92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4C964-F35F-1C34-CFF5-6D2BE76B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37BFC-C04F-FDE7-1C5E-0E27EDE8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9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093F-8967-AE7C-5F1B-469F7B5F4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1410-333F-199D-FAEF-B7E8E2241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F0024-0881-46A2-51B7-982D4F4C5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22088-D942-59C3-B01C-15738ADE2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0CCBFD-239F-B16A-FB41-D184A8113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BE7A7-F321-1F82-486C-84015955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27A04-391E-89F7-BFFA-811FB328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36C0C-4462-0CE6-C0CF-4B724D6B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0ED1-E045-5879-2239-6CF5C404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1E778-7F1D-EF5E-EEF7-4818E0F5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EFE2F-792D-2D06-A5D4-438C959AF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96091-370F-F4E1-14F0-848B8256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1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CE108-E833-D2C8-21FA-F53422A3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E8860-D7FB-EA40-D280-809C91D7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3219E-EFDA-81ED-A397-CE586F6E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4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6CAE-1701-A719-EA99-F0D91409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1DDF-3F4C-05B6-8145-DFEF2AE77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4061A-05F1-3202-44CE-A30ED63A8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6C9E7-259F-EDF3-0908-D55526AF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15CC9-295B-0269-3314-C3F56891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94882-B6A9-A334-945F-1BDAECCE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7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331C-EF23-165A-DB9E-C64FAC3B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F2B43-92D8-9B53-B80B-07CF8E5D3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EB1E2-8C85-BB65-94AD-57DDF6A85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AA67C-F130-FC8C-ECA4-4DFCAFDF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FFBD6-94D0-F263-A675-E4CD70380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72E05-13C4-BD37-B083-A3EF5E25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3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C5DC-6526-8DE1-FD88-D04D3339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DF879-56A4-E5E8-0C9C-6B1CFBABC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FA286-1207-DBA2-EA14-1A5B1DF4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D0F58-DE4D-21AA-7FBF-5E6395FA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A1BC4-3E61-F68B-63AA-A46453EF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9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935F9-8F87-75E1-FD10-0D2519C7A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6B2D0-EDCD-04ED-374A-DD406C0DF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81ED0-C0A0-A33C-BF28-ACF1E442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7E4BA-3647-8657-5F57-15CEC51B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C67EA-5E3D-41B7-F8BB-EF7B5CD4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8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A1EC3-25D6-57CE-99DC-2AF2BC12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1F670-12C1-CE1C-0CAB-31FB9C087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797D7-5848-8CBF-CFD1-3BE99CFC6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95F23-F574-4C00-9B25-D94C8E69B06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B12AB-B38C-C36A-1C31-960B8BDAC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06F2E-FB57-0F30-5944-4E9F97F96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4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E63DB1-5874-8A47-D26E-06AA18EAD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248469"/>
          </a:xfrm>
        </p:spPr>
        <p:txBody>
          <a:bodyPr/>
          <a:lstStyle/>
          <a:p>
            <a:r>
              <a:rPr lang="en-US" dirty="0"/>
              <a:t>Lock-free </a:t>
            </a:r>
            <a:r>
              <a:rPr lang="ru-RU" dirty="0"/>
              <a:t>алгоритмы и структуры данных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DC6EA90-44AB-A1C3-39BA-3CBFC5F2F2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8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CCBF6-8C11-3780-6AA3-079B51E72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</a:t>
            </a:r>
            <a:r>
              <a:rPr lang="en-US" dirty="0"/>
              <a:t>mutex – </a:t>
            </a:r>
            <a:r>
              <a:rPr lang="ru-RU" dirty="0"/>
              <a:t>не серебряная пуля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D6D69-74E8-0F1C-F209-50B238ACF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Потоки конкурируют за блокировку </a:t>
            </a:r>
          </a:p>
          <a:p>
            <a:r>
              <a:rPr lang="ru-RU" dirty="0"/>
              <a:t>Один поток держит </a:t>
            </a:r>
            <a:r>
              <a:rPr lang="ru-RU" dirty="0" err="1"/>
              <a:t>mutex</a:t>
            </a:r>
            <a:r>
              <a:rPr lang="ru-RU" dirty="0"/>
              <a:t> → остальные ждут </a:t>
            </a:r>
          </a:p>
          <a:p>
            <a:r>
              <a:rPr lang="ru-RU" dirty="0"/>
              <a:t>При росте числа потоков: </a:t>
            </a:r>
          </a:p>
          <a:p>
            <a:pPr lvl="1"/>
            <a:r>
              <a:rPr lang="ru-RU" dirty="0"/>
              <a:t>растёт время ожидания </a:t>
            </a:r>
          </a:p>
          <a:p>
            <a:pPr lvl="1"/>
            <a:r>
              <a:rPr lang="ru-RU" dirty="0"/>
              <a:t>падает производительность </a:t>
            </a:r>
          </a:p>
          <a:p>
            <a:r>
              <a:rPr lang="ru-RU" dirty="0"/>
              <a:t>Возможны проблемы: </a:t>
            </a:r>
          </a:p>
          <a:p>
            <a:pPr lvl="1"/>
            <a:r>
              <a:rPr lang="ru-RU" dirty="0" err="1"/>
              <a:t>deadlock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priority</a:t>
            </a:r>
            <a:r>
              <a:rPr lang="ru-RU" dirty="0"/>
              <a:t> </a:t>
            </a:r>
            <a:r>
              <a:rPr lang="ru-RU" dirty="0" err="1"/>
              <a:t>inversion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convoy</a:t>
            </a:r>
            <a:r>
              <a:rPr lang="ru-RU" dirty="0"/>
              <a:t> </a:t>
            </a:r>
            <a:r>
              <a:rPr lang="ru-RU" dirty="0" err="1"/>
              <a:t>effect</a:t>
            </a:r>
            <a:r>
              <a:rPr lang="ru-RU" dirty="0"/>
              <a:t> </a:t>
            </a:r>
          </a:p>
          <a:p>
            <a:r>
              <a:rPr lang="ru-RU" dirty="0"/>
              <a:t>💥 Иногда 8 потоков работают медленнее, чем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522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B776F-01C8-91BC-BFD1-F67854F3D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Блокирующий и неблокирующие алгоритмы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23F66-EAFB-2C67-CF07-DB277F6A0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Blocking:</a:t>
            </a:r>
          </a:p>
          <a:p>
            <a:pPr lvl="1"/>
            <a:r>
              <a:rPr lang="ru-RU" dirty="0"/>
              <a:t>используют </a:t>
            </a:r>
            <a:r>
              <a:rPr lang="en-US" dirty="0"/>
              <a:t>mutex, </a:t>
            </a:r>
            <a:r>
              <a:rPr lang="en-US" dirty="0" err="1"/>
              <a:t>condition_variable</a:t>
            </a:r>
            <a:r>
              <a:rPr lang="en-US" dirty="0"/>
              <a:t> </a:t>
            </a:r>
          </a:p>
          <a:p>
            <a:pPr lvl="1"/>
            <a:r>
              <a:rPr lang="ru-RU" dirty="0"/>
              <a:t>поток может </a:t>
            </a:r>
            <a:r>
              <a:rPr lang="ru-RU" b="1" dirty="0"/>
              <a:t>ждать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ОС может </a:t>
            </a:r>
            <a:r>
              <a:rPr lang="ru-RU" b="1" dirty="0"/>
              <a:t>усыпить поток</a:t>
            </a:r>
            <a:r>
              <a:rPr lang="ru-RU" dirty="0"/>
              <a:t> </a:t>
            </a:r>
          </a:p>
          <a:p>
            <a:r>
              <a:rPr lang="en-US" dirty="0"/>
              <a:t>Non-blocking:</a:t>
            </a:r>
          </a:p>
          <a:p>
            <a:pPr lvl="1"/>
            <a:r>
              <a:rPr lang="ru-RU" dirty="0"/>
              <a:t>нет блокировок </a:t>
            </a:r>
          </a:p>
          <a:p>
            <a:pPr lvl="1"/>
            <a:r>
              <a:rPr lang="ru-RU" dirty="0"/>
              <a:t>потоки не ждут друг друга </a:t>
            </a:r>
          </a:p>
          <a:p>
            <a:pPr lvl="1"/>
            <a:r>
              <a:rPr lang="ru-RU" dirty="0"/>
              <a:t>используют атомарные операции (</a:t>
            </a:r>
            <a:r>
              <a:rPr lang="en-US" dirty="0"/>
              <a:t>CAS) </a:t>
            </a:r>
          </a:p>
          <a:p>
            <a:r>
              <a:rPr lang="ru-RU" dirty="0"/>
              <a:t>Потоки “ждут” </a:t>
            </a:r>
            <a:r>
              <a:rPr lang="en-US" dirty="0"/>
              <a:t>vs “</a:t>
            </a:r>
            <a:r>
              <a:rPr lang="ru-RU" dirty="0"/>
              <a:t>соревнуются”</a:t>
            </a:r>
          </a:p>
        </p:txBody>
      </p:sp>
    </p:spTree>
    <p:extLst>
      <p:ext uri="{BB962C8B-B14F-4D97-AF65-F5344CB8AC3E}">
        <p14:creationId xmlns:p14="http://schemas.microsoft.com/office/powerpoint/2010/main" val="184329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633D63-9ACA-84E0-2694-2A311E4E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Потокобезопасная</a:t>
            </a:r>
            <a:r>
              <a:rPr lang="ru-RU" dirty="0"/>
              <a:t> очередь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D3BCC9-D212-545A-0CEC-FF53F37C9004}"/>
              </a:ext>
            </a:extLst>
          </p:cNvPr>
          <p:cNvSpPr txBox="1"/>
          <p:nvPr/>
        </p:nvSpPr>
        <p:spPr>
          <a:xfrm>
            <a:off x="838200" y="1690688"/>
            <a:ext cx="10515600" cy="5114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ThreadSafeQueue</a:t>
            </a:r>
            <a:r>
              <a:rPr lang="ru-RU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()&gt;;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m_queue.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m_cv.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notify_one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m_queue.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m_queue.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front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m_queue.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m_queue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condition_variable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26184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6F8DB-2E23-AC2C-BCF9-4F9ED962C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Поставщики и потребители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848414-FF6B-7EE2-4437-B6A0C2EBE442}"/>
              </a:ext>
            </a:extLst>
          </p:cNvPr>
          <p:cNvSpPr txBox="1"/>
          <p:nvPr/>
        </p:nvSpPr>
        <p:spPr>
          <a:xfrm>
            <a:off x="-1" y="1813748"/>
            <a:ext cx="6284423" cy="233910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producerCount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producers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emplace_back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([&amp;]() {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tasksPerProducer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 {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CpuTask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994FA1-FE96-1CBD-0057-2936F0471F0E}"/>
              </a:ext>
            </a:extLst>
          </p:cNvPr>
          <p:cNvSpPr txBox="1"/>
          <p:nvPr/>
        </p:nvSpPr>
        <p:spPr>
          <a:xfrm>
            <a:off x="5385261" y="3429000"/>
            <a:ext cx="6806739" cy="33855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consumers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consumerCount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consumers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emplace_back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([&amp;](std::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ThreadSafeQueue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tasksDone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fetch_add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A5E6B3-9971-9146-7F32-4175DDCDBAF7}"/>
              </a:ext>
            </a:extLst>
          </p:cNvPr>
          <p:cNvSpPr txBox="1"/>
          <p:nvPr/>
        </p:nvSpPr>
        <p:spPr>
          <a:xfrm>
            <a:off x="0" y="4206423"/>
            <a:ext cx="4669328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CpuTask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iterations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iterations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1.0000001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0.0000001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1.0000002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0.0000002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9331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6130E-D25C-FACE-5DE8-F870A06B7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бенчмарка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219AC2-2A71-CEAE-FF5D-E83E0F45F916}"/>
              </a:ext>
            </a:extLst>
          </p:cNvPr>
          <p:cNvSpPr txBox="1"/>
          <p:nvPr/>
        </p:nvSpPr>
        <p:spPr>
          <a:xfrm>
            <a:off x="800100" y="1881189"/>
            <a:ext cx="5353051" cy="48021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Producers: 1, Consumers: 1, Tasks: 1000000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Time: 0.765209 sec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Throughput: 1.30683e+06 tasks/sec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Producers: 2, Consumers: 2, Tasks: 2000000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Time: 0.891977 sec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Throughput: 2.24221e+06 tasks/sec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Producers: 4, Consumers: 4, Tasks: 4000000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Time: 1.74273 sec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Throughput: 2.29525e+06 tasks/sec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Producers: 8, Consumers: 8, Tasks: 8000000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Time: 4.72064 sec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Throughput: 1.69468e+06 tasks/sec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Producers: 16, Consumers: 16, Tasks: 16000000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Time: 9.59213 sec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Throughput: 1.66803e+06 tasks/sec</a:t>
            </a:r>
          </a:p>
        </p:txBody>
      </p:sp>
    </p:spTree>
    <p:extLst>
      <p:ext uri="{BB962C8B-B14F-4D97-AF65-F5344CB8AC3E}">
        <p14:creationId xmlns:p14="http://schemas.microsoft.com/office/powerpoint/2010/main" val="1080172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81BE-0BFC-2CB0-A20B-0D33AD254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если убрать блокировки?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B24FA-8633-10B2-8B1F-9EF26B2A7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Идея:</a:t>
            </a:r>
          </a:p>
          <a:p>
            <a:pPr lvl="1"/>
            <a:r>
              <a:rPr lang="ru-RU" dirty="0"/>
              <a:t>Потоки не блокируются </a:t>
            </a:r>
          </a:p>
          <a:p>
            <a:pPr lvl="1"/>
            <a:r>
              <a:rPr lang="ru-RU" dirty="0"/>
              <a:t>Нет ожидания освобождения </a:t>
            </a:r>
            <a:r>
              <a:rPr lang="ru-RU" dirty="0" err="1"/>
              <a:t>mutex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Нет системных вызовов </a:t>
            </a:r>
          </a:p>
          <a:p>
            <a:r>
              <a:rPr lang="ru-RU" dirty="0"/>
              <a:t>Вместо этого:</a:t>
            </a:r>
          </a:p>
          <a:p>
            <a:pPr lvl="1"/>
            <a:r>
              <a:rPr lang="ru-RU" dirty="0"/>
              <a:t>атомарные операции </a:t>
            </a:r>
          </a:p>
          <a:p>
            <a:pPr lvl="1"/>
            <a:r>
              <a:rPr lang="ru-RU" dirty="0" err="1"/>
              <a:t>compare_exchange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повтор попытки (</a:t>
            </a:r>
            <a:r>
              <a:rPr lang="ru-RU" dirty="0" err="1"/>
              <a:t>retry</a:t>
            </a:r>
            <a:r>
              <a:rPr lang="ru-RU" dirty="0"/>
              <a:t>) </a:t>
            </a:r>
          </a:p>
          <a:p>
            <a:r>
              <a:rPr lang="ru-RU" dirty="0"/>
              <a:t>Потоки “соревнуются”, а не “ждут”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25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CA3BDE-183A-39C1-0843-9984C1F5F661}"/>
              </a:ext>
            </a:extLst>
          </p:cNvPr>
          <p:cNvSpPr txBox="1"/>
          <p:nvPr/>
        </p:nvSpPr>
        <p:spPr>
          <a:xfrm>
            <a:off x="-1" y="0"/>
            <a:ext cx="1014152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SpinMutex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m_flag.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test_and_set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0 &amp;&amp;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defined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cpp_lib_atomic_wait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&amp;&amp;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cpp_lib_atomic_wait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201907L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m_flag.wait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(true);</a:t>
            </a: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#endif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m_flag.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test_and_set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m_flag.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defined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cpp_lib_atomic_wait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&amp;&amp;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cpp_lib_atomic_wait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201907L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m_flag.notify_one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#endif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atomic_flag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ATOMIC_FLAG_INIT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41173E-E9F7-CB2A-5CFF-692A3F8773B1}"/>
              </a:ext>
            </a:extLst>
          </p:cNvPr>
          <p:cNvSpPr txBox="1"/>
          <p:nvPr/>
        </p:nvSpPr>
        <p:spPr>
          <a:xfrm>
            <a:off x="6096000" y="1848678"/>
            <a:ext cx="5994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Этот код не использует блокирующие операции: ожидание происходит в цикле.</a:t>
            </a:r>
          </a:p>
          <a:p>
            <a:endParaRPr lang="ru-RU" dirty="0"/>
          </a:p>
          <a:p>
            <a:r>
              <a:rPr lang="ru-RU" dirty="0"/>
              <a:t>Тем не менее код, использующий </a:t>
            </a:r>
            <a:r>
              <a:rPr lang="en-US" dirty="0" err="1"/>
              <a:t>SpinMutex</a:t>
            </a:r>
            <a:r>
              <a:rPr lang="en-US" dirty="0"/>
              <a:t> </a:t>
            </a:r>
            <a:r>
              <a:rPr lang="ru-RU" dirty="0"/>
              <a:t>не будет считаться </a:t>
            </a:r>
            <a:r>
              <a:rPr lang="en-US" dirty="0"/>
              <a:t>lock-free</a:t>
            </a:r>
          </a:p>
        </p:txBody>
      </p:sp>
    </p:spTree>
    <p:extLst>
      <p:ext uri="{BB962C8B-B14F-4D97-AF65-F5344CB8AC3E}">
        <p14:creationId xmlns:p14="http://schemas.microsoft.com/office/powerpoint/2010/main" val="320559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998CDC-5338-C07E-4F3E-179FACCE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 неблокирующих алгоритмов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781BC4-3A99-FFB0-ADDD-1FC3C4C15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err="1"/>
              <a:t>Obstruction-free</a:t>
            </a:r>
            <a:r>
              <a:rPr lang="ru-RU" dirty="0"/>
              <a:t> </a:t>
            </a:r>
            <a:r>
              <a:rPr lang="ru-RU" i="1" dirty="0"/>
              <a:t>(редко используется на практике)</a:t>
            </a:r>
            <a:endParaRPr lang="ru-RU" dirty="0"/>
          </a:p>
          <a:p>
            <a:pPr lvl="1"/>
            <a:r>
              <a:rPr lang="ru-RU" dirty="0"/>
              <a:t>поток завершит операцию, если работает один</a:t>
            </a:r>
          </a:p>
          <a:p>
            <a:pPr lvl="1"/>
            <a:r>
              <a:rPr lang="ru-RU" dirty="0"/>
              <a:t>нет гарантий при конкуренции </a:t>
            </a:r>
          </a:p>
          <a:p>
            <a:r>
              <a:rPr lang="ru-RU" b="1" dirty="0"/>
              <a:t>Lock-</a:t>
            </a:r>
            <a:r>
              <a:rPr lang="ru-RU" b="1" dirty="0" err="1"/>
              <a:t>free</a:t>
            </a:r>
            <a:r>
              <a:rPr lang="ru-RU" dirty="0"/>
              <a:t> </a:t>
            </a:r>
            <a:r>
              <a:rPr lang="ru-RU" i="1" dirty="0"/>
              <a:t>(основной практический уровень)</a:t>
            </a:r>
            <a:endParaRPr lang="ru-RU" dirty="0"/>
          </a:p>
          <a:p>
            <a:pPr lvl="1"/>
            <a:r>
              <a:rPr lang="ru-RU" dirty="0"/>
              <a:t>хотя бы один поток завершит операцию</a:t>
            </a:r>
          </a:p>
          <a:p>
            <a:pPr lvl="1"/>
            <a:r>
              <a:rPr lang="ru-RU" dirty="0"/>
              <a:t>система в целом делает прогресс </a:t>
            </a:r>
          </a:p>
          <a:p>
            <a:r>
              <a:rPr lang="ru-RU" b="1" dirty="0" err="1"/>
              <a:t>Wait-free</a:t>
            </a:r>
            <a:r>
              <a:rPr lang="ru-RU" dirty="0"/>
              <a:t> </a:t>
            </a:r>
            <a:r>
              <a:rPr lang="ru-RU" i="1" dirty="0"/>
              <a:t>(самый сильный уровень)</a:t>
            </a:r>
            <a:endParaRPr lang="ru-RU" dirty="0"/>
          </a:p>
          <a:p>
            <a:pPr lvl="1"/>
            <a:r>
              <a:rPr lang="ru-RU" dirty="0"/>
              <a:t>каждый поток завершит операцию</a:t>
            </a:r>
          </a:p>
          <a:p>
            <a:pPr lvl="1"/>
            <a:r>
              <a:rPr lang="ru-RU" dirty="0"/>
              <a:t>гарантирован прогресс для всех </a:t>
            </a:r>
          </a:p>
          <a:p>
            <a:r>
              <a:rPr lang="ru-RU" dirty="0"/>
              <a:t>Усиление гарантий:</a:t>
            </a:r>
          </a:p>
          <a:p>
            <a:pPr lvl="1"/>
            <a:r>
              <a:rPr lang="ru-RU" dirty="0" err="1"/>
              <a:t>Obstruction-free</a:t>
            </a:r>
            <a:r>
              <a:rPr lang="ru-RU" dirty="0"/>
              <a:t> → Lock-</a:t>
            </a:r>
            <a:r>
              <a:rPr lang="ru-RU" dirty="0" err="1"/>
              <a:t>free</a:t>
            </a:r>
            <a:r>
              <a:rPr lang="ru-RU" dirty="0"/>
              <a:t> → </a:t>
            </a:r>
            <a:r>
              <a:rPr lang="ru-RU" dirty="0" err="1"/>
              <a:t>Wait-free</a:t>
            </a:r>
            <a:endParaRPr lang="ru-RU" dirty="0"/>
          </a:p>
          <a:p>
            <a:r>
              <a:rPr lang="ru-RU" dirty="0"/>
              <a:t>Важно:</a:t>
            </a:r>
          </a:p>
          <a:p>
            <a:pPr lvl="1"/>
            <a:r>
              <a:rPr lang="ru-RU" dirty="0" err="1"/>
              <a:t>lock-free</a:t>
            </a:r>
            <a:r>
              <a:rPr lang="ru-RU" dirty="0"/>
              <a:t> ≠ каждый поток делает прогресс </a:t>
            </a:r>
          </a:p>
          <a:p>
            <a:pPr lvl="1"/>
            <a:r>
              <a:rPr lang="ru-RU" dirty="0"/>
              <a:t>возможны “проигрывающие” потоки (</a:t>
            </a:r>
            <a:r>
              <a:rPr lang="ru-RU" dirty="0" err="1"/>
              <a:t>starvation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4975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2BDCD-1FBD-2930-58F4-CA85BAFF4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Lock-free </a:t>
            </a:r>
            <a:r>
              <a:rPr lang="ru-RU" dirty="0"/>
              <a:t>структуры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208D3-BFD3-9BB3-5C96-B6C386751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Основное свойство:</a:t>
            </a:r>
            <a:endParaRPr lang="ru-RU" dirty="0"/>
          </a:p>
          <a:p>
            <a:pPr lvl="1"/>
            <a:r>
              <a:rPr lang="ru-RU" dirty="0"/>
              <a:t>система делает прогресс</a:t>
            </a:r>
          </a:p>
          <a:p>
            <a:pPr lvl="1"/>
            <a:r>
              <a:rPr lang="ru-RU" dirty="0"/>
              <a:t>хотя бы один поток завершает операцию </a:t>
            </a:r>
          </a:p>
          <a:p>
            <a:r>
              <a:rPr lang="ru-RU" b="1" dirty="0"/>
              <a:t>Что это означает:</a:t>
            </a:r>
            <a:endParaRPr lang="ru-RU" dirty="0"/>
          </a:p>
          <a:p>
            <a:pPr lvl="1"/>
            <a:r>
              <a:rPr lang="ru-RU" dirty="0"/>
              <a:t>потоки работают одновременно </a:t>
            </a:r>
          </a:p>
          <a:p>
            <a:pPr lvl="1"/>
            <a:r>
              <a:rPr lang="ru-RU" dirty="0"/>
              <a:t>остановка одного потока не блокирует других </a:t>
            </a:r>
          </a:p>
          <a:p>
            <a:pPr lvl="1"/>
            <a:r>
              <a:rPr lang="ru-RU" dirty="0"/>
              <a:t>нет ожидания </a:t>
            </a:r>
            <a:r>
              <a:rPr lang="ru-RU" dirty="0" err="1"/>
              <a:t>mutex</a:t>
            </a:r>
            <a:r>
              <a:rPr lang="ru-RU" dirty="0"/>
              <a:t> </a:t>
            </a:r>
          </a:p>
          <a:p>
            <a:r>
              <a:rPr lang="ru-RU" b="1" dirty="0"/>
              <a:t>Как это реализуется:</a:t>
            </a:r>
            <a:endParaRPr lang="ru-RU" dirty="0"/>
          </a:p>
          <a:p>
            <a:pPr lvl="1"/>
            <a:r>
              <a:rPr lang="ru-RU" dirty="0"/>
              <a:t>атомарные операции (CAS) </a:t>
            </a:r>
          </a:p>
          <a:p>
            <a:pPr lvl="1"/>
            <a:r>
              <a:rPr lang="ru-RU" dirty="0" err="1"/>
              <a:t>retry</a:t>
            </a:r>
            <a:r>
              <a:rPr lang="ru-RU" dirty="0"/>
              <a:t>-циклы (</a:t>
            </a:r>
            <a:r>
              <a:rPr lang="ru-RU" dirty="0" err="1"/>
              <a:t>compare_exchange</a:t>
            </a:r>
            <a:r>
              <a:rPr lang="ru-RU" dirty="0"/>
              <a:t>) </a:t>
            </a:r>
          </a:p>
          <a:p>
            <a:r>
              <a:rPr lang="ru-RU" b="1" dirty="0"/>
              <a:t>Особенности:</a:t>
            </a:r>
            <a:endParaRPr lang="ru-RU" dirty="0"/>
          </a:p>
          <a:p>
            <a:pPr lvl="1"/>
            <a:r>
              <a:rPr lang="ru-RU" dirty="0"/>
              <a:t>возможны повторные попытки </a:t>
            </a:r>
          </a:p>
          <a:p>
            <a:pPr lvl="1"/>
            <a:r>
              <a:rPr lang="ru-RU" dirty="0"/>
              <a:t>возможен </a:t>
            </a:r>
            <a:r>
              <a:rPr lang="ru-RU" dirty="0" err="1"/>
              <a:t>starvation</a:t>
            </a:r>
            <a:r>
              <a:rPr lang="ru-RU" dirty="0"/>
              <a:t> (голодание потоков) </a:t>
            </a:r>
          </a:p>
          <a:p>
            <a:r>
              <a:rPr lang="ru-RU" dirty="0"/>
              <a:t>Lock-</a:t>
            </a:r>
            <a:r>
              <a:rPr lang="ru-RU" dirty="0" err="1"/>
              <a:t>free</a:t>
            </a:r>
            <a:r>
              <a:rPr lang="ru-RU" dirty="0"/>
              <a:t> ≠ каждый поток делает прогресс</a:t>
            </a:r>
          </a:p>
        </p:txBody>
      </p:sp>
    </p:spTree>
    <p:extLst>
      <p:ext uri="{BB962C8B-B14F-4D97-AF65-F5344CB8AC3E}">
        <p14:creationId xmlns:p14="http://schemas.microsoft.com/office/powerpoint/2010/main" val="2309738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D0A379-8E84-1F76-6253-4B4FA24E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Lock-free </a:t>
            </a:r>
            <a:r>
              <a:rPr lang="ru-RU" dirty="0"/>
              <a:t>инкремент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1ADD-4C25-C24B-291E-A978582330D9}"/>
              </a:ext>
            </a:extLst>
          </p:cNvPr>
          <p:cNvSpPr txBox="1"/>
          <p:nvPr/>
        </p:nvSpPr>
        <p:spPr>
          <a:xfrm>
            <a:off x="838200" y="2177934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counter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compare_exchange_weak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old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обновляется автоматически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просто пробуем ещё раз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03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12B1-01A2-CCE6-30AE-0A0D15418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Wait-free </a:t>
            </a:r>
            <a:r>
              <a:rPr lang="ru-RU" dirty="0"/>
              <a:t>алгоритмы и структуры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1F754-ACDF-2DF0-B8B0-CB86A94AD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Самая сильная гарантия прогресса:</a:t>
            </a:r>
            <a:endParaRPr lang="ru-RU" dirty="0"/>
          </a:p>
          <a:p>
            <a:pPr lvl="1"/>
            <a:r>
              <a:rPr lang="ru-RU" dirty="0"/>
              <a:t>каждый поток завершает операцию</a:t>
            </a:r>
            <a:br>
              <a:rPr lang="ru-RU" dirty="0"/>
            </a:br>
            <a:r>
              <a:rPr lang="ru-RU" dirty="0"/>
              <a:t>👉 за конечное число шагов </a:t>
            </a:r>
          </a:p>
          <a:p>
            <a:r>
              <a:rPr lang="ru-RU" b="1" dirty="0"/>
              <a:t>Что это означает:</a:t>
            </a:r>
            <a:endParaRPr lang="ru-RU" dirty="0"/>
          </a:p>
          <a:p>
            <a:pPr lvl="1"/>
            <a:r>
              <a:rPr lang="ru-RU" dirty="0"/>
              <a:t>нет ожидания других потоков </a:t>
            </a:r>
          </a:p>
          <a:p>
            <a:pPr lvl="1"/>
            <a:r>
              <a:rPr lang="ru-RU" dirty="0"/>
              <a:t>нет </a:t>
            </a:r>
            <a:r>
              <a:rPr lang="ru-RU" dirty="0" err="1"/>
              <a:t>starvation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время выполнения ограничено </a:t>
            </a:r>
          </a:p>
          <a:p>
            <a:r>
              <a:rPr lang="ru-RU" b="1" dirty="0"/>
              <a:t>Требования:</a:t>
            </a:r>
            <a:endParaRPr lang="ru-RU" dirty="0"/>
          </a:p>
          <a:p>
            <a:pPr lvl="1"/>
            <a:r>
              <a:rPr lang="ru-RU" dirty="0"/>
              <a:t>нет бесконечных </a:t>
            </a:r>
            <a:r>
              <a:rPr lang="ru-RU" dirty="0" err="1"/>
              <a:t>retry</a:t>
            </a:r>
            <a:r>
              <a:rPr lang="ru-RU" dirty="0"/>
              <a:t>-циклов </a:t>
            </a:r>
          </a:p>
          <a:p>
            <a:pPr lvl="1"/>
            <a:r>
              <a:rPr lang="ru-RU" dirty="0"/>
              <a:t>число шагов ограничено заранее </a:t>
            </a:r>
          </a:p>
          <a:p>
            <a:r>
              <a:rPr lang="ru-RU" b="1" dirty="0"/>
              <a:t>Цена:</a:t>
            </a:r>
            <a:endParaRPr lang="ru-RU" dirty="0"/>
          </a:p>
          <a:p>
            <a:pPr lvl="1"/>
            <a:r>
              <a:rPr lang="ru-RU" dirty="0"/>
              <a:t>очень сложно реализовать </a:t>
            </a:r>
          </a:p>
          <a:p>
            <a:pPr lvl="1"/>
            <a:r>
              <a:rPr lang="ru-RU" dirty="0"/>
              <a:t>часто хуже по производительности </a:t>
            </a:r>
          </a:p>
          <a:p>
            <a:pPr lvl="1"/>
            <a:r>
              <a:rPr lang="ru-RU" dirty="0"/>
              <a:t>редко используется на практике </a:t>
            </a:r>
          </a:p>
          <a:p>
            <a:r>
              <a:rPr lang="ru-RU" dirty="0" err="1"/>
              <a:t>Wait-free</a:t>
            </a:r>
            <a:r>
              <a:rPr lang="ru-RU" dirty="0"/>
              <a:t> ⇒ Lock-</a:t>
            </a:r>
            <a:r>
              <a:rPr lang="ru-RU" dirty="0" err="1"/>
              <a:t>free</a:t>
            </a:r>
            <a:r>
              <a:rPr lang="ru-RU" dirty="0"/>
              <a:t>, но не наоборот</a:t>
            </a:r>
          </a:p>
        </p:txBody>
      </p:sp>
    </p:spTree>
    <p:extLst>
      <p:ext uri="{BB962C8B-B14F-4D97-AF65-F5344CB8AC3E}">
        <p14:creationId xmlns:p14="http://schemas.microsoft.com/office/powerpoint/2010/main" val="196098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F5F8F-3F14-D090-DB5C-C2336C400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Wait-free bounded push</a:t>
            </a:r>
            <a:r>
              <a:rPr lang="ru-RU" dirty="0"/>
              <a:t> в массив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E43F9-EF53-7F14-4DCF-F9AA8D5F42DF}"/>
              </a:ext>
            </a:extLst>
          </p:cNvPr>
          <p:cNvSpPr txBox="1"/>
          <p:nvPr/>
        </p:nvSpPr>
        <p:spPr>
          <a:xfrm>
            <a:off x="838200" y="1862052"/>
            <a:ext cx="830164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std::atomic&lt;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index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fetch_add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data[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8756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474F-2237-E3E4-9C5E-2492B1459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</a:t>
            </a:r>
            <a:r>
              <a:rPr lang="en-US" dirty="0"/>
              <a:t>lock-free </a:t>
            </a:r>
            <a:r>
              <a:rPr lang="ru-RU" dirty="0"/>
              <a:t>и </a:t>
            </a:r>
            <a:r>
              <a:rPr lang="en-US" dirty="0"/>
              <a:t>wait-free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00FB6-6051-3F9A-25E0-AFFAF63E7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Сложность реализации</a:t>
            </a:r>
            <a:endParaRPr lang="ru-RU" dirty="0"/>
          </a:p>
          <a:p>
            <a:pPr lvl="1"/>
            <a:r>
              <a:rPr lang="ru-RU" dirty="0"/>
              <a:t>код значительно сложнее </a:t>
            </a:r>
            <a:r>
              <a:rPr lang="ru-RU" dirty="0" err="1"/>
              <a:t>mutex</a:t>
            </a:r>
            <a:r>
              <a:rPr lang="ru-RU" dirty="0"/>
              <a:t>-решений </a:t>
            </a:r>
          </a:p>
          <a:p>
            <a:pPr lvl="1"/>
            <a:r>
              <a:rPr lang="ru-RU" dirty="0"/>
              <a:t>легко допустить ошибки </a:t>
            </a:r>
          </a:p>
          <a:p>
            <a:r>
              <a:rPr lang="ru-RU" b="1" dirty="0"/>
              <a:t>Сложность рассуждений</a:t>
            </a:r>
            <a:endParaRPr lang="ru-RU" dirty="0"/>
          </a:p>
          <a:p>
            <a:pPr lvl="1"/>
            <a:r>
              <a:rPr lang="ru-RU" dirty="0"/>
              <a:t>трудно поддерживать инварианты </a:t>
            </a:r>
          </a:p>
          <a:p>
            <a:pPr lvl="1"/>
            <a:r>
              <a:rPr lang="ru-RU" dirty="0"/>
              <a:t>сложно отлаживать и тестировать </a:t>
            </a:r>
          </a:p>
          <a:p>
            <a:r>
              <a:rPr lang="ru-RU" b="1" dirty="0"/>
              <a:t>Модель памяти</a:t>
            </a:r>
            <a:endParaRPr lang="ru-RU" dirty="0"/>
          </a:p>
          <a:p>
            <a:pPr lvl="1"/>
            <a:r>
              <a:rPr lang="ru-RU" dirty="0"/>
              <a:t>нужно правильно выбирать </a:t>
            </a:r>
            <a:r>
              <a:rPr lang="ru-RU" dirty="0" err="1"/>
              <a:t>memory_order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ошибки → UB </a:t>
            </a:r>
          </a:p>
          <a:p>
            <a:r>
              <a:rPr lang="ru-RU" b="1" dirty="0"/>
              <a:t>Производительность</a:t>
            </a:r>
            <a:endParaRPr lang="ru-RU" dirty="0"/>
          </a:p>
          <a:p>
            <a:pPr lvl="1"/>
            <a:r>
              <a:rPr lang="ru-RU" dirty="0"/>
              <a:t>атомарные операции дороже обычных </a:t>
            </a:r>
          </a:p>
          <a:p>
            <a:pPr lvl="1"/>
            <a:r>
              <a:rPr lang="ru-RU" dirty="0" err="1"/>
              <a:t>contention</a:t>
            </a:r>
            <a:r>
              <a:rPr lang="ru-RU" dirty="0"/>
              <a:t> в CAS-циклах </a:t>
            </a:r>
          </a:p>
          <a:p>
            <a:pPr lvl="1"/>
            <a:r>
              <a:rPr lang="ru-RU" dirty="0"/>
              <a:t>возможен рост задержек </a:t>
            </a:r>
          </a:p>
          <a:p>
            <a:r>
              <a:rPr lang="ru-RU" dirty="0"/>
              <a:t>Lock-</a:t>
            </a:r>
            <a:r>
              <a:rPr lang="ru-RU" dirty="0" err="1"/>
              <a:t>free</a:t>
            </a:r>
            <a:r>
              <a:rPr lang="ru-RU" dirty="0"/>
              <a:t> ≠ быстрее</a:t>
            </a:r>
          </a:p>
        </p:txBody>
      </p:sp>
    </p:spTree>
    <p:extLst>
      <p:ext uri="{BB962C8B-B14F-4D97-AF65-F5344CB8AC3E}">
        <p14:creationId xmlns:p14="http://schemas.microsoft.com/office/powerpoint/2010/main" val="384726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95926B-053A-C424-2377-7F1C22FA6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Однопоточный стек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945D91-E6A2-B7E9-630C-13745D5AF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9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81C552-1314-4DD5-EE4B-458120DC80A6}"/>
              </a:ext>
            </a:extLst>
          </p:cNvPr>
          <p:cNvSpPr txBox="1"/>
          <p:nvPr/>
        </p:nvSpPr>
        <p:spPr>
          <a:xfrm>
            <a:off x="0" y="0"/>
            <a:ext cx="656045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operator=(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exchange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next;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1DFA0F-0484-7F90-86B4-6E527945CA93}"/>
              </a:ext>
            </a:extLst>
          </p:cNvPr>
          <p:cNvSpPr/>
          <p:nvPr/>
        </p:nvSpPr>
        <p:spPr>
          <a:xfrm>
            <a:off x="6560457" y="326788"/>
            <a:ext cx="1810139" cy="16026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8DE3CB-668D-D07B-DE4B-F0D7A55C308A}"/>
              </a:ext>
            </a:extLst>
          </p:cNvPr>
          <p:cNvSpPr/>
          <p:nvPr/>
        </p:nvSpPr>
        <p:spPr>
          <a:xfrm>
            <a:off x="6915021" y="982591"/>
            <a:ext cx="1101012" cy="5598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m_head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4D54B6-E386-13D3-CEA9-1917C0ADB440}"/>
              </a:ext>
            </a:extLst>
          </p:cNvPr>
          <p:cNvSpPr/>
          <p:nvPr/>
        </p:nvSpPr>
        <p:spPr>
          <a:xfrm>
            <a:off x="9547550" y="326789"/>
            <a:ext cx="1343608" cy="160267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AFF68-33CD-A683-2A9E-35788E1B43F9}"/>
              </a:ext>
            </a:extLst>
          </p:cNvPr>
          <p:cNvSpPr/>
          <p:nvPr/>
        </p:nvSpPr>
        <p:spPr>
          <a:xfrm>
            <a:off x="9752823" y="567195"/>
            <a:ext cx="895739" cy="447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01E2E9-6A1B-9DC8-91AF-15F6C6D10900}"/>
              </a:ext>
            </a:extLst>
          </p:cNvPr>
          <p:cNvSpPr/>
          <p:nvPr/>
        </p:nvSpPr>
        <p:spPr>
          <a:xfrm>
            <a:off x="9771484" y="1167541"/>
            <a:ext cx="895739" cy="447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2F1AD0-FBFB-A4E5-E430-156F9A30939D}"/>
              </a:ext>
            </a:extLst>
          </p:cNvPr>
          <p:cNvSpPr/>
          <p:nvPr/>
        </p:nvSpPr>
        <p:spPr>
          <a:xfrm>
            <a:off x="9547550" y="2323540"/>
            <a:ext cx="1343608" cy="160267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121598-88D0-9EE4-5D5E-CD04BCA022C2}"/>
              </a:ext>
            </a:extLst>
          </p:cNvPr>
          <p:cNvSpPr/>
          <p:nvPr/>
        </p:nvSpPr>
        <p:spPr>
          <a:xfrm>
            <a:off x="9752823" y="2563946"/>
            <a:ext cx="895739" cy="447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A69B93-0977-04B3-7E52-812D009B13E7}"/>
              </a:ext>
            </a:extLst>
          </p:cNvPr>
          <p:cNvSpPr/>
          <p:nvPr/>
        </p:nvSpPr>
        <p:spPr>
          <a:xfrm>
            <a:off x="9771484" y="3164292"/>
            <a:ext cx="895739" cy="447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78908B5-42BA-5B28-3C15-3341C94A9E8C}"/>
              </a:ext>
            </a:extLst>
          </p:cNvPr>
          <p:cNvSpPr/>
          <p:nvPr/>
        </p:nvSpPr>
        <p:spPr>
          <a:xfrm>
            <a:off x="9547550" y="4320291"/>
            <a:ext cx="1343608" cy="160267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29C7EC-BFD5-767F-44C9-930FA0660C8B}"/>
              </a:ext>
            </a:extLst>
          </p:cNvPr>
          <p:cNvSpPr/>
          <p:nvPr/>
        </p:nvSpPr>
        <p:spPr>
          <a:xfrm>
            <a:off x="9752823" y="4560697"/>
            <a:ext cx="895739" cy="447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BC5278-52D2-2E78-F8CB-ECD0D17151B1}"/>
              </a:ext>
            </a:extLst>
          </p:cNvPr>
          <p:cNvSpPr/>
          <p:nvPr/>
        </p:nvSpPr>
        <p:spPr>
          <a:xfrm>
            <a:off x="9771484" y="5161043"/>
            <a:ext cx="895739" cy="447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A8D4F96-A081-752E-DF36-ADFC88F5BB2F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8016033" y="1128127"/>
            <a:ext cx="1531517" cy="134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058522-5D26-3DEF-3688-1BF4287ACAA1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10219354" y="1615411"/>
            <a:ext cx="0" cy="708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3CB57C5-77A3-A5A6-35BE-A929DB999180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219354" y="3612162"/>
            <a:ext cx="0" cy="708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C1DC05F-AD08-5532-E201-7CD7458E0F19}"/>
              </a:ext>
            </a:extLst>
          </p:cNvPr>
          <p:cNvCxnSpPr>
            <a:cxnSpLocks/>
            <a:stCxn id="19" idx="2"/>
            <a:endCxn id="31" idx="0"/>
          </p:cNvCxnSpPr>
          <p:nvPr/>
        </p:nvCxnSpPr>
        <p:spPr>
          <a:xfrm flipH="1">
            <a:off x="10219353" y="5608913"/>
            <a:ext cx="1" cy="656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2DD0F62-4EBB-615A-EBDA-C89E6785EB3A}"/>
              </a:ext>
            </a:extLst>
          </p:cNvPr>
          <p:cNvSpPr txBox="1"/>
          <p:nvPr/>
        </p:nvSpPr>
        <p:spPr>
          <a:xfrm>
            <a:off x="9604180" y="6264999"/>
            <a:ext cx="123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nullptr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19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B2A91DA-8BA4-977C-DFC3-28F2042B4CE8}"/>
              </a:ext>
            </a:extLst>
          </p:cNvPr>
          <p:cNvSpPr txBox="1"/>
          <p:nvPr/>
        </p:nvSpPr>
        <p:spPr>
          <a:xfrm>
            <a:off x="0" y="0"/>
            <a:ext cx="920205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-&gt;data);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788210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9215D9-FA25-1A67-C310-908BC1B06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Lock-free </a:t>
            </a:r>
            <a:r>
              <a:rPr lang="ru-RU" dirty="0"/>
              <a:t>стек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508A8-8416-8438-92B2-BE0E997AF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77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A16703-B28F-8DFE-1F57-35B80281C9FA}"/>
              </a:ext>
            </a:extLst>
          </p:cNvPr>
          <p:cNvSpPr txBox="1"/>
          <p:nvPr/>
        </p:nvSpPr>
        <p:spPr>
          <a:xfrm>
            <a:off x="-22276" y="0"/>
            <a:ext cx="791597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LockFreeStack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next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: data(std::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: data(std::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LockFreeStack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LockFreeStack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LockFreeStack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LockFreeStack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operator=(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LockFreeStack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LockFreeStack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exchange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425420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2526824-505B-2972-5262-96C1F6F9EC5F}"/>
              </a:ext>
            </a:extLst>
          </p:cNvPr>
          <p:cNvSpPr txBox="1"/>
          <p:nvPr/>
        </p:nvSpPr>
        <p:spPr>
          <a:xfrm>
            <a:off x="164938" y="-18661"/>
            <a:ext cx="1171925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LockFreeStack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&amp;&amp; 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compare_exchange_weak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-&gt;next));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Внимание, память, занимаемая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oldHead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утечёт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-&gt;data) :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ru-RU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compare_exchange_weak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/*expected*/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/*desired*/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63385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9E4F6-ECD3-4266-8A8A-1107859D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освобождения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4CA88-C3AF-E791-6176-4EC73C110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Главная проблема: когда можно безопасно удалить узел? </a:t>
            </a:r>
          </a:p>
          <a:p>
            <a:r>
              <a:rPr lang="ru-RU" dirty="0"/>
              <a:t>Опасность: другой поток может всё ещё читать этот узел</a:t>
            </a:r>
          </a:p>
          <a:p>
            <a:pPr lvl="1"/>
            <a:r>
              <a:rPr lang="ru-RU" dirty="0" err="1"/>
              <a:t>use-after-free</a:t>
            </a:r>
            <a:r>
              <a:rPr lang="ru-RU" dirty="0"/>
              <a:t> → UB </a:t>
            </a:r>
          </a:p>
          <a:p>
            <a:r>
              <a:rPr lang="ru-RU" dirty="0"/>
              <a:t>Простые случаи:</a:t>
            </a:r>
          </a:p>
          <a:p>
            <a:pPr lvl="1"/>
            <a:r>
              <a:rPr lang="ru-RU" dirty="0"/>
              <a:t>1 поток → удаляет сразу </a:t>
            </a:r>
          </a:p>
          <a:p>
            <a:pPr lvl="1"/>
            <a:r>
              <a:rPr lang="ru-RU" dirty="0"/>
              <a:t>несколько потоков → уже не очевидно </a:t>
            </a:r>
          </a:p>
          <a:p>
            <a:r>
              <a:rPr lang="ru-RU" dirty="0"/>
              <a:t>Почему это сложно:</a:t>
            </a:r>
          </a:p>
          <a:p>
            <a:pPr lvl="1"/>
            <a:r>
              <a:rPr lang="ru-RU" dirty="0"/>
              <a:t>нет явного “владельца” узла </a:t>
            </a:r>
          </a:p>
          <a:p>
            <a:pPr lvl="1"/>
            <a:r>
              <a:rPr lang="ru-RU" dirty="0"/>
              <a:t>нет точки синхронизации </a:t>
            </a:r>
          </a:p>
          <a:p>
            <a:r>
              <a:rPr lang="ru-RU" dirty="0"/>
              <a:t>Следствие:</a:t>
            </a:r>
          </a:p>
          <a:p>
            <a:pPr lvl="1"/>
            <a:r>
              <a:rPr lang="ru-RU" dirty="0"/>
              <a:t>нужны специальные техники</a:t>
            </a:r>
          </a:p>
          <a:p>
            <a:pPr lvl="1"/>
            <a:r>
              <a:rPr lang="ru-RU" dirty="0"/>
              <a:t>отложенное удаление</a:t>
            </a:r>
          </a:p>
          <a:p>
            <a:pPr lvl="1"/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endParaRPr lang="ru-RU" dirty="0"/>
          </a:p>
          <a:p>
            <a:pPr lvl="1"/>
            <a:r>
              <a:rPr lang="ru-RU" dirty="0"/>
              <a:t>аналоги GC</a:t>
            </a:r>
          </a:p>
        </p:txBody>
      </p:sp>
    </p:spTree>
    <p:extLst>
      <p:ext uri="{BB962C8B-B14F-4D97-AF65-F5344CB8AC3E}">
        <p14:creationId xmlns:p14="http://schemas.microsoft.com/office/powerpoint/2010/main" val="151176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EB0C1-3AF5-8DBA-8FA6-6C4EBB9CF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Упрощённый сборщик мусора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ADC35-A8C9-C060-081F-7AEBA69CA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 удаления из стека поток не удаляет узел сразу, а добавляет в список для удаления</a:t>
            </a:r>
          </a:p>
          <a:p>
            <a:r>
              <a:rPr lang="ru-RU" dirty="0"/>
              <a:t>Когда ни один поток не вызывает </a:t>
            </a:r>
            <a:r>
              <a:rPr lang="en-US" dirty="0"/>
              <a:t>Pop</a:t>
            </a:r>
            <a:r>
              <a:rPr lang="ru-RU" dirty="0"/>
              <a:t>, можно удалить все узлы из этого списка</a:t>
            </a:r>
          </a:p>
          <a:p>
            <a:r>
              <a:rPr lang="ru-RU" dirty="0"/>
              <a:t>Для отслеживания потоков используем атомарный счётчик</a:t>
            </a:r>
          </a:p>
          <a:p>
            <a:pPr lvl="1"/>
            <a:r>
              <a:rPr lang="ru-RU" dirty="0"/>
              <a:t>При входе в </a:t>
            </a:r>
            <a:r>
              <a:rPr lang="en-US" dirty="0"/>
              <a:t>Pop</a:t>
            </a:r>
            <a:r>
              <a:rPr lang="ru-RU" dirty="0"/>
              <a:t> счётчик увеличивается, при выходе – уменьшается</a:t>
            </a:r>
          </a:p>
        </p:txBody>
      </p:sp>
    </p:spTree>
    <p:extLst>
      <p:ext uri="{BB962C8B-B14F-4D97-AF65-F5344CB8AC3E}">
        <p14:creationId xmlns:p14="http://schemas.microsoft.com/office/powerpoint/2010/main" val="3993205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8FB494-333F-B1AD-677C-E6C74ED366C4}"/>
              </a:ext>
            </a:extLst>
          </p:cNvPr>
          <p:cNvSpPr txBox="1"/>
          <p:nvPr/>
        </p:nvSpPr>
        <p:spPr>
          <a:xfrm>
            <a:off x="0" y="127953"/>
            <a:ext cx="798140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LockFreeStack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LockFreeStack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DeleteNodes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m_nodesToDelete.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DeleteNodes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DeleteNodes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exchange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m_threadsInPop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m_nodesToDelete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621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8A3D6C-1C65-C2C1-E826-274872B090F7}"/>
              </a:ext>
            </a:extLst>
          </p:cNvPr>
          <p:cNvSpPr txBox="1"/>
          <p:nvPr/>
        </p:nvSpPr>
        <p:spPr>
          <a:xfrm>
            <a:off x="0" y="2530158"/>
            <a:ext cx="116629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m_threadsInPop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Увеличиваем счётчик потоков, делающих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Pop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compare_exchange_weak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-&gt;next))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-&gt;data) :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TryReclaim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Помещаем узел в список на удаление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E8A152-DD58-AAA2-5E76-6AEB25F3E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Снятие элемента со стека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79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A7C700-7CE5-89DE-E4EB-F8B2E95C402E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TryReclaim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m_threadsInPop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Мы единственный поток внутри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Pop?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Пытаемся забрать список узлов себе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nodesToDelete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m_nodesToDelete.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exchange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(--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m_threadsInPop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Текущий поток всё ещё последний?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{</a:t>
            </a: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// Больше никто не работает со списком узлов, поэтому его можно удалить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DeleteNodes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nodesToDelete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nodesToDelete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{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Кто-то ещё работает со списком узлов - добавляем узлы в список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ChainPendingNodes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nodesToDelete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Узел можно удалить, так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как только текущий поток извлёк этот узел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ChainPendingNode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--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m_threadsInPop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685112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FBC48E-31B1-754B-9BD8-21C8156D4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53989" cy="14224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D3637C-54DA-85A9-4E8F-E3CAD0AC8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42755"/>
            <a:ext cx="4995325" cy="4855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783D09-5404-8D83-F2A8-ADBF58035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822" y="158471"/>
            <a:ext cx="5591955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98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1BC932-99EE-CE6B-A402-C3E95BB71DE2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ChainPendingNodes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(first);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ChainPendingNodes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Дописываем диапазон узлов [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first, last]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начало списка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ChainPendingNodes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(first &amp;&amp; last);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m_nodesToDelete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Цикл нужен, так как другие потоки тоже могут выполнять это же действие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m_nodesToDelete.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compare_exchange_weak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ChainPendingNode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(node);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ChainPendingNodes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263879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7FFB6-358D-A1B0-C14C-0B9ACB54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реализации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5067C-8CB9-3FF0-31FA-2033E9EB8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Идея работает, если есть “тихие периоды”</a:t>
            </a:r>
          </a:p>
          <a:p>
            <a:pPr lvl="1"/>
            <a:r>
              <a:rPr lang="ru-RU" dirty="0"/>
              <a:t>моменты, когда ни один поток не в </a:t>
            </a:r>
            <a:r>
              <a:rPr lang="ru-RU" dirty="0" err="1"/>
              <a:t>Pop</a:t>
            </a:r>
            <a:endParaRPr lang="ru-RU" dirty="0"/>
          </a:p>
          <a:p>
            <a:pPr lvl="1"/>
            <a:r>
              <a:rPr lang="ru-RU" dirty="0"/>
              <a:t>тогда можно безопасно удалить узлы </a:t>
            </a:r>
          </a:p>
          <a:p>
            <a:r>
              <a:rPr lang="ru-RU" dirty="0"/>
              <a:t>Проблема при высокой нагрузке</a:t>
            </a:r>
          </a:p>
          <a:p>
            <a:pPr lvl="1"/>
            <a:r>
              <a:rPr lang="ru-RU" dirty="0"/>
              <a:t>потоки постоянно в </a:t>
            </a:r>
            <a:r>
              <a:rPr lang="ru-RU" dirty="0" err="1"/>
              <a:t>Pop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threads_in_pop</a:t>
            </a:r>
            <a:r>
              <a:rPr lang="ru-RU" dirty="0"/>
              <a:t> редко становится 0 </a:t>
            </a:r>
          </a:p>
          <a:p>
            <a:pPr lvl="1"/>
            <a:r>
              <a:rPr lang="ru-RU" dirty="0"/>
              <a:t>удаление откладывается </a:t>
            </a:r>
          </a:p>
          <a:p>
            <a:r>
              <a:rPr lang="ru-RU" dirty="0"/>
              <a:t>Следствие</a:t>
            </a:r>
          </a:p>
          <a:p>
            <a:pPr lvl="1"/>
            <a:r>
              <a:rPr lang="ru-RU" dirty="0"/>
              <a:t>список </a:t>
            </a:r>
            <a:r>
              <a:rPr lang="ru-RU" dirty="0" err="1"/>
              <a:t>nodes_to_delete</a:t>
            </a:r>
            <a:r>
              <a:rPr lang="ru-RU" dirty="0"/>
              <a:t> растёт</a:t>
            </a:r>
          </a:p>
          <a:p>
            <a:pPr lvl="1"/>
            <a:r>
              <a:rPr lang="ru-RU" dirty="0"/>
              <a:t>фактически утечка памяти </a:t>
            </a:r>
          </a:p>
          <a:p>
            <a:r>
              <a:rPr lang="ru-RU" dirty="0"/>
              <a:t>Вывод</a:t>
            </a:r>
          </a:p>
          <a:p>
            <a:pPr lvl="1"/>
            <a:r>
              <a:rPr lang="ru-RU" dirty="0"/>
              <a:t>решение зависит от нагрузки </a:t>
            </a:r>
          </a:p>
          <a:p>
            <a:pPr lvl="1"/>
            <a:r>
              <a:rPr lang="ru-RU" dirty="0"/>
              <a:t>нужны более надёжные техники </a:t>
            </a:r>
          </a:p>
          <a:p>
            <a:pPr lvl="1"/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, </a:t>
            </a:r>
            <a:r>
              <a:rPr lang="ru-RU" dirty="0" err="1"/>
              <a:t>reference</a:t>
            </a:r>
            <a:r>
              <a:rPr lang="ru-RU" dirty="0"/>
              <a:t> </a:t>
            </a:r>
            <a:r>
              <a:rPr lang="ru-RU" dirty="0" err="1"/>
              <a:t>counting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07803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C8A856-4F0C-30AE-022A-E3B88574A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ABA-</a:t>
            </a:r>
            <a:r>
              <a:rPr lang="ru-RU" dirty="0"/>
              <a:t>проблема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F9684-FB42-1CB0-DA34-F597D14DB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631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5803C1-C888-3F10-7A72-4574057A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ABA-</a:t>
            </a:r>
            <a:r>
              <a:rPr lang="ru-RU" dirty="0"/>
              <a:t>проблема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4505D1-3A8B-6EAF-E803-FF3C951CC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Поток читает значение A и позже проверяет: </a:t>
            </a:r>
          </a:p>
          <a:p>
            <a:pPr lvl="1"/>
            <a:r>
              <a:rPr lang="ru-RU" dirty="0"/>
              <a:t>“Оно всё ещё равно A?”</a:t>
            </a:r>
          </a:p>
          <a:p>
            <a:r>
              <a:rPr lang="ru-RU" dirty="0"/>
              <a:t>Но между этими моментами могло произойти:</a:t>
            </a:r>
          </a:p>
          <a:p>
            <a:pPr lvl="1"/>
            <a:r>
              <a:rPr lang="ru-RU" dirty="0"/>
              <a:t>A → B </a:t>
            </a:r>
          </a:p>
          <a:p>
            <a:pPr lvl="1"/>
            <a:r>
              <a:rPr lang="ru-RU" dirty="0"/>
              <a:t>B → A </a:t>
            </a:r>
          </a:p>
          <a:p>
            <a:r>
              <a:rPr lang="ru-RU" dirty="0"/>
              <a:t>Для </a:t>
            </a:r>
            <a:r>
              <a:rPr lang="ru-RU" dirty="0" err="1"/>
              <a:t>compare_exchange</a:t>
            </a:r>
            <a:r>
              <a:rPr lang="ru-RU" dirty="0"/>
              <a:t> значение снова выглядит как A,</a:t>
            </a:r>
            <a:br>
              <a:rPr lang="ru-RU" dirty="0"/>
            </a:br>
            <a:r>
              <a:rPr lang="ru-RU" dirty="0"/>
              <a:t>хотя структура данных уже изменилась</a:t>
            </a:r>
          </a:p>
          <a:p>
            <a:r>
              <a:rPr lang="ru-RU" dirty="0"/>
              <a:t>Сценарий:</a:t>
            </a:r>
          </a:p>
          <a:p>
            <a:pPr lvl="1"/>
            <a:r>
              <a:rPr lang="ru-RU" dirty="0"/>
              <a:t>Поток T1 читает </a:t>
            </a:r>
            <a:r>
              <a:rPr lang="ru-RU" dirty="0" err="1"/>
              <a:t>head</a:t>
            </a:r>
            <a:r>
              <a:rPr lang="ru-RU" dirty="0"/>
              <a:t> = A </a:t>
            </a:r>
          </a:p>
          <a:p>
            <a:pPr lvl="1"/>
            <a:r>
              <a:rPr lang="ru-RU" dirty="0"/>
              <a:t>Поток T2 извлекает A, затем B </a:t>
            </a:r>
          </a:p>
          <a:p>
            <a:pPr lvl="1"/>
            <a:r>
              <a:rPr lang="ru-RU" dirty="0"/>
              <a:t>Поток T2 возвращает A обратно в стек </a:t>
            </a:r>
          </a:p>
          <a:p>
            <a:pPr lvl="1"/>
            <a:r>
              <a:rPr lang="ru-RU" dirty="0"/>
              <a:t>Поток T1 делает CAS(</a:t>
            </a:r>
            <a:r>
              <a:rPr lang="ru-RU" dirty="0" err="1"/>
              <a:t>head</a:t>
            </a:r>
            <a:r>
              <a:rPr lang="ru-RU" dirty="0"/>
              <a:t>, A, A-&gt;</a:t>
            </a:r>
            <a:r>
              <a:rPr lang="ru-RU" dirty="0" err="1"/>
              <a:t>next</a:t>
            </a:r>
            <a:r>
              <a:rPr lang="ru-RU" dirty="0"/>
              <a:t>) и считает, что всё корректно </a:t>
            </a:r>
          </a:p>
          <a:p>
            <a:r>
              <a:rPr lang="ru-RU" dirty="0"/>
              <a:t>CAS успешен, но состояние структуры уже не то, которое видел T1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9096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C9F97-3C56-3D6F-86E2-A07C86AF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ABA-</a:t>
            </a:r>
            <a:r>
              <a:rPr lang="ru-RU" dirty="0"/>
              <a:t>проблемы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72BEA-422A-6E23-CCCC-DF3974031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91783"/>
            <a:ext cx="10515600" cy="1885179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Сценарий:</a:t>
            </a:r>
          </a:p>
          <a:p>
            <a:pPr lvl="1"/>
            <a:r>
              <a:rPr lang="en-US" dirty="0"/>
              <a:t>T1 </a:t>
            </a:r>
            <a:r>
              <a:rPr lang="ru-RU" dirty="0"/>
              <a:t>прочитал </a:t>
            </a:r>
            <a:r>
              <a:rPr lang="en-US" dirty="0" err="1"/>
              <a:t>oldHead</a:t>
            </a:r>
            <a:r>
              <a:rPr lang="en-US" dirty="0"/>
              <a:t> = A, A-&gt;next = B </a:t>
            </a:r>
          </a:p>
          <a:p>
            <a:pPr lvl="1"/>
            <a:r>
              <a:rPr lang="en-US" dirty="0"/>
              <a:t>T2 </a:t>
            </a:r>
            <a:r>
              <a:rPr lang="ru-RU" dirty="0"/>
              <a:t>извлёк </a:t>
            </a:r>
            <a:r>
              <a:rPr lang="en-US" dirty="0"/>
              <a:t>A, </a:t>
            </a:r>
            <a:r>
              <a:rPr lang="ru-RU" dirty="0"/>
              <a:t>извлёк </a:t>
            </a:r>
            <a:r>
              <a:rPr lang="en-US" dirty="0"/>
              <a:t>B, </a:t>
            </a:r>
            <a:r>
              <a:rPr lang="ru-RU" dirty="0"/>
              <a:t>потом вернул </a:t>
            </a:r>
            <a:r>
              <a:rPr lang="en-US" dirty="0"/>
              <a:t>A </a:t>
            </a:r>
          </a:p>
          <a:p>
            <a:pPr lvl="1"/>
            <a:r>
              <a:rPr lang="en-US" dirty="0"/>
              <a:t>head </a:t>
            </a:r>
            <a:r>
              <a:rPr lang="ru-RU" dirty="0"/>
              <a:t>снова указывает на </a:t>
            </a:r>
            <a:r>
              <a:rPr lang="en-US" dirty="0"/>
              <a:t>A </a:t>
            </a:r>
          </a:p>
          <a:p>
            <a:pPr lvl="1"/>
            <a:r>
              <a:rPr lang="en-US" dirty="0"/>
              <a:t>T1 </a:t>
            </a:r>
            <a:r>
              <a:rPr lang="ru-RU" dirty="0"/>
              <a:t>успешно выполняет </a:t>
            </a:r>
            <a:r>
              <a:rPr lang="en-US" dirty="0"/>
              <a:t>CAS(head, A, B) </a:t>
            </a:r>
          </a:p>
          <a:p>
            <a:r>
              <a:rPr lang="ru-RU" dirty="0"/>
              <a:t>Но </a:t>
            </a:r>
            <a:r>
              <a:rPr lang="en-US" dirty="0"/>
              <a:t>B </a:t>
            </a:r>
            <a:r>
              <a:rPr lang="ru-RU" dirty="0"/>
              <a:t>уже может быть удалён или вообще не принадлежать стеку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BA84E-33BF-6ACE-ABDE-E37BC937B099}"/>
              </a:ext>
            </a:extLst>
          </p:cNvPr>
          <p:cNvSpPr txBox="1"/>
          <p:nvPr/>
        </p:nvSpPr>
        <p:spPr>
          <a:xfrm>
            <a:off x="838200" y="1829570"/>
            <a:ext cx="850087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next;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std::atomic&lt;Node*&gt; head;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!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compare_exchange_weak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-&gt;next))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80563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F45A1-4BB7-8962-2E3D-62A401D5F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борются с </a:t>
            </a:r>
            <a:r>
              <a:rPr lang="en-US" dirty="0"/>
              <a:t>ABA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EE74E-DD19-E68F-8FB1-3D0CFA41C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err="1"/>
              <a:t>Tagged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 (</a:t>
            </a:r>
            <a:r>
              <a:rPr lang="ru-RU" dirty="0" err="1"/>
              <a:t>версионирование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к указателю добавляется счётчик версии </a:t>
            </a:r>
          </a:p>
          <a:p>
            <a:pPr lvl="1"/>
            <a:r>
              <a:rPr lang="ru-RU" dirty="0"/>
              <a:t>CAS проверяет и указатель, и версию</a:t>
            </a:r>
            <a:endParaRPr lang="en-US" dirty="0"/>
          </a:p>
          <a:p>
            <a:pPr lvl="1"/>
            <a:r>
              <a:rPr lang="ru-RU" dirty="0"/>
              <a:t>A ≠ A, если версия изменилась </a:t>
            </a:r>
          </a:p>
          <a:p>
            <a:r>
              <a:rPr lang="ru-RU" dirty="0"/>
              <a:t>Double-</a:t>
            </a:r>
            <a:r>
              <a:rPr lang="ru-RU" dirty="0" err="1"/>
              <a:t>width</a:t>
            </a:r>
            <a:r>
              <a:rPr lang="ru-RU" dirty="0"/>
              <a:t> CAS</a:t>
            </a:r>
          </a:p>
          <a:p>
            <a:pPr lvl="1"/>
            <a:r>
              <a:rPr lang="ru-RU" dirty="0"/>
              <a:t>атомарно обновляется (</a:t>
            </a:r>
            <a:r>
              <a:rPr lang="ru-RU" dirty="0" err="1"/>
              <a:t>pointer</a:t>
            </a:r>
            <a:r>
              <a:rPr lang="ru-RU" dirty="0"/>
              <a:t> + </a:t>
            </a:r>
            <a:r>
              <a:rPr lang="ru-RU" dirty="0" err="1"/>
              <a:t>version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поддерживается не на всех платформах </a:t>
            </a:r>
          </a:p>
          <a:p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endParaRPr lang="ru-RU" dirty="0"/>
          </a:p>
          <a:p>
            <a:pPr lvl="1"/>
            <a:r>
              <a:rPr lang="ru-RU" dirty="0"/>
              <a:t>защищают объект от удаления</a:t>
            </a:r>
            <a:r>
              <a:rPr lang="en-US" dirty="0"/>
              <a:t>, </a:t>
            </a:r>
            <a:r>
              <a:rPr lang="ru-RU" dirty="0"/>
              <a:t>но не решают ABA напрямую </a:t>
            </a:r>
          </a:p>
          <a:p>
            <a:r>
              <a:rPr lang="ru-RU" dirty="0" err="1"/>
              <a:t>Reference</a:t>
            </a:r>
            <a:r>
              <a:rPr lang="ru-RU" dirty="0"/>
              <a:t> </a:t>
            </a:r>
            <a:r>
              <a:rPr lang="ru-RU" dirty="0" err="1"/>
              <a:t>counting</a:t>
            </a:r>
            <a:endParaRPr lang="ru-RU" dirty="0"/>
          </a:p>
          <a:p>
            <a:pPr lvl="1"/>
            <a:r>
              <a:rPr lang="ru-RU" dirty="0"/>
              <a:t>объект удаляется, только когда счётчик = 0 </a:t>
            </a:r>
          </a:p>
          <a:p>
            <a:pPr lvl="1"/>
            <a:r>
              <a:rPr lang="ru-RU" dirty="0"/>
              <a:t>снижает риск ABA </a:t>
            </a:r>
          </a:p>
          <a:p>
            <a:r>
              <a:rPr lang="ru-RU" dirty="0"/>
              <a:t>ABA — это потеря истории изменений</a:t>
            </a:r>
            <a:endParaRPr lang="en-US" dirty="0"/>
          </a:p>
          <a:p>
            <a:pPr lvl="1"/>
            <a:r>
              <a:rPr lang="ru-RU" dirty="0"/>
              <a:t>Решение — добавить “контекст” к значению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044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97A904-A8A5-9121-4324-0D64BF46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Hazard Pointers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346CC3-C7E1-C978-A40A-564BAB051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626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B38A0-0A28-6E05-2565-DA24D670D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Hazard Pointers (</a:t>
            </a:r>
            <a:r>
              <a:rPr lang="ru-RU" dirty="0"/>
              <a:t>Указатели на опасность)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666F28-6A23-36D2-0CBA-C17D76B3B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Идея: защитить объект от удаления</a:t>
            </a:r>
          </a:p>
          <a:p>
            <a:r>
              <a:rPr lang="ru-RU" dirty="0"/>
              <a:t>Как это работает:</a:t>
            </a:r>
          </a:p>
          <a:p>
            <a:pPr lvl="1"/>
            <a:r>
              <a:rPr lang="ru-RU" dirty="0"/>
              <a:t>поток публикует указатель на объект: “я с ним работаю” </a:t>
            </a:r>
          </a:p>
          <a:p>
            <a:pPr lvl="1"/>
            <a:r>
              <a:rPr lang="ru-RU" dirty="0"/>
              <a:t>другие потоки видят этот указатель </a:t>
            </a:r>
          </a:p>
          <a:p>
            <a:r>
              <a:rPr lang="ru-RU" dirty="0"/>
              <a:t>Правило:</a:t>
            </a:r>
          </a:p>
          <a:p>
            <a:pPr lvl="1"/>
            <a:r>
              <a:rPr lang="ru-RU" dirty="0"/>
              <a:t>объект нельзя удалять,</a:t>
            </a:r>
          </a:p>
          <a:p>
            <a:pPr lvl="1"/>
            <a:r>
              <a:rPr lang="ru-RU" dirty="0"/>
              <a:t>если на него есть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 </a:t>
            </a:r>
          </a:p>
          <a:p>
            <a:r>
              <a:rPr lang="ru-RU" dirty="0"/>
              <a:t>Жизненный цикл:</a:t>
            </a:r>
          </a:p>
          <a:p>
            <a:pPr lvl="1"/>
            <a:r>
              <a:rPr lang="ru-RU" dirty="0"/>
              <a:t>установить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работать с объектом </a:t>
            </a:r>
          </a:p>
          <a:p>
            <a:pPr lvl="1"/>
            <a:r>
              <a:rPr lang="ru-RU" dirty="0"/>
              <a:t>сбросить указатель </a:t>
            </a:r>
          </a:p>
          <a:p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 = “не удаляйте это”</a:t>
            </a:r>
          </a:p>
        </p:txBody>
      </p:sp>
    </p:spTree>
    <p:extLst>
      <p:ext uri="{BB962C8B-B14F-4D97-AF65-F5344CB8AC3E}">
        <p14:creationId xmlns:p14="http://schemas.microsoft.com/office/powerpoint/2010/main" val="8232151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A5258-7BFC-504A-63F1-5E7574E5C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удалять объект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EF073-6AB4-6720-6F14-79F2F9B65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Перед удалением: проверить все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 </a:t>
            </a:r>
          </a:p>
          <a:p>
            <a:r>
              <a:rPr lang="ru-RU" dirty="0"/>
              <a:t>Если: </a:t>
            </a:r>
          </a:p>
          <a:p>
            <a:pPr lvl="1"/>
            <a:r>
              <a:rPr lang="ru-RU" dirty="0"/>
              <a:t>ни один поток не ссылается → можно удалить </a:t>
            </a:r>
          </a:p>
          <a:p>
            <a:pPr lvl="1"/>
            <a:r>
              <a:rPr lang="ru-RU" dirty="0"/>
              <a:t>хотя бы один ссылается → удалить нельзя </a:t>
            </a:r>
          </a:p>
          <a:p>
            <a:r>
              <a:rPr lang="ru-RU" dirty="0"/>
              <a:t>Если удалить нельзя:</a:t>
            </a:r>
          </a:p>
          <a:p>
            <a:pPr lvl="1"/>
            <a:r>
              <a:rPr lang="ru-RU" dirty="0"/>
              <a:t>добавить объект в список отложенного удаления </a:t>
            </a:r>
          </a:p>
          <a:p>
            <a:r>
              <a:rPr lang="ru-RU" dirty="0"/>
              <a:t>Фоновая очистка:</a:t>
            </a:r>
          </a:p>
          <a:p>
            <a:pPr lvl="1"/>
            <a:r>
              <a:rPr lang="ru-RU" dirty="0"/>
              <a:t>периодически проверять список </a:t>
            </a:r>
          </a:p>
          <a:p>
            <a:pPr lvl="1"/>
            <a:r>
              <a:rPr lang="ru-RU" dirty="0"/>
              <a:t>удалять “безопасные” объекты </a:t>
            </a:r>
          </a:p>
          <a:p>
            <a:r>
              <a:rPr lang="ru-RU" dirty="0"/>
              <a:t>Удаление = “нет ссылок в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37740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5A3885-EE0F-A5FE-203B-DB5924B5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</a:t>
            </a:r>
            <a:r>
              <a:rPr lang="en-US" dirty="0"/>
              <a:t>Hazard pointers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682D96-2103-D5FA-BB84-A13C88885C33}"/>
              </a:ext>
            </a:extLst>
          </p:cNvPr>
          <p:cNvSpPr/>
          <p:nvPr/>
        </p:nvSpPr>
        <p:spPr>
          <a:xfrm>
            <a:off x="4170998" y="2762794"/>
            <a:ext cx="901337" cy="574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6DF280-4701-7C24-E8EC-3A780E935ADA}"/>
              </a:ext>
            </a:extLst>
          </p:cNvPr>
          <p:cNvSpPr/>
          <p:nvPr/>
        </p:nvSpPr>
        <p:spPr>
          <a:xfrm>
            <a:off x="5740717" y="2762794"/>
            <a:ext cx="901337" cy="574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D20D10-55BD-1955-9E4D-979D74CB8A5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072335" y="3050177"/>
            <a:ext cx="6683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0490B1F-BB0F-7B4B-1D62-134B1ADFBF70}"/>
              </a:ext>
            </a:extLst>
          </p:cNvPr>
          <p:cNvSpPr/>
          <p:nvPr/>
        </p:nvSpPr>
        <p:spPr>
          <a:xfrm>
            <a:off x="7310436" y="2762794"/>
            <a:ext cx="901337" cy="574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AF7C01-3E60-3AF3-EF9F-D702AFA20CF3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6642054" y="3050177"/>
            <a:ext cx="6683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E66E548-D78F-F131-88DE-0EE6F5644EF3}"/>
              </a:ext>
            </a:extLst>
          </p:cNvPr>
          <p:cNvSpPr/>
          <p:nvPr/>
        </p:nvSpPr>
        <p:spPr>
          <a:xfrm>
            <a:off x="4031660" y="4540521"/>
            <a:ext cx="1040676" cy="5873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468659-3517-0298-823A-5C81C25F4AB6}"/>
              </a:ext>
            </a:extLst>
          </p:cNvPr>
          <p:cNvSpPr/>
          <p:nvPr/>
        </p:nvSpPr>
        <p:spPr>
          <a:xfrm>
            <a:off x="4128543" y="4623071"/>
            <a:ext cx="407126" cy="4222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17EAA7-985C-C0DC-5EF1-FF5B11D423AE}"/>
              </a:ext>
            </a:extLst>
          </p:cNvPr>
          <p:cNvSpPr/>
          <p:nvPr/>
        </p:nvSpPr>
        <p:spPr>
          <a:xfrm>
            <a:off x="4562883" y="4623071"/>
            <a:ext cx="407126" cy="4222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6586EC-4FEE-06B4-ABB4-0EF4048C632B}"/>
              </a:ext>
            </a:extLst>
          </p:cNvPr>
          <p:cNvSpPr/>
          <p:nvPr/>
        </p:nvSpPr>
        <p:spPr>
          <a:xfrm>
            <a:off x="5235893" y="4550136"/>
            <a:ext cx="1040676" cy="5873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DE55FC-CDDB-8B88-84B3-B7934522735A}"/>
              </a:ext>
            </a:extLst>
          </p:cNvPr>
          <p:cNvSpPr/>
          <p:nvPr/>
        </p:nvSpPr>
        <p:spPr>
          <a:xfrm>
            <a:off x="5332776" y="4632686"/>
            <a:ext cx="407126" cy="4222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567C30-96DE-3F88-97D9-3FE08FF59C71}"/>
              </a:ext>
            </a:extLst>
          </p:cNvPr>
          <p:cNvSpPr/>
          <p:nvPr/>
        </p:nvSpPr>
        <p:spPr>
          <a:xfrm>
            <a:off x="5767116" y="4632686"/>
            <a:ext cx="407126" cy="4222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CF21CC-2040-0A54-5228-AD8013E1AF4C}"/>
              </a:ext>
            </a:extLst>
          </p:cNvPr>
          <p:cNvSpPr/>
          <p:nvPr/>
        </p:nvSpPr>
        <p:spPr>
          <a:xfrm>
            <a:off x="6424071" y="4557167"/>
            <a:ext cx="1040676" cy="5873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6F20B7-1A52-5931-4F76-2FCF60665777}"/>
              </a:ext>
            </a:extLst>
          </p:cNvPr>
          <p:cNvSpPr/>
          <p:nvPr/>
        </p:nvSpPr>
        <p:spPr>
          <a:xfrm>
            <a:off x="6520954" y="4639717"/>
            <a:ext cx="407126" cy="4222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5C16B6-0FA5-484D-3F20-F4A8B04A2628}"/>
              </a:ext>
            </a:extLst>
          </p:cNvPr>
          <p:cNvSpPr/>
          <p:nvPr/>
        </p:nvSpPr>
        <p:spPr>
          <a:xfrm>
            <a:off x="6955294" y="4639717"/>
            <a:ext cx="407126" cy="4222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BD77A07-BCDF-54B7-48CE-D45831FE305A}"/>
              </a:ext>
            </a:extLst>
          </p:cNvPr>
          <p:cNvCxnSpPr>
            <a:stCxn id="16" idx="0"/>
            <a:endCxn id="5" idx="2"/>
          </p:cNvCxnSpPr>
          <p:nvPr/>
        </p:nvCxnSpPr>
        <p:spPr>
          <a:xfrm flipH="1" flipV="1">
            <a:off x="4621667" y="3337560"/>
            <a:ext cx="144779" cy="1285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4476CA2-55D2-ABED-E4D3-6E093B056774}"/>
              </a:ext>
            </a:extLst>
          </p:cNvPr>
          <p:cNvSpPr/>
          <p:nvPr/>
        </p:nvSpPr>
        <p:spPr>
          <a:xfrm>
            <a:off x="2575560" y="2052615"/>
            <a:ext cx="1228726" cy="9004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32D1C4-3DBF-A33E-D187-849B86F230C8}"/>
              </a:ext>
            </a:extLst>
          </p:cNvPr>
          <p:cNvSpPr/>
          <p:nvPr/>
        </p:nvSpPr>
        <p:spPr>
          <a:xfrm>
            <a:off x="2770822" y="2486297"/>
            <a:ext cx="731793" cy="276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B4A382D-A21C-3FE0-E8B2-53381AC355F6}"/>
              </a:ext>
            </a:extLst>
          </p:cNvPr>
          <p:cNvCxnSpPr>
            <a:stCxn id="26" idx="3"/>
            <a:endCxn id="5" idx="1"/>
          </p:cNvCxnSpPr>
          <p:nvPr/>
        </p:nvCxnSpPr>
        <p:spPr>
          <a:xfrm>
            <a:off x="3502615" y="2624546"/>
            <a:ext cx="668383" cy="425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5C0DE08-A8E9-5E59-4D96-3768E29815C1}"/>
              </a:ext>
            </a:extLst>
          </p:cNvPr>
          <p:cNvSpPr txBox="1"/>
          <p:nvPr/>
        </p:nvSpPr>
        <p:spPr>
          <a:xfrm>
            <a:off x="1930992" y="4677634"/>
            <a:ext cx="181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HazardPointers</a:t>
            </a:r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934357-6F86-2741-5842-D55B47A03E36}"/>
              </a:ext>
            </a:extLst>
          </p:cNvPr>
          <p:cNvSpPr/>
          <p:nvPr/>
        </p:nvSpPr>
        <p:spPr>
          <a:xfrm>
            <a:off x="4042545" y="5758717"/>
            <a:ext cx="1040675" cy="5873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A61AE1-0F40-36CB-9F8B-33D329F713DA}"/>
              </a:ext>
            </a:extLst>
          </p:cNvPr>
          <p:cNvSpPr txBox="1"/>
          <p:nvPr/>
        </p:nvSpPr>
        <p:spPr>
          <a:xfrm>
            <a:off x="1930991" y="5867739"/>
            <a:ext cx="1873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NodesToReclaim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BBE590-898B-C177-7528-587925D71D15}"/>
              </a:ext>
            </a:extLst>
          </p:cNvPr>
          <p:cNvSpPr/>
          <p:nvPr/>
        </p:nvSpPr>
        <p:spPr>
          <a:xfrm>
            <a:off x="5557065" y="5758717"/>
            <a:ext cx="1040675" cy="5873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974FCA4-9BF8-D30C-B4E0-FBD532CB9D82}"/>
              </a:ext>
            </a:extLst>
          </p:cNvPr>
          <p:cNvCxnSpPr>
            <a:stCxn id="30" idx="3"/>
            <a:endCxn id="32" idx="1"/>
          </p:cNvCxnSpPr>
          <p:nvPr/>
        </p:nvCxnSpPr>
        <p:spPr>
          <a:xfrm>
            <a:off x="5083220" y="6052405"/>
            <a:ext cx="4738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A0EDE66-D327-0402-6EF5-CEB592001F86}"/>
              </a:ext>
            </a:extLst>
          </p:cNvPr>
          <p:cNvSpPr/>
          <p:nvPr/>
        </p:nvSpPr>
        <p:spPr>
          <a:xfrm>
            <a:off x="4252233" y="5910793"/>
            <a:ext cx="717776" cy="27061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47F5F70-67AD-9F1F-56B0-64DF53F68228}"/>
              </a:ext>
            </a:extLst>
          </p:cNvPr>
          <p:cNvSpPr/>
          <p:nvPr/>
        </p:nvSpPr>
        <p:spPr>
          <a:xfrm>
            <a:off x="3296468" y="3596809"/>
            <a:ext cx="901337" cy="574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D9BF5EC-942F-8693-9444-8231E45F81DD}"/>
              </a:ext>
            </a:extLst>
          </p:cNvPr>
          <p:cNvCxnSpPr>
            <a:stCxn id="35" idx="0"/>
            <a:endCxn id="38" idx="2"/>
          </p:cNvCxnSpPr>
          <p:nvPr/>
        </p:nvCxnSpPr>
        <p:spPr>
          <a:xfrm rot="16200000" flipV="1">
            <a:off x="3309520" y="4609192"/>
            <a:ext cx="1739218" cy="863984"/>
          </a:xfrm>
          <a:prstGeom prst="curvedConnector3">
            <a:avLst>
              <a:gd name="adj1" fmla="val 298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C5CF30A-C8F0-7C46-AE55-C880C05471C3}"/>
              </a:ext>
            </a:extLst>
          </p:cNvPr>
          <p:cNvSpPr/>
          <p:nvPr/>
        </p:nvSpPr>
        <p:spPr>
          <a:xfrm>
            <a:off x="8085408" y="3811937"/>
            <a:ext cx="901337" cy="574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</p:txBody>
      </p:sp>
      <p:cxnSp>
        <p:nvCxnSpPr>
          <p:cNvPr id="45" name="Straight Arrow Connector 39">
            <a:extLst>
              <a:ext uri="{FF2B5EF4-FFF2-40B4-BE49-F238E27FC236}">
                <a16:creationId xmlns:a16="http://schemas.microsoft.com/office/drawing/2014/main" id="{5B3D5FF1-954D-BAA5-FCDD-D031DD41EC20}"/>
              </a:ext>
            </a:extLst>
          </p:cNvPr>
          <p:cNvCxnSpPr>
            <a:cxnSpLocks/>
            <a:stCxn id="48" idx="0"/>
            <a:endCxn id="44" idx="2"/>
          </p:cNvCxnSpPr>
          <p:nvPr/>
        </p:nvCxnSpPr>
        <p:spPr>
          <a:xfrm rot="5400000" flipH="1" flipV="1">
            <a:off x="6548470" y="3923187"/>
            <a:ext cx="1524090" cy="2451123"/>
          </a:xfrm>
          <a:prstGeom prst="curvedConnector3">
            <a:avLst>
              <a:gd name="adj1" fmla="val 41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298B64AD-70BF-BD41-3C24-728EAD35534A}"/>
              </a:ext>
            </a:extLst>
          </p:cNvPr>
          <p:cNvSpPr/>
          <p:nvPr/>
        </p:nvSpPr>
        <p:spPr>
          <a:xfrm>
            <a:off x="5726066" y="5910793"/>
            <a:ext cx="717776" cy="27061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5680927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2498A9-4104-EABE-95A5-14F7D268B6F9}"/>
              </a:ext>
            </a:extLst>
          </p:cNvPr>
          <p:cNvSpPr txBox="1"/>
          <p:nvPr/>
        </p:nvSpPr>
        <p:spPr>
          <a:xfrm>
            <a:off x="0" y="0"/>
            <a:ext cx="103759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HazardPointer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id;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 pointer;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MaxHazardPointers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HazardPointer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HazardPointers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MaxHazardPointers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HpOwner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HpOwner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HpOwner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HpOwner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operator=(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HpOwner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HpOwner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*&gt;&amp;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GetPointer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-&gt;pointer;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HpOwner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Освобождаем место в массиве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hazard pointer-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ов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pointer.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HazardPointer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3933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A7FDE5-F411-F000-6218-7A17480067CD}"/>
              </a:ext>
            </a:extLst>
          </p:cNvPr>
          <p:cNvSpPr txBox="1"/>
          <p:nvPr/>
        </p:nvSpPr>
        <p:spPr>
          <a:xfrm>
            <a:off x="0" y="0"/>
            <a:ext cx="121920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HpOwner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HpOwner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thisThreadId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HazardPointers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nullId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id,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соответствующий никакому потоку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compare_exchange_strong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nullId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thisThreadId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Свободный слот найден, сохраняем адрес на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hazard pointer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Слишком много потоков используют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hazard pointer-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ы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runtime_error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 hazard pointers available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*&gt;&amp;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GetHazardPointerForCurrentThread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 первом вызове этой функции для потока будет создан его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hazard pointer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thread_local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HpOwner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hazard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 следующих вызовах будет возвращаться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закешированное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значение указателя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hazard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GetPointer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80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6F38F8-7F8F-FA81-E315-29C460483B29}"/>
              </a:ext>
            </a:extLst>
          </p:cNvPr>
          <p:cNvSpPr txBox="1"/>
          <p:nvPr/>
        </p:nvSpPr>
        <p:spPr>
          <a:xfrm>
            <a:off x="838200" y="2346276"/>
            <a:ext cx="98425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OutstandingHazardPointersFor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HazardPointers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.pointer.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EF4D09D-1019-81A1-8A45-5D2B006D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Есть ли </a:t>
            </a:r>
            <a:r>
              <a:rPr lang="en-US" dirty="0"/>
              <a:t>Hazard Pointer</a:t>
            </a:r>
            <a:r>
              <a:rPr lang="ru-RU" dirty="0"/>
              <a:t>, равный </a:t>
            </a:r>
            <a:r>
              <a:rPr lang="en-US" dirty="0"/>
              <a:t>p?</a:t>
            </a:r>
          </a:p>
        </p:txBody>
      </p:sp>
    </p:spTree>
    <p:extLst>
      <p:ext uri="{BB962C8B-B14F-4D97-AF65-F5344CB8AC3E}">
        <p14:creationId xmlns:p14="http://schemas.microsoft.com/office/powerpoint/2010/main" val="25367420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599AE5-B1F1-EDE2-F93A-AA7D062A8928}"/>
              </a:ext>
            </a:extLst>
          </p:cNvPr>
          <p:cNvSpPr txBox="1"/>
          <p:nvPr/>
        </p:nvSpPr>
        <p:spPr>
          <a:xfrm>
            <a:off x="590550" y="2056686"/>
            <a:ext cx="110109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DataToReclaim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DataToReclaim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next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Сохраняет данные, подлежащие удалению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,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 виде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void*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DataToReclaim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: data(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DataToReclaim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Предполагается, что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deleter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будет бросать исключений,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1D37A3-38B4-3A77-C1F8-6ECE6B6FF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Обёртка для отложенного удаления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5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7279E-FC21-E3AE-C8BB-AD1868B72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Добавление объектов в список для отложенного удаления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E0740-C0C2-7A4E-8644-96ED18410B10}"/>
              </a:ext>
            </a:extLst>
          </p:cNvPr>
          <p:cNvSpPr txBox="1"/>
          <p:nvPr/>
        </p:nvSpPr>
        <p:spPr>
          <a:xfrm>
            <a:off x="838200" y="2122587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Указатель на список узлов для отложенного удаления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DataToReclaim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NodesToReclaim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Добавляем узел для будущего освобождения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AddToReclaimList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DataToReclaim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NodesToReclaim.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NodesToReclaim.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compare_exchange_weak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ReclaimLater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AddToReclaimList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DataToReclaim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572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6474F-FD6A-51E9-3475-9C497776C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Удаляем узлы, на которые нет </a:t>
            </a:r>
            <a:r>
              <a:rPr lang="en-US" dirty="0"/>
              <a:t>hazard pointer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1A52B2-0158-9E96-9D2B-6F5EFD270488}"/>
              </a:ext>
            </a:extLst>
          </p:cNvPr>
          <p:cNvSpPr txBox="1"/>
          <p:nvPr/>
        </p:nvSpPr>
        <p:spPr>
          <a:xfrm>
            <a:off x="838200" y="1779687"/>
            <a:ext cx="109347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DeleteNodesWithNoHazards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Пытаемся забрать себе список узлов для удаления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NodesToReclaim.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exchange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DataToReclaim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OutstandingHazardPointersFor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-&gt;data))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Удаляем узел вместе с его данными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Указатель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current-&gt;data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удалять опасно, добавляем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список для последующего удаления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AddToReclaimList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7662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F01D47-21AC-D6D5-67B0-C2B39218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Lock-free stack </a:t>
            </a:r>
            <a:r>
              <a:rPr lang="ru-RU" dirty="0"/>
              <a:t>на</a:t>
            </a:r>
            <a:r>
              <a:rPr lang="en-US" dirty="0"/>
              <a:t> Hazard Pointers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1AE1E-E22B-149E-76A6-934B801C5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196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B831F-4EC3-C627-D1F6-03C98D274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Оставляем внутри </a:t>
            </a:r>
            <a:r>
              <a:rPr lang="en-US" dirty="0" err="1"/>
              <a:t>LockFreeStack</a:t>
            </a:r>
            <a:r>
              <a:rPr lang="ru-RU" dirty="0"/>
              <a:t> только указатель на узел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D822E-D804-21BC-4ADE-B9014EE6EA3F}"/>
              </a:ext>
            </a:extLst>
          </p:cNvPr>
          <p:cNvSpPr txBox="1"/>
          <p:nvPr/>
        </p:nvSpPr>
        <p:spPr>
          <a:xfrm>
            <a:off x="838199" y="1848984"/>
            <a:ext cx="988785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LockFreeStack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…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LockFreeStack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DeleteNodesWithNoHazards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next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data(std::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 {}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data(std::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5321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1A92E-1618-E75A-22E7-ACF0233B2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метода </a:t>
            </a:r>
            <a:r>
              <a:rPr lang="en-US" dirty="0"/>
              <a:t>Pop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05BD-33BD-80EC-FF4E-17E328B130D9}"/>
              </a:ext>
            </a:extLst>
          </p:cNvPr>
          <p:cNvSpPr txBox="1"/>
          <p:nvPr/>
        </p:nvSpPr>
        <p:spPr>
          <a:xfrm>
            <a:off x="838200" y="1871779"/>
            <a:ext cx="106172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LockFreeStack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TryExtractHead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TryPopDataFromHead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…</a:t>
            </a:r>
          </a:p>
          <a:p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TryExtractHead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TryPopDataFromHead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…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53958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BB2A8E-625C-32ED-384E-E880DD44F49C}"/>
              </a:ext>
            </a:extLst>
          </p:cNvPr>
          <p:cNvSpPr txBox="1"/>
          <p:nvPr/>
        </p:nvSpPr>
        <p:spPr>
          <a:xfrm>
            <a:off x="0" y="-1"/>
            <a:ext cx="142494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TryExtractHead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Указатель опасности текущего потока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GetHazardPointerForCurrentThread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Устанавливаем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hazard pointer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head.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Сохраняем указатель на текущую голову стека 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hazard pointer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Здесь мы наивно полагаемся на то, что безопасно сравнивать указатель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// на удалённый объект. Фактически, это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UB,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т.к.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мог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б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ыть удалён между (1) и (2)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можно безопасно разыменовывать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он сохранён 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hazard pointer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compare_exchange_strong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-&gt;next));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Здесь используется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compare_exchange_strong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чтобы не крутить лишний раз внутренний цикл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при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spurious failure.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Очищаем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hazard pointer,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так как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у нас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77166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94E229-E7DB-FE15-F008-294140179E30}"/>
              </a:ext>
            </a:extLst>
          </p:cNvPr>
          <p:cNvSpPr txBox="1"/>
          <p:nvPr/>
        </p:nvSpPr>
        <p:spPr>
          <a:xfrm>
            <a:off x="0" y="1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TryPopDataFromHead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-&gt;data);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Есть ли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hazard pointer-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ы, ссылающиеся на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OutstandingHazardPointersFor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Сейчас удалять голову небезопасно. Откладываем её удаление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// Вызов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ReclaimLater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безопасен относительно исключений,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// подумайте, как это можно исправить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ReclaimLater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Никто на узел не ссылается. Можно удалить его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// Удаляем узлы, на которые не ссылаются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hazard pointer-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ы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DeleteNodesWithNoHazards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70351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1BB66-039E-2EBC-37D6-C389B22A6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решения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CFCB5-58BE-DD9D-C580-09FEF4F35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Это наивная реализация</a:t>
            </a:r>
          </a:p>
          <a:p>
            <a:pPr lvl="1"/>
            <a:r>
              <a:rPr lang="ru-RU" dirty="0"/>
              <a:t>работает корректно </a:t>
            </a:r>
          </a:p>
          <a:p>
            <a:pPr lvl="1"/>
            <a:r>
              <a:rPr lang="ru-RU" dirty="0"/>
              <a:t>но неэффективна </a:t>
            </a:r>
          </a:p>
          <a:p>
            <a:r>
              <a:rPr lang="ru-RU" dirty="0"/>
              <a:t>Основная проблема:</a:t>
            </a:r>
          </a:p>
          <a:p>
            <a:pPr lvl="1"/>
            <a:r>
              <a:rPr lang="ru-RU" dirty="0"/>
              <a:t>сканирование всех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endParaRPr lang="ru-RU" dirty="0"/>
          </a:p>
          <a:p>
            <a:pPr lvl="1"/>
            <a:r>
              <a:rPr lang="ru-RU" dirty="0"/>
              <a:t> при каждом </a:t>
            </a:r>
            <a:r>
              <a:rPr lang="ru-RU" dirty="0" err="1"/>
              <a:t>Pop</a:t>
            </a:r>
            <a:r>
              <a:rPr lang="ru-RU" dirty="0"/>
              <a:t> </a:t>
            </a:r>
          </a:p>
          <a:p>
            <a:r>
              <a:rPr lang="ru-RU" dirty="0"/>
              <a:t>Дополнительно:</a:t>
            </a:r>
          </a:p>
          <a:p>
            <a:pPr lvl="1"/>
            <a:r>
              <a:rPr lang="ru-RU" dirty="0"/>
              <a:t>сканирование при удалении каждого узла </a:t>
            </a:r>
          </a:p>
          <a:p>
            <a:pPr lvl="1"/>
            <a:r>
              <a:rPr lang="ru-RU" dirty="0"/>
              <a:t>много атомарных операций </a:t>
            </a:r>
          </a:p>
          <a:p>
            <a:r>
              <a:rPr lang="ru-RU" dirty="0"/>
              <a:t>Плохая масштабируемость при большом числе потоков</a:t>
            </a:r>
          </a:p>
        </p:txBody>
      </p:sp>
    </p:spTree>
    <p:extLst>
      <p:ext uri="{BB962C8B-B14F-4D97-AF65-F5344CB8AC3E}">
        <p14:creationId xmlns:p14="http://schemas.microsoft.com/office/powerpoint/2010/main" val="22926256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DC943-BFCD-9F1B-7100-A06D6C84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Возможные оптимизации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41682-D44A-0B69-66F0-FED93915D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Реже проверять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endParaRPr lang="ru-RU" dirty="0"/>
          </a:p>
          <a:p>
            <a:pPr lvl="1"/>
            <a:r>
              <a:rPr lang="ru-RU" dirty="0"/>
              <a:t>не при каждом </a:t>
            </a:r>
            <a:r>
              <a:rPr lang="ru-RU" dirty="0" err="1"/>
              <a:t>Pop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а </a:t>
            </a:r>
            <a:r>
              <a:rPr lang="ru-RU" dirty="0" err="1"/>
              <a:t>пакетно</a:t>
            </a:r>
            <a:r>
              <a:rPr lang="ru-RU" dirty="0"/>
              <a:t> </a:t>
            </a:r>
          </a:p>
          <a:p>
            <a:r>
              <a:rPr lang="ru-RU" dirty="0"/>
              <a:t>Идея:</a:t>
            </a:r>
          </a:p>
          <a:p>
            <a:pPr lvl="1"/>
            <a:r>
              <a:rPr lang="ru-RU" dirty="0"/>
              <a:t>накапливать узлы </a:t>
            </a:r>
          </a:p>
          <a:p>
            <a:pPr lvl="1"/>
            <a:r>
              <a:rPr lang="ru-RU" dirty="0"/>
              <a:t>проверять, когда их ≥ 2 × </a:t>
            </a:r>
            <a:r>
              <a:rPr lang="ru-RU" dirty="0" err="1"/>
              <a:t>MaxHazardPointers</a:t>
            </a:r>
            <a:r>
              <a:rPr lang="ru-RU" dirty="0"/>
              <a:t> </a:t>
            </a:r>
          </a:p>
          <a:p>
            <a:r>
              <a:rPr lang="ru-RU" dirty="0"/>
              <a:t>Почему это работает:</a:t>
            </a:r>
          </a:p>
          <a:p>
            <a:pPr lvl="1"/>
            <a:r>
              <a:rPr lang="ru-RU" dirty="0"/>
              <a:t>максимум </a:t>
            </a:r>
            <a:r>
              <a:rPr lang="ru-RU" dirty="0" err="1"/>
              <a:t>MaxHazardPointers</a:t>
            </a:r>
            <a:r>
              <a:rPr lang="ru-RU" dirty="0"/>
              <a:t> занято</a:t>
            </a:r>
          </a:p>
          <a:p>
            <a:pPr lvl="1"/>
            <a:r>
              <a:rPr lang="ru-RU" dirty="0"/>
              <a:t>остальные можно удалить </a:t>
            </a:r>
          </a:p>
          <a:p>
            <a:r>
              <a:rPr lang="ru-RU" dirty="0"/>
              <a:t>Локальные списки</a:t>
            </a:r>
          </a:p>
          <a:p>
            <a:pPr lvl="1"/>
            <a:r>
              <a:rPr lang="ru-RU" dirty="0"/>
              <a:t>список на удаление у каждого потока </a:t>
            </a:r>
          </a:p>
          <a:p>
            <a:pPr lvl="1"/>
            <a:r>
              <a:rPr lang="ru-RU" dirty="0"/>
              <a:t>меньше синхронизации </a:t>
            </a:r>
          </a:p>
          <a:p>
            <a:r>
              <a:rPr lang="ru-RU" dirty="0"/>
              <a:t>Быстрее → больше потребление памяти</a:t>
            </a:r>
          </a:p>
        </p:txBody>
      </p:sp>
    </p:spTree>
    <p:extLst>
      <p:ext uri="{BB962C8B-B14F-4D97-AF65-F5344CB8AC3E}">
        <p14:creationId xmlns:p14="http://schemas.microsoft.com/office/powerpoint/2010/main" val="12548304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C6A39-D43F-5D9F-FC94-6FEABA19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Минусы </a:t>
            </a:r>
            <a:r>
              <a:rPr lang="en-US" dirty="0"/>
              <a:t>Hazard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34E1D-9504-550D-E372-AE2A6024B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Сложность</a:t>
            </a:r>
          </a:p>
          <a:p>
            <a:pPr lvl="1"/>
            <a:r>
              <a:rPr lang="ru-RU" dirty="0"/>
              <a:t>сложная реализация </a:t>
            </a:r>
          </a:p>
          <a:p>
            <a:pPr lvl="1"/>
            <a:r>
              <a:rPr lang="ru-RU" dirty="0"/>
              <a:t>легко ошибиться </a:t>
            </a:r>
          </a:p>
          <a:p>
            <a:r>
              <a:rPr lang="ru-RU" dirty="0"/>
              <a:t>Производительность</a:t>
            </a:r>
          </a:p>
          <a:p>
            <a:pPr lvl="1"/>
            <a:r>
              <a:rPr lang="ru-RU" dirty="0"/>
              <a:t>дорогие атомарные операции </a:t>
            </a:r>
          </a:p>
          <a:p>
            <a:pPr lvl="1"/>
            <a:r>
              <a:rPr lang="ru-RU" dirty="0"/>
              <a:t>сканирование указателей </a:t>
            </a:r>
          </a:p>
          <a:p>
            <a:r>
              <a:rPr lang="ru-RU" dirty="0"/>
              <a:t>Ограничения</a:t>
            </a:r>
          </a:p>
          <a:p>
            <a:pPr lvl="1"/>
            <a:r>
              <a:rPr lang="ru-RU" dirty="0"/>
              <a:t>фиксированное число </a:t>
            </a:r>
            <a:r>
              <a:rPr lang="ru-RU" dirty="0" err="1"/>
              <a:t>hazard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нужно управлять ресурсами </a:t>
            </a:r>
          </a:p>
          <a:p>
            <a:r>
              <a:rPr lang="ru-RU" dirty="0"/>
              <a:t>Исторически были патентные ограничения (IBM)</a:t>
            </a:r>
          </a:p>
        </p:txBody>
      </p:sp>
    </p:spTree>
    <p:extLst>
      <p:ext uri="{BB962C8B-B14F-4D97-AF65-F5344CB8AC3E}">
        <p14:creationId xmlns:p14="http://schemas.microsoft.com/office/powerpoint/2010/main" val="12820350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15782-A9F6-7610-7FD2-ABA567AB6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важно знать </a:t>
            </a:r>
            <a:r>
              <a:rPr lang="en-US" dirty="0"/>
              <a:t>Hazard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6B436-EBD7-992E-1B48-3A164C0E2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Понимание </a:t>
            </a:r>
            <a:r>
              <a:rPr lang="ru-RU" dirty="0" err="1"/>
              <a:t>lock-free</a:t>
            </a:r>
            <a:endParaRPr lang="ru-RU" dirty="0"/>
          </a:p>
          <a:p>
            <a:pPr lvl="1"/>
            <a:r>
              <a:rPr lang="ru-RU" dirty="0"/>
              <a:t>как устроены реальные алгоритмы </a:t>
            </a:r>
          </a:p>
          <a:p>
            <a:r>
              <a:rPr lang="ru-RU" dirty="0"/>
              <a:t>Цена атомарных операций</a:t>
            </a:r>
          </a:p>
          <a:p>
            <a:pPr lvl="1"/>
            <a:r>
              <a:rPr lang="ru-RU" dirty="0"/>
              <a:t>влияние на производительность </a:t>
            </a:r>
          </a:p>
          <a:p>
            <a:r>
              <a:rPr lang="ru-RU" dirty="0"/>
              <a:t>Управление памятью</a:t>
            </a:r>
          </a:p>
          <a:p>
            <a:pPr lvl="1"/>
            <a:r>
              <a:rPr lang="ru-RU" dirty="0"/>
              <a:t>ключевая проблема в </a:t>
            </a:r>
            <a:r>
              <a:rPr lang="ru-RU" dirty="0" err="1"/>
              <a:t>lock-free</a:t>
            </a:r>
            <a:r>
              <a:rPr lang="ru-RU" dirty="0"/>
              <a:t> </a:t>
            </a:r>
          </a:p>
          <a:p>
            <a:r>
              <a:rPr lang="ru-RU" dirty="0"/>
              <a:t>Практика</a:t>
            </a:r>
          </a:p>
          <a:p>
            <a:pPr lvl="1"/>
            <a:r>
              <a:rPr lang="ru-RU" dirty="0"/>
              <a:t>используется в реальных системах </a:t>
            </a:r>
          </a:p>
          <a:p>
            <a:pPr lvl="1"/>
            <a:r>
              <a:rPr lang="ru-RU" dirty="0"/>
              <a:t>появится в C++26 </a:t>
            </a:r>
          </a:p>
          <a:p>
            <a:r>
              <a:rPr lang="ru-RU" dirty="0"/>
              <a:t>Это фундаментальный инструмент</a:t>
            </a:r>
          </a:p>
        </p:txBody>
      </p:sp>
    </p:spTree>
    <p:extLst>
      <p:ext uri="{BB962C8B-B14F-4D97-AF65-F5344CB8AC3E}">
        <p14:creationId xmlns:p14="http://schemas.microsoft.com/office/powerpoint/2010/main" val="27872636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9928F6-9D9F-DEFD-E336-689A10B35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Lock-free stack </a:t>
            </a:r>
            <a:r>
              <a:rPr lang="ru-RU" dirty="0"/>
              <a:t>на основе подсчёта ссылок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3C43-E7DD-72DC-85C9-6A809D4DA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508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1B279C-E184-F3C0-5645-D042EC7D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 на основе подсчёта ссылок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B2EEBF-04AB-A7CA-40E6-A7207D4C1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Hazard Pointer </a:t>
            </a:r>
            <a:r>
              <a:rPr lang="ru-RU" dirty="0"/>
              <a:t>решал задачу отложенного управления памятью за счёт пометки указателей, как опасных для отдельного списка узлов</a:t>
            </a:r>
          </a:p>
          <a:p>
            <a:r>
              <a:rPr lang="ru-RU" dirty="0"/>
              <a:t>В </a:t>
            </a:r>
            <a:r>
              <a:rPr lang="en-US" dirty="0"/>
              <a:t>C++ 20</a:t>
            </a:r>
            <a:r>
              <a:rPr lang="ru-RU" dirty="0"/>
              <a:t> появилась реализация </a:t>
            </a:r>
            <a:r>
              <a:rPr lang="en-US" dirty="0"/>
              <a:t>atomic </a:t>
            </a:r>
            <a:r>
              <a:rPr lang="ru-RU" dirty="0"/>
              <a:t>для </a:t>
            </a:r>
            <a:r>
              <a:rPr lang="en-US" dirty="0" err="1"/>
              <a:t>shared_ptr</a:t>
            </a:r>
            <a:r>
              <a:rPr lang="ru-RU" dirty="0"/>
              <a:t>, которая делает атомарными операции над одним и тем же указателем</a:t>
            </a:r>
          </a:p>
          <a:p>
            <a:r>
              <a:rPr lang="ru-RU" dirty="0"/>
              <a:t>Используя подсчёт ссылок можно упростить реализацию стека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2291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E1EF96-8082-88B0-6CD5-C9EE866D5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стека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E62E67-122D-215C-3E9F-E2D115C85075}"/>
              </a:ext>
            </a:extLst>
          </p:cNvPr>
          <p:cNvSpPr txBox="1"/>
          <p:nvPr/>
        </p:nvSpPr>
        <p:spPr>
          <a:xfrm>
            <a:off x="838200" y="1690688"/>
            <a:ext cx="1123768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LockFreeStack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LockFreeStack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std::exchange(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next;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data(std::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 {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60334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1C2E6-2DC6-6B97-0C8F-BD123BCC8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метода </a:t>
            </a:r>
            <a:r>
              <a:rPr lang="en-US" dirty="0"/>
              <a:t>Push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5EEC1A-DE5B-8E72-0EAA-8D2054C75ADF}"/>
              </a:ext>
            </a:extLst>
          </p:cNvPr>
          <p:cNvSpPr txBox="1"/>
          <p:nvPr/>
        </p:nvSpPr>
        <p:spPr>
          <a:xfrm>
            <a:off x="0" y="2193932"/>
            <a:ext cx="1219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PushImpl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PushImpl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PushImpl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make_shared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Пытаемся заменить головной узел, пока не преуспеем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compare_exchange_weak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/*expected*/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/*desired*/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5896380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DA0A-7451-C8B2-9227-0275FFFA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метода </a:t>
            </a:r>
            <a:r>
              <a:rPr lang="en-US" dirty="0"/>
              <a:t>Pop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66BC7-CCC9-D797-5234-A4CA212D8B14}"/>
              </a:ext>
            </a:extLst>
          </p:cNvPr>
          <p:cNvSpPr txBox="1"/>
          <p:nvPr/>
        </p:nvSpPr>
        <p:spPr>
          <a:xfrm>
            <a:off x="838199" y="2090057"/>
            <a:ext cx="105155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&amp;&amp; 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compare_exchange_weak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-&gt;next))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=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oldHead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-&gt;data);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37236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C3973F-5404-930B-0335-EB427F961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подсчёта ссылок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A4C51-389E-48DC-7D6B-E6D2A339D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 все стандартные реализации </a:t>
            </a:r>
            <a:r>
              <a:rPr lang="en-US" dirty="0"/>
              <a:t>atomic&lt;</a:t>
            </a:r>
            <a:r>
              <a:rPr lang="en-US" dirty="0" err="1"/>
              <a:t>shared_ptr</a:t>
            </a:r>
            <a:r>
              <a:rPr lang="en-US" dirty="0"/>
              <a:t>&gt;</a:t>
            </a:r>
            <a:r>
              <a:rPr lang="ru-RU" dirty="0"/>
              <a:t> являются </a:t>
            </a:r>
            <a:r>
              <a:rPr lang="en-US" dirty="0"/>
              <a:t>lock-free</a:t>
            </a:r>
            <a:endParaRPr lang="ru-RU" dirty="0"/>
          </a:p>
          <a:p>
            <a:r>
              <a:rPr lang="ru-RU" dirty="0"/>
              <a:t>Имеющиеся нестандартные </a:t>
            </a:r>
            <a:r>
              <a:rPr lang="en-US" dirty="0"/>
              <a:t>lock-free </a:t>
            </a:r>
            <a:r>
              <a:rPr lang="ru-RU" dirty="0"/>
              <a:t>реализации могут иметь свои ограничения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1794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7A5F2-8E48-CE68-098E-97BD444C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60341-E35E-08A7-47CB-C35363D04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Williams Anthony, “C++ Concurrency in Action, 2</a:t>
            </a:r>
            <a:r>
              <a:rPr lang="en-US" baseline="30000" dirty="0"/>
              <a:t>nd</a:t>
            </a:r>
            <a:r>
              <a:rPr lang="en-US" dirty="0"/>
              <a:t> Edition”</a:t>
            </a:r>
            <a:endParaRPr lang="ru-RU" dirty="0"/>
          </a:p>
          <a:p>
            <a:r>
              <a:rPr lang="en-US" dirty="0"/>
              <a:t>Maurice Herlihy, Nir Shavit “The Art of Multiprocessor Programming”</a:t>
            </a:r>
          </a:p>
        </p:txBody>
      </p:sp>
    </p:spTree>
    <p:extLst>
      <p:ext uri="{BB962C8B-B14F-4D97-AF65-F5344CB8AC3E}">
        <p14:creationId xmlns:p14="http://schemas.microsoft.com/office/powerpoint/2010/main" val="19691376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8A16-D3F9-CF1C-55F9-85E43B6F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820E6-49CD-914B-5655-ECC3ECF46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94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15920</TotalTime>
  <Words>10050</Words>
  <Application>Microsoft Office PowerPoint</Application>
  <PresentationFormat>Widescreen</PresentationFormat>
  <Paragraphs>1308</Paragraphs>
  <Slides>59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Aptos</vt:lpstr>
      <vt:lpstr>Aptos Display</vt:lpstr>
      <vt:lpstr>Arial</vt:lpstr>
      <vt:lpstr>Consolas</vt:lpstr>
      <vt:lpstr>Office Theme</vt:lpstr>
      <vt:lpstr>Lock-free алгоритмы и структуры данных</vt:lpstr>
      <vt:lpstr>Почему mutex – не серебряная пуля</vt:lpstr>
      <vt:lpstr>Блокирующий и неблокирующие алгоритмы</vt:lpstr>
      <vt:lpstr>Потокобезопасная очередь</vt:lpstr>
      <vt:lpstr>Поставщики и потребители</vt:lpstr>
      <vt:lpstr>Результаты бенчмарка</vt:lpstr>
      <vt:lpstr>Что если убрать блокировки?</vt:lpstr>
      <vt:lpstr>PowerPoint Presentation</vt:lpstr>
      <vt:lpstr>Иерархия неблокирующих алгоритмов</vt:lpstr>
      <vt:lpstr>Lock-free структуры данных</vt:lpstr>
      <vt:lpstr>Lock-free инкремент</vt:lpstr>
      <vt:lpstr>Wait-free алгоритмы и структуры данных</vt:lpstr>
      <vt:lpstr>Wait-free bounded push в массив</vt:lpstr>
      <vt:lpstr>Недостатки lock-free и wait-free</vt:lpstr>
      <vt:lpstr>Однопоточный стек</vt:lpstr>
      <vt:lpstr>PowerPoint Presentation</vt:lpstr>
      <vt:lpstr>PowerPoint Presentation</vt:lpstr>
      <vt:lpstr>Lock-free стек</vt:lpstr>
      <vt:lpstr>PowerPoint Presentation</vt:lpstr>
      <vt:lpstr>PowerPoint Presentation</vt:lpstr>
      <vt:lpstr>Проблема освобождения памяти</vt:lpstr>
      <vt:lpstr>Упрощённый сборщик мусора</vt:lpstr>
      <vt:lpstr>PowerPoint Presentation</vt:lpstr>
      <vt:lpstr>Снятие элемента со стека</vt:lpstr>
      <vt:lpstr>PowerPoint Presentation</vt:lpstr>
      <vt:lpstr>PowerPoint Presentation</vt:lpstr>
      <vt:lpstr>PowerPoint Presentation</vt:lpstr>
      <vt:lpstr>Анализ реализации</vt:lpstr>
      <vt:lpstr>ABA-проблема</vt:lpstr>
      <vt:lpstr>ABA-проблема</vt:lpstr>
      <vt:lpstr>Пример ABA-проблемы</vt:lpstr>
      <vt:lpstr>Как борются с ABA</vt:lpstr>
      <vt:lpstr>Hazard Pointers</vt:lpstr>
      <vt:lpstr>Hazard Pointers (Указатели на опасность)</vt:lpstr>
      <vt:lpstr>Когда удалять объект?</vt:lpstr>
      <vt:lpstr>Схема Hazard pointers</vt:lpstr>
      <vt:lpstr>PowerPoint Presentation</vt:lpstr>
      <vt:lpstr>PowerPoint Presentation</vt:lpstr>
      <vt:lpstr>Есть ли Hazard Pointer, равный p?</vt:lpstr>
      <vt:lpstr>Обёртка для отложенного удаления данных</vt:lpstr>
      <vt:lpstr>Добавление объектов в список для отложенного удаления</vt:lpstr>
      <vt:lpstr>Удаляем узлы, на которые нет hazard pointer</vt:lpstr>
      <vt:lpstr>Lock-free stack на Hazard Pointers</vt:lpstr>
      <vt:lpstr>Оставляем внутри LockFreeStack только указатель на узел</vt:lpstr>
      <vt:lpstr>Реализация метода Pop</vt:lpstr>
      <vt:lpstr>PowerPoint Presentation</vt:lpstr>
      <vt:lpstr>PowerPoint Presentation</vt:lpstr>
      <vt:lpstr>Анализ решения</vt:lpstr>
      <vt:lpstr>Возможные оптимизации</vt:lpstr>
      <vt:lpstr>Минусы Hazard Pointers</vt:lpstr>
      <vt:lpstr>Почему важно знать Hazard Pointers</vt:lpstr>
      <vt:lpstr>Lock-free stack на основе подсчёта ссылок</vt:lpstr>
      <vt:lpstr>Стек на основе подсчёта ссылок</vt:lpstr>
      <vt:lpstr>Реализация стека</vt:lpstr>
      <vt:lpstr>Реализация метода Push</vt:lpstr>
      <vt:lpstr>Реализация метода Pop</vt:lpstr>
      <vt:lpstr>Недостатки подсчёта ссылок</vt:lpstr>
      <vt:lpstr>Список литературы</vt:lpstr>
      <vt:lpstr>Вопросы?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144</cp:revision>
  <dcterms:created xsi:type="dcterms:W3CDTF">2025-02-03T14:52:05Z</dcterms:created>
  <dcterms:modified xsi:type="dcterms:W3CDTF">2026-04-10T18:33:08Z</dcterms:modified>
</cp:coreProperties>
</file>