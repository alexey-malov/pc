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8"/>
  </p:notesMasterIdLst>
  <p:sldIdLst>
    <p:sldId id="295" r:id="rId2"/>
    <p:sldId id="405" r:id="rId3"/>
    <p:sldId id="300" r:id="rId4"/>
    <p:sldId id="301" r:id="rId5"/>
    <p:sldId id="304" r:id="rId6"/>
    <p:sldId id="303" r:id="rId7"/>
    <p:sldId id="406" r:id="rId8"/>
    <p:sldId id="302" r:id="rId9"/>
    <p:sldId id="407" r:id="rId10"/>
    <p:sldId id="305" r:id="rId11"/>
    <p:sldId id="306" r:id="rId12"/>
    <p:sldId id="308" r:id="rId13"/>
    <p:sldId id="309" r:id="rId14"/>
    <p:sldId id="307" r:id="rId15"/>
    <p:sldId id="310" r:id="rId16"/>
    <p:sldId id="311" r:id="rId17"/>
    <p:sldId id="313" r:id="rId18"/>
    <p:sldId id="408" r:id="rId19"/>
    <p:sldId id="314" r:id="rId20"/>
    <p:sldId id="409" r:id="rId21"/>
    <p:sldId id="410" r:id="rId22"/>
    <p:sldId id="317" r:id="rId23"/>
    <p:sldId id="318" r:id="rId24"/>
    <p:sldId id="320" r:id="rId25"/>
    <p:sldId id="411" r:id="rId26"/>
    <p:sldId id="312" r:id="rId27"/>
    <p:sldId id="321" r:id="rId28"/>
    <p:sldId id="322" r:id="rId29"/>
    <p:sldId id="323" r:id="rId30"/>
    <p:sldId id="325" r:id="rId31"/>
    <p:sldId id="326" r:id="rId32"/>
    <p:sldId id="328" r:id="rId33"/>
    <p:sldId id="327" r:id="rId34"/>
    <p:sldId id="329" r:id="rId35"/>
    <p:sldId id="330" r:id="rId36"/>
    <p:sldId id="324" r:id="rId37"/>
    <p:sldId id="331" r:id="rId38"/>
    <p:sldId id="332" r:id="rId39"/>
    <p:sldId id="333" r:id="rId40"/>
    <p:sldId id="334" r:id="rId41"/>
    <p:sldId id="335" r:id="rId42"/>
    <p:sldId id="336" r:id="rId43"/>
    <p:sldId id="338" r:id="rId44"/>
    <p:sldId id="339" r:id="rId45"/>
    <p:sldId id="340" r:id="rId46"/>
    <p:sldId id="341" r:id="rId47"/>
    <p:sldId id="412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0" r:id="rId57"/>
    <p:sldId id="351" r:id="rId58"/>
    <p:sldId id="352" r:id="rId59"/>
    <p:sldId id="355" r:id="rId60"/>
    <p:sldId id="353" r:id="rId61"/>
    <p:sldId id="354" r:id="rId62"/>
    <p:sldId id="356" r:id="rId63"/>
    <p:sldId id="358" r:id="rId64"/>
    <p:sldId id="357" r:id="rId65"/>
    <p:sldId id="413" r:id="rId66"/>
    <p:sldId id="359" r:id="rId67"/>
    <p:sldId id="360" r:id="rId68"/>
    <p:sldId id="361" r:id="rId69"/>
    <p:sldId id="364" r:id="rId70"/>
    <p:sldId id="414" r:id="rId71"/>
    <p:sldId id="362" r:id="rId72"/>
    <p:sldId id="415" r:id="rId73"/>
    <p:sldId id="363" r:id="rId74"/>
    <p:sldId id="365" r:id="rId75"/>
    <p:sldId id="366" r:id="rId76"/>
    <p:sldId id="367" r:id="rId77"/>
    <p:sldId id="368" r:id="rId78"/>
    <p:sldId id="369" r:id="rId79"/>
    <p:sldId id="370" r:id="rId80"/>
    <p:sldId id="371" r:id="rId81"/>
    <p:sldId id="372" r:id="rId82"/>
    <p:sldId id="373" r:id="rId83"/>
    <p:sldId id="374" r:id="rId84"/>
    <p:sldId id="375" r:id="rId85"/>
    <p:sldId id="376" r:id="rId86"/>
    <p:sldId id="416" r:id="rId87"/>
    <p:sldId id="377" r:id="rId88"/>
    <p:sldId id="378" r:id="rId89"/>
    <p:sldId id="403" r:id="rId90"/>
    <p:sldId id="379" r:id="rId91"/>
    <p:sldId id="380" r:id="rId92"/>
    <p:sldId id="381" r:id="rId93"/>
    <p:sldId id="382" r:id="rId94"/>
    <p:sldId id="383" r:id="rId95"/>
    <p:sldId id="384" r:id="rId96"/>
    <p:sldId id="386" r:id="rId97"/>
    <p:sldId id="385" r:id="rId98"/>
    <p:sldId id="387" r:id="rId99"/>
    <p:sldId id="388" r:id="rId100"/>
    <p:sldId id="389" r:id="rId101"/>
    <p:sldId id="390" r:id="rId102"/>
    <p:sldId id="391" r:id="rId103"/>
    <p:sldId id="392" r:id="rId104"/>
    <p:sldId id="393" r:id="rId105"/>
    <p:sldId id="394" r:id="rId106"/>
    <p:sldId id="395" r:id="rId107"/>
    <p:sldId id="396" r:id="rId108"/>
    <p:sldId id="398" r:id="rId109"/>
    <p:sldId id="397" r:id="rId110"/>
    <p:sldId id="399" r:id="rId111"/>
    <p:sldId id="400" r:id="rId112"/>
    <p:sldId id="401" r:id="rId113"/>
    <p:sldId id="402" r:id="rId114"/>
    <p:sldId id="404" r:id="rId115"/>
    <p:sldId id="337" r:id="rId116"/>
    <p:sldId id="285" r:id="rId1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21D366-7321-4E9E-B471-1AF82A17AE44}">
          <p14:sldIdLst>
            <p14:sldId id="295"/>
            <p14:sldId id="405"/>
            <p14:sldId id="300"/>
            <p14:sldId id="301"/>
            <p14:sldId id="304"/>
            <p14:sldId id="303"/>
            <p14:sldId id="406"/>
            <p14:sldId id="302"/>
            <p14:sldId id="407"/>
            <p14:sldId id="305"/>
            <p14:sldId id="306"/>
            <p14:sldId id="308"/>
            <p14:sldId id="309"/>
            <p14:sldId id="307"/>
            <p14:sldId id="310"/>
            <p14:sldId id="311"/>
            <p14:sldId id="313"/>
            <p14:sldId id="408"/>
            <p14:sldId id="314"/>
            <p14:sldId id="409"/>
            <p14:sldId id="410"/>
            <p14:sldId id="317"/>
            <p14:sldId id="318"/>
            <p14:sldId id="320"/>
            <p14:sldId id="411"/>
            <p14:sldId id="312"/>
            <p14:sldId id="321"/>
            <p14:sldId id="322"/>
            <p14:sldId id="323"/>
            <p14:sldId id="325"/>
            <p14:sldId id="326"/>
            <p14:sldId id="328"/>
            <p14:sldId id="327"/>
            <p14:sldId id="329"/>
            <p14:sldId id="330"/>
            <p14:sldId id="324"/>
            <p14:sldId id="331"/>
            <p14:sldId id="332"/>
            <p14:sldId id="333"/>
            <p14:sldId id="334"/>
            <p14:sldId id="335"/>
            <p14:sldId id="336"/>
            <p14:sldId id="338"/>
            <p14:sldId id="339"/>
            <p14:sldId id="340"/>
            <p14:sldId id="341"/>
            <p14:sldId id="412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5"/>
            <p14:sldId id="353"/>
            <p14:sldId id="354"/>
            <p14:sldId id="356"/>
            <p14:sldId id="358"/>
            <p14:sldId id="357"/>
            <p14:sldId id="413"/>
            <p14:sldId id="359"/>
            <p14:sldId id="360"/>
            <p14:sldId id="361"/>
            <p14:sldId id="364"/>
            <p14:sldId id="414"/>
            <p14:sldId id="362"/>
            <p14:sldId id="415"/>
            <p14:sldId id="363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416"/>
            <p14:sldId id="377"/>
            <p14:sldId id="378"/>
            <p14:sldId id="403"/>
            <p14:sldId id="379"/>
            <p14:sldId id="380"/>
            <p14:sldId id="381"/>
            <p14:sldId id="382"/>
            <p14:sldId id="383"/>
            <p14:sldId id="384"/>
            <p14:sldId id="386"/>
            <p14:sldId id="385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8"/>
            <p14:sldId id="397"/>
            <p14:sldId id="399"/>
            <p14:sldId id="400"/>
            <p14:sldId id="401"/>
            <p14:sldId id="402"/>
            <p14:sldId id="404"/>
            <p14:sldId id="337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65413" autoAdjust="0"/>
  </p:normalViewPr>
  <p:slideViewPr>
    <p:cSldViewPr snapToGrid="0" showGuides="1">
      <p:cViewPr>
        <p:scale>
          <a:sx n="50" d="100"/>
          <a:sy n="50" d="100"/>
        </p:scale>
        <p:origin x="2832" y="462"/>
      </p:cViewPr>
      <p:guideLst>
        <p:guide orient="horz" pos="2228"/>
        <p:guide pos="37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41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 многих программах есть операции, которые не требуют постоянной работы процессора. Например, программа ждёт данные из сети, ждёт завершения чтения файла или срабатывания таймера. В это время поток либо блокируется, либо мы начинаем писать код через </a:t>
            </a:r>
            <a:r>
              <a:rPr lang="ru-RU" dirty="0" err="1"/>
              <a:t>callback</a:t>
            </a:r>
            <a:r>
              <a:rPr lang="ru-RU" dirty="0"/>
              <a:t>-и.</a:t>
            </a:r>
          </a:p>
          <a:p>
            <a:endParaRPr lang="ru-RU" dirty="0"/>
          </a:p>
          <a:p>
            <a:r>
              <a:rPr lang="ru-RU" dirty="0" err="1"/>
              <a:t>Callback</a:t>
            </a:r>
            <a:r>
              <a:rPr lang="ru-RU" dirty="0"/>
              <a:t>-и работают, но при усложнении логики код быстро превращается в цепочку вложенных вызовов. </a:t>
            </a:r>
            <a:endParaRPr lang="en-US" dirty="0"/>
          </a:p>
          <a:p>
            <a:endParaRPr lang="en-US" dirty="0"/>
          </a:p>
          <a:p>
            <a:r>
              <a:rPr lang="ru-RU" dirty="0"/>
              <a:t>Его сложнее читать, отлаживать и обрабатывать в нём ошибки.</a:t>
            </a:r>
          </a:p>
          <a:p>
            <a:endParaRPr lang="en-US" dirty="0"/>
          </a:p>
          <a:p>
            <a:r>
              <a:rPr lang="ru-RU" dirty="0" err="1"/>
              <a:t>Корутины</a:t>
            </a:r>
            <a:r>
              <a:rPr lang="ru-RU" dirty="0"/>
              <a:t> позволяют описывать такую логику линейно: сначала дождались одного события, потом выполнили следующий шаг, потом следующий. Но при этом выполнение программы может приостанавливаться и продолжаться позже.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23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Корутина</a:t>
            </a:r>
            <a:r>
              <a:rPr lang="ru-RU" dirty="0"/>
              <a:t> похожа на обычную функцию, но с важным отличием: она может не выполняться целиком за один раз.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Обычная функция начала выполнение и работает до конца: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исключения или завершения тела функции. </a:t>
            </a:r>
            <a:r>
              <a:rPr lang="ru-RU" dirty="0" err="1"/>
              <a:t>Корутина</a:t>
            </a:r>
            <a:r>
              <a:rPr lang="ru-RU" dirty="0"/>
              <a:t> может дойти до специальной точки, приостановиться, сохранить своё состояние и позже продолжить выполнение с этого же места.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Очень важная мысль: </a:t>
            </a:r>
            <a:r>
              <a:rPr lang="ru-RU" dirty="0" err="1"/>
              <a:t>корутина</a:t>
            </a:r>
            <a:r>
              <a:rPr lang="ru-RU" dirty="0"/>
              <a:t> — это не поток. Она сама по себе не создаёт параллельное выполнение. Она просто даёт возможность удобно описывать код, который может останавливаться и продолжаться.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</a:t>
            </a:r>
            <a:r>
              <a:rPr lang="ru-RU" dirty="0" err="1"/>
              <a:t>корутины</a:t>
            </a:r>
            <a:r>
              <a:rPr lang="ru-RU" dirty="0"/>
              <a:t> особенно полезны там, где есть ожидание: сеть, файлы, таймеры, генерация последовательностей или пошаговое выполнение сценария.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98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теперь чётко сравним обычные функции и </a:t>
            </a:r>
            <a:r>
              <a:rPr lang="ru-RU" dirty="0" err="1"/>
              <a:t>корутины</a:t>
            </a:r>
            <a:r>
              <a:rPr lang="ru-RU" dirty="0"/>
              <a:t> — это ключевой момент для понимания всей темы.</a:t>
            </a:r>
          </a:p>
          <a:p>
            <a:endParaRPr lang="ru-RU" dirty="0"/>
          </a:p>
          <a:p>
            <a:r>
              <a:rPr lang="ru-RU" dirty="0"/>
              <a:t>Начнём с обычной функции. Когда вы её вызываете, происходит очень простая вещь: управление передаётся внутрь функции, и она выполняется до конца. Либо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либо до исключения. Всё это время вызывающий код «ждёт».</a:t>
            </a:r>
          </a:p>
          <a:p>
            <a:endParaRPr lang="ru-RU" dirty="0"/>
          </a:p>
          <a:p>
            <a:r>
              <a:rPr lang="ru-RU" dirty="0"/>
              <a:t>После завершения функции её локальные переменные уничтожаются, потому что они жили на стеке. Функция закончилась — её состояние исчезло. И если вы хотите продолжить вычисления, вам нужно снова вызвать функцию с нуля.</a:t>
            </a:r>
          </a:p>
          <a:p>
            <a:endParaRPr lang="ru-RU" dirty="0"/>
          </a:p>
          <a:p>
            <a:r>
              <a:rPr lang="ru-RU" dirty="0"/>
              <a:t>Теперь посмотрим на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 err="1"/>
              <a:t>Корутина</a:t>
            </a:r>
            <a:r>
              <a:rPr lang="ru-RU" dirty="0"/>
              <a:t> тоже выглядит как функция, но ведёт себя принципиально иначе. Она может остановиться </a:t>
            </a:r>
            <a:r>
              <a:rPr lang="ru-RU" b="1" dirty="0"/>
              <a:t>в середине выполнения</a:t>
            </a:r>
            <a:r>
              <a:rPr lang="ru-RU" dirty="0"/>
              <a:t>, сохранить своё состояние и вернуть управление вызывающему коду.</a:t>
            </a:r>
          </a:p>
          <a:p>
            <a:endParaRPr lang="ru-RU" dirty="0"/>
          </a:p>
          <a:p>
            <a:r>
              <a:rPr lang="ru-RU" dirty="0"/>
              <a:t>Что значит «сохранить состояние»?</a:t>
            </a:r>
            <a:br>
              <a:rPr lang="ru-RU" dirty="0"/>
            </a:br>
            <a:r>
              <a:rPr lang="ru-RU" dirty="0"/>
              <a:t>Это означает, что: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сохраняются значения всех локальных переменных;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запоминается точка, где выполнение остановилось;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позже можно продолжить выполнение </a:t>
            </a:r>
            <a:r>
              <a:rPr lang="ru-RU" b="1" dirty="0"/>
              <a:t>с этого же места</a:t>
            </a:r>
            <a:r>
              <a:rPr lang="ru-RU" dirty="0"/>
              <a:t>, а не с начала. </a:t>
            </a:r>
          </a:p>
          <a:p>
            <a:r>
              <a:rPr lang="ru-RU" dirty="0"/>
              <a:t>Это очень необычно, если вы привыкли к обычным функциям.</a:t>
            </a:r>
          </a:p>
          <a:p>
            <a:endParaRPr lang="ru-RU" dirty="0"/>
          </a:p>
          <a:p>
            <a:r>
              <a:rPr lang="ru-RU" dirty="0"/>
              <a:t>Дальше — важный момент: </a:t>
            </a:r>
            <a:r>
              <a:rPr lang="ru-RU" dirty="0" err="1"/>
              <a:t>корутина</a:t>
            </a:r>
            <a:r>
              <a:rPr lang="ru-RU" dirty="0"/>
              <a:t> может возвращать значения </a:t>
            </a:r>
            <a:r>
              <a:rPr lang="ru-RU" b="1" dirty="0"/>
              <a:t>не один раз</a:t>
            </a:r>
            <a:r>
              <a:rPr lang="ru-RU" dirty="0"/>
              <a:t>, а постепенно.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функция возвращает одно значение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может выдавать значения по одному → например, генератор </a:t>
            </a:r>
          </a:p>
          <a:p>
            <a:r>
              <a:rPr lang="ru-RU" dirty="0"/>
              <a:t>То есть она как бы «работает кусочками».</a:t>
            </a:r>
          </a:p>
          <a:p>
            <a:endParaRPr lang="ru-RU" dirty="0"/>
          </a:p>
          <a:p>
            <a:r>
              <a:rPr lang="ru-RU" dirty="0"/>
              <a:t>Ещё одно отличие — структура выполнения.</a:t>
            </a:r>
          </a:p>
          <a:p>
            <a:r>
              <a:rPr lang="ru-RU" dirty="0"/>
              <a:t>Обычная функция — это один непрерывный путь: вошли → выполнили → вышли.</a:t>
            </a:r>
          </a:p>
          <a:p>
            <a:r>
              <a:rPr lang="ru-RU" dirty="0" err="1"/>
              <a:t>Корутина</a:t>
            </a:r>
            <a:r>
              <a:rPr lang="ru-RU" dirty="0"/>
              <a:t> — это последовательность этапов: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выполнили часть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остановились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потом продолжили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снова остановились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так далее </a:t>
            </a:r>
          </a:p>
          <a:p>
            <a:endParaRPr lang="ru-RU" dirty="0"/>
          </a:p>
          <a:p>
            <a:r>
              <a:rPr lang="ru-RU" dirty="0"/>
              <a:t>И, пожалуй, самое важное с практической точки зрения:</a:t>
            </a:r>
          </a:p>
          <a:p>
            <a:r>
              <a:rPr lang="ru-RU" dirty="0"/>
              <a:t>При работе с обычной функцией вызывающий код всегда ждёт её завершения.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С </a:t>
            </a:r>
            <a:r>
              <a:rPr lang="ru-RU" dirty="0" err="1"/>
              <a:t>корутиной</a:t>
            </a:r>
            <a:r>
              <a:rPr lang="ru-RU" dirty="0"/>
              <a:t> — нет. Она может отдать управление раньше, а продолжить работу позже.</a:t>
            </a:r>
          </a:p>
          <a:p>
            <a:r>
              <a:rPr lang="ru-RU" dirty="0"/>
              <a:t>И вот здесь как раз появляется её основное применение — асинхронные операции.</a:t>
            </a:r>
          </a:p>
          <a:p>
            <a:endParaRPr lang="ru-RU" dirty="0"/>
          </a:p>
          <a:p>
            <a:r>
              <a:rPr lang="ru-RU" dirty="0" err="1"/>
              <a:t>Корутина</a:t>
            </a:r>
            <a:r>
              <a:rPr lang="ru-RU" dirty="0"/>
              <a:t> — это функция, которая умеет «ставить себя на паузу» и потом продолжать выполнение, не теряя состояние.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49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давайте визуально сравним, как работает обычная функция и как работает </a:t>
            </a:r>
            <a:r>
              <a:rPr lang="ru-RU" dirty="0" err="1"/>
              <a:t>корутина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Начнём с левой части — это обычная функция.</a:t>
            </a:r>
          </a:p>
          <a:p>
            <a:r>
              <a:rPr lang="ru-RU" dirty="0"/>
              <a:t>Смотрите: вызывающий код, </a:t>
            </a:r>
            <a:r>
              <a:rPr lang="ru-RU" b="1" dirty="0" err="1"/>
              <a:t>Caller</a:t>
            </a:r>
            <a:r>
              <a:rPr lang="ru-RU" dirty="0"/>
              <a:t>, делает вызов — стрелка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 уходит в функцию. После этого управление полностью передаётся внутрь функции. Пока функция не завершится, вызывающий код ничего больше не делает — он «ждёт».</a:t>
            </a:r>
          </a:p>
          <a:p>
            <a:endParaRPr lang="ru-RU" dirty="0"/>
          </a:p>
          <a:p>
            <a:r>
              <a:rPr lang="ru-RU" dirty="0"/>
              <a:t>Дальше функция выполняется сверху вниз, без остановок, и в конце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. И только в этот момент управление возвращается обратно в </a:t>
            </a:r>
            <a:r>
              <a:rPr lang="ru-RU" dirty="0" err="1"/>
              <a:t>Caller</a:t>
            </a:r>
            <a:r>
              <a:rPr lang="ru-RU" dirty="0"/>
              <a:t>.</a:t>
            </a:r>
          </a:p>
          <a:p>
            <a:r>
              <a:rPr lang="ru-RU" dirty="0"/>
              <a:t>👉 То есть здесь модель очень простая: вызвали → выполнили → вернулись.</a:t>
            </a:r>
          </a:p>
          <a:p>
            <a:endParaRPr lang="ru-RU" dirty="0"/>
          </a:p>
          <a:p>
            <a:r>
              <a:rPr lang="ru-RU" dirty="0"/>
              <a:t>Теперь посмотрим на правую часть — </a:t>
            </a:r>
            <a:r>
              <a:rPr lang="ru-RU" dirty="0" err="1"/>
              <a:t>корутина</a:t>
            </a:r>
            <a:r>
              <a:rPr lang="ru-RU" dirty="0"/>
              <a:t>.</a:t>
            </a:r>
          </a:p>
          <a:p>
            <a:r>
              <a:rPr lang="ru-RU" dirty="0"/>
              <a:t>Сначала всё выглядит похоже: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</a:t>
            </a:r>
            <a:r>
              <a:rPr lang="ru-RU" dirty="0"/>
              <a:t>, управление передаётся в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/>
              <a:t>Но дальше происходит принципиально другая вещь — </a:t>
            </a:r>
            <a:r>
              <a:rPr lang="ru-RU" dirty="0" err="1"/>
              <a:t>корутина</a:t>
            </a:r>
            <a:r>
              <a:rPr lang="ru-RU" dirty="0"/>
              <a:t> может </a:t>
            </a:r>
            <a:r>
              <a:rPr lang="ru-RU" b="1" dirty="0"/>
              <a:t>приостановиться</a:t>
            </a:r>
            <a:r>
              <a:rPr lang="ru-RU" dirty="0"/>
              <a:t>. Это момент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</a:t>
            </a:r>
            <a:r>
              <a:rPr lang="ru-RU" dirty="0"/>
              <a:t>, который у вас подписан рядом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Что это означает?</a:t>
            </a:r>
            <a:br>
              <a:rPr lang="ru-RU" dirty="0"/>
            </a:br>
            <a:r>
              <a:rPr lang="ru-RU" dirty="0" err="1"/>
              <a:t>Корутина</a:t>
            </a:r>
            <a:r>
              <a:rPr lang="ru-RU" dirty="0"/>
              <a:t> не завершилась, но она временно возвращает управление обратно вызывающему коду.</a:t>
            </a:r>
          </a:p>
          <a:p>
            <a:endParaRPr lang="ru-RU" dirty="0"/>
          </a:p>
          <a:p>
            <a:r>
              <a:rPr lang="ru-RU" dirty="0"/>
              <a:t>Дальше вызывающий код может в какой-то момент снова передать управление </a:t>
            </a:r>
            <a:r>
              <a:rPr lang="ru-RU" dirty="0" err="1"/>
              <a:t>корутине</a:t>
            </a:r>
            <a:r>
              <a:rPr lang="ru-RU" dirty="0"/>
              <a:t> — это стрелка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</a:t>
            </a:r>
            <a:r>
              <a:rPr lang="ru-RU" dirty="0" err="1"/>
              <a:t>корутина</a:t>
            </a:r>
            <a:r>
              <a:rPr lang="ru-RU" dirty="0"/>
              <a:t> продолжает выполнение </a:t>
            </a:r>
            <a:r>
              <a:rPr lang="ru-RU" b="1" dirty="0"/>
              <a:t>не с начала</a:t>
            </a:r>
            <a:r>
              <a:rPr lang="ru-RU" dirty="0"/>
              <a:t>, а именно с того места, где она остановилась.</a:t>
            </a:r>
          </a:p>
          <a:p>
            <a:r>
              <a:rPr lang="ru-RU" dirty="0"/>
              <a:t>И это может происходить несколько раз: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остановились → вернулись наружу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потом снова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снова остановились </a:t>
            </a:r>
          </a:p>
          <a:p>
            <a:r>
              <a:rPr lang="ru-RU" dirty="0"/>
              <a:t>И только в самом конце происходит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, после чего </a:t>
            </a:r>
            <a:r>
              <a:rPr lang="ru-RU" dirty="0" err="1"/>
              <a:t>корутина</a:t>
            </a:r>
            <a:r>
              <a:rPr lang="ru-RU" dirty="0"/>
              <a:t> уже окончательно завершается.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Теперь важно сформулировать ключевое отличие.</a:t>
            </a:r>
          </a:p>
          <a:p>
            <a:r>
              <a:rPr lang="ru-RU" dirty="0"/>
              <a:t>👉 У обычной функции есть </a:t>
            </a:r>
            <a:r>
              <a:rPr lang="ru-RU" b="1" dirty="0"/>
              <a:t>одна точка входа и одна точка выхода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👉 У </a:t>
            </a:r>
            <a:r>
              <a:rPr lang="ru-RU" dirty="0" err="1"/>
              <a:t>корутины</a:t>
            </a:r>
            <a:r>
              <a:rPr lang="ru-RU" dirty="0"/>
              <a:t> — </a:t>
            </a:r>
            <a:r>
              <a:rPr lang="ru-RU" b="1" dirty="0"/>
              <a:t>одна точка входа, но много точек выхода и возврата обратно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 на ещё один момент.</a:t>
            </a:r>
          </a:p>
          <a:p>
            <a:r>
              <a:rPr lang="ru-RU" dirty="0"/>
              <a:t>Когда </a:t>
            </a:r>
            <a:r>
              <a:rPr lang="ru-RU" dirty="0" err="1"/>
              <a:t>корутина</a:t>
            </a:r>
            <a:r>
              <a:rPr lang="ru-RU" dirty="0"/>
              <a:t> приостанавливается, она не «теряет» своё состояние. Все её локальные переменные, текущее место выполнения — всё это сохраняется. Именно поэтому 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она продолжает работать так, как будто её просто поставили на паузу.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И вот здесь появляется очень важная идея:</a:t>
            </a:r>
          </a:p>
          <a:p>
            <a:r>
              <a:rPr lang="ru-RU" dirty="0"/>
              <a:t>👉 </a:t>
            </a:r>
            <a:r>
              <a:rPr lang="ru-RU" dirty="0" err="1"/>
              <a:t>Корутина</a:t>
            </a:r>
            <a:r>
              <a:rPr lang="ru-RU" dirty="0"/>
              <a:t> — это не просто функция.</a:t>
            </a:r>
            <a:br>
              <a:rPr lang="ru-RU" dirty="0"/>
            </a:br>
            <a:r>
              <a:rPr lang="ru-RU" dirty="0"/>
              <a:t>👉 Это функция, у которой есть </a:t>
            </a:r>
            <a:r>
              <a:rPr lang="ru-RU" b="1" dirty="0"/>
              <a:t>собственное сохранённое состояние и возможность продолжения выполнения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Если коротко: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функция — это «один проход»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— это «пошаговое выполнение с паузами» </a:t>
            </a:r>
          </a:p>
          <a:p>
            <a:r>
              <a:rPr lang="ru-RU" dirty="0"/>
              <a:t>И дальше мы будем использовать именно это свойство, чтобы: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писать генераторы,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делать асинхронный код,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избавляться от </a:t>
            </a:r>
            <a:r>
              <a:rPr lang="ru-RU" dirty="0" err="1"/>
              <a:t>callback-ов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79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рассмотрим простой пример — функцию, которая генерирует последовательность чисел.</a:t>
            </a:r>
          </a:p>
          <a:p>
            <a:endParaRPr lang="ru-RU" dirty="0"/>
          </a:p>
          <a:p>
            <a:r>
              <a:rPr lang="ru-RU" dirty="0"/>
              <a:t>Здесь у нас есть функция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, которая принимает </a:t>
            </a:r>
            <a:r>
              <a:rPr lang="ru-RU" dirty="0" err="1"/>
              <a:t>callback</a:t>
            </a:r>
            <a:r>
              <a:rPr lang="ru-RU" dirty="0"/>
              <a:t> — то есть функцию, которую мы передаём внутрь.</a:t>
            </a:r>
          </a:p>
          <a:p>
            <a:r>
              <a:rPr lang="ru-RU" dirty="0"/>
              <a:t>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 идёт обычный цикл от 0 до 9, и на каждой итерации вызывается </a:t>
            </a:r>
            <a:r>
              <a:rPr lang="ru-RU" dirty="0" err="1"/>
              <a:t>callback</a:t>
            </a:r>
            <a:r>
              <a:rPr lang="ru-RU" dirty="0"/>
              <a:t> с текущим значением.</a:t>
            </a:r>
          </a:p>
          <a:p>
            <a:endParaRPr lang="ru-RU" dirty="0"/>
          </a:p>
          <a:p>
            <a:r>
              <a:rPr lang="ru-RU" dirty="0"/>
              <a:t>С точки зрения работы программы всё корректно: мы вызываем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, передаём туда лямбду, и она просто печатает значения.</a:t>
            </a:r>
          </a:p>
          <a:p>
            <a:endParaRPr lang="ru-RU" dirty="0"/>
          </a:p>
          <a:p>
            <a:r>
              <a:rPr lang="ru-RU" dirty="0"/>
              <a:t>На выходе получаем числа от 0 до 9.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73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почему </a:t>
            </a:r>
            <a:r>
              <a:rPr lang="ru-RU" dirty="0" err="1"/>
              <a:t>callback</a:t>
            </a:r>
            <a:r>
              <a:rPr lang="ru-RU" dirty="0"/>
              <a:t>-и становятся неудобными в более реальном коде.</a:t>
            </a:r>
          </a:p>
          <a:p>
            <a:endParaRPr lang="ru-RU" dirty="0"/>
          </a:p>
          <a:p>
            <a:r>
              <a:rPr lang="ru-RU" dirty="0"/>
              <a:t>Здесь у нас есть три операции. Сначала нужно загрузить пользователя, потом по этому пользователю загрузить его заказы, а затем отправить отчёт.</a:t>
            </a:r>
          </a:p>
          <a:p>
            <a:endParaRPr lang="ru-RU" dirty="0"/>
          </a:p>
          <a:p>
            <a:r>
              <a:rPr lang="ru-RU" dirty="0"/>
              <a:t>Каждая операция асинхронная и сообщает о завершении через </a:t>
            </a:r>
            <a:r>
              <a:rPr lang="ru-RU" dirty="0" err="1"/>
              <a:t>callback</a:t>
            </a:r>
            <a:r>
              <a:rPr lang="ru-RU" dirty="0"/>
              <a:t>. Поэтому следующую операцию приходится запускать внутри </a:t>
            </a:r>
            <a:r>
              <a:rPr lang="ru-RU" dirty="0" err="1"/>
              <a:t>callback</a:t>
            </a:r>
            <a:r>
              <a:rPr lang="ru-RU" dirty="0"/>
              <a:t>-а предыдущей.</a:t>
            </a:r>
          </a:p>
          <a:p>
            <a:endParaRPr lang="ru-RU" dirty="0"/>
          </a:p>
          <a:p>
            <a:r>
              <a:rPr lang="ru-RU" dirty="0"/>
              <a:t>В результате код начинает расти вправо. Даже на трёх шагах он уже выглядит не очень приятно. А если таких шагов будет пять, десять, если появятся условия, повторные попытки, отмена операции и обработка ошибок — код станет гораздо сложнее сопровождать.</a:t>
            </a:r>
          </a:p>
          <a:p>
            <a:endParaRPr lang="ru-RU" dirty="0"/>
          </a:p>
          <a:p>
            <a:r>
              <a:rPr lang="ru-RU" dirty="0"/>
              <a:t>Главная проблема здесь не в том, что </a:t>
            </a:r>
            <a:r>
              <a:rPr lang="ru-RU" dirty="0" err="1"/>
              <a:t>callback</a:t>
            </a:r>
            <a:r>
              <a:rPr lang="ru-RU" dirty="0"/>
              <a:t>-и неправильные. Они рабочие. Проблема в том, что они заставляют нас описывать последовательную логику не последовательно, а </a:t>
            </a:r>
            <a:r>
              <a:rPr lang="ru-RU" dirty="0" err="1"/>
              <a:t>вложенно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 именно здесь </a:t>
            </a:r>
            <a:r>
              <a:rPr lang="ru-RU" dirty="0" err="1"/>
              <a:t>корутины</a:t>
            </a:r>
            <a:r>
              <a:rPr lang="ru-RU" dirty="0"/>
              <a:t> дают большую пользу: они позволяют оставить асинхронную природу операций, но записать алгоритм почти как обычный линейный код.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84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тот же самый пример выглядит с </a:t>
            </a:r>
            <a:r>
              <a:rPr lang="ru-RU" dirty="0" err="1"/>
              <a:t>корутинами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 из C++23. Функция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ru-RU" dirty="0"/>
              <a:t> выглядит почти как обычная, но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возвращает значение и приостанавливает выполнение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То есть: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вернули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остановились,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следующем обращении продолжили с того же места. 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 просто пишем обычный цикл: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Counter())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И это выглядит как работа с контейнером.</a:t>
            </a:r>
          </a:p>
          <a:p>
            <a:r>
              <a:rPr lang="ru-RU" dirty="0"/>
              <a:t>Но под капотом: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запускается,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отдаёт значение,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приостанавливается,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потом снова возобновляется. </a:t>
            </a:r>
          </a:p>
          <a:p>
            <a:endParaRPr lang="ru-RU" dirty="0"/>
          </a:p>
          <a:p>
            <a:r>
              <a:rPr lang="ru-RU" dirty="0"/>
              <a:t>Главное отличие от </a:t>
            </a:r>
            <a:r>
              <a:rPr lang="ru-RU" dirty="0" err="1"/>
              <a:t>callback</a:t>
            </a:r>
            <a:r>
              <a:rPr lang="ru-RU" dirty="0"/>
              <a:t>: код остаётся линейным и читается сверху вниз.</a:t>
            </a:r>
          </a:p>
          <a:p>
            <a:r>
              <a:rPr lang="ru-RU" dirty="0"/>
              <a:t>Именно в этом основная сила </a:t>
            </a:r>
            <a:r>
              <a:rPr lang="ru-RU" dirty="0" err="1"/>
              <a:t>корутин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35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та же задача может выглядеть с </a:t>
            </a:r>
            <a:r>
              <a:rPr lang="ru-RU" dirty="0" err="1"/>
              <a:t>корутинами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У нас всё ещё есть три асинхронные операции: загрузить пользователя, загрузить его заказы и отправить отчёт.</a:t>
            </a:r>
          </a:p>
          <a:p>
            <a:endParaRPr lang="ru-RU" dirty="0"/>
          </a:p>
          <a:p>
            <a:r>
              <a:rPr lang="ru-RU" dirty="0"/>
              <a:t>Но теперь каждая операция возвращает не результат напрямую, а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. Этот объект можно ожидать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выполнение доходит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LoadUser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</a:t>
            </a:r>
            <a:r>
              <a:rPr lang="ru-RU" dirty="0" err="1"/>
              <a:t>корутина</a:t>
            </a:r>
            <a:r>
              <a:rPr lang="ru-RU" dirty="0"/>
              <a:t> может приостановиться и вернуть управление наружу. Когда пользователь будет загружен, </a:t>
            </a:r>
            <a:r>
              <a:rPr lang="ru-RU" dirty="0" err="1"/>
              <a:t>корутина</a:t>
            </a:r>
            <a:r>
              <a:rPr lang="ru-RU" dirty="0"/>
              <a:t> продолжит выполнение со следующей строки.</a:t>
            </a:r>
          </a:p>
          <a:p>
            <a:endParaRPr lang="ru-RU" dirty="0"/>
          </a:p>
          <a:p>
            <a:r>
              <a:rPr lang="ru-RU" dirty="0"/>
              <a:t>Главное преимущество видно сразу: логика снова читается сверху вниз. Нет вложенных </a:t>
            </a:r>
            <a:r>
              <a:rPr lang="ru-RU" dirty="0" err="1"/>
              <a:t>callback-ов</a:t>
            </a:r>
            <a:r>
              <a:rPr lang="ru-RU" dirty="0"/>
              <a:t>, и последовательность действий выглядит как обычный код.</a:t>
            </a:r>
          </a:p>
          <a:p>
            <a:endParaRPr lang="ru-RU" dirty="0"/>
          </a:p>
          <a:p>
            <a:r>
              <a:rPr lang="ru-RU" dirty="0"/>
              <a:t>При этом поток не обязан блокироваться на время ожидания. </a:t>
            </a:r>
            <a:r>
              <a:rPr lang="ru-RU" dirty="0" err="1"/>
              <a:t>Корутина</a:t>
            </a:r>
            <a:r>
              <a:rPr lang="ru-RU" dirty="0"/>
              <a:t> просто приостанавливается, а потом возобновляется, когда результат готов.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25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зафиксируем, где </a:t>
            </a:r>
            <a:r>
              <a:rPr lang="ru-RU" dirty="0" err="1"/>
              <a:t>корутины</a:t>
            </a:r>
            <a:r>
              <a:rPr lang="ru-RU" dirty="0"/>
              <a:t> реально используются.</a:t>
            </a:r>
          </a:p>
          <a:p>
            <a:endParaRPr lang="ru-RU" dirty="0"/>
          </a:p>
          <a:p>
            <a:r>
              <a:rPr lang="ru-RU" dirty="0"/>
              <a:t>Первое и самое частое — это асинхронный код. Всё, что связано с сетью, файлами или таймерами, обычно требует ожидания. Раньше для этого активно использовали </a:t>
            </a:r>
            <a:r>
              <a:rPr lang="ru-RU" dirty="0" err="1"/>
              <a:t>callback</a:t>
            </a:r>
            <a:r>
              <a:rPr lang="ru-RU" dirty="0"/>
              <a:t>-и, но они быстро усложняют код. </a:t>
            </a:r>
            <a:r>
              <a:rPr lang="ru-RU" dirty="0" err="1"/>
              <a:t>Корутины</a:t>
            </a:r>
            <a:r>
              <a:rPr lang="ru-RU" dirty="0"/>
              <a:t> позволяют писать тот же самый асинхронный код, но линейно и гораздо понятнее.</a:t>
            </a:r>
          </a:p>
          <a:p>
            <a:endParaRPr lang="ru-RU" dirty="0"/>
          </a:p>
          <a:p>
            <a:r>
              <a:rPr lang="ru-RU" dirty="0"/>
              <a:t>Второе — это генераторы и ленивые вычисления. Мы уже видели пример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. Значения не вычисляются заранее, а создаются по мере необходимости. Это удобно, когда данных много или они потенциально бесконечны.</a:t>
            </a:r>
          </a:p>
          <a:p>
            <a:endParaRPr lang="ru-RU" dirty="0"/>
          </a:p>
          <a:p>
            <a:r>
              <a:rPr lang="ru-RU" dirty="0"/>
              <a:t>Третье — это сценарии и конечные автоматы. Когда логика разбита на шаги и между ними есть ожидание событий, </a:t>
            </a:r>
            <a:r>
              <a:rPr lang="ru-RU" dirty="0" err="1"/>
              <a:t>корутины</a:t>
            </a:r>
            <a:r>
              <a:rPr lang="ru-RU" dirty="0"/>
              <a:t> позволяют описывать это естественно, без ручного хранения состояния.</a:t>
            </a:r>
          </a:p>
          <a:p>
            <a:r>
              <a:rPr lang="ru-RU" dirty="0"/>
              <a:t>И здесь важно подчеркнуть одну вещь, которую студенты часто путают.</a:t>
            </a:r>
          </a:p>
          <a:p>
            <a:endParaRPr lang="ru-RU" dirty="0"/>
          </a:p>
          <a:p>
            <a:r>
              <a:rPr lang="ru-RU" dirty="0" err="1"/>
              <a:t>Корутины</a:t>
            </a:r>
            <a:r>
              <a:rPr lang="ru-RU" dirty="0"/>
              <a:t> сами по себе не создают потоков и не дают параллелизма. Это не альтернатива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</a:t>
            </a:r>
            <a:r>
              <a:rPr lang="ru-RU" dirty="0"/>
              <a:t>. Это способ управлять выполнением — приостанавливать его и продолжать позже.</a:t>
            </a:r>
          </a:p>
          <a:p>
            <a:endParaRPr lang="ru-RU" dirty="0"/>
          </a:p>
          <a:p>
            <a:r>
              <a:rPr lang="ru-RU" dirty="0"/>
              <a:t>То есть </a:t>
            </a:r>
            <a:r>
              <a:rPr lang="ru-RU" dirty="0" err="1"/>
              <a:t>корутины</a:t>
            </a:r>
            <a:r>
              <a:rPr lang="ru-RU" dirty="0"/>
              <a:t> — это не про «выполнять одновременно», а про «удобно описывать сложное выполнение».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27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80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</a:t>
            </a:r>
            <a:r>
              <a:rPr lang="ru-RU" dirty="0" err="1"/>
              <a:t>корутина</a:t>
            </a:r>
            <a:r>
              <a:rPr lang="ru-RU" dirty="0"/>
              <a:t> — это не отдельный тип функции.</a:t>
            </a:r>
            <a:br>
              <a:rPr lang="ru-RU" dirty="0"/>
            </a:br>
            <a:r>
              <a:rPr lang="ru-RU" dirty="0"/>
              <a:t>Компилятор понимает, что функция — это </a:t>
            </a:r>
            <a:r>
              <a:rPr lang="ru-RU" dirty="0" err="1"/>
              <a:t>корутина</a:t>
            </a:r>
            <a:r>
              <a:rPr lang="ru-RU" dirty="0"/>
              <a:t>, по наличию специальных ключевых слов.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Их всего три.</a:t>
            </a:r>
          </a:p>
          <a:p>
            <a:r>
              <a:rPr lang="ru-RU" dirty="0"/>
              <a:t>Первое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Мы его уже видели. Он возвращает значение наружу и приостанавливает выполнение.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Второе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Это, пожалуй, самое важное ключевое слово. Оно означает: «подожди, пока операция завершится, и продолжи выполнение».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Третье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аналог обычного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но для </a:t>
            </a:r>
            <a:r>
              <a:rPr lang="ru-RU" dirty="0" err="1"/>
              <a:t>корутин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31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разберём первый ключевой оператор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</a:p>
          <a:p>
            <a:r>
              <a:rPr lang="ru-RU" dirty="0"/>
              <a:t>Он делает сразу две вещи.</a:t>
            </a:r>
          </a:p>
          <a:p>
            <a:endParaRPr lang="ru-RU" dirty="0"/>
          </a:p>
          <a:p>
            <a:r>
              <a:rPr lang="ru-RU" dirty="0"/>
              <a:t>Во-первых, он возвращает значение наружу — как будто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Но, 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он </a:t>
            </a:r>
            <a:r>
              <a:rPr lang="ru-RU" b="1" dirty="0"/>
              <a:t>не завершает функцию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Во-вторых, он приостанавливает выполнение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Это значит, что </a:t>
            </a:r>
            <a:r>
              <a:rPr lang="ru-RU" dirty="0" err="1"/>
              <a:t>корутина</a:t>
            </a:r>
            <a:r>
              <a:rPr lang="ru-RU" dirty="0"/>
              <a:t> «запоминает», где она остановилась, и при следующем возобновлении продолжит выполнение именно с этой точки.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Посмотрим на пример.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CountToThree</a:t>
            </a:r>
            <a:r>
              <a:rPr lang="ru-RU" dirty="0"/>
              <a:t> содержит 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Когда мы начинаем итерироваться по генератору, происходит следующее: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запускается и доходит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</a:t>
            </a:r>
            <a:r>
              <a:rPr lang="ru-RU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возвращает значение 1 и приостанавливается;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следующей итерации цикла она продолжает выполнение;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доходит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</a:t>
            </a:r>
            <a:r>
              <a:rPr lang="ru-RU" dirty="0"/>
              <a:t>, возвращает 2 и снова останавливается;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так далее. </a:t>
            </a:r>
          </a:p>
          <a:p>
            <a:endParaRPr lang="ru-RU" dirty="0"/>
          </a:p>
          <a:p>
            <a:r>
              <a:rPr lang="ru-RU" dirty="0"/>
              <a:t>Важно понимать, что именно 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управляет этим процессом. Каждая итерация фактически «будит» </a:t>
            </a:r>
            <a:r>
              <a:rPr lang="ru-RU" dirty="0" err="1"/>
              <a:t>корутину</a:t>
            </a:r>
            <a:r>
              <a:rPr lang="ru-RU" dirty="0"/>
              <a:t> и заставляет её сделать следующий шаг.</a:t>
            </a:r>
          </a:p>
          <a:p>
            <a:endParaRPr lang="ru-RU" dirty="0"/>
          </a:p>
          <a:p>
            <a:r>
              <a:rPr lang="ru-RU" dirty="0"/>
              <a:t>Ключевая идея: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превращает функцию в </a:t>
            </a:r>
            <a:r>
              <a:rPr lang="ru-RU" b="1" dirty="0"/>
              <a:t>генератор значений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который выдаёт результат не сразу, а постепенно, по мере запроса.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66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.</a:t>
            </a:r>
          </a:p>
          <a:p>
            <a:r>
              <a:rPr lang="ru-RU" dirty="0"/>
              <a:t>Это самый простой из трёх операторов. По смыслу он максимально близок к обычному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завершает выполнение </a:t>
            </a:r>
            <a:r>
              <a:rPr lang="ru-RU" dirty="0" err="1"/>
              <a:t>корутины</a:t>
            </a:r>
            <a:r>
              <a:rPr lang="ru-RU" dirty="0"/>
              <a:t> и возвращает результат наружу.</a:t>
            </a:r>
          </a:p>
          <a:p>
            <a:r>
              <a:rPr lang="ru-RU" dirty="0"/>
              <a:t>В приведённом примере </a:t>
            </a:r>
            <a:r>
              <a:rPr lang="ru-RU" dirty="0" err="1"/>
              <a:t>корутина</a:t>
            </a:r>
            <a:r>
              <a:rPr lang="ru-RU" dirty="0"/>
              <a:t> просто возвращает число 42.</a:t>
            </a:r>
          </a:p>
          <a:p>
            <a:endParaRPr lang="ru-RU" dirty="0"/>
          </a:p>
          <a:p>
            <a:r>
              <a:rPr lang="ru-RU" dirty="0"/>
              <a:t>Но есть важное отличие от обычной функции.</a:t>
            </a:r>
          </a:p>
          <a:p>
            <a:r>
              <a:rPr lang="ru-RU" dirty="0"/>
              <a:t>В обычной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просто возвращает значение напрямую вызывающему коду.</a:t>
            </a:r>
          </a:p>
          <a:p>
            <a:r>
              <a:rPr lang="ru-RU" dirty="0"/>
              <a:t>В </a:t>
            </a:r>
            <a:r>
              <a:rPr lang="ru-RU" dirty="0" err="1"/>
              <a:t>корутине</a:t>
            </a:r>
            <a:r>
              <a:rPr lang="ru-RU" dirty="0"/>
              <a:t> всё немного сложнее: значение не возвращается напрямую, а передаётся через специальный объект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 Мы подробно разберём это позже.</a:t>
            </a:r>
          </a:p>
          <a:p>
            <a:endParaRPr lang="ru-RU" dirty="0"/>
          </a:p>
          <a:p>
            <a:r>
              <a:rPr lang="ru-RU" dirty="0"/>
              <a:t>Пока достаточно понимать, что: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завершает </a:t>
            </a:r>
            <a:r>
              <a:rPr lang="ru-RU" dirty="0" err="1"/>
              <a:t>корутину</a:t>
            </a:r>
            <a:r>
              <a:rPr lang="ru-RU" dirty="0"/>
              <a:t> и передаёт финальный результат наружу </a:t>
            </a:r>
          </a:p>
          <a:p>
            <a:br>
              <a:rPr lang="ru-RU" dirty="0"/>
            </a:br>
            <a:r>
              <a:rPr lang="ru-RU" dirty="0"/>
              <a:t>Важно:</a:t>
            </a:r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— это «вернуть значение и продолжить потом», 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— это «вернуть значение и завершить совсем».</a:t>
            </a:r>
          </a:p>
          <a:p>
            <a:endParaRPr lang="ru-RU" dirty="0"/>
          </a:p>
          <a:p>
            <a:r>
              <a:rPr lang="ru-RU" dirty="0"/>
              <a:t>Именно 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обычно используется: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в </a:t>
            </a:r>
            <a:r>
              <a:rPr lang="ru-RU" dirty="0" err="1"/>
              <a:t>корутинах</a:t>
            </a:r>
            <a:r>
              <a:rPr lang="ru-RU" dirty="0"/>
              <a:t>, которые возвращают один результат,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в конце работы более сложной </a:t>
            </a:r>
            <a:r>
              <a:rPr lang="ru-RU" dirty="0" err="1"/>
              <a:t>корутины</a:t>
            </a:r>
            <a:r>
              <a:rPr lang="ru-RU" dirty="0"/>
              <a:t>, после всех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1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самый важный оператор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r>
              <a:rPr lang="ru-RU" dirty="0"/>
              <a:t>Именно он делает </a:t>
            </a:r>
            <a:r>
              <a:rPr lang="ru-RU" dirty="0" err="1"/>
              <a:t>корутины</a:t>
            </a:r>
            <a:r>
              <a:rPr lang="ru-RU" dirty="0"/>
              <a:t> полезными для асинхронного кода.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👉 Когда выполнение доходит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, </a:t>
            </a:r>
            <a:r>
              <a:rPr lang="ru-RU" dirty="0" err="1"/>
              <a:t>корутина</a:t>
            </a:r>
            <a:r>
              <a:rPr lang="ru-RU" dirty="0"/>
              <a:t> может приостановиться и «подождать», пока результат станет доступен.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нашем примере:</a:t>
            </a:r>
          </a:p>
          <a:p>
            <a:r>
              <a:rPr lang="ru-RU" dirty="0"/>
              <a:t>сначала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GetAnswer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; </a:t>
            </a:r>
          </a:p>
          <a:p>
            <a:r>
              <a:rPr lang="ru-RU" dirty="0" err="1"/>
              <a:t>корутина</a:t>
            </a:r>
            <a:r>
              <a:rPr lang="ru-RU" dirty="0"/>
              <a:t> доходит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; </a:t>
            </a:r>
          </a:p>
          <a:p>
            <a:r>
              <a:rPr lang="ru-RU" dirty="0"/>
              <a:t>если результат ещё не готов — выполнение приостанавливается; </a:t>
            </a:r>
          </a:p>
          <a:p>
            <a:r>
              <a:rPr lang="ru-RU" dirty="0"/>
              <a:t>когда результат появляется, </a:t>
            </a:r>
            <a:r>
              <a:rPr lang="ru-RU" dirty="0" err="1"/>
              <a:t>корутина</a:t>
            </a:r>
            <a:r>
              <a:rPr lang="ru-RU" dirty="0"/>
              <a:t> продолжает выполнение и записывает его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dirty="0"/>
              <a:t>. </a:t>
            </a:r>
          </a:p>
          <a:p>
            <a:r>
              <a:rPr lang="ru-RU" dirty="0"/>
              <a:t>То же самое происходит со вторым вызовом.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Обратите внимание, как выглядит код.</a:t>
            </a:r>
          </a:p>
          <a:p>
            <a:r>
              <a:rPr lang="ru-RU" dirty="0"/>
              <a:t>Он написан как обычный последовательный: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...;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...;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v1 + v2;</a:t>
            </a:r>
          </a:p>
          <a:p>
            <a:endParaRPr lang="en-US" dirty="0"/>
          </a:p>
          <a:p>
            <a:r>
              <a:rPr lang="ru-RU" dirty="0"/>
              <a:t>Но при этом: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поток может не блокироваться;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выполнение может «</a:t>
            </a:r>
            <a:r>
              <a:rPr lang="ru-RU" dirty="0" err="1"/>
              <a:t>поставиться</a:t>
            </a:r>
            <a:r>
              <a:rPr lang="ru-RU" dirty="0"/>
              <a:t> на паузу»;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продолжиться позже. </a:t>
            </a:r>
          </a:p>
          <a:p>
            <a:endParaRPr lang="ru-RU" dirty="0"/>
          </a:p>
          <a:p>
            <a:r>
              <a:rPr lang="ru-RU" dirty="0"/>
              <a:t>Ключевая идея: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позволяет писать асинхронный код так, как будто он синхронный.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И очень важно не перепутать: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</a:t>
            </a:r>
            <a:r>
              <a:rPr lang="ru-RU" b="1" dirty="0"/>
              <a:t>не создаёт поток и не делает параллелизм сам по себе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Он только говорит: «если результат ещё не готов — приостановись и продолжи потом».</a:t>
            </a:r>
          </a:p>
          <a:p>
            <a:endParaRPr lang="en-US" dirty="0"/>
          </a:p>
          <a:p>
            <a:r>
              <a:rPr lang="ru-RU" dirty="0"/>
              <a:t>А кто и когда возобновит </a:t>
            </a:r>
            <a:r>
              <a:rPr lang="ru-RU" dirty="0" err="1"/>
              <a:t>корутину</a:t>
            </a:r>
            <a:r>
              <a:rPr lang="ru-RU" dirty="0"/>
              <a:t> — зависит от конкретной реализации (например, от библиотеки или планировщика).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41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собраны три ключевых оператора </a:t>
            </a:r>
            <a:r>
              <a:rPr lang="ru-RU" dirty="0" err="1"/>
              <a:t>корутин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— это завершение </a:t>
            </a:r>
            <a:r>
              <a:rPr lang="ru-RU" dirty="0" err="1"/>
              <a:t>корутины</a:t>
            </a:r>
            <a:r>
              <a:rPr lang="ru-RU" dirty="0"/>
              <a:t>. Работает почти как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— возвращает значение и приостанавливает выполнение. Используется в генераторах и ленивых вычислениях.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— приостанавливает </a:t>
            </a:r>
            <a:r>
              <a:rPr lang="ru-RU" dirty="0" err="1"/>
              <a:t>корутину</a:t>
            </a:r>
            <a:r>
              <a:rPr lang="ru-RU" dirty="0"/>
              <a:t> до готовности результата. Это основной инструмент для асинхронного кода.</a:t>
            </a:r>
          </a:p>
          <a:p>
            <a:endParaRPr lang="en-US" dirty="0"/>
          </a:p>
          <a:p>
            <a:r>
              <a:rPr lang="ru-RU" dirty="0"/>
              <a:t>Если упростить: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— закончили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— отдали значение и остановились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— подождали и продолжили </a:t>
            </a:r>
          </a:p>
          <a:p>
            <a:endParaRPr lang="ru-RU" dirty="0"/>
          </a:p>
          <a:p>
            <a:r>
              <a:rPr lang="ru-RU" dirty="0"/>
              <a:t>Эти три оператора покрывают большинство сценариев использования </a:t>
            </a:r>
            <a:r>
              <a:rPr lang="ru-RU" dirty="0" err="1"/>
              <a:t>корутин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04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810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смотрели на </a:t>
            </a:r>
            <a:r>
              <a:rPr lang="ru-RU" dirty="0" err="1"/>
              <a:t>корутины</a:t>
            </a:r>
            <a:r>
              <a:rPr lang="ru-RU" dirty="0"/>
              <a:t> как пользователи: как писать генераторы, как ожидать результат, как читать асинхронный код.</a:t>
            </a:r>
          </a:p>
          <a:p>
            <a:r>
              <a:rPr lang="ru-RU" dirty="0"/>
              <a:t>Теперь пора посмотреть, что нужно, чтобы такая функция вообще стала корректной </a:t>
            </a:r>
            <a:r>
              <a:rPr lang="ru-RU" dirty="0" err="1"/>
              <a:t>корутиной</a:t>
            </a:r>
            <a:r>
              <a:rPr lang="ru-RU" dirty="0"/>
              <a:t> в C++.</a:t>
            </a:r>
          </a:p>
          <a:p>
            <a:endParaRPr lang="ru-RU" dirty="0"/>
          </a:p>
          <a:p>
            <a:r>
              <a:rPr lang="ru-RU" dirty="0"/>
              <a:t>Оказывается, одного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недостаточно. Компилятору нужен возвращаемый тип, который объяснит, как создать </a:t>
            </a:r>
            <a:r>
              <a:rPr lang="ru-RU" dirty="0" err="1"/>
              <a:t>корутину</a:t>
            </a:r>
            <a:r>
              <a:rPr lang="ru-RU" dirty="0"/>
              <a:t>, где хранить результат, как её приостанавливать и как потом возобновлять.</a:t>
            </a:r>
          </a:p>
          <a:p>
            <a:endParaRPr lang="ru-RU" dirty="0"/>
          </a:p>
          <a:p>
            <a:r>
              <a:rPr lang="ru-RU" dirty="0"/>
              <a:t>Именно поэтому дальше мы напишем свой минимальный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. Не потому что в реальном коде всегда нужно писать такой класс вручную, а чтобы понять механику, на которой построены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и асинхронные библиотеки.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58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Попробуем написать простейшую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Мы объявили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 и внутри функции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{}</a:t>
            </a:r>
            <a:r>
              <a:rPr lang="ru-RU" dirty="0"/>
              <a:t> — это специальный объект, который </a:t>
            </a:r>
            <a:r>
              <a:rPr lang="ru-RU" b="1" dirty="0"/>
              <a:t>всегда приостанавливает </a:t>
            </a:r>
            <a:r>
              <a:rPr lang="ru-RU" b="1" dirty="0" err="1"/>
              <a:t>корутину</a:t>
            </a:r>
            <a:r>
              <a:rPr lang="ru-RU" b="1" dirty="0"/>
              <a:t> в этой точке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при компиляции получаем ошибку. Почему?</a:t>
            </a:r>
          </a:p>
          <a:p>
            <a:r>
              <a:rPr lang="ru-RU" dirty="0"/>
              <a:t>Потому что компилятор понял, что это </a:t>
            </a:r>
            <a:r>
              <a:rPr lang="ru-RU" dirty="0" err="1"/>
              <a:t>корутина</a:t>
            </a:r>
            <a:r>
              <a:rPr lang="ru-RU" dirty="0"/>
              <a:t>, но не знает, </a:t>
            </a:r>
            <a:r>
              <a:rPr lang="ru-RU" b="1" dirty="0"/>
              <a:t>как её реализовать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C++ этого недостаточно — возвращаемый тип должен предоставить специальный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, который описывает поведение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Сейчас его нет, поэтому компилятор не может продолжить.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348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получили ошибку, что компилятор не может найти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 Чтобы понять, что происходит, нужно разобраться, что это вообще такое.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— это специальный объект, который создаётся для каждой </a:t>
            </a:r>
            <a:r>
              <a:rPr lang="ru-RU" dirty="0" err="1"/>
              <a:t>корутины</a:t>
            </a:r>
            <a:r>
              <a:rPr lang="ru-RU" dirty="0"/>
              <a:t> и управляет её поведением.</a:t>
            </a:r>
          </a:p>
          <a:p>
            <a:endParaRPr lang="ru-RU" dirty="0"/>
          </a:p>
          <a:p>
            <a:r>
              <a:rPr lang="ru-RU" dirty="0"/>
              <a:t>Через него проходит всё: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передаёт результат,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отдаёт значения,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обрабатываются исключения,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управляется приостановка и возобновление. </a:t>
            </a:r>
          </a:p>
          <a:p>
            <a:endParaRPr lang="ru-RU" dirty="0"/>
          </a:p>
          <a:p>
            <a:r>
              <a:rPr lang="ru-RU" dirty="0"/>
              <a:t>То есть </a:t>
            </a:r>
            <a:r>
              <a:rPr lang="ru-RU" dirty="0" err="1"/>
              <a:t>корутина</a:t>
            </a:r>
            <a:r>
              <a:rPr lang="ru-RU" dirty="0"/>
              <a:t> — это не просто функция. У неё есть «внутренний объект», который отвечает за всю механику.</a:t>
            </a:r>
          </a:p>
          <a:p>
            <a:r>
              <a:rPr lang="ru-RU" dirty="0"/>
              <a:t>Но тогда возникает логичный вопрос: откуда компилятор берёт этот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?</a:t>
            </a:r>
          </a:p>
          <a:p>
            <a:r>
              <a:rPr lang="ru-RU" dirty="0"/>
              <a:t>Если он не может его найти — как в нашем примере — он просто не знает, как построить </a:t>
            </a:r>
            <a:r>
              <a:rPr lang="ru-RU" dirty="0" err="1"/>
              <a:t>корутину</a:t>
            </a:r>
            <a:r>
              <a:rPr lang="ru-RU" dirty="0"/>
              <a:t>, и выдаёт ошибку.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94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есть два важных момента, которые часто упускают.</a:t>
            </a:r>
          </a:p>
          <a:p>
            <a:r>
              <a:rPr lang="ru-RU" dirty="0"/>
              <a:t>Первый — как компилятор вообще понимает, что перед ним </a:t>
            </a:r>
            <a:r>
              <a:rPr lang="ru-RU" dirty="0" err="1"/>
              <a:t>корутина</a:t>
            </a:r>
            <a:r>
              <a:rPr lang="ru-RU" dirty="0"/>
              <a:t>.</a:t>
            </a:r>
          </a:p>
          <a:p>
            <a:r>
              <a:rPr lang="ru-RU" dirty="0"/>
              <a:t>Он узнаёт это только при анализе тела функции — когда видит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этом снаружи функция никак не отличается от обычной.</a:t>
            </a:r>
            <a:br>
              <a:rPr lang="ru-RU" dirty="0"/>
            </a:br>
            <a:r>
              <a:rPr lang="ru-RU" dirty="0"/>
              <a:t>Вызывающий код не знает, что это </a:t>
            </a:r>
            <a:r>
              <a:rPr lang="ru-RU" dirty="0" err="1"/>
              <a:t>корутина</a:t>
            </a:r>
            <a:r>
              <a:rPr lang="ru-RU" dirty="0"/>
              <a:t> — он просто вызывает функцию и получает возвращаемый объект.</a:t>
            </a:r>
          </a:p>
          <a:p>
            <a:endParaRPr lang="ru-RU" dirty="0"/>
          </a:p>
          <a:p>
            <a:r>
              <a:rPr lang="ru-RU" dirty="0"/>
              <a:t>Теперь второй момент — как находится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</a:t>
            </a:r>
          </a:p>
          <a:p>
            <a:r>
              <a:rPr lang="ru-RU" dirty="0"/>
              <a:t>Когда компилятор понял, что это </a:t>
            </a:r>
            <a:r>
              <a:rPr lang="ru-RU" dirty="0" err="1"/>
              <a:t>корутина</a:t>
            </a:r>
            <a:r>
              <a:rPr lang="ru-RU" dirty="0"/>
              <a:t>, он должен определить, какой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использовать.</a:t>
            </a:r>
          </a:p>
          <a:p>
            <a:r>
              <a:rPr lang="ru-RU" dirty="0"/>
              <a:t>Для этого он обращается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coroutine_traits</a:t>
            </a:r>
            <a:r>
              <a:rPr lang="ru-RU" dirty="0"/>
              <a:t> и передаёт туда: возвращаемый тип функции —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ru-RU" dirty="0"/>
              <a:t>, и типы параметров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  <a:r>
              <a:rPr lang="ru-RU" dirty="0"/>
              <a:t>. </a:t>
            </a:r>
          </a:p>
          <a:p>
            <a:r>
              <a:rPr lang="ru-RU" dirty="0"/>
              <a:t>Почему передаются аргументы — мы сейчас не будем углубляться, но в общем случае это позволяет настраивать поведение </a:t>
            </a:r>
            <a:r>
              <a:rPr lang="ru-RU" dirty="0" err="1"/>
              <a:t>корутины</a:t>
            </a:r>
            <a:r>
              <a:rPr lang="ru-RU" dirty="0"/>
              <a:t> в зависимости от сигнатуры функции.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 большинстве практических случаев всё просто: компилятор ищет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R::promise_type</a:t>
            </a:r>
            <a:r>
              <a:rPr lang="ru-RU" dirty="0"/>
              <a:t>, то есть вложенный тип в возвращаемом объекте.</a:t>
            </a:r>
          </a:p>
          <a:p>
            <a:r>
              <a:rPr lang="ru-RU" dirty="0"/>
              <a:t>На слайде приведена упрощённая версия того, как это устроено внутри стандартной библиотеки.</a:t>
            </a:r>
          </a:p>
          <a:p>
            <a:endParaRPr lang="ru-RU" dirty="0"/>
          </a:p>
          <a:p>
            <a:r>
              <a:rPr lang="ru-RU" dirty="0"/>
              <a:t>Ключевая мысль: </a:t>
            </a:r>
            <a:r>
              <a:rPr lang="ru-RU" dirty="0" err="1"/>
              <a:t>Корутина</a:t>
            </a:r>
            <a:r>
              <a:rPr lang="ru-RU" dirty="0"/>
              <a:t> в C++ определяется не только ключевыми словами, но и возвращаемым типом, который обязан предоставить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90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наконец добавим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и посмотрим, что в нём должно быть.</a:t>
            </a:r>
          </a:p>
          <a:p>
            <a:r>
              <a:rPr lang="ru-RU" dirty="0"/>
              <a:t>Мы объявляем его как вложенный тип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. Это именно то, что ожидает компилятор.</a:t>
            </a:r>
          </a:p>
          <a:p>
            <a:endParaRPr lang="ru-RU" dirty="0"/>
          </a:p>
          <a:p>
            <a:r>
              <a:rPr lang="ru-RU" dirty="0"/>
              <a:t>Дальше — методы.</a:t>
            </a:r>
          </a:p>
          <a:p>
            <a:r>
              <a:rPr lang="ru-RU" dirty="0"/>
              <a:t>Первый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get_return_object</a:t>
            </a:r>
            <a:r>
              <a:rPr lang="ru-RU" dirty="0"/>
              <a:t>.</a:t>
            </a:r>
          </a:p>
          <a:p>
            <a:r>
              <a:rPr lang="ru-RU" dirty="0"/>
              <a:t>Он создаёт объект, который будет возвращён из </a:t>
            </a:r>
            <a:r>
              <a:rPr lang="ru-RU" dirty="0" err="1"/>
              <a:t>корутины</a:t>
            </a:r>
            <a:r>
              <a:rPr lang="ru-RU" dirty="0"/>
              <a:t> наружу.</a:t>
            </a:r>
            <a:br>
              <a:rPr lang="ru-RU" dirty="0"/>
            </a:br>
            <a:r>
              <a:rPr lang="ru-RU" dirty="0"/>
              <a:t>То есть именно здесь связывается </a:t>
            </a:r>
            <a:r>
              <a:rPr lang="ru-RU" dirty="0" err="1"/>
              <a:t>корутина</a:t>
            </a:r>
            <a:r>
              <a:rPr lang="ru-RU" dirty="0"/>
              <a:t> и её возвращаемое значение.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— вызывается при входе в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/>
              <a:t>В нашем случае мы возвращаем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suspend_never</a:t>
            </a:r>
            <a:r>
              <a:rPr lang="ru-RU" dirty="0"/>
              <a:t>, это означает: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сразу начинает выполняться</a:t>
            </a:r>
            <a:r>
              <a:rPr lang="ru-RU" dirty="0"/>
              <a:t>, без начальной остановки.</a:t>
            </a:r>
            <a:br>
              <a:rPr lang="ru-RU" dirty="0"/>
            </a:b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 — вызывается при завершении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Мы снова возвращаем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suspend_never</a:t>
            </a:r>
            <a:r>
              <a:rPr lang="ru-RU" dirty="0"/>
              <a:t>, то есть: после завершения </a:t>
            </a:r>
            <a:r>
              <a:rPr lang="ru-RU" dirty="0" err="1"/>
              <a:t>корутина</a:t>
            </a:r>
            <a:r>
              <a:rPr lang="ru-RU" dirty="0"/>
              <a:t> не приостанавливается, а сразу завершает выполнение.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return_void</a:t>
            </a:r>
            <a:r>
              <a:rPr lang="ru-RU" dirty="0"/>
              <a:t> — вызывается, когда </a:t>
            </a:r>
            <a:r>
              <a:rPr lang="ru-RU" dirty="0" err="1"/>
              <a:t>корутина</a:t>
            </a:r>
            <a:r>
              <a:rPr lang="ru-RU" dirty="0"/>
              <a:t>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без значения.</a:t>
            </a:r>
          </a:p>
          <a:p>
            <a:r>
              <a:rPr lang="ru-RU" dirty="0"/>
              <a:t>Пока мы ничего не делаем — просто заглушка.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unhandled_exception</a:t>
            </a:r>
            <a:r>
              <a:rPr lang="ru-RU" dirty="0"/>
              <a:t> — вызывается, если внутри </a:t>
            </a:r>
            <a:r>
              <a:rPr lang="ru-RU" dirty="0" err="1"/>
              <a:t>корутины</a:t>
            </a:r>
            <a:r>
              <a:rPr lang="ru-RU" dirty="0"/>
              <a:t> произошло исключение.</a:t>
            </a:r>
          </a:p>
          <a:p>
            <a:r>
              <a:rPr lang="ru-RU" dirty="0"/>
              <a:t>Здесь мы тоже пока ничего не делаем, но в реальном коде здесь обычно сохраняют или пробрасывают исключение.</a:t>
            </a:r>
          </a:p>
          <a:p>
            <a:endParaRPr lang="ru-RU" dirty="0"/>
          </a:p>
          <a:p>
            <a:r>
              <a:rPr lang="ru-RU" dirty="0"/>
              <a:t>Важно:</a:t>
            </a:r>
          </a:p>
          <a:p>
            <a:r>
              <a:rPr lang="ru-RU" dirty="0"/>
              <a:t>Это минимальный набор методов, который нужен компилятору, чтобы вообще «собрать»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/>
              <a:t>Пока здесь почти нет логики — мы просто даём компилятору структуру, с которой он может работать.</a:t>
            </a:r>
          </a:p>
          <a:p>
            <a:r>
              <a:rPr lang="ru-RU" dirty="0"/>
              <a:t>Дальше мы будем постепенно добавлять поведение и смотреть, как оно влияет на выполнение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13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посмотрим, что происходит при вызове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ResumableFunc</a:t>
            </a:r>
            <a:r>
              <a:rPr lang="ru-RU" dirty="0"/>
              <a:t>. Внутри печатается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Enter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ResumableFunc</a:t>
            </a:r>
            <a:r>
              <a:rPr lang="ru-RU" dirty="0"/>
              <a:t>, после чего выполняется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{}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означает: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приостанавливается в этой точке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управление возвращается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и мы видим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ResumableFunc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внимание: строка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ResumableFunc</a:t>
            </a:r>
            <a:r>
              <a:rPr lang="ru-RU" dirty="0"/>
              <a:t> </a:t>
            </a:r>
            <a:r>
              <a:rPr lang="ru-RU" b="1" dirty="0"/>
              <a:t>не выводится</a:t>
            </a:r>
            <a:r>
              <a:rPr lang="ru-RU" dirty="0"/>
              <a:t>.</a:t>
            </a:r>
          </a:p>
          <a:p>
            <a:r>
              <a:rPr lang="ru-RU" dirty="0" err="1"/>
              <a:t>Корутина</a:t>
            </a:r>
            <a:r>
              <a:rPr lang="ru-RU" dirty="0"/>
              <a:t> не завершилась — она просто остановилась посередине.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958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меняем всего одну вещь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Мы возвращаем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, то есть говорим:</a:t>
            </a:r>
          </a:p>
          <a:p>
            <a:r>
              <a:rPr lang="ru-RU" dirty="0"/>
              <a:t>👉 «Приостановить </a:t>
            </a:r>
            <a:r>
              <a:rPr lang="ru-RU" dirty="0" err="1"/>
              <a:t>корутину</a:t>
            </a:r>
            <a:r>
              <a:rPr lang="ru-RU" dirty="0"/>
              <a:t> сразу при входе, ещё до выполнения тела».</a:t>
            </a:r>
          </a:p>
          <a:p>
            <a:r>
              <a:rPr lang="ru-RU" dirty="0"/>
              <a:t>В результате: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ResumableFunc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даже не начинает выполняться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сразу возвращаемся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</a:t>
            </a:r>
          </a:p>
          <a:p>
            <a:r>
              <a:rPr lang="ru-RU" dirty="0"/>
              <a:t>Поэтому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Enter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ResumableFunc</a:t>
            </a:r>
            <a:r>
              <a:rPr lang="ru-RU" dirty="0"/>
              <a:t> тоже не выводится.</a:t>
            </a:r>
          </a:p>
          <a:p>
            <a:endParaRPr lang="ru-RU" dirty="0"/>
          </a:p>
          <a:p>
            <a:r>
              <a:rPr lang="ru-RU" dirty="0"/>
              <a:t>👉 Ключевая идея этих двух примеров: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 — останавливает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  <a:r>
              <a:rPr lang="ru-RU" b="1" dirty="0"/>
              <a:t>внутри тела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— позволяет остановить её </a:t>
            </a:r>
            <a:r>
              <a:rPr lang="ru-RU" b="1" dirty="0"/>
              <a:t>ещё до начала выполнения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Это показывает, что </a:t>
            </a:r>
            <a:r>
              <a:rPr lang="ru-RU" dirty="0" err="1"/>
              <a:t>корутина</a:t>
            </a:r>
            <a:r>
              <a:rPr lang="ru-RU" dirty="0"/>
              <a:t> полностью управляется — мы можем точно контролировать, когда она начинает и где останавливается.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226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увидели, что </a:t>
            </a:r>
            <a:r>
              <a:rPr lang="ru-RU" dirty="0" err="1"/>
              <a:t>корутину</a:t>
            </a:r>
            <a:r>
              <a:rPr lang="ru-RU" dirty="0"/>
              <a:t> можно приостанавливать:</a:t>
            </a:r>
          </a:p>
          <a:p>
            <a:r>
              <a:rPr lang="ru-RU" dirty="0"/>
              <a:t>внутри тела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</a:t>
            </a:r>
          </a:p>
          <a:p>
            <a:r>
              <a:rPr lang="ru-RU" dirty="0"/>
              <a:t>или даже сразу при входе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</a:t>
            </a:r>
          </a:p>
          <a:p>
            <a:r>
              <a:rPr lang="ru-RU" dirty="0"/>
              <a:t>Но теперь возникает логичный вопрос.</a:t>
            </a:r>
          </a:p>
          <a:p>
            <a:r>
              <a:rPr lang="ru-RU" dirty="0" err="1"/>
              <a:t>Корутина</a:t>
            </a:r>
            <a:r>
              <a:rPr lang="ru-RU" dirty="0"/>
              <a:t> остановилась… и что дальше?</a:t>
            </a:r>
          </a:p>
          <a:p>
            <a:r>
              <a:rPr lang="ru-RU" dirty="0"/>
              <a:t>👉 Как её продолжить?</a:t>
            </a:r>
            <a:br>
              <a:rPr lang="ru-RU" dirty="0"/>
            </a:br>
            <a:r>
              <a:rPr lang="ru-RU" dirty="0"/>
              <a:t>👉 Как понять, что она уже завершилась?</a:t>
            </a:r>
            <a:br>
              <a:rPr lang="ru-RU" dirty="0"/>
            </a:br>
            <a:r>
              <a:rPr lang="ru-RU" dirty="0"/>
              <a:t>👉 Как освободить память, которую она занимает?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На данный момент у нас вообще нет способа с ней взаимодействовать.</a:t>
            </a:r>
          </a:p>
          <a:p>
            <a:r>
              <a:rPr lang="ru-RU" dirty="0"/>
              <a:t>Мы вызвали функцию — она вернула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 — и всё.</a:t>
            </a:r>
            <a:br>
              <a:rPr lang="ru-RU" dirty="0"/>
            </a:br>
            <a:r>
              <a:rPr lang="ru-RU" dirty="0"/>
              <a:t>Но внутри где-то «висит» приостановленная </a:t>
            </a:r>
            <a:r>
              <a:rPr lang="ru-RU" dirty="0" err="1"/>
              <a:t>корутина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Значит, нам нужен механизм, который позволит: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возобновлять выполнение,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проверять состояние,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управлять жизненным циклом. </a:t>
            </a:r>
          </a:p>
          <a:p>
            <a:r>
              <a:rPr lang="ru-RU" dirty="0"/>
              <a:t>И в C++ такой механизм есть. Он называется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509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809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поняли, что </a:t>
            </a:r>
            <a:r>
              <a:rPr lang="ru-RU" dirty="0" err="1"/>
              <a:t>корутину</a:t>
            </a:r>
            <a:r>
              <a:rPr lang="ru-RU" dirty="0"/>
              <a:t> можно приостановить. Теперь нужен способ ею управлять.</a:t>
            </a:r>
          </a:p>
          <a:p>
            <a:endParaRPr lang="ru-RU" dirty="0"/>
          </a:p>
          <a:p>
            <a:r>
              <a:rPr lang="ru-RU" dirty="0"/>
              <a:t>Для этого в C++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 Его удобно воспринимать как указатель на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/>
              <a:t>Через него мы можем: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возобновить выполнение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проверить, закончилась ли </a:t>
            </a:r>
            <a:r>
              <a:rPr lang="ru-RU" dirty="0" err="1"/>
              <a:t>корутина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освободить ресурсы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Также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можно получить доступ к внутреннему объекту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понимать, что это низкоуровневый механизм. В реальном коде вы редко работаете с ним напрямую — обычно он спрятан 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 и других абстракций.</a:t>
            </a:r>
          </a:p>
          <a:p>
            <a:endParaRPr lang="ru-RU" dirty="0"/>
          </a:p>
          <a:p>
            <a:r>
              <a:rPr lang="ru-RU" dirty="0"/>
              <a:t>Но чтобы понять, как всё работает, мы сейчас будем использовать его напрямую.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99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нам нужно связать </a:t>
            </a:r>
            <a:r>
              <a:rPr lang="ru-RU" dirty="0" err="1"/>
              <a:t>корутину</a:t>
            </a:r>
            <a:r>
              <a:rPr lang="ru-RU" dirty="0"/>
              <a:t> и объект, который возвращается наружу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.</a:t>
            </a:r>
          </a:p>
          <a:p>
            <a:r>
              <a:rPr lang="ru-RU" dirty="0"/>
              <a:t>Мы добавляем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внутрь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Ключевой момент —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get_return_object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CoroHandle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from_promise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Здесь происходит интересная вещь.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нас есть ссылка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, но внутри него </a:t>
            </a:r>
            <a:r>
              <a:rPr lang="ru-RU" b="1" dirty="0"/>
              <a:t>не хранится указатель на </a:t>
            </a:r>
            <a:r>
              <a:rPr lang="ru-RU" b="1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/>
              <a:t>Тем не менее,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from_promise</a:t>
            </a:r>
            <a:r>
              <a:rPr lang="ru-RU" dirty="0"/>
              <a:t> умеет получить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Почему это возможно?</a:t>
            </a:r>
            <a:r>
              <a:rPr lang="en-US" dirty="0"/>
              <a:t> </a:t>
            </a:r>
            <a:r>
              <a:rPr lang="ru-RU" dirty="0"/>
              <a:t>Потому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является частью </a:t>
            </a:r>
            <a:r>
              <a:rPr lang="ru-RU" b="1" dirty="0" err="1"/>
              <a:t>coroutine</a:t>
            </a:r>
            <a:r>
              <a:rPr lang="ru-RU" b="1" dirty="0"/>
              <a:t> </a:t>
            </a:r>
            <a:r>
              <a:rPr lang="ru-RU" b="1" dirty="0" err="1"/>
              <a:t>state</a:t>
            </a:r>
            <a:r>
              <a:rPr lang="ru-RU" dirty="0"/>
              <a:t> — объекта, который хранит всё состояние </a:t>
            </a:r>
            <a:r>
              <a:rPr lang="ru-RU" dirty="0" err="1"/>
              <a:t>корутины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параметры,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локальные переменные,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точку остановки,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сам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указывает на этот </a:t>
            </a:r>
            <a:r>
              <a:rPr lang="ru-RU" dirty="0" err="1"/>
              <a:t>state</a:t>
            </a:r>
            <a:r>
              <a:rPr lang="ru-RU" dirty="0"/>
              <a:t> целиком,</a:t>
            </a:r>
            <a:r>
              <a:rPr lang="en-US" dirty="0"/>
              <a:t> </a:t>
            </a:r>
            <a:r>
              <a:rPr lang="ru-RU" dirty="0"/>
              <a:t>и стандартная библиотека знает, как по адресу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вычислить адрес всей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Теперь очень важный момент — посмотрите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</a:t>
            </a:r>
          </a:p>
          <a:p>
            <a:r>
              <a:rPr lang="ru-RU" dirty="0"/>
              <a:t>Мы возвращаем: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ru-RU" dirty="0"/>
              <a:t>Это означает: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—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сразу приостанавливается при входе</a:t>
            </a:r>
            <a:r>
              <a:rPr lang="en-US" b="1" dirty="0"/>
              <a:t> </a:t>
            </a:r>
            <a:r>
              <a:rPr lang="ru-RU" dirty="0"/>
              <a:t>→ тело функции не начнёт выполняться, пока мы явно не вызовем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 —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приостанавливается в конце</a:t>
            </a:r>
            <a:r>
              <a:rPr lang="en-US" b="1" dirty="0"/>
              <a:t>, </a:t>
            </a:r>
            <a:r>
              <a:rPr lang="ru-RU" dirty="0"/>
              <a:t>→ после завершения она не уничтожается автоматически</a:t>
            </a:r>
            <a:r>
              <a:rPr lang="en-US" dirty="0"/>
              <a:t> </a:t>
            </a:r>
            <a:r>
              <a:rPr lang="ru-RU" dirty="0"/>
              <a:t>→ мы можем ещё поработать с её состоянием и потом вручную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👉 В результате: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цикл.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мы создаём </a:t>
            </a:r>
            <a:r>
              <a:rPr lang="ru-RU" dirty="0" err="1"/>
              <a:t>корутину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получаем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 с </a:t>
            </a:r>
            <a:r>
              <a:rPr lang="ru-RU" dirty="0" err="1"/>
              <a:t>handle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теперь полностью контролируем её жизненный </a:t>
            </a:r>
            <a:br>
              <a:rPr lang="ru-RU" dirty="0"/>
            </a:br>
            <a:endParaRPr lang="ru-RU" dirty="0"/>
          </a:p>
          <a:p>
            <a:r>
              <a:rPr lang="ru-RU" dirty="0"/>
              <a:t>👉 Ключевая идея:</a:t>
            </a:r>
          </a:p>
          <a:p>
            <a:r>
              <a:rPr lang="ru-RU" dirty="0"/>
              <a:t>За счёт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 мы переводим </a:t>
            </a:r>
            <a:r>
              <a:rPr lang="ru-RU" dirty="0" err="1"/>
              <a:t>корутину</a:t>
            </a:r>
            <a:r>
              <a:rPr lang="ru-RU" dirty="0"/>
              <a:t> в </a:t>
            </a:r>
            <a:r>
              <a:rPr lang="ru-RU" b="1" dirty="0"/>
              <a:t>управляемый режим</a:t>
            </a:r>
            <a:r>
              <a:rPr lang="ru-RU" dirty="0"/>
              <a:t> —</a:t>
            </a:r>
            <a:r>
              <a:rPr lang="en-US" dirty="0"/>
              <a:t> </a:t>
            </a:r>
            <a:r>
              <a:rPr lang="ru-RU" dirty="0"/>
              <a:t>она не стартует сама и не завершается сама.</a:t>
            </a:r>
          </a:p>
          <a:p>
            <a:r>
              <a:rPr lang="ru-RU" dirty="0"/>
              <a:t>Всё управление теперь в наших руках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5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превращаем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 в полноценный объект, который управляет жизненным циклом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Внутри он хранит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— это и есть доступ к состоянию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 на конструктор: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CoroHandle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h). </a:t>
            </a:r>
            <a:r>
              <a:rPr lang="ru-RU" dirty="0"/>
              <a:t>Мы получаем </a:t>
            </a:r>
            <a:r>
              <a:rPr lang="ru-RU" dirty="0" err="1"/>
              <a:t>handle</a:t>
            </a:r>
            <a:r>
              <a:rPr lang="ru-RU" dirty="0"/>
              <a:t>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и сохраняем его — теперь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 «владеет»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Дальше важный момент — управление владением.</a:t>
            </a:r>
          </a:p>
          <a:p>
            <a:r>
              <a:rPr lang="ru-RU" dirty="0"/>
              <a:t>Мы </a:t>
            </a:r>
            <a:r>
              <a:rPr lang="ru-RU" b="1" dirty="0"/>
              <a:t>запрещаем копирование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&amp;)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Это потому что у нас уникальное владение. Если разрешить копирование — будет несколько объектов, которые попытаются уничтожить одну и ту же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Но при этом мы </a:t>
            </a:r>
            <a:r>
              <a:rPr lang="ru-RU" b="1" dirty="0"/>
              <a:t>разрешаем перемещение</a:t>
            </a:r>
            <a:r>
              <a:rPr lang="ru-RU" dirty="0"/>
              <a:t>.</a:t>
            </a:r>
          </a:p>
          <a:p>
            <a:r>
              <a:rPr lang="ru-RU" dirty="0"/>
              <a:t>В </a:t>
            </a:r>
            <a:r>
              <a:rPr lang="ru-RU" dirty="0" err="1"/>
              <a:t>move</a:t>
            </a:r>
            <a:r>
              <a:rPr lang="ru-RU" dirty="0"/>
              <a:t>-конструкторе и </a:t>
            </a:r>
            <a:r>
              <a:rPr lang="ru-RU" dirty="0" err="1"/>
              <a:t>move</a:t>
            </a:r>
            <a:r>
              <a:rPr lang="ru-RU" dirty="0"/>
              <a:t>-операторе присваивания мы: передаём </a:t>
            </a:r>
            <a:r>
              <a:rPr lang="ru-RU" dirty="0" err="1"/>
              <a:t>handle</a:t>
            </a:r>
            <a:r>
              <a:rPr lang="ru-RU" dirty="0"/>
              <a:t> новому объекту, а у старого обнуляем его.  Это ровно та же модель, что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деструкторе: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m_handle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m_handle.destroy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Здесь освобождаются ресурсы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посмотрим на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. Он проверяет, завершена ли </a:t>
            </a:r>
            <a:r>
              <a:rPr lang="ru-RU" dirty="0" err="1"/>
              <a:t>корутина</a:t>
            </a:r>
            <a:r>
              <a:rPr lang="ru-RU" dirty="0"/>
              <a:t>, и если нет —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r>
              <a:rPr lang="ru-RU" dirty="0"/>
              <a:t>То есть теперь у нас есть явное управление: мы сами решаем, когда продолжить выполнение.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Посмотрим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r>
              <a:rPr lang="ru-RU" dirty="0"/>
              <a:t>Мы вызываем </a:t>
            </a:r>
            <a:r>
              <a:rPr lang="ru-RU" dirty="0" err="1"/>
              <a:t>корутину</a:t>
            </a:r>
            <a:r>
              <a:rPr lang="ru-RU" dirty="0"/>
              <a:t> — она сразу приостанавливается и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. Дальше в цикле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, и </a:t>
            </a:r>
            <a:r>
              <a:rPr lang="ru-RU" dirty="0" err="1"/>
              <a:t>корутина</a:t>
            </a:r>
            <a:r>
              <a:rPr lang="ru-RU" dirty="0"/>
              <a:t> начинает выполняться.</a:t>
            </a:r>
          </a:p>
          <a:p>
            <a:endParaRPr lang="ru-RU" dirty="0"/>
          </a:p>
          <a:p>
            <a:r>
              <a:rPr lang="ru-RU" dirty="0"/>
              <a:t>Посмотрите на вывод: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мы вернулись из функции, так как </a:t>
            </a:r>
            <a:r>
              <a:rPr lang="ru-RU" dirty="0" err="1"/>
              <a:t>корутина</a:t>
            </a:r>
            <a:r>
              <a:rPr lang="ru-RU" dirty="0"/>
              <a:t> в </a:t>
            </a:r>
            <a:r>
              <a:rPr lang="en-US" dirty="0" err="1"/>
              <a:t>initial_suspend</a:t>
            </a:r>
            <a:r>
              <a:rPr lang="ru-RU" dirty="0"/>
              <a:t> вернул </a:t>
            </a:r>
            <a:r>
              <a:rPr lang="en-US" dirty="0" err="1"/>
              <a:t>suspend_always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потом при первом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началось выполнение,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</a:t>
            </a:r>
            <a:r>
              <a:rPr lang="ru-RU" dirty="0" err="1"/>
              <a:t>корутина</a:t>
            </a:r>
            <a:r>
              <a:rPr lang="ru-RU" dirty="0"/>
              <a:t> дошла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и снова приостановилась,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следующем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она завершилась. </a:t>
            </a:r>
          </a:p>
          <a:p>
            <a:endParaRPr lang="ru-RU" dirty="0"/>
          </a:p>
          <a:p>
            <a:r>
              <a:rPr lang="ru-RU" dirty="0"/>
              <a:t>Ключевая идея: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 — это обёртка с </a:t>
            </a:r>
            <a:r>
              <a:rPr lang="ru-RU" b="1" dirty="0"/>
              <a:t>уникальным владением </a:t>
            </a:r>
            <a:r>
              <a:rPr lang="ru-RU" b="1" dirty="0" err="1"/>
              <a:t>корутины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которая даёт нам полный контроль: запуск, продолжение и уничтожение.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252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55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теперь соберём всё вместе и посмотрим, что именно создаётся при вызове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Когда мы вызываем </a:t>
            </a:r>
            <a:r>
              <a:rPr lang="ru-RU" dirty="0" err="1"/>
              <a:t>корутину</a:t>
            </a:r>
            <a:r>
              <a:rPr lang="ru-RU" dirty="0"/>
              <a:t>, создаётся специальный объект — </a:t>
            </a:r>
            <a:r>
              <a:rPr lang="ru-RU" b="1" dirty="0" err="1"/>
              <a:t>coroutine</a:t>
            </a:r>
            <a:r>
              <a:rPr lang="ru-RU" b="1" dirty="0"/>
              <a:t> </a:t>
            </a:r>
            <a:r>
              <a:rPr lang="ru-RU" b="1" dirty="0" err="1"/>
              <a:t>state</a:t>
            </a:r>
            <a:r>
              <a:rPr lang="ru-RU" dirty="0"/>
              <a:t>, или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frame</a:t>
            </a:r>
            <a:r>
              <a:rPr lang="ru-RU" dirty="0"/>
              <a:t>.</a:t>
            </a:r>
          </a:p>
          <a:p>
            <a:r>
              <a:rPr lang="ru-RU" dirty="0"/>
              <a:t>Это ключевая сущность. Именно она хранит всё, что нужно для продолжения выполнения.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Внутри этого объекта есть несколько важных частей.</a:t>
            </a:r>
          </a:p>
          <a:p>
            <a:r>
              <a:rPr lang="ru-RU" dirty="0"/>
              <a:t>Первая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 Мы уже с ним работали. Через него </a:t>
            </a:r>
            <a:r>
              <a:rPr lang="ru-RU" dirty="0" err="1"/>
              <a:t>корутина</a:t>
            </a:r>
            <a:r>
              <a:rPr lang="ru-RU" dirty="0"/>
              <a:t> возвращает результат, обрабатывает исключения и в целом управляет своим поведением.</a:t>
            </a:r>
          </a:p>
          <a:p>
            <a:endParaRPr lang="ru-RU" dirty="0"/>
          </a:p>
          <a:p>
            <a:r>
              <a:rPr lang="ru-RU" dirty="0"/>
              <a:t>Вторая часть — это данные самой функции.</a:t>
            </a:r>
          </a:p>
          <a:p>
            <a:r>
              <a:rPr lang="ru-RU" dirty="0"/>
              <a:t>Сюда входят параметры и локальные переменные. Но важно: </a:t>
            </a:r>
            <a:r>
              <a:rPr lang="ru-RU" b="1" dirty="0"/>
              <a:t>не все переменные</a:t>
            </a:r>
            <a:r>
              <a:rPr lang="ru-RU" dirty="0"/>
              <a:t>, а только те, которые должны пережить точку приостановки. Именно поэтому </a:t>
            </a:r>
            <a:r>
              <a:rPr lang="ru-RU" dirty="0" err="1"/>
              <a:t>корутина</a:t>
            </a:r>
            <a:r>
              <a:rPr lang="ru-RU" dirty="0"/>
              <a:t> может «заморозиться» и потом продолжить выполнение — все данные сохранены.</a:t>
            </a:r>
          </a:p>
          <a:p>
            <a:endParaRPr lang="ru-RU" dirty="0"/>
          </a:p>
          <a:p>
            <a:r>
              <a:rPr lang="ru-RU" dirty="0"/>
              <a:t>Третья часть — это состояние выполнения.</a:t>
            </a:r>
          </a:p>
          <a:p>
            <a:r>
              <a:rPr lang="ru-RU" dirty="0"/>
              <a:t>Компилятор запоминает, где именно </a:t>
            </a:r>
            <a:r>
              <a:rPr lang="ru-RU" dirty="0" err="1"/>
              <a:t>корутина</a:t>
            </a:r>
            <a:r>
              <a:rPr lang="ru-RU" dirty="0"/>
              <a:t> остановилась, чтобы потом 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продолжить выполнение с нужного места. По сути, это реализация </a:t>
            </a:r>
            <a:r>
              <a:rPr lang="ru-RU" dirty="0" err="1"/>
              <a:t>state</a:t>
            </a:r>
            <a:r>
              <a:rPr lang="ru-RU" dirty="0"/>
              <a:t> </a:t>
            </a:r>
            <a:r>
              <a:rPr lang="ru-RU" dirty="0" err="1"/>
              <a:t>machine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важный момент про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 Он указывает на весь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целиком. При этом он </a:t>
            </a:r>
            <a:r>
              <a:rPr lang="ru-RU" b="1" dirty="0"/>
              <a:t>не владеет памятью</a:t>
            </a:r>
            <a:r>
              <a:rPr lang="ru-RU" dirty="0"/>
              <a:t> — это просто способ получить доступ и управлять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Ключевая идея:</a:t>
            </a:r>
          </a:p>
          <a:p>
            <a:r>
              <a:rPr lang="ru-RU" dirty="0" err="1"/>
              <a:t>Корутина</a:t>
            </a:r>
            <a:r>
              <a:rPr lang="ru-RU" dirty="0"/>
              <a:t> — это не просто функция. Это объект состояния + механизм управления через </a:t>
            </a:r>
            <a:r>
              <a:rPr lang="ru-RU" dirty="0" err="1"/>
              <a:t>handle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655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пошагово разберём, что происходит при работе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Сначала мы входим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r>
              <a:rPr lang="ru-RU" dirty="0"/>
              <a:t>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вызывает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</a:t>
            </a:r>
            <a:r>
              <a:rPr lang="ru-RU" dirty="0"/>
              <a:t>.</a:t>
            </a:r>
          </a:p>
          <a:p>
            <a:r>
              <a:rPr lang="ru-RU" dirty="0"/>
              <a:t>На этом этапе всё выглядит как обычный вызов функции: создаётся стековый фрейм, в нём появляются параметры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arg1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arg2</a:t>
            </a:r>
            <a:r>
              <a:rPr lang="ru-RU" dirty="0"/>
              <a:t> и локальная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дальше происходит ключевой момент.</a:t>
            </a:r>
          </a:p>
          <a:p>
            <a:r>
              <a:rPr lang="ru-RU" dirty="0"/>
              <a:t>Так как это </a:t>
            </a:r>
            <a:r>
              <a:rPr lang="ru-RU" dirty="0" err="1"/>
              <a:t>корутина</a:t>
            </a:r>
            <a:r>
              <a:rPr lang="ru-RU" dirty="0"/>
              <a:t>,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, и он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.</a:t>
            </a:r>
          </a:p>
          <a:p>
            <a:r>
              <a:rPr lang="ru-RU" dirty="0"/>
              <a:t>Это означает: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приостанавливается сразу при входе</a:t>
            </a:r>
            <a:r>
              <a:rPr lang="ru-RU" dirty="0"/>
              <a:t>, не выполняя тело функции.</a:t>
            </a:r>
          </a:p>
          <a:p>
            <a:endParaRPr lang="ru-RU" dirty="0"/>
          </a:p>
          <a:p>
            <a:r>
              <a:rPr lang="ru-RU" dirty="0"/>
              <a:t>Теперь важно: перед тем как вернуть управление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компилятор сохраняет состояние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👉 Все данные переносятся в </a:t>
            </a:r>
            <a:r>
              <a:rPr lang="ru-RU" b="1" dirty="0" err="1"/>
              <a:t>coroutine</a:t>
            </a:r>
            <a:r>
              <a:rPr lang="ru-RU" b="1" dirty="0"/>
              <a:t> </a:t>
            </a:r>
            <a:r>
              <a:rPr lang="ru-RU" b="1" dirty="0" err="1"/>
              <a:t>state</a:t>
            </a:r>
            <a:r>
              <a:rPr lang="ru-RU" b="1" dirty="0"/>
              <a:t> в куче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параметры,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локальные переменные,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точка, где нужно продолжить выполнение. </a:t>
            </a:r>
          </a:p>
          <a:p>
            <a:r>
              <a:rPr lang="ru-RU" dirty="0"/>
              <a:t>Там же создаётся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который будет хранить результат.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Дальше вызывается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get_return_object</a:t>
            </a:r>
            <a:r>
              <a:rPr lang="ru-RU" dirty="0"/>
              <a:t>.</a:t>
            </a:r>
          </a:p>
          <a:p>
            <a:r>
              <a:rPr lang="ru-RU" dirty="0"/>
              <a:t>Он создаёт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и передаёт ему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, связанный с этой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выполнение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</a:t>
            </a:r>
            <a:r>
              <a:rPr lang="ru-RU" dirty="0"/>
              <a:t> заканчивается, и её стековый фрейм уничтожается.</a:t>
            </a:r>
          </a:p>
          <a:p>
            <a:r>
              <a:rPr lang="ru-RU" dirty="0"/>
              <a:t>Но </a:t>
            </a:r>
            <a:r>
              <a:rPr lang="ru-RU" dirty="0" err="1"/>
              <a:t>корутина</a:t>
            </a:r>
            <a:r>
              <a:rPr lang="ru-RU" dirty="0"/>
              <a:t> не исчезает — её состояние теперь живёт в куче.</a:t>
            </a:r>
          </a:p>
          <a:p>
            <a:r>
              <a:rPr lang="ru-RU" dirty="0"/>
              <a:t>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у нас остаётся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, внутри которого хранится </a:t>
            </a:r>
            <a:r>
              <a:rPr lang="ru-RU" dirty="0" err="1"/>
              <a:t>handle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Теперь вызываем: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task.Resume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передаёт управление обратно в </a:t>
            </a:r>
            <a:r>
              <a:rPr lang="ru-RU" dirty="0" err="1"/>
              <a:t>корутину</a:t>
            </a:r>
            <a:r>
              <a:rPr lang="ru-RU" dirty="0"/>
              <a:t> — ровно в ту точку, где она была приостановлена.</a:t>
            </a:r>
          </a:p>
          <a:p>
            <a:endParaRPr lang="ru-RU" dirty="0"/>
          </a:p>
          <a:p>
            <a:r>
              <a:rPr lang="ru-RU" dirty="0"/>
              <a:t>Но теперь важный момент:</a:t>
            </a:r>
          </a:p>
          <a:p>
            <a:r>
              <a:rPr lang="ru-RU" dirty="0"/>
              <a:t>👉 </a:t>
            </a:r>
            <a:r>
              <a:rPr lang="ru-RU" dirty="0" err="1"/>
              <a:t>корутина</a:t>
            </a:r>
            <a:r>
              <a:rPr lang="ru-RU" dirty="0"/>
              <a:t> работает уже </a:t>
            </a:r>
            <a:r>
              <a:rPr lang="ru-RU" b="1" dirty="0"/>
              <a:t>не со стеком</a:t>
            </a:r>
            <a:r>
              <a:rPr lang="ru-RU" dirty="0"/>
              <a:t>, а с данными, сохранёнными в куче.</a:t>
            </a:r>
          </a:p>
          <a:p>
            <a:endParaRPr lang="ru-RU" dirty="0"/>
          </a:p>
          <a:p>
            <a:r>
              <a:rPr lang="ru-RU" dirty="0"/>
              <a:t>Она продолжает выполнение, вычисляет результат и доходит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.</a:t>
            </a:r>
          </a:p>
          <a:p>
            <a:r>
              <a:rPr lang="ru-RU" dirty="0"/>
              <a:t>В этот момент она передаёт значение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который его сохраняет.</a:t>
            </a:r>
          </a:p>
          <a:p>
            <a:endParaRPr lang="ru-RU" dirty="0"/>
          </a:p>
          <a:p>
            <a:r>
              <a:rPr lang="ru-RU" dirty="0"/>
              <a:t>Затем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, и он тоже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. Это означает: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приостанавливается в конце</a:t>
            </a:r>
            <a:r>
              <a:rPr lang="ru-RU" dirty="0"/>
              <a:t>, а не уничтожается сразу. Управление возвращается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мы можем получить результат: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task.GetResult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dirty="0"/>
              <a:t>Task извлекает значение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и мы его выводим.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последний этап — разрушение.</a:t>
            </a:r>
          </a:p>
          <a:p>
            <a:r>
              <a:rPr lang="ru-RU" dirty="0"/>
              <a:t>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уничтожается, он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</a:p>
          <a:p>
            <a:r>
              <a:rPr lang="ru-RU" dirty="0"/>
              <a:t>Это приводит к уничтожению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и всего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в куче. </a:t>
            </a:r>
          </a:p>
          <a:p>
            <a:br>
              <a:rPr lang="ru-RU" dirty="0"/>
            </a:br>
            <a:r>
              <a:rPr lang="ru-RU" b="1" dirty="0"/>
              <a:t>Ключевая мысль:</a:t>
            </a:r>
          </a:p>
          <a:p>
            <a:r>
              <a:rPr lang="ru-RU" dirty="0" err="1"/>
              <a:t>Корутина</a:t>
            </a:r>
            <a:r>
              <a:rPr lang="ru-RU" dirty="0"/>
              <a:t> живёт дольше, чем стек функции.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вызов → состояние в куче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результат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И всё управление этим процессом идёт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706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 на более «практическую» реализацию — класс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.</a:t>
            </a:r>
          </a:p>
          <a:p>
            <a:r>
              <a:rPr lang="ru-RU" dirty="0"/>
              <a:t>Это уже похоже на то, что используется в реальных библиотеках.</a:t>
            </a:r>
          </a:p>
          <a:p>
            <a:endParaRPr lang="ru-RU" dirty="0"/>
          </a:p>
          <a:p>
            <a:r>
              <a:rPr lang="ru-RU" dirty="0"/>
              <a:t>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у нас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</a:t>
            </a:r>
          </a:p>
          <a:p>
            <a:r>
              <a:rPr lang="ru-RU" dirty="0"/>
              <a:t>Он хранит результат — в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dirty="0"/>
              <a:t>.</a:t>
            </a:r>
          </a:p>
          <a:p>
            <a:r>
              <a:rPr lang="ru-RU" dirty="0"/>
              <a:t>Когда </a:t>
            </a:r>
            <a:r>
              <a:rPr lang="ru-RU" dirty="0" err="1"/>
              <a:t>корутина</a:t>
            </a:r>
            <a:r>
              <a:rPr lang="ru-RU" dirty="0"/>
              <a:t>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, вызывается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return_value</a:t>
            </a:r>
            <a:r>
              <a:rPr lang="ru-RU" dirty="0"/>
              <a:t>, и значение сохраняется внутрь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get_return_object</a:t>
            </a:r>
            <a:r>
              <a:rPr lang="ru-RU" dirty="0"/>
              <a:t> создаёт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и передаёт ему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</a:p>
          <a:p>
            <a:r>
              <a:rPr lang="ru-RU" dirty="0"/>
              <a:t>То есть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— это обёртка над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Обратите внимание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</a:t>
            </a:r>
          </a:p>
          <a:p>
            <a:r>
              <a:rPr lang="ru-RU" dirty="0"/>
              <a:t>Мы возвращаем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, а значит: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не запускается автоматически,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не уничтожается автоматически в конце. </a:t>
            </a:r>
          </a:p>
          <a:p>
            <a:r>
              <a:rPr lang="ru-RU" dirty="0"/>
              <a:t>Всё управление остаётся у нас.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просто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</a:t>
            </a:r>
            <a:r>
              <a:rPr lang="ru-RU" dirty="0" err="1"/>
              <a:t>handle</a:t>
            </a:r>
            <a:r>
              <a:rPr lang="ru-RU" dirty="0"/>
              <a:t>.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GetResult</a:t>
            </a:r>
            <a:r>
              <a:rPr lang="ru-RU" dirty="0"/>
              <a:t> достаёт результат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Ключевая идея: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— это высокоуровневая обёртка над </a:t>
            </a:r>
            <a:r>
              <a:rPr lang="ru-RU" dirty="0" err="1"/>
              <a:t>корутиной</a:t>
            </a:r>
            <a:r>
              <a:rPr lang="ru-RU" dirty="0"/>
              <a:t>, которая даёт нам удобный интерфейс: запустить, дождаться, получить результат.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221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это работает на конкретном примере.</a:t>
            </a:r>
          </a:p>
          <a:p>
            <a:r>
              <a:rPr lang="ru-RU" dirty="0"/>
              <a:t>У нас есть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</a:t>
            </a:r>
            <a:r>
              <a:rPr lang="ru-RU" dirty="0"/>
              <a:t>, которая складывает два числа и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.</a:t>
            </a:r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создаём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получаем результат. </a:t>
            </a:r>
          </a:p>
          <a:p>
            <a:endParaRPr lang="ru-RU" dirty="0"/>
          </a:p>
          <a:p>
            <a:r>
              <a:rPr lang="ru-RU" dirty="0"/>
              <a:t>Но самое интересное — это правая часть слайда.</a:t>
            </a:r>
          </a:p>
          <a:p>
            <a:r>
              <a:rPr lang="ru-RU" dirty="0"/>
              <a:t>Здесь показана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CoroutineState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то не реальный код из стандартной библиотеки, а упрощённая модель, чтобы понять идею.</a:t>
            </a:r>
          </a:p>
          <a:p>
            <a:endParaRPr lang="ru-RU" dirty="0"/>
          </a:p>
          <a:p>
            <a:r>
              <a:rPr lang="ru-RU" dirty="0"/>
              <a:t>Внутри этого состояния находятся: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параметры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arg1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arg2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локальная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 </a:t>
            </a:r>
          </a:p>
          <a:p>
            <a:r>
              <a:rPr lang="ru-RU" dirty="0"/>
              <a:t>Всё это вместе образует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frame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Именно на этот объект указывает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, выполнение продолжается, но уже не со стеком,</a:t>
            </a:r>
            <a:r>
              <a:rPr lang="en-US" dirty="0"/>
              <a:t> </a:t>
            </a:r>
            <a:r>
              <a:rPr lang="ru-RU" dirty="0"/>
              <a:t>а с данными, сохранёнными внутри этого состояния.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Ключевая мысль:</a:t>
            </a:r>
            <a:r>
              <a:rPr lang="en-US" dirty="0"/>
              <a:t> </a:t>
            </a:r>
            <a:r>
              <a:rPr lang="ru-RU" dirty="0" err="1"/>
              <a:t>Корутина</a:t>
            </a:r>
            <a:r>
              <a:rPr lang="ru-RU" dirty="0"/>
              <a:t> — это по сути структура данных + код, который выполняется по частям.</a:t>
            </a:r>
          </a:p>
          <a:p>
            <a:r>
              <a:rPr lang="ru-RU" dirty="0"/>
              <a:t>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CoroutineState</a:t>
            </a:r>
            <a:r>
              <a:rPr lang="ru-RU" dirty="0"/>
              <a:t> на слайде — это просто наглядная модель того, как это может быть устроено внутри.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358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Сейчас мы делаем важный шаг — смотрим, </a:t>
            </a:r>
            <a:r>
              <a:rPr lang="ru-RU" b="1" dirty="0"/>
              <a:t>во что компилятор превращает </a:t>
            </a:r>
            <a:r>
              <a:rPr lang="ru-RU" b="1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/>
              <a:t>Снизу — исходный код, который мы пишем.</a:t>
            </a:r>
            <a:br>
              <a:rPr lang="ru-RU" dirty="0"/>
            </a:br>
            <a:r>
              <a:rPr lang="ru-RU" dirty="0"/>
              <a:t>Сверху — упрощённая версия того, что примерно генерирует компилятор.</a:t>
            </a:r>
          </a:p>
          <a:p>
            <a:endParaRPr lang="ru-RU" dirty="0"/>
          </a:p>
          <a:p>
            <a:r>
              <a:rPr lang="ru-RU" dirty="0"/>
              <a:t>Первое, что происходит — </a:t>
            </a:r>
            <a:r>
              <a:rPr lang="ru-RU" b="1" dirty="0"/>
              <a:t>выделяется память под </a:t>
            </a:r>
            <a:r>
              <a:rPr lang="ru-RU" b="1" dirty="0" err="1"/>
              <a:t>coroutine</a:t>
            </a:r>
            <a:r>
              <a:rPr lang="ru-RU" b="1" dirty="0"/>
              <a:t> </a:t>
            </a:r>
            <a:r>
              <a:rPr lang="ru-RU" b="1" dirty="0" err="1"/>
              <a:t>state</a:t>
            </a:r>
            <a:r>
              <a:rPr lang="ru-RU" dirty="0"/>
              <a:t>.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))</a:t>
            </a:r>
          </a:p>
          <a:p>
            <a:r>
              <a:rPr lang="ru-RU" dirty="0"/>
              <a:t>Это делается для того, чтобы состояние </a:t>
            </a:r>
            <a:r>
              <a:rPr lang="ru-RU" dirty="0" err="1"/>
              <a:t>корутины</a:t>
            </a:r>
            <a:r>
              <a:rPr lang="ru-RU" dirty="0"/>
              <a:t> могло пережить выход из функции.</a:t>
            </a:r>
          </a:p>
          <a:p>
            <a:endParaRPr lang="ru-RU" dirty="0"/>
          </a:p>
          <a:p>
            <a:r>
              <a:rPr lang="ru-RU" dirty="0"/>
              <a:t>Дальше туда копируются аргументы функции. Если это значения — они копируются. Если это ссылки — сохраняются как есть.</a:t>
            </a:r>
          </a:p>
          <a:p>
            <a:endParaRPr lang="ru-RU" dirty="0"/>
          </a:p>
          <a:p>
            <a:r>
              <a:rPr lang="ru-RU" dirty="0"/>
              <a:t>Следующий шаг — </a:t>
            </a:r>
            <a:r>
              <a:rPr lang="ru-RU" b="1" dirty="0"/>
              <a:t>создаётся объект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 Он размещается прямо внутри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с помощью </a:t>
            </a:r>
            <a:r>
              <a:rPr lang="ru-RU" dirty="0" err="1"/>
              <a:t>placement</a:t>
            </a:r>
            <a:r>
              <a:rPr lang="ru-RU" dirty="0"/>
              <a:t> </a:t>
            </a:r>
            <a:r>
              <a:rPr lang="ru-RU" dirty="0" err="1"/>
              <a:t>new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.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(!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promise.initial_suspend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promise.get_return_object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Это ключевой момент.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, то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приостанавливается сразу</a:t>
            </a:r>
            <a:r>
              <a:rPr lang="ru-RU" dirty="0"/>
              <a:t> и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вызывающему коду.</a:t>
            </a:r>
          </a:p>
          <a:p>
            <a:endParaRPr lang="ru-RU" dirty="0"/>
          </a:p>
          <a:p>
            <a:r>
              <a:rPr lang="ru-RU" dirty="0"/>
              <a:t>Когда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, выполнение продолжается.</a:t>
            </a:r>
          </a:p>
          <a:p>
            <a:r>
              <a:rPr lang="ru-RU" dirty="0"/>
              <a:t>Теперь начинает выполняться тело </a:t>
            </a:r>
            <a:r>
              <a:rPr lang="ru-RU" dirty="0" err="1"/>
              <a:t>корутины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-&gt;frame.res = ...</a:t>
            </a:r>
          </a:p>
          <a:p>
            <a:r>
              <a:rPr lang="ru-RU" dirty="0"/>
              <a:t>Но уже не на стеке — а внутри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в куче.</a:t>
            </a:r>
          </a:p>
          <a:p>
            <a:endParaRPr lang="ru-RU" dirty="0"/>
          </a:p>
          <a:p>
            <a:r>
              <a:rPr lang="ru-RU" dirty="0"/>
              <a:t>Когда мы доходим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, вызывается: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promise.return_value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ru-RU" dirty="0"/>
              <a:t>То есть результат сохраняется внутрь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Если внутри </a:t>
            </a:r>
            <a:r>
              <a:rPr lang="ru-RU" dirty="0" err="1"/>
              <a:t>корутины</a:t>
            </a:r>
            <a:r>
              <a:rPr lang="ru-RU" dirty="0"/>
              <a:t> возникает исключение, оно перехватывается и передаётся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unhandled_exception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конце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</a:t>
            </a:r>
          </a:p>
          <a:p>
            <a:r>
              <a:rPr lang="ru-RU" dirty="0"/>
              <a:t>Если он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,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снова приостанавливается</a:t>
            </a:r>
            <a:r>
              <a:rPr lang="ru-RU" dirty="0"/>
              <a:t>, а не уничтожается сразу.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👉 И это важно:</a:t>
            </a:r>
          </a:p>
          <a:p>
            <a:r>
              <a:rPr lang="ru-RU" dirty="0"/>
              <a:t>Разрушение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происходит </a:t>
            </a:r>
            <a:r>
              <a:rPr lang="ru-RU" b="1" dirty="0"/>
              <a:t>не здесь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а позже — когда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</a:p>
          <a:p>
            <a:r>
              <a:rPr lang="ru-RU" dirty="0"/>
              <a:t>В нашем случае это делает деструктор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🔥 Ключевая мысль:</a:t>
            </a:r>
          </a:p>
          <a:p>
            <a:r>
              <a:rPr lang="ru-RU" dirty="0"/>
              <a:t>Компилятор превращает </a:t>
            </a:r>
            <a:r>
              <a:rPr lang="ru-RU" dirty="0" err="1"/>
              <a:t>корутину</a:t>
            </a:r>
            <a:r>
              <a:rPr lang="ru-RU" dirty="0"/>
              <a:t> в: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состояние в куче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вызовы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И весь «магический» синтаксис: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— на самом деле разворачивается в обычный код с явным управлением состоянием.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18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— самый важный в блоке.</a:t>
            </a:r>
            <a:br>
              <a:rPr lang="ru-RU" dirty="0"/>
            </a:br>
            <a:r>
              <a:rPr lang="ru-RU" dirty="0"/>
              <a:t>Здесь мы собираем всё, что уже изучили, в одну целостную модель.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Начнём сверху.</a:t>
            </a:r>
          </a:p>
          <a:p>
            <a:r>
              <a:rPr lang="ru-RU" dirty="0"/>
              <a:t>Снаружи </a:t>
            </a:r>
            <a:r>
              <a:rPr lang="ru-RU" dirty="0" err="1"/>
              <a:t>корутина</a:t>
            </a:r>
            <a:r>
              <a:rPr lang="ru-RU" dirty="0"/>
              <a:t> выглядит как обычная функция.</a:t>
            </a:r>
            <a:br>
              <a:rPr lang="ru-RU" dirty="0"/>
            </a:br>
            <a:r>
              <a:rPr lang="ru-RU" dirty="0"/>
              <a:t>Мы её вызываем — и получаем некоторый объект, который называется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Object</a:t>
            </a:r>
            <a:r>
              <a:rPr lang="ru-RU" dirty="0"/>
              <a:t>.</a:t>
            </a:r>
          </a:p>
          <a:p>
            <a:r>
              <a:rPr lang="ru-RU" dirty="0"/>
              <a:t>Внутри этого объекта обычно хранится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</a:p>
          <a:p>
            <a:r>
              <a:rPr lang="ru-RU" dirty="0"/>
              <a:t>Именно через него мы дальше управляем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про управление.</a:t>
            </a:r>
          </a:p>
          <a:p>
            <a:r>
              <a:rPr lang="ru-RU" dirty="0"/>
              <a:t>Когда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, выполнение продолжается.</a:t>
            </a:r>
          </a:p>
          <a:p>
            <a:r>
              <a:rPr lang="ru-RU" dirty="0"/>
              <a:t>Когда внутри встречается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— </a:t>
            </a:r>
            <a:r>
              <a:rPr lang="ru-RU" dirty="0" err="1"/>
              <a:t>корутина</a:t>
            </a:r>
            <a:r>
              <a:rPr lang="ru-RU" dirty="0"/>
              <a:t> приостанавливается.</a:t>
            </a:r>
          </a:p>
          <a:p>
            <a:r>
              <a:rPr lang="ru-RU" dirty="0"/>
              <a:t>Когда выполняется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 — </a:t>
            </a:r>
            <a:r>
              <a:rPr lang="ru-RU" dirty="0" err="1"/>
              <a:t>корутина</a:t>
            </a:r>
            <a:r>
              <a:rPr lang="ru-RU" dirty="0"/>
              <a:t> завершает свою работу.</a:t>
            </a:r>
          </a:p>
          <a:p>
            <a:endParaRPr lang="ru-RU" dirty="0"/>
          </a:p>
          <a:p>
            <a:r>
              <a:rPr lang="ru-RU" dirty="0"/>
              <a:t>Теперь самое важное — внутренняя часть.</a:t>
            </a:r>
          </a:p>
          <a:p>
            <a:r>
              <a:rPr lang="ru-RU" dirty="0" err="1"/>
              <a:t>Корутина</a:t>
            </a:r>
            <a:r>
              <a:rPr lang="ru-RU" dirty="0"/>
              <a:t> — это не просто функция.</a:t>
            </a:r>
            <a:br>
              <a:rPr lang="ru-RU" dirty="0"/>
            </a:br>
            <a:r>
              <a:rPr lang="ru-RU" dirty="0"/>
              <a:t>Это объект состояния, который хранится отдельно.</a:t>
            </a:r>
          </a:p>
          <a:p>
            <a:r>
              <a:rPr lang="ru-RU" dirty="0"/>
              <a:t>Внутри него: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параметры,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локальные переменные,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информация о том, где остановилось выполнение.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Отдельно стоит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</a:p>
          <a:p>
            <a:r>
              <a:rPr lang="ru-RU" dirty="0"/>
              <a:t>Он играет роль «моста» между </a:t>
            </a:r>
            <a:r>
              <a:rPr lang="ru-RU" dirty="0" err="1"/>
              <a:t>корутиной</a:t>
            </a:r>
            <a:r>
              <a:rPr lang="ru-RU" dirty="0"/>
              <a:t> и внешним кодом: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принимает результат,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обрабатывает исключения,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участвует в управлении жизненным циклом. </a:t>
            </a:r>
          </a:p>
          <a:p>
            <a:endParaRPr lang="ru-RU" dirty="0"/>
          </a:p>
          <a:p>
            <a:r>
              <a:rPr lang="ru-RU" dirty="0"/>
              <a:t>Если всё упростить до одной строки: </a:t>
            </a:r>
            <a:r>
              <a:rPr lang="ru-RU" dirty="0" err="1"/>
              <a:t>Корутина</a:t>
            </a:r>
            <a:r>
              <a:rPr lang="ru-RU" dirty="0"/>
              <a:t> — это состояние + </a:t>
            </a:r>
            <a:r>
              <a:rPr lang="ru-RU" dirty="0" err="1"/>
              <a:t>handle</a:t>
            </a:r>
            <a:r>
              <a:rPr lang="ru-RU" dirty="0"/>
              <a:t>, через который мы этим состоянием управляем.</a:t>
            </a:r>
          </a:p>
          <a:p>
            <a:br>
              <a:rPr lang="ru-RU" dirty="0"/>
            </a:br>
            <a:r>
              <a:rPr lang="ru-RU" dirty="0"/>
              <a:t>И это ключевая идея, на которой строится всё остальное: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, асинхронные библиотеки — всё это просто удобные обёртки над этой моделью.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034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699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одно из самых удобных и наглядных применений </a:t>
            </a:r>
            <a:r>
              <a:rPr lang="ru-RU" dirty="0" err="1"/>
              <a:t>корутин</a:t>
            </a:r>
            <a:r>
              <a:rPr lang="ru-RU" dirty="0"/>
              <a:t> — генераторы.</a:t>
            </a:r>
          </a:p>
          <a:p>
            <a:r>
              <a:rPr lang="ru-RU" dirty="0"/>
              <a:t>Генератор — это </a:t>
            </a:r>
            <a:r>
              <a:rPr lang="ru-RU" dirty="0" err="1"/>
              <a:t>корутина</a:t>
            </a:r>
            <a:r>
              <a:rPr lang="ru-RU" dirty="0"/>
              <a:t>, которая возвращает не одно значение, а </a:t>
            </a:r>
            <a:r>
              <a:rPr lang="ru-RU" b="1" dirty="0"/>
              <a:t>последовательность значений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Ключевая идея очень простая.</a:t>
            </a:r>
          </a:p>
          <a:p>
            <a:r>
              <a:rPr lang="ru-RU" dirty="0"/>
              <a:t>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делает две вещи: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возвращает значение наружу,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приостанавливает выполнение </a:t>
            </a:r>
            <a:r>
              <a:rPr lang="ru-RU" dirty="0" err="1"/>
              <a:t>корутины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Когда мы потом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, </a:t>
            </a:r>
            <a:r>
              <a:rPr lang="ru-RU" dirty="0" err="1"/>
              <a:t>корутина</a:t>
            </a:r>
            <a:r>
              <a:rPr lang="ru-RU" dirty="0"/>
              <a:t> продолжает работу с того же места.</a:t>
            </a:r>
          </a:p>
          <a:p>
            <a:r>
              <a:rPr lang="ru-RU" dirty="0"/>
              <a:t>То есть она как будто «помнит», где остановилась.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Посмотрим на пример.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GenIntegers</a:t>
            </a:r>
            <a:r>
              <a:rPr lang="ru-RU" dirty="0"/>
              <a:t> генерирует числа с заданным шагом.</a:t>
            </a:r>
          </a:p>
          <a:p>
            <a:r>
              <a:rPr lang="ru-RU" dirty="0"/>
              <a:t>Каждый раз 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она возвращает текущее значение и останавливается.</a:t>
            </a:r>
          </a:p>
          <a:p>
            <a:endParaRPr lang="ru-RU" dirty="0"/>
          </a:p>
          <a:p>
            <a:r>
              <a:rPr lang="ru-RU" dirty="0"/>
              <a:t>Снаружи это выглядит как обычный итератор: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HasNext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GetNext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получаем очередное значение. </a:t>
            </a:r>
          </a:p>
          <a:p>
            <a:endParaRPr lang="ru-RU" dirty="0"/>
          </a:p>
          <a:p>
            <a:r>
              <a:rPr lang="ru-RU" dirty="0"/>
              <a:t>Ключевая мысль:</a:t>
            </a:r>
          </a:p>
          <a:p>
            <a:r>
              <a:rPr lang="ru-RU" dirty="0"/>
              <a:t>Генератор — это обычная функция, но с возможностью «ставить выполнение на паузу» между значениями.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И это гораздо проще и </a:t>
            </a:r>
            <a:r>
              <a:rPr lang="ru-RU" dirty="0" err="1"/>
              <a:t>читаемее</a:t>
            </a:r>
            <a:r>
              <a:rPr lang="ru-RU" dirty="0"/>
              <a:t>, чем: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хранить состояние вручную,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писать сложные итераторы,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использовать </a:t>
            </a:r>
            <a:r>
              <a:rPr lang="ru-RU" dirty="0" err="1"/>
              <a:t>callback</a:t>
            </a:r>
            <a:r>
              <a:rPr lang="ru-RU" dirty="0"/>
              <a:t>-и. 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710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разберём, что на самом деле происходит при использовании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</a:p>
          <a:p>
            <a:r>
              <a:rPr lang="ru-RU" dirty="0"/>
              <a:t>На первый взгляд кажется, что это какой-то специальный оператор языка.</a:t>
            </a:r>
          </a:p>
          <a:p>
            <a:r>
              <a:rPr lang="ru-RU" dirty="0"/>
              <a:t>Но на самом деле всё гораздо проще.</a:t>
            </a:r>
          </a:p>
          <a:p>
            <a:endParaRPr lang="ru-RU" dirty="0"/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компилятор превращает это в: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promise.yield_value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endParaRPr lang="ru-RU" dirty="0"/>
          </a:p>
          <a:p>
            <a:r>
              <a:rPr lang="ru-RU" dirty="0"/>
              <a:t>То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— это просто вызов метода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Отсюда сразу становится понятно, кто за что отвечает.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должен: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сохранить значение,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вернуть объект, который приостановит </a:t>
            </a:r>
            <a:r>
              <a:rPr lang="ru-RU" dirty="0" err="1"/>
              <a:t>корутину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Именно поэтому мы добавляем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yield_value</a:t>
            </a:r>
            <a:r>
              <a:rPr lang="ru-RU" dirty="0"/>
              <a:t>. Внутри него мы:</a:t>
            </a:r>
          </a:p>
          <a:p>
            <a:r>
              <a:rPr lang="ru-RU" dirty="0"/>
              <a:t>сохраняем значение, </a:t>
            </a:r>
          </a:p>
          <a:p>
            <a:r>
              <a:rPr lang="ru-RU" dirty="0"/>
              <a:t>и возвращаем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, чтобы остановить выполнение. </a:t>
            </a:r>
          </a:p>
          <a:p>
            <a:br>
              <a:rPr lang="ru-RU" dirty="0"/>
            </a:br>
            <a:r>
              <a:rPr lang="ru-RU" dirty="0"/>
              <a:t>Ключевая идея: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не «возвращает значение сам по себе».</a:t>
            </a:r>
            <a:r>
              <a:rPr lang="en-US" dirty="0"/>
              <a:t> </a:t>
            </a:r>
            <a:r>
              <a:rPr lang="ru-RU" dirty="0"/>
              <a:t>Он делегирует всю работу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И это очень важный момент архитектуры: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корутина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генерирует значение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его сохраняет → внешний код его читает</a:t>
            </a:r>
          </a:p>
          <a:p>
            <a:endParaRPr lang="ru-RU" dirty="0"/>
          </a:p>
          <a:p>
            <a:r>
              <a:rPr lang="ru-RU" dirty="0"/>
              <a:t>После этого становится понятно, как реализовать генератор:</a:t>
            </a:r>
            <a:r>
              <a:rPr lang="en-US" dirty="0"/>
              <a:t> </a:t>
            </a:r>
            <a:r>
              <a:rPr lang="ru-RU" dirty="0"/>
              <a:t>нам просто нужно правильно спроектировать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660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выглядит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для генератора.</a:t>
            </a:r>
          </a:p>
          <a:p>
            <a:r>
              <a:rPr lang="ru-RU" dirty="0" err="1"/>
              <a:t>Главое</a:t>
            </a:r>
            <a:r>
              <a:rPr lang="ru-RU" dirty="0"/>
              <a:t> отличие от предыдущего примера — появляется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yield_value</a:t>
            </a:r>
            <a:r>
              <a:rPr lang="ru-RU" dirty="0"/>
              <a:t>. Именно он вызывается при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Что он делает: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сохраняет значение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currentValue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, чтобы приостановить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Это ключевой момент: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каждый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кладёт значение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«ставит </a:t>
            </a:r>
            <a:r>
              <a:rPr lang="ru-RU" dirty="0" err="1"/>
              <a:t>корутину</a:t>
            </a:r>
            <a:r>
              <a:rPr lang="ru-RU" dirty="0"/>
              <a:t> на паузу»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Остальные части нам уже знакомы: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— не запускаем сразу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 — не уничтожаем сразу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get_return_object</a:t>
            </a:r>
            <a:r>
              <a:rPr lang="ru-RU" dirty="0"/>
              <a:t> — создаёт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В итоге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становится буфером для текущего значения.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3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обёртка — сам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. Он очень похож 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, но с другой логикой использования.</a:t>
            </a:r>
          </a:p>
          <a:p>
            <a:endParaRPr lang="ru-RU" dirty="0"/>
          </a:p>
          <a:p>
            <a:r>
              <a:rPr lang="ru-RU" dirty="0"/>
              <a:t>Сначала — управление временем жизни: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копирование запрещено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перемещение разрешено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 деструкторе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r>
              <a:rPr lang="ru-RU" dirty="0"/>
              <a:t>Это всё та же модель </a:t>
            </a:r>
            <a:r>
              <a:rPr lang="ru-RU" dirty="0" err="1"/>
              <a:t>unique</a:t>
            </a:r>
            <a:r>
              <a:rPr lang="ru-RU" dirty="0"/>
              <a:t> </a:t>
            </a:r>
            <a:r>
              <a:rPr lang="ru-RU" dirty="0" err="1"/>
              <a:t>ownership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ключевые методы.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HasNext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проверяет, не завершилась ли </a:t>
            </a:r>
            <a:r>
              <a:rPr lang="ru-RU" dirty="0" err="1"/>
              <a:t>корутина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GetNext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делает самое важное: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забирает значение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Обратите внимание на порядок: сначала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чтобы выполнить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корутину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до приостановки</a:t>
            </a:r>
            <a:r>
              <a:rPr lang="ru-RU" dirty="0"/>
              <a:t>, потом чтение значения</a:t>
            </a:r>
          </a:p>
          <a:p>
            <a:endParaRPr lang="ru-RU" dirty="0"/>
          </a:p>
          <a:p>
            <a:r>
              <a:rPr lang="ru-RU" dirty="0"/>
              <a:t>То есть: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корутина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значение готово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569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это используется.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Первый пример — обычная последовательность чисел.</a:t>
            </a:r>
          </a:p>
          <a:p>
            <a:r>
              <a:rPr lang="ru-RU" dirty="0"/>
              <a:t>Выглядит как обычный цикл, но: состояние хранится внутри </a:t>
            </a:r>
            <a:r>
              <a:rPr lang="ru-RU" dirty="0" err="1"/>
              <a:t>корутины</a:t>
            </a:r>
            <a:r>
              <a:rPr lang="ru-RU" dirty="0"/>
              <a:t>, мы не пишем никаких итераторов вручную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Второй пример — бесконечная последовательность Фибоначчи.</a:t>
            </a:r>
          </a:p>
          <a:p>
            <a:r>
              <a:rPr lang="ru-RU" dirty="0"/>
              <a:t>Это особенно показательно: мы пишем бесконечный цикл, но используем только столько значений, сколько нужно.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Ключевая идея: генератор — это ленивое вычисление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501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возникает проблема.</a:t>
            </a:r>
          </a:p>
          <a:p>
            <a:r>
              <a:rPr lang="ru-RU" dirty="0"/>
              <a:t>Что если внутри </a:t>
            </a:r>
            <a:r>
              <a:rPr lang="ru-RU" dirty="0" err="1"/>
              <a:t>корутины</a:t>
            </a:r>
            <a:r>
              <a:rPr lang="ru-RU" dirty="0"/>
              <a:t> выбросится исключение?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 текущей реализации оно просто «теряется» или приводит к некорректному поведению.</a:t>
            </a:r>
          </a:p>
          <a:p>
            <a:endParaRPr lang="ru-RU" dirty="0"/>
          </a:p>
          <a:p>
            <a:r>
              <a:rPr lang="ru-RU" dirty="0"/>
              <a:t>В примере видно: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1 2 2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Поведение уже странное — исключение не обработано корректно.</a:t>
            </a:r>
          </a:p>
          <a:p>
            <a:endParaRPr lang="ru-RU" dirty="0"/>
          </a:p>
          <a:p>
            <a:r>
              <a:rPr lang="ru-RU" dirty="0"/>
              <a:t>Значит, нам нужно научить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хранить исключение.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005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дорабатываем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Вместо одного значения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нет значения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есть значение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есть исключение 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yield_value</a:t>
            </a:r>
            <a:r>
              <a:rPr lang="ru-RU" dirty="0"/>
              <a:t> сохраняем значение, как раньше.</a:t>
            </a:r>
          </a:p>
          <a:p>
            <a:endParaRPr lang="ru-RU" dirty="0"/>
          </a:p>
          <a:p>
            <a:r>
              <a:rPr lang="ru-RU" dirty="0"/>
              <a:t>Добавляем методы: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HasException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проверяем: если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лежит исключение — мы его пробрасываем наружу.</a:t>
            </a:r>
          </a:p>
          <a:p>
            <a:br>
              <a:rPr lang="ru-RU" dirty="0"/>
            </a:br>
            <a:r>
              <a:rPr lang="ru-RU" dirty="0"/>
              <a:t>Теперь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отвечает не только за значения, но и за ошибки.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32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нужно изменить интерфейс генератора.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Раньше у нас было: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HasNext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GetNext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Теперь: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двигает </a:t>
            </a:r>
            <a:r>
              <a:rPr lang="ru-RU" dirty="0" err="1"/>
              <a:t>корутину</a:t>
            </a:r>
            <a:r>
              <a:rPr lang="ru-RU" dirty="0"/>
              <a:t> вперёд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возвращает значение или бросает исключение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Обратите внимание: теперь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происходит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br>
              <a:rPr lang="ru-RU" dirty="0"/>
            </a:br>
            <a:endParaRPr lang="ru-RU" dirty="0"/>
          </a:p>
          <a:p>
            <a:r>
              <a:rPr lang="ru-RU" dirty="0"/>
              <a:t>Это позволяет: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корректно обработать исключение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потерять его между вызовами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9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результат.</a:t>
            </a:r>
          </a:p>
          <a:p>
            <a:endParaRPr lang="ru-RU" dirty="0"/>
          </a:p>
          <a:p>
            <a:r>
              <a:rPr lang="ru-RU" dirty="0" err="1"/>
              <a:t>Корутина</a:t>
            </a:r>
            <a:r>
              <a:rPr lang="ru-RU" dirty="0"/>
              <a:t> генерирует два значения, затем бросает исключение.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теперь поведение корректное: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1 2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Out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numbers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ru-RU" dirty="0"/>
              <a:t>Исключение: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теряется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ломает состояние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корректно пробрасывается наружу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408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зафиксируем, что мы сейчас построили.</a:t>
            </a:r>
          </a:p>
          <a:p>
            <a:r>
              <a:rPr lang="ru-RU" dirty="0"/>
              <a:t>Генератор — это </a:t>
            </a:r>
            <a:r>
              <a:rPr lang="ru-RU" dirty="0" err="1"/>
              <a:t>корутина</a:t>
            </a:r>
            <a:r>
              <a:rPr lang="ru-RU" dirty="0"/>
              <a:t>, которая возвращает значения по одному,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. Каждый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сохраняет значение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 приостанавливает выполнение,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продолжает его с того же места.</a:t>
            </a:r>
          </a:p>
          <a:p>
            <a:endParaRPr lang="ru-RU" dirty="0"/>
          </a:p>
          <a:p>
            <a:r>
              <a:rPr lang="ru-RU" dirty="0"/>
              <a:t>Внутри у нас есть три ключевые части: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состояние </a:t>
            </a:r>
            <a:r>
              <a:rPr lang="ru-RU" dirty="0" err="1"/>
              <a:t>корутины</a:t>
            </a:r>
            <a:r>
              <a:rPr lang="ru-RU" dirty="0"/>
              <a:t> — где лежат переменные и позиция выполнения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— который хранит значение и исключение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 — обёртка, через которую мы всем этим управляем </a:t>
            </a:r>
          </a:p>
          <a:p>
            <a:endParaRPr lang="ru-RU" dirty="0"/>
          </a:p>
          <a:p>
            <a:r>
              <a:rPr lang="ru-RU" dirty="0"/>
              <a:t>Важно, что мы также научились корректно обрабатывать исключения — они не теряются, а сохраняются и пробрасываются наружу.</a:t>
            </a:r>
          </a:p>
          <a:p>
            <a:endParaRPr lang="ru-RU" dirty="0"/>
          </a:p>
          <a:p>
            <a:r>
              <a:rPr lang="ru-RU" dirty="0"/>
              <a:t>Итог: генератор — это просто удобная абстракция над </a:t>
            </a:r>
            <a:r>
              <a:rPr lang="ru-RU" dirty="0" err="1"/>
              <a:t>корутиной</a:t>
            </a:r>
            <a:r>
              <a:rPr lang="ru-RU" dirty="0"/>
              <a:t>, которая реализует ленивое вычисление последовательности.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441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сделаем следующий шаг — научим наш генератор работать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range-based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C++ это не магия, а обычный синтаксический сахар.</a:t>
            </a:r>
          </a:p>
          <a:p>
            <a:r>
              <a:rPr lang="ru-RU" dirty="0"/>
              <a:t>Когда вы пишете: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ru-RU" dirty="0"/>
              <a:t>компилятор разворачивает это в цикл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нам нужно реализовать соответствующий интерфейс.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: возобновляет </a:t>
            </a:r>
            <a:r>
              <a:rPr lang="ru-RU" dirty="0" err="1"/>
              <a:t>корутину</a:t>
            </a:r>
            <a:r>
              <a:rPr lang="ru-RU" dirty="0"/>
              <a:t>, получает первое значение, и возвращает итератор. </a:t>
            </a:r>
          </a:p>
          <a:p>
            <a:endParaRPr lang="ru-RU" dirty="0"/>
          </a:p>
          <a:p>
            <a:r>
              <a:rPr lang="ru-RU" dirty="0"/>
              <a:t>Дальше цикл работает через итератор: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двигает </a:t>
            </a:r>
            <a:r>
              <a:rPr lang="ru-RU" dirty="0" err="1"/>
              <a:t>корутину</a:t>
            </a:r>
            <a:r>
              <a:rPr lang="ru-RU" dirty="0"/>
              <a:t> вперёд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возвращает текущее значение </a:t>
            </a:r>
            <a:br>
              <a:rPr lang="ru-RU" dirty="0"/>
            </a:b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специальный объект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sentinel</a:t>
            </a:r>
            <a:r>
              <a:rPr lang="ru-RU" dirty="0"/>
              <a:t>, который просто означает «конец последовательности».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Ключевая идея: мы превращаем генератор в объект, который выглядит как контейнер.</a:t>
            </a:r>
          </a:p>
          <a:p>
            <a:endParaRPr lang="ru-RU" dirty="0"/>
          </a:p>
          <a:p>
            <a:r>
              <a:rPr lang="ru-RU" dirty="0"/>
              <a:t>И это очень мощно: мы можем писать обычный C++-код, а под капотом будет работать </a:t>
            </a:r>
            <a:r>
              <a:rPr lang="ru-RU" dirty="0" err="1"/>
              <a:t>корутина</a:t>
            </a:r>
            <a:r>
              <a:rPr lang="ru-RU" dirty="0"/>
              <a:t> с ленивыми вычислениями.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208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дорабатываем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чтобы он корректно работал с итератором.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Раньше мы просто хранили значение, теперь нам нужно чуть больше логики.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Добавляем три метода: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есть ли значение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ThrowIfException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если внутри исключение, пробросить его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вернуть значение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Обратите внимание: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сначала проверяет исключение, и только потом возвращает значение.</a:t>
            </a:r>
          </a:p>
          <a:p>
            <a:endParaRPr lang="ru-RU" dirty="0"/>
          </a:p>
          <a:p>
            <a:r>
              <a:rPr lang="ru-RU" dirty="0"/>
              <a:t>Ключевая идея: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становится единым источником правды: либо значение, либо исключение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0181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добавляем итератор.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Чтобы генератор работал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range-based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, он должен выглядеть как стандартный итератор.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Мы объявляем вложенный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и задаём стандартные </a:t>
            </a:r>
            <a:r>
              <a:rPr lang="ru-RU" dirty="0" err="1"/>
              <a:t>typedef</a:t>
            </a:r>
            <a:r>
              <a:rPr lang="ru-RU" dirty="0"/>
              <a:t>-ы: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value_type</a:t>
            </a:r>
            <a:r>
              <a:rPr lang="ru-RU" dirty="0"/>
              <a:t>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iterator_category</a:t>
            </a:r>
            <a:r>
              <a:rPr lang="ru-RU" dirty="0"/>
              <a:t> и т.д. </a:t>
            </a:r>
          </a:p>
          <a:p>
            <a:endParaRPr lang="ru-RU" dirty="0"/>
          </a:p>
          <a:p>
            <a:r>
              <a:rPr lang="ru-RU" dirty="0"/>
              <a:t>Внутри итератора хранится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</a:t>
            </a:r>
          </a:p>
          <a:p>
            <a:r>
              <a:rPr lang="ru-RU" dirty="0"/>
              <a:t>Это и есть связь между итератором и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683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важный момент — поведение итератора.</a:t>
            </a:r>
          </a:p>
          <a:p>
            <a:endParaRPr lang="ru-RU" dirty="0"/>
          </a:p>
          <a:p>
            <a:r>
              <a:rPr lang="ru-RU" dirty="0"/>
              <a:t>Мы запрещаем копирование итератора и разрешаем перемещение.</a:t>
            </a:r>
          </a:p>
          <a:p>
            <a:r>
              <a:rPr lang="ru-RU" dirty="0"/>
              <a:t>Но причина здесь немного другая, чем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.</a:t>
            </a:r>
            <a:br>
              <a:rPr lang="ru-RU" dirty="0"/>
            </a:br>
            <a:endParaRPr lang="en-US" dirty="0"/>
          </a:p>
          <a:p>
            <a:r>
              <a:rPr lang="ru-RU" dirty="0"/>
              <a:t>Итератор </a:t>
            </a:r>
            <a:r>
              <a:rPr lang="ru-RU" b="1" dirty="0"/>
              <a:t>не владеет </a:t>
            </a:r>
            <a:r>
              <a:rPr lang="ru-RU" b="1" dirty="0" err="1"/>
              <a:t>корутиной</a:t>
            </a:r>
            <a:r>
              <a:rPr lang="ru-RU" dirty="0"/>
              <a:t>.</a:t>
            </a:r>
          </a:p>
          <a:p>
            <a:r>
              <a:rPr lang="ru-RU" dirty="0"/>
              <a:t>Он просто хранит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— то есть ссылку на состояние.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Тогда почему запрещаем копирование?</a:t>
            </a:r>
          </a:p>
          <a:p>
            <a:r>
              <a:rPr lang="ru-RU" dirty="0"/>
              <a:t>Потому что: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итератор управляет продвижением </a:t>
            </a:r>
            <a:r>
              <a:rPr lang="ru-RU" dirty="0" err="1"/>
              <a:t>корутины</a:t>
            </a:r>
            <a:r>
              <a:rPr lang="ru-RU" dirty="0"/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несколько копий итератора могут начать «дёргать» одну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r>
              <a:rPr lang="ru-RU" dirty="0"/>
              <a:t>Это приведёт к некорректному поведению.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Поэтому мы делаем итератор </a:t>
            </a:r>
            <a:r>
              <a:rPr lang="ru-RU" b="1" dirty="0"/>
              <a:t>одноразовым и неперемещаемым в смысле копирования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21668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*()</a:t>
            </a:r>
            <a:r>
              <a:rPr lang="ru-RU" dirty="0"/>
              <a:t> возвращает текущее значение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Важно понимать:</a:t>
            </a:r>
          </a:p>
          <a:p>
            <a:r>
              <a:rPr lang="ru-RU" dirty="0"/>
              <a:t>👉 итератор не хранит значение</a:t>
            </a:r>
            <a:br>
              <a:rPr lang="ru-RU" dirty="0"/>
            </a:br>
            <a:r>
              <a:rPr lang="ru-RU" dirty="0"/>
              <a:t>👉 он просто берёт его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endParaRPr lang="ru-RU" dirty="0"/>
          </a:p>
          <a:p>
            <a:endParaRPr lang="ru-RU" dirty="0"/>
          </a:p>
          <a:p>
            <a:r>
              <a:rPr lang="ru-RU" dirty="0"/>
              <a:t>Сравнение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default_sentinel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ru-RU" dirty="0"/>
              <a:t>Мы считаем, что итерация закончена,</a:t>
            </a:r>
            <a:br>
              <a:rPr lang="ru-RU" dirty="0"/>
            </a:br>
            <a:r>
              <a:rPr lang="ru-RU" dirty="0"/>
              <a:t>если </a:t>
            </a:r>
            <a:r>
              <a:rPr lang="ru-RU" dirty="0" err="1"/>
              <a:t>handle</a:t>
            </a:r>
            <a:r>
              <a:rPr lang="ru-RU" dirty="0"/>
              <a:t> равен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👉 Это означает, что </a:t>
            </a:r>
            <a:r>
              <a:rPr lang="ru-RU" dirty="0" err="1"/>
              <a:t>корутина</a:t>
            </a:r>
            <a:r>
              <a:rPr lang="ru-RU" dirty="0"/>
              <a:t> завершилась.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745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++()</a:t>
            </a:r>
            <a:r>
              <a:rPr lang="ru-RU" dirty="0"/>
              <a:t> — это ключевая операция.</a:t>
            </a:r>
          </a:p>
          <a:p>
            <a:endParaRPr lang="ru-RU" dirty="0"/>
          </a:p>
          <a:p>
            <a:r>
              <a:rPr lang="ru-RU" dirty="0"/>
              <a:t>Он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продвигает </a:t>
            </a:r>
            <a:r>
              <a:rPr lang="ru-RU" dirty="0" err="1"/>
              <a:t>корутину</a:t>
            </a:r>
            <a:r>
              <a:rPr lang="ru-RU" dirty="0"/>
              <a:t> вперёд.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корутина</a:t>
            </a:r>
            <a:r>
              <a:rPr lang="ru-RU" dirty="0"/>
              <a:t> завершилась:</a:t>
            </a:r>
          </a:p>
          <a:p>
            <a:r>
              <a:rPr lang="ru-RU" dirty="0"/>
              <a:t>мы обнуляем </a:t>
            </a:r>
            <a:r>
              <a:rPr lang="ru-RU" dirty="0" err="1"/>
              <a:t>handle</a:t>
            </a:r>
            <a:r>
              <a:rPr lang="ru-RU" dirty="0"/>
              <a:t> </a:t>
            </a:r>
          </a:p>
          <a:p>
            <a:r>
              <a:rPr lang="ru-RU" dirty="0"/>
              <a:t>и проверяем, не было ли исключения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Еще раз повторю важный момент: итератор </a:t>
            </a:r>
            <a:r>
              <a:rPr lang="ru-RU" b="1" dirty="0"/>
              <a:t>не управляет временем жизни </a:t>
            </a:r>
            <a:r>
              <a:rPr lang="ru-RU" b="1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Он только: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возобновляет выполнение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читает результат </a:t>
            </a:r>
          </a:p>
          <a:p>
            <a:endParaRPr lang="ru-RU" dirty="0"/>
          </a:p>
          <a:p>
            <a:r>
              <a:rPr lang="ru-RU" dirty="0"/>
              <a:t>Владение остаётся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451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создаёт итератор и передаёт ему </a:t>
            </a:r>
            <a:r>
              <a:rPr lang="ru-RU" dirty="0" err="1"/>
              <a:t>handle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Но </a:t>
            </a:r>
            <a:r>
              <a:rPr lang="ru-RU" dirty="0" err="1"/>
              <a:t>handle</a:t>
            </a:r>
            <a:r>
              <a:rPr lang="ru-RU" dirty="0"/>
              <a:t> при этом остаётся под управлением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Это значит:</a:t>
            </a:r>
          </a:p>
          <a:p>
            <a:r>
              <a:rPr lang="ru-RU" dirty="0"/>
              <a:t>итератор работает с </a:t>
            </a:r>
            <a:r>
              <a:rPr lang="ru-RU" dirty="0" err="1"/>
              <a:t>корутиной</a:t>
            </a:r>
            <a:r>
              <a:rPr lang="ru-RU" dirty="0"/>
              <a:t> </a:t>
            </a:r>
          </a:p>
          <a:p>
            <a:r>
              <a:rPr lang="ru-RU" dirty="0"/>
              <a:t>но не отвечает за её уничтожение 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</a:t>
            </a:r>
            <a:r>
              <a:rPr lang="ru-RU" dirty="0" err="1"/>
              <a:t>sentinel</a:t>
            </a:r>
            <a:r>
              <a:rPr lang="ru-RU" dirty="0"/>
              <a:t> — признак окончания.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765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всё это работает вместе — в привычном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range-based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У нас есть генератор, который: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ru-RU" dirty="0"/>
              <a:t>, затем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потом выбрасывает исключение. </a:t>
            </a:r>
          </a:p>
          <a:p>
            <a:endParaRPr lang="ru-RU" dirty="0"/>
          </a:p>
          <a:p>
            <a:r>
              <a:rPr lang="ru-RU" dirty="0"/>
              <a:t>Снаружи это выглядит как обычный цикл: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GenIntegers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</a:t>
            </a:r>
          </a:p>
          <a:p>
            <a:r>
              <a:rPr lang="ru-RU" dirty="0"/>
              <a:t>Но под капотом происходит следующее: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создаёт итератор и делает первый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</a:t>
            </a:r>
            <a:r>
              <a:rPr lang="ru-RU" dirty="0"/>
              <a:t> продолжает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возвращает текущее значение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Важно: каждое значение получается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, а значит —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Теперь ключевой момент — исключение.</a:t>
            </a:r>
          </a:p>
          <a:p>
            <a:r>
              <a:rPr lang="ru-RU" dirty="0"/>
              <a:t>Когда внутри </a:t>
            </a:r>
            <a:r>
              <a:rPr lang="ru-RU" dirty="0" err="1"/>
              <a:t>корутины</a:t>
            </a:r>
            <a:r>
              <a:rPr lang="ru-RU" dirty="0"/>
              <a:t> происходит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dirty="0"/>
              <a:t>, оно: не выбрасывается сразу наружу, а сохраняется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И только при следующем обращении к значению (в нашем случае внутри итератора)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ThrowIfException</a:t>
            </a:r>
            <a:r>
              <a:rPr lang="ru-RU" dirty="0"/>
              <a:t>  и исключение пробрасывается наружу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Поэтому мы видим результат: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1 2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Out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ru-RU" dirty="0"/>
              <a:t>Ключевая идея: генератор ведёт себя как обычный контейнер,</a:t>
            </a:r>
            <a:br>
              <a:rPr lang="ru-RU" dirty="0"/>
            </a:br>
            <a:r>
              <a:rPr lang="ru-RU" dirty="0"/>
              <a:t>но при этом: значения вычисляются лениво  и ошибки корректно распространяются через итератор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1504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в основном работали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.</a:t>
            </a:r>
          </a:p>
          <a:p>
            <a:r>
              <a:rPr lang="ru-RU" dirty="0"/>
              <a:t>Но третий ключевой механизм </a:t>
            </a:r>
            <a:r>
              <a:rPr lang="ru-RU" dirty="0" err="1"/>
              <a:t>корутин</a:t>
            </a:r>
            <a:r>
              <a:rPr lang="ru-RU" dirty="0"/>
              <a:t> — это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— это не просто оператор языка.</a:t>
            </a:r>
          </a:p>
          <a:p>
            <a:r>
              <a:rPr lang="ru-RU" dirty="0"/>
              <a:t>Он работает с объектами, которые удовлетворяют определённому интерфейсу.</a:t>
            </a:r>
            <a:br>
              <a:rPr lang="ru-RU" dirty="0"/>
            </a:br>
            <a:r>
              <a:rPr lang="ru-RU" dirty="0"/>
              <a:t>Такие объекты называются </a:t>
            </a:r>
            <a:r>
              <a:rPr lang="ru-RU" b="1" dirty="0" err="1"/>
              <a:t>awaitable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Пока мы использовали только самые простые варианты: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suspend_never</a:t>
            </a:r>
            <a:r>
              <a:rPr lang="ru-RU" dirty="0"/>
              <a:t> </a:t>
            </a:r>
          </a:p>
          <a:p>
            <a:r>
              <a:rPr lang="ru-RU" dirty="0"/>
              <a:t>Они нужны, чтобы показать механику.</a:t>
            </a:r>
          </a:p>
          <a:p>
            <a:endParaRPr lang="ru-RU" dirty="0"/>
          </a:p>
          <a:p>
            <a:r>
              <a:rPr lang="ru-RU" dirty="0"/>
              <a:t>Но в реальной жизни всё интереснее.</a:t>
            </a:r>
          </a:p>
          <a:p>
            <a:r>
              <a:rPr lang="ru-RU" dirty="0"/>
              <a:t>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делают: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асинхронные операции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работу с сетью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таймеры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ожидание событий </a:t>
            </a:r>
          </a:p>
          <a:p>
            <a:endParaRPr lang="ru-RU" dirty="0"/>
          </a:p>
          <a:p>
            <a:r>
              <a:rPr lang="ru-RU" dirty="0"/>
              <a:t>И для этого приходится писать собственные </a:t>
            </a:r>
            <a:r>
              <a:rPr lang="ru-RU" dirty="0" err="1"/>
              <a:t>awaiter</a:t>
            </a:r>
            <a:r>
              <a:rPr lang="ru-RU" dirty="0"/>
              <a:t>-объекты.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На следующем занятии мы разберём:</a:t>
            </a:r>
          </a:p>
          <a:p>
            <a:r>
              <a:rPr lang="ru-RU" dirty="0"/>
              <a:t>как именно работает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под капотом </a:t>
            </a:r>
          </a:p>
          <a:p>
            <a:r>
              <a:rPr lang="ru-RU" dirty="0"/>
              <a:t>и как написать свой </a:t>
            </a:r>
            <a:r>
              <a:rPr lang="ru-RU" dirty="0" err="1"/>
              <a:t>awaitable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И именно там начинается настоящая сила </a:t>
            </a:r>
            <a:r>
              <a:rPr lang="ru-RU" dirty="0" err="1"/>
              <a:t>корутин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665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использовали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только как механизм «поставить на паузу».</a:t>
            </a:r>
          </a:p>
          <a:p>
            <a:r>
              <a:rPr lang="ru-RU" dirty="0"/>
              <a:t>Но на самом деле это гораздо более мощная конструкция.</a:t>
            </a:r>
          </a:p>
          <a:p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— это способ сказать: «остановись и продолжи выполнение, когда произойдёт нужное событие»</a:t>
            </a:r>
          </a:p>
          <a:p>
            <a:endParaRPr lang="ru-RU" dirty="0"/>
          </a:p>
          <a:p>
            <a:r>
              <a:rPr lang="ru-RU" dirty="0"/>
              <a:t>Таким событием может быть: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завершение асинхронной операции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таймер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другая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И всё это работает через специальный тип объектов — </a:t>
            </a:r>
            <a:r>
              <a:rPr lang="ru-RU" b="1" dirty="0" err="1"/>
              <a:t>awaitable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474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очень важно чётко разделить две роли: </a:t>
            </a:r>
            <a:r>
              <a:rPr lang="ru-RU" dirty="0" err="1"/>
              <a:t>Awaitable</a:t>
            </a:r>
            <a:r>
              <a:rPr lang="ru-RU" dirty="0"/>
              <a:t> и </a:t>
            </a:r>
            <a:r>
              <a:rPr lang="ru-RU" dirty="0" err="1"/>
              <a:t>Awaiter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👉 </a:t>
            </a:r>
            <a:r>
              <a:rPr lang="ru-RU" dirty="0" err="1"/>
              <a:t>Awaitable</a:t>
            </a:r>
            <a:r>
              <a:rPr lang="ru-RU" dirty="0"/>
              <a:t> — это то, что мы пишем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 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timer</a:t>
            </a:r>
            <a:r>
              <a:rPr lang="ru-RU" dirty="0"/>
              <a:t> </a:t>
            </a:r>
          </a:p>
          <a:p>
            <a:r>
              <a:rPr lang="ru-RU" dirty="0"/>
              <a:t>Это просто объект, который представляет «ожидаемую операцию».</a:t>
            </a:r>
          </a:p>
          <a:p>
            <a:endParaRPr lang="ru-RU" dirty="0"/>
          </a:p>
          <a:p>
            <a:r>
              <a:rPr lang="ru-RU" dirty="0"/>
              <a:t>Но сам </a:t>
            </a:r>
            <a:r>
              <a:rPr lang="ru-RU" dirty="0" err="1"/>
              <a:t>Awaitable</a:t>
            </a:r>
            <a:r>
              <a:rPr lang="ru-RU" dirty="0"/>
              <a:t> не обязательно знает, </a:t>
            </a:r>
            <a:r>
              <a:rPr lang="ru-RU" i="1" dirty="0"/>
              <a:t>как</a:t>
            </a:r>
            <a:r>
              <a:rPr lang="ru-RU" dirty="0"/>
              <a:t> ждать. Для этого используется второй объект — </a:t>
            </a:r>
            <a:r>
              <a:rPr lang="ru-RU" dirty="0" err="1"/>
              <a:t>Awaiter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выполняется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</a:t>
            </a:r>
            <a:r>
              <a:rPr lang="ru-RU" dirty="0"/>
              <a:t>, происходит следующее: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компилятор пытается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он есть — он возвращает </a:t>
            </a:r>
            <a:r>
              <a:rPr lang="ru-RU" dirty="0" err="1"/>
              <a:t>Awaiter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нет — считается, что сам объект уже является </a:t>
            </a:r>
            <a:r>
              <a:rPr lang="ru-RU" dirty="0" err="1"/>
              <a:t>Awaiter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То есть возможны два варианта: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объект превращается в </a:t>
            </a:r>
            <a:r>
              <a:rPr lang="ru-RU" dirty="0" err="1"/>
              <a:t>awaiter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он уже сразу реализует нужный интерфейс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Теперь про </a:t>
            </a:r>
            <a:r>
              <a:rPr lang="ru-RU" dirty="0" err="1"/>
              <a:t>Awaiter</a:t>
            </a:r>
            <a:r>
              <a:rPr lang="ru-RU" dirty="0"/>
              <a:t>. Это объект, который управляет поведением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Он отвечает за три вещи: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нужно ли приостанавливаться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что делать при приостановке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что вернуть после возобновления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)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Самая важная идея: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Awaitable</a:t>
            </a:r>
            <a:r>
              <a:rPr lang="ru-RU" dirty="0"/>
              <a:t> — это «что мы ждём»</a:t>
            </a:r>
            <a:br>
              <a:rPr lang="ru-RU" dirty="0"/>
            </a:br>
            <a:r>
              <a:rPr lang="ru-RU" dirty="0" err="1"/>
              <a:t>Awaiter</a:t>
            </a:r>
            <a:r>
              <a:rPr lang="ru-RU" dirty="0"/>
              <a:t> — это «как именно мы это ждём»</a:t>
            </a:r>
          </a:p>
          <a:p>
            <a:br>
              <a:rPr lang="ru-RU" dirty="0"/>
            </a:br>
            <a:r>
              <a:rPr lang="ru-RU" dirty="0"/>
              <a:t>И дальше мы будем писать свои </a:t>
            </a:r>
            <a:r>
              <a:rPr lang="ru-RU" dirty="0" err="1"/>
              <a:t>awaiter</a:t>
            </a:r>
            <a:r>
              <a:rPr lang="ru-RU" dirty="0"/>
              <a:t>-ы, чтобы управлять поведением </a:t>
            </a:r>
            <a:r>
              <a:rPr lang="ru-RU" dirty="0" err="1"/>
              <a:t>корутин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480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разберём, что происходит при выполнении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Сначала из выражения получается </a:t>
            </a:r>
            <a:r>
              <a:rPr lang="ru-RU" dirty="0" err="1"/>
              <a:t>awaiter</a:t>
            </a:r>
            <a:r>
              <a:rPr lang="ru-RU" dirty="0"/>
              <a:t>. Это либо сам объект, либо результат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Дальше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Если он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</a:t>
            </a:r>
            <a:r>
              <a:rPr lang="ru-RU" dirty="0" err="1"/>
              <a:t>корутина</a:t>
            </a:r>
            <a:r>
              <a:rPr lang="ru-RU" dirty="0"/>
              <a:t> не приостанавливается вообще.</a:t>
            </a:r>
            <a:r>
              <a:rPr lang="en-US" dirty="0"/>
              <a:t> </a:t>
            </a:r>
            <a:r>
              <a:rPr lang="ru-RU" dirty="0"/>
              <a:t>Сразу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 </a:t>
            </a:r>
            <a:r>
              <a:rPr lang="ru-RU" dirty="0" err="1"/>
              <a:t>корутина</a:t>
            </a:r>
            <a:r>
              <a:rPr lang="ru-RU" dirty="0"/>
              <a:t> приостанавливается и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мы получаем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текущей </a:t>
            </a:r>
            <a:r>
              <a:rPr lang="ru-RU" dirty="0" err="1"/>
              <a:t>корутины</a:t>
            </a:r>
            <a:r>
              <a:rPr lang="ru-RU" dirty="0"/>
              <a:t>. Это точка, где можно: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сохранить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запланировать её выполнение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передать управление другой </a:t>
            </a:r>
            <a:r>
              <a:rPr lang="ru-RU" dirty="0" err="1"/>
              <a:t>корутине</a:t>
            </a:r>
            <a:r>
              <a:rPr lang="ru-RU" dirty="0"/>
              <a:t>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Очень интересный момент — возвращаемое значение: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dirty="0"/>
              <a:t> → просто остановились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 → продолжить сразу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</a:t>
            </a:r>
            <a:r>
              <a:rPr lang="ru-RU" dirty="0"/>
              <a:t> → переключиться на другую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Когда </a:t>
            </a:r>
            <a:r>
              <a:rPr lang="ru-RU" dirty="0" err="1"/>
              <a:t>корутина</a:t>
            </a:r>
            <a:r>
              <a:rPr lang="ru-RU" dirty="0"/>
              <a:t> возобновляется,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. И результат этого метода становится результатом выражения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068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 на минимальный пример </a:t>
            </a:r>
            <a:r>
              <a:rPr lang="ru-RU" dirty="0" err="1"/>
              <a:t>awaiter</a:t>
            </a:r>
            <a:r>
              <a:rPr lang="ru-RU" dirty="0"/>
              <a:t>-а. Здесь реализованы три ключевых метода, которые мы обсуждали: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Начнём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. Он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 а значит </a:t>
            </a:r>
            <a:r>
              <a:rPr lang="ru-RU" dirty="0" err="1"/>
              <a:t>корутина</a:t>
            </a:r>
            <a:r>
              <a:rPr lang="ru-RU" dirty="0"/>
              <a:t> должна быть приостановлена. Если бы он вернул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никакой паузы бы не произошло.</a:t>
            </a:r>
          </a:p>
          <a:p>
            <a:endParaRPr lang="ru-RU" dirty="0"/>
          </a:p>
          <a:p>
            <a:r>
              <a:rPr lang="ru-RU" dirty="0"/>
              <a:t>Дальше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.</a:t>
            </a:r>
          </a:p>
          <a:p>
            <a:r>
              <a:rPr lang="ru-RU" dirty="0"/>
              <a:t>В этот метод передаётся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текущей </a:t>
            </a:r>
            <a:r>
              <a:rPr lang="ru-RU" dirty="0" err="1"/>
              <a:t>корутины</a:t>
            </a:r>
            <a:r>
              <a:rPr lang="ru-RU" dirty="0"/>
              <a:t>. Это точка, где мы можем решить, что делать дальше: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сохранить </a:t>
            </a:r>
            <a:r>
              <a:rPr lang="ru-RU" dirty="0" err="1"/>
              <a:t>handle</a:t>
            </a:r>
            <a:r>
              <a:rPr lang="ru-RU" dirty="0"/>
              <a:t> и возобновить позже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передать управление другому потоку или событию </a:t>
            </a:r>
          </a:p>
          <a:p>
            <a:r>
              <a:rPr lang="ru-RU" dirty="0"/>
              <a:t>В нашем примере мы сразу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handle.resume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то есть фактически не делаем реальной асинхронности, а просто демонстрируем механику.</a:t>
            </a:r>
          </a:p>
          <a:p>
            <a:r>
              <a:rPr lang="ru-RU" dirty="0"/>
              <a:t>Важно: несмотря на то, что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, </a:t>
            </a:r>
            <a:r>
              <a:rPr lang="ru-RU" dirty="0" err="1"/>
              <a:t>корутина</a:t>
            </a:r>
            <a:r>
              <a:rPr lang="ru-RU" dirty="0"/>
              <a:t> всё равно считается приостановленной на этом этапе.</a:t>
            </a:r>
          </a:p>
          <a:p>
            <a:endParaRPr lang="ru-RU" dirty="0"/>
          </a:p>
          <a:p>
            <a:r>
              <a:rPr lang="ru-RU" dirty="0"/>
              <a:t>И наконец,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. Он вызывается, когда </a:t>
            </a:r>
            <a:r>
              <a:rPr lang="ru-RU" dirty="0" err="1"/>
              <a:t>корутина</a:t>
            </a:r>
            <a:r>
              <a:rPr lang="ru-RU" dirty="0"/>
              <a:t> продолжает выполнение. Его результат становится значением выражения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 В нашем случае возвращается 42.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dirty="0" err="1"/>
              <a:t>awaiter</a:t>
            </a:r>
            <a:r>
              <a:rPr lang="ru-RU" dirty="0"/>
              <a:t> полностью управляет: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будет ли пауза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когда продолжить выполнение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какое значение вернуть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432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это работает вместе.</a:t>
            </a:r>
          </a:p>
          <a:p>
            <a:endParaRPr lang="ru-RU" dirty="0"/>
          </a:p>
          <a:p>
            <a:r>
              <a:rPr lang="ru-RU" dirty="0"/>
              <a:t>У нас есть простая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DoSomething</a:t>
            </a:r>
            <a:r>
              <a:rPr lang="ru-RU" dirty="0"/>
              <a:t>, внутри которой используется: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SimpleAwaiter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{};</a:t>
            </a:r>
          </a:p>
          <a:p>
            <a:endParaRPr lang="ru-RU" dirty="0"/>
          </a:p>
          <a:p>
            <a:r>
              <a:rPr lang="ru-RU" dirty="0"/>
              <a:t>Разберём порядок вызовов по выводу программы.</a:t>
            </a:r>
          </a:p>
          <a:p>
            <a:r>
              <a:rPr lang="ru-RU" dirty="0"/>
              <a:t>Сначала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. Он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 значит </a:t>
            </a:r>
            <a:r>
              <a:rPr lang="ru-RU" dirty="0" err="1"/>
              <a:t>корутина</a:t>
            </a:r>
            <a:r>
              <a:rPr lang="ru-RU" dirty="0"/>
              <a:t> приостанавливается.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Затем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.</a:t>
            </a:r>
          </a:p>
          <a:p>
            <a:r>
              <a:rPr lang="ru-RU" dirty="0"/>
              <a:t>Внутри мы сразу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, поэтому </a:t>
            </a:r>
            <a:r>
              <a:rPr lang="ru-RU" dirty="0" err="1"/>
              <a:t>корутина</a:t>
            </a:r>
            <a:r>
              <a:rPr lang="ru-RU" dirty="0"/>
              <a:t> практически мгновенно продолжает выполнение.</a:t>
            </a:r>
          </a:p>
          <a:p>
            <a:r>
              <a:rPr lang="ru-RU" dirty="0"/>
              <a:t>Но обратите внимание на порядок вывода.</a:t>
            </a:r>
          </a:p>
          <a:p>
            <a:endParaRPr lang="ru-RU" dirty="0"/>
          </a:p>
          <a:p>
            <a:r>
              <a:rPr lang="ru-RU" dirty="0"/>
              <a:t>После этого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, и его результат — 42 — попадает в переменную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Затем выполняется следующая строка </a:t>
            </a:r>
            <a:r>
              <a:rPr lang="ru-RU" dirty="0" err="1"/>
              <a:t>корутины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42</a:t>
            </a:r>
            <a:br>
              <a:rPr lang="ru-RU" dirty="0"/>
            </a:br>
            <a:endParaRPr lang="ru-RU" dirty="0"/>
          </a:p>
          <a:p>
            <a:r>
              <a:rPr lang="ru-RU" dirty="0"/>
              <a:t>И только после этого завершается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, поэтому строка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выводится в самом конце.</a:t>
            </a:r>
          </a:p>
          <a:p>
            <a:endParaRPr lang="ru-RU" dirty="0"/>
          </a:p>
          <a:p>
            <a:r>
              <a:rPr lang="ru-RU" dirty="0"/>
              <a:t>Это может выглядеть неожиданно, но это нормальное поведение: мы вручную возобновили </a:t>
            </a:r>
            <a:r>
              <a:rPr lang="ru-RU" dirty="0" err="1"/>
              <a:t>корутину</a:t>
            </a:r>
            <a:r>
              <a:rPr lang="ru-RU" dirty="0"/>
              <a:t> прямо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Ключевой вывод: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решает, будет ли пауза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управляет моментом приостановки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 возвращает результат </a:t>
            </a:r>
          </a:p>
          <a:p>
            <a:r>
              <a:rPr lang="ru-RU" dirty="0"/>
              <a:t>И вместе они полностью определяют поведение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9979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другой сценарий — 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Это означает, что объект уже «готов», и ждать ничего не нужно.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не приостанавливается вообще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Посмотрим, что происходит по шагам. Сначала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, он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 И на этом всё — никакой приостановки не происходит.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</a:t>
            </a:r>
            <a:r>
              <a:rPr lang="ru-RU" b="1" dirty="0"/>
              <a:t>вообще не вызывается</a:t>
            </a:r>
            <a:r>
              <a:rPr lang="ru-RU" dirty="0"/>
              <a:t>.</a:t>
            </a:r>
          </a:p>
          <a:p>
            <a:r>
              <a:rPr lang="ru-RU" dirty="0"/>
              <a:t>Это важно: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стадия </a:t>
            </a:r>
            <a:r>
              <a:rPr lang="ru-RU" dirty="0" err="1"/>
              <a:t>suspend</a:t>
            </a:r>
            <a:r>
              <a:rPr lang="ru-RU" dirty="0"/>
              <a:t> полностью пропускается.</a:t>
            </a:r>
          </a:p>
          <a:p>
            <a:endParaRPr lang="ru-RU" dirty="0"/>
          </a:p>
          <a:p>
            <a:r>
              <a:rPr lang="ru-RU" dirty="0"/>
              <a:t>Сразу после этого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, и его результат возвращается как результат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Поэтому мы видим такой вывод: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42</a:t>
            </a:r>
            <a:r>
              <a:rPr lang="ru-RU" dirty="0"/>
              <a:t> </a:t>
            </a:r>
          </a:p>
          <a:p>
            <a:r>
              <a:rPr lang="ru-RU" dirty="0"/>
              <a:t>и сразу продолжается выполнение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Ключевая идея: 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работает как обычное выражение без паузы.</a:t>
            </a:r>
          </a:p>
          <a:p>
            <a:endParaRPr lang="ru-RU" dirty="0"/>
          </a:p>
          <a:p>
            <a:r>
              <a:rPr lang="ru-RU" dirty="0"/>
              <a:t>Это важный механизм оптимизации: если результат уже готов, мы не тратим время на приостановку и возобновление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766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переходим к важному сценарию — настоящей приостановке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этом примере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 значит </a:t>
            </a:r>
            <a:r>
              <a:rPr lang="ru-RU" dirty="0" err="1"/>
              <a:t>корутина</a:t>
            </a:r>
            <a:r>
              <a:rPr lang="ru-RU" dirty="0"/>
              <a:t> должна приостановиться.</a:t>
            </a:r>
          </a:p>
          <a:p>
            <a:endParaRPr lang="ru-RU" dirty="0"/>
          </a:p>
          <a:p>
            <a:r>
              <a:rPr lang="ru-RU" dirty="0"/>
              <a:t>Обратите внимание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.</a:t>
            </a:r>
          </a:p>
          <a:p>
            <a:r>
              <a:rPr lang="ru-RU" dirty="0"/>
              <a:t>В отличие от предыдущих примеров, здесь мы </a:t>
            </a:r>
            <a:r>
              <a:rPr lang="ru-RU" b="1" dirty="0"/>
              <a:t>не вызываем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r>
              <a:rPr lang="ru-RU" dirty="0"/>
              <a:t>Это означает: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останавливается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управление возвращается вызывающему коду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дальше ничего не происходит автоматически </a:t>
            </a:r>
          </a:p>
          <a:p>
            <a:endParaRPr lang="ru-RU" dirty="0"/>
          </a:p>
          <a:p>
            <a:r>
              <a:rPr lang="ru-RU" dirty="0"/>
              <a:t>То есть теперь мы действительно получаем «паузу».</a:t>
            </a:r>
          </a:p>
          <a:p>
            <a:endParaRPr lang="ru-RU" dirty="0"/>
          </a:p>
          <a:p>
            <a:r>
              <a:rPr lang="ru-RU" dirty="0"/>
              <a:t>Чтобы потом продолжить выполнение, нам нужен доступ к </a:t>
            </a:r>
            <a:r>
              <a:rPr lang="ru-RU" dirty="0" err="1"/>
              <a:t>корутине</a:t>
            </a:r>
            <a:r>
              <a:rPr lang="ru-RU" dirty="0"/>
              <a:t>. Для этого мы сохраняем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ReturnObject</a:t>
            </a:r>
            <a:r>
              <a:rPr lang="ru-RU" dirty="0"/>
              <a:t>. Именно через него мы позже сможем явно возобновить выполнение.</a:t>
            </a:r>
          </a:p>
          <a:p>
            <a:endParaRPr lang="ru-RU" dirty="0"/>
          </a:p>
          <a:p>
            <a:r>
              <a:rPr lang="ru-RU" dirty="0"/>
              <a:t>Ключевая идея этого слайда: </a:t>
            </a:r>
            <a:r>
              <a:rPr lang="ru-RU" dirty="0" err="1"/>
              <a:t>awaiter</a:t>
            </a:r>
            <a:r>
              <a:rPr lang="ru-RU" dirty="0"/>
              <a:t> может не только приостановить </a:t>
            </a:r>
            <a:r>
              <a:rPr lang="ru-RU" dirty="0" err="1"/>
              <a:t>корутину</a:t>
            </a:r>
            <a:r>
              <a:rPr lang="ru-RU" dirty="0"/>
              <a:t>, но и передать управление наружу, оставив </a:t>
            </a:r>
            <a:r>
              <a:rPr lang="ru-RU" dirty="0" err="1"/>
              <a:t>корутину</a:t>
            </a:r>
            <a:r>
              <a:rPr lang="ru-RU" dirty="0"/>
              <a:t> в «спящем» состоянии.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7694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это работает вместе.</a:t>
            </a:r>
          </a:p>
          <a:p>
            <a:endParaRPr lang="ru-RU" dirty="0"/>
          </a:p>
          <a:p>
            <a:r>
              <a:rPr lang="ru-RU" dirty="0"/>
              <a:t>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DoSomething</a:t>
            </a:r>
            <a:r>
              <a:rPr lang="ru-RU" dirty="0"/>
              <a:t>. Внутри выполняется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SimpleAwaiter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Разберём порядок событий. Сначала: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→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→ </a:t>
            </a:r>
            <a:r>
              <a:rPr lang="ru-RU" dirty="0" err="1"/>
              <a:t>корутина</a:t>
            </a:r>
            <a:r>
              <a:rPr lang="ru-RU" dirty="0"/>
              <a:t> приостанавливается </a:t>
            </a:r>
          </a:p>
          <a:p>
            <a:endParaRPr lang="ru-RU" dirty="0"/>
          </a:p>
          <a:p>
            <a:r>
              <a:rPr lang="ru-RU" dirty="0"/>
              <a:t>После этого выполнение возвращается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Мы видим вывод: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ru-RU" dirty="0" err="1"/>
              <a:t>Корутина</a:t>
            </a:r>
            <a:r>
              <a:rPr lang="ru-RU" dirty="0"/>
              <a:t> остановилась и больше ничего не делает. Теперь мы вручную вызываем: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ret.handle.resume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Это передаёт управление обратно в </a:t>
            </a:r>
            <a:r>
              <a:rPr lang="ru-RU" dirty="0" err="1"/>
              <a:t>корутину</a:t>
            </a:r>
            <a:r>
              <a:rPr lang="ru-RU" dirty="0"/>
              <a:t> — в точку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значение возвращается в переменную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выполняется оставшийся код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И мы видим вывод: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42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42</a:t>
            </a:r>
          </a:p>
          <a:p>
            <a:endParaRPr lang="ru-RU" dirty="0"/>
          </a:p>
          <a:p>
            <a:r>
              <a:rPr lang="ru-RU" dirty="0"/>
              <a:t>После этого </a:t>
            </a:r>
            <a:r>
              <a:rPr lang="ru-RU" dirty="0" err="1"/>
              <a:t>корутина</a:t>
            </a:r>
            <a:r>
              <a:rPr lang="ru-RU" dirty="0"/>
              <a:t> доходит до конца и приостанавливается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Ключевая идея: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может «отпустить» </a:t>
            </a:r>
            <a:r>
              <a:rPr lang="ru-RU" dirty="0" err="1"/>
              <a:t>корутину</a:t>
            </a:r>
            <a:r>
              <a:rPr lang="ru-RU" dirty="0"/>
              <a:t> наружу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возобновление происходит вручную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Это и есть основа асинхронности: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может остановиться и продолжиться позже —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когда мы сами решим или когда произойдёт нужное событие.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425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вернёмся к тем типам, которые мы активно использовали с самого начала —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suspend_never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Теперь мы можем посмотреть на них по-новому.</a:t>
            </a:r>
            <a:r>
              <a:rPr lang="en-US" dirty="0"/>
              <a:t> </a:t>
            </a:r>
            <a:r>
              <a:rPr lang="ru-RU" dirty="0"/>
              <a:t>Это не какие-то «магические» конструкции,</a:t>
            </a:r>
            <a:r>
              <a:rPr lang="en-US" dirty="0"/>
              <a:t> </a:t>
            </a:r>
            <a:r>
              <a:rPr lang="ru-RU" dirty="0"/>
              <a:t>а самые обычные </a:t>
            </a:r>
            <a:r>
              <a:rPr lang="ru-RU" dirty="0" err="1"/>
              <a:t>awaiter</a:t>
            </a:r>
            <a:r>
              <a:rPr lang="ru-RU" dirty="0"/>
              <a:t>-объекты.</a:t>
            </a:r>
          </a:p>
          <a:p>
            <a:endParaRPr lang="en-US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 делает очень простую вещь: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значит, </a:t>
            </a:r>
            <a:r>
              <a:rPr lang="ru-RU" dirty="0" err="1"/>
              <a:t>корутина</a:t>
            </a:r>
            <a:r>
              <a:rPr lang="ru-RU" dirty="0"/>
              <a:t> всегда приостанавливается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Именно поэтому мы использовали его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suspend_never</a:t>
            </a:r>
            <a:r>
              <a:rPr lang="ru-RU" dirty="0"/>
              <a:t> — противоположный вариант:</a:t>
            </a:r>
            <a:r>
              <a:rPr lang="en-US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</a:t>
            </a:r>
            <a:r>
              <a:rPr lang="ru-RU" dirty="0" err="1"/>
              <a:t>орутина</a:t>
            </a:r>
            <a:r>
              <a:rPr lang="ru-RU" dirty="0"/>
              <a:t> не приостанавливается вообще 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625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вручную вызывали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r>
              <a:rPr lang="ru-RU" dirty="0"/>
              <a:t>Но такой подход плохо масштабируется.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реальных программах </a:t>
            </a:r>
            <a:r>
              <a:rPr lang="ru-RU" dirty="0" err="1"/>
              <a:t>корутины</a:t>
            </a:r>
            <a:r>
              <a:rPr lang="ru-RU" dirty="0"/>
              <a:t> часто образуют цепочки.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одна </a:t>
            </a:r>
            <a:r>
              <a:rPr lang="ru-RU" dirty="0" err="1"/>
              <a:t>корутина</a:t>
            </a:r>
            <a:r>
              <a:rPr lang="ru-RU" dirty="0"/>
              <a:t> завершилась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сразу должна начаться другая </a:t>
            </a:r>
          </a:p>
          <a:p>
            <a:endParaRPr lang="ru-RU" dirty="0"/>
          </a:p>
          <a:p>
            <a:r>
              <a:rPr lang="ru-RU" dirty="0"/>
              <a:t>Возникает вопрос: где лучше всего передать управление?</a:t>
            </a:r>
          </a:p>
          <a:p>
            <a:r>
              <a:rPr lang="ru-RU" dirty="0"/>
              <a:t>Ответ —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</a:t>
            </a:r>
          </a:p>
          <a:p>
            <a:r>
              <a:rPr lang="ru-RU" dirty="0"/>
              <a:t>Это точка, где </a:t>
            </a:r>
            <a:r>
              <a:rPr lang="ru-RU" dirty="0" err="1"/>
              <a:t>корутина</a:t>
            </a:r>
            <a:r>
              <a:rPr lang="ru-RU" dirty="0"/>
              <a:t> уже закончила выполнение,</a:t>
            </a:r>
            <a:r>
              <a:rPr lang="en-US" dirty="0"/>
              <a:t> </a:t>
            </a:r>
            <a:r>
              <a:rPr lang="ru-RU" dirty="0"/>
              <a:t>но ещё не уничтожена.</a:t>
            </a:r>
          </a:p>
          <a:p>
            <a:endParaRPr lang="ru-RU" dirty="0"/>
          </a:p>
          <a:p>
            <a:r>
              <a:rPr lang="ru-RU" dirty="0"/>
              <a:t>Идея очень простая:</a:t>
            </a:r>
            <a:r>
              <a:rPr lang="en-US" dirty="0"/>
              <a:t> </a:t>
            </a:r>
            <a:r>
              <a:rPr lang="ru-RU" dirty="0"/>
              <a:t>мы сохраняем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следующей </a:t>
            </a:r>
            <a:r>
              <a:rPr lang="ru-RU" dirty="0" err="1"/>
              <a:t>корутины</a:t>
            </a:r>
            <a:r>
              <a:rPr lang="ru-RU" dirty="0"/>
              <a:t>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 возвращает специальный </a:t>
            </a:r>
            <a:r>
              <a:rPr lang="ru-RU" dirty="0" err="1"/>
              <a:t>awaiter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Внутри его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у следующей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управление передаётся автоматически, без участия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Это и есть механизм </a:t>
            </a:r>
            <a:r>
              <a:rPr lang="ru-RU" dirty="0" err="1"/>
              <a:t>continuation</a:t>
            </a:r>
            <a:r>
              <a:rPr lang="ru-RU" dirty="0"/>
              <a:t> — продолжения выполнения.</a:t>
            </a:r>
          </a:p>
          <a:p>
            <a:endParaRPr lang="ru-RU" dirty="0"/>
          </a:p>
          <a:p>
            <a:r>
              <a:rPr lang="ru-RU" dirty="0"/>
              <a:t>Дальше посмотрим, как это реализовать в коде.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566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давайте посмотрим на класс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, который поддерживает механизм </a:t>
            </a:r>
            <a:r>
              <a:rPr lang="ru-RU" dirty="0" err="1"/>
              <a:t>continuation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Главная идея здесь — хранить ссылку на следующую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/>
              <a:t>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мы добавляем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&lt;&gt;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continuation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Это </a:t>
            </a:r>
            <a:r>
              <a:rPr lang="ru-RU" dirty="0" err="1"/>
              <a:t>handle</a:t>
            </a:r>
            <a:r>
              <a:rPr lang="ru-RU" dirty="0"/>
              <a:t> той </a:t>
            </a:r>
            <a:r>
              <a:rPr lang="ru-RU" dirty="0" err="1"/>
              <a:t>корутины</a:t>
            </a:r>
            <a:r>
              <a:rPr lang="ru-RU" dirty="0"/>
              <a:t>, которую нужно запустить после завершения текущей.</a:t>
            </a:r>
          </a:p>
          <a:p>
            <a:endParaRPr lang="ru-RU" dirty="0"/>
          </a:p>
          <a:p>
            <a:r>
              <a:rPr lang="ru-RU" dirty="0"/>
              <a:t>Дальше, в самом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, у нас по-прежнему хранится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текущей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Через него мы можем запустить выполнение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) или управлять жизненным циклом </a:t>
            </a:r>
            <a:br>
              <a:rPr lang="ru-RU" dirty="0"/>
            </a:br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SetContinuation</a:t>
            </a:r>
            <a:r>
              <a:rPr lang="ru-RU" dirty="0"/>
              <a:t> позволяет связать две </a:t>
            </a:r>
            <a:r>
              <a:rPr lang="ru-RU" dirty="0" err="1"/>
              <a:t>корутины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handle.promise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continuation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h;</a:t>
            </a:r>
          </a:p>
          <a:p>
            <a:r>
              <a:rPr lang="ru-RU" dirty="0"/>
              <a:t>То есть мы явно говорим: «после завершения этой </a:t>
            </a:r>
            <a:r>
              <a:rPr lang="ru-RU" dirty="0" err="1"/>
              <a:t>корутины</a:t>
            </a:r>
            <a:r>
              <a:rPr lang="ru-RU" dirty="0"/>
              <a:t> нужно продолжить вот эту»</a:t>
            </a:r>
          </a:p>
          <a:p>
            <a:endParaRPr lang="ru-RU" dirty="0"/>
          </a:p>
          <a:p>
            <a:r>
              <a:rPr lang="ru-RU" dirty="0"/>
              <a:t>Обратите внимание,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по-прежнему владеет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</a:p>
          <a:p>
            <a:r>
              <a:rPr lang="ru-RU" dirty="0"/>
              <a:t>В деструкторе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destroy</a:t>
            </a:r>
            <a:r>
              <a:rPr lang="ru-RU" dirty="0"/>
              <a:t>, что освобождает все ресурсы.</a:t>
            </a:r>
          </a:p>
          <a:p>
            <a:endParaRPr lang="ru-RU" dirty="0"/>
          </a:p>
          <a:p>
            <a:r>
              <a:rPr lang="ru-RU" dirty="0"/>
              <a:t>И наконец,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просто передаёт управление в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3221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мы делаем ключевой шаг — встраиваем </a:t>
            </a:r>
            <a:r>
              <a:rPr lang="ru-RU" dirty="0" err="1"/>
              <a:t>continuation</a:t>
            </a:r>
            <a:r>
              <a:rPr lang="ru-RU" dirty="0"/>
              <a:t> прямо в жизненный цикл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 Мы уже добавили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continuation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Это </a:t>
            </a:r>
            <a:r>
              <a:rPr lang="ru-RU" dirty="0" err="1"/>
              <a:t>корутина</a:t>
            </a:r>
            <a:r>
              <a:rPr lang="ru-RU" dirty="0"/>
              <a:t>, которую нужно запустить после завершения текущей.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Теперь самое важное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 Вместо стандартного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 мы возвращаем </a:t>
            </a:r>
            <a:r>
              <a:rPr lang="ru-RU" b="1" dirty="0"/>
              <a:t>свой </a:t>
            </a:r>
            <a:r>
              <a:rPr lang="ru-RU" b="1" dirty="0" err="1"/>
              <a:t>awaiter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Разберём, что он делает.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 значит </a:t>
            </a:r>
            <a:r>
              <a:rPr lang="ru-RU" dirty="0" err="1"/>
              <a:t>корутина</a:t>
            </a:r>
            <a:r>
              <a:rPr lang="ru-RU" dirty="0"/>
              <a:t> действительно приостанавливается в конце.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Дальше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. И вот здесь происходит главное: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текущая </a:t>
            </a:r>
            <a:r>
              <a:rPr lang="ru-RU" dirty="0" err="1"/>
              <a:t>корутина</a:t>
            </a:r>
            <a:r>
              <a:rPr lang="ru-RU" dirty="0"/>
              <a:t> завершилась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мы берём </a:t>
            </a:r>
            <a:r>
              <a:rPr lang="ru-RU" dirty="0" err="1"/>
              <a:t>continuation</a:t>
            </a:r>
            <a:r>
              <a:rPr lang="ru-RU" dirty="0"/>
              <a:t>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вызываем у неё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Таким образом управление автоматически передаётся следующей </a:t>
            </a:r>
            <a:r>
              <a:rPr lang="ru-RU" dirty="0" err="1"/>
              <a:t>корутине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внимание: мы не возвращаем управление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а сразу переключаемся на другую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 здесь ничего не делает — он нужен только для соответствия интерфейсу.</a:t>
            </a:r>
          </a:p>
          <a:p>
            <a:br>
              <a:rPr lang="ru-RU" dirty="0"/>
            </a:br>
            <a:r>
              <a:rPr lang="ru-RU" dirty="0"/>
              <a:t>И ещё один важный момент — деструктор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 Он показывает, когда реально уничтожается состояние </a:t>
            </a:r>
            <a:r>
              <a:rPr lang="ru-RU" dirty="0" err="1"/>
              <a:t>корутины</a:t>
            </a:r>
            <a:r>
              <a:rPr lang="ru-RU" dirty="0"/>
              <a:t>. Это происходит после завершения всей цепочки и освобождения ресурсов.</a:t>
            </a:r>
          </a:p>
          <a:p>
            <a:endParaRPr lang="ru-RU" dirty="0"/>
          </a:p>
          <a:p>
            <a:r>
              <a:rPr lang="ru-RU" dirty="0"/>
              <a:t>Ключевая идея: мы встроили </a:t>
            </a:r>
            <a:r>
              <a:rPr lang="ru-RU" dirty="0" err="1"/>
              <a:t>continuation</a:t>
            </a:r>
            <a:r>
              <a:rPr lang="ru-RU" dirty="0"/>
              <a:t> прямо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dirty="0"/>
              <a:t>и теперь </a:t>
            </a:r>
            <a:r>
              <a:rPr lang="ru-RU" dirty="0" err="1"/>
              <a:t>корутины</a:t>
            </a:r>
            <a:r>
              <a:rPr lang="ru-RU" dirty="0"/>
              <a:t> могут вызывать друг друга автоматически без внешнего управления.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366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</a:t>
            </a:r>
            <a:r>
              <a:rPr lang="ru-RU" dirty="0" err="1"/>
              <a:t>continuation</a:t>
            </a:r>
            <a:r>
              <a:rPr lang="ru-RU" dirty="0"/>
              <a:t> работает на практике.</a:t>
            </a:r>
          </a:p>
          <a:p>
            <a:r>
              <a:rPr lang="ru-RU" dirty="0"/>
              <a:t>У нас есть две </a:t>
            </a:r>
            <a:r>
              <a:rPr lang="ru-RU" dirty="0" err="1"/>
              <a:t>корутины</a:t>
            </a:r>
            <a:r>
              <a:rPr lang="ru-RU" dirty="0"/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FirstCoroutine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SecondCoroutine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FirstCoroutine</a:t>
            </a:r>
            <a:r>
              <a:rPr lang="ru-RU" dirty="0"/>
              <a:t> сначала печатает сообщение, потом приостанавливается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{}</a:t>
            </a:r>
            <a:r>
              <a:rPr lang="ru-RU" dirty="0"/>
              <a:t>, затем после возобновления печатает второе сообщение и завершается.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SecondCoroutine</a:t>
            </a:r>
            <a:r>
              <a:rPr lang="ru-RU" dirty="0"/>
              <a:t> просто печатает сообщение и сразу завершается.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 создаём обе </a:t>
            </a:r>
            <a:r>
              <a:rPr lang="ru-RU" dirty="0" err="1"/>
              <a:t>корутины</a:t>
            </a:r>
            <a:r>
              <a:rPr lang="ru-RU" dirty="0"/>
              <a:t>. Так как у них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, они пока не выполняются.</a:t>
            </a:r>
          </a:p>
          <a:p>
            <a:r>
              <a:rPr lang="ru-RU" dirty="0"/>
              <a:t>Затем мы вызываем: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first.SetContinuation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second.handle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dirty="0"/>
              <a:t>То есть говорим: 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</a:t>
            </a:r>
            <a:r>
              <a:rPr lang="ru-RU" dirty="0"/>
              <a:t> завершится, нужно запустить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first.Resume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первый раз. Запускается первая </a:t>
            </a:r>
            <a:r>
              <a:rPr lang="ru-RU" dirty="0" err="1"/>
              <a:t>корутина</a:t>
            </a:r>
            <a:r>
              <a:rPr lang="ru-RU" dirty="0"/>
              <a:t>, печатает: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started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и приостанавливается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Затем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first.Resume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второй раз. Первая </a:t>
            </a:r>
            <a:r>
              <a:rPr lang="ru-RU" dirty="0" err="1"/>
              <a:t>корутина</a:t>
            </a:r>
            <a:r>
              <a:rPr lang="ru-RU" dirty="0"/>
              <a:t> продолжает выполнение, печатает: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ru-RU" dirty="0"/>
              <a:t>и доходит до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этот момент срабатывает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 Именно там мы берём </a:t>
            </a:r>
            <a:r>
              <a:rPr lang="ru-RU" dirty="0" err="1"/>
              <a:t>continuation</a:t>
            </a:r>
            <a:r>
              <a:rPr lang="ru-RU" dirty="0"/>
              <a:t> и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 второй </a:t>
            </a:r>
            <a:r>
              <a:rPr lang="ru-RU" dirty="0" err="1"/>
              <a:t>корутины</a:t>
            </a:r>
            <a:r>
              <a:rPr lang="ru-RU" dirty="0"/>
              <a:t>. Поэтому сразу после завершения первой </a:t>
            </a:r>
            <a:r>
              <a:rPr lang="ru-RU" dirty="0" err="1"/>
              <a:t>корутины</a:t>
            </a:r>
            <a:r>
              <a:rPr lang="ru-RU" dirty="0"/>
              <a:t> запускается вторая и печатает: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Second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started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В конце обе </a:t>
            </a:r>
            <a:r>
              <a:rPr lang="ru-RU" dirty="0" err="1"/>
              <a:t>корутины</a:t>
            </a:r>
            <a:r>
              <a:rPr lang="ru-RU" dirty="0"/>
              <a:t> завершены, поэтому проверки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проходят успешно.</a:t>
            </a:r>
          </a:p>
          <a:p>
            <a:r>
              <a:rPr lang="ru-RU" dirty="0"/>
              <a:t>А когда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-объекты разрушаются, уничтожаются связанные с ними </a:t>
            </a:r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и </a:t>
            </a:r>
            <a:r>
              <a:rPr lang="ru-RU" dirty="0" err="1"/>
              <a:t>promise</a:t>
            </a:r>
            <a:r>
              <a:rPr lang="ru-RU" dirty="0"/>
              <a:t>-объекты.</a:t>
            </a:r>
          </a:p>
          <a:p>
            <a:endParaRPr lang="ru-RU" dirty="0"/>
          </a:p>
          <a:p>
            <a:r>
              <a:rPr lang="ru-RU" dirty="0"/>
              <a:t>Главная идея: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явно запускает только первую </a:t>
            </a:r>
            <a:r>
              <a:rPr lang="ru-RU" dirty="0" err="1"/>
              <a:t>корутину</a:t>
            </a:r>
            <a:r>
              <a:rPr lang="ru-RU" dirty="0"/>
              <a:t>, а вторая запускается автоматически как </a:t>
            </a:r>
            <a:r>
              <a:rPr lang="ru-RU" dirty="0" err="1"/>
              <a:t>continuation</a:t>
            </a:r>
            <a:r>
              <a:rPr lang="ru-RU" dirty="0"/>
              <a:t> первой.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0774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Сейчас мы реализовали важный механизм — </a:t>
            </a:r>
            <a:r>
              <a:rPr lang="ru-RU" dirty="0" err="1"/>
              <a:t>continuation</a:t>
            </a:r>
            <a:r>
              <a:rPr lang="ru-RU" dirty="0"/>
              <a:t>.</a:t>
            </a:r>
          </a:p>
          <a:p>
            <a:r>
              <a:rPr lang="ru-RU" dirty="0"/>
              <a:t>Одна </a:t>
            </a:r>
            <a:r>
              <a:rPr lang="ru-RU" dirty="0" err="1"/>
              <a:t>корутина</a:t>
            </a:r>
            <a:r>
              <a:rPr lang="ru-RU" dirty="0"/>
              <a:t> может автоматически запустить другую при завершении.</a:t>
            </a:r>
          </a:p>
          <a:p>
            <a:endParaRPr lang="ru-RU" dirty="0"/>
          </a:p>
          <a:p>
            <a:r>
              <a:rPr lang="ru-RU" dirty="0"/>
              <a:t>Но этот пример остаётся демонстрационным.</a:t>
            </a:r>
          </a:p>
          <a:p>
            <a:r>
              <a:rPr lang="ru-RU" dirty="0"/>
              <a:t>Обратите внимание: нам всё ещё приходится вручную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.</a:t>
            </a:r>
          </a:p>
          <a:p>
            <a:r>
              <a:rPr lang="ru-RU" dirty="0"/>
              <a:t>То есть управление по-прежнему находится снаружи,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реальных программах так писать неудобно.</a:t>
            </a:r>
          </a:p>
          <a:p>
            <a:r>
              <a:rPr lang="ru-RU" dirty="0"/>
              <a:t>Мы хотим более естественный стиль: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запустить задачу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приостановиться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продолжить выполнение, когда она завершится </a:t>
            </a:r>
          </a:p>
          <a:p>
            <a:endParaRPr lang="ru-RU" dirty="0"/>
          </a:p>
          <a:p>
            <a:r>
              <a:rPr lang="ru-RU" dirty="0"/>
              <a:t>Именно для этого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Идея в том, чтобы можно было написать: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И при этом: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корутина</a:t>
            </a:r>
            <a:r>
              <a:rPr lang="ru-RU" dirty="0"/>
              <a:t> автоматически приостановится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управление передастся другой задаче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затем выполнение продолжится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1884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794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этого момента мы уже умеем: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приостанавливать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возобновлять её вручную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даже передавать управление через </a:t>
            </a:r>
            <a:r>
              <a:rPr lang="ru-RU" dirty="0" err="1"/>
              <a:t>continuation</a:t>
            </a:r>
            <a:r>
              <a:rPr lang="ru-RU" dirty="0"/>
              <a:t>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Теперь мы хотим сделать следующий шаг — перейти к привычному асинхронному стилю: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Что должно происходить в этот момент?</a:t>
            </a:r>
          </a:p>
          <a:p>
            <a:endParaRPr lang="ru-RU" dirty="0"/>
          </a:p>
          <a:p>
            <a:r>
              <a:rPr lang="ru-RU" dirty="0"/>
              <a:t>Во-первых, текущая </a:t>
            </a:r>
            <a:r>
              <a:rPr lang="ru-RU" dirty="0" err="1"/>
              <a:t>корутина</a:t>
            </a:r>
            <a:r>
              <a:rPr lang="ru-RU" dirty="0"/>
              <a:t> должна приостановиться.</a:t>
            </a:r>
          </a:p>
          <a:p>
            <a:r>
              <a:rPr lang="ru-RU" dirty="0"/>
              <a:t>Во-вторых, управление должно перейти к той задаче, которую мы ожидаем.</a:t>
            </a:r>
          </a:p>
          <a:p>
            <a:endParaRPr lang="ru-RU" dirty="0"/>
          </a:p>
          <a:p>
            <a:r>
              <a:rPr lang="ru-RU" dirty="0"/>
              <a:t>Когда эта задача завершится, она должна автоматически возобновить исходную </a:t>
            </a:r>
            <a:r>
              <a:rPr lang="ru-RU" dirty="0" err="1"/>
              <a:t>корутину</a:t>
            </a:r>
            <a:r>
              <a:rPr lang="ru-RU" dirty="0"/>
              <a:t>.</a:t>
            </a:r>
          </a:p>
          <a:p>
            <a:r>
              <a:rPr lang="ru-RU" dirty="0"/>
              <a:t>И при этом вернуть результат в выражение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Чтобы это реализовать, нам нужно связать две </a:t>
            </a:r>
            <a:r>
              <a:rPr lang="ru-RU" dirty="0" err="1"/>
              <a:t>корутины</a:t>
            </a:r>
            <a:r>
              <a:rPr lang="ru-RU" dirty="0"/>
              <a:t>: ожидающую  и выполняемую </a:t>
            </a:r>
          </a:p>
          <a:p>
            <a:endParaRPr lang="ru-RU" dirty="0"/>
          </a:p>
          <a:p>
            <a:r>
              <a:rPr lang="ru-RU" dirty="0"/>
              <a:t>Это делается через несколько компонентов: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хранит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хранит </a:t>
            </a:r>
            <a:r>
              <a:rPr lang="ru-RU" dirty="0" err="1"/>
              <a:t>continuation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 передаёт управление назад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связывает всё это вместе </a:t>
            </a:r>
          </a:p>
          <a:p>
            <a:endParaRPr lang="ru-RU" dirty="0"/>
          </a:p>
          <a:p>
            <a:r>
              <a:rPr lang="ru-RU" dirty="0"/>
              <a:t>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— это точка, где мы превращаем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в </a:t>
            </a:r>
            <a:r>
              <a:rPr lang="ru-RU" dirty="0" err="1"/>
              <a:t>awaitable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Дальше мы разберём реализацию по шагам и увидим, как все эти части складываются в единый механизм.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3928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переходим к реализации класса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, который будет представлять асинхронную задачу.</a:t>
            </a:r>
          </a:p>
          <a:p>
            <a:endParaRPr lang="ru-RU" dirty="0"/>
          </a:p>
          <a:p>
            <a:r>
              <a:rPr lang="ru-RU" dirty="0"/>
              <a:t>С точки зрения пользователя это просто объект, который возвращается из </a:t>
            </a:r>
            <a:r>
              <a:rPr lang="ru-RU" dirty="0" err="1"/>
              <a:t>корутины</a:t>
            </a:r>
            <a:r>
              <a:rPr lang="ru-RU" dirty="0"/>
              <a:t> и который можно ожидать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хранится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. Это основной механизм управления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</a:p>
          <a:p>
            <a:r>
              <a:rPr lang="ru-RU" dirty="0"/>
              <a:t>Именно через него мы можем: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передать управление </a:t>
            </a:r>
            <a:r>
              <a:rPr lang="ru-RU" dirty="0" err="1"/>
              <a:t>корутине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получить доступ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проверить состояние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Обратите внимание на строку: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detail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TaskPromise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&lt;T&gt;;</a:t>
            </a:r>
          </a:p>
          <a:p>
            <a:r>
              <a:rPr lang="ru-RU" dirty="0"/>
              <a:t>Это связывает </a:t>
            </a:r>
            <a:r>
              <a:rPr lang="ru-RU" dirty="0" err="1"/>
              <a:t>корутину</a:t>
            </a:r>
            <a:r>
              <a:rPr lang="ru-RU" dirty="0"/>
              <a:t> с конкретной реализацией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. Компилятор будет использовать этот тип при генерации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Также здесь есть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friend</a:t>
            </a:r>
            <a:r>
              <a:rPr lang="ru-RU" dirty="0"/>
              <a:t>, который даёт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доступ к приватному конструктору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. Это нужно, потому что 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promise_type</a:t>
            </a:r>
            <a:r>
              <a:rPr lang="ru-RU" dirty="0"/>
              <a:t> создаёт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get_return_object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Конструктор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принимает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и сохраняет его внутри. Это означает, что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становится владельцем </a:t>
            </a:r>
            <a:r>
              <a:rPr lang="ru-RU" dirty="0" err="1"/>
              <a:t>корутины</a:t>
            </a:r>
            <a:r>
              <a:rPr lang="ru-RU" dirty="0"/>
              <a:t> и отвечает за её жизненный цикл.</a:t>
            </a:r>
          </a:p>
          <a:p>
            <a:endParaRPr lang="ru-RU" dirty="0"/>
          </a:p>
          <a:p>
            <a:r>
              <a:rPr lang="ru-RU" dirty="0"/>
              <a:t>Ключевая идея этого слайда: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— это оболочка над </a:t>
            </a:r>
            <a:r>
              <a:rPr lang="ru-RU" dirty="0" err="1"/>
              <a:t>корутиной</a:t>
            </a:r>
            <a:r>
              <a:rPr lang="ru-RU" dirty="0"/>
              <a:t>, которая хранит </a:t>
            </a:r>
            <a:r>
              <a:rPr lang="ru-RU" dirty="0" err="1"/>
              <a:t>handle</a:t>
            </a:r>
            <a:r>
              <a:rPr lang="ru-RU" dirty="0"/>
              <a:t> и предоставляет интерфейс для работы с ней.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4999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базовую реализацию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, которая отвечает за управление жизненным циклом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Начнём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initial_suspend</a:t>
            </a:r>
            <a:r>
              <a:rPr lang="ru-RU" dirty="0"/>
              <a:t>.</a:t>
            </a:r>
          </a:p>
          <a:p>
            <a:r>
              <a:rPr lang="ru-RU" dirty="0"/>
              <a:t>Он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suspend_always</a:t>
            </a:r>
            <a:r>
              <a:rPr lang="ru-RU" dirty="0"/>
              <a:t>, а это означает, что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b="1" dirty="0"/>
              <a:t>не начнёт выполняться сразу</a:t>
            </a:r>
            <a:r>
              <a:rPr lang="ru-RU" dirty="0"/>
              <a:t> после создания. Она создаётся в приостановленном состоянии и будет запущена только тогда, когда её начнут ожидать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или явно возобновят.</a:t>
            </a:r>
          </a:p>
          <a:p>
            <a:endParaRPr lang="ru-RU" dirty="0"/>
          </a:p>
          <a:p>
            <a:r>
              <a:rPr lang="ru-RU" dirty="0"/>
              <a:t>Теперь ключевой элемент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</a:t>
            </a:r>
          </a:p>
          <a:p>
            <a:r>
              <a:rPr lang="ru-RU" dirty="0"/>
              <a:t>Здесь мы возвращаем не стандартный </a:t>
            </a:r>
            <a:r>
              <a:rPr lang="ru-RU" dirty="0" err="1"/>
              <a:t>awaiter</a:t>
            </a:r>
            <a:r>
              <a:rPr lang="ru-RU" dirty="0"/>
              <a:t>, а собственный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FinalAwaitable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Разберём его поведение.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 поэтому </a:t>
            </a:r>
            <a:r>
              <a:rPr lang="ru-RU" dirty="0" err="1"/>
              <a:t>корутина</a:t>
            </a:r>
            <a:r>
              <a:rPr lang="ru-RU" dirty="0"/>
              <a:t> приостанавливается в конце выполнения.</a:t>
            </a:r>
          </a:p>
          <a:p>
            <a:endParaRPr lang="ru-RU" dirty="0"/>
          </a:p>
          <a:p>
            <a:r>
              <a:rPr lang="ru-RU" dirty="0"/>
              <a:t>Дальше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. И здесь происходит самое важное: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coro.promise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m_continuation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ru-RU" dirty="0"/>
          </a:p>
          <a:p>
            <a:r>
              <a:rPr lang="ru-RU" dirty="0"/>
              <a:t>Мы не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 вручную, а </a:t>
            </a:r>
            <a:r>
              <a:rPr lang="ru-RU" b="1" dirty="0"/>
              <a:t>возвращаем </a:t>
            </a:r>
            <a:r>
              <a:rPr lang="ru-RU" b="1" dirty="0" err="1"/>
              <a:t>handle</a:t>
            </a:r>
            <a:r>
              <a:rPr lang="ru-RU" b="1" dirty="0"/>
              <a:t> следующей </a:t>
            </a:r>
            <a:r>
              <a:rPr lang="ru-RU" b="1" dirty="0" err="1"/>
              <a:t>корутины</a:t>
            </a:r>
            <a:r>
              <a:rPr lang="ru-RU" dirty="0"/>
              <a:t>. Это специальное поведение: когда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, управление передаётся именно этой </a:t>
            </a:r>
            <a:r>
              <a:rPr lang="ru-RU" dirty="0" err="1"/>
              <a:t>корутине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происходит автоматическое переключение: текущая </a:t>
            </a:r>
            <a:r>
              <a:rPr lang="ru-RU" dirty="0" err="1"/>
              <a:t>корутина</a:t>
            </a:r>
            <a:r>
              <a:rPr lang="ru-RU" dirty="0"/>
              <a:t> завершилась → управление передано </a:t>
            </a:r>
            <a:r>
              <a:rPr lang="ru-RU" dirty="0" err="1"/>
              <a:t>continuation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SetContinuation</a:t>
            </a:r>
            <a:r>
              <a:rPr lang="ru-RU" dirty="0"/>
              <a:t> просто сохраняет </a:t>
            </a:r>
            <a:r>
              <a:rPr lang="ru-RU" dirty="0" err="1"/>
              <a:t>handle</a:t>
            </a:r>
            <a:r>
              <a:rPr lang="ru-RU" dirty="0"/>
              <a:t> следующей </a:t>
            </a:r>
            <a:r>
              <a:rPr lang="ru-RU" dirty="0" err="1"/>
              <a:t>корутины</a:t>
            </a:r>
            <a:r>
              <a:rPr lang="ru-RU" dirty="0"/>
              <a:t>. Это будет использоваться позже, когда одна </a:t>
            </a:r>
            <a:r>
              <a:rPr lang="ru-RU" dirty="0" err="1"/>
              <a:t>корутина</a:t>
            </a:r>
            <a:r>
              <a:rPr lang="ru-RU" dirty="0"/>
              <a:t> начинает ожидать другую.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Ключевая идея: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 — это точка, где </a:t>
            </a:r>
            <a:r>
              <a:rPr lang="ru-RU" dirty="0" err="1"/>
              <a:t>корутина</a:t>
            </a:r>
            <a:r>
              <a:rPr lang="ru-RU" dirty="0"/>
              <a:t> передаёт управление дальше,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continuation</a:t>
            </a:r>
            <a:r>
              <a:rPr lang="ru-RU" dirty="0"/>
              <a:t> — это механизм, который связывает </a:t>
            </a:r>
            <a:r>
              <a:rPr lang="ru-RU" dirty="0" err="1"/>
              <a:t>корутины</a:t>
            </a:r>
            <a:r>
              <a:rPr lang="ru-RU" dirty="0"/>
              <a:t> в цепочку.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3714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конкретную реализацию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для задач, возвращающих значение.</a:t>
            </a:r>
          </a:p>
          <a:p>
            <a:endParaRPr lang="ru-RU" dirty="0"/>
          </a:p>
          <a:p>
            <a:r>
              <a:rPr lang="ru-RU" dirty="0"/>
              <a:t>Этот класс наследуется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TaskPromiseBase</a:t>
            </a:r>
            <a:r>
              <a:rPr lang="ru-RU" dirty="0"/>
              <a:t>, где уже реализована логика </a:t>
            </a:r>
            <a:r>
              <a:rPr lang="ru-RU" dirty="0" err="1"/>
              <a:t>continuation</a:t>
            </a:r>
            <a:r>
              <a:rPr lang="ru-RU" dirty="0"/>
              <a:t> и управления жизненным циклом. Здесь мы добавляем хранение результата.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Обратите внимание на поле: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variant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monostate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exception_ptr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Оно может находиться в трёх состояниях: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значения ещё нет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есть результат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произошло исключение 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return_value</a:t>
            </a:r>
            <a:r>
              <a:rPr lang="ru-RU" dirty="0"/>
              <a:t> вызывается при выполнении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co_return</a:t>
            </a:r>
            <a:r>
              <a:rPr lang="ru-RU" dirty="0"/>
              <a:t>. Он сохраняет результат внутрь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внутри </a:t>
            </a:r>
            <a:r>
              <a:rPr lang="ru-RU" dirty="0" err="1"/>
              <a:t>корутины</a:t>
            </a:r>
            <a:r>
              <a:rPr lang="ru-RU" dirty="0"/>
              <a:t> произошло исключение,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unhandled_exception</a:t>
            </a:r>
            <a:r>
              <a:rPr lang="ru-RU" dirty="0"/>
              <a:t>. Мы сохраняем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exception_ptr</a:t>
            </a:r>
            <a:r>
              <a:rPr lang="ru-RU" dirty="0"/>
              <a:t>, чтобы потом корректно пробросить исключение наружу.</a:t>
            </a:r>
          </a:p>
          <a:p>
            <a:endParaRPr lang="ru-RU" dirty="0"/>
          </a:p>
          <a:p>
            <a:r>
              <a:rPr lang="ru-RU" dirty="0"/>
              <a:t>Теперь самое важное —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GetResult</a:t>
            </a:r>
            <a:r>
              <a:rPr lang="ru-RU" dirty="0"/>
              <a:t>.</a:t>
            </a:r>
          </a:p>
          <a:p>
            <a:r>
              <a:rPr lang="ru-RU" dirty="0"/>
              <a:t>Он вызывается после завершения </a:t>
            </a:r>
            <a:r>
              <a:rPr lang="ru-RU" dirty="0" err="1"/>
              <a:t>корутины</a:t>
            </a:r>
            <a:r>
              <a:rPr lang="ru-RU" dirty="0"/>
              <a:t> и делает следующее: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есть значение, возвращает его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есть исключение, выбрасывает его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ничего нет, это логическая ошибка </a:t>
            </a:r>
          </a:p>
          <a:p>
            <a:endParaRPr lang="ru-RU" dirty="0"/>
          </a:p>
          <a:p>
            <a:r>
              <a:rPr lang="ru-RU" dirty="0"/>
              <a:t>Также здесь есть две версии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GetResult</a:t>
            </a:r>
            <a:r>
              <a:rPr lang="ru-RU" dirty="0"/>
              <a:t>: для </a:t>
            </a:r>
            <a:r>
              <a:rPr lang="ru-RU" dirty="0" err="1"/>
              <a:t>lvalue</a:t>
            </a:r>
            <a:r>
              <a:rPr lang="ru-RU" dirty="0"/>
              <a:t> и </a:t>
            </a:r>
            <a:r>
              <a:rPr lang="ru-RU" dirty="0" err="1"/>
              <a:t>rvalue</a:t>
            </a:r>
            <a:r>
              <a:rPr lang="ru-RU" dirty="0"/>
              <a:t>. Это нужно для корректной работы с перемещением, чтобы не делать лишние копии.</a:t>
            </a:r>
          </a:p>
          <a:p>
            <a:endParaRPr lang="ru-RU" dirty="0"/>
          </a:p>
          <a:p>
            <a:r>
              <a:rPr lang="ru-RU" dirty="0"/>
              <a:t>Ключевая идея этого слайда: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отвечает не только за управление выполнением, но и за передачу результата или ошибки обратно вызывающему коду.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30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специализация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TaskPromise</a:t>
            </a:r>
            <a:r>
              <a:rPr lang="ru-RU" dirty="0"/>
              <a:t> для случая, когда </a:t>
            </a:r>
            <a:r>
              <a:rPr lang="ru-RU" dirty="0" err="1"/>
              <a:t>корутина</a:t>
            </a:r>
            <a:r>
              <a:rPr lang="ru-RU" dirty="0"/>
              <a:t> ничего не возвращает.</a:t>
            </a:r>
          </a:p>
          <a:p>
            <a:endParaRPr lang="ru-RU" dirty="0"/>
          </a:p>
          <a:p>
            <a:r>
              <a:rPr lang="ru-RU" dirty="0"/>
              <a:t>Здесь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return_value</a:t>
            </a:r>
            <a:r>
              <a:rPr lang="ru-RU" dirty="0"/>
              <a:t>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return_void</a:t>
            </a:r>
            <a:r>
              <a:rPr lang="ru-RU" dirty="0"/>
              <a:t>, потому что у нас нет значения.</a:t>
            </a:r>
          </a:p>
          <a:p>
            <a:endParaRPr lang="ru-RU" dirty="0"/>
          </a:p>
          <a:p>
            <a:r>
              <a:rPr lang="ru-RU" dirty="0"/>
              <a:t>Если происходит исключение, мы сохраняем его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exception_ptr</a:t>
            </a:r>
            <a:r>
              <a:rPr lang="ru-RU" dirty="0"/>
              <a:t>, как и раньше.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GetResult</a:t>
            </a:r>
            <a:r>
              <a:rPr lang="ru-RU" dirty="0"/>
              <a:t> в этом случае просто проверяет, было ли исключение, и при необходимости выбрасывает его.</a:t>
            </a:r>
          </a:p>
          <a:p>
            <a:endParaRPr lang="ru-RU" dirty="0"/>
          </a:p>
          <a:p>
            <a:r>
              <a:rPr lang="ru-RU" dirty="0"/>
              <a:t>Идея та же самая: даже если значения нет, мы должны корректно обработать возможную ошибку.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784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ключевой слайд: здесь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 становится объектом, который можно ожидать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, который возвращает </a:t>
            </a:r>
            <a:r>
              <a:rPr lang="ru-RU" dirty="0" err="1"/>
              <a:t>awaitable</a:t>
            </a:r>
            <a:r>
              <a:rPr lang="ru-RU" dirty="0"/>
              <a:t>-объект.</a:t>
            </a:r>
          </a:p>
          <a:p>
            <a:endParaRPr lang="ru-RU" dirty="0"/>
          </a:p>
          <a:p>
            <a:r>
              <a:rPr lang="ru-RU" dirty="0"/>
              <a:t>Внутри него три стандартных метода.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await_ready</a:t>
            </a:r>
            <a:r>
              <a:rPr lang="ru-RU" dirty="0"/>
              <a:t> проверяет, нужно ли вообще приостанавливаться. Если </a:t>
            </a:r>
            <a:r>
              <a:rPr lang="ru-RU" dirty="0" err="1"/>
              <a:t>корутины</a:t>
            </a:r>
            <a:r>
              <a:rPr lang="ru-RU" dirty="0"/>
              <a:t> нет или она уже завершена, ждать не нужно.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await_suspend</a:t>
            </a:r>
            <a:r>
              <a:rPr lang="ru-RU" dirty="0"/>
              <a:t> вызывается, если задача ещё не готова. В этот момент мы сохраняем текущую </a:t>
            </a:r>
            <a:r>
              <a:rPr lang="ru-RU" dirty="0" err="1"/>
              <a:t>корутину</a:t>
            </a:r>
            <a:r>
              <a:rPr lang="ru-RU" dirty="0"/>
              <a:t> как </a:t>
            </a:r>
            <a:r>
              <a:rPr lang="ru-RU" dirty="0" err="1"/>
              <a:t>continuation</a:t>
            </a:r>
            <a:r>
              <a:rPr lang="ru-RU" dirty="0"/>
              <a:t>:</a:t>
            </a:r>
          </a:p>
          <a:p>
            <a:pPr marL="628650" lvl="1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m_coroutine.promise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SetContinuation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awaitingCoroutine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endParaRPr lang="ru-RU" dirty="0"/>
          </a:p>
          <a:p>
            <a:r>
              <a:rPr lang="ru-RU" dirty="0"/>
              <a:t>А затем возвращаем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m_coroutine</a:t>
            </a:r>
            <a:r>
              <a:rPr lang="ru-RU" dirty="0"/>
              <a:t>. Это означает: управление передаётся ожидаемой задаче.</a:t>
            </a:r>
          </a:p>
          <a:p>
            <a:endParaRPr lang="ru-RU" dirty="0"/>
          </a:p>
          <a:p>
            <a:r>
              <a:rPr lang="ru-RU" dirty="0"/>
              <a:t>Когда эта задача завершится, её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 вернёт управление обратно </a:t>
            </a:r>
            <a:r>
              <a:rPr lang="ru-RU" dirty="0" err="1"/>
              <a:t>continuation</a:t>
            </a:r>
            <a:r>
              <a:rPr lang="ru-RU" dirty="0"/>
              <a:t>, то есть исходной </a:t>
            </a:r>
            <a:r>
              <a:rPr lang="ru-RU" dirty="0" err="1"/>
              <a:t>корутине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возобновления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. Он достаёт результат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или пробрасывает сохранённое исключение.</a:t>
            </a:r>
          </a:p>
          <a:p>
            <a:r>
              <a:rPr lang="ru-RU" dirty="0"/>
              <a:t>Главная идея: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 связывает две </a:t>
            </a:r>
            <a:r>
              <a:rPr lang="ru-RU" dirty="0" err="1"/>
              <a:t>корутины</a:t>
            </a:r>
            <a:r>
              <a:rPr lang="ru-RU" dirty="0"/>
              <a:t> — ожидающую и ожидаемую — и организует автоматическую передачу управления между ними.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1614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всё это работает вместе.</a:t>
            </a:r>
          </a:p>
          <a:p>
            <a:endParaRPr lang="ru-RU" dirty="0"/>
          </a:p>
          <a:p>
            <a:r>
              <a:rPr lang="ru-RU" dirty="0"/>
              <a:t>У нас есть две вложенные задачи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 и внешняя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r>
              <a:rPr lang="ru-RU" dirty="0"/>
              <a:t>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r>
              <a:rPr lang="ru-RU" dirty="0"/>
              <a:t> создаёт две задачи, но они ещё не выполняются.</a:t>
            </a:r>
          </a:p>
          <a:p>
            <a:endParaRPr lang="ru-RU" dirty="0"/>
          </a:p>
          <a:p>
            <a:r>
              <a:rPr lang="ru-RU" dirty="0"/>
              <a:t>Когда выполняется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r1</a:t>
            </a:r>
            <a:r>
              <a:rPr lang="ru-RU" dirty="0"/>
              <a:t>, происходит следующее: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r>
              <a:rPr lang="ru-RU" dirty="0"/>
              <a:t> приостанавливается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управление передаётся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(10, 20)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после завершения результат возвращается обратно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Затем то же самое происходит для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r2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 итоге код выглядит как обычное последовательное вычисление: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r1) +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r2);</a:t>
            </a:r>
          </a:p>
          <a:p>
            <a:r>
              <a:rPr lang="ru-RU" dirty="0"/>
              <a:t>но под капотом происходит переключение между </a:t>
            </a:r>
            <a:r>
              <a:rPr lang="ru-RU" dirty="0" err="1"/>
              <a:t>корутинами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Главная идея: мы получили линейный код, который выглядит синхронно, но выполняется через асинхронную передачу управления.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4166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возникает практическая проблема.</a:t>
            </a:r>
          </a:p>
          <a:p>
            <a:r>
              <a:rPr lang="ru-RU" dirty="0"/>
              <a:t>Мы научились писать </a:t>
            </a:r>
            <a:r>
              <a:rPr lang="ru-RU" dirty="0" err="1"/>
              <a:t>корутины</a:t>
            </a:r>
            <a:r>
              <a:rPr lang="ru-RU" dirty="0"/>
              <a:t> и ожидать задачи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, но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не может быть </a:t>
            </a:r>
            <a:r>
              <a:rPr lang="ru-RU" dirty="0" err="1"/>
              <a:t>корутиной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 не можем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Тогда возникает вопрос: как получить результат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</a:t>
            </a:r>
            <a:r>
              <a:rPr lang="ru-RU" dirty="0"/>
              <a:t>?</a:t>
            </a:r>
          </a:p>
          <a:p>
            <a:endParaRPr lang="ru-RU" dirty="0"/>
          </a:p>
          <a:p>
            <a:r>
              <a:rPr lang="ru-RU" dirty="0"/>
              <a:t>Решение — сделать синхронное ожидание.</a:t>
            </a:r>
          </a:p>
          <a:p>
            <a:r>
              <a:rPr lang="ru-RU" dirty="0"/>
              <a:t>Мы создаём вспомогательный механизм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, который: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запускает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ждёт её завершения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возвращает результат в обычном синхронном стиле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Таким образом, внутри </a:t>
            </a:r>
            <a:r>
              <a:rPr lang="ru-RU" dirty="0" err="1"/>
              <a:t>корутин</a:t>
            </a:r>
            <a:r>
              <a:rPr lang="ru-RU" dirty="0"/>
              <a:t> мы пишем асинхронный код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, а на уровне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аккуратно «переводим» его в синхронный мир.</a:t>
            </a:r>
          </a:p>
          <a:p>
            <a:endParaRPr lang="ru-RU" dirty="0"/>
          </a:p>
          <a:p>
            <a:r>
              <a:rPr lang="ru-RU" dirty="0"/>
              <a:t>Это стандартный приём, который используется во многих </a:t>
            </a:r>
            <a:r>
              <a:rPr lang="ru-RU" dirty="0" err="1"/>
              <a:t>coroutine</a:t>
            </a:r>
            <a:r>
              <a:rPr lang="ru-RU" dirty="0"/>
              <a:t>-библиотеках.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0521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реализация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, которая позволяет синхронно дождаться завершения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Идея следующая.</a:t>
            </a:r>
          </a:p>
          <a:p>
            <a:r>
              <a:rPr lang="ru-RU" dirty="0"/>
              <a:t>Мы оборачиваем </a:t>
            </a:r>
            <a:r>
              <a:rPr lang="ru-RU" dirty="0" err="1"/>
              <a:t>awaitable</a:t>
            </a:r>
            <a:r>
              <a:rPr lang="ru-RU" dirty="0"/>
              <a:t> в специальную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SyncWaitTask</a:t>
            </a:r>
            <a:r>
              <a:rPr lang="ru-RU" dirty="0"/>
              <a:t>, которая внутри делает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используется примитив синхронизации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ManualResetEvent</a:t>
            </a:r>
            <a:r>
              <a:rPr lang="ru-RU" dirty="0"/>
              <a:t>.</a:t>
            </a:r>
          </a:p>
          <a:p>
            <a:r>
              <a:rPr lang="ru-RU" dirty="0"/>
              <a:t>Мы запускаем </a:t>
            </a:r>
            <a:r>
              <a:rPr lang="ru-RU" dirty="0" err="1"/>
              <a:t>корутину</a:t>
            </a:r>
            <a:r>
              <a:rPr lang="ru-RU" dirty="0"/>
              <a:t>, затем блокируем поток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, и ждём, пока </a:t>
            </a:r>
            <a:r>
              <a:rPr lang="ru-RU" dirty="0" err="1"/>
              <a:t>корутина</a:t>
            </a:r>
            <a:r>
              <a:rPr lang="ru-RU" dirty="0"/>
              <a:t> не завершится.</a:t>
            </a:r>
          </a:p>
          <a:p>
            <a:endParaRPr lang="ru-RU" dirty="0"/>
          </a:p>
          <a:p>
            <a:r>
              <a:rPr lang="ru-RU" dirty="0"/>
              <a:t>Когда </a:t>
            </a:r>
            <a:r>
              <a:rPr lang="ru-RU" dirty="0" err="1"/>
              <a:t>корутина</a:t>
            </a:r>
            <a:r>
              <a:rPr lang="ru-RU" dirty="0"/>
              <a:t> заканчивает выполнение, она сигнализирует событие,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 возвращает результат.</a:t>
            </a:r>
          </a:p>
          <a:p>
            <a:endParaRPr lang="en-US" dirty="0"/>
          </a:p>
          <a:p>
            <a:r>
              <a:rPr lang="ru-RU" dirty="0"/>
              <a:t>Обратите внимание, что здесь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awaitable_traits</a:t>
            </a:r>
            <a:r>
              <a:rPr lang="ru-RU" dirty="0"/>
              <a:t>, чтобы автоматически определить тип результата.</a:t>
            </a:r>
          </a:p>
          <a:p>
            <a:r>
              <a:rPr lang="ru-RU" dirty="0"/>
              <a:t>Мы подробнее разберём это позже.</a:t>
            </a:r>
          </a:p>
          <a:p>
            <a:endParaRPr lang="en-US" dirty="0"/>
          </a:p>
          <a:p>
            <a:r>
              <a:rPr lang="ru-RU" dirty="0"/>
              <a:t>Ключевая идея: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 — это мост между асинхронным кодом на </a:t>
            </a:r>
            <a:r>
              <a:rPr lang="ru-RU" dirty="0" err="1"/>
              <a:t>корутинах</a:t>
            </a:r>
            <a:r>
              <a:rPr lang="ru-RU" dirty="0"/>
              <a:t> и обычным синхронным кодом.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6818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SyncWaitTask</a:t>
            </a:r>
            <a:r>
              <a:rPr lang="ru-RU" dirty="0"/>
              <a:t> — это вспомогательная </a:t>
            </a:r>
            <a:r>
              <a:rPr lang="ru-RU" dirty="0" err="1"/>
              <a:t>корутина</a:t>
            </a:r>
            <a:r>
              <a:rPr lang="ru-RU" dirty="0"/>
              <a:t>, которая используется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Она хранит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coroutine_handle</a:t>
            </a:r>
            <a:r>
              <a:rPr lang="ru-RU" dirty="0"/>
              <a:t> и даёт два ключевых метода: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</a:t>
            </a:r>
            <a:r>
              <a:rPr lang="ru-RU" dirty="0"/>
              <a:t> — запускает выполнение и передаёт объект события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GetResult</a:t>
            </a:r>
            <a:r>
              <a:rPr lang="ru-RU" dirty="0"/>
              <a:t> — возвращает результат после завершения 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Идея простая: эта </a:t>
            </a:r>
            <a:r>
              <a:rPr lang="ru-RU" dirty="0" err="1"/>
              <a:t>корутина</a:t>
            </a:r>
            <a:r>
              <a:rPr lang="ru-RU" dirty="0"/>
              <a:t> знает, как уведомить внешний код о завершении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ManualResetEvent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SyncWaitTask</a:t>
            </a:r>
            <a:r>
              <a:rPr lang="ru-RU" dirty="0"/>
              <a:t> связывает </a:t>
            </a:r>
            <a:r>
              <a:rPr lang="ru-RU" dirty="0" err="1"/>
              <a:t>корутину</a:t>
            </a:r>
            <a:r>
              <a:rPr lang="ru-RU" dirty="0"/>
              <a:t> и механизм синхронного ожидания.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0568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SyncWaitTask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Здесь появляется важный элемент —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ManualResetEvent</a:t>
            </a:r>
            <a:r>
              <a:rPr lang="ru-RU" dirty="0"/>
              <a:t>.</a:t>
            </a:r>
          </a:p>
          <a:p>
            <a:r>
              <a:rPr lang="ru-RU" dirty="0"/>
              <a:t>Это тот самый механизм, который позволяет «разбудить» поток, ожидающий завершения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</a:t>
            </a:r>
            <a:r>
              <a:rPr lang="ru-RU" dirty="0"/>
              <a:t> сохраняет ссылку на событие и сразу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resume</a:t>
            </a:r>
            <a:r>
              <a:rPr lang="ru-RU" dirty="0"/>
              <a:t>.</a:t>
            </a:r>
          </a:p>
          <a:p>
            <a:r>
              <a:rPr lang="ru-RU" dirty="0"/>
              <a:t>То есть именно здесь </a:t>
            </a:r>
            <a:r>
              <a:rPr lang="ru-RU" dirty="0" err="1"/>
              <a:t>корутина</a:t>
            </a:r>
            <a:r>
              <a:rPr lang="ru-RU" dirty="0"/>
              <a:t> реально запускается.</a:t>
            </a:r>
          </a:p>
          <a:p>
            <a:endParaRPr lang="ru-RU" dirty="0"/>
          </a:p>
          <a:p>
            <a:r>
              <a:rPr lang="ru-RU" dirty="0"/>
              <a:t>Дальше ключевой момент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.</a:t>
            </a:r>
          </a:p>
          <a:p>
            <a:r>
              <a:rPr lang="ru-RU" dirty="0"/>
              <a:t>Мы возвращаем специальный </a:t>
            </a:r>
            <a:r>
              <a:rPr lang="ru-RU" dirty="0" err="1"/>
              <a:t>awaiter</a:t>
            </a:r>
            <a:r>
              <a:rPr lang="ru-RU" dirty="0"/>
              <a:t>, который при завершении </a:t>
            </a:r>
            <a:r>
              <a:rPr lang="ru-RU" dirty="0" err="1"/>
              <a:t>корутины</a:t>
            </a:r>
            <a:r>
              <a:rPr lang="ru-RU" dirty="0"/>
              <a:t> вызывает: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m_event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endParaRPr lang="ru-RU" dirty="0"/>
          </a:p>
          <a:p>
            <a:r>
              <a:rPr lang="ru-RU" dirty="0"/>
              <a:t>Это сигнал для внешнего кода, что </a:t>
            </a:r>
            <a:r>
              <a:rPr lang="ru-RU" dirty="0" err="1"/>
              <a:t>корутина</a:t>
            </a:r>
            <a:r>
              <a:rPr lang="ru-RU" dirty="0"/>
              <a:t> завершилась. Именно после этого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 перестаёт ждать.</a:t>
            </a:r>
          </a:p>
          <a:p>
            <a:endParaRPr lang="ru-RU" dirty="0"/>
          </a:p>
          <a:p>
            <a:r>
              <a:rPr lang="ru-RU" dirty="0"/>
              <a:t>Также здесь хранится результат и возможное исключение, чтобы потом корректно вернуть его вызывающему коду.</a:t>
            </a:r>
          </a:p>
          <a:p>
            <a:endParaRPr lang="ru-RU" dirty="0"/>
          </a:p>
          <a:p>
            <a:r>
              <a:rPr lang="ru-RU" dirty="0"/>
              <a:t>Ключевая идея: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SyncWaitTaskPromise</a:t>
            </a:r>
            <a:r>
              <a:rPr lang="ru-RU" dirty="0"/>
              <a:t> связывает </a:t>
            </a:r>
            <a:r>
              <a:rPr lang="ru-RU" dirty="0" err="1"/>
              <a:t>корутину</a:t>
            </a:r>
            <a:r>
              <a:rPr lang="ru-RU" dirty="0"/>
              <a:t> с механизмом блокирующего ожидания через событие.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4976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Продолжим разбор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SyncWaitTaskPromise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Здесь используется интересный приём —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return_value</a:t>
            </a:r>
            <a:r>
              <a:rPr lang="ru-RU" dirty="0"/>
              <a:t> применяется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yield_value</a:t>
            </a:r>
            <a:r>
              <a:rPr lang="ru-RU" dirty="0"/>
              <a:t>.</a:t>
            </a:r>
          </a:p>
          <a:p>
            <a:r>
              <a:rPr lang="ru-RU" dirty="0"/>
              <a:t>Это связано с тем, что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MakeSyncWaitTask</a:t>
            </a:r>
            <a:r>
              <a:rPr lang="ru-RU" dirty="0"/>
              <a:t> мы использовали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co_yield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...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yield_value</a:t>
            </a:r>
            <a:r>
              <a:rPr lang="ru-RU" dirty="0"/>
              <a:t> получает результат и сохраняет указатель на него.</a:t>
            </a:r>
          </a:p>
          <a:p>
            <a:r>
              <a:rPr lang="ru-RU" dirty="0"/>
              <a:t>После этого он сразу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final_suspend</a:t>
            </a:r>
            <a:r>
              <a:rPr lang="ru-RU" dirty="0"/>
              <a:t>, тем самым переводя </a:t>
            </a:r>
            <a:r>
              <a:rPr lang="ru-RU" dirty="0" err="1"/>
              <a:t>корутину</a:t>
            </a:r>
            <a:r>
              <a:rPr lang="ru-RU" dirty="0"/>
              <a:t> в завершающее состояние.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Если внутри </a:t>
            </a:r>
            <a:r>
              <a:rPr lang="ru-RU" dirty="0" err="1"/>
              <a:t>корутины</a:t>
            </a:r>
            <a:r>
              <a:rPr lang="ru-RU" dirty="0"/>
              <a:t> произошло исключение, оно сохраняется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m_exception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GetResult</a:t>
            </a:r>
            <a:r>
              <a:rPr lang="ru-RU" dirty="0"/>
              <a:t> вызывается уже после завершения </a:t>
            </a:r>
            <a:r>
              <a:rPr lang="ru-RU" dirty="0" err="1"/>
              <a:t>корутины</a:t>
            </a:r>
            <a:r>
              <a:rPr lang="ru-RU" dirty="0"/>
              <a:t>.</a:t>
            </a:r>
          </a:p>
          <a:p>
            <a:r>
              <a:rPr lang="ru-RU" dirty="0"/>
              <a:t>Он:</a:t>
            </a:r>
          </a:p>
          <a:p>
            <a:r>
              <a:rPr lang="ru-RU" dirty="0"/>
              <a:t>либо возвращает результат </a:t>
            </a:r>
          </a:p>
          <a:p>
            <a:r>
              <a:rPr lang="ru-RU" dirty="0"/>
              <a:t>либо пробрасывает исключение </a:t>
            </a:r>
          </a:p>
          <a:p>
            <a:r>
              <a:rPr lang="ru-RU" dirty="0"/>
              <a:t>либо сообщает об ошибке, если результата нет </a:t>
            </a:r>
          </a:p>
          <a:p>
            <a:endParaRPr lang="ru-RU" dirty="0"/>
          </a:p>
          <a:p>
            <a:r>
              <a:rPr lang="ru-RU" dirty="0"/>
              <a:t>Ключевая идея: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SyncWaitTaskPromise</a:t>
            </a:r>
            <a:r>
              <a:rPr lang="ru-RU" dirty="0"/>
              <a:t> аккуратно перехватывает результат или исключение и передаёт их обратно в синхронный код.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9486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ManualResetEvent</a:t>
            </a:r>
            <a:r>
              <a:rPr lang="ru-RU" dirty="0"/>
              <a:t> — это обычный примитив синхронизации.</a:t>
            </a:r>
          </a:p>
          <a:p>
            <a:endParaRPr lang="ru-RU" dirty="0"/>
          </a:p>
          <a:p>
            <a:r>
              <a:rPr lang="ru-RU" dirty="0"/>
              <a:t>Он используется для того, чтобы один поток мог ждать, пока другой подаст сигнал.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 блокирует поток до тех пор, пока флаг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m_isSet</a:t>
            </a:r>
            <a:r>
              <a:rPr lang="ru-RU" dirty="0"/>
              <a:t> не станет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</a:t>
            </a:r>
          </a:p>
          <a:p>
            <a:r>
              <a:rPr lang="ru-RU" dirty="0"/>
              <a:t>Это реализовано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condition_variable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 устанавливает флаг и будит все ожидающие потоки.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Reset</a:t>
            </a:r>
            <a:r>
              <a:rPr lang="ru-RU" dirty="0"/>
              <a:t> возвращает объект в исходное состояние.</a:t>
            </a:r>
          </a:p>
          <a:p>
            <a:endParaRPr lang="ru-RU" dirty="0"/>
          </a:p>
          <a:p>
            <a:r>
              <a:rPr lang="ru-RU" dirty="0"/>
              <a:t>В нашем случае </a:t>
            </a:r>
            <a:r>
              <a:rPr lang="ru-RU" dirty="0" err="1"/>
              <a:t>корутина</a:t>
            </a:r>
            <a:r>
              <a:rPr lang="ru-RU" dirty="0"/>
              <a:t> при завершении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ru-RU" dirty="0"/>
              <a:t>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 в это время блокируется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2416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 на финальный результат всей конструкции.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У нас есть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r>
              <a:rPr lang="ru-RU" dirty="0"/>
              <a:t>, которая внутри ожидает две другие </a:t>
            </a:r>
            <a:r>
              <a:rPr lang="ru-RU" dirty="0" err="1"/>
              <a:t>корутины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.</a:t>
            </a:r>
          </a:p>
          <a:p>
            <a:r>
              <a:rPr lang="ru-RU" dirty="0"/>
              <a:t>Код выглядит полностью линейно:</a:t>
            </a:r>
          </a:p>
          <a:p>
            <a:r>
              <a:rPr lang="ru-RU" dirty="0"/>
              <a:t>создаём задачи </a:t>
            </a:r>
          </a:p>
          <a:p>
            <a:r>
              <a:rPr lang="ru-RU" dirty="0"/>
              <a:t>ожидаем их </a:t>
            </a:r>
          </a:p>
          <a:p>
            <a:r>
              <a:rPr lang="ru-RU" dirty="0"/>
              <a:t>складываем результат 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 вызываем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r>
              <a:rPr lang="ru-RU" dirty="0"/>
              <a:t>, но не можем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dirty="0"/>
              <a:t>, поэтому применяем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Разберём порядок выполнения.</a:t>
            </a:r>
          </a:p>
          <a:p>
            <a:r>
              <a:rPr lang="ru-RU" dirty="0"/>
              <a:t>Сначала запускается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r>
              <a:rPr lang="ru-RU" dirty="0"/>
              <a:t>, она печатает: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Enter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co_awaiting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br>
              <a:rPr lang="ru-RU" dirty="0"/>
            </a:br>
            <a:endParaRPr lang="ru-RU" dirty="0"/>
          </a:p>
          <a:p>
            <a:r>
              <a:rPr lang="ru-RU" dirty="0"/>
              <a:t>Затем начинается ожидание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r1</a:t>
            </a:r>
            <a:r>
              <a:rPr lang="ru-RU" dirty="0"/>
              <a:t>, управление передаётся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(10, 20)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Inner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 10, y: 20</a:t>
            </a:r>
          </a:p>
          <a:p>
            <a:r>
              <a:rPr lang="ru-RU" dirty="0"/>
              <a:t>После завершения возвращаемся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Далее аналогично выполняется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r2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Inner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 6, y: 6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После этого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r>
              <a:rPr lang="ru-RU" dirty="0"/>
              <a:t> продолжает выполнение: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outer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И уже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мы получаем результат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42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Ключевая идея:</a:t>
            </a:r>
          </a:p>
          <a:p>
            <a:r>
              <a:rPr lang="ru-RU" dirty="0"/>
              <a:t>мы получили код, который выглядит как обычный последовательный, но на самом деле выполняется через передачу управления между </a:t>
            </a:r>
            <a:r>
              <a:rPr lang="ru-RU" dirty="0" err="1"/>
              <a:t>корутинами</a:t>
            </a:r>
            <a:r>
              <a:rPr lang="ru-RU" dirty="0"/>
              <a:t>.</a:t>
            </a:r>
          </a:p>
          <a:p>
            <a:r>
              <a:rPr lang="ru-RU" dirty="0"/>
              <a:t>И при этом у нас есть мост в виде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, который позволяет использовать этот код из обычного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8062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используется вспомогательная конструкция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awaitable_traits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Её задача — ответить на простой вопрос: если мы напишем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co_await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</a:t>
            </a:r>
            <a:r>
              <a:rPr lang="ru-RU" dirty="0"/>
              <a:t>, то какой тип значения мы получим?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Для этого она делает две вещи: находит </a:t>
            </a:r>
            <a:r>
              <a:rPr lang="ru-RU" dirty="0" err="1"/>
              <a:t>awaiter</a:t>
            </a:r>
            <a:r>
              <a:rPr lang="ru-RU" dirty="0"/>
              <a:t> для данного объекта и определяет тип, который возвращает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await_resume</a:t>
            </a:r>
            <a:r>
              <a:rPr lang="ru-RU" dirty="0"/>
              <a:t> 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Это используется, например,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SyncWait</a:t>
            </a:r>
            <a:r>
              <a:rPr lang="ru-RU" dirty="0"/>
              <a:t>, чтобы автоматически определить тип результата.</a:t>
            </a:r>
          </a:p>
          <a:p>
            <a:endParaRPr lang="ru-RU" dirty="0"/>
          </a:p>
          <a:p>
            <a:r>
              <a:rPr lang="ru-RU" dirty="0"/>
              <a:t>При этом реализация довольно сложная и использует шаблоны и SFINAE.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Важно понимать: вам не обязательно разбираться в этой реализации прямо сейчас.</a:t>
            </a:r>
            <a:br>
              <a:rPr lang="ru-RU" dirty="0"/>
            </a:br>
            <a:endParaRPr lang="ru-RU" dirty="0"/>
          </a:p>
          <a:p>
            <a:r>
              <a:rPr lang="ru-RU" dirty="0"/>
              <a:t>Но если интересно, вы всегда можете «расколдовать» этот код и посмотреть, как он работает.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Ключевая идея: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awaitable_traits</a:t>
            </a:r>
            <a:r>
              <a:rPr lang="ru-RU" dirty="0"/>
              <a:t> — это механизм, который позволяет писать универсальный код для любых </a:t>
            </a:r>
            <a:r>
              <a:rPr lang="ru-RU" dirty="0" err="1"/>
              <a:t>awaitable</a:t>
            </a:r>
            <a:r>
              <a:rPr lang="ru-RU" dirty="0"/>
              <a:t>-объектов.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2021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40180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19112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5571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0753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9373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7219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8151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1054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6361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0015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6665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4036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9364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8119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3194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7841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2752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4559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5292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8947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24118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06070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9477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42359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3053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8570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468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61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5F23-F574-4C00-9B25-D94C8E69B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iterator/default_sentinel_t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M2cqgB7IAg" TargetMode="External"/><Relationship Id="rId7" Type="http://schemas.openxmlformats.org/officeDocument/2006/relationships/hyperlink" Target="https://www.boost.org/doc/libs/1_88_0/libs/cobalt/doc/html/index.html" TargetMode="External"/><Relationship Id="rId2" Type="http://schemas.openxmlformats.org/officeDocument/2006/relationships/hyperlink" Target="https://youtu.be/OE45F3iKtv4?si=XO58tFiUnXgQiKnJ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ZFgQAIHp5os?si=ufqgxLH3D66ACgZh" TargetMode="External"/><Relationship Id="rId5" Type="http://schemas.openxmlformats.org/officeDocument/2006/relationships/hyperlink" Target="https://youtu.be/WZhxMwKaXmw?si=qOMeW66P30m4QZlz" TargetMode="External"/><Relationship Id="rId4" Type="http://schemas.openxmlformats.org/officeDocument/2006/relationships/hyperlink" Target="https://youtu.be/mDajl0pIUjQ?si=__f9DB_ae3Nh7alP\" TargetMode="Externa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E63DB1-5874-8A47-D26E-06AA18EAD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ru-RU" dirty="0"/>
              <a:t>Сопрограммы (</a:t>
            </a:r>
            <a:r>
              <a:rPr lang="en-US" dirty="0"/>
              <a:t>Coroutines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DC6EA90-44AB-A1C3-39BA-3CBFC5F2F2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941D-C21B-A159-3D62-56A42C30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</a:t>
            </a:r>
            <a:r>
              <a:rPr lang="ru-RU" dirty="0" err="1"/>
              <a:t>корутины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4EED2-A7E4-75CD-EB64-775715C4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Программ может выполнять </a:t>
            </a:r>
            <a:r>
              <a:rPr lang="en-US" dirty="0"/>
              <a:t>io-bound </a:t>
            </a:r>
            <a:r>
              <a:rPr lang="ru-RU" dirty="0"/>
              <a:t>операции</a:t>
            </a:r>
          </a:p>
          <a:p>
            <a:pPr lvl="1"/>
            <a:r>
              <a:rPr lang="en-US" dirty="0"/>
              <a:t>auto data = </a:t>
            </a:r>
            <a:r>
              <a:rPr lang="en-US" dirty="0" err="1"/>
              <a:t>read_from_network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auto result = process(data);</a:t>
            </a:r>
          </a:p>
          <a:p>
            <a:r>
              <a:rPr lang="ru-RU" dirty="0"/>
              <a:t>Что ждёт программ:</a:t>
            </a:r>
          </a:p>
          <a:p>
            <a:pPr lvl="1"/>
            <a:r>
              <a:rPr lang="ru-RU" dirty="0"/>
              <a:t>Выполнение сетевых запросов</a:t>
            </a:r>
          </a:p>
          <a:p>
            <a:pPr lvl="1"/>
            <a:r>
              <a:rPr lang="ru-RU" dirty="0"/>
              <a:t>Чтение файлов</a:t>
            </a:r>
          </a:p>
          <a:p>
            <a:pPr lvl="1"/>
            <a:r>
              <a:rPr lang="ru-RU" dirty="0"/>
              <a:t>Таймеры</a:t>
            </a:r>
          </a:p>
          <a:p>
            <a:pPr lvl="1"/>
            <a:r>
              <a:rPr lang="ru-RU" dirty="0"/>
              <a:t>Завершение результатов соседних операций </a:t>
            </a:r>
          </a:p>
          <a:p>
            <a:r>
              <a:rPr lang="ru-RU" dirty="0"/>
              <a:t>Подход с </a:t>
            </a:r>
            <a:r>
              <a:rPr lang="en-US" dirty="0"/>
              <a:t>callback-</a:t>
            </a:r>
            <a:r>
              <a:rPr lang="ru-RU" dirty="0"/>
              <a:t>функциями усложняет код: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read_async</a:t>
            </a:r>
            <a:r>
              <a:rPr lang="en-US" dirty="0">
                <a:latin typeface="Consolas" panose="020B0609020204030204" pitchFamily="49" charset="0"/>
              </a:rPr>
              <a:t>([](Data data)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process_async</a:t>
            </a:r>
            <a:r>
              <a:rPr lang="en-US" dirty="0">
                <a:latin typeface="Consolas" panose="020B0609020204030204" pitchFamily="49" charset="0"/>
              </a:rPr>
              <a:t>(data, [](Result result)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dirty="0" err="1">
                <a:latin typeface="Consolas" panose="020B0609020204030204" pitchFamily="49" charset="0"/>
              </a:rPr>
              <a:t>save_async</a:t>
            </a:r>
            <a:r>
              <a:rPr lang="en-US" dirty="0">
                <a:latin typeface="Consolas" panose="020B0609020204030204" pitchFamily="49" charset="0"/>
              </a:rPr>
              <a:t>(result, []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     // ...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    });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});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});</a:t>
            </a:r>
          </a:p>
          <a:p>
            <a:r>
              <a:rPr lang="ru-RU" dirty="0" err="1"/>
              <a:t>Корутины</a:t>
            </a:r>
            <a:r>
              <a:rPr lang="ru-RU" dirty="0"/>
              <a:t> позволяют писать асинхронный код почти как обычный последовательный</a:t>
            </a:r>
          </a:p>
        </p:txBody>
      </p:sp>
    </p:spTree>
    <p:extLst>
      <p:ext uri="{BB962C8B-B14F-4D97-AF65-F5344CB8AC3E}">
        <p14:creationId xmlns:p14="http://schemas.microsoft.com/office/powerpoint/2010/main" val="78709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835F-41E6-56BB-0582-8E992CDA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Корутины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5DD3-B23F-AE13-6076-0EC86E9E6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Корутина</a:t>
            </a:r>
            <a:r>
              <a:rPr lang="ru-RU" dirty="0"/>
              <a:t> — это функция, выполнение которой можно:</a:t>
            </a:r>
          </a:p>
          <a:p>
            <a:pPr lvl="1"/>
            <a:r>
              <a:rPr lang="ru-RU" dirty="0"/>
              <a:t>приостановить; </a:t>
            </a:r>
          </a:p>
          <a:p>
            <a:pPr lvl="1"/>
            <a:r>
              <a:rPr lang="ru-RU" dirty="0"/>
              <a:t>сохранить её состояние; </a:t>
            </a:r>
          </a:p>
          <a:p>
            <a:pPr lvl="1"/>
            <a:r>
              <a:rPr lang="ru-RU" dirty="0"/>
              <a:t>возобновить позже с того же места. </a:t>
            </a:r>
          </a:p>
          <a:p>
            <a:r>
              <a:rPr lang="ru-RU" dirty="0" err="1"/>
              <a:t>Корутины</a:t>
            </a:r>
            <a:r>
              <a:rPr lang="ru-RU" dirty="0"/>
              <a:t> полезны для:</a:t>
            </a:r>
          </a:p>
          <a:p>
            <a:pPr lvl="1"/>
            <a:r>
              <a:rPr lang="ru-RU" dirty="0"/>
              <a:t>асинхронных операций; </a:t>
            </a:r>
          </a:p>
          <a:p>
            <a:pPr lvl="1"/>
            <a:r>
              <a:rPr lang="ru-RU" dirty="0"/>
              <a:t>ленивых вычислений; </a:t>
            </a:r>
          </a:p>
          <a:p>
            <a:pPr lvl="1"/>
            <a:r>
              <a:rPr lang="ru-RU" dirty="0"/>
              <a:t>генераторов последовательностей; </a:t>
            </a:r>
          </a:p>
          <a:p>
            <a:pPr lvl="1"/>
            <a:r>
              <a:rPr lang="ru-RU" dirty="0"/>
              <a:t>конечных автоматов; </a:t>
            </a:r>
          </a:p>
          <a:p>
            <a:pPr lvl="1"/>
            <a:r>
              <a:rPr lang="ru-RU" dirty="0"/>
              <a:t>сценариев с ожиданием событий. </a:t>
            </a:r>
          </a:p>
          <a:p>
            <a:r>
              <a:rPr lang="ru-RU" dirty="0" err="1"/>
              <a:t>Корутина</a:t>
            </a:r>
            <a:r>
              <a:rPr lang="ru-RU" dirty="0"/>
              <a:t> = функция + сохранённое состояние + точка продолжения</a:t>
            </a:r>
          </a:p>
          <a:p>
            <a:r>
              <a:rPr lang="ru-RU" dirty="0"/>
              <a:t>Код выглядит линейным, но выполнение может быть разбито на несколько этапов.</a:t>
            </a:r>
          </a:p>
        </p:txBody>
      </p:sp>
    </p:spTree>
    <p:extLst>
      <p:ext uri="{BB962C8B-B14F-4D97-AF65-F5344CB8AC3E}">
        <p14:creationId xmlns:p14="http://schemas.microsoft.com/office/powerpoint/2010/main" val="264686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778D-CE34-82FD-2CA9-16BBD1B9F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Отличие </a:t>
            </a:r>
            <a:r>
              <a:rPr lang="ru-RU" dirty="0" err="1"/>
              <a:t>корутин</a:t>
            </a:r>
            <a:r>
              <a:rPr lang="ru-RU" dirty="0"/>
              <a:t> от обычных функций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A5E16-CFA0-B53B-7484-86A3603B0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Обычная функция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DAE2D-6533-651F-0F19-894C279AA3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Выполнение до </a:t>
            </a:r>
            <a:r>
              <a:rPr lang="en-US" dirty="0"/>
              <a:t>return </a:t>
            </a:r>
            <a:r>
              <a:rPr lang="ru-RU" dirty="0"/>
              <a:t>или </a:t>
            </a:r>
            <a:r>
              <a:rPr lang="en-US" dirty="0"/>
              <a:t>throw</a:t>
            </a:r>
            <a:endParaRPr lang="ru-RU" dirty="0"/>
          </a:p>
          <a:p>
            <a:r>
              <a:rPr lang="ru-RU" dirty="0"/>
              <a:t>Локальные переменные живут на стеке</a:t>
            </a:r>
          </a:p>
          <a:p>
            <a:r>
              <a:rPr lang="ru-RU" dirty="0"/>
              <a:t>Возвращает результат один раз</a:t>
            </a:r>
          </a:p>
          <a:p>
            <a:r>
              <a:rPr lang="ru-RU" dirty="0"/>
              <a:t>Один непрерывный проход выполнения</a:t>
            </a:r>
          </a:p>
          <a:p>
            <a:r>
              <a:rPr lang="ru-RU" dirty="0"/>
              <a:t>Вызывающий код ждёт завершения функции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D9CACE-E02E-D356-7628-D0936CD2C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/>
              <a:t>Корутина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4B7F7E-23C6-55F5-26F0-2BC4D7D9A5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Может приостанавливаться</a:t>
            </a:r>
          </a:p>
          <a:p>
            <a:r>
              <a:rPr lang="ru-RU" dirty="0"/>
              <a:t>Состояние сохраняется между остановки</a:t>
            </a:r>
          </a:p>
          <a:p>
            <a:r>
              <a:rPr lang="ru-RU" dirty="0"/>
              <a:t>Может выдавать значения постепенно</a:t>
            </a:r>
          </a:p>
          <a:p>
            <a:r>
              <a:rPr lang="ru-RU" dirty="0"/>
              <a:t>Выполнение разбито на этапы</a:t>
            </a:r>
          </a:p>
          <a:p>
            <a:r>
              <a:rPr lang="ru-RU" dirty="0"/>
              <a:t>Вызывающий код может получить управление раньше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9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5DA3CD-8F80-EB56-29C8-836DA292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функций и </a:t>
            </a:r>
            <a:r>
              <a:rPr lang="ru-RU" dirty="0" err="1"/>
              <a:t>корутин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9B7F96-6F1C-FAC7-A7AE-D1D093E2C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60752"/>
            <a:ext cx="10515600" cy="4281083"/>
          </a:xfrm>
        </p:spPr>
      </p:pic>
    </p:spTree>
    <p:extLst>
      <p:ext uri="{BB962C8B-B14F-4D97-AF65-F5344CB8AC3E}">
        <p14:creationId xmlns:p14="http://schemas.microsoft.com/office/powerpoint/2010/main" val="83472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758904B-3BFD-2D05-193F-FD239909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Функция, передающая результаты в </a:t>
            </a:r>
            <a:r>
              <a:rPr lang="en-US" dirty="0"/>
              <a:t>callback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6796B-10E0-207E-FB58-F98101AB616A}"/>
              </a:ext>
            </a:extLst>
          </p:cNvPr>
          <p:cNvSpPr txBox="1"/>
          <p:nvPr/>
        </p:nvSpPr>
        <p:spPr>
          <a:xfrm>
            <a:off x="838200" y="1920239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Функция, которая передаёт результат вычислений 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callback.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571CC1-0EF7-3108-4AFE-5A5EDE43B16B}"/>
              </a:ext>
            </a:extLst>
          </p:cNvPr>
          <p:cNvSpPr txBox="1"/>
          <p:nvPr/>
        </p:nvSpPr>
        <p:spPr>
          <a:xfrm>
            <a:off x="7814854" y="2932007"/>
            <a:ext cx="3889466" cy="286232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8</a:t>
            </a:r>
          </a:p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904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EE62B-6737-B1BC-A89B-5C62D1A3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вложенных </a:t>
            </a:r>
            <a:r>
              <a:rPr lang="en-US" dirty="0"/>
              <a:t>Callback-</a:t>
            </a:r>
            <a:r>
              <a:rPr lang="ru-RU" dirty="0" err="1"/>
              <a:t>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F058AC-D1A2-1AD4-1EB5-63C9F4CF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60011"/>
            <a:ext cx="10515600" cy="1316951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Код быстро становится вложенным; </a:t>
            </a:r>
          </a:p>
          <a:p>
            <a:r>
              <a:rPr lang="ru-RU" dirty="0"/>
              <a:t>Порядок выполнения сложнее читать; </a:t>
            </a:r>
          </a:p>
          <a:p>
            <a:r>
              <a:rPr lang="ru-RU" dirty="0"/>
              <a:t>Обработка ошибок усложняется; </a:t>
            </a:r>
          </a:p>
          <a:p>
            <a:r>
              <a:rPr lang="ru-RU" dirty="0"/>
              <a:t>Состояние приходится передавать вручную между </a:t>
            </a:r>
            <a:r>
              <a:rPr lang="ru-RU" dirty="0" err="1"/>
              <a:t>callback-ами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73C54-4BBB-8636-F48A-C41662334F7A}"/>
              </a:ext>
            </a:extLst>
          </p:cNvPr>
          <p:cNvSpPr txBox="1"/>
          <p:nvPr/>
        </p:nvSpPr>
        <p:spPr>
          <a:xfrm>
            <a:off x="838200" y="1828800"/>
            <a:ext cx="1089937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LoadOrders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&gt;)&gt;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SendReport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()&gt;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LoadOrders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[](std::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SendReport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(orders, []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Report sent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8970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344ABB-42FF-AAF9-27D1-1A26E81D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Корутина</a:t>
            </a:r>
            <a:r>
              <a:rPr lang="en-US" dirty="0"/>
              <a:t> </a:t>
            </a:r>
            <a:r>
              <a:rPr lang="ru-RU" dirty="0"/>
              <a:t>на основе </a:t>
            </a:r>
            <a:r>
              <a:rPr lang="en-US" dirty="0"/>
              <a:t>std::generator </a:t>
            </a:r>
            <a:r>
              <a:rPr lang="ru-RU" dirty="0"/>
              <a:t>(</a:t>
            </a:r>
            <a:r>
              <a:rPr lang="en-US" dirty="0"/>
              <a:t>C++ 23)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0ECCA-B348-4783-25AB-E93398241865}"/>
              </a:ext>
            </a:extLst>
          </p:cNvPr>
          <p:cNvSpPr txBox="1"/>
          <p:nvPr/>
        </p:nvSpPr>
        <p:spPr>
          <a:xfrm>
            <a:off x="838199" y="1690688"/>
            <a:ext cx="105155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7CB33-2F57-8B09-4C0D-DDB002678373}"/>
              </a:ext>
            </a:extLst>
          </p:cNvPr>
          <p:cNvSpPr txBox="1"/>
          <p:nvPr/>
        </p:nvSpPr>
        <p:spPr>
          <a:xfrm>
            <a:off x="7671163" y="2304990"/>
            <a:ext cx="3889466" cy="286232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0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8</a:t>
            </a:r>
          </a:p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7705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E6EB-4DE3-04D8-440B-A96393F9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Логика загрузки пользователей с </a:t>
            </a:r>
            <a:r>
              <a:rPr lang="ru-RU" dirty="0" err="1"/>
              <a:t>корутинами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CDE56-881F-CE6E-1F5F-E1EDF6C45CB8}"/>
              </a:ext>
            </a:extLst>
          </p:cNvPr>
          <p:cNvSpPr txBox="1"/>
          <p:nvPr/>
        </p:nvSpPr>
        <p:spPr>
          <a:xfrm>
            <a:off x="838200" y="1911927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LoadOrders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SendReport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orders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MakeReport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User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std::vector&lt;Order&gt; orders =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LoadOrders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SendReport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(orders);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Report sent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246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408C99-593F-7820-5B1A-ACF6DC31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используются </a:t>
            </a:r>
            <a:r>
              <a:rPr lang="ru-RU" dirty="0" err="1"/>
              <a:t>корутины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05404-49EB-F526-C5B2-9CBEB2079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err="1"/>
              <a:t>Корутины</a:t>
            </a:r>
            <a:r>
              <a:rPr lang="ru-RU" dirty="0"/>
              <a:t> применяются, когда выполнение нужно приостанавливать и продолжать позже:</a:t>
            </a:r>
          </a:p>
          <a:p>
            <a:r>
              <a:rPr lang="ru-RU" dirty="0"/>
              <a:t>Асинхронный код</a:t>
            </a:r>
          </a:p>
          <a:p>
            <a:pPr lvl="1"/>
            <a:r>
              <a:rPr lang="ru-RU" dirty="0"/>
              <a:t>сетевые запросы, файлы, таймеры </a:t>
            </a:r>
          </a:p>
          <a:p>
            <a:pPr lvl="1"/>
            <a:r>
              <a:rPr lang="ru-RU" dirty="0"/>
              <a:t>альтернатива </a:t>
            </a:r>
            <a:r>
              <a:rPr lang="ru-RU" dirty="0" err="1"/>
              <a:t>callback-ам</a:t>
            </a:r>
            <a:r>
              <a:rPr lang="ru-RU" dirty="0"/>
              <a:t> </a:t>
            </a:r>
          </a:p>
          <a:p>
            <a:r>
              <a:rPr lang="ru-RU" dirty="0"/>
              <a:t>Генераторы и ленивые вычисления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generator</a:t>
            </a:r>
            <a:r>
              <a:rPr lang="ru-RU" dirty="0"/>
              <a:t>, потоковые данные </a:t>
            </a:r>
          </a:p>
          <a:p>
            <a:pPr lvl="1"/>
            <a:r>
              <a:rPr lang="ru-RU" dirty="0"/>
              <a:t>вычисление «по требованию» </a:t>
            </a:r>
          </a:p>
          <a:p>
            <a:r>
              <a:rPr lang="ru-RU" dirty="0"/>
              <a:t>Сценарии и </a:t>
            </a:r>
            <a:r>
              <a:rPr lang="ru-RU" dirty="0" err="1"/>
              <a:t>state</a:t>
            </a:r>
            <a:r>
              <a:rPr lang="ru-RU" dirty="0"/>
              <a:t> </a:t>
            </a:r>
            <a:r>
              <a:rPr lang="ru-RU" dirty="0" err="1"/>
              <a:t>machines</a:t>
            </a:r>
            <a:endParaRPr lang="ru-RU" dirty="0"/>
          </a:p>
          <a:p>
            <a:pPr lvl="1"/>
            <a:r>
              <a:rPr lang="ru-RU" dirty="0"/>
              <a:t>пошаговая логика </a:t>
            </a:r>
          </a:p>
          <a:p>
            <a:pPr lvl="1"/>
            <a:r>
              <a:rPr lang="ru-RU" dirty="0"/>
              <a:t>обработка событий</a:t>
            </a:r>
          </a:p>
          <a:p>
            <a:r>
              <a:rPr lang="ru-RU" dirty="0"/>
              <a:t>Важно:</a:t>
            </a:r>
          </a:p>
          <a:p>
            <a:pPr lvl="1"/>
            <a:r>
              <a:rPr lang="ru-RU" dirty="0"/>
              <a:t>не создают потоки </a:t>
            </a:r>
          </a:p>
          <a:p>
            <a:pPr lvl="1"/>
            <a:r>
              <a:rPr lang="ru-RU" dirty="0"/>
              <a:t>не дают параллелизм сами по себе </a:t>
            </a:r>
          </a:p>
          <a:p>
            <a:pPr lvl="1"/>
            <a:r>
              <a:rPr lang="ru-RU" dirty="0"/>
              <a:t>это инструмент управления выполнением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72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B82607-1BE9-CE41-EA68-CF5760ED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слова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045CA-E0CE-2C43-E349-C51DD6664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25F55B-7BA5-314D-E7DA-CFA81F50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слова </a:t>
            </a:r>
            <a:r>
              <a:rPr lang="ru-RU" dirty="0" err="1"/>
              <a:t>корутин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2FED8B-9B7A-ADD6-5CE9-512B2A3DA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Корутина</a:t>
            </a:r>
            <a:r>
              <a:rPr lang="ru-RU" dirty="0"/>
              <a:t> определяется по использованию:</a:t>
            </a:r>
          </a:p>
          <a:p>
            <a:pPr lvl="1"/>
            <a:r>
              <a:rPr lang="en-US" dirty="0" err="1"/>
              <a:t>co_yield</a:t>
            </a:r>
            <a:r>
              <a:rPr lang="en-US" dirty="0"/>
              <a:t> — </a:t>
            </a:r>
            <a:r>
              <a:rPr lang="ru-RU" dirty="0"/>
              <a:t>вернуть значение и приостановиться </a:t>
            </a:r>
          </a:p>
          <a:p>
            <a:pPr lvl="1"/>
            <a:r>
              <a:rPr lang="en-US" dirty="0" err="1"/>
              <a:t>co_await</a:t>
            </a:r>
            <a:r>
              <a:rPr lang="en-US" dirty="0"/>
              <a:t> — </a:t>
            </a:r>
            <a:r>
              <a:rPr lang="ru-RU" dirty="0"/>
              <a:t>подождать результат и продолжить позже </a:t>
            </a:r>
          </a:p>
          <a:p>
            <a:pPr lvl="1"/>
            <a:r>
              <a:rPr lang="en-US" dirty="0" err="1"/>
              <a:t>co_return</a:t>
            </a:r>
            <a:r>
              <a:rPr lang="en-US" dirty="0"/>
              <a:t> — </a:t>
            </a:r>
            <a:r>
              <a:rPr lang="ru-RU" dirty="0"/>
              <a:t>завершить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co_yield</a:t>
            </a:r>
            <a:r>
              <a:rPr lang="en-US" dirty="0">
                <a:latin typeface="Consolas" panose="020B0609020204030204" pitchFamily="49" charset="0"/>
              </a:rPr>
              <a:t> value;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co_await</a:t>
            </a:r>
            <a:r>
              <a:rPr lang="en-US" dirty="0">
                <a:latin typeface="Consolas" panose="020B0609020204030204" pitchFamily="49" charset="0"/>
              </a:rPr>
              <a:t> task;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co_return</a:t>
            </a:r>
            <a:r>
              <a:rPr lang="en-US" dirty="0">
                <a:latin typeface="Consolas" panose="020B0609020204030204" pitchFamily="49" charset="0"/>
              </a:rPr>
              <a:t> result;</a:t>
            </a:r>
          </a:p>
        </p:txBody>
      </p:sp>
    </p:spTree>
    <p:extLst>
      <p:ext uri="{BB962C8B-B14F-4D97-AF65-F5344CB8AC3E}">
        <p14:creationId xmlns:p14="http://schemas.microsoft.com/office/powerpoint/2010/main" val="343458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3558E-F713-D0E9-DDFA-91138BC9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co_yield</a:t>
            </a:r>
            <a:r>
              <a:rPr lang="ru-RU" dirty="0"/>
              <a:t> — возвращаем значение и приостанавливаемся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73801-EACD-CED8-6136-C280C1EA9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46262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co_yield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возвращает значение вызывающему коду </a:t>
            </a:r>
          </a:p>
          <a:p>
            <a:pPr lvl="1"/>
            <a:r>
              <a:rPr lang="ru-RU" dirty="0"/>
              <a:t>приостанавливает выполнение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при следующем обращении выполнение продолжается с той же точки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B7B3D-75B9-C0CC-6A17-498DD26FE08C}"/>
              </a:ext>
            </a:extLst>
          </p:cNvPr>
          <p:cNvSpPr txBox="1"/>
          <p:nvPr/>
        </p:nvSpPr>
        <p:spPr>
          <a:xfrm>
            <a:off x="944745" y="3671887"/>
            <a:ext cx="1124725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CountToThree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Каждый вызов ++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it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будит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корутину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, а она продолжает с того места, где остановилась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*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392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CD0451-86FF-6102-3D9E-311F6F0B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co_return</a:t>
            </a:r>
            <a:r>
              <a:rPr lang="en-US" dirty="0"/>
              <a:t> — </a:t>
            </a:r>
            <a:r>
              <a:rPr lang="ru-RU" dirty="0"/>
              <a:t>завершение </a:t>
            </a:r>
            <a:r>
              <a:rPr lang="ru-RU" dirty="0" err="1"/>
              <a:t>корутины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81301-BD05-CE1B-1AEB-96D0C6C74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3425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 err="1"/>
              <a:t>co_return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завершает выполнение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возвращает итоговый результат </a:t>
            </a:r>
          </a:p>
          <a:p>
            <a:pPr lvl="1"/>
            <a:r>
              <a:rPr lang="ru-RU" dirty="0"/>
              <a:t>аналог </a:t>
            </a:r>
            <a:r>
              <a:rPr lang="ru-RU" dirty="0" err="1"/>
              <a:t>return</a:t>
            </a:r>
            <a:r>
              <a:rPr lang="ru-RU" dirty="0"/>
              <a:t> для </a:t>
            </a:r>
            <a:r>
              <a:rPr lang="ru-RU" dirty="0" err="1"/>
              <a:t>корутин</a:t>
            </a:r>
            <a:endParaRPr lang="ru-RU" dirty="0"/>
          </a:p>
          <a:p>
            <a:r>
              <a:rPr lang="ru-RU" dirty="0"/>
              <a:t>Пример:</a:t>
            </a:r>
          </a:p>
          <a:p>
            <a:pPr lvl="1"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Task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dirty="0" err="1">
                <a:solidFill>
                  <a:srgbClr val="74531F"/>
                </a:solidFill>
                <a:latin typeface="Consolas" panose="020B0609020204030204" pitchFamily="49" charset="0"/>
              </a:rPr>
              <a:t>GetAnswer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8F08C4"/>
                </a:solidFill>
                <a:latin typeface="Consolas" panose="020B0609020204030204" pitchFamily="49" charset="0"/>
              </a:rPr>
              <a:t>co_return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  <a:p>
            <a:r>
              <a:rPr lang="ru-RU" dirty="0"/>
              <a:t>Поведение:</a:t>
            </a:r>
          </a:p>
          <a:p>
            <a:pPr lvl="1"/>
            <a:r>
              <a:rPr lang="ru-RU" dirty="0"/>
              <a:t>значение передаётся через </a:t>
            </a:r>
            <a:r>
              <a:rPr lang="ru-RU" dirty="0" err="1"/>
              <a:t>promise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после </a:t>
            </a:r>
            <a:r>
              <a:rPr lang="ru-RU" dirty="0" err="1">
                <a:latin typeface="Consolas" panose="020B0609020204030204" pitchFamily="49" charset="0"/>
              </a:rPr>
              <a:t>co_return</a:t>
            </a:r>
            <a:r>
              <a:rPr lang="ru-RU" dirty="0"/>
              <a:t> </a:t>
            </a:r>
            <a:r>
              <a:rPr lang="ru-RU" dirty="0" err="1"/>
              <a:t>корутина</a:t>
            </a:r>
            <a:r>
              <a:rPr lang="ru-RU" dirty="0"/>
              <a:t> больше не выполняется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939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49B8-089B-C09B-0F7F-81999E98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co_await</a:t>
            </a:r>
            <a:r>
              <a:rPr lang="ru-RU" dirty="0"/>
              <a:t> — приостановиться и дождаться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71B68-768C-05B9-358C-EB360CC67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22475"/>
          </a:xfrm>
        </p:spPr>
        <p:txBody>
          <a:bodyPr/>
          <a:lstStyle/>
          <a:p>
            <a:r>
              <a:rPr lang="ru-RU" dirty="0" err="1"/>
              <a:t>co_await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приостанавливает выполнение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ожидает завершения операции </a:t>
            </a:r>
          </a:p>
          <a:p>
            <a:pPr lvl="1"/>
            <a:r>
              <a:rPr lang="ru-RU" dirty="0"/>
              <a:t>продолжает выполнение после готовности результата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B1A56-B717-E036-6253-9F1BF42C8D62}"/>
              </a:ext>
            </a:extLst>
          </p:cNvPr>
          <p:cNvSpPr txBox="1"/>
          <p:nvPr/>
        </p:nvSpPr>
        <p:spPr>
          <a:xfrm>
            <a:off x="1055779" y="4001294"/>
            <a:ext cx="99375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GetAnswer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GetAnswer2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GetFinalAnswer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Вызывающая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корутина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спит внутри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co_await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, пока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Task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не будет готов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GetAnswer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GetAnswer2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301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51B7-BD5D-A0E8-68B0-F5285E64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co-</a:t>
            </a:r>
            <a:r>
              <a:rPr lang="ru-RU" dirty="0"/>
              <a:t>операторов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207423-238E-D518-ADCD-CD2A588B6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5221952"/>
              </p:ext>
            </p:extLst>
          </p:nvPr>
        </p:nvGraphicFramePr>
        <p:xfrm>
          <a:off x="838200" y="1825625"/>
          <a:ext cx="10515597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1781353543"/>
                    </a:ext>
                  </a:extLst>
                </a:gridCol>
                <a:gridCol w="4895848">
                  <a:extLst>
                    <a:ext uri="{9D8B030D-6E8A-4147-A177-3AD203B41FA5}">
                      <a16:colId xmlns:a16="http://schemas.microsoft.com/office/drawing/2014/main" val="66334427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51262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Ключевое слово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Что делает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использовать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7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co_return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Завершает </a:t>
                      </a:r>
                      <a:r>
                        <a:rPr lang="ru-RU" sz="2000" dirty="0" err="1"/>
                        <a:t>корутину</a:t>
                      </a:r>
                      <a:r>
                        <a:rPr lang="ru-RU" sz="2000" dirty="0"/>
                        <a:t> и возвращает значение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Вместо </a:t>
                      </a:r>
                      <a:r>
                        <a:rPr lang="en-US" sz="2000" dirty="0"/>
                        <a:t>return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9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co_yield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Приостанавливает </a:t>
                      </a:r>
                      <a:r>
                        <a:rPr lang="ru-RU" sz="2000" dirty="0" err="1"/>
                        <a:t>корутину</a:t>
                      </a:r>
                      <a:r>
                        <a:rPr lang="ru-RU" sz="2000" dirty="0"/>
                        <a:t> и возвращает значение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 создании генераторов и ленивых вычислениях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83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co_await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Приостанавливает </a:t>
                      </a:r>
                      <a:r>
                        <a:rPr lang="ru-RU" sz="2000" dirty="0" err="1"/>
                        <a:t>корутину</a:t>
                      </a:r>
                      <a:r>
                        <a:rPr lang="ru-RU" sz="2000" dirty="0"/>
                        <a:t> до готовности </a:t>
                      </a:r>
                      <a:r>
                        <a:rPr lang="en-US" sz="2000" dirty="0" err="1"/>
                        <a:t>awaitable</a:t>
                      </a:r>
                      <a:r>
                        <a:rPr lang="en-US" sz="2000" dirty="0"/>
                        <a:t>-</a:t>
                      </a:r>
                      <a:r>
                        <a:rPr lang="ru-RU" sz="2000" dirty="0"/>
                        <a:t>объекта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В асинхронных задачах и неблокирующих операциях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403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46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94EC7D-C974-5FC3-9FAE-CBAC359DC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Создаём простейшую </a:t>
            </a:r>
            <a:r>
              <a:rPr lang="ru-RU" dirty="0" err="1"/>
              <a:t>корутину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AE5DF-3AF5-7D39-45B7-D5F4728C5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97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EBBCDA-84A8-92B2-5318-1BE43074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скрыто за </a:t>
            </a:r>
            <a:r>
              <a:rPr lang="ru-RU" dirty="0" err="1"/>
              <a:t>корутиной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F0B7E9-6848-D945-B248-5559374C9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Мы уже видели, как использовать </a:t>
            </a:r>
            <a:r>
              <a:rPr lang="ru-RU" dirty="0" err="1"/>
              <a:t>корутины</a:t>
            </a:r>
            <a:endParaRPr lang="ru-RU" dirty="0"/>
          </a:p>
          <a:p>
            <a:pPr lvl="1"/>
            <a:r>
              <a:rPr lang="ru-RU" dirty="0"/>
              <a:t>Использовать </a:t>
            </a:r>
            <a:r>
              <a:rPr lang="en-US" dirty="0" err="1"/>
              <a:t>co_yield</a:t>
            </a:r>
            <a:r>
              <a:rPr lang="en-US" dirty="0"/>
              <a:t>, </a:t>
            </a:r>
            <a:r>
              <a:rPr lang="en-US" dirty="0" err="1"/>
              <a:t>co_await</a:t>
            </a:r>
            <a:r>
              <a:rPr lang="en-US" dirty="0"/>
              <a:t>, </a:t>
            </a:r>
            <a:r>
              <a:rPr lang="en-US" dirty="0" err="1"/>
              <a:t>co_return</a:t>
            </a:r>
            <a:endParaRPr lang="en-US" dirty="0"/>
          </a:p>
          <a:p>
            <a:r>
              <a:rPr lang="ru-RU" dirty="0"/>
              <a:t>Возникают вопросы:</a:t>
            </a:r>
          </a:p>
          <a:p>
            <a:pPr lvl="1"/>
            <a:r>
              <a:rPr lang="ru-RU" dirty="0"/>
              <a:t>Почему функция с </a:t>
            </a:r>
            <a:r>
              <a:rPr lang="ru-RU" dirty="0" err="1"/>
              <a:t>co_await</a:t>
            </a:r>
            <a:r>
              <a:rPr lang="ru-RU" dirty="0"/>
              <a:t> вообще компилируется?</a:t>
            </a:r>
          </a:p>
          <a:p>
            <a:pPr lvl="1"/>
            <a:r>
              <a:rPr lang="ru-RU" dirty="0"/>
              <a:t>Куда сохраняются локальные переменные?</a:t>
            </a:r>
          </a:p>
          <a:p>
            <a:pPr lvl="1"/>
            <a:r>
              <a:rPr lang="ru-RU" dirty="0"/>
              <a:t>Кто возобновляет выполнение?</a:t>
            </a:r>
          </a:p>
          <a:p>
            <a:pPr lvl="1"/>
            <a:r>
              <a:rPr lang="ru-RU" dirty="0"/>
              <a:t>Где хранится результат?</a:t>
            </a:r>
          </a:p>
          <a:p>
            <a:r>
              <a:rPr lang="ru-RU" dirty="0"/>
              <a:t>Нужно познакомиться с </a:t>
            </a:r>
          </a:p>
          <a:p>
            <a:pPr lvl="1"/>
            <a:r>
              <a:rPr lang="en-US" dirty="0" err="1"/>
              <a:t>promise_type</a:t>
            </a:r>
            <a:endParaRPr lang="en-US" dirty="0"/>
          </a:p>
          <a:p>
            <a:pPr lvl="1"/>
            <a:r>
              <a:rPr lang="en-US" dirty="0" err="1"/>
              <a:t>coroutine_handle</a:t>
            </a:r>
            <a:endParaRPr lang="en-US" dirty="0"/>
          </a:p>
          <a:p>
            <a:pPr lvl="1"/>
            <a:r>
              <a:rPr lang="en-US" dirty="0"/>
              <a:t>coroutine frame</a:t>
            </a:r>
          </a:p>
          <a:p>
            <a:pPr lvl="1"/>
            <a:r>
              <a:rPr lang="en-US" dirty="0"/>
              <a:t>return object</a:t>
            </a:r>
          </a:p>
        </p:txBody>
      </p:sp>
    </p:spTree>
    <p:extLst>
      <p:ext uri="{BB962C8B-B14F-4D97-AF65-F5344CB8AC3E}">
        <p14:creationId xmlns:p14="http://schemas.microsoft.com/office/powerpoint/2010/main" val="962654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21F40E-787F-3E2F-96F5-642AFB55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Заготовка приостанавливаемой функции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8E696-F6C2-601F-DAA1-F19972CEC87C}"/>
              </a:ext>
            </a:extLst>
          </p:cNvPr>
          <p:cNvSpPr txBox="1"/>
          <p:nvPr/>
        </p:nvSpPr>
        <p:spPr>
          <a:xfrm>
            <a:off x="838201" y="1690688"/>
            <a:ext cx="105155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всегда приостанавливает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корутину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в этой точке до явного возобновления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A1E4F-8C95-3266-4BDA-47B7A99BDAA5}"/>
              </a:ext>
            </a:extLst>
          </p:cNvPr>
          <p:cNvSpPr txBox="1"/>
          <p:nvPr/>
        </p:nvSpPr>
        <p:spPr>
          <a:xfrm>
            <a:off x="838200" y="5382696"/>
            <a:ext cx="1114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error C2039: '</a:t>
            </a:r>
            <a:r>
              <a:rPr lang="en-US" dirty="0" err="1">
                <a:latin typeface="Consolas" panose="020B0609020204030204" pitchFamily="49" charset="0"/>
              </a:rPr>
              <a:t>promise_type</a:t>
            </a:r>
            <a:r>
              <a:rPr lang="en-US" dirty="0">
                <a:latin typeface="Consolas" panose="020B0609020204030204" pitchFamily="49" charset="0"/>
              </a:rPr>
              <a:t>': is not a member of 'std::</a:t>
            </a:r>
            <a:r>
              <a:rPr lang="en-US" dirty="0" err="1">
                <a:latin typeface="Consolas" panose="020B0609020204030204" pitchFamily="49" charset="0"/>
              </a:rPr>
              <a:t>coroutine_traits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ReturnObject</a:t>
            </a:r>
            <a:r>
              <a:rPr lang="en-US" dirty="0">
                <a:latin typeface="Consolas" panose="020B0609020204030204" pitchFamily="49" charset="0"/>
              </a:rPr>
              <a:t>&gt;'</a:t>
            </a:r>
          </a:p>
        </p:txBody>
      </p:sp>
    </p:spTree>
    <p:extLst>
      <p:ext uri="{BB962C8B-B14F-4D97-AF65-F5344CB8AC3E}">
        <p14:creationId xmlns:p14="http://schemas.microsoft.com/office/powerpoint/2010/main" val="109602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75C08-E3D2-1DE7-1B0F-7FA4B9AB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promise_type</a:t>
            </a:r>
            <a:r>
              <a:rPr lang="ru-RU" dirty="0"/>
              <a:t> и откуда он берётся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654F0-728A-76B2-891D-990089273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promise_type</a:t>
            </a:r>
            <a:r>
              <a:rPr lang="ru-RU" dirty="0"/>
              <a:t> — это объект, который управляет </a:t>
            </a:r>
            <a:r>
              <a:rPr lang="ru-RU" dirty="0" err="1"/>
              <a:t>корутиной</a:t>
            </a:r>
            <a:endParaRPr lang="ru-RU" dirty="0"/>
          </a:p>
          <a:p>
            <a:r>
              <a:rPr lang="ru-RU" dirty="0"/>
              <a:t>Он отвечает за:</a:t>
            </a:r>
          </a:p>
          <a:p>
            <a:pPr lvl="1"/>
            <a:r>
              <a:rPr lang="ru-RU" dirty="0"/>
              <a:t>возврат значения (</a:t>
            </a:r>
            <a:r>
              <a:rPr lang="ru-RU" dirty="0" err="1"/>
              <a:t>co_return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выдачу значений (</a:t>
            </a:r>
            <a:r>
              <a:rPr lang="ru-RU" dirty="0" err="1"/>
              <a:t>co_yield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обработку исключений </a:t>
            </a:r>
          </a:p>
          <a:p>
            <a:pPr lvl="1"/>
            <a:r>
              <a:rPr lang="ru-RU" dirty="0"/>
              <a:t>управление приостановкой и возобновлением </a:t>
            </a:r>
          </a:p>
          <a:p>
            <a:r>
              <a:rPr lang="ru-RU" dirty="0"/>
              <a:t>Компилятор должен </a:t>
            </a:r>
            <a:r>
              <a:rPr lang="ru-RU" b="1" dirty="0"/>
              <a:t>где-то взять </a:t>
            </a:r>
            <a:r>
              <a:rPr lang="ru-RU" b="1" dirty="0" err="1"/>
              <a:t>promise_type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172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1310-FD00-360F-920D-5FC9A05E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Coroutine Traits — </a:t>
            </a:r>
            <a:r>
              <a:rPr lang="fr-FR" dirty="0" err="1"/>
              <a:t>как</a:t>
            </a:r>
            <a:r>
              <a:rPr lang="fr-FR" dirty="0"/>
              <a:t> </a:t>
            </a:r>
            <a:r>
              <a:rPr lang="fr-FR" dirty="0" err="1"/>
              <a:t>найти</a:t>
            </a:r>
            <a:r>
              <a:rPr lang="fr-FR" dirty="0"/>
              <a:t> </a:t>
            </a:r>
            <a:r>
              <a:rPr lang="fr-FR" dirty="0" err="1"/>
              <a:t>promise_type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20C82-3364-2877-9AF5-C7CC5AC94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Компилятор понимает, что функция — </a:t>
            </a:r>
            <a:r>
              <a:rPr lang="ru-RU" dirty="0" err="1"/>
              <a:t>корутина</a:t>
            </a:r>
            <a:r>
              <a:rPr lang="ru-RU" dirty="0"/>
              <a:t>  только при анализе её тела (</a:t>
            </a:r>
            <a:r>
              <a:rPr lang="en-US" dirty="0" err="1"/>
              <a:t>co_await</a:t>
            </a:r>
            <a:r>
              <a:rPr lang="en-US" dirty="0"/>
              <a:t>, </a:t>
            </a:r>
            <a:r>
              <a:rPr lang="en-US" dirty="0" err="1"/>
              <a:t>co_yield</a:t>
            </a:r>
            <a:r>
              <a:rPr lang="en-US" dirty="0"/>
              <a:t>, </a:t>
            </a:r>
            <a:r>
              <a:rPr lang="en-US" dirty="0" err="1"/>
              <a:t>co_return</a:t>
            </a:r>
            <a:r>
              <a:rPr lang="en-US" dirty="0"/>
              <a:t>)</a:t>
            </a:r>
          </a:p>
          <a:p>
            <a:r>
              <a:rPr lang="ru-RU" dirty="0"/>
              <a:t>Снаружи </a:t>
            </a:r>
            <a:r>
              <a:rPr lang="en-US" b="1" dirty="0" err="1">
                <a:latin typeface="Consolas" panose="020B0609020204030204" pitchFamily="49" charset="0"/>
              </a:rPr>
              <a:t>ReturnObject</a:t>
            </a:r>
            <a:r>
              <a:rPr lang="en-US" b="1" dirty="0">
                <a:latin typeface="Consolas" panose="020B0609020204030204" pitchFamily="49" charset="0"/>
              </a:rPr>
              <a:t> Func(int x);</a:t>
            </a:r>
            <a:r>
              <a:rPr lang="ru-RU" dirty="0"/>
              <a:t> выглядит как обычная функция</a:t>
            </a:r>
          </a:p>
          <a:p>
            <a:r>
              <a:rPr lang="ru-RU" dirty="0"/>
              <a:t>Когда функция распознана как </a:t>
            </a:r>
            <a:r>
              <a:rPr lang="ru-RU" dirty="0" err="1"/>
              <a:t>корутина</a:t>
            </a:r>
            <a:r>
              <a:rPr lang="ru-RU" dirty="0"/>
              <a:t>, компилятор ищет: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coroutine_traits</a:t>
            </a:r>
            <a:r>
              <a:rPr lang="en-US" dirty="0"/>
              <a:t>&lt;R, </a:t>
            </a:r>
            <a:r>
              <a:rPr lang="en-US" dirty="0" err="1"/>
              <a:t>Args</a:t>
            </a:r>
            <a:r>
              <a:rPr lang="en-US" dirty="0"/>
              <a:t>...&gt;::</a:t>
            </a:r>
            <a:r>
              <a:rPr lang="en-US" dirty="0" err="1"/>
              <a:t>promise_type</a:t>
            </a:r>
            <a:endParaRPr lang="en-US" dirty="0"/>
          </a:p>
          <a:p>
            <a:pPr lvl="1"/>
            <a:r>
              <a:rPr lang="ru-RU" dirty="0"/>
              <a:t>где:</a:t>
            </a:r>
          </a:p>
          <a:p>
            <a:pPr lvl="2"/>
            <a:r>
              <a:rPr lang="en-US" dirty="0"/>
              <a:t>R — </a:t>
            </a:r>
            <a:r>
              <a:rPr lang="ru-RU" dirty="0"/>
              <a:t>возвращаемый тип функции </a:t>
            </a:r>
          </a:p>
          <a:p>
            <a:pPr lvl="2"/>
            <a:r>
              <a:rPr lang="en-US" dirty="0" err="1"/>
              <a:t>Args</a:t>
            </a:r>
            <a:r>
              <a:rPr lang="en-US" dirty="0"/>
              <a:t>... — </a:t>
            </a:r>
            <a:r>
              <a:rPr lang="ru-RU" dirty="0"/>
              <a:t>типы её параметров </a:t>
            </a:r>
          </a:p>
          <a:p>
            <a:pPr lvl="1"/>
            <a:r>
              <a:rPr lang="ru-RU" dirty="0"/>
              <a:t>В большинстве случаев: </a:t>
            </a:r>
            <a:r>
              <a:rPr lang="en-US" dirty="0"/>
              <a:t>R::promise_type</a:t>
            </a:r>
          </a:p>
          <a:p>
            <a:r>
              <a:rPr lang="ru-RU" dirty="0"/>
              <a:t>Упрощённо:</a:t>
            </a:r>
          </a:p>
          <a:p>
            <a:pPr lvl="1"/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R, </a:t>
            </a:r>
            <a:r>
              <a:rPr lang="en-US" dirty="0" err="1"/>
              <a:t>typename</a:t>
            </a:r>
            <a:r>
              <a:rPr lang="en-US" dirty="0"/>
              <a:t>... </a:t>
            </a:r>
            <a:r>
              <a:rPr lang="en-US" dirty="0" err="1"/>
              <a:t>Args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struct </a:t>
            </a:r>
            <a:r>
              <a:rPr lang="en-US" dirty="0" err="1"/>
              <a:t>coroutine_traits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using </a:t>
            </a:r>
            <a:r>
              <a:rPr lang="en-US" dirty="0" err="1"/>
              <a:t>promise_type</a:t>
            </a:r>
            <a:r>
              <a:rPr lang="en-US" dirty="0"/>
              <a:t> = </a:t>
            </a:r>
            <a:r>
              <a:rPr lang="en-US" dirty="0" err="1"/>
              <a:t>typename</a:t>
            </a:r>
            <a:r>
              <a:rPr lang="en-US" dirty="0"/>
              <a:t> R::promise_type;</a:t>
            </a:r>
            <a:br>
              <a:rPr lang="en-US" dirty="0"/>
            </a:br>
            <a:r>
              <a:rPr lang="en-US" dirty="0"/>
              <a:t>};</a:t>
            </a:r>
          </a:p>
          <a:p>
            <a:r>
              <a:rPr lang="ru-RU" dirty="0"/>
              <a:t>Если </a:t>
            </a:r>
            <a:r>
              <a:rPr lang="en-US" dirty="0" err="1"/>
              <a:t>promise_type</a:t>
            </a:r>
            <a:r>
              <a:rPr lang="en-US" dirty="0"/>
              <a:t> </a:t>
            </a:r>
            <a:r>
              <a:rPr lang="ru-RU" dirty="0"/>
              <a:t>не найден → ошибка компиляции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4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BA44E-F1A4-2633-03C5-78E6A37FB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Объявляем </a:t>
            </a:r>
            <a:r>
              <a:rPr lang="en-US" dirty="0" err="1"/>
              <a:t>promise_type</a:t>
            </a:r>
            <a:r>
              <a:rPr lang="ru-RU" dirty="0"/>
              <a:t> внутри </a:t>
            </a:r>
            <a:r>
              <a:rPr lang="en-US" dirty="0" err="1"/>
              <a:t>ReturnObject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77143-EAFC-FF0A-B9B6-8ED8EFFBB4FF}"/>
              </a:ext>
            </a:extLst>
          </p:cNvPr>
          <p:cNvSpPr txBox="1"/>
          <p:nvPr/>
        </p:nvSpPr>
        <p:spPr>
          <a:xfrm>
            <a:off x="838200" y="1985554"/>
            <a:ext cx="1079961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возвращает объект, который будет возвращён из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корутины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вызывается, когда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корутина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приостанавливается при входе в неё.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suspend_never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вызывается, когда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корутина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приостанавливается при выходе из неё.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suspend_never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вызывается, когда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корутина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завершает выполнение.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return_void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вызывается, когда в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корутине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возникает исключение.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9674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0875-673B-4FBD-1F53-5C6618C9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Запускаем </a:t>
            </a:r>
            <a:r>
              <a:rPr lang="ru-RU" dirty="0" err="1"/>
              <a:t>корутину</a:t>
            </a:r>
            <a:r>
              <a:rPr lang="ru-RU" dirty="0"/>
              <a:t> и возвращаемся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116EF-7900-809B-DF7B-8607764CECE8}"/>
              </a:ext>
            </a:extLst>
          </p:cNvPr>
          <p:cNvSpPr txBox="1"/>
          <p:nvPr/>
        </p:nvSpPr>
        <p:spPr>
          <a:xfrm>
            <a:off x="838200" y="2090057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Returned from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B13BC-8FB0-8329-2BDB-FA0C7FD68AD8}"/>
              </a:ext>
            </a:extLst>
          </p:cNvPr>
          <p:cNvSpPr txBox="1"/>
          <p:nvPr/>
        </p:nvSpPr>
        <p:spPr>
          <a:xfrm>
            <a:off x="6096000" y="5705344"/>
            <a:ext cx="5830389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Enter </a:t>
            </a:r>
            <a:r>
              <a:rPr lang="en-US" dirty="0" err="1">
                <a:latin typeface="Consolas" panose="020B0609020204030204" pitchFamily="49" charset="0"/>
              </a:rPr>
              <a:t>ResumableFunc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Returned from </a:t>
            </a:r>
            <a:r>
              <a:rPr lang="en-US" dirty="0" err="1">
                <a:latin typeface="Consolas" panose="020B0609020204030204" pitchFamily="49" charset="0"/>
              </a:rPr>
              <a:t>ResumableFunc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68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1DA6C-5150-AEDC-5E36-9071CD01F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94CB-D09C-C4D9-7F17-46B6736AA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Приостанавливаем </a:t>
            </a:r>
            <a:r>
              <a:rPr lang="ru-RU" dirty="0" err="1"/>
              <a:t>корутину</a:t>
            </a:r>
            <a:r>
              <a:rPr lang="ru-RU" dirty="0"/>
              <a:t> при входе в неё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716911-4965-37EB-A3D8-2F688EBAD809}"/>
              </a:ext>
            </a:extLst>
          </p:cNvPr>
          <p:cNvSpPr txBox="1"/>
          <p:nvPr/>
        </p:nvSpPr>
        <p:spPr>
          <a:xfrm>
            <a:off x="838200" y="1756002"/>
            <a:ext cx="10905309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ru-RU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ru-RU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вызывается, когда </a:t>
            </a:r>
            <a:r>
              <a:rPr lang="ru-RU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корутина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приостанавливается при входе в неё.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700" b="1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suspend_always</a:t>
            </a:r>
            <a:r>
              <a:rPr lang="en-US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</a:t>
            </a:r>
            <a:r>
              <a:rPr lang="en-US" sz="17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</a:t>
            </a:r>
            <a:r>
              <a:rPr lang="en-US" sz="17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Returned from </a:t>
            </a:r>
            <a:r>
              <a:rPr lang="en-US" sz="17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9C0F0-0D6F-9FE4-9524-03F9007B6660}"/>
              </a:ext>
            </a:extLst>
          </p:cNvPr>
          <p:cNvSpPr txBox="1"/>
          <p:nvPr/>
        </p:nvSpPr>
        <p:spPr>
          <a:xfrm>
            <a:off x="7623266" y="6123543"/>
            <a:ext cx="431618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Returned from </a:t>
            </a:r>
            <a:r>
              <a:rPr lang="en-US" dirty="0" err="1">
                <a:latin typeface="Consolas" panose="020B0609020204030204" pitchFamily="49" charset="0"/>
              </a:rPr>
              <a:t>ResumableFunc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73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5547-022F-2AE2-E52F-CB69C464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управлять приостановленной </a:t>
            </a:r>
            <a:r>
              <a:rPr lang="ru-RU" dirty="0" err="1"/>
              <a:t>корутиной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AFFF8-9596-0875-BDDC-446EFA449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Мы научились: приостанавливать </a:t>
            </a:r>
            <a:r>
              <a:rPr lang="ru-RU" dirty="0" err="1"/>
              <a:t>корутину</a:t>
            </a:r>
            <a:endParaRPr lang="ru-RU" dirty="0"/>
          </a:p>
          <a:p>
            <a:pPr lvl="1"/>
            <a:r>
              <a:rPr lang="ru-RU" dirty="0" err="1"/>
              <a:t>co_await</a:t>
            </a:r>
            <a:r>
              <a:rPr lang="ru-RU" dirty="0"/>
              <a:t>, </a:t>
            </a:r>
            <a:r>
              <a:rPr lang="ru-RU" dirty="0" err="1"/>
              <a:t>initial_suspend</a:t>
            </a:r>
            <a:endParaRPr lang="ru-RU" dirty="0"/>
          </a:p>
          <a:p>
            <a:r>
              <a:rPr lang="ru-RU" dirty="0"/>
              <a:t>Возникает вопросы:</a:t>
            </a:r>
          </a:p>
          <a:p>
            <a:pPr lvl="1"/>
            <a:r>
              <a:rPr lang="ru-RU" dirty="0"/>
              <a:t>Как её продолжить?</a:t>
            </a:r>
          </a:p>
          <a:p>
            <a:pPr lvl="1"/>
            <a:r>
              <a:rPr lang="ru-RU" dirty="0"/>
              <a:t>Как понять, завершилась ли она?</a:t>
            </a:r>
          </a:p>
          <a:p>
            <a:pPr lvl="1"/>
            <a:r>
              <a:rPr lang="ru-RU" dirty="0"/>
              <a:t>Как освободить ресурсы?</a:t>
            </a:r>
          </a:p>
          <a:p>
            <a:r>
              <a:rPr lang="ru-RU" dirty="0"/>
              <a:t>Нужен механизм управления </a:t>
            </a:r>
            <a:r>
              <a:rPr lang="ru-RU" dirty="0" err="1"/>
              <a:t>корутиной</a:t>
            </a:r>
            <a:endParaRPr lang="ru-RU" dirty="0"/>
          </a:p>
          <a:p>
            <a:r>
              <a:rPr lang="ru-RU" dirty="0"/>
              <a:t>Решение: </a:t>
            </a:r>
            <a:r>
              <a:rPr lang="ru-RU" dirty="0" err="1"/>
              <a:t>coroutine_handle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8558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0D9098-3F1B-A9B6-95DB-85E8457F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coroutine_handle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B723B6-FF36-225C-6CE7-57DC120C2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26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DC4C96-60AF-FC9E-B33C-E9D6194F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coroutine_handle</a:t>
            </a:r>
            <a:r>
              <a:rPr lang="ru-RU" dirty="0"/>
              <a:t> – управление </a:t>
            </a:r>
            <a:r>
              <a:rPr lang="ru-RU" dirty="0" err="1"/>
              <a:t>корутиной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C90D3E-AF77-2992-75E7-635B2FAD8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std::</a:t>
            </a:r>
            <a:r>
              <a:rPr lang="en-US" dirty="0" err="1"/>
              <a:t>coroutine_handle</a:t>
            </a:r>
            <a:r>
              <a:rPr lang="en-US" dirty="0"/>
              <a:t>&lt;</a:t>
            </a:r>
            <a:r>
              <a:rPr lang="en-US" dirty="0" err="1"/>
              <a:t>promise_type</a:t>
            </a:r>
            <a:r>
              <a:rPr lang="en-US" dirty="0"/>
              <a:t>&gt; — </a:t>
            </a:r>
            <a:r>
              <a:rPr lang="ru-RU" dirty="0"/>
              <a:t>это «указатель» на </a:t>
            </a:r>
            <a:r>
              <a:rPr lang="ru-RU" dirty="0" err="1"/>
              <a:t>корутину</a:t>
            </a:r>
            <a:endParaRPr lang="ru-RU" dirty="0"/>
          </a:p>
          <a:p>
            <a:r>
              <a:rPr lang="ru-RU" dirty="0"/>
              <a:t>Позволяет управлять её выполнением:</a:t>
            </a:r>
          </a:p>
          <a:p>
            <a:pPr lvl="1"/>
            <a:r>
              <a:rPr lang="en-US" dirty="0"/>
              <a:t>resume() — </a:t>
            </a:r>
            <a:r>
              <a:rPr lang="ru-RU" dirty="0"/>
              <a:t>продолжить выполнение </a:t>
            </a:r>
          </a:p>
          <a:p>
            <a:pPr lvl="1"/>
            <a:r>
              <a:rPr lang="en-US" dirty="0"/>
              <a:t>done() — </a:t>
            </a:r>
            <a:r>
              <a:rPr lang="ru-RU" dirty="0"/>
              <a:t>проверить, завершена ли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</a:p>
          <a:p>
            <a:pPr lvl="1"/>
            <a:r>
              <a:rPr lang="en-US" dirty="0"/>
              <a:t>destroy() — </a:t>
            </a:r>
            <a:r>
              <a:rPr lang="ru-RU" dirty="0"/>
              <a:t>освободить ресурсы </a:t>
            </a:r>
          </a:p>
          <a:p>
            <a:pPr lvl="1"/>
            <a:r>
              <a:rPr lang="en-US" dirty="0"/>
              <a:t>promise() — </a:t>
            </a:r>
            <a:r>
              <a:rPr lang="ru-RU" dirty="0"/>
              <a:t>доступ к </a:t>
            </a:r>
            <a:r>
              <a:rPr lang="en-US" dirty="0" err="1"/>
              <a:t>promise_type</a:t>
            </a:r>
            <a:r>
              <a:rPr lang="en-US" dirty="0"/>
              <a:t> </a:t>
            </a:r>
          </a:p>
          <a:p>
            <a:r>
              <a:rPr lang="ru-RU" dirty="0"/>
              <a:t>Идея: </a:t>
            </a:r>
            <a:r>
              <a:rPr lang="en-US" dirty="0" err="1"/>
              <a:t>coroutine_handle</a:t>
            </a:r>
            <a:r>
              <a:rPr lang="en-US" dirty="0"/>
              <a:t> = </a:t>
            </a:r>
            <a:r>
              <a:rPr lang="ru-RU" dirty="0"/>
              <a:t>доступ к состоянию </a:t>
            </a:r>
            <a:r>
              <a:rPr lang="ru-RU" dirty="0" err="1"/>
              <a:t>корутины</a:t>
            </a:r>
            <a:endParaRPr lang="ru-RU" dirty="0"/>
          </a:p>
          <a:p>
            <a:r>
              <a:rPr lang="ru-RU" dirty="0"/>
              <a:t>Низкоуровневый механизм (обычно скрыт внутри библиотек)</a:t>
            </a:r>
          </a:p>
        </p:txBody>
      </p:sp>
    </p:spTree>
    <p:extLst>
      <p:ext uri="{BB962C8B-B14F-4D97-AF65-F5344CB8AC3E}">
        <p14:creationId xmlns:p14="http://schemas.microsoft.com/office/powerpoint/2010/main" val="383308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EB1363-955C-CCE3-BAB5-477EEF003F54}"/>
              </a:ext>
            </a:extLst>
          </p:cNvPr>
          <p:cNvSpPr txBox="1"/>
          <p:nvPr/>
        </p:nvSpPr>
        <p:spPr>
          <a:xfrm>
            <a:off x="838200" y="1690688"/>
            <a:ext cx="11049000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возвращает объект, который будет возвращён из </a:t>
            </a:r>
            <a:r>
              <a:rPr lang="ru-RU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корутины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Получаем указатель на </a:t>
            </a:r>
            <a:r>
              <a:rPr lang="en-US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coroutne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handle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возвращаем </a:t>
            </a:r>
            <a:r>
              <a:rPr lang="en-US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вместе с ним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from_promise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вызывается, когда </a:t>
            </a:r>
            <a:r>
              <a:rPr lang="ru-RU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корутина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приостанавливается при входе в неё.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Этот метод вызывается, когда </a:t>
            </a:r>
            <a:r>
              <a:rPr lang="ru-RU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корутина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приостанавливается при выходе из неё.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7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suspend_always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…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  <a:endParaRPr lang="en-US" sz="17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E86C3B-0228-F4BE-F0E3-54D724518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85413" cy="1325563"/>
          </a:xfrm>
        </p:spPr>
        <p:txBody>
          <a:bodyPr/>
          <a:lstStyle/>
          <a:p>
            <a:r>
              <a:rPr lang="ru-RU" dirty="0"/>
              <a:t>Сохраняем </a:t>
            </a:r>
            <a:r>
              <a:rPr lang="en-US" dirty="0"/>
              <a:t>promise-</a:t>
            </a:r>
            <a:r>
              <a:rPr lang="ru-RU" dirty="0"/>
              <a:t>объект внутрь </a:t>
            </a:r>
            <a:r>
              <a:rPr lang="en-US" dirty="0" err="1"/>
              <a:t>ReturnObject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C1F5D8-4A1D-04EF-8044-D4D352D9210F}"/>
              </a:ext>
            </a:extLst>
          </p:cNvPr>
          <p:cNvGrpSpPr/>
          <p:nvPr/>
        </p:nvGrpSpPr>
        <p:grpSpPr>
          <a:xfrm>
            <a:off x="9523613" y="517727"/>
            <a:ext cx="2477192" cy="2709950"/>
            <a:chOff x="9523613" y="517727"/>
            <a:chExt cx="2477192" cy="27099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52E22B2-F049-9F07-7558-B81E03A3CA36}"/>
                </a:ext>
              </a:extLst>
            </p:cNvPr>
            <p:cNvSpPr/>
            <p:nvPr/>
          </p:nvSpPr>
          <p:spPr>
            <a:xfrm>
              <a:off x="9523613" y="517727"/>
              <a:ext cx="2477192" cy="27099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Coroutine Frame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BEA7DB-030C-4161-E925-4879D882A401}"/>
                </a:ext>
              </a:extLst>
            </p:cNvPr>
            <p:cNvSpPr/>
            <p:nvPr/>
          </p:nvSpPr>
          <p:spPr>
            <a:xfrm>
              <a:off x="9699566" y="1603981"/>
              <a:ext cx="2125287" cy="415232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Параметры</a:t>
              </a:r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7BBE477-6891-441E-0C9D-30D593995983}"/>
                </a:ext>
              </a:extLst>
            </p:cNvPr>
            <p:cNvSpPr/>
            <p:nvPr/>
          </p:nvSpPr>
          <p:spPr>
            <a:xfrm>
              <a:off x="9699566" y="1076152"/>
              <a:ext cx="2125287" cy="41523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promise_type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95D862-4B03-BA01-CC77-E3727FC99011}"/>
                </a:ext>
              </a:extLst>
            </p:cNvPr>
            <p:cNvSpPr/>
            <p:nvPr/>
          </p:nvSpPr>
          <p:spPr>
            <a:xfrm>
              <a:off x="9699566" y="2131810"/>
              <a:ext cx="2125287" cy="415232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Local vars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CFC702-70B3-9F27-B13F-979DA568A765}"/>
                </a:ext>
              </a:extLst>
            </p:cNvPr>
            <p:cNvSpPr/>
            <p:nvPr/>
          </p:nvSpPr>
          <p:spPr>
            <a:xfrm>
              <a:off x="9699566" y="2692025"/>
              <a:ext cx="2125287" cy="415232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Место остановки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9974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EBE153-E77C-A702-023F-72512172A295}"/>
              </a:ext>
            </a:extLst>
          </p:cNvPr>
          <p:cNvSpPr txBox="1"/>
          <p:nvPr/>
        </p:nvSpPr>
        <p:spPr>
          <a:xfrm>
            <a:off x="0" y="104502"/>
            <a:ext cx="602456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ReturnObject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ReturnObject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&amp;)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ReturnObject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 operator=(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ReturnObject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&amp;)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ReturnObject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 operator=(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ReturnObject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&amp;&amp; 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other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!= &amp;</a:t>
            </a:r>
            <a:r>
              <a:rPr lang="en-US" sz="1200" dirty="0">
                <a:solidFill>
                  <a:srgbClr val="808080"/>
                </a:solidFill>
                <a:latin typeface="Consolas" panose="020B0609020204030204" pitchFamily="49" charset="0"/>
              </a:rPr>
              <a:t>other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std::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ReturnObject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move assignment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m_handle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m_handle.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destroy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m_handle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exchange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808080"/>
                </a:solidFill>
                <a:latin typeface="Consolas" panose="020B0609020204030204" pitchFamily="49" charset="0"/>
              </a:rPr>
              <a:t>other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.m_handle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  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destroy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    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m_handle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return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AFFA5-450A-D59B-09F2-622762582359}"/>
              </a:ext>
            </a:extLst>
          </p:cNvPr>
          <p:cNvSpPr txBox="1"/>
          <p:nvPr/>
        </p:nvSpPr>
        <p:spPr>
          <a:xfrm>
            <a:off x="6179733" y="172018"/>
            <a:ext cx="576565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Returned from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ResumableFunc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resumed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542BB0-C983-1682-EE07-14BF9B84D7C5}"/>
              </a:ext>
            </a:extLst>
          </p:cNvPr>
          <p:cNvSpPr txBox="1"/>
          <p:nvPr/>
        </p:nvSpPr>
        <p:spPr>
          <a:xfrm>
            <a:off x="6179733" y="4668235"/>
            <a:ext cx="4671146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Returned from </a:t>
            </a:r>
            <a:r>
              <a:rPr lang="en-US" dirty="0" err="1">
                <a:latin typeface="Consolas" panose="020B0609020204030204" pitchFamily="49" charset="0"/>
              </a:rPr>
              <a:t>ResumableFunc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Enter </a:t>
            </a:r>
            <a:r>
              <a:rPr lang="en-US" dirty="0" err="1">
                <a:latin typeface="Consolas" panose="020B0609020204030204" pitchFamily="49" charset="0"/>
              </a:rPr>
              <a:t>ResumableFunc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ResumableFunc</a:t>
            </a:r>
            <a:r>
              <a:rPr lang="en-US" dirty="0">
                <a:latin typeface="Consolas" panose="020B0609020204030204" pitchFamily="49" charset="0"/>
              </a:rPr>
              <a:t> resumed</a:t>
            </a:r>
          </a:p>
          <a:p>
            <a:r>
              <a:rPr lang="en-US" dirty="0">
                <a:latin typeface="Consolas" panose="020B0609020204030204" pitchFamily="49" charset="0"/>
              </a:rPr>
              <a:t>Exit </a:t>
            </a:r>
            <a:r>
              <a:rPr lang="en-US" dirty="0" err="1">
                <a:latin typeface="Consolas" panose="020B0609020204030204" pitchFamily="49" charset="0"/>
              </a:rPr>
              <a:t>ResumableFunc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53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62FA-DDFC-1131-D469-A38EF6FD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Внутреннее устройство </a:t>
            </a:r>
            <a:r>
              <a:rPr lang="ru-RU" dirty="0" err="1"/>
              <a:t>корутины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5DCF9-0D61-44AB-C41D-E112D1E38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62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F820B1-72DF-86D3-593C-60D01B382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хранится в </a:t>
            </a:r>
            <a:r>
              <a:rPr lang="ru-RU" dirty="0" err="1"/>
              <a:t>корутине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E31E1C-278A-21F5-5AA3-733034DD9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При вызове </a:t>
            </a:r>
            <a:r>
              <a:rPr lang="ru-RU" dirty="0" err="1"/>
              <a:t>корутины</a:t>
            </a:r>
            <a:r>
              <a:rPr lang="ru-RU" dirty="0"/>
              <a:t> создаётся </a:t>
            </a:r>
            <a:r>
              <a:rPr lang="ru-RU" b="1" dirty="0" err="1"/>
              <a:t>coroutine</a:t>
            </a:r>
            <a:r>
              <a:rPr lang="ru-RU" b="1" dirty="0"/>
              <a:t> </a:t>
            </a:r>
            <a:r>
              <a:rPr lang="ru-RU" b="1" dirty="0" err="1"/>
              <a:t>state</a:t>
            </a:r>
            <a:r>
              <a:rPr lang="ru-RU" b="1" dirty="0"/>
              <a:t> (</a:t>
            </a:r>
            <a:r>
              <a:rPr lang="ru-RU" b="1" dirty="0" err="1"/>
              <a:t>frame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Он хранит:</a:t>
            </a:r>
          </a:p>
          <a:p>
            <a:pPr lvl="1"/>
            <a:r>
              <a:rPr lang="ru-RU" b="1" dirty="0" err="1"/>
              <a:t>promise_type</a:t>
            </a:r>
            <a:endParaRPr lang="ru-RU" dirty="0"/>
          </a:p>
          <a:p>
            <a:pPr lvl="2"/>
            <a:r>
              <a:rPr lang="ru-RU" dirty="0"/>
              <a:t>передаёт результат (</a:t>
            </a:r>
            <a:r>
              <a:rPr lang="ru-RU" dirty="0" err="1"/>
              <a:t>co_return</a:t>
            </a:r>
            <a:r>
              <a:rPr lang="ru-RU" dirty="0"/>
              <a:t>) </a:t>
            </a:r>
          </a:p>
          <a:p>
            <a:pPr lvl="2"/>
            <a:r>
              <a:rPr lang="ru-RU" dirty="0"/>
              <a:t>обрабатывает исключения </a:t>
            </a:r>
          </a:p>
          <a:p>
            <a:pPr lvl="2"/>
            <a:r>
              <a:rPr lang="ru-RU" dirty="0"/>
              <a:t>управляет поведением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</a:p>
          <a:p>
            <a:pPr lvl="1"/>
            <a:r>
              <a:rPr lang="ru-RU" b="1" dirty="0"/>
              <a:t>Данные функции</a:t>
            </a:r>
            <a:endParaRPr lang="ru-RU" dirty="0"/>
          </a:p>
          <a:p>
            <a:pPr lvl="2"/>
            <a:r>
              <a:rPr lang="ru-RU" dirty="0"/>
              <a:t>параметры (по значению) </a:t>
            </a:r>
          </a:p>
          <a:p>
            <a:pPr lvl="2"/>
            <a:r>
              <a:rPr lang="ru-RU" dirty="0"/>
              <a:t>локальные переменные, которые «переживают» </a:t>
            </a:r>
            <a:r>
              <a:rPr lang="ru-RU" dirty="0" err="1"/>
              <a:t>co_await</a:t>
            </a:r>
            <a:r>
              <a:rPr lang="ru-RU" dirty="0"/>
              <a:t> </a:t>
            </a:r>
          </a:p>
          <a:p>
            <a:pPr lvl="1"/>
            <a:r>
              <a:rPr lang="ru-RU" b="1" dirty="0"/>
              <a:t>Состояние выполнения</a:t>
            </a:r>
            <a:endParaRPr lang="ru-RU" dirty="0"/>
          </a:p>
          <a:p>
            <a:pPr lvl="2"/>
            <a:r>
              <a:rPr lang="ru-RU" dirty="0"/>
              <a:t>где остановилась </a:t>
            </a:r>
            <a:r>
              <a:rPr lang="ru-RU" dirty="0" err="1"/>
              <a:t>корутина</a:t>
            </a:r>
            <a:r>
              <a:rPr lang="ru-RU" dirty="0"/>
              <a:t> </a:t>
            </a:r>
          </a:p>
          <a:p>
            <a:pPr lvl="2"/>
            <a:r>
              <a:rPr lang="ru-RU" dirty="0"/>
              <a:t>куда продолжать при </a:t>
            </a:r>
            <a:r>
              <a:rPr lang="ru-RU" dirty="0" err="1"/>
              <a:t>resume</a:t>
            </a:r>
            <a:r>
              <a:rPr lang="ru-RU" dirty="0"/>
              <a:t>() </a:t>
            </a:r>
          </a:p>
          <a:p>
            <a:r>
              <a:rPr lang="ru-RU" dirty="0"/>
              <a:t>Доступ к </a:t>
            </a:r>
            <a:r>
              <a:rPr lang="ru-RU" dirty="0" err="1"/>
              <a:t>корутине</a:t>
            </a:r>
            <a:r>
              <a:rPr lang="ru-RU" dirty="0"/>
              <a:t> происходит через </a:t>
            </a:r>
            <a:r>
              <a:rPr lang="en-US" b="1" dirty="0"/>
              <a:t>coroutine</a:t>
            </a:r>
            <a:r>
              <a:rPr lang="ru-RU" b="1" dirty="0"/>
              <a:t>_</a:t>
            </a:r>
            <a:r>
              <a:rPr lang="en-US" b="1" dirty="0"/>
              <a:t>handle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15407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FC9917-51A4-16FC-F2A0-5ED8F5E4269A}"/>
              </a:ext>
            </a:extLst>
          </p:cNvPr>
          <p:cNvSpPr/>
          <p:nvPr/>
        </p:nvSpPr>
        <p:spPr>
          <a:xfrm>
            <a:off x="838200" y="1950701"/>
            <a:ext cx="2171700" cy="9642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main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1AB721-A532-6A7C-9F60-9813B33CF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</a:t>
            </a:r>
            <a:r>
              <a:rPr lang="ru-RU" dirty="0" err="1"/>
              <a:t>корутины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802F23-B7D0-B863-D97C-F1191E892EA9}"/>
              </a:ext>
            </a:extLst>
          </p:cNvPr>
          <p:cNvSpPr/>
          <p:nvPr/>
        </p:nvSpPr>
        <p:spPr>
          <a:xfrm>
            <a:off x="838200" y="2914993"/>
            <a:ext cx="2171700" cy="9023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Coro</a:t>
            </a:r>
            <a:endParaRPr lang="ru-RU" dirty="0"/>
          </a:p>
          <a:p>
            <a:pPr algn="ctr"/>
            <a:r>
              <a:rPr lang="en-US" dirty="0"/>
              <a:t>arg1, arg2</a:t>
            </a:r>
          </a:p>
          <a:p>
            <a:pPr algn="ctr"/>
            <a:r>
              <a:rPr lang="en-US" dirty="0"/>
              <a:t>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0F516-6680-4CCB-FE51-8FE42E8FF489}"/>
              </a:ext>
            </a:extLst>
          </p:cNvPr>
          <p:cNvSpPr/>
          <p:nvPr/>
        </p:nvSpPr>
        <p:spPr>
          <a:xfrm>
            <a:off x="7696200" y="1944599"/>
            <a:ext cx="3997036" cy="36399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Состояние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  <a:r>
              <a:rPr lang="en-US" dirty="0"/>
              <a:t>Coro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133806-BD9F-6CEF-0652-1DD3982ECAF7}"/>
              </a:ext>
            </a:extLst>
          </p:cNvPr>
          <p:cNvSpPr/>
          <p:nvPr/>
        </p:nvSpPr>
        <p:spPr>
          <a:xfrm>
            <a:off x="7937498" y="2439153"/>
            <a:ext cx="3416302" cy="14205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ru-RU" dirty="0"/>
              <a:t>Переменные и параметры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D4026-54EC-0E5A-852B-49E9FE6CC2B3}"/>
              </a:ext>
            </a:extLst>
          </p:cNvPr>
          <p:cNvSpPr txBox="1"/>
          <p:nvPr/>
        </p:nvSpPr>
        <p:spPr>
          <a:xfrm>
            <a:off x="838200" y="3859711"/>
            <a:ext cx="60864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Task&lt;int&gt; Coro(int arg1, int arg2) {</a:t>
            </a:r>
          </a:p>
          <a:p>
            <a:r>
              <a:rPr lang="en-US" dirty="0">
                <a:latin typeface="Consolas" panose="020B0609020204030204" pitchFamily="49" charset="0"/>
              </a:rPr>
              <a:t>    int res = arg1 + arg2;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co_return</a:t>
            </a:r>
            <a:r>
              <a:rPr lang="en-US" dirty="0">
                <a:latin typeface="Consolas" panose="020B0609020204030204" pitchFamily="49" charset="0"/>
              </a:rPr>
              <a:t> res;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auto task = Coro(40, 2);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task.Resume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 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</a:rPr>
              <a:t>task.GetResult</a:t>
            </a:r>
            <a:r>
              <a:rPr lang="en-US" dirty="0">
                <a:latin typeface="Consolas" panose="020B0609020204030204" pitchFamily="49" charset="0"/>
              </a:rPr>
              <a:t>() &lt;&lt; "\n";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C4CA55-6F58-014B-A177-E5047455268E}"/>
              </a:ext>
            </a:extLst>
          </p:cNvPr>
          <p:cNvSpPr/>
          <p:nvPr/>
        </p:nvSpPr>
        <p:spPr>
          <a:xfrm>
            <a:off x="7937496" y="3982832"/>
            <a:ext cx="3416301" cy="4705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Coroutine promise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5E978A-F872-2BC4-C7CC-B096F7E72089}"/>
              </a:ext>
            </a:extLst>
          </p:cNvPr>
          <p:cNvSpPr/>
          <p:nvPr/>
        </p:nvSpPr>
        <p:spPr>
          <a:xfrm>
            <a:off x="8064501" y="2841039"/>
            <a:ext cx="987425" cy="394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arg1: 40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A6764-5F1B-EE00-2068-26CA99698527}"/>
              </a:ext>
            </a:extLst>
          </p:cNvPr>
          <p:cNvSpPr/>
          <p:nvPr/>
        </p:nvSpPr>
        <p:spPr>
          <a:xfrm>
            <a:off x="9239249" y="2841039"/>
            <a:ext cx="987424" cy="394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arg2: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33394C-FD59-5C10-F0EB-1CF0332383D6}"/>
              </a:ext>
            </a:extLst>
          </p:cNvPr>
          <p:cNvSpPr/>
          <p:nvPr/>
        </p:nvSpPr>
        <p:spPr>
          <a:xfrm>
            <a:off x="8064502" y="3326223"/>
            <a:ext cx="987424" cy="394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res: 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D8092D-B49C-E6B4-4861-3EDE569C0CBA}"/>
              </a:ext>
            </a:extLst>
          </p:cNvPr>
          <p:cNvSpPr/>
          <p:nvPr/>
        </p:nvSpPr>
        <p:spPr>
          <a:xfrm>
            <a:off x="1430337" y="2380409"/>
            <a:ext cx="987425" cy="394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82F5E1B-4924-6CF4-7421-F0B9BE89E347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>
            <a:off x="2417762" y="2577804"/>
            <a:ext cx="5278438" cy="118676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BEB783F-294A-C503-018B-4E3BCC1E1CBB}"/>
              </a:ext>
            </a:extLst>
          </p:cNvPr>
          <p:cNvSpPr/>
          <p:nvPr/>
        </p:nvSpPr>
        <p:spPr>
          <a:xfrm>
            <a:off x="8064501" y="3321195"/>
            <a:ext cx="987424" cy="394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res: 42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2FAF9-F7DA-134F-1F4F-8C23A8CF5C55}"/>
              </a:ext>
            </a:extLst>
          </p:cNvPr>
          <p:cNvSpPr/>
          <p:nvPr/>
        </p:nvSpPr>
        <p:spPr>
          <a:xfrm>
            <a:off x="7962902" y="4576536"/>
            <a:ext cx="825501" cy="350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E3FB3B-C538-6FEC-38EC-7A0CECFA68AA}"/>
              </a:ext>
            </a:extLst>
          </p:cNvPr>
          <p:cNvSpPr txBox="1"/>
          <p:nvPr/>
        </p:nvSpPr>
        <p:spPr>
          <a:xfrm>
            <a:off x="7696200" y="6241197"/>
            <a:ext cx="29845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42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96D3FB-FA2D-15BD-BE63-AD7BFC280612}"/>
              </a:ext>
            </a:extLst>
          </p:cNvPr>
          <p:cNvSpPr txBox="1"/>
          <p:nvPr/>
        </p:nvSpPr>
        <p:spPr>
          <a:xfrm>
            <a:off x="838200" y="1511300"/>
            <a:ext cx="1943100" cy="376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Стек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C6A197-C7E1-9ED8-CCF7-B54A1F7DFCBB}"/>
              </a:ext>
            </a:extLst>
          </p:cNvPr>
          <p:cNvSpPr txBox="1"/>
          <p:nvPr/>
        </p:nvSpPr>
        <p:spPr>
          <a:xfrm>
            <a:off x="7696200" y="1502296"/>
            <a:ext cx="1943100" cy="376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Куча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C44205-C632-E878-EEC3-B759ADE8632B}"/>
              </a:ext>
            </a:extLst>
          </p:cNvPr>
          <p:cNvSpPr txBox="1"/>
          <p:nvPr/>
        </p:nvSpPr>
        <p:spPr>
          <a:xfrm>
            <a:off x="7696200" y="5728203"/>
            <a:ext cx="1343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74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uiExpand="1" build="allAtOnce" animBg="1"/>
      <p:bldP spid="8" grpId="0" animBg="1"/>
      <p:bldP spid="8" grpId="1" animBg="1"/>
      <p:bldP spid="10" grpId="0" animBg="1"/>
      <p:bldP spid="10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67B21A-E9E4-7523-537C-4644C359B1E2}"/>
              </a:ext>
            </a:extLst>
          </p:cNvPr>
          <p:cNvSpPr txBox="1"/>
          <p:nvPr/>
        </p:nvSpPr>
        <p:spPr>
          <a:xfrm>
            <a:off x="0" y="-1"/>
            <a:ext cx="120396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Тут хранится результат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from_promise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result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Сохраняем значение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co_return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terminate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().result;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3544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D890CB-1C83-B3AE-56C6-8C468064C98C}"/>
              </a:ext>
            </a:extLst>
          </p:cNvPr>
          <p:cNvSpPr txBox="1"/>
          <p:nvPr/>
        </p:nvSpPr>
        <p:spPr>
          <a:xfrm>
            <a:off x="71437" y="1992702"/>
            <a:ext cx="60245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171DD-AF48-7435-68B3-16D348C9EEE7}"/>
              </a:ext>
            </a:extLst>
          </p:cNvPr>
          <p:cNvSpPr txBox="1"/>
          <p:nvPr/>
        </p:nvSpPr>
        <p:spPr>
          <a:xfrm>
            <a:off x="7337426" y="3164681"/>
            <a:ext cx="478313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CoroutineState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Frame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arg1;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arg2;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promise;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558B6-4814-FF59-5F79-36AA784C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1667392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450FD1-3F93-D051-848C-039A4596E50A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GeneratedCoroutine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 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-&gt;frame.arg1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-&gt;frame.arg2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::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addressof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-&gt;promise))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(...) {</a:t>
            </a: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 delete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co_await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promise.initial_suspend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();</a:t>
            </a:r>
            <a:endParaRPr lang="ru-RU" sz="1600" b="0" dirty="0">
              <a:solidFill>
                <a:srgbClr val="8F08C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promise.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promise.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    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-&gt;frame.res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-&gt;frame.arg1 +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-&gt;frame.arg2;</a:t>
            </a:r>
          </a:p>
          <a:p>
            <a:pPr>
              <a:buNone/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co_return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res;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promise.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return_value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-&gt;frame.res);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(...)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promise.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co_await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promise.final_suspend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();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promise.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promise.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  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-&gt;promise.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operator delete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DBB47-EBC0-7559-ACE3-D161E1F06BFB}"/>
              </a:ext>
            </a:extLst>
          </p:cNvPr>
          <p:cNvSpPr txBox="1"/>
          <p:nvPr/>
        </p:nvSpPr>
        <p:spPr>
          <a:xfrm>
            <a:off x="6672944" y="1932579"/>
            <a:ext cx="537391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65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53FFE5-3112-C7CD-EA5F-BB4F949FD224}"/>
              </a:ext>
            </a:extLst>
          </p:cNvPr>
          <p:cNvSpPr/>
          <p:nvPr/>
        </p:nvSpPr>
        <p:spPr>
          <a:xfrm>
            <a:off x="8142516" y="1825625"/>
            <a:ext cx="3169920" cy="47026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Coroutine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26BAF-4106-24E6-B7C8-3B913FBD6103}"/>
              </a:ext>
            </a:extLst>
          </p:cNvPr>
          <p:cNvSpPr/>
          <p:nvPr/>
        </p:nvSpPr>
        <p:spPr>
          <a:xfrm>
            <a:off x="8508275" y="2374264"/>
            <a:ext cx="2438400" cy="87521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Promise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427D5-762F-2C95-9BCE-DD1BFD448FFA}"/>
              </a:ext>
            </a:extLst>
          </p:cNvPr>
          <p:cNvSpPr/>
          <p:nvPr/>
        </p:nvSpPr>
        <p:spPr>
          <a:xfrm>
            <a:off x="8508275" y="3674018"/>
            <a:ext cx="2438400" cy="131934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Return Object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BC2A87-2CA9-07AE-8FEF-B21C459F50DF}"/>
              </a:ext>
            </a:extLst>
          </p:cNvPr>
          <p:cNvSpPr/>
          <p:nvPr/>
        </p:nvSpPr>
        <p:spPr>
          <a:xfrm>
            <a:off x="8704216" y="4209595"/>
            <a:ext cx="2046516" cy="57476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Coroutine handle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B2AC98-4F0B-A1B0-1D4C-1B9A40AA4E01}"/>
              </a:ext>
            </a:extLst>
          </p:cNvPr>
          <p:cNvSpPr/>
          <p:nvPr/>
        </p:nvSpPr>
        <p:spPr>
          <a:xfrm>
            <a:off x="8508275" y="5522412"/>
            <a:ext cx="2438400" cy="6596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err="1"/>
              <a:t>co_await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85604-FAA4-7C36-A97F-8A0772838E99}"/>
              </a:ext>
            </a:extLst>
          </p:cNvPr>
          <p:cNvCxnSpPr>
            <a:cxnSpLocks/>
          </p:cNvCxnSpPr>
          <p:nvPr/>
        </p:nvCxnSpPr>
        <p:spPr>
          <a:xfrm>
            <a:off x="6729549" y="2234655"/>
            <a:ext cx="14129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02F87B-930B-D509-DB52-A73A55FD9526}"/>
              </a:ext>
            </a:extLst>
          </p:cNvPr>
          <p:cNvSpPr txBox="1"/>
          <p:nvPr/>
        </p:nvSpPr>
        <p:spPr>
          <a:xfrm>
            <a:off x="6619604" y="1780631"/>
            <a:ext cx="96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8A9547-5534-370E-5645-D10D97E100A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6798130" y="5852249"/>
            <a:ext cx="171014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CC284F-8307-E2DF-A0A1-E799E98899B9}"/>
              </a:ext>
            </a:extLst>
          </p:cNvPr>
          <p:cNvSpPr txBox="1"/>
          <p:nvPr/>
        </p:nvSpPr>
        <p:spPr>
          <a:xfrm>
            <a:off x="6798127" y="5395050"/>
            <a:ext cx="114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Suspend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BF148B-D93D-E3D9-E76B-24C4E7421D7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798130" y="4496978"/>
            <a:ext cx="190608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098F33-E963-3A99-4C01-E9C96620E61C}"/>
              </a:ext>
            </a:extLst>
          </p:cNvPr>
          <p:cNvSpPr txBox="1"/>
          <p:nvPr/>
        </p:nvSpPr>
        <p:spPr>
          <a:xfrm>
            <a:off x="6671855" y="3962881"/>
            <a:ext cx="114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Resume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A3DC04E3-A96F-308E-7764-00B730D6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Анатомия </a:t>
            </a:r>
            <a:r>
              <a:rPr lang="ru-RU" dirty="0" err="1"/>
              <a:t>корутины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B589CA5-3CE4-2326-5368-7EDE8A23C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94169" cy="435133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 </a:t>
            </a:r>
            <a:r>
              <a:rPr lang="ru-RU" b="1" dirty="0"/>
              <a:t>Внешний интерфейс</a:t>
            </a:r>
          </a:p>
          <a:p>
            <a:pPr lvl="1"/>
            <a:r>
              <a:rPr lang="ru-RU" dirty="0" err="1"/>
              <a:t>Корутина</a:t>
            </a:r>
            <a:r>
              <a:rPr lang="ru-RU" dirty="0"/>
              <a:t> вызывается как обычная функция </a:t>
            </a:r>
          </a:p>
          <a:p>
            <a:pPr lvl="1"/>
            <a:r>
              <a:rPr lang="ru-RU" dirty="0"/>
              <a:t>Возвращает </a:t>
            </a:r>
            <a:r>
              <a:rPr lang="en-US" b="1" dirty="0"/>
              <a:t>Return Object</a:t>
            </a:r>
            <a:r>
              <a:rPr lang="ru-RU" dirty="0"/>
              <a:t>, содержащий </a:t>
            </a:r>
            <a:r>
              <a:rPr lang="en-US" dirty="0" err="1"/>
              <a:t>coroutine_frame</a:t>
            </a:r>
            <a:endParaRPr lang="en-US" dirty="0"/>
          </a:p>
          <a:p>
            <a:r>
              <a:rPr lang="ru-RU" b="1" dirty="0"/>
              <a:t>Управление выполнением</a:t>
            </a:r>
          </a:p>
          <a:p>
            <a:pPr lvl="1"/>
            <a:r>
              <a:rPr lang="en-US" dirty="0" err="1"/>
              <a:t>coroutine_handle.resume</a:t>
            </a:r>
            <a:r>
              <a:rPr lang="en-US" dirty="0"/>
              <a:t>() — </a:t>
            </a:r>
            <a:r>
              <a:rPr lang="ru-RU" dirty="0"/>
              <a:t>продолжить выполнение </a:t>
            </a:r>
          </a:p>
          <a:p>
            <a:pPr lvl="1"/>
            <a:r>
              <a:rPr lang="en-US" dirty="0" err="1"/>
              <a:t>co_await</a:t>
            </a:r>
            <a:r>
              <a:rPr lang="en-US" dirty="0"/>
              <a:t> / </a:t>
            </a:r>
            <a:r>
              <a:rPr lang="en-US" dirty="0" err="1"/>
              <a:t>co_yield</a:t>
            </a:r>
            <a:r>
              <a:rPr lang="en-US" dirty="0"/>
              <a:t> — </a:t>
            </a:r>
            <a:r>
              <a:rPr lang="ru-RU" dirty="0"/>
              <a:t>приостановка </a:t>
            </a:r>
          </a:p>
          <a:p>
            <a:pPr lvl="1"/>
            <a:r>
              <a:rPr lang="en-US" dirty="0" err="1"/>
              <a:t>co_return</a:t>
            </a:r>
            <a:r>
              <a:rPr lang="en-US" dirty="0"/>
              <a:t> — </a:t>
            </a:r>
            <a:r>
              <a:rPr lang="ru-RU" dirty="0"/>
              <a:t>завершение </a:t>
            </a:r>
          </a:p>
          <a:p>
            <a:r>
              <a:rPr lang="en-US" b="1" dirty="0"/>
              <a:t>Coroutine state (frame)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promise_type</a:t>
            </a:r>
            <a:r>
              <a:rPr lang="en-US" dirty="0"/>
              <a:t> </a:t>
            </a:r>
          </a:p>
          <a:p>
            <a:pPr lvl="1"/>
            <a:r>
              <a:rPr lang="ru-RU" dirty="0"/>
              <a:t>параметры и локальные переменные </a:t>
            </a:r>
          </a:p>
          <a:p>
            <a:pPr lvl="1"/>
            <a:r>
              <a:rPr lang="ru-RU" dirty="0"/>
              <a:t>точка остановки </a:t>
            </a:r>
          </a:p>
          <a:p>
            <a:r>
              <a:rPr lang="ru-RU" b="1" dirty="0"/>
              <a:t>Роль </a:t>
            </a:r>
            <a:r>
              <a:rPr lang="en-US" b="1" dirty="0"/>
              <a:t>promise</a:t>
            </a:r>
          </a:p>
          <a:p>
            <a:pPr lvl="1"/>
            <a:r>
              <a:rPr lang="ru-RU" dirty="0"/>
              <a:t>принимает результат (</a:t>
            </a:r>
            <a:r>
              <a:rPr lang="en-US" dirty="0" err="1"/>
              <a:t>return_value</a:t>
            </a:r>
            <a:r>
              <a:rPr lang="en-US" dirty="0"/>
              <a:t>, </a:t>
            </a:r>
            <a:r>
              <a:rPr lang="en-US" dirty="0" err="1"/>
              <a:t>return_void</a:t>
            </a:r>
            <a:r>
              <a:rPr lang="en-US" dirty="0"/>
              <a:t>) </a:t>
            </a:r>
          </a:p>
          <a:p>
            <a:pPr lvl="1"/>
            <a:r>
              <a:rPr lang="ru-RU" dirty="0"/>
              <a:t>обрабатывает исключения </a:t>
            </a:r>
          </a:p>
          <a:p>
            <a:pPr lvl="1"/>
            <a:r>
              <a:rPr lang="ru-RU" dirty="0"/>
              <a:t>участвует в управлении жизненным циклом </a:t>
            </a:r>
          </a:p>
          <a:p>
            <a:r>
              <a:rPr lang="en-US" dirty="0"/>
              <a:t> </a:t>
            </a:r>
            <a:r>
              <a:rPr lang="ru-RU" dirty="0"/>
              <a:t>Упрощённая модель:</a:t>
            </a:r>
          </a:p>
          <a:p>
            <a:pPr lvl="1"/>
            <a:r>
              <a:rPr lang="ru-RU" dirty="0"/>
              <a:t>вызов → </a:t>
            </a:r>
            <a:r>
              <a:rPr lang="en-US" dirty="0"/>
              <a:t>Return Object → handle → </a:t>
            </a:r>
            <a:r>
              <a:rPr lang="ru-RU" dirty="0"/>
              <a:t>управление </a:t>
            </a:r>
            <a:r>
              <a:rPr lang="en-US" dirty="0"/>
              <a:t>coroutine state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6F4A462-0789-744D-53F9-3F067D86F496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6729549" y="2783295"/>
            <a:ext cx="1778726" cy="2857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6B7EE3E-8DA9-13F6-1625-B2AA9B125161}"/>
              </a:ext>
            </a:extLst>
          </p:cNvPr>
          <p:cNvSpPr txBox="1"/>
          <p:nvPr/>
        </p:nvSpPr>
        <p:spPr>
          <a:xfrm>
            <a:off x="6651721" y="2432677"/>
            <a:ext cx="969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41589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FF52E9-7E18-5806-1E9D-FFE250F7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Простейший генератор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115B5-293D-6BEA-DA7B-35EBEF126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197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51369B-90FB-264C-CDB7-E5BE4ACA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 — </a:t>
            </a:r>
            <a:r>
              <a:rPr lang="ru-RU" dirty="0" err="1"/>
              <a:t>корутина</a:t>
            </a:r>
            <a:r>
              <a:rPr lang="ru-RU" dirty="0"/>
              <a:t>, возвращающая последовательность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4DEB5-7359-3C23-770D-CFAD1405C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7007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Генератор — это </a:t>
            </a:r>
            <a:r>
              <a:rPr lang="ru-RU" dirty="0" err="1"/>
              <a:t>корутина</a:t>
            </a:r>
            <a:r>
              <a:rPr lang="ru-RU" dirty="0"/>
              <a:t>, которая возвращает </a:t>
            </a:r>
            <a:r>
              <a:rPr lang="ru-RU" b="1" dirty="0"/>
              <a:t>несколько значений по одному</a:t>
            </a:r>
            <a:endParaRPr lang="ru-RU" dirty="0"/>
          </a:p>
          <a:p>
            <a:r>
              <a:rPr lang="ru-RU" dirty="0"/>
              <a:t>Как это работает:</a:t>
            </a:r>
          </a:p>
          <a:p>
            <a:pPr lvl="1"/>
            <a:r>
              <a:rPr lang="ru-RU" dirty="0" err="1"/>
              <a:t>co_yield</a:t>
            </a:r>
            <a:r>
              <a:rPr lang="ru-RU" dirty="0"/>
              <a:t> — вернуть значение и приостановиться </a:t>
            </a:r>
          </a:p>
          <a:p>
            <a:pPr lvl="1"/>
            <a:r>
              <a:rPr lang="ru-RU" dirty="0"/>
              <a:t>следующий </a:t>
            </a:r>
            <a:r>
              <a:rPr lang="ru-RU" dirty="0" err="1"/>
              <a:t>resume</a:t>
            </a:r>
            <a:r>
              <a:rPr lang="ru-RU" dirty="0"/>
              <a:t>() продолжает </a:t>
            </a:r>
            <a:r>
              <a:rPr lang="ru-RU" dirty="0" err="1"/>
              <a:t>корутину</a:t>
            </a:r>
            <a:r>
              <a:rPr lang="ru-RU" dirty="0"/>
              <a:t> с того же места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6405F-4A94-9C33-9DB0-D5ADA792334E}"/>
              </a:ext>
            </a:extLst>
          </p:cNvPr>
          <p:cNvSpPr txBox="1"/>
          <p:nvPr/>
        </p:nvSpPr>
        <p:spPr>
          <a:xfrm>
            <a:off x="766763" y="3830637"/>
            <a:ext cx="10515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82866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F1FA-3ACA-3561-11B9-11FC9D1F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 err="1"/>
              <a:t>co_yield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C6BAF-0852-2483-1AAF-E6FCA2B06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co_yield</a:t>
            </a:r>
            <a:r>
              <a:rPr lang="en-US" dirty="0"/>
              <a:t> expr — </a:t>
            </a:r>
            <a:r>
              <a:rPr lang="ru-RU" dirty="0"/>
              <a:t>это вызов метода </a:t>
            </a:r>
            <a:r>
              <a:rPr lang="en-US" dirty="0"/>
              <a:t>promise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co_yield</a:t>
            </a:r>
            <a:r>
              <a:rPr lang="en-US" dirty="0">
                <a:latin typeface="Consolas" panose="020B0609020204030204" pitchFamily="49" charset="0"/>
              </a:rPr>
              <a:t> expr; </a:t>
            </a:r>
            <a:br>
              <a:rPr lang="en-US" dirty="0"/>
            </a:br>
            <a:r>
              <a:rPr lang="ru-RU" dirty="0"/>
              <a:t>превращается в:</a:t>
            </a:r>
            <a:br>
              <a:rPr lang="en-US" dirty="0"/>
            </a:br>
            <a:r>
              <a:rPr lang="en-US" dirty="0" err="1">
                <a:latin typeface="Consolas" panose="020B0609020204030204" pitchFamily="49" charset="0"/>
              </a:rPr>
              <a:t>co_await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promise.yield_value</a:t>
            </a:r>
            <a:r>
              <a:rPr lang="en-US" dirty="0">
                <a:latin typeface="Consolas" panose="020B0609020204030204" pitchFamily="49" charset="0"/>
              </a:rPr>
              <a:t>(expr);</a:t>
            </a:r>
          </a:p>
          <a:p>
            <a:r>
              <a:rPr lang="ru-RU" dirty="0"/>
              <a:t>Что должен сделать </a:t>
            </a:r>
            <a:r>
              <a:rPr lang="en-US" dirty="0" err="1"/>
              <a:t>promise_type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Сохранить значение</a:t>
            </a:r>
            <a:endParaRPr lang="en-US" dirty="0"/>
          </a:p>
          <a:p>
            <a:pPr lvl="1"/>
            <a:r>
              <a:rPr lang="ru-RU" dirty="0"/>
              <a:t>Приостановить </a:t>
            </a:r>
            <a:r>
              <a:rPr lang="ru-RU" dirty="0" err="1"/>
              <a:t>корутину</a:t>
            </a:r>
            <a:endParaRPr lang="ru-RU" dirty="0"/>
          </a:p>
          <a:p>
            <a:r>
              <a:rPr lang="ru-RU" dirty="0"/>
              <a:t>Нужно добавить в </a:t>
            </a:r>
            <a:r>
              <a:rPr lang="en-US" dirty="0" err="1"/>
              <a:t>promise_type</a:t>
            </a:r>
            <a:r>
              <a:rPr lang="en-US" dirty="0"/>
              <a:t>: </a:t>
            </a:r>
            <a:r>
              <a:rPr lang="ru-RU" dirty="0"/>
              <a:t>метод </a:t>
            </a:r>
            <a:r>
              <a:rPr lang="en-US" b="1" dirty="0" err="1"/>
              <a:t>yield_value</a:t>
            </a:r>
            <a:r>
              <a:rPr lang="en-US" b="1" dirty="0"/>
              <a:t>(expr)</a:t>
            </a:r>
            <a:r>
              <a:rPr lang="ru-RU" dirty="0"/>
              <a:t>, который:</a:t>
            </a:r>
          </a:p>
          <a:p>
            <a:pPr lvl="1"/>
            <a:r>
              <a:rPr lang="ru-RU" dirty="0"/>
              <a:t>сохраняет значение </a:t>
            </a:r>
          </a:p>
          <a:p>
            <a:pPr lvl="1"/>
            <a:r>
              <a:rPr lang="ru-RU" dirty="0"/>
              <a:t>возвращает </a:t>
            </a:r>
            <a:r>
              <a:rPr lang="en-US" dirty="0" err="1"/>
              <a:t>suspend_always</a:t>
            </a:r>
            <a:r>
              <a:rPr lang="en-US" dirty="0"/>
              <a:t> </a:t>
            </a:r>
          </a:p>
          <a:p>
            <a:r>
              <a:rPr lang="en-US" dirty="0"/>
              <a:t>promise = «</a:t>
            </a:r>
            <a:r>
              <a:rPr lang="ru-RU" dirty="0"/>
              <a:t>буфер» между </a:t>
            </a:r>
            <a:r>
              <a:rPr lang="ru-RU" dirty="0" err="1"/>
              <a:t>корутиной</a:t>
            </a:r>
            <a:r>
              <a:rPr lang="ru-RU" dirty="0"/>
              <a:t> и внешним кодом</a:t>
            </a:r>
          </a:p>
        </p:txBody>
      </p:sp>
    </p:spTree>
    <p:extLst>
      <p:ext uri="{BB962C8B-B14F-4D97-AF65-F5344CB8AC3E}">
        <p14:creationId xmlns:p14="http://schemas.microsoft.com/office/powerpoint/2010/main" val="1017820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9180173-9456-3449-FA31-E5A2FD01BED5}"/>
              </a:ext>
            </a:extLst>
          </p:cNvPr>
          <p:cNvSpPr txBox="1"/>
          <p:nvPr/>
        </p:nvSpPr>
        <p:spPr>
          <a:xfrm>
            <a:off x="73706" y="394692"/>
            <a:ext cx="1188606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alue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yield_value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alue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from_promise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return_void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510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4EA711-F021-5DA9-7E05-1BCB225D0ACC}"/>
              </a:ext>
            </a:extLst>
          </p:cNvPr>
          <p:cNvSpPr txBox="1"/>
          <p:nvPr/>
        </p:nvSpPr>
        <p:spPr>
          <a:xfrm>
            <a:off x="0" y="0"/>
            <a:ext cx="12859657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explicit Generator(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handle): 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(handle) {}</a:t>
            </a: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Generator(const Generator&amp; other) = delete;</a:t>
            </a: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Generator&amp; operator=(const Generator&amp; other) = delete;</a:t>
            </a: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Generator(Generator&amp;&amp; other) 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(std::exchange(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other.m_handle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)) { }</a:t>
            </a: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Generator&amp; operator=(Generator&amp;&amp; other) 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if (this != std::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addressof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(other))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if (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m_handle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m_handle.destroy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 std::exchange(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other.m_handle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}</a:t>
            </a:r>
            <a:endParaRPr lang="en-US" sz="1600" b="0" dirty="0">
              <a:solidFill>
                <a:schemeClr val="bg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return *this;</a:t>
            </a: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sz="1600" b="0" dirty="0">
              <a:solidFill>
                <a:schemeClr val="bg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~Generator() { if (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m_handle.destroy</a:t>
            </a:r>
            <a:r>
              <a:rPr lang="en-US" sz="16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!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out_of_range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more values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2740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8D84-3553-5797-DB45-907C4D6B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dirty="0"/>
              <a:t>Генератор в действии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3D4AB-3A42-18CE-E9EF-1EFB3C874C3D}"/>
              </a:ext>
            </a:extLst>
          </p:cNvPr>
          <p:cNvSpPr txBox="1"/>
          <p:nvPr/>
        </p:nvSpPr>
        <p:spPr>
          <a:xfrm>
            <a:off x="838200" y="1529676"/>
            <a:ext cx="100457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step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GetFib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(;;)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GetFib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511CB-1073-E5A4-E570-790749D8F0EE}"/>
              </a:ext>
            </a:extLst>
          </p:cNvPr>
          <p:cNvSpPr txBox="1"/>
          <p:nvPr/>
        </p:nvSpPr>
        <p:spPr>
          <a:xfrm>
            <a:off x="8496300" y="5846544"/>
            <a:ext cx="35052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1 2 3 4 5 6 7 8 9 10 10</a:t>
            </a:r>
          </a:p>
          <a:p>
            <a:r>
              <a:rPr lang="en-US" dirty="0">
                <a:latin typeface="Consolas" panose="020B0609020204030204" pitchFamily="49" charset="0"/>
              </a:rPr>
              <a:t>0 1 1 2 3 5 8 13 21 34</a:t>
            </a:r>
          </a:p>
        </p:txBody>
      </p:sp>
    </p:spTree>
    <p:extLst>
      <p:ext uri="{BB962C8B-B14F-4D97-AF65-F5344CB8AC3E}">
        <p14:creationId xmlns:p14="http://schemas.microsoft.com/office/powerpoint/2010/main" val="355353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961E-B26C-64FA-7E1B-2DF18463D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 исключениями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C71D8-D5D8-5D17-6EBE-7E012F19C18D}"/>
              </a:ext>
            </a:extLst>
          </p:cNvPr>
          <p:cNvSpPr txBox="1"/>
          <p:nvPr/>
        </p:nvSpPr>
        <p:spPr>
          <a:xfrm>
            <a:off x="838200" y="1843088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 of numbers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FE8AB-CF95-E775-DAB6-09AD567B4A2C}"/>
              </a:ext>
            </a:extLst>
          </p:cNvPr>
          <p:cNvSpPr txBox="1"/>
          <p:nvPr/>
        </p:nvSpPr>
        <p:spPr>
          <a:xfrm>
            <a:off x="7675563" y="5823446"/>
            <a:ext cx="3322637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 2 2 Done</a:t>
            </a:r>
          </a:p>
        </p:txBody>
      </p:sp>
    </p:spTree>
    <p:extLst>
      <p:ext uri="{BB962C8B-B14F-4D97-AF65-F5344CB8AC3E}">
        <p14:creationId xmlns:p14="http://schemas.microsoft.com/office/powerpoint/2010/main" val="252806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4241-17D7-53D9-9DC1-ECD5923B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Храним исключение в </a:t>
            </a:r>
            <a:r>
              <a:rPr lang="en-US" dirty="0"/>
              <a:t>promise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AA58C-E8F8-F418-EA87-DBE16C969BFF}"/>
              </a:ext>
            </a:extLst>
          </p:cNvPr>
          <p:cNvSpPr txBox="1"/>
          <p:nvPr/>
        </p:nvSpPr>
        <p:spPr>
          <a:xfrm>
            <a:off x="838200" y="1690688"/>
            <a:ext cx="110109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variant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monostate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result;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yield_value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result.emplace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holds_alternative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&gt;(result);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holds_alternative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&gt;(result);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rethrow_exception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&gt;(result));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&gt;(result);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value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5147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D29E-3287-F5DE-71B0-3CA0DA12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Изменяем интерфейс генератора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FF20B-6DFD-4C71-0532-98FDE569CCBC}"/>
              </a:ext>
            </a:extLst>
          </p:cNvPr>
          <p:cNvSpPr txBox="1"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FF"/>
                </a:solidFill>
                <a:latin typeface="Consolas" panose="020B0609020204030204" pitchFamily="49" charset="0"/>
              </a:rPr>
              <a:t>  …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||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6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B654-9A6D-6684-70AE-D72048D4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Итог: обработка исключений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BB93C-2420-EE44-9383-9E6AFD00F6CB}"/>
              </a:ext>
            </a:extLst>
          </p:cNvPr>
          <p:cNvSpPr txBox="1"/>
          <p:nvPr/>
        </p:nvSpPr>
        <p:spPr>
          <a:xfrm>
            <a:off x="838200" y="1690688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 of numbers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ru-RU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gen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AD27A0-A1EE-4F3C-72AD-530C31B929E2}"/>
              </a:ext>
            </a:extLst>
          </p:cNvPr>
          <p:cNvSpPr txBox="1"/>
          <p:nvPr/>
        </p:nvSpPr>
        <p:spPr>
          <a:xfrm>
            <a:off x="6540500" y="5891837"/>
            <a:ext cx="54229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1 2 Error: Out of numbers</a:t>
            </a:r>
          </a:p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25152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EF20-35E3-1CDB-0932-395C0C94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Генератор: промежуточные 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67DCF-A648-9FCC-445F-DAF5158B1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Генератор — это </a:t>
            </a:r>
            <a:r>
              <a:rPr lang="ru-RU" dirty="0" err="1"/>
              <a:t>корутина</a:t>
            </a:r>
            <a:r>
              <a:rPr lang="ru-RU" dirty="0"/>
              <a:t>, возвращающая последовательность значений</a:t>
            </a:r>
          </a:p>
          <a:p>
            <a:pPr lvl="1"/>
            <a:r>
              <a:rPr lang="ru-RU" dirty="0" err="1"/>
              <a:t>co_yield</a:t>
            </a:r>
            <a:r>
              <a:rPr lang="ru-RU" dirty="0"/>
              <a:t> сохраняет значение в </a:t>
            </a:r>
            <a:r>
              <a:rPr lang="ru-RU" dirty="0" err="1"/>
              <a:t>promise</a:t>
            </a:r>
            <a:r>
              <a:rPr lang="ru-RU" dirty="0"/>
              <a:t> и приостанавливает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resume</a:t>
            </a:r>
            <a:r>
              <a:rPr lang="ru-RU" dirty="0"/>
              <a:t>() продолжает выполнение с того же места </a:t>
            </a:r>
          </a:p>
          <a:p>
            <a:r>
              <a:rPr lang="ru-RU" dirty="0" err="1"/>
              <a:t>Coroutine</a:t>
            </a:r>
            <a:r>
              <a:rPr lang="ru-RU" dirty="0"/>
              <a:t> </a:t>
            </a:r>
            <a:r>
              <a:rPr lang="ru-RU" dirty="0" err="1"/>
              <a:t>state</a:t>
            </a:r>
            <a:r>
              <a:rPr lang="ru-RU" dirty="0"/>
              <a:t> хранит: </a:t>
            </a:r>
          </a:p>
          <a:p>
            <a:pPr lvl="1"/>
            <a:r>
              <a:rPr lang="ru-RU" dirty="0"/>
              <a:t>параметры </a:t>
            </a:r>
          </a:p>
          <a:p>
            <a:pPr lvl="1"/>
            <a:r>
              <a:rPr lang="ru-RU" dirty="0"/>
              <a:t>локальные переменные </a:t>
            </a:r>
          </a:p>
          <a:p>
            <a:pPr lvl="1"/>
            <a:r>
              <a:rPr lang="ru-RU" dirty="0"/>
              <a:t>текущее состояние выполнения </a:t>
            </a:r>
          </a:p>
          <a:p>
            <a:r>
              <a:rPr lang="ru-RU" dirty="0" err="1"/>
              <a:t>promise_type</a:t>
            </a:r>
            <a:r>
              <a:rPr lang="ru-RU" dirty="0"/>
              <a:t> отвечает за хранение значения или исключения</a:t>
            </a:r>
          </a:p>
          <a:p>
            <a:r>
              <a:rPr lang="ru-RU" dirty="0" err="1"/>
              <a:t>Generator</a:t>
            </a:r>
            <a:r>
              <a:rPr lang="ru-RU" dirty="0"/>
              <a:t> (Return Object) предоставляет интерфейс: </a:t>
            </a:r>
          </a:p>
          <a:p>
            <a:pPr lvl="1"/>
            <a:r>
              <a:rPr lang="ru-RU" dirty="0" err="1"/>
              <a:t>HasValue</a:t>
            </a:r>
            <a:r>
              <a:rPr lang="ru-RU" dirty="0"/>
              <a:t>() / </a:t>
            </a:r>
            <a:r>
              <a:rPr lang="ru-RU" dirty="0" err="1"/>
              <a:t>GetValue</a:t>
            </a:r>
            <a:r>
              <a:rPr lang="ru-RU" dirty="0"/>
              <a:t>() </a:t>
            </a:r>
          </a:p>
          <a:p>
            <a:pPr lvl="1"/>
            <a:r>
              <a:rPr lang="ru-RU" dirty="0"/>
              <a:t>управление через </a:t>
            </a:r>
            <a:r>
              <a:rPr lang="ru-RU" dirty="0" err="1"/>
              <a:t>coroutine_handle</a:t>
            </a:r>
            <a:r>
              <a:rPr lang="ru-RU" dirty="0"/>
              <a:t> </a:t>
            </a:r>
          </a:p>
          <a:p>
            <a:r>
              <a:rPr lang="ru-RU" dirty="0"/>
              <a:t>Обработка ошибок:</a:t>
            </a:r>
          </a:p>
          <a:p>
            <a:pPr lvl="1"/>
            <a:r>
              <a:rPr lang="ru-RU" dirty="0"/>
              <a:t>исключения сохраняются в </a:t>
            </a:r>
            <a:r>
              <a:rPr lang="ru-RU" dirty="0" err="1"/>
              <a:t>promise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пробрасываются при обращении к значению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04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6A9E-B174-764B-65DF-2C56F5CB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Добавляем поддержку </a:t>
            </a:r>
            <a:r>
              <a:rPr lang="en-US" dirty="0"/>
              <a:t>range-based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440B4-95B8-8AEB-FF99-F1A1DA5EE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/>
          </a:bodyPr>
          <a:lstStyle/>
          <a:p>
            <a:r>
              <a:rPr lang="en-US" dirty="0"/>
              <a:t>Range-based for</a:t>
            </a:r>
            <a:r>
              <a:rPr lang="ru-RU" dirty="0"/>
              <a:t> требует наличия у </a:t>
            </a:r>
            <a:r>
              <a:rPr lang="en-US" dirty="0"/>
              <a:t>Generator </a:t>
            </a:r>
            <a:r>
              <a:rPr lang="ru-RU" dirty="0"/>
              <a:t>методов </a:t>
            </a:r>
            <a:r>
              <a:rPr lang="en-US" dirty="0"/>
              <a:t>begin </a:t>
            </a:r>
            <a:r>
              <a:rPr lang="ru-RU" dirty="0"/>
              <a:t>и </a:t>
            </a:r>
            <a:r>
              <a:rPr lang="en-US" dirty="0"/>
              <a:t>end</a:t>
            </a:r>
            <a:r>
              <a:rPr lang="ru-RU" dirty="0"/>
              <a:t>, возвращающих итератор</a:t>
            </a:r>
            <a:endParaRPr lang="en-US" dirty="0"/>
          </a:p>
          <a:p>
            <a:pPr lvl="1"/>
            <a:r>
              <a:rPr lang="en-US" dirty="0"/>
              <a:t>begin </a:t>
            </a:r>
            <a:r>
              <a:rPr lang="ru-RU" dirty="0"/>
              <a:t>возобновляет</a:t>
            </a:r>
            <a:r>
              <a:rPr lang="en-US" dirty="0"/>
              <a:t> </a:t>
            </a:r>
            <a:r>
              <a:rPr lang="ru-RU" dirty="0"/>
              <a:t>приостановленную </a:t>
            </a:r>
            <a:r>
              <a:rPr lang="ru-RU" dirty="0" err="1"/>
              <a:t>корутину</a:t>
            </a:r>
            <a:r>
              <a:rPr lang="ru-RU" dirty="0"/>
              <a:t> и возвращает итератор</a:t>
            </a:r>
          </a:p>
          <a:p>
            <a:pPr lvl="1"/>
            <a:r>
              <a:rPr lang="en-US" dirty="0"/>
              <a:t>end </a:t>
            </a:r>
            <a:r>
              <a:rPr lang="ru-RU" dirty="0"/>
              <a:t>возвращает </a:t>
            </a:r>
            <a:r>
              <a:rPr lang="en-US" dirty="0">
                <a:hlinkClick r:id="rId3"/>
              </a:rPr>
              <a:t>std::</a:t>
            </a:r>
            <a:r>
              <a:rPr lang="en-US" dirty="0" err="1">
                <a:hlinkClick r:id="rId3"/>
              </a:rPr>
              <a:t>default_sentinel</a:t>
            </a:r>
            <a:endParaRPr lang="ru-RU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36B6B3-80D2-1CE8-FD32-0A4D81C99180}"/>
              </a:ext>
            </a:extLst>
          </p:cNvPr>
          <p:cNvSpPr txBox="1"/>
          <p:nvPr/>
        </p:nvSpPr>
        <p:spPr>
          <a:xfrm>
            <a:off x="6591300" y="2743448"/>
            <a:ext cx="547260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defTabSz="354013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defTabSz="354013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init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-statement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__range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range-expression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__begin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begin-expr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__end = 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end-expr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; __begin != __end; ++__begin)</a:t>
            </a: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range-declaration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*__begin;</a:t>
            </a:r>
            <a:endParaRPr lang="ru-RU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loop-statement</a:t>
            </a:r>
            <a:endParaRPr lang="ru-RU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defTabSz="354013">
              <a:spcBef>
                <a:spcPts val="0"/>
              </a:spcBef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defTabSz="354013">
              <a:spcBef>
                <a:spcPts val="0"/>
              </a:spcBef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747660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EDD9-A48F-984A-03ED-29FBD1ABD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Дорабатываем </a:t>
            </a:r>
            <a:r>
              <a:rPr lang="en-US" dirty="0"/>
              <a:t>Promise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2E881-8373-D000-3AE6-A21C7E956A05}"/>
              </a:ext>
            </a:extLst>
          </p:cNvPr>
          <p:cNvSpPr txBox="1"/>
          <p:nvPr/>
        </p:nvSpPr>
        <p:spPr>
          <a:xfrm>
            <a:off x="838200" y="1690688"/>
            <a:ext cx="112649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!std::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holds_alternative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monostate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&gt;(result);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ThrowIfException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rethrow_exception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&gt;(result));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ThrowIfException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&gt;(result);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 is called without resume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812856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B957-7314-F917-9D97-9F6733D7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 – каркас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775683-D100-3102-26A2-5DA9A64E8A23}"/>
              </a:ext>
            </a:extLst>
          </p:cNvPr>
          <p:cNvSpPr txBox="1"/>
          <p:nvPr/>
        </p:nvSpPr>
        <p:spPr>
          <a:xfrm>
            <a:off x="838200" y="1690688"/>
            <a:ext cx="10998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iterator_category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input_iterator_tag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value_type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difference_type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ptrdiff_t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799084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70AF-A909-397C-7BD9-9C6B4CCEB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и присваивание итератора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247A1-54DE-5CF3-FE72-9DCD9DDF9BB6}"/>
              </a:ext>
            </a:extLst>
          </p:cNvPr>
          <p:cNvSpPr txBox="1"/>
          <p:nvPr/>
        </p:nvSpPr>
        <p:spPr>
          <a:xfrm>
            <a:off x="457200" y="1690688"/>
            <a:ext cx="11836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addressof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Об этом чуть позже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684603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FA3F-DAEE-0536-B48E-E1F845C2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значению итератора и сравнение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EF9A5-B8F2-B58C-50BF-3F20153B11C8}"/>
              </a:ext>
            </a:extLst>
          </p:cNvPr>
          <p:cNvSpPr txBox="1"/>
          <p:nvPr/>
        </p:nvSpPr>
        <p:spPr>
          <a:xfrm>
            <a:off x="838200" y="1881188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…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reference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operator*()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operator-&gt;()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&amp;operator*();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operator==(std::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default_sentinel_t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4445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161E-E8E3-E050-DA15-6F913FDBE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Инкремент и инициализация итератора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9DD58-9E3B-D834-F506-A20564E0EEBD}"/>
              </a:ext>
            </a:extLst>
          </p:cNvPr>
          <p:cNvSpPr txBox="1"/>
          <p:nvPr/>
        </p:nvSpPr>
        <p:spPr>
          <a:xfrm>
            <a:off x="838200" y="1690688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operator++()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ThrowIfException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operator++();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78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8E4D-E651-B9C0-7479-BD1C13561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Добавляем </a:t>
            </a:r>
            <a:r>
              <a:rPr lang="en-US" dirty="0"/>
              <a:t>begin </a:t>
            </a:r>
            <a:r>
              <a:rPr lang="ru-RU" dirty="0"/>
              <a:t>и </a:t>
            </a:r>
            <a:r>
              <a:rPr lang="en-US" dirty="0"/>
              <a:t>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0531E-2BB9-B4A4-91A3-18E4C6530216}"/>
              </a:ext>
            </a:extLst>
          </p:cNvPr>
          <p:cNvSpPr txBox="1"/>
          <p:nvPr/>
        </p:nvSpPr>
        <p:spPr>
          <a:xfrm>
            <a:off x="838200" y="1924316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Возобновляет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корутину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и возвращает итератор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доступа к её значению.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Вызвать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begin()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только один раз.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Iterator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default_sentinel_t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default_sentinel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3611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7FDA-3476-7905-07D2-8EB8AD56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Итерируемся по значениям генератора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795DA-844E-1226-E1C1-49C14EF03D52}"/>
              </a:ext>
            </a:extLst>
          </p:cNvPr>
          <p:cNvSpPr txBox="1"/>
          <p:nvPr/>
        </p:nvSpPr>
        <p:spPr>
          <a:xfrm>
            <a:off x="838200" y="1905000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Out of numbers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GenIntegers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40C64-D9D2-BF06-511D-16B1C3E838D1}"/>
              </a:ext>
            </a:extLst>
          </p:cNvPr>
          <p:cNvSpPr txBox="1"/>
          <p:nvPr/>
        </p:nvSpPr>
        <p:spPr>
          <a:xfrm>
            <a:off x="7543800" y="6059983"/>
            <a:ext cx="43561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 2 Error: Out of numbers</a:t>
            </a:r>
          </a:p>
          <a:p>
            <a:r>
              <a:rPr lang="en-US" dirty="0">
                <a:latin typeface="Consolas" panose="020B0609020204030204" pitchFamily="49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7752068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60F649-02CF-60DD-4B79-E61A6D2B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дальше? </a:t>
            </a:r>
            <a:r>
              <a:rPr lang="ru-RU" dirty="0" err="1"/>
              <a:t>co_await</a:t>
            </a:r>
            <a:r>
              <a:rPr lang="ru-RU" dirty="0"/>
              <a:t> и </a:t>
            </a:r>
            <a:r>
              <a:rPr lang="ru-RU" dirty="0" err="1"/>
              <a:t>awaitable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3E2D7-D676-370A-11F3-084A7CA45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co_await</a:t>
            </a:r>
            <a:r>
              <a:rPr lang="ru-RU" dirty="0"/>
              <a:t> работает не сам по себе</a:t>
            </a:r>
          </a:p>
          <a:p>
            <a:r>
              <a:rPr lang="ru-RU" dirty="0"/>
              <a:t>Чтобы объект можно было </a:t>
            </a:r>
            <a:r>
              <a:rPr lang="ru-RU" dirty="0" err="1"/>
              <a:t>co_await</a:t>
            </a:r>
            <a:r>
              <a:rPr lang="ru-RU" dirty="0"/>
              <a:t>-ить, он должен быть: </a:t>
            </a:r>
            <a:r>
              <a:rPr lang="ru-RU" dirty="0" err="1"/>
              <a:t>Awaitable</a:t>
            </a:r>
            <a:endParaRPr lang="ru-RU" dirty="0"/>
          </a:p>
          <a:p>
            <a:r>
              <a:rPr lang="ru-RU" dirty="0"/>
              <a:t>Что мы использовали до сих пор: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suspend_always</a:t>
            </a:r>
            <a:r>
              <a:rPr lang="ru-RU" dirty="0"/>
              <a:t> 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suspend_never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простые встроенные </a:t>
            </a:r>
            <a:r>
              <a:rPr lang="ru-RU" dirty="0" err="1"/>
              <a:t>awaiter</a:t>
            </a:r>
            <a:r>
              <a:rPr lang="ru-RU" dirty="0"/>
              <a:t>-ы</a:t>
            </a:r>
          </a:p>
          <a:p>
            <a:r>
              <a:rPr lang="ru-RU" dirty="0"/>
              <a:t>Но в реальных задачах нужно:</a:t>
            </a:r>
          </a:p>
          <a:p>
            <a:pPr lvl="1"/>
            <a:r>
              <a:rPr lang="ru-RU" dirty="0"/>
              <a:t>ожидание асинхронных операций </a:t>
            </a:r>
          </a:p>
          <a:p>
            <a:pPr lvl="1"/>
            <a:r>
              <a:rPr lang="ru-RU" dirty="0"/>
              <a:t>таймеры, I/O, сеть </a:t>
            </a:r>
          </a:p>
          <a:p>
            <a:pPr lvl="1"/>
            <a:r>
              <a:rPr lang="ru-RU" dirty="0"/>
              <a:t>собственная логика приостановки </a:t>
            </a:r>
          </a:p>
          <a:p>
            <a:r>
              <a:rPr lang="ru-RU" dirty="0"/>
              <a:t>Для этого пишут свои </a:t>
            </a:r>
            <a:r>
              <a:rPr lang="ru-RU" dirty="0" err="1"/>
              <a:t>awaiter</a:t>
            </a:r>
            <a:r>
              <a:rPr lang="ru-RU" dirty="0"/>
              <a:t>-ы</a:t>
            </a:r>
          </a:p>
          <a:p>
            <a:r>
              <a:rPr lang="ru-RU" dirty="0"/>
              <a:t>Далее: как работает </a:t>
            </a:r>
            <a:r>
              <a:rPr lang="ru-RU" dirty="0" err="1"/>
              <a:t>co_await</a:t>
            </a:r>
            <a:r>
              <a:rPr lang="ru-RU" dirty="0"/>
              <a:t> и как реализовать </a:t>
            </a:r>
            <a:r>
              <a:rPr lang="ru-RU" dirty="0" err="1"/>
              <a:t>awaitable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0481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3E44D-E6E1-6C61-2CE0-A7B182C9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Объекты ожидания (</a:t>
            </a:r>
            <a:r>
              <a:rPr lang="en-US" dirty="0"/>
              <a:t>Awaitables)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5DF6F-9093-AB00-72C1-A91617148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19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E85202-2CED-3927-9547-A1D1A34FF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Awaitable</a:t>
            </a:r>
            <a:r>
              <a:rPr lang="en-US" dirty="0"/>
              <a:t> vs </a:t>
            </a:r>
            <a:r>
              <a:rPr lang="en-US" dirty="0" err="1"/>
              <a:t>Awaiter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9A80C7-56BF-0429-35A2-4C10736AF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Awaitable</a:t>
            </a:r>
            <a:r>
              <a:rPr lang="en-US" dirty="0"/>
              <a:t> — </a:t>
            </a:r>
            <a:r>
              <a:rPr lang="ru-RU" i="1" dirty="0"/>
              <a:t>что мы ждём</a:t>
            </a:r>
            <a:endParaRPr lang="ru-RU" dirty="0"/>
          </a:p>
          <a:p>
            <a:pPr lvl="1"/>
            <a:r>
              <a:rPr lang="ru-RU" dirty="0"/>
              <a:t>объект, используемый в </a:t>
            </a:r>
            <a:r>
              <a:rPr lang="en-US" dirty="0" err="1"/>
              <a:t>co_await</a:t>
            </a:r>
            <a:r>
              <a:rPr lang="en-US" dirty="0"/>
              <a:t> expr </a:t>
            </a:r>
          </a:p>
          <a:p>
            <a:pPr lvl="2"/>
            <a:r>
              <a:rPr lang="ru-RU" dirty="0" err="1"/>
              <a:t>корутина</a:t>
            </a:r>
            <a:r>
              <a:rPr lang="ru-RU" dirty="0"/>
              <a:t> (</a:t>
            </a:r>
            <a:r>
              <a:rPr lang="en-US" dirty="0"/>
              <a:t>Task) </a:t>
            </a:r>
          </a:p>
          <a:p>
            <a:pPr lvl="2"/>
            <a:r>
              <a:rPr lang="ru-RU" dirty="0"/>
              <a:t>таймер, </a:t>
            </a:r>
            <a:r>
              <a:rPr lang="en-US" dirty="0"/>
              <a:t>I/O </a:t>
            </a:r>
            <a:r>
              <a:rPr lang="ru-RU" dirty="0"/>
              <a:t>операция и т.д. </a:t>
            </a:r>
          </a:p>
          <a:p>
            <a:r>
              <a:rPr lang="ru-RU" dirty="0"/>
              <a:t>Как из него получается </a:t>
            </a:r>
            <a:r>
              <a:rPr lang="en-US" dirty="0" err="1"/>
              <a:t>Awaiter</a:t>
            </a:r>
            <a:endParaRPr lang="en-US" dirty="0"/>
          </a:p>
          <a:p>
            <a:pPr lvl="1"/>
            <a:r>
              <a:rPr lang="en-US" dirty="0" err="1"/>
              <a:t>co_await</a:t>
            </a:r>
            <a:r>
              <a:rPr lang="en-US" dirty="0"/>
              <a:t> expr</a:t>
            </a:r>
            <a:r>
              <a:rPr lang="ru-RU" dirty="0"/>
              <a:t> </a:t>
            </a:r>
            <a:r>
              <a:rPr lang="en-US" dirty="0"/>
              <a:t>→</a:t>
            </a:r>
            <a:r>
              <a:rPr lang="ru-RU" dirty="0"/>
              <a:t> </a:t>
            </a:r>
            <a:r>
              <a:rPr lang="en-US" dirty="0" err="1"/>
              <a:t>expr.operator</a:t>
            </a:r>
            <a:r>
              <a:rPr lang="en-US" dirty="0"/>
              <a:t> </a:t>
            </a:r>
            <a:r>
              <a:rPr lang="en-US" dirty="0" err="1"/>
              <a:t>co_await</a:t>
            </a:r>
            <a:r>
              <a:rPr lang="en-US" dirty="0"/>
              <a:t>()   (</a:t>
            </a:r>
            <a:r>
              <a:rPr lang="ru-RU" dirty="0"/>
              <a:t>если есть) </a:t>
            </a:r>
            <a:r>
              <a:rPr lang="en-US" dirty="0"/>
              <a:t>→</a:t>
            </a:r>
            <a:r>
              <a:rPr lang="ru-RU" dirty="0"/>
              <a:t> </a:t>
            </a:r>
            <a:r>
              <a:rPr lang="en-US" dirty="0" err="1"/>
              <a:t>Awaiter</a:t>
            </a:r>
            <a:endParaRPr lang="en-US" dirty="0"/>
          </a:p>
          <a:p>
            <a:pPr lvl="1"/>
            <a:r>
              <a:rPr lang="ru-RU" dirty="0"/>
              <a:t>или напрямую, если </a:t>
            </a:r>
            <a:r>
              <a:rPr lang="en-US" dirty="0"/>
              <a:t>expr </a:t>
            </a:r>
            <a:r>
              <a:rPr lang="ru-RU" dirty="0"/>
              <a:t>сам является </a:t>
            </a:r>
            <a:r>
              <a:rPr lang="en-US" dirty="0" err="1"/>
              <a:t>Awaiter</a:t>
            </a:r>
            <a:endParaRPr lang="en-US" dirty="0"/>
          </a:p>
          <a:p>
            <a:r>
              <a:rPr lang="en-US" dirty="0" err="1"/>
              <a:t>Awaiter</a:t>
            </a:r>
            <a:r>
              <a:rPr lang="ru-RU" dirty="0"/>
              <a:t> описывает то, </a:t>
            </a:r>
            <a:r>
              <a:rPr lang="ru-RU" i="1" dirty="0"/>
              <a:t>как мы ждём</a:t>
            </a:r>
            <a:endParaRPr lang="ru-RU" dirty="0"/>
          </a:p>
          <a:p>
            <a:pPr lvl="1"/>
            <a:r>
              <a:rPr lang="ru-RU" dirty="0"/>
              <a:t>Объект, который реализует 3 метода:</a:t>
            </a:r>
          </a:p>
          <a:p>
            <a:pPr lvl="2"/>
            <a:r>
              <a:rPr lang="en-US" dirty="0" err="1"/>
              <a:t>await_ready</a:t>
            </a:r>
            <a:r>
              <a:rPr lang="en-US" dirty="0"/>
              <a:t>() </a:t>
            </a:r>
          </a:p>
          <a:p>
            <a:pPr lvl="2"/>
            <a:r>
              <a:rPr lang="en-US" dirty="0" err="1"/>
              <a:t>await_suspend</a:t>
            </a:r>
            <a:r>
              <a:rPr lang="en-US" dirty="0"/>
              <a:t>(handle) </a:t>
            </a:r>
          </a:p>
          <a:p>
            <a:pPr lvl="2"/>
            <a:r>
              <a:rPr lang="en-US" dirty="0" err="1"/>
              <a:t>await_resume</a:t>
            </a:r>
            <a:r>
              <a:rPr lang="en-US" dirty="0"/>
              <a:t>() </a:t>
            </a:r>
          </a:p>
          <a:p>
            <a:r>
              <a:rPr lang="en-US" dirty="0" err="1"/>
              <a:t>Awaitable</a:t>
            </a:r>
            <a:r>
              <a:rPr lang="en-US" dirty="0"/>
              <a:t> → (operator </a:t>
            </a:r>
            <a:r>
              <a:rPr lang="en-US" dirty="0" err="1"/>
              <a:t>co_await</a:t>
            </a:r>
            <a:r>
              <a:rPr lang="en-US" dirty="0"/>
              <a:t>) → </a:t>
            </a:r>
            <a:r>
              <a:rPr lang="en-US" dirty="0" err="1"/>
              <a:t>Awaiter</a:t>
            </a:r>
            <a:r>
              <a:rPr lang="en-US" dirty="0"/>
              <a:t> → </a:t>
            </a:r>
            <a:r>
              <a:rPr lang="ru-RU" dirty="0"/>
              <a:t>управление </a:t>
            </a:r>
            <a:r>
              <a:rPr lang="ru-RU" dirty="0" err="1"/>
              <a:t>корутиной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0697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F4B0-D61C-6156-47AF-37BAFD09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</a:t>
            </a:r>
            <a:r>
              <a:rPr lang="en-US" dirty="0" err="1"/>
              <a:t>co_await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B5D7E-B6A0-DD0F-B86E-E46A7C7E1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Получает из </a:t>
            </a:r>
            <a:r>
              <a:rPr lang="en-US" dirty="0" err="1"/>
              <a:t>awaitable</a:t>
            </a:r>
            <a:r>
              <a:rPr lang="en-US" dirty="0"/>
              <a:t>-</a:t>
            </a:r>
            <a:r>
              <a:rPr lang="ru-RU" dirty="0"/>
              <a:t>выражения </a:t>
            </a:r>
            <a:r>
              <a:rPr lang="en-US" dirty="0" err="1"/>
              <a:t>awaiter</a:t>
            </a:r>
            <a:endParaRPr lang="ru-RU" dirty="0"/>
          </a:p>
          <a:p>
            <a:r>
              <a:rPr lang="ru-RU" dirty="0"/>
              <a:t>Проверяет результат </a:t>
            </a:r>
            <a:r>
              <a:rPr lang="en-US" b="1" dirty="0" err="1">
                <a:latin typeface="Consolas" panose="020B0609020204030204" pitchFamily="49" charset="0"/>
              </a:rPr>
              <a:t>awaiter.await_ready</a:t>
            </a:r>
            <a:r>
              <a:rPr lang="en-US" b="1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/>
              <a:t>true </a:t>
            </a:r>
            <a:r>
              <a:rPr lang="ru-RU" dirty="0"/>
              <a:t>→ не приостанавливаем</a:t>
            </a:r>
            <a:r>
              <a:rPr lang="en-US" dirty="0"/>
              <a:t> (</a:t>
            </a:r>
            <a:r>
              <a:rPr lang="ru-RU" dirty="0"/>
              <a:t>переходим к вызову </a:t>
            </a:r>
            <a:r>
              <a:rPr lang="en-US" dirty="0" err="1"/>
              <a:t>await_resume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en-US" dirty="0"/>
              <a:t>false </a:t>
            </a:r>
            <a:r>
              <a:rPr lang="ru-RU" dirty="0"/>
              <a:t>→</a:t>
            </a:r>
            <a:r>
              <a:rPr lang="en-US" dirty="0"/>
              <a:t> </a:t>
            </a:r>
            <a:r>
              <a:rPr lang="ru-RU" dirty="0"/>
              <a:t>приостановить </a:t>
            </a:r>
            <a:r>
              <a:rPr lang="ru-RU" dirty="0" err="1"/>
              <a:t>корутину</a:t>
            </a:r>
            <a:r>
              <a:rPr lang="ru-RU" dirty="0"/>
              <a:t> (</a:t>
            </a:r>
            <a:r>
              <a:rPr lang="en-US" dirty="0"/>
              <a:t>await suspend)</a:t>
            </a:r>
          </a:p>
          <a:p>
            <a:r>
              <a:rPr lang="ru-RU" dirty="0"/>
              <a:t>При приостановке вызывается </a:t>
            </a:r>
            <a:r>
              <a:rPr lang="en-US" b="1" dirty="0" err="1">
                <a:latin typeface="Consolas" panose="020B0609020204030204" pitchFamily="49" charset="0"/>
              </a:rPr>
              <a:t>awaiter</a:t>
            </a:r>
            <a:r>
              <a:rPr lang="en-US" b="1" dirty="0">
                <a:latin typeface="Consolas" panose="020B0609020204030204" pitchFamily="49" charset="0"/>
              </a:rPr>
              <a:t>.</a:t>
            </a:r>
            <a:r>
              <a:rPr lang="ru-RU" b="1" dirty="0" err="1">
                <a:latin typeface="Consolas" panose="020B0609020204030204" pitchFamily="49" charset="0"/>
              </a:rPr>
              <a:t>await_suspend</a:t>
            </a:r>
            <a:r>
              <a:rPr lang="ru-RU" b="1" dirty="0">
                <a:latin typeface="Consolas" panose="020B0609020204030204" pitchFamily="49" charset="0"/>
              </a:rPr>
              <a:t>(</a:t>
            </a:r>
            <a:r>
              <a:rPr lang="ru-RU" b="1" dirty="0" err="1">
                <a:latin typeface="Consolas" panose="020B0609020204030204" pitchFamily="49" charset="0"/>
              </a:rPr>
              <a:t>handle</a:t>
            </a:r>
            <a:r>
              <a:rPr lang="ru-RU" b="1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 err="1"/>
              <a:t>await_suspend</a:t>
            </a:r>
            <a:r>
              <a:rPr lang="en-US" dirty="0"/>
              <a:t> </a:t>
            </a:r>
            <a:r>
              <a:rPr lang="ru-RU" dirty="0"/>
              <a:t>может вернуть:</a:t>
            </a:r>
          </a:p>
          <a:p>
            <a:pPr lvl="2"/>
            <a:r>
              <a:rPr lang="ru-RU" dirty="0" err="1"/>
              <a:t>void</a:t>
            </a:r>
            <a:r>
              <a:rPr lang="ru-RU" dirty="0"/>
              <a:t> → просто приостановиться </a:t>
            </a:r>
          </a:p>
          <a:p>
            <a:pPr lvl="2"/>
            <a:r>
              <a:rPr lang="ru-RU" dirty="0" err="1"/>
              <a:t>bool</a:t>
            </a:r>
            <a:r>
              <a:rPr lang="ru-RU" dirty="0"/>
              <a:t> </a:t>
            </a:r>
          </a:p>
          <a:p>
            <a:pPr lvl="3"/>
            <a:r>
              <a:rPr lang="ru-RU" dirty="0" err="1"/>
              <a:t>true</a:t>
            </a:r>
            <a:r>
              <a:rPr lang="ru-RU" dirty="0"/>
              <a:t> → остаться в паузе </a:t>
            </a:r>
          </a:p>
          <a:p>
            <a:pPr lvl="3"/>
            <a:r>
              <a:rPr lang="ru-RU" dirty="0" err="1"/>
              <a:t>false</a:t>
            </a:r>
            <a:r>
              <a:rPr lang="ru-RU" dirty="0"/>
              <a:t> → сразу продолжить </a:t>
            </a:r>
          </a:p>
          <a:p>
            <a:pPr lvl="2"/>
            <a:r>
              <a:rPr lang="ru-RU" dirty="0" err="1"/>
              <a:t>coroutine_handle</a:t>
            </a:r>
            <a:r>
              <a:rPr lang="ru-RU" dirty="0"/>
              <a:t> → передать управление другой </a:t>
            </a:r>
            <a:r>
              <a:rPr lang="ru-RU" dirty="0" err="1"/>
              <a:t>корутине</a:t>
            </a:r>
            <a:endParaRPr lang="ru-RU" dirty="0"/>
          </a:p>
          <a:p>
            <a:r>
              <a:rPr lang="ru-RU" dirty="0"/>
              <a:t>При возобновлении вызывается </a:t>
            </a:r>
            <a:r>
              <a:rPr lang="en-US" b="1" dirty="0" err="1"/>
              <a:t>awaiter.await_resume</a:t>
            </a:r>
            <a:r>
              <a:rPr lang="en-US" b="1" dirty="0"/>
              <a:t>()</a:t>
            </a:r>
          </a:p>
          <a:p>
            <a:pPr lvl="1"/>
            <a:r>
              <a:rPr lang="ru-RU" dirty="0"/>
              <a:t>Метод вызывается после возобновления </a:t>
            </a:r>
            <a:r>
              <a:rPr lang="ru-RU" dirty="0" err="1"/>
              <a:t>корутины</a:t>
            </a:r>
            <a:endParaRPr lang="ru-RU" dirty="0"/>
          </a:p>
          <a:p>
            <a:pPr lvl="1"/>
            <a:r>
              <a:rPr lang="ru-RU" dirty="0"/>
              <a:t>Результат метода – становится значением выражения </a:t>
            </a:r>
            <a:r>
              <a:rPr lang="en-US" dirty="0" err="1"/>
              <a:t>co_await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466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201C0C-07CA-6588-B1B4-9ED403B1046E}"/>
              </a:ext>
            </a:extLst>
          </p:cNvPr>
          <p:cNvSpPr txBox="1"/>
          <p:nvPr/>
        </p:nvSpPr>
        <p:spPr>
          <a:xfrm>
            <a:off x="838199" y="1502688"/>
            <a:ext cx="10515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SimpleAwaiter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(false)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значит, выполнение будет приостановлено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Приостанавливает выполнение текущей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корутины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можно сохранить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handle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возобновить позже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примера — сразу возобновляем</a:t>
            </a: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exit from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await_suspend</a:t>
            </a:r>
            <a:r>
              <a:rPr lang="en-US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42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возвращаем значение из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co_await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3B12F6C-77A7-96CC-653B-9D91B677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Простой </a:t>
            </a:r>
            <a:r>
              <a:rPr lang="en-US" dirty="0" err="1"/>
              <a:t>Awaiter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87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EC9C0B-C1FB-6F21-E8DF-8BBD99138AAB}"/>
              </a:ext>
            </a:extLst>
          </p:cNvPr>
          <p:cNvSpPr txBox="1"/>
          <p:nvPr/>
        </p:nvSpPr>
        <p:spPr>
          <a:xfrm>
            <a:off x="127000" y="1663700"/>
            <a:ext cx="88265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struct </a:t>
            </a:r>
            <a:r>
              <a:rPr lang="en-US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 { return {};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suspend_never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suspend_never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void </a:t>
            </a:r>
            <a:r>
              <a:rPr lang="en-US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return_void</a:t>
            </a: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buNone/>
            </a:pP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void </a:t>
            </a:r>
            <a:r>
              <a:rPr lang="en-US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SimpleAwaiter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returned: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2FA9B1-0859-3DC6-BDC8-F80F9D134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Проверяем работу </a:t>
            </a:r>
            <a:r>
              <a:rPr lang="en-US" dirty="0" err="1"/>
              <a:t>awaitable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7C68B-55B2-2A4C-2D4D-895A9B491322}"/>
              </a:ext>
            </a:extLst>
          </p:cNvPr>
          <p:cNvSpPr txBox="1"/>
          <p:nvPr/>
        </p:nvSpPr>
        <p:spPr>
          <a:xfrm>
            <a:off x="5949950" y="1690688"/>
            <a:ext cx="611505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Это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SimpleAwaiter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с прошлого слайда</a:t>
            </a:r>
            <a:endParaRPr lang="ru-RU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SimpleAwaiter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(false)</a:t>
            </a:r>
            <a:r>
              <a:rPr lang="en-US" sz="12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2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ru-RU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handle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sz="12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std::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exit from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await_suspend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42</a:t>
            </a:r>
            <a:r>
              <a:rPr lang="en-US" sz="12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1240B-39DC-35A7-CE07-830637D5C76B}"/>
              </a:ext>
            </a:extLst>
          </p:cNvPr>
          <p:cNvSpPr txBox="1"/>
          <p:nvPr/>
        </p:nvSpPr>
        <p:spPr>
          <a:xfrm>
            <a:off x="8559800" y="5275797"/>
            <a:ext cx="3505200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await_ready</a:t>
            </a:r>
            <a:r>
              <a:rPr lang="en-US" dirty="0">
                <a:latin typeface="Consolas" panose="020B0609020204030204" pitchFamily="49" charset="0"/>
              </a:rPr>
              <a:t> (false)</a:t>
            </a:r>
          </a:p>
          <a:p>
            <a:r>
              <a:rPr lang="en-US" dirty="0" err="1">
                <a:latin typeface="Consolas" panose="020B0609020204030204" pitchFamily="49" charset="0"/>
              </a:rPr>
              <a:t>await_suspend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await_resume</a:t>
            </a:r>
            <a:r>
              <a:rPr lang="en-US" dirty="0">
                <a:latin typeface="Consolas" panose="020B0609020204030204" pitchFamily="49" charset="0"/>
              </a:rPr>
              <a:t>: 42</a:t>
            </a:r>
          </a:p>
          <a:p>
            <a:r>
              <a:rPr lang="en-US" dirty="0" err="1">
                <a:latin typeface="Consolas" panose="020B0609020204030204" pitchFamily="49" charset="0"/>
              </a:rPr>
              <a:t>co_await</a:t>
            </a:r>
            <a:r>
              <a:rPr lang="en-US" dirty="0">
                <a:latin typeface="Consolas" panose="020B0609020204030204" pitchFamily="49" charset="0"/>
              </a:rPr>
              <a:t> returned: 42</a:t>
            </a:r>
          </a:p>
          <a:p>
            <a:r>
              <a:rPr lang="en-US" dirty="0">
                <a:latin typeface="Consolas" panose="020B0609020204030204" pitchFamily="49" charset="0"/>
              </a:rPr>
              <a:t>exit from </a:t>
            </a:r>
            <a:r>
              <a:rPr lang="en-US" dirty="0" err="1">
                <a:latin typeface="Consolas" panose="020B0609020204030204" pitchFamily="49" charset="0"/>
              </a:rPr>
              <a:t>await_suspend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76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E1E0-7673-E1A4-0C2F-DF2FC785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Если </a:t>
            </a:r>
            <a:r>
              <a:rPr lang="en-US" dirty="0" err="1"/>
              <a:t>await_ready</a:t>
            </a:r>
            <a:r>
              <a:rPr lang="en-US" dirty="0"/>
              <a:t> </a:t>
            </a:r>
            <a:r>
              <a:rPr lang="ru-RU" dirty="0"/>
              <a:t>возвращает </a:t>
            </a:r>
            <a:r>
              <a:rPr lang="en-US" dirty="0"/>
              <a:t>true</a:t>
            </a:r>
            <a:r>
              <a:rPr lang="ru-RU" dirty="0"/>
              <a:t>, сразу вызывается </a:t>
            </a:r>
            <a:r>
              <a:rPr lang="en-US" dirty="0" err="1"/>
              <a:t>await_resume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D7A57-B900-28DF-E05A-FE7F7D827490}"/>
              </a:ext>
            </a:extLst>
          </p:cNvPr>
          <p:cNvSpPr txBox="1"/>
          <p:nvPr/>
        </p:nvSpPr>
        <p:spPr>
          <a:xfrm>
            <a:off x="838200" y="1690688"/>
            <a:ext cx="10515600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SimpleAwaiter</a:t>
            </a:r>
            <a:r>
              <a:rPr lang="ru-RU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(true)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возвращаем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 —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приостанавливать выполнение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// Приостанавливает выполнение текущей </a:t>
            </a:r>
            <a:r>
              <a:rPr lang="ru-RU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корутины</a:t>
            </a:r>
            <a:endParaRPr lang="ru-RU" sz="17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&lt;&gt; handle) const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\n";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Здесь могли бы, например, сохранить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handle 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и возобновить позже</a:t>
            </a:r>
          </a:p>
          <a:p>
            <a:pPr>
              <a:buNone/>
            </a:pP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handle.resume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(); // 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для примера — сразу возобновляем</a:t>
            </a:r>
          </a:p>
          <a:p>
            <a:pPr>
              <a:buNone/>
            </a:pP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"exit from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\n";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int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 const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: 42\n";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return 42; // </a:t>
            </a:r>
            <a:r>
              <a:rPr lang="ru-RU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возвращаем значение из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co_await</a:t>
            </a:r>
            <a:endParaRPr lang="en-US" sz="17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C8246-EC0D-5C76-0130-3C356460FD8E}"/>
              </a:ext>
            </a:extLst>
          </p:cNvPr>
          <p:cNvSpPr txBox="1"/>
          <p:nvPr/>
        </p:nvSpPr>
        <p:spPr>
          <a:xfrm>
            <a:off x="8305800" y="5830282"/>
            <a:ext cx="3784600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await_ready</a:t>
            </a:r>
            <a:r>
              <a:rPr lang="en-US" dirty="0">
                <a:latin typeface="Consolas" panose="020B0609020204030204" pitchFamily="49" charset="0"/>
              </a:rPr>
              <a:t> (true)</a:t>
            </a:r>
          </a:p>
          <a:p>
            <a:r>
              <a:rPr lang="en-US" dirty="0" err="1">
                <a:latin typeface="Consolas" panose="020B0609020204030204" pitchFamily="49" charset="0"/>
              </a:rPr>
              <a:t>await_resume</a:t>
            </a:r>
            <a:r>
              <a:rPr lang="en-US" dirty="0">
                <a:latin typeface="Consolas" panose="020B0609020204030204" pitchFamily="49" charset="0"/>
              </a:rPr>
              <a:t>: 42</a:t>
            </a:r>
          </a:p>
          <a:p>
            <a:r>
              <a:rPr lang="en-US" dirty="0" err="1">
                <a:latin typeface="Consolas" panose="020B0609020204030204" pitchFamily="49" charset="0"/>
              </a:rPr>
              <a:t>co_await</a:t>
            </a:r>
            <a:r>
              <a:rPr lang="en-US" dirty="0">
                <a:latin typeface="Consolas" panose="020B0609020204030204" pitchFamily="49" charset="0"/>
              </a:rPr>
              <a:t> returned: 42</a:t>
            </a:r>
          </a:p>
        </p:txBody>
      </p:sp>
    </p:spTree>
    <p:extLst>
      <p:ext uri="{BB962C8B-B14F-4D97-AF65-F5344CB8AC3E}">
        <p14:creationId xmlns:p14="http://schemas.microsoft.com/office/powerpoint/2010/main" val="4029982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BF97-4F91-9294-0DD0-02051446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Управляем приостановленной </a:t>
            </a:r>
            <a:r>
              <a:rPr lang="ru-RU" dirty="0" err="1"/>
              <a:t>корутиной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05AAE-35B3-2298-A08B-272D23228BC2}"/>
              </a:ext>
            </a:extLst>
          </p:cNvPr>
          <p:cNvSpPr txBox="1"/>
          <p:nvPr/>
        </p:nvSpPr>
        <p:spPr>
          <a:xfrm>
            <a:off x="766763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SimpleAwaiter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(false)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Нужно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приотановить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выполнение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приостанавливаем выполнение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int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 const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: 42\n";</a:t>
            </a:r>
          </a:p>
          <a:p>
            <a:pPr>
              <a:buNone/>
            </a:pP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return 42; // </a:t>
            </a:r>
            <a:r>
              <a:rPr lang="ru-RU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возвращаем значение из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co_await</a:t>
            </a:r>
            <a:endParaRPr lang="en-US" sz="14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ReturnObject</a:t>
            </a:r>
            <a:r>
              <a:rPr lang="ru-RU" sz="1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promise_type</a:t>
            </a:r>
            <a:r>
              <a:rPr lang="ru-RU" sz="1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ReturnObject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get_return_object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return { std::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coroutine_handle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promise_type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&gt;::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from_promise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(*this) };</a:t>
            </a:r>
          </a:p>
          <a:p>
            <a:pPr>
              <a:buNone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}</a:t>
            </a:r>
            <a:endParaRPr lang="ru-RU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};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coroutine_handle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promise_type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 handle;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701452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251603-2A19-1504-C161-9AEC9991D372}"/>
              </a:ext>
            </a:extLst>
          </p:cNvPr>
          <p:cNvSpPr txBox="1"/>
          <p:nvPr/>
        </p:nvSpPr>
        <p:spPr>
          <a:xfrm>
            <a:off x="-35719" y="1"/>
            <a:ext cx="12062619" cy="703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500" b="0" dirty="0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 std::</a:t>
            </a:r>
            <a:r>
              <a:rPr lang="en-US" sz="15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coroutine_handle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promise_type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&gt;::</a:t>
            </a:r>
            <a:r>
              <a:rPr lang="en-US" sz="15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from_promise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(*</a:t>
            </a:r>
            <a:r>
              <a:rPr lang="en-US" sz="15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};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suspend_never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 { return {}; 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5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suspend_always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void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return_void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buNone/>
            </a:pP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void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&gt; h)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: handle(h) { }</a:t>
            </a:r>
          </a:p>
          <a:p>
            <a:pPr>
              <a:buNone/>
            </a:pP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&amp;&amp; other)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: handle(std::exchange(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other.handle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)) {}</a:t>
            </a:r>
            <a:b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(const </a:t>
            </a:r>
            <a:r>
              <a:rPr lang="en-US" sz="15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&amp;) = delete;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(handle)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destroy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5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coroutine_handle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promise_type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 handle;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ReturnObject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SimpleAwait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</a:rPr>
              <a:t>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returned: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resuming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</a:t>
            </a:r>
            <a:r>
              <a:rPr lang="en-US" sz="15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.handle.</a:t>
            </a:r>
            <a:r>
              <a:rPr lang="en-US" sz="15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resume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5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exit from main</a:t>
            </a:r>
            <a:r>
              <a:rPr lang="en-US" sz="1500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sz="15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65535-18A7-4605-5000-BD31B9DD6C1D}"/>
              </a:ext>
            </a:extLst>
          </p:cNvPr>
          <p:cNvSpPr txBox="1"/>
          <p:nvPr/>
        </p:nvSpPr>
        <p:spPr>
          <a:xfrm>
            <a:off x="5239326" y="435114"/>
            <a:ext cx="6787574" cy="3108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SimpleAwaiter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с предыдущего слайда</a:t>
            </a: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SimpleAwaiter</a:t>
            </a:r>
            <a:r>
              <a:rPr lang="ru-RU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(false)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int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 const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&lt;&lt; "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: 42\n";</a:t>
            </a:r>
          </a:p>
          <a:p>
            <a:pPr>
              <a:buNone/>
            </a:pP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return 42; // </a:t>
            </a:r>
            <a:r>
              <a:rPr lang="ru-RU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возвращаем значение из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co_await</a:t>
            </a:r>
            <a:endParaRPr lang="en-US" sz="14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D661B-DB94-B0A6-0B56-0C152F8F975E}"/>
              </a:ext>
            </a:extLst>
          </p:cNvPr>
          <p:cNvSpPr txBox="1"/>
          <p:nvPr/>
        </p:nvSpPr>
        <p:spPr>
          <a:xfrm>
            <a:off x="7800975" y="4976336"/>
            <a:ext cx="3705225" cy="17543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await_ready</a:t>
            </a:r>
            <a:r>
              <a:rPr lang="en-US" dirty="0">
                <a:latin typeface="Consolas" panose="020B0609020204030204" pitchFamily="49" charset="0"/>
              </a:rPr>
              <a:t> (false)</a:t>
            </a:r>
          </a:p>
          <a:p>
            <a:r>
              <a:rPr lang="en-US" dirty="0" err="1">
                <a:latin typeface="Consolas" panose="020B0609020204030204" pitchFamily="49" charset="0"/>
              </a:rPr>
              <a:t>await_suspend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resuming</a:t>
            </a:r>
          </a:p>
          <a:p>
            <a:r>
              <a:rPr lang="en-US" dirty="0" err="1">
                <a:latin typeface="Consolas" panose="020B0609020204030204" pitchFamily="49" charset="0"/>
              </a:rPr>
              <a:t>await_resume</a:t>
            </a:r>
            <a:r>
              <a:rPr lang="en-US" dirty="0">
                <a:latin typeface="Consolas" panose="020B0609020204030204" pitchFamily="49" charset="0"/>
              </a:rPr>
              <a:t>: 42</a:t>
            </a:r>
          </a:p>
          <a:p>
            <a:r>
              <a:rPr lang="en-US" dirty="0" err="1">
                <a:latin typeface="Consolas" panose="020B0609020204030204" pitchFamily="49" charset="0"/>
              </a:rPr>
              <a:t>co_await</a:t>
            </a:r>
            <a:r>
              <a:rPr lang="en-US" dirty="0">
                <a:latin typeface="Consolas" panose="020B0609020204030204" pitchFamily="49" charset="0"/>
              </a:rPr>
              <a:t> returned: 42</a:t>
            </a:r>
          </a:p>
          <a:p>
            <a:r>
              <a:rPr lang="en-US" dirty="0">
                <a:latin typeface="Consolas" panose="020B0609020204030204" pitchFamily="49" charset="0"/>
              </a:rPr>
              <a:t>exit from main</a:t>
            </a:r>
          </a:p>
        </p:txBody>
      </p:sp>
    </p:spTree>
    <p:extLst>
      <p:ext uri="{BB962C8B-B14F-4D97-AF65-F5344CB8AC3E}">
        <p14:creationId xmlns:p14="http://schemas.microsoft.com/office/powerpoint/2010/main" val="123548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A0D6-3FD6-021B-041B-0ECDFD2E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suspend_always</a:t>
            </a:r>
            <a:r>
              <a:rPr lang="en-US" dirty="0"/>
              <a:t> и std::</a:t>
            </a:r>
            <a:r>
              <a:rPr lang="en-US" dirty="0" err="1"/>
              <a:t>suspend_never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66E0F-00A7-E066-11B4-E5D3B6431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440381" cy="4351338"/>
          </a:xfrm>
        </p:spPr>
        <p:txBody>
          <a:bodyPr>
            <a:normAutofit/>
          </a:bodyPr>
          <a:lstStyle/>
          <a:p>
            <a:r>
              <a:rPr lang="ru-RU" dirty="0"/>
              <a:t>Стандартные </a:t>
            </a:r>
            <a:r>
              <a:rPr lang="en-US" dirty="0" err="1"/>
              <a:t>awaiter</a:t>
            </a:r>
            <a:r>
              <a:rPr lang="en-US" dirty="0"/>
              <a:t>-</a:t>
            </a:r>
            <a:r>
              <a:rPr lang="ru-RU" dirty="0"/>
              <a:t>ы</a:t>
            </a:r>
          </a:p>
          <a:p>
            <a:r>
              <a:rPr lang="en-US" dirty="0"/>
              <a:t>std::</a:t>
            </a:r>
            <a:r>
              <a:rPr lang="en-US" dirty="0" err="1"/>
              <a:t>suspend_always</a:t>
            </a:r>
            <a:endParaRPr lang="en-US" dirty="0"/>
          </a:p>
          <a:p>
            <a:pPr lvl="1"/>
            <a:r>
              <a:rPr lang="en-US" dirty="0" err="1"/>
              <a:t>await_ready</a:t>
            </a:r>
            <a:r>
              <a:rPr lang="en-US" dirty="0"/>
              <a:t>() → false </a:t>
            </a:r>
          </a:p>
          <a:p>
            <a:pPr lvl="1"/>
            <a:r>
              <a:rPr lang="ru-RU" dirty="0" err="1"/>
              <a:t>корутина</a:t>
            </a:r>
            <a:r>
              <a:rPr lang="ru-RU" dirty="0"/>
              <a:t> всегда приостанавливается </a:t>
            </a:r>
          </a:p>
          <a:p>
            <a:r>
              <a:rPr lang="en-US" dirty="0"/>
              <a:t>std::</a:t>
            </a:r>
            <a:r>
              <a:rPr lang="en-US" dirty="0" err="1"/>
              <a:t>suspend_never</a:t>
            </a:r>
            <a:endParaRPr lang="en-US" dirty="0"/>
          </a:p>
          <a:p>
            <a:pPr lvl="1"/>
            <a:r>
              <a:rPr lang="en-US" dirty="0" err="1"/>
              <a:t>await_ready</a:t>
            </a:r>
            <a:r>
              <a:rPr lang="en-US" dirty="0"/>
              <a:t>() → true </a:t>
            </a:r>
          </a:p>
          <a:p>
            <a:pPr lvl="1"/>
            <a:r>
              <a:rPr lang="ru-RU" dirty="0" err="1"/>
              <a:t>корутина</a:t>
            </a:r>
            <a:r>
              <a:rPr lang="ru-RU" dirty="0"/>
              <a:t> никогда не приостанавливается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98F2A-5856-6885-B2EE-A771497FC1CC}"/>
              </a:ext>
            </a:extLst>
          </p:cNvPr>
          <p:cNvSpPr txBox="1"/>
          <p:nvPr/>
        </p:nvSpPr>
        <p:spPr>
          <a:xfrm>
            <a:off x="5278582" y="1825625"/>
            <a:ext cx="6913418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suspend_always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await_ready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await_suspend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coroutine_handle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&lt;&gt;)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{}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await_resume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{}</a:t>
            </a:r>
          </a:p>
          <a:p>
            <a:pPr>
              <a:lnSpc>
                <a:spcPts val="142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suspend_never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46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CBEC-08DD-B13A-B77F-4D0E2A84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Продолжение </a:t>
            </a:r>
            <a:r>
              <a:rPr lang="ru-RU" dirty="0" err="1"/>
              <a:t>корутин</a:t>
            </a:r>
            <a:r>
              <a:rPr lang="ru-RU" dirty="0"/>
              <a:t> </a:t>
            </a:r>
            <a:r>
              <a:rPr lang="en-US" dirty="0"/>
              <a:t>(Continuation)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6B40D-B305-C205-0540-080E1E807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После завершения </a:t>
            </a:r>
            <a:r>
              <a:rPr lang="ru-RU" dirty="0" err="1"/>
              <a:t>корутины</a:t>
            </a:r>
            <a:r>
              <a:rPr lang="ru-RU" dirty="0"/>
              <a:t> нужно:</a:t>
            </a:r>
            <a:r>
              <a:rPr lang="en-US" dirty="0"/>
              <a:t> </a:t>
            </a:r>
            <a:r>
              <a:rPr lang="ru-RU" dirty="0"/>
              <a:t>автоматически продолжить выполнение другой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</a:p>
          <a:p>
            <a:pPr lvl="1"/>
            <a:r>
              <a:rPr lang="en-US" dirty="0"/>
              <a:t>Coroutine A </a:t>
            </a:r>
            <a:r>
              <a:rPr lang="ru-RU" dirty="0"/>
              <a:t>завершилась → нужно запустить </a:t>
            </a:r>
            <a:r>
              <a:rPr lang="en-US" dirty="0"/>
              <a:t>Coroutine B</a:t>
            </a:r>
          </a:p>
          <a:p>
            <a:r>
              <a:rPr lang="ru-RU" dirty="0"/>
              <a:t>Решение</a:t>
            </a:r>
          </a:p>
          <a:p>
            <a:pPr lvl="1"/>
            <a:r>
              <a:rPr lang="ru-RU" dirty="0"/>
              <a:t>сохранить </a:t>
            </a:r>
            <a:r>
              <a:rPr lang="en-US" dirty="0" err="1"/>
              <a:t>coroutine_handle</a:t>
            </a:r>
            <a:r>
              <a:rPr lang="en-US" dirty="0"/>
              <a:t> </a:t>
            </a:r>
            <a:r>
              <a:rPr lang="ru-RU" dirty="0"/>
              <a:t>следующей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внутри </a:t>
            </a:r>
            <a:r>
              <a:rPr lang="en-US" dirty="0" err="1"/>
              <a:t>promise_type</a:t>
            </a:r>
            <a:r>
              <a:rPr lang="en-US" dirty="0"/>
              <a:t> </a:t>
            </a:r>
          </a:p>
          <a:p>
            <a:r>
              <a:rPr lang="ru-RU" dirty="0"/>
              <a:t>Ключевая точка</a:t>
            </a:r>
          </a:p>
          <a:p>
            <a:pPr lvl="1"/>
            <a:r>
              <a:rPr lang="en-US" dirty="0" err="1"/>
              <a:t>final_suspend</a:t>
            </a:r>
            <a:r>
              <a:rPr lang="en-US" dirty="0"/>
              <a:t>()</a:t>
            </a:r>
          </a:p>
          <a:p>
            <a:r>
              <a:rPr lang="ru-RU" dirty="0"/>
              <a:t>Механизм</a:t>
            </a:r>
          </a:p>
          <a:p>
            <a:pPr lvl="1"/>
            <a:r>
              <a:rPr lang="en-US" dirty="0" err="1"/>
              <a:t>final_suspend</a:t>
            </a:r>
            <a:r>
              <a:rPr lang="en-US" dirty="0"/>
              <a:t> </a:t>
            </a:r>
            <a:r>
              <a:rPr lang="ru-RU" dirty="0"/>
              <a:t>возвращает </a:t>
            </a:r>
            <a:r>
              <a:rPr lang="en-US" dirty="0" err="1"/>
              <a:t>awaiter</a:t>
            </a:r>
            <a:r>
              <a:rPr lang="en-US" dirty="0"/>
              <a:t> </a:t>
            </a:r>
          </a:p>
          <a:p>
            <a:pPr lvl="1"/>
            <a:r>
              <a:rPr lang="ru-RU" dirty="0"/>
              <a:t>в </a:t>
            </a:r>
            <a:r>
              <a:rPr lang="en-US" dirty="0" err="1"/>
              <a:t>await_suspend</a:t>
            </a:r>
            <a:r>
              <a:rPr lang="en-US" dirty="0"/>
              <a:t> </a:t>
            </a:r>
            <a:r>
              <a:rPr lang="ru-RU" dirty="0"/>
              <a:t>вызывается: </a:t>
            </a:r>
          </a:p>
          <a:p>
            <a:pPr lvl="1"/>
            <a:r>
              <a:rPr lang="en-US" dirty="0" err="1"/>
              <a:t>next.resume</a:t>
            </a:r>
            <a:r>
              <a:rPr lang="en-US" dirty="0"/>
              <a:t>();</a:t>
            </a:r>
          </a:p>
          <a:p>
            <a:r>
              <a:rPr lang="ru-RU" dirty="0"/>
              <a:t>Результат: автоматическая передача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02435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BB35D9-4B45-2FB7-B194-2AFCB953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E9E54-1BA9-A132-8286-2BAD8C63112E}"/>
              </a:ext>
            </a:extLst>
          </p:cNvPr>
          <p:cNvSpPr txBox="1"/>
          <p:nvPr/>
        </p:nvSpPr>
        <p:spPr>
          <a:xfrm>
            <a:off x="838199" y="1690688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ru-RU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&lt;&gt; continuation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handle;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handle(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(handle)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destroy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SetContinuation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().continuation =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010749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1CA653-BCE1-E603-D5F5-BBA23F6ACC79}"/>
              </a:ext>
            </a:extLst>
          </p:cNvPr>
          <p:cNvSpPr txBox="1"/>
          <p:nvPr/>
        </p:nvSpPr>
        <p:spPr>
          <a:xfrm>
            <a:off x="0" y="0"/>
            <a:ext cx="115443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 continuation;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Хендл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корутины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для продолжения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  return Task{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from_promise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(*this) };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 { return {};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Awaiter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coro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coro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().continuation)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void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return_void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void 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std::terminate();</a:t>
            </a: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   ~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&lt;&lt; "promise destroyed\n";</a:t>
            </a:r>
            <a:r>
              <a:rPr lang="ru-RU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6518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66D54A-521C-E9E6-C25D-9D49A1B72050}"/>
              </a:ext>
            </a:extLst>
          </p:cNvPr>
          <p:cNvSpPr txBox="1"/>
          <p:nvPr/>
        </p:nvSpPr>
        <p:spPr>
          <a:xfrm>
            <a:off x="0" y="0"/>
            <a:ext cx="759229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SecondCoroutine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Second coroutine started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FirstCoroutine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 coroutine started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приостанавливаемся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First coroutine resumed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FirstCoroutine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SecondCoroutine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SetContinuation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resume first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from main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2DAE3-BA15-4089-FF20-979B2D8E7F6E}"/>
              </a:ext>
            </a:extLst>
          </p:cNvPr>
          <p:cNvSpPr txBox="1"/>
          <p:nvPr/>
        </p:nvSpPr>
        <p:spPr>
          <a:xfrm>
            <a:off x="7188200" y="4708982"/>
            <a:ext cx="4584700" cy="20313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resume first</a:t>
            </a:r>
          </a:p>
          <a:p>
            <a:r>
              <a:rPr lang="en-US" dirty="0">
                <a:latin typeface="Consolas" panose="020B0609020204030204" pitchFamily="49" charset="0"/>
              </a:rPr>
              <a:t>First coroutine started</a:t>
            </a:r>
          </a:p>
          <a:p>
            <a:r>
              <a:rPr lang="en-US" dirty="0">
                <a:latin typeface="Consolas" panose="020B0609020204030204" pitchFamily="49" charset="0"/>
              </a:rPr>
              <a:t>First coroutine resumed</a:t>
            </a:r>
          </a:p>
          <a:p>
            <a:r>
              <a:rPr lang="en-US" dirty="0">
                <a:latin typeface="Consolas" panose="020B0609020204030204" pitchFamily="49" charset="0"/>
              </a:rPr>
              <a:t>Second coroutine started</a:t>
            </a:r>
          </a:p>
          <a:p>
            <a:r>
              <a:rPr lang="en-US" dirty="0">
                <a:latin typeface="Consolas" panose="020B0609020204030204" pitchFamily="49" charset="0"/>
              </a:rPr>
              <a:t>exit from main</a:t>
            </a:r>
          </a:p>
          <a:p>
            <a:r>
              <a:rPr lang="en-US" dirty="0">
                <a:latin typeface="Consolas" panose="020B0609020204030204" pitchFamily="49" charset="0"/>
              </a:rPr>
              <a:t>promise destroyed</a:t>
            </a:r>
          </a:p>
          <a:p>
            <a:r>
              <a:rPr lang="en-US" dirty="0">
                <a:latin typeface="Consolas" panose="020B0609020204030204" pitchFamily="49" charset="0"/>
              </a:rPr>
              <a:t>promise destroyed</a:t>
            </a:r>
          </a:p>
        </p:txBody>
      </p:sp>
    </p:spTree>
    <p:extLst>
      <p:ext uri="{BB962C8B-B14F-4D97-AF65-F5344CB8AC3E}">
        <p14:creationId xmlns:p14="http://schemas.microsoft.com/office/powerpoint/2010/main" val="33284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A2BB-E6B7-0A36-01F6-FF9C5DEF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текущего подхода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90836-1022-D11B-288A-38C59E0F2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Что мы сейчас сделали:</a:t>
            </a:r>
          </a:p>
          <a:p>
            <a:pPr lvl="1"/>
            <a:r>
              <a:rPr lang="ru-RU" dirty="0"/>
              <a:t>реализовали механизм </a:t>
            </a:r>
            <a:r>
              <a:rPr lang="ru-RU" dirty="0" err="1"/>
              <a:t>continuation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одна </a:t>
            </a:r>
            <a:r>
              <a:rPr lang="ru-RU" dirty="0" err="1"/>
              <a:t>корутина</a:t>
            </a:r>
            <a:r>
              <a:rPr lang="ru-RU" dirty="0"/>
              <a:t> запускает другую при завершении </a:t>
            </a:r>
          </a:p>
          <a:p>
            <a:r>
              <a:rPr lang="ru-RU" dirty="0"/>
              <a:t>Но есть проблемы:</a:t>
            </a:r>
          </a:p>
          <a:p>
            <a:pPr lvl="1"/>
            <a:r>
              <a:rPr lang="ru-RU" dirty="0"/>
              <a:t>требуется вручную вызывать </a:t>
            </a:r>
            <a:r>
              <a:rPr lang="ru-RU" dirty="0" err="1"/>
              <a:t>Resume</a:t>
            </a:r>
            <a:r>
              <a:rPr lang="ru-RU" dirty="0"/>
              <a:t>() </a:t>
            </a:r>
          </a:p>
          <a:p>
            <a:pPr lvl="1"/>
            <a:r>
              <a:rPr lang="ru-RU" dirty="0"/>
              <a:t>управление остаётся снаружи (в </a:t>
            </a:r>
            <a:r>
              <a:rPr lang="ru-RU" dirty="0" err="1"/>
              <a:t>main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нет удобного способа «дождаться результата» </a:t>
            </a:r>
          </a:p>
          <a:p>
            <a:r>
              <a:rPr lang="ru-RU" dirty="0"/>
              <a:t>Чего хочется:</a:t>
            </a:r>
          </a:p>
          <a:p>
            <a:pPr lvl="1"/>
            <a:r>
              <a:rPr lang="ru-RU" dirty="0" err="1"/>
              <a:t>co_await</a:t>
            </a:r>
            <a:r>
              <a:rPr lang="ru-RU" dirty="0"/>
              <a:t> Task</a:t>
            </a:r>
          </a:p>
          <a:p>
            <a:pPr lvl="1"/>
            <a:r>
              <a:rPr lang="ru-RU" dirty="0"/>
              <a:t>приостановиться до завершения задачи </a:t>
            </a:r>
          </a:p>
          <a:p>
            <a:pPr lvl="1"/>
            <a:r>
              <a:rPr lang="ru-RU" dirty="0"/>
              <a:t>автоматически продолжить выполнение </a:t>
            </a:r>
          </a:p>
          <a:p>
            <a:pPr lvl="1"/>
            <a:r>
              <a:rPr lang="ru-RU" dirty="0"/>
              <a:t>получить результат </a:t>
            </a:r>
          </a:p>
          <a:p>
            <a:r>
              <a:rPr lang="ru-RU" dirty="0"/>
              <a:t>Следующий шаг:</a:t>
            </a:r>
          </a:p>
          <a:p>
            <a:pPr lvl="1"/>
            <a:r>
              <a:rPr lang="ru-RU" dirty="0"/>
              <a:t>реализовать ожидание </a:t>
            </a:r>
            <a:r>
              <a:rPr lang="ru-RU" dirty="0" err="1"/>
              <a:t>корутин</a:t>
            </a:r>
            <a:r>
              <a:rPr lang="ru-RU" dirty="0"/>
              <a:t> через </a:t>
            </a:r>
            <a:r>
              <a:rPr lang="ru-RU" dirty="0" err="1"/>
              <a:t>co_await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26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91F6-3626-1CAF-8842-027446C5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Асинхронная задача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12A1A-A8F7-A817-D639-497DF003D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791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C27BC6-A6C1-AAB0-3D24-3AC6035F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Асинхронная задача (общая идея)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98D1E2-13CF-8122-940A-905782AC2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Хотим писать так: </a:t>
            </a:r>
            <a:r>
              <a:rPr lang="en-US" b="1" dirty="0"/>
              <a:t>auto result = </a:t>
            </a:r>
            <a:r>
              <a:rPr lang="en-US" b="1" dirty="0" err="1"/>
              <a:t>co_await</a:t>
            </a:r>
            <a:r>
              <a:rPr lang="en-US" b="1" dirty="0"/>
              <a:t> task;</a:t>
            </a:r>
          </a:p>
          <a:p>
            <a:r>
              <a:rPr lang="ru-RU" dirty="0"/>
              <a:t>Что должно происходить:</a:t>
            </a:r>
          </a:p>
          <a:p>
            <a:pPr lvl="1"/>
            <a:r>
              <a:rPr lang="ru-RU" dirty="0"/>
              <a:t>текущая </a:t>
            </a:r>
            <a:r>
              <a:rPr lang="ru-RU" dirty="0" err="1"/>
              <a:t>корутина</a:t>
            </a:r>
            <a:r>
              <a:rPr lang="ru-RU" dirty="0"/>
              <a:t> приостанавливается </a:t>
            </a:r>
          </a:p>
          <a:p>
            <a:pPr lvl="1"/>
            <a:r>
              <a:rPr lang="ru-RU" dirty="0"/>
              <a:t>управление передаётся </a:t>
            </a:r>
            <a:r>
              <a:rPr lang="en-US" dirty="0"/>
              <a:t>task </a:t>
            </a:r>
          </a:p>
          <a:p>
            <a:pPr lvl="1"/>
            <a:r>
              <a:rPr lang="ru-RU" dirty="0"/>
              <a:t>после завершения </a:t>
            </a:r>
            <a:r>
              <a:rPr lang="en-US" dirty="0"/>
              <a:t>task: </a:t>
            </a:r>
          </a:p>
          <a:p>
            <a:pPr lvl="2"/>
            <a:r>
              <a:rPr lang="ru-RU" dirty="0" err="1"/>
              <a:t>корутина</a:t>
            </a:r>
            <a:r>
              <a:rPr lang="ru-RU" dirty="0"/>
              <a:t> автоматически возобновляется </a:t>
            </a:r>
          </a:p>
          <a:p>
            <a:pPr lvl="2"/>
            <a:r>
              <a:rPr lang="ru-RU" dirty="0"/>
              <a:t>результат возвращается в </a:t>
            </a:r>
            <a:r>
              <a:rPr lang="en-US" dirty="0" err="1"/>
              <a:t>co_await</a:t>
            </a:r>
            <a:r>
              <a:rPr lang="en-US" dirty="0"/>
              <a:t> </a:t>
            </a:r>
          </a:p>
          <a:p>
            <a:r>
              <a:rPr lang="ru-RU" dirty="0"/>
              <a:t>Как это реализовать:</a:t>
            </a:r>
          </a:p>
          <a:p>
            <a:pPr lvl="1"/>
            <a:r>
              <a:rPr lang="en-US" dirty="0"/>
              <a:t>Task </a:t>
            </a:r>
            <a:r>
              <a:rPr lang="ru-RU" dirty="0"/>
              <a:t>хранит </a:t>
            </a:r>
            <a:r>
              <a:rPr lang="en-US" dirty="0" err="1"/>
              <a:t>coroutine_handle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promise </a:t>
            </a:r>
            <a:r>
              <a:rPr lang="ru-RU" dirty="0"/>
              <a:t>хранит </a:t>
            </a:r>
            <a:r>
              <a:rPr lang="en-US" dirty="0"/>
              <a:t>continuation </a:t>
            </a:r>
          </a:p>
          <a:p>
            <a:pPr lvl="1"/>
            <a:r>
              <a:rPr lang="en-US" dirty="0" err="1"/>
              <a:t>final_suspend</a:t>
            </a:r>
            <a:r>
              <a:rPr lang="en-US" dirty="0"/>
              <a:t> </a:t>
            </a:r>
            <a:r>
              <a:rPr lang="ru-RU" dirty="0"/>
              <a:t>передаёт управление назад </a:t>
            </a:r>
          </a:p>
          <a:p>
            <a:pPr lvl="1"/>
            <a:r>
              <a:rPr lang="en-US" dirty="0"/>
              <a:t>operator </a:t>
            </a:r>
            <a:r>
              <a:rPr lang="en-US" dirty="0" err="1"/>
              <a:t>co_await</a:t>
            </a:r>
            <a:r>
              <a:rPr lang="en-US" dirty="0"/>
              <a:t> </a:t>
            </a:r>
            <a:r>
              <a:rPr lang="ru-RU" dirty="0"/>
              <a:t>связывает две </a:t>
            </a:r>
            <a:r>
              <a:rPr lang="ru-RU" dirty="0" err="1"/>
              <a:t>корутины</a:t>
            </a:r>
            <a:r>
              <a:rPr lang="ru-RU" dirty="0"/>
              <a:t> </a:t>
            </a:r>
          </a:p>
          <a:p>
            <a:r>
              <a:rPr lang="en-US" dirty="0" err="1"/>
              <a:t>co_await</a:t>
            </a:r>
            <a:r>
              <a:rPr lang="en-US" dirty="0"/>
              <a:t> Task = </a:t>
            </a:r>
            <a:r>
              <a:rPr lang="ru-RU" dirty="0"/>
              <a:t>автоматическая передача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60550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1241A8-8C00-58C1-179A-BD92CDF4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F5B0F-26FF-CC09-2244-DF361F689AF3}"/>
              </a:ext>
            </a:extLst>
          </p:cNvPr>
          <p:cNvSpPr txBox="1"/>
          <p:nvPr/>
        </p:nvSpPr>
        <p:spPr>
          <a:xfrm>
            <a:off x="838200" y="1690688"/>
            <a:ext cx="11074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detail::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535908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5703-3F69-7771-FE14-17651985F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15355-DE00-CE5F-55B1-799307EF6689}"/>
              </a:ext>
            </a:extLst>
          </p:cNvPr>
          <p:cNvSpPr txBox="1"/>
          <p:nvPr/>
        </p:nvSpPr>
        <p:spPr>
          <a:xfrm>
            <a:off x="838200" y="1460500"/>
            <a:ext cx="113538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detail {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TaskPromiseBase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FinalAwaitable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bool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 const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{ return false;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7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coroutine_handle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&lt;&gt;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7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coro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coro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m_continuation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   void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7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FinalAwaitable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SetContinuation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continuation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m_continuation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continuation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7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m_continuation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21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264DD5-209B-0008-6A22-5D69137262A4}"/>
              </a:ext>
            </a:extLst>
          </p:cNvPr>
          <p:cNvSpPr txBox="1"/>
          <p:nvPr/>
        </p:nvSpPr>
        <p:spPr>
          <a:xfrm>
            <a:off x="0" y="0"/>
            <a:ext cx="12192000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TaskPromiseBase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m_result.template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current_exception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return_value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m_result.template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emplace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}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()&amp;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rethrow_exception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value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RValueType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conditional_t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is_arithmetic_v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||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is_pointer_v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&amp;&amp;&gt;;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RValueType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&amp;&amp;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rethrow_exception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m_result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variant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&lt;std::</a:t>
            </a:r>
            <a:r>
              <a:rPr lang="en-US" sz="16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monostate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std::</a:t>
            </a:r>
            <a:r>
              <a:rPr lang="en-US" sz="16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exception_ptr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m_result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6481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2A7E61-0558-97DE-B243-DF67930B5E6F}"/>
              </a:ext>
            </a:extLst>
          </p:cNvPr>
          <p:cNvSpPr txBox="1"/>
          <p:nvPr/>
        </p:nvSpPr>
        <p:spPr>
          <a:xfrm>
            <a:off x="0" y="0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final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TaskPromiseBase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current_exception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return_void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rethrow_exception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496784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E7A6B-C1A4-B47A-C21A-C3DF527011D9}"/>
              </a:ext>
            </a:extLst>
          </p:cNvPr>
          <p:cNvSpPr txBox="1"/>
          <p:nvPr/>
        </p:nvSpPr>
        <p:spPr>
          <a:xfrm>
            <a:off x="0" y="0"/>
            <a:ext cx="118491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awaitingCoroutine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SetContinuation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awaitingCoroutine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decltype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Coroutine is not valid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21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59483D-43C7-EC97-98BC-58F91B8A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Ожидание вложенных задач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8D27C-4D02-628B-8379-C90E69694181}"/>
              </a:ext>
            </a:extLst>
          </p:cNvPr>
          <p:cNvSpPr txBox="1"/>
          <p:nvPr/>
        </p:nvSpPr>
        <p:spPr>
          <a:xfrm>
            <a:off x="838200" y="1690688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Inner x: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y: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outer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co_awaiting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outer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698802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0E625-FDD0-0D9A-FBBC-7B5D0F7B7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– как получить результат </a:t>
            </a:r>
            <a:r>
              <a:rPr lang="en-US" dirty="0"/>
              <a:t>Task</a:t>
            </a:r>
            <a:r>
              <a:rPr lang="ru-RU" dirty="0"/>
              <a:t> в </a:t>
            </a:r>
            <a:r>
              <a:rPr lang="en-US" dirty="0"/>
              <a:t>main?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897A6-391E-032D-C3CB-75713C894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main</a:t>
            </a:r>
            <a:r>
              <a:rPr lang="ru-RU" dirty="0"/>
              <a:t> не может быть </a:t>
            </a:r>
            <a:r>
              <a:rPr lang="ru-RU" dirty="0" err="1"/>
              <a:t>корутиной</a:t>
            </a:r>
            <a:endParaRPr lang="ru-RU" dirty="0"/>
          </a:p>
          <a:p>
            <a:pPr lvl="1"/>
            <a:r>
              <a:rPr lang="ru-RU" dirty="0"/>
              <a:t>В ней нельзя использовать </a:t>
            </a:r>
            <a:r>
              <a:rPr lang="en-US" dirty="0" err="1"/>
              <a:t>co_await</a:t>
            </a:r>
            <a:endParaRPr lang="ru-RU" dirty="0"/>
          </a:p>
          <a:p>
            <a:r>
              <a:rPr lang="ru-RU" dirty="0"/>
              <a:t>Решение:</a:t>
            </a:r>
          </a:p>
          <a:p>
            <a:pPr lvl="1"/>
            <a:r>
              <a:rPr lang="ru-RU" dirty="0"/>
              <a:t>Получать значение синхронно</a:t>
            </a:r>
          </a:p>
          <a:p>
            <a:pPr lvl="1"/>
            <a:r>
              <a:rPr lang="ru-RU" dirty="0"/>
              <a:t>Сделать вспомогательную задачу и функцию </a:t>
            </a:r>
            <a:r>
              <a:rPr lang="en-US" dirty="0"/>
              <a:t>SyncWait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E703C-A36C-E181-867A-8A3F4B612F59}"/>
              </a:ext>
            </a:extLst>
          </p:cNvPr>
          <p:cNvSpPr txBox="1"/>
          <p:nvPr/>
        </p:nvSpPr>
        <p:spPr>
          <a:xfrm>
            <a:off x="927100" y="4341004"/>
            <a:ext cx="10337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SyncWait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Exception: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63129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A65491-C2B4-857C-16C2-07BAB1A3B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 Wait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68999D-5B38-6C0D-A2F9-DA4B740B9BF2}"/>
              </a:ext>
            </a:extLst>
          </p:cNvPr>
          <p:cNvSpPr txBox="1"/>
          <p:nvPr/>
        </p:nvSpPr>
        <p:spPr>
          <a:xfrm>
            <a:off x="224287" y="1897811"/>
            <a:ext cx="1214599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detail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ru-RU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awaitable_traits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&lt;AWAITABLE&amp;&amp;&gt;::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await_result_t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enable_if_t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&lt;!std::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is_void_v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&lt;RESULT&gt;, 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SyncWaitTask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MakeSyncWaitTask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co_yield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awaitable_traits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&lt;AWAITABLE&amp;&amp;&gt;::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await_result_t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enable_if_t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is_void_v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&lt;RESULT&gt;, int&gt;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SyncWaitTask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MakeSyncWaitTask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detail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SyncWait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awaitable_traits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&lt;AWAITABLE&amp;&amp;&gt;::</a:t>
            </a:r>
            <a:r>
              <a:rPr lang="en-US" sz="1400" b="0" dirty="0" err="1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await_result_t</a:t>
            </a:r>
            <a:r>
              <a:rPr lang="en-US" sz="14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detail::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MakeSyncWaitTask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awaitable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ManualResetEvent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44602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DE62-9E91-C4F7-B24B-4FB99DCC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SyncWaitTask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12A82-E47C-81FD-7991-7C8706FF81F1}"/>
              </a:ext>
            </a:extLst>
          </p:cNvPr>
          <p:cNvSpPr txBox="1"/>
          <p:nvPr/>
        </p:nvSpPr>
        <p:spPr>
          <a:xfrm>
            <a:off x="838200" y="1690688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SyncWaitTask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SyncWaitTaskPromise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ManualResetEvent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decltype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912122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586C2E-A060-8899-D6B1-C81B7E66A0F6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SyncWaitTaskPromise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SyncWaitTaskPromise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ManualResetEvent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m_event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exception_ptr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m_exception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ManualResetEvent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from_promise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SyncWaitTask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get_return_object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suspend_always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CompletionNotifier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m_event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CompletionNotifier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return_void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8086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309A6-8F18-75D0-1715-6E2D048DA899}"/>
              </a:ext>
            </a:extLst>
          </p:cNvPr>
          <p:cNvSpPr txBox="1"/>
          <p:nvPr/>
        </p:nvSpPr>
        <p:spPr>
          <a:xfrm>
            <a:off x="838200" y="1687354"/>
            <a:ext cx="1100455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SyncWaitTaskPromise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yield_value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addressof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final_suspend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unhandled_exception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current_exception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rethrow_exception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value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9725-70DE-EB36-EAE7-E9D93D09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SyncWaitTaskPromise</a:t>
            </a:r>
            <a:r>
              <a:rPr lang="en-US" dirty="0"/>
              <a:t> - </a:t>
            </a:r>
            <a:r>
              <a:rPr lang="ru-RU" dirty="0"/>
              <a:t>продолжение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68398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6DA1E-C8AB-DCC2-1EBC-F32F759EBD21}"/>
              </a:ext>
            </a:extLst>
          </p:cNvPr>
          <p:cNvSpPr txBox="1"/>
          <p:nvPr/>
        </p:nvSpPr>
        <p:spPr>
          <a:xfrm>
            <a:off x="127000" y="407283"/>
            <a:ext cx="11938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ManualResetEvent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m_cond.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notify_all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m_cond.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condition_variable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m_isSet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287894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30AB2F-A7C4-FD88-379D-D26016707A7B}"/>
              </a:ext>
            </a:extLst>
          </p:cNvPr>
          <p:cNvSpPr txBox="1"/>
          <p:nvPr/>
        </p:nvSpPr>
        <p:spPr>
          <a:xfrm>
            <a:off x="3175" y="166796"/>
            <a:ext cx="904875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Run Inner x: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y: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Enter outer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co_awaiting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Exit outer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VoidFn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SyncWait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SyncWait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VoidFn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Exception: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5457E-7775-6F12-4995-D7FAD8F5288B}"/>
              </a:ext>
            </a:extLst>
          </p:cNvPr>
          <p:cNvSpPr txBox="1"/>
          <p:nvPr/>
        </p:nvSpPr>
        <p:spPr>
          <a:xfrm>
            <a:off x="7430458" y="4922107"/>
            <a:ext cx="4521200" cy="17543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Enter outer</a:t>
            </a:r>
          </a:p>
          <a:p>
            <a:r>
              <a:rPr lang="en-US" dirty="0" err="1">
                <a:latin typeface="Consolas" panose="020B0609020204030204" pitchFamily="49" charset="0"/>
              </a:rPr>
              <a:t>co_awaiting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Run Inner x: 10, y: 20</a:t>
            </a:r>
          </a:p>
          <a:p>
            <a:r>
              <a:rPr lang="en-US" dirty="0">
                <a:latin typeface="Consolas" panose="020B0609020204030204" pitchFamily="49" charset="0"/>
              </a:rPr>
              <a:t>Run Inner x: 6, y: 6</a:t>
            </a:r>
          </a:p>
          <a:p>
            <a:r>
              <a:rPr lang="en-US" dirty="0">
                <a:latin typeface="Consolas" panose="020B0609020204030204" pitchFamily="49" charset="0"/>
              </a:rPr>
              <a:t>Exit outer</a:t>
            </a:r>
          </a:p>
          <a:p>
            <a:r>
              <a:rPr lang="en-US" dirty="0">
                <a:latin typeface="Consolas" panose="020B0609020204030204" pitchFamily="49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56389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FB41-91B3-E3C9-BD78-4D4692AE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awaitable_traits</a:t>
            </a:r>
            <a:r>
              <a:rPr lang="ru-RU" dirty="0"/>
              <a:t> — что это такое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6B1E-19A8-2B0E-105F-59ACC4AFB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Задача</a:t>
            </a:r>
          </a:p>
          <a:p>
            <a:pPr lvl="1"/>
            <a:r>
              <a:rPr lang="ru-RU" dirty="0"/>
              <a:t>Определить:</a:t>
            </a:r>
          </a:p>
          <a:p>
            <a:pPr lvl="1"/>
            <a:r>
              <a:rPr lang="en-US" dirty="0" err="1"/>
              <a:t>co_await</a:t>
            </a:r>
            <a:r>
              <a:rPr lang="en-US" dirty="0"/>
              <a:t> expr → </a:t>
            </a:r>
            <a:r>
              <a:rPr lang="ru-RU" dirty="0"/>
              <a:t>какой тип вернётся?</a:t>
            </a:r>
          </a:p>
          <a:p>
            <a:r>
              <a:rPr lang="ru-RU" dirty="0"/>
              <a:t>Что делает </a:t>
            </a:r>
            <a:r>
              <a:rPr lang="en-US" dirty="0" err="1"/>
              <a:t>awaitable_traits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находит </a:t>
            </a:r>
            <a:r>
              <a:rPr lang="en-US" dirty="0" err="1"/>
              <a:t>awaiter</a:t>
            </a:r>
            <a:r>
              <a:rPr lang="en-US" dirty="0"/>
              <a:t> </a:t>
            </a:r>
            <a:r>
              <a:rPr lang="ru-RU" dirty="0"/>
              <a:t>для объекта </a:t>
            </a:r>
          </a:p>
          <a:p>
            <a:pPr lvl="1"/>
            <a:r>
              <a:rPr lang="ru-RU" dirty="0"/>
              <a:t>определяет тип результата:  </a:t>
            </a:r>
            <a:r>
              <a:rPr lang="en-US" dirty="0" err="1"/>
              <a:t>await_result_t</a:t>
            </a:r>
            <a:endParaRPr lang="en-US" dirty="0"/>
          </a:p>
          <a:p>
            <a:r>
              <a:rPr lang="ru-RU" dirty="0"/>
              <a:t>Используется, например, в:</a:t>
            </a:r>
          </a:p>
          <a:p>
            <a:pPr lvl="1"/>
            <a:r>
              <a:rPr lang="en-US" dirty="0"/>
              <a:t>auto result = </a:t>
            </a:r>
            <a:r>
              <a:rPr lang="en-US" dirty="0" err="1"/>
              <a:t>SyncWait</a:t>
            </a:r>
            <a:r>
              <a:rPr lang="en-US" dirty="0"/>
              <a:t>(task);</a:t>
            </a:r>
          </a:p>
          <a:p>
            <a:r>
              <a:rPr lang="ru-RU" dirty="0"/>
              <a:t>Это «шаблонная магия», скрывающая детали</a:t>
            </a:r>
          </a:p>
          <a:p>
            <a:pPr lvl="1"/>
            <a:r>
              <a:rPr lang="ru-RU" dirty="0"/>
              <a:t>Вы можете расколдовать её самостоятельно</a:t>
            </a:r>
          </a:p>
        </p:txBody>
      </p:sp>
    </p:spTree>
    <p:extLst>
      <p:ext uri="{BB962C8B-B14F-4D97-AF65-F5344CB8AC3E}">
        <p14:creationId xmlns:p14="http://schemas.microsoft.com/office/powerpoint/2010/main" val="342294426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045E-1EDD-2F23-7C40-AA1B0C78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Прикладное применение </a:t>
            </a:r>
            <a:r>
              <a:rPr lang="ru-RU" dirty="0" err="1"/>
              <a:t>корутин</a:t>
            </a:r>
            <a:r>
              <a:rPr lang="ru-RU" dirty="0"/>
              <a:t> на примере</a:t>
            </a:r>
            <a:r>
              <a:rPr lang="en-US" dirty="0"/>
              <a:t> </a:t>
            </a:r>
            <a:r>
              <a:rPr lang="en-US" dirty="0" err="1"/>
              <a:t>boost.cobalt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67780-0B85-8BC9-35FD-85CE259BB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113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2E6559-E5F6-91B6-9683-976A8373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Boost.Cobalt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2C63D2-4710-6A34-2F6A-8CAE4ADF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Современная библиотека из состава </a:t>
            </a:r>
            <a:r>
              <a:rPr lang="ru-RU" dirty="0" err="1"/>
              <a:t>Boost</a:t>
            </a:r>
            <a:r>
              <a:rPr lang="en-US" dirty="0"/>
              <a:t> (1.84+)</a:t>
            </a:r>
            <a:r>
              <a:rPr lang="ru-RU" dirty="0"/>
              <a:t>, предназначенная для создания асинхронных приложений с использованием C++20 </a:t>
            </a:r>
            <a:r>
              <a:rPr lang="ru-RU" dirty="0" err="1"/>
              <a:t>coroutines</a:t>
            </a:r>
            <a:r>
              <a:rPr lang="ru-RU" dirty="0"/>
              <a:t>.</a:t>
            </a:r>
          </a:p>
          <a:p>
            <a:r>
              <a:rPr lang="ru-RU" dirty="0"/>
              <a:t>Построена поверх </a:t>
            </a:r>
            <a:r>
              <a:rPr lang="ru-RU" b="1" dirty="0" err="1"/>
              <a:t>Boost.Asio</a:t>
            </a:r>
            <a:r>
              <a:rPr lang="ru-RU" dirty="0"/>
              <a:t>, обеспечивает удобный и выразительный способ писать асинхронный код.</a:t>
            </a:r>
          </a:p>
          <a:p>
            <a:r>
              <a:rPr lang="ru-RU" dirty="0"/>
              <a:t>Предоставляет </a:t>
            </a:r>
            <a:r>
              <a:rPr lang="en-US" dirty="0" err="1"/>
              <a:t>awaitable</a:t>
            </a:r>
            <a:r>
              <a:rPr lang="en-US" dirty="0"/>
              <a:t>-</a:t>
            </a:r>
            <a:r>
              <a:rPr lang="ru-RU" dirty="0"/>
              <a:t>объекты (</a:t>
            </a:r>
            <a:r>
              <a:rPr lang="en-US" dirty="0"/>
              <a:t>task, promise, mutex, timer, </a:t>
            </a:r>
            <a:r>
              <a:rPr lang="ru-RU" dirty="0"/>
              <a:t>и др.) и механизм запуска задач (</a:t>
            </a:r>
            <a:r>
              <a:rPr lang="en-US" dirty="0" err="1"/>
              <a:t>co_spawn</a:t>
            </a:r>
            <a:r>
              <a:rPr lang="en-US" dirty="0"/>
              <a:t>), </a:t>
            </a:r>
            <a:r>
              <a:rPr lang="ru-RU" dirty="0"/>
              <a:t>аналогично другим </a:t>
            </a:r>
            <a:r>
              <a:rPr lang="en-US" dirty="0"/>
              <a:t>coroutine-</a:t>
            </a:r>
            <a:r>
              <a:rPr lang="ru-RU" dirty="0"/>
              <a:t>фреймворкам</a:t>
            </a:r>
            <a:endParaRPr lang="en-US" dirty="0"/>
          </a:p>
          <a:p>
            <a:r>
              <a:rPr lang="ru-RU" dirty="0"/>
              <a:t>Позволяет писать асинхронный код в синтаксисе синхронного, улучшая читаемость и </a:t>
            </a:r>
            <a:r>
              <a:rPr lang="ru-RU" dirty="0" err="1"/>
              <a:t>сопровождаемость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Хорошая совместимость с </a:t>
            </a:r>
            <a:r>
              <a:rPr lang="en-US" dirty="0" err="1"/>
              <a:t>Boost.Asio</a:t>
            </a:r>
            <a:endParaRPr lang="en-US" dirty="0"/>
          </a:p>
          <a:p>
            <a:r>
              <a:rPr lang="ru-RU" dirty="0"/>
              <a:t>Поддерживает сопровождение задач, отмену, обработку исключений и работу с асинхронными ресурсами.</a:t>
            </a:r>
          </a:p>
        </p:txBody>
      </p:sp>
    </p:spTree>
    <p:extLst>
      <p:ext uri="{BB962C8B-B14F-4D97-AF65-F5344CB8AC3E}">
        <p14:creationId xmlns:p14="http://schemas.microsoft.com/office/powerpoint/2010/main" val="250944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D2A6-1C29-63A3-FF4E-44F35D08C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</a:t>
            </a:r>
            <a:r>
              <a:rPr lang="en-US" dirty="0" err="1"/>
              <a:t>Boost.Cobalt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B184-DC12-08CC-693E-7ED452632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Использует однопоточную модель исполнения</a:t>
            </a:r>
          </a:p>
          <a:p>
            <a:pPr lvl="1"/>
            <a:r>
              <a:rPr lang="ru-RU" dirty="0" err="1"/>
              <a:t>Корутины</a:t>
            </a:r>
            <a:r>
              <a:rPr lang="ru-RU" dirty="0"/>
              <a:t> останавливаются и исполняются на одном потоке</a:t>
            </a:r>
          </a:p>
          <a:p>
            <a:pPr lvl="2"/>
            <a:r>
              <a:rPr lang="ru-RU" dirty="0"/>
              <a:t>Исключение – </a:t>
            </a:r>
            <a:r>
              <a:rPr lang="en-US" dirty="0"/>
              <a:t>task</a:t>
            </a:r>
          </a:p>
          <a:p>
            <a:r>
              <a:rPr lang="ru-RU" dirty="0"/>
              <a:t>Почему так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/>
              <a:t>Проще и быстрее</a:t>
            </a:r>
            <a:endParaRPr lang="en-US" dirty="0"/>
          </a:p>
          <a:p>
            <a:pPr lvl="1"/>
            <a:r>
              <a:rPr lang="ru-RU" dirty="0"/>
              <a:t>Минимальные расходы на переключение контекста</a:t>
            </a:r>
          </a:p>
          <a:p>
            <a:r>
              <a:rPr lang="en-US" dirty="0" err="1"/>
              <a:t>Boost.Cobalt</a:t>
            </a:r>
            <a:r>
              <a:rPr lang="en-US" dirty="0"/>
              <a:t> – </a:t>
            </a:r>
            <a:r>
              <a:rPr lang="ru-RU" dirty="0"/>
              <a:t>не замена полноценной многопоточности, а инструмент эффективного асинхронного программирования в одном потоке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7494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2ABB-BBE9-7CEF-3E58-31EAFFBB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Сборка и подключение библиотеки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B9FB5-F056-9B7A-BE6E-9D9987908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Особенности сборки под</a:t>
            </a:r>
            <a:r>
              <a:rPr lang="en-US" dirty="0"/>
              <a:t> MSVC 2022:</a:t>
            </a:r>
          </a:p>
          <a:p>
            <a:pPr lvl="1"/>
            <a:r>
              <a:rPr lang="ru-RU" dirty="0"/>
              <a:t>При самостоятельной сборке </a:t>
            </a:r>
            <a:r>
              <a:rPr lang="en-US" dirty="0"/>
              <a:t>boost</a:t>
            </a:r>
            <a:r>
              <a:rPr lang="ru-RU" dirty="0"/>
              <a:t> надо указать поддержку стандарта </a:t>
            </a:r>
            <a:r>
              <a:rPr lang="en-US" dirty="0"/>
              <a:t>C++ 20</a:t>
            </a:r>
          </a:p>
          <a:p>
            <a:pPr lvl="2"/>
            <a:r>
              <a:rPr lang="en-US" dirty="0"/>
              <a:t>b2.exe install --with-cobalt </a:t>
            </a:r>
            <a:r>
              <a:rPr lang="en-US" dirty="0" err="1"/>
              <a:t>cxxstd</a:t>
            </a:r>
            <a:r>
              <a:rPr lang="en-US" dirty="0"/>
              <a:t>=20</a:t>
            </a:r>
          </a:p>
          <a:p>
            <a:pPr lvl="1"/>
            <a:r>
              <a:rPr lang="ru-RU" dirty="0"/>
              <a:t>Может понадобиться прописать путь к </a:t>
            </a:r>
            <a:r>
              <a:rPr lang="en-US" dirty="0"/>
              <a:t>Boost </a:t>
            </a:r>
            <a:r>
              <a:rPr lang="ru-RU" dirty="0"/>
              <a:t>в переменной окружения </a:t>
            </a:r>
            <a:r>
              <a:rPr lang="en-US" dirty="0"/>
              <a:t>BOOST_ROOT</a:t>
            </a:r>
          </a:p>
          <a:p>
            <a:r>
              <a:rPr lang="ru-RU" dirty="0"/>
              <a:t>Для подключения в </a:t>
            </a:r>
            <a:r>
              <a:rPr lang="en-US" dirty="0" err="1"/>
              <a:t>Cmake</a:t>
            </a:r>
            <a:r>
              <a:rPr lang="ru-RU" dirty="0"/>
              <a:t> нужно указать</a:t>
            </a:r>
            <a:r>
              <a:rPr lang="en-US" dirty="0"/>
              <a:t>:</a:t>
            </a:r>
          </a:p>
          <a:p>
            <a:pPr lvl="1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find_package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(Boost REQUIRED COMPONENTS cobalt)</a:t>
            </a:r>
          </a:p>
          <a:p>
            <a:pPr lvl="1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target_compile_definitions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PRIVATE _WIN32_WINNT=0x0A00)</a:t>
            </a:r>
          </a:p>
          <a:p>
            <a:pPr lvl="2"/>
            <a:r>
              <a:rPr lang="ru-RU" dirty="0"/>
              <a:t>Только в </a:t>
            </a:r>
            <a:r>
              <a:rPr lang="en-US" dirty="0"/>
              <a:t>Windows</a:t>
            </a:r>
          </a:p>
          <a:p>
            <a:pPr lvl="1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target_include_directories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PRIVATE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Boost_INCLUDE_DIRS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target_link_libraries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PRIVATE Boost::cobalt)</a:t>
            </a:r>
          </a:p>
          <a:p>
            <a:pPr lvl="1"/>
            <a:endParaRPr lang="en-US" dirty="0"/>
          </a:p>
          <a:p>
            <a:pPr lvl="1"/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360161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E669F7-B20E-5585-BAAB-B51BE85B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CMakeLists.txt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E6962-11BD-8BC5-DA1D-620D7DEEA15D}"/>
              </a:ext>
            </a:extLst>
          </p:cNvPr>
          <p:cNvSpPr txBox="1"/>
          <p:nvPr/>
        </p:nvSpPr>
        <p:spPr>
          <a:xfrm>
            <a:off x="838200" y="1690688"/>
            <a:ext cx="11226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find_package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(Boost REQUIRED COMPONENTS cobalt)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add_executable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(12_boost_cobalt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"12_boost_cobalt.cpp"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CMAKE_VERSION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VERSION_GREATER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3.12)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12_boost_cobalt PROPERTY CXX_STANDARD 20)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(MSVC)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target_compile_options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(12_boost_cobalt PRIVATE /W4 /WX)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Явно включаем компиляцию под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Windows 10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target_compile_definitions</a:t>
            </a:r>
            <a:r>
              <a:rPr lang="en-US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(12_boost_cobalt PRIVATE _WIN32_WINNT=0x0A00)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target_compile_options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(12_boost_cobalt PRIVATE -Wall -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Wextra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Wpedantic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target_include_directories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(12_boost_cobalt PRIVATE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Boost_INCLUDE_DIRS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target_link_libraries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(12_boost_cobalt PRIVATE Boost::cobalt)</a:t>
            </a:r>
          </a:p>
        </p:txBody>
      </p:sp>
    </p:spTree>
    <p:extLst>
      <p:ext uri="{BB962C8B-B14F-4D97-AF65-F5344CB8AC3E}">
        <p14:creationId xmlns:p14="http://schemas.microsoft.com/office/powerpoint/2010/main" val="25500441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3008-658A-1966-96E8-B5EF4118B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2D177E-B89F-F66A-229B-ACDC9EE5DAEA}"/>
              </a:ext>
            </a:extLst>
          </p:cNvPr>
          <p:cNvSpPr txBox="1"/>
          <p:nvPr/>
        </p:nvSpPr>
        <p:spPr>
          <a:xfrm>
            <a:off x="838199" y="1718106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boost/cobalt/run.hpp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boost/cobalt/task.hpp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boost::cobalt::task;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chrono_literals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sleep_for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(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SumAsync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boost::cobalt::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24398-ACBD-A66E-40B6-2A2E3DF172C1}"/>
              </a:ext>
            </a:extLst>
          </p:cNvPr>
          <p:cNvSpPr txBox="1"/>
          <p:nvPr/>
        </p:nvSpPr>
        <p:spPr>
          <a:xfrm>
            <a:off x="8356600" y="5803899"/>
            <a:ext cx="35052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Hello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85CCC-FA43-67CA-CEAA-FB22AD025B9C}"/>
              </a:ext>
            </a:extLst>
          </p:cNvPr>
          <p:cNvSpPr txBox="1"/>
          <p:nvPr/>
        </p:nvSpPr>
        <p:spPr>
          <a:xfrm>
            <a:off x="8356600" y="5803899"/>
            <a:ext cx="35052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Hello 42</a:t>
            </a:r>
          </a:p>
        </p:txBody>
      </p:sp>
    </p:spTree>
    <p:extLst>
      <p:ext uri="{BB962C8B-B14F-4D97-AF65-F5344CB8AC3E}">
        <p14:creationId xmlns:p14="http://schemas.microsoft.com/office/powerpoint/2010/main" val="299529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6EE73-DEF3-F15D-EC77-719353A2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Синхронное ожидание в</a:t>
            </a:r>
            <a:r>
              <a:rPr lang="en-US" dirty="0"/>
              <a:t> </a:t>
            </a:r>
            <a:r>
              <a:rPr lang="en-US" dirty="0" err="1"/>
              <a:t>Boost.Asio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BF1F3-3137-F56F-6F86-DB5872B1C16B}"/>
              </a:ext>
            </a:extLst>
          </p:cNvPr>
          <p:cNvSpPr txBox="1"/>
          <p:nvPr/>
        </p:nvSpPr>
        <p:spPr>
          <a:xfrm>
            <a:off x="838200" y="1690688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boost/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/io_context.hpp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boost/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/steady_timer.hpp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chrono_literals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boost::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io_context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Starting sync timer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Блокирующее ожидание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Timer wait is over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9A835-B624-4E61-4FA1-75420E83A2D0}"/>
              </a:ext>
            </a:extLst>
          </p:cNvPr>
          <p:cNvSpPr txBox="1"/>
          <p:nvPr/>
        </p:nvSpPr>
        <p:spPr>
          <a:xfrm>
            <a:off x="7442200" y="4985435"/>
            <a:ext cx="45974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Starting sync timer</a:t>
            </a:r>
          </a:p>
          <a:p>
            <a:r>
              <a:rPr lang="en-US" dirty="0">
                <a:latin typeface="Consolas" panose="020B0609020204030204" pitchFamily="49" charset="0"/>
              </a:rPr>
              <a:t>Timer wait is over</a:t>
            </a:r>
          </a:p>
        </p:txBody>
      </p:sp>
    </p:spTree>
    <p:extLst>
      <p:ext uri="{BB962C8B-B14F-4D97-AF65-F5344CB8AC3E}">
        <p14:creationId xmlns:p14="http://schemas.microsoft.com/office/powerpoint/2010/main" val="270036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C4EC-E4F6-AB00-6409-B349EEBE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Асинхронное ожидание в </a:t>
            </a:r>
            <a:r>
              <a:rPr lang="en-US" dirty="0" err="1"/>
              <a:t>Boost.Asio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A133B-E5D9-A915-EB05-121EF3BB14F2}"/>
              </a:ext>
            </a:extLst>
          </p:cNvPr>
          <p:cNvSpPr txBox="1"/>
          <p:nvPr/>
        </p:nvSpPr>
        <p:spPr>
          <a:xfrm>
            <a:off x="838200" y="1704976"/>
            <a:ext cx="11252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started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io_context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Starting timer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Стандартный способ ожидания 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boost::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callback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boost::system::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error_code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Timer completed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Timer cancelled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context.run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 finished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3CCFF0-0D85-21AE-9D68-320E38A2E4B0}"/>
              </a:ext>
            </a:extLst>
          </p:cNvPr>
          <p:cNvSpPr txBox="1"/>
          <p:nvPr/>
        </p:nvSpPr>
        <p:spPr>
          <a:xfrm>
            <a:off x="7429500" y="5015547"/>
            <a:ext cx="4660900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main started</a:t>
            </a:r>
          </a:p>
          <a:p>
            <a:r>
              <a:rPr lang="en-US" dirty="0">
                <a:latin typeface="Consolas" panose="020B0609020204030204" pitchFamily="49" charset="0"/>
              </a:rPr>
              <a:t>Starting timer</a:t>
            </a:r>
          </a:p>
          <a:p>
            <a:r>
              <a:rPr lang="en-US" dirty="0" err="1">
                <a:latin typeface="Consolas" panose="020B0609020204030204" pitchFamily="49" charset="0"/>
              </a:rPr>
              <a:t>context.run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</a:rPr>
              <a:t>Timer completed</a:t>
            </a:r>
          </a:p>
          <a:p>
            <a:r>
              <a:rPr lang="en-US" dirty="0">
                <a:latin typeface="Consolas" panose="020B0609020204030204" pitchFamily="49" charset="0"/>
              </a:rPr>
              <a:t>main finished</a:t>
            </a:r>
          </a:p>
        </p:txBody>
      </p:sp>
    </p:spTree>
    <p:extLst>
      <p:ext uri="{BB962C8B-B14F-4D97-AF65-F5344CB8AC3E}">
        <p14:creationId xmlns:p14="http://schemas.microsoft.com/office/powerpoint/2010/main" val="297147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6" presetClass="emph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96966-52BE-2D79-1E82-95EB5916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Асинхронное ожидание с </a:t>
            </a:r>
            <a:r>
              <a:rPr lang="en-US" dirty="0" err="1"/>
              <a:t>Boost.Asio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Boost.Cobalt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5BBF2-546E-ADF1-EF35-F4FBAA138F38}"/>
              </a:ext>
            </a:extLst>
          </p:cNvPr>
          <p:cNvSpPr txBox="1"/>
          <p:nvPr/>
        </p:nvSpPr>
        <p:spPr>
          <a:xfrm>
            <a:off x="838200" y="1717775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boost/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/use_future.hpp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boost/cobalt/spawn.hpp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boost/cobalt/task.hpp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 = boost::cobalt;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cobalt::task;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Coroutine started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Получаем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executor,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связанный с текущей </a:t>
            </a:r>
            <a:r>
              <a:rPr lang="ru-RU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корутиной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и создаём на его основе таймер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F08C4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co_await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cobalt::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this_coro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::executor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Starting timer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cobalt::</a:t>
            </a:r>
            <a:r>
              <a:rPr lang="en-US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use_op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Задание на дом: разобраться, что такое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cobalt::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use_op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Timer &amp; coroutine complete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io_context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cobalt::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spawn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Coroutine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use_future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ctx.run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ctx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f.get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69FEB-F3F1-4BA7-23AE-48DEEC389668}"/>
              </a:ext>
            </a:extLst>
          </p:cNvPr>
          <p:cNvSpPr txBox="1"/>
          <p:nvPr/>
        </p:nvSpPr>
        <p:spPr>
          <a:xfrm>
            <a:off x="7708900" y="5268436"/>
            <a:ext cx="3644900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ctx.run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</a:rPr>
              <a:t>Coroutine started</a:t>
            </a:r>
          </a:p>
          <a:p>
            <a:r>
              <a:rPr lang="en-US" dirty="0">
                <a:latin typeface="Consolas" panose="020B0609020204030204" pitchFamily="49" charset="0"/>
              </a:rPr>
              <a:t>Starting timer</a:t>
            </a:r>
          </a:p>
          <a:p>
            <a:r>
              <a:rPr lang="en-US" dirty="0">
                <a:latin typeface="Consolas" panose="020B0609020204030204" pitchFamily="49" charset="0"/>
              </a:rPr>
              <a:t>Timer &amp; coroutine complete</a:t>
            </a:r>
          </a:p>
          <a:p>
            <a:r>
              <a:rPr lang="en-US" dirty="0" err="1">
                <a:latin typeface="Consolas" panose="020B0609020204030204" pitchFamily="49" charset="0"/>
              </a:rPr>
              <a:t>f.get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5145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B164D-4420-69E8-46D5-7021DBB4B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</a:t>
            </a:r>
            <a:r>
              <a:rPr lang="ru-RU" dirty="0"/>
              <a:t>изначально приостановлен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11B3D-A57C-DA39-3B64-86D18332711C}"/>
              </a:ext>
            </a:extLst>
          </p:cNvPr>
          <p:cNvSpPr txBox="1"/>
          <p:nvPr/>
        </p:nvSpPr>
        <p:spPr>
          <a:xfrm>
            <a:off x="838200" y="1690688"/>
            <a:ext cx="11049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task_promise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…</a:t>
            </a:r>
            <a:endParaRPr lang="ru-RU" b="0" dirty="0">
              <a:solidFill>
                <a:srgbClr val="2B91A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started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initial_awaitable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task_promise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promise;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&lt;&gt;) {}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promise-&gt;started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initial_suspend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initial_awaitable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93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DBC7-8E70-9630-DE43-F0D1E5D1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реализовано получение </a:t>
            </a:r>
            <a:r>
              <a:rPr lang="en-US" dirty="0"/>
              <a:t>executor-</a:t>
            </a:r>
            <a:r>
              <a:rPr lang="ru-RU" dirty="0"/>
              <a:t>а текущей </a:t>
            </a:r>
            <a:r>
              <a:rPr lang="ru-RU" dirty="0" err="1"/>
              <a:t>корутины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ACB47-6E79-49AF-E1D9-984857EF5183}"/>
              </a:ext>
            </a:extLst>
          </p:cNvPr>
          <p:cNvSpPr txBox="1"/>
          <p:nvPr/>
        </p:nvSpPr>
        <p:spPr>
          <a:xfrm>
            <a:off x="838200" y="1690688"/>
            <a:ext cx="110109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enable_await_executor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await_transform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this_coro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executor_t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executor_awaitable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get_executor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executor_awaitable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_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executor_type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executor_type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executor_type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exec;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await_ready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await_suspend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coroutine_handle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executor_type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await_resume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exec;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task_promise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…,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enable_await_executor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task_promise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&gt;&gt;, …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enable_awaitables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task_promise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&gt;&gt;::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await_transform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 Используем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await_transform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  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executor_type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&amp;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get_executor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78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9E10-EEF2-A1B4-E387-115B83A2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Корутина</a:t>
            </a:r>
            <a:r>
              <a:rPr lang="ru-RU" dirty="0"/>
              <a:t> </a:t>
            </a:r>
            <a:r>
              <a:rPr lang="en-US" dirty="0" err="1"/>
              <a:t>co_main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7E80-229B-41E6-20C5-5EE5A5D45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main</a:t>
            </a:r>
            <a:r>
              <a:rPr lang="ru-RU" dirty="0"/>
              <a:t> не может быть </a:t>
            </a:r>
            <a:r>
              <a:rPr lang="ru-RU" dirty="0" err="1"/>
              <a:t>корутиной</a:t>
            </a:r>
            <a:endParaRPr lang="ru-RU" dirty="0"/>
          </a:p>
          <a:p>
            <a:r>
              <a:rPr lang="ru-RU" dirty="0"/>
              <a:t>В</a:t>
            </a:r>
            <a:r>
              <a:rPr lang="en-US" dirty="0"/>
              <a:t> </a:t>
            </a:r>
            <a:r>
              <a:rPr lang="en-US" dirty="0" err="1"/>
              <a:t>Boost.Cobalt</a:t>
            </a:r>
            <a:r>
              <a:rPr lang="en-US" dirty="0"/>
              <a:t> </a:t>
            </a:r>
            <a:r>
              <a:rPr lang="ru-RU" dirty="0"/>
              <a:t>для этих целей служит</a:t>
            </a:r>
            <a:r>
              <a:rPr lang="en-US" dirty="0"/>
              <a:t> </a:t>
            </a:r>
            <a:r>
              <a:rPr lang="ru-RU" dirty="0"/>
              <a:t>точка входа </a:t>
            </a:r>
            <a:r>
              <a:rPr lang="en-US" dirty="0" err="1">
                <a:latin typeface="Consolas" panose="020B0609020204030204" pitchFamily="49" charset="0"/>
              </a:rPr>
              <a:t>co_main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co_main</a:t>
            </a:r>
            <a:r>
              <a:rPr lang="en-US" dirty="0"/>
              <a:t> – </a:t>
            </a:r>
            <a:r>
              <a:rPr lang="ru-RU" dirty="0" err="1"/>
              <a:t>корутина</a:t>
            </a:r>
            <a:r>
              <a:rPr lang="ru-RU" dirty="0"/>
              <a:t>, и должна возвращать объект </a:t>
            </a:r>
            <a:r>
              <a:rPr lang="en-US" dirty="0">
                <a:latin typeface="Consolas" panose="020B0609020204030204" pitchFamily="49" charset="0"/>
              </a:rPr>
              <a:t>boost::cobalt::main</a:t>
            </a:r>
          </a:p>
          <a:p>
            <a:r>
              <a:rPr lang="en-US" dirty="0" err="1"/>
              <a:t>Boost.Cobalt</a:t>
            </a:r>
            <a:r>
              <a:rPr lang="ru-RU" dirty="0"/>
              <a:t> предоставит функцию </a:t>
            </a:r>
            <a:r>
              <a:rPr lang="en-US" dirty="0">
                <a:latin typeface="Consolas" panose="020B0609020204030204" pitchFamily="49" charset="0"/>
              </a:rPr>
              <a:t>main</a:t>
            </a:r>
            <a:r>
              <a:rPr lang="ru-RU" dirty="0"/>
              <a:t>, которая вызовет пользовательскую </a:t>
            </a:r>
            <a:r>
              <a:rPr lang="ru-RU" dirty="0" err="1"/>
              <a:t>корутину</a:t>
            </a:r>
            <a:r>
              <a:rPr lang="ru-RU" dirty="0"/>
              <a:t> </a:t>
            </a:r>
            <a:r>
              <a:rPr lang="en-US" dirty="0" err="1">
                <a:latin typeface="Consolas" panose="020B0609020204030204" pitchFamily="49" charset="0"/>
              </a:rPr>
              <a:t>co_main</a:t>
            </a:r>
            <a:r>
              <a:rPr lang="ru-RU" dirty="0"/>
              <a:t> и дождётся её завершения</a:t>
            </a:r>
          </a:p>
          <a:p>
            <a:r>
              <a:rPr lang="en-US" dirty="0" err="1">
                <a:latin typeface="Consolas" panose="020B0609020204030204" pitchFamily="49" charset="0"/>
              </a:rPr>
              <a:t>co_main</a:t>
            </a:r>
            <a:r>
              <a:rPr lang="ru-RU" dirty="0"/>
              <a:t> должна завершаться </a:t>
            </a:r>
            <a:r>
              <a:rPr lang="en-US" dirty="0" err="1">
                <a:latin typeface="Consolas" panose="020B0609020204030204" pitchFamily="49" charset="0"/>
              </a:rPr>
              <a:t>co_return</a:t>
            </a:r>
            <a:r>
              <a:rPr lang="en-US" dirty="0"/>
              <a:t> c</a:t>
            </a:r>
            <a:r>
              <a:rPr lang="ru-RU" dirty="0"/>
              <a:t> параметром типа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34609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0940E3-60E7-3E57-D42B-321F5508E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функции </a:t>
            </a:r>
            <a:r>
              <a:rPr lang="en-US" dirty="0" err="1"/>
              <a:t>co_main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E6B87F-EAA0-C30A-EA2C-B5EFA1CBA561}"/>
              </a:ext>
            </a:extLst>
          </p:cNvPr>
          <p:cNvSpPr txBox="1"/>
          <p:nvPr/>
        </p:nvSpPr>
        <p:spPr>
          <a:xfrm>
            <a:off x="838200" y="1690688"/>
            <a:ext cx="105156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boost/cobalt/main.hpp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chrono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chrono_literals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boost::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 = boost::cobalt;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точка входа в асинхронную программу.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Она будет вызвана из функции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предоставляемой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cobalt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started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this_coro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::executor,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Starting timer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(cobalt::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Timer completed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finished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2B26E6-FF89-C9A5-32FC-D4815CA5E575}"/>
              </a:ext>
            </a:extLst>
          </p:cNvPr>
          <p:cNvSpPr txBox="1"/>
          <p:nvPr/>
        </p:nvSpPr>
        <p:spPr>
          <a:xfrm>
            <a:off x="7391400" y="5414784"/>
            <a:ext cx="3962400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co_main</a:t>
            </a:r>
            <a:r>
              <a:rPr lang="en-US" dirty="0">
                <a:latin typeface="Consolas" panose="020B0609020204030204" pitchFamily="49" charset="0"/>
              </a:rPr>
              <a:t> started</a:t>
            </a:r>
          </a:p>
          <a:p>
            <a:r>
              <a:rPr lang="en-US" dirty="0">
                <a:latin typeface="Consolas" panose="020B0609020204030204" pitchFamily="49" charset="0"/>
              </a:rPr>
              <a:t>Starting timer</a:t>
            </a:r>
          </a:p>
          <a:p>
            <a:r>
              <a:rPr lang="en-US" dirty="0">
                <a:latin typeface="Consolas" panose="020B0609020204030204" pitchFamily="49" charset="0"/>
              </a:rPr>
              <a:t>Timer completed</a:t>
            </a:r>
          </a:p>
          <a:p>
            <a:r>
              <a:rPr lang="en-US" dirty="0" err="1">
                <a:latin typeface="Consolas" panose="020B0609020204030204" pitchFamily="49" charset="0"/>
              </a:rPr>
              <a:t>co_main</a:t>
            </a:r>
            <a:r>
              <a:rPr lang="en-US" dirty="0">
                <a:latin typeface="Consolas" panose="020B0609020204030204" pitchFamily="49" charset="0"/>
              </a:rPr>
              <a:t> finished</a:t>
            </a:r>
          </a:p>
        </p:txBody>
      </p:sp>
    </p:spTree>
    <p:extLst>
      <p:ext uri="{BB962C8B-B14F-4D97-AF65-F5344CB8AC3E}">
        <p14:creationId xmlns:p14="http://schemas.microsoft.com/office/powerpoint/2010/main" val="58044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9CE265-83F9-7FB8-D341-213813AC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cobalt::promise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00F13-C6B3-D048-7F43-EE85494A4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</a:t>
            </a:r>
            <a:r>
              <a:rPr lang="ru-RU" dirty="0" err="1"/>
              <a:t>корутина</a:t>
            </a:r>
            <a:r>
              <a:rPr lang="ru-RU" dirty="0"/>
              <a:t>, с немедленным запуском</a:t>
            </a:r>
          </a:p>
          <a:p>
            <a:pPr lvl="1"/>
            <a:r>
              <a:rPr lang="ru-RU" dirty="0"/>
              <a:t>Этим отличается от </a:t>
            </a:r>
            <a:r>
              <a:rPr lang="en-US" dirty="0"/>
              <a:t>cobalt::task</a:t>
            </a:r>
            <a:r>
              <a:rPr lang="ru-RU" dirty="0"/>
              <a:t>, которая запускается при </a:t>
            </a:r>
            <a:r>
              <a:rPr lang="en-US" dirty="0" err="1"/>
              <a:t>co_await</a:t>
            </a:r>
            <a:r>
              <a:rPr lang="ru-RU" dirty="0"/>
              <a:t> или </a:t>
            </a:r>
            <a:r>
              <a:rPr lang="en-US" dirty="0"/>
              <a:t>spawn</a:t>
            </a:r>
          </a:p>
          <a:p>
            <a:r>
              <a:rPr lang="ru-RU" dirty="0"/>
              <a:t>Предназначена для </a:t>
            </a:r>
            <a:r>
              <a:rPr lang="en-US" dirty="0"/>
              <a:t>ad-hoc </a:t>
            </a:r>
            <a:r>
              <a:rPr lang="ru-RU" dirty="0"/>
              <a:t>конкурентности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81580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65DE-88C6-89B1-BDD7-4F1124C9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Готовим компоненты гамбургеры с </a:t>
            </a:r>
            <a:r>
              <a:rPr lang="en-US" dirty="0"/>
              <a:t>promise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6BBBD-C25A-11BD-153D-101D41241B42}"/>
              </a:ext>
            </a:extLst>
          </p:cNvPr>
          <p:cNvSpPr txBox="1"/>
          <p:nvPr/>
        </p:nvSpPr>
        <p:spPr>
          <a:xfrm>
            <a:off x="766762" y="1690688"/>
            <a:ext cx="1096803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&lt;void&gt; 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Roast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Cutlet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Обжарка котлеты в течение 3 секунд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Roasting cutlet for 3 seconds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this_coro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::executor,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Cutlet is ready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BakeBread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течение 3 секунд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Baking bread for 2 seconds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this_coro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::executor, 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Bread is ready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AssemblyHamburger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Assemblyng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hamburger for 1 second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this_coro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::executor,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Hamburger is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assebled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8D3833-7D67-4303-0F42-78B3E3C5DD0B}"/>
              </a:ext>
            </a:extLst>
          </p:cNvPr>
          <p:cNvGrpSpPr/>
          <p:nvPr/>
        </p:nvGrpSpPr>
        <p:grpSpPr>
          <a:xfrm>
            <a:off x="8897541" y="3378369"/>
            <a:ext cx="2837258" cy="1651695"/>
            <a:chOff x="8897541" y="3378369"/>
            <a:chExt cx="2837258" cy="165169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6F8C733-A7C2-AF9A-1C91-F0ED51A825FD}"/>
                </a:ext>
              </a:extLst>
            </p:cNvPr>
            <p:cNvSpPr/>
            <p:nvPr/>
          </p:nvSpPr>
          <p:spPr>
            <a:xfrm>
              <a:off x="9717880" y="4181206"/>
              <a:ext cx="802478" cy="80247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sz="4400" dirty="0"/>
                <a:t>Br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649A5F-4D5B-62B0-D8DA-15DCA3B4FA45}"/>
                </a:ext>
              </a:extLst>
            </p:cNvPr>
            <p:cNvSpPr/>
            <p:nvPr/>
          </p:nvSpPr>
          <p:spPr>
            <a:xfrm>
              <a:off x="8897541" y="3378728"/>
              <a:ext cx="802478" cy="80247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sz="4400" dirty="0"/>
                <a:t>Ba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96EA18-7794-3195-9E2D-97402142C242}"/>
                </a:ext>
              </a:extLst>
            </p:cNvPr>
            <p:cNvSpPr txBox="1"/>
            <p:nvPr/>
          </p:nvSpPr>
          <p:spPr>
            <a:xfrm>
              <a:off x="9627589" y="3380770"/>
              <a:ext cx="15775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solidFill>
                    <a:schemeClr val="accent6">
                      <a:lumMod val="75000"/>
                    </a:schemeClr>
                  </a:solidFill>
                </a:rPr>
                <a:t>king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D30669-B9C4-0DBF-0A10-386AE9E7C30E}"/>
                </a:ext>
              </a:extLst>
            </p:cNvPr>
            <p:cNvSpPr txBox="1"/>
            <p:nvPr/>
          </p:nvSpPr>
          <p:spPr>
            <a:xfrm>
              <a:off x="10479878" y="4199067"/>
              <a:ext cx="125492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err="1">
                  <a:solidFill>
                    <a:schemeClr val="accent6">
                      <a:lumMod val="75000"/>
                    </a:schemeClr>
                  </a:solidFill>
                </a:rPr>
                <a:t>ead</a:t>
              </a:r>
              <a:endParaRPr lang="en-US" sz="48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DDE853-DB09-511B-922C-C10A7F68C2E5}"/>
                </a:ext>
              </a:extLst>
            </p:cNvPr>
            <p:cNvSpPr txBox="1"/>
            <p:nvPr/>
          </p:nvSpPr>
          <p:spPr>
            <a:xfrm>
              <a:off x="9070180" y="3378369"/>
              <a:ext cx="6477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1"/>
                  </a:solidFill>
                </a:rPr>
                <a:t>56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856C3A-A486-8889-A4A4-F5FF93B9F95A}"/>
                </a:ext>
              </a:extLst>
            </p:cNvPr>
            <p:cNvSpPr txBox="1"/>
            <p:nvPr/>
          </p:nvSpPr>
          <p:spPr>
            <a:xfrm>
              <a:off x="9872658" y="4175877"/>
              <a:ext cx="6477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1"/>
                  </a:solidFill>
                </a:rPr>
                <a:t>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262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AAD2-E257-F901-6271-8FA49408E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Готовим гамбургер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D414A-83CA-3A95-555A-A5F9E8F4C76D}"/>
              </a:ext>
            </a:extLst>
          </p:cNvPr>
          <p:cNvSpPr txBox="1"/>
          <p:nvPr/>
        </p:nvSpPr>
        <p:spPr>
          <a:xfrm>
            <a:off x="838200" y="1690688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Cooking hamburger...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Групповое ожидание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promise&lt;void&gt;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wait_group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RoastCutlet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BakeBread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Waiting for cutlet and bread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wg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AssemblyHamburger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end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Hamburger was cooked in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(end - start)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seconds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09D2E-7FD5-0D41-A9B5-1C893437B32D}"/>
              </a:ext>
            </a:extLst>
          </p:cNvPr>
          <p:cNvSpPr txBox="1"/>
          <p:nvPr/>
        </p:nvSpPr>
        <p:spPr>
          <a:xfrm>
            <a:off x="7226300" y="3103433"/>
            <a:ext cx="4775200" cy="233910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Cooking hamburger...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Roasting cutlet for 3 seconds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Baking bread for 2 seconds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Waiting for cutlet and bread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Bread is ready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Cutlet is ready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Assemblyng</a:t>
            </a:r>
            <a:r>
              <a:rPr lang="en-US" sz="1600" dirty="0">
                <a:latin typeface="Consolas" panose="020B0609020204030204" pitchFamily="49" charset="0"/>
              </a:rPr>
              <a:t> hamburger for 1 second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Hamburger is </a:t>
            </a:r>
            <a:r>
              <a:rPr lang="en-US" sz="1600" dirty="0" err="1">
                <a:latin typeface="Consolas" panose="020B0609020204030204" pitchFamily="49" charset="0"/>
              </a:rPr>
              <a:t>assebled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Hamburger was cooked in 4.01913s seconds</a:t>
            </a:r>
          </a:p>
        </p:txBody>
      </p:sp>
    </p:spTree>
    <p:extLst>
      <p:ext uri="{BB962C8B-B14F-4D97-AF65-F5344CB8AC3E}">
        <p14:creationId xmlns:p14="http://schemas.microsoft.com/office/powerpoint/2010/main" val="245258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00B9-DA2C-98A6-BBE2-F6FEF4E91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cobalt::task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840FA-FDED-5295-0F88-791236638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Ленивая </a:t>
            </a:r>
            <a:r>
              <a:rPr lang="ru-RU" dirty="0" err="1"/>
              <a:t>корутина</a:t>
            </a:r>
            <a:r>
              <a:rPr lang="ru-RU" dirty="0"/>
              <a:t>, которая не начнёт выполняться до </a:t>
            </a:r>
            <a:r>
              <a:rPr lang="en-US" dirty="0" err="1"/>
              <a:t>co_await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co_spawn</a:t>
            </a:r>
            <a:endParaRPr lang="en-US" dirty="0"/>
          </a:p>
          <a:p>
            <a:r>
              <a:rPr lang="ru-RU" dirty="0"/>
              <a:t>Позволяет построить асинхронную логику, где запуск и создание разделены по времени.</a:t>
            </a:r>
            <a:endParaRPr lang="en-US" dirty="0"/>
          </a:p>
          <a:p>
            <a:r>
              <a:rPr lang="ru-RU" dirty="0"/>
              <a:t>Можно ожидать (</a:t>
            </a:r>
            <a:r>
              <a:rPr lang="ru-RU" dirty="0" err="1"/>
              <a:t>co_await</a:t>
            </a:r>
            <a:r>
              <a:rPr lang="ru-RU" dirty="0"/>
              <a:t>) или запускать (</a:t>
            </a:r>
            <a:r>
              <a:rPr lang="ru-RU" dirty="0" err="1"/>
              <a:t>co_spawn</a:t>
            </a:r>
            <a:r>
              <a:rPr lang="ru-RU" dirty="0"/>
              <a:t>) на другом исполнителе (</a:t>
            </a:r>
            <a:r>
              <a:rPr lang="ru-RU" dirty="0" err="1"/>
              <a:t>executor</a:t>
            </a:r>
            <a:r>
              <a:rPr lang="ru-RU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3392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64B286-9E28-A678-2FE9-592698D6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</a:t>
            </a:r>
            <a:r>
              <a:rPr lang="en-US" dirty="0"/>
              <a:t>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E8957-1511-B6EE-41F8-D6961130BB3F}"/>
              </a:ext>
            </a:extLst>
          </p:cNvPr>
          <p:cNvSpPr txBox="1"/>
          <p:nvPr/>
        </p:nvSpPr>
        <p:spPr>
          <a:xfrm>
            <a:off x="838200" y="2286000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&lt;int&gt;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do_the_thing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compute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создаётся, но не запускается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do_the_other_thing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выполняется до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compute()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запуск и ожидание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436424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CA00FD-8B9D-C828-E683-87E38CC1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Готовим компоненты гамбургера с </a:t>
            </a:r>
            <a:r>
              <a:rPr lang="en-US" dirty="0"/>
              <a:t>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0F0C9-0918-BE6D-1A69-BFDA5D9975A3}"/>
              </a:ext>
            </a:extLst>
          </p:cNvPr>
          <p:cNvSpPr txBox="1"/>
          <p:nvPr/>
        </p:nvSpPr>
        <p:spPr>
          <a:xfrm>
            <a:off x="838200" y="1690688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&lt;void&gt;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RoastCutlet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Roasting cutlet for 3 seconds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this_coro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::executor,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Cutlet is ready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BakeBread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Baking bread for 2 seconds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this_coro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::executor,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Bread is ready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AssemblyHamburger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Assemblyng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hamburger for 1 second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steady_timer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this_coro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::executor,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async_wait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(cobalt::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Hamburger is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assebled</a:t>
            </a:r>
            <a:r>
              <a:rPr lang="en-US" sz="16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996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B320-2F5E-C39D-D53F-3070AA801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Готовим гамбургер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6CED0-F199-D923-C20B-3499CDAD0D6F}"/>
              </a:ext>
            </a:extLst>
          </p:cNvPr>
          <p:cNvSpPr txBox="1"/>
          <p:nvPr/>
        </p:nvSpPr>
        <p:spPr>
          <a:xfrm>
            <a:off x="838200" y="1690688"/>
            <a:ext cx="11150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start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Cooking hamburger...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cutlet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RoastCutlet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bread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BakeBread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Waiting for cutlet and bread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cobalt::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gather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(cutlet, bread);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AssemblyHamburger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end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SteadyClock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Hamburger was cooked in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(end - start)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seconds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6FC7C-C2B9-A53C-20EE-9296DA2E2E97}"/>
              </a:ext>
            </a:extLst>
          </p:cNvPr>
          <p:cNvSpPr txBox="1"/>
          <p:nvPr/>
        </p:nvSpPr>
        <p:spPr>
          <a:xfrm>
            <a:off x="7454900" y="2136338"/>
            <a:ext cx="4737100" cy="23083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Cooking hamburger...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Waiting for cutlet and bread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Roasting cutlet for 3 seconds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Baking bread for 2 seconds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Bread is ready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Cutlet is ready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Assemblyng</a:t>
            </a:r>
            <a:r>
              <a:rPr lang="en-US" sz="1600" dirty="0">
                <a:latin typeface="Consolas" panose="020B0609020204030204" pitchFamily="49" charset="0"/>
              </a:rPr>
              <a:t> hamburger for 1 second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Hamburger is </a:t>
            </a:r>
            <a:r>
              <a:rPr lang="en-US" sz="1600" dirty="0" err="1">
                <a:latin typeface="Consolas" panose="020B0609020204030204" pitchFamily="49" charset="0"/>
              </a:rPr>
              <a:t>assebled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Hamburger was cooked in 4.01933s seconds</a:t>
            </a:r>
          </a:p>
        </p:txBody>
      </p:sp>
    </p:spTree>
    <p:extLst>
      <p:ext uri="{BB962C8B-B14F-4D97-AF65-F5344CB8AC3E}">
        <p14:creationId xmlns:p14="http://schemas.microsoft.com/office/powerpoint/2010/main" val="110196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34F77B-6850-C6F5-76A1-E4D51ACB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Простой асинхронный </a:t>
            </a:r>
            <a:r>
              <a:rPr lang="en-US" dirty="0"/>
              <a:t>HTTPS-</a:t>
            </a:r>
            <a:r>
              <a:rPr lang="ru-RU" dirty="0"/>
              <a:t>клиент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7BA00-84F0-4511-DFE9-2F30C24BA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3150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D83DF9-D025-8754-EBA9-7BA830B6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библиотеки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765944-1042-3EDE-654D-9B7DBBAB8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Boost.Cobalt</a:t>
            </a:r>
            <a:r>
              <a:rPr lang="ru-RU" dirty="0"/>
              <a:t> – поддержка </a:t>
            </a:r>
            <a:r>
              <a:rPr lang="ru-RU" dirty="0" err="1"/>
              <a:t>корутин</a:t>
            </a:r>
            <a:endParaRPr lang="en-US" dirty="0"/>
          </a:p>
          <a:p>
            <a:r>
              <a:rPr lang="en-US" dirty="0" err="1"/>
              <a:t>Boost.Asio</a:t>
            </a:r>
            <a:r>
              <a:rPr lang="ru-RU" dirty="0"/>
              <a:t> – асинхронный ввод-вывод</a:t>
            </a:r>
            <a:endParaRPr lang="en-US" dirty="0"/>
          </a:p>
          <a:p>
            <a:r>
              <a:rPr lang="en-US" dirty="0" err="1"/>
              <a:t>Boost.Beast</a:t>
            </a:r>
            <a:r>
              <a:rPr lang="ru-RU" dirty="0"/>
              <a:t> – поддержка протокола </a:t>
            </a:r>
            <a:r>
              <a:rPr lang="en-US" dirty="0"/>
              <a:t>HTTP</a:t>
            </a:r>
          </a:p>
          <a:p>
            <a:r>
              <a:rPr lang="en-US" dirty="0"/>
              <a:t>OpenSSL – </a:t>
            </a:r>
            <a:r>
              <a:rPr lang="en-US" dirty="0" err="1"/>
              <a:t>Boost.Asio</a:t>
            </a:r>
            <a:r>
              <a:rPr lang="en-US" dirty="0"/>
              <a:t> </a:t>
            </a:r>
            <a:r>
              <a:rPr lang="ru-RU" dirty="0"/>
              <a:t>использует его для поддержки протокола </a:t>
            </a:r>
            <a:r>
              <a:rPr lang="en-US" dirty="0"/>
              <a:t>HTTPS</a:t>
            </a:r>
            <a:endParaRPr lang="ru-RU" dirty="0"/>
          </a:p>
          <a:p>
            <a:pPr lvl="1"/>
            <a:r>
              <a:rPr lang="ru-RU" dirty="0"/>
              <a:t>В </a:t>
            </a:r>
            <a:r>
              <a:rPr lang="en-US" dirty="0"/>
              <a:t>CMakeLists.txt </a:t>
            </a:r>
            <a:r>
              <a:rPr lang="ru-RU" dirty="0"/>
              <a:t>надо прописать</a:t>
            </a:r>
          </a:p>
          <a:p>
            <a:pPr lvl="2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find_package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(OpenSSL REQUIRED)</a:t>
            </a:r>
          </a:p>
          <a:p>
            <a:pPr lvl="2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target_include_directories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(17_simple_http_client PRIVATE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${OPENSSL_INCLUDE_DIR}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target_link_libraries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(17_simple_http_client PRIVATE Boost::cobalt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OpenSSL::SSL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79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84987F-E392-9DFC-B6E1-FD152865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Каркас приложения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31B9A-72B6-74F3-EBEE-BFAC5BF44F2B}"/>
              </a:ext>
            </a:extLst>
          </p:cNvPr>
          <p:cNvSpPr txBox="1"/>
          <p:nvPr/>
        </p:nvSpPr>
        <p:spPr>
          <a:xfrm>
            <a:off x="838200" y="1690688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beast = boost::beast;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http = beast::http;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&lt;http::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&lt;http::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string_body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SendHTTPSRequest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response =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SendHTTPSRequest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www.boost.org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/index.html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response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std::exception&amp; e)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EXIT_FAILURE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EXIT_SUCCESS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580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485C0E-E95D-D0AC-5C74-EA261E64EE00}"/>
              </a:ext>
            </a:extLst>
          </p:cNvPr>
          <p:cNvSpPr txBox="1"/>
          <p:nvPr/>
        </p:nvSpPr>
        <p:spPr>
          <a:xfrm>
            <a:off x="0" y="0"/>
            <a:ext cx="12192000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asio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</a:rPr>
              <a:t>UseOpCobaltExecutor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cobalt::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use_op_t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</a:rPr>
              <a:t>executor_with_default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&lt;cobalt::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</a:rPr>
              <a:t>executor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&gt;;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</a:rPr>
              <a:t>TCPSocket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tcp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::socket::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rebind_executor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</a:rPr>
              <a:t>UseOpCobaltExecutor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&gt;::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</a:rPr>
              <a:t>other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5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</a:rPr>
              <a:t>SSLSocket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ssl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500" dirty="0">
                <a:solidFill>
                  <a:srgbClr val="2B91AF"/>
                </a:solidFill>
                <a:latin typeface="Consolas" panose="020B0609020204030204" pitchFamily="49" charset="0"/>
              </a:rPr>
              <a:t>stream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500" dirty="0" err="1">
                <a:solidFill>
                  <a:srgbClr val="2B91AF"/>
                </a:solidFill>
                <a:latin typeface="Consolas" panose="020B0609020204030204" pitchFamily="49" charset="0"/>
              </a:rPr>
              <a:t>TCPSocket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&gt;;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cobalt::p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romise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SSLSocket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string_view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5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sslContext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&lt;http::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&lt;http::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string_body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SendHTTPSRequest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string_view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string_view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::context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sslContext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::context::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tls_client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conn = </a:t>
            </a:r>
            <a:r>
              <a:rPr lang="en-US" sz="15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(host,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sslContext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GET /index.html HTTP/1.1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http::request&lt;http::empty_body&gt; req{ http::verb::get, target,</a:t>
            </a:r>
            <a:r>
              <a:rPr lang="en-US" sz="15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/*version=*/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(http::field::host, host);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// HTTP/1.1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 требует обязательный заголовок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Host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в запросе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5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</a:rPr>
              <a:t>Send request </a:t>
            </a:r>
            <a:r>
              <a:rPr lang="en-US" sz="15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&lt;&lt; req &lt;&lt; </a:t>
            </a:r>
            <a:r>
              <a:rPr lang="en-US" sz="15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B776FB"/>
                </a:solidFill>
                <a:latin typeface="Consolas" panose="020B0609020204030204" pitchFamily="49" charset="0"/>
              </a:rPr>
              <a:t>\n</a:t>
            </a:r>
            <a:r>
              <a:rPr lang="en-US" sz="15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http::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async_write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(conn, req, 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cobalt::</a:t>
            </a:r>
            <a:r>
              <a:rPr lang="en-US" sz="15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use_op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Request sent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beast::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flat_buffer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http::response&lt;http::string_body&gt; response;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response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http::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async_read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(conn,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response, </a:t>
            </a:r>
            <a:r>
              <a:rPr lang="en-US" sz="15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cobalt::</a:t>
            </a:r>
            <a:r>
              <a:rPr lang="en-US" sz="15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use_op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Response received</a:t>
            </a:r>
            <a:r>
              <a:rPr lang="en-US" sz="15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response;</a:t>
            </a:r>
          </a:p>
          <a:p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315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FBF4E5-074F-C1BE-1BEB-A0FD6ACF77C9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cobalt::p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SSLSocket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sslContext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thisThreadExecutor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cobalt::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this_thread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get_executor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::resolver resolver{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thisThreadExecutor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Определяем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endpoint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 имени хоста (фактически, это запрос к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DNS-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серверу)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Resolving host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host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address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endpoints =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resolver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async_resolve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(host,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https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cobalt::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use_op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endpoints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Host address resolved to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endpoints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()-&gt;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socket{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thisThreadExecutor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Connecting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next_layer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async_connect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endpoints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Connected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Handshaking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async_handshake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stream_base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::client);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Handshake complete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socket;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219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C48336-44F2-3F2C-3FA4-57CE38752EBF}"/>
              </a:ext>
            </a:extLst>
          </p:cNvPr>
          <p:cNvSpPr txBox="1"/>
          <p:nvPr/>
        </p:nvSpPr>
        <p:spPr>
          <a:xfrm>
            <a:off x="317500" y="58846"/>
            <a:ext cx="11061700" cy="67403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Resolving host www.boost.org address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Host address resolved to 146.20.110.251:443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Connecting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Connected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Handshaking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Handshake complete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Send request GET /index.html HTTP/1.1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Host: www.boost.org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Request sent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Read response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Response received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HTTP/1.1 200 OK</a:t>
            </a:r>
          </a:p>
          <a:p>
            <a:r>
              <a:rPr lang="ru-RU" sz="1600" dirty="0">
                <a:latin typeface="Consolas" panose="020B0609020204030204" pitchFamily="49" charset="0"/>
              </a:rPr>
              <a:t>…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Content-Type: text/html; charset=UTF-8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6d18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&lt;!DOCTYPE html PUBLIC "-//W3C//DTD XHTML 1.0 Strict//EN"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"http://www.w3.org/TR/xhtml1/DTD/xhtml1-strict.dtd"&gt;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&lt;html </a:t>
            </a:r>
            <a:r>
              <a:rPr lang="en-US" sz="1600" dirty="0" err="1">
                <a:latin typeface="Consolas" panose="020B0609020204030204" pitchFamily="49" charset="0"/>
              </a:rPr>
              <a:t>xmlns</a:t>
            </a:r>
            <a:r>
              <a:rPr lang="en-US" sz="1600" dirty="0">
                <a:latin typeface="Consolas" panose="020B0609020204030204" pitchFamily="49" charset="0"/>
              </a:rPr>
              <a:t>="http://www.w3.org/1999/xhtml" lang="</a:t>
            </a:r>
            <a:r>
              <a:rPr lang="en-US" sz="1600" dirty="0" err="1">
                <a:latin typeface="Consolas" panose="020B0609020204030204" pitchFamily="49" charset="0"/>
              </a:rPr>
              <a:t>en</a:t>
            </a:r>
            <a:r>
              <a:rPr lang="en-US" sz="1600" dirty="0">
                <a:latin typeface="Consolas" panose="020B0609020204030204" pitchFamily="49" charset="0"/>
              </a:rPr>
              <a:t>" </a:t>
            </a:r>
            <a:r>
              <a:rPr lang="en-US" sz="1600" dirty="0" err="1">
                <a:latin typeface="Consolas" panose="020B0609020204030204" pitchFamily="49" charset="0"/>
              </a:rPr>
              <a:t>xml:lang</a:t>
            </a:r>
            <a:r>
              <a:rPr lang="en-US" sz="1600" dirty="0">
                <a:latin typeface="Consolas" panose="020B0609020204030204" pitchFamily="49" charset="0"/>
              </a:rPr>
              <a:t>="</a:t>
            </a:r>
            <a:r>
              <a:rPr lang="en-US" sz="1600" dirty="0" err="1">
                <a:latin typeface="Consolas" panose="020B0609020204030204" pitchFamily="49" charset="0"/>
              </a:rPr>
              <a:t>en</a:t>
            </a:r>
            <a:r>
              <a:rPr lang="en-US" sz="1600" dirty="0">
                <a:latin typeface="Consolas" panose="020B0609020204030204" pitchFamily="49" charset="0"/>
              </a:rPr>
              <a:t>"&gt;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&lt;head&gt;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…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&lt;/html&gt;</a:t>
            </a:r>
            <a:endParaRPr lang="ru-RU" sz="1600" dirty="0">
              <a:latin typeface="Consolas" panose="020B0609020204030204" pitchFamily="49" charset="0"/>
            </a:endParaRPr>
          </a:p>
          <a:p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0</a:t>
            </a: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48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CCEB-EF39-72CC-D6E2-CCFCB48BF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Конкурентный запуск нескольких запросов в одном потоке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B4371-026B-8923-597E-2E3CCB2F96A2}"/>
              </a:ext>
            </a:extLst>
          </p:cNvPr>
          <p:cNvSpPr txBox="1"/>
          <p:nvPr/>
        </p:nvSpPr>
        <p:spPr>
          <a:xfrm>
            <a:off x="177800" y="1677988"/>
            <a:ext cx="7772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co_main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argc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[response1, response2] =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co_await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cobalt::</a:t>
            </a:r>
            <a:r>
              <a:rPr lang="en-US" b="0" dirty="0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gather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SendHTTPSRequest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www.boost.org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/index.html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SendHTTPSRequest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www.google.com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/index.html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Response 1 status: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“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response1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Response 2 status: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“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 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response2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std::exception&amp; e)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EXIT_FAILURE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co_return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EXIT_</a:t>
            </a:r>
            <a:r>
              <a:rPr lang="en-US" dirty="0">
                <a:solidFill>
                  <a:srgbClr val="8A1BFF"/>
                </a:solidFill>
                <a:latin typeface="Consolas" panose="020B0609020204030204" pitchFamily="49" charset="0"/>
              </a:rPr>
              <a:t>SUCCESS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4C36C-7A4F-3AD5-347C-513104CFAAA5}"/>
              </a:ext>
            </a:extLst>
          </p:cNvPr>
          <p:cNvSpPr txBox="1"/>
          <p:nvPr/>
        </p:nvSpPr>
        <p:spPr>
          <a:xfrm>
            <a:off x="8166100" y="1453506"/>
            <a:ext cx="3937000" cy="526297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Resolving host www.google.com address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Resolving host www.boost.org address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Host address resolved to 172.217.16.228:443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Connecting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Host address resolved to 146.20.110.251:443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Connecting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Connected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Handshaking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Connected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Handshaking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Handshake complete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Send request GET /index.html HTTP/1.1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Host: www.google.com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Request sent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Read response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Handshake complete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Send request GET /index.html HTTP/1.1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Host: www.boost.org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Request sent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Read response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Response received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Response received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Response 1 status: OK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Response 2 status: OK</a:t>
            </a:r>
          </a:p>
        </p:txBody>
      </p:sp>
    </p:spTree>
    <p:extLst>
      <p:ext uri="{BB962C8B-B14F-4D97-AF65-F5344CB8AC3E}">
        <p14:creationId xmlns:p14="http://schemas.microsoft.com/office/powerpoint/2010/main" val="122982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0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0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95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6B99DD-C693-0E58-5CC4-A8825334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с поддержкой </a:t>
            </a:r>
            <a:r>
              <a:rPr lang="ru-RU" dirty="0" err="1"/>
              <a:t>корутин</a:t>
            </a:r>
            <a:r>
              <a:rPr lang="ru-RU" dirty="0"/>
              <a:t> </a:t>
            </a:r>
            <a:r>
              <a:rPr lang="en-US" dirty="0"/>
              <a:t>C++ 20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AB7CF-E6D8-7D13-DBD7-D81D80D56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Boost.Cobalt</a:t>
            </a:r>
            <a:endParaRPr lang="en-US" dirty="0"/>
          </a:p>
          <a:p>
            <a:pPr lvl="1"/>
            <a:r>
              <a:rPr lang="ru-RU" dirty="0"/>
              <a:t>Однопоточная асинхронная библиотека, совместимая с </a:t>
            </a:r>
            <a:r>
              <a:rPr lang="en-US" dirty="0" err="1"/>
              <a:t>Boost.Asio</a:t>
            </a:r>
            <a:endParaRPr lang="en-US" dirty="0"/>
          </a:p>
          <a:p>
            <a:r>
              <a:rPr lang="en-US" dirty="0" err="1"/>
              <a:t>Boost.Asio</a:t>
            </a:r>
            <a:endParaRPr lang="en-US" dirty="0"/>
          </a:p>
          <a:p>
            <a:pPr lvl="1"/>
            <a:r>
              <a:rPr lang="ru-RU" dirty="0"/>
              <a:t>Библиотека для поддержки асинхронных операций</a:t>
            </a:r>
          </a:p>
          <a:p>
            <a:r>
              <a:rPr lang="en-US" dirty="0" err="1"/>
              <a:t>CppCoro</a:t>
            </a:r>
            <a:endParaRPr lang="en-US" dirty="0"/>
          </a:p>
          <a:p>
            <a:pPr lvl="1"/>
            <a:r>
              <a:rPr lang="ru-RU" dirty="0"/>
              <a:t>Легковесная библиотека с поддержкой многопоточности</a:t>
            </a:r>
          </a:p>
          <a:p>
            <a:pPr lvl="1"/>
            <a:r>
              <a:rPr lang="ru-RU" dirty="0"/>
              <a:t>Недостаток – поддерживается неактивно</a:t>
            </a:r>
          </a:p>
          <a:p>
            <a:r>
              <a:rPr lang="en-US" dirty="0" err="1"/>
              <a:t>Libunifex</a:t>
            </a:r>
            <a:endParaRPr lang="en-US" dirty="0"/>
          </a:p>
          <a:p>
            <a:pPr lvl="1"/>
            <a:r>
              <a:rPr lang="ru-RU" dirty="0"/>
              <a:t>Экспериментальная библиотека от </a:t>
            </a:r>
            <a:r>
              <a:rPr lang="en-US" dirty="0"/>
              <a:t>Meta*</a:t>
            </a:r>
          </a:p>
          <a:p>
            <a:r>
              <a:rPr lang="en-US" dirty="0"/>
              <a:t>Folly</a:t>
            </a:r>
          </a:p>
          <a:p>
            <a:pPr lvl="1"/>
            <a:r>
              <a:rPr lang="ru-RU" dirty="0"/>
              <a:t>Высокопроизводительная масштабируемая библиотека от </a:t>
            </a:r>
            <a:r>
              <a:rPr lang="en-US" dirty="0"/>
              <a:t>Meta</a:t>
            </a:r>
            <a:r>
              <a:rPr lang="ru-RU" dirty="0"/>
              <a:t>*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19ECF-4BE8-BA7E-4EA5-F441B87FD7C2}"/>
              </a:ext>
            </a:extLst>
          </p:cNvPr>
          <p:cNvSpPr txBox="1"/>
          <p:nvPr/>
        </p:nvSpPr>
        <p:spPr>
          <a:xfrm>
            <a:off x="203200" y="6331292"/>
            <a:ext cx="118237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* Компанию </a:t>
            </a:r>
            <a:r>
              <a:rPr lang="en-US" sz="1500" dirty="0"/>
              <a:t>Meta</a:t>
            </a:r>
            <a:r>
              <a:rPr lang="ru-RU" sz="1500" dirty="0"/>
              <a:t> в России признали экстремистской. Бла-бла-бла… Горите в аду те, из-за кого я должен писать здесь об этом.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1984570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948D01-6B15-605C-985C-0D92B298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606C7-DA27-8023-6E96-42853E2EF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/>
              </a:rPr>
              <a:t>Павел Новиков: «Учимся готовить </a:t>
            </a:r>
            <a:r>
              <a:rPr lang="ru-RU" dirty="0" err="1">
                <a:hlinkClick r:id="rId2"/>
              </a:rPr>
              <a:t>корутины</a:t>
            </a:r>
            <a:r>
              <a:rPr lang="ru-RU" dirty="0">
                <a:hlinkClick r:id="rId2"/>
              </a:rPr>
              <a:t> на практике, часть 1»</a:t>
            </a:r>
            <a:endParaRPr lang="ru-RU" dirty="0">
              <a:hlinkClick r:id="rId3"/>
            </a:endParaRPr>
          </a:p>
          <a:p>
            <a:r>
              <a:rPr lang="ru-RU" dirty="0">
                <a:hlinkClick r:id="rId3"/>
              </a:rPr>
              <a:t>Павел Новиков: «Учимся готовить </a:t>
            </a:r>
            <a:r>
              <a:rPr lang="ru-RU" dirty="0" err="1">
                <a:hlinkClick r:id="rId3"/>
              </a:rPr>
              <a:t>корутины</a:t>
            </a:r>
            <a:r>
              <a:rPr lang="ru-RU" dirty="0">
                <a:hlinkClick r:id="rId3"/>
              </a:rPr>
              <a:t> на практике, часть 2: генераторы»</a:t>
            </a:r>
            <a:endParaRPr lang="ru-RU" dirty="0"/>
          </a:p>
          <a:p>
            <a:r>
              <a:rPr lang="ru-RU" dirty="0">
                <a:hlinkClick r:id="rId4"/>
              </a:rPr>
              <a:t>Константин Владимиров: «Сопрограммы, часть 1</a:t>
            </a:r>
            <a:r>
              <a:rPr lang="ru-RU" dirty="0"/>
              <a:t>»</a:t>
            </a:r>
          </a:p>
          <a:p>
            <a:r>
              <a:rPr lang="ru-RU" dirty="0">
                <a:hlinkClick r:id="rId5"/>
              </a:rPr>
              <a:t>Константин Владимиров: «Сопрограммы, часть 2»</a:t>
            </a:r>
            <a:endParaRPr lang="en-US" dirty="0"/>
          </a:p>
          <a:p>
            <a:r>
              <a:rPr lang="ru-RU" dirty="0">
                <a:hlinkClick r:id="rId6"/>
              </a:rPr>
              <a:t>Константин Вуколов: «Как разрабатывать приложения с использованием </a:t>
            </a:r>
            <a:r>
              <a:rPr lang="en-US" dirty="0">
                <a:hlinkClick r:id="rId6"/>
              </a:rPr>
              <a:t>C++20 coroutines</a:t>
            </a:r>
            <a:r>
              <a:rPr lang="ru-RU" dirty="0">
                <a:hlinkClick r:id="rId6"/>
              </a:rPr>
              <a:t>»</a:t>
            </a:r>
            <a:endParaRPr lang="ru-RU" dirty="0"/>
          </a:p>
          <a:p>
            <a:r>
              <a:rPr lang="en-US" dirty="0" err="1">
                <a:hlinkClick r:id="rId7"/>
              </a:rPr>
              <a:t>Boost.Cobalt</a:t>
            </a:r>
            <a:r>
              <a:rPr lang="en-US" dirty="0">
                <a:hlinkClick r:id="rId7"/>
              </a:rPr>
              <a:t> documentation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472226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8A16-D3F9-CF1C-55F9-85E43B6F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20E6-49CD-914B-5655-ECC3ECF4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9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19106</TotalTime>
  <Words>25323</Words>
  <Application>Microsoft Office PowerPoint</Application>
  <PresentationFormat>Widescreen</PresentationFormat>
  <Paragraphs>3452</Paragraphs>
  <Slides>116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1" baseType="lpstr">
      <vt:lpstr>Aptos</vt:lpstr>
      <vt:lpstr>Aptos Display</vt:lpstr>
      <vt:lpstr>Arial</vt:lpstr>
      <vt:lpstr>Consolas</vt:lpstr>
      <vt:lpstr>Office Theme</vt:lpstr>
      <vt:lpstr>Сопрограммы (Coroutines)</vt:lpstr>
      <vt:lpstr>Зачем нужны корутины</vt:lpstr>
      <vt:lpstr>Корутины</vt:lpstr>
      <vt:lpstr>Отличие корутин от обычных функций</vt:lpstr>
      <vt:lpstr>Сравнение функций и корутин</vt:lpstr>
      <vt:lpstr>Функция, передающая результаты в callback</vt:lpstr>
      <vt:lpstr>Проблемы вложенных Callback-ов</vt:lpstr>
      <vt:lpstr>Корутина на основе std::generator (C++ 23)</vt:lpstr>
      <vt:lpstr>Логика загрузки пользователей с корутинами</vt:lpstr>
      <vt:lpstr>Где используются корутины</vt:lpstr>
      <vt:lpstr>Ключевые слова</vt:lpstr>
      <vt:lpstr>Ключевые слова корутин</vt:lpstr>
      <vt:lpstr>co_yield — возвращаем значение и приостанавливаемся</vt:lpstr>
      <vt:lpstr>co_return — завершение корутины</vt:lpstr>
      <vt:lpstr>co_await — приостановиться и дождаться</vt:lpstr>
      <vt:lpstr>Сравнение co-операторов</vt:lpstr>
      <vt:lpstr>Создаём простейшую корутину</vt:lpstr>
      <vt:lpstr>Что скрыто за корутиной?</vt:lpstr>
      <vt:lpstr>Заготовка приостанавливаемой функции</vt:lpstr>
      <vt:lpstr>Что такое promise_type и откуда он берётся</vt:lpstr>
      <vt:lpstr>Coroutine Traits — как найти promise_type</vt:lpstr>
      <vt:lpstr>Объявляем promise_type внутри ReturnObject</vt:lpstr>
      <vt:lpstr>Запускаем корутину и возвращаемся</vt:lpstr>
      <vt:lpstr>Приостанавливаем корутину при входе в неё</vt:lpstr>
      <vt:lpstr>Как управлять приостановленной корутиной?</vt:lpstr>
      <vt:lpstr>coroutine_handle</vt:lpstr>
      <vt:lpstr>coroutine_handle – управление корутиной</vt:lpstr>
      <vt:lpstr>Сохраняем promise-объект внутрь ReturnObject</vt:lpstr>
      <vt:lpstr>PowerPoint Presentation</vt:lpstr>
      <vt:lpstr>Внутреннее устройство корутины</vt:lpstr>
      <vt:lpstr>Что хранится в корутине</vt:lpstr>
      <vt:lpstr>Жизненный цикл корутины</vt:lpstr>
      <vt:lpstr>PowerPoint Presentation</vt:lpstr>
      <vt:lpstr>Использование Task</vt:lpstr>
      <vt:lpstr>PowerPoint Presentation</vt:lpstr>
      <vt:lpstr>Анатомия корутины</vt:lpstr>
      <vt:lpstr>Простейший генератор</vt:lpstr>
      <vt:lpstr>Генератор — корутина, возвращающая последовательность</vt:lpstr>
      <vt:lpstr>Как работает co_yield</vt:lpstr>
      <vt:lpstr>PowerPoint Presentation</vt:lpstr>
      <vt:lpstr>PowerPoint Presentation</vt:lpstr>
      <vt:lpstr>Генератор в действии</vt:lpstr>
      <vt:lpstr>Проблема с исключениями</vt:lpstr>
      <vt:lpstr>Храним исключение в promise</vt:lpstr>
      <vt:lpstr>Изменяем интерфейс генератора</vt:lpstr>
      <vt:lpstr>Итог: обработка исключений</vt:lpstr>
      <vt:lpstr>Генератор: промежуточные итоги</vt:lpstr>
      <vt:lpstr>Добавляем поддержку range-based for</vt:lpstr>
      <vt:lpstr>Дорабатываем Promise</vt:lpstr>
      <vt:lpstr>Итератор – каркас</vt:lpstr>
      <vt:lpstr>Копирование и присваивание итератора</vt:lpstr>
      <vt:lpstr>Доступ к значению итератора и сравнение</vt:lpstr>
      <vt:lpstr>Инкремент и инициализация итератора</vt:lpstr>
      <vt:lpstr>Добавляем begin и end</vt:lpstr>
      <vt:lpstr>Итерируемся по значениям генератора</vt:lpstr>
      <vt:lpstr>Что дальше? co_await и awaitable</vt:lpstr>
      <vt:lpstr>Объекты ожидания (Awaitables)</vt:lpstr>
      <vt:lpstr>Awaitable vs Awaiter</vt:lpstr>
      <vt:lpstr>Как работает co_await</vt:lpstr>
      <vt:lpstr>Простой Awaiter</vt:lpstr>
      <vt:lpstr>Проверяем работу awaitable</vt:lpstr>
      <vt:lpstr>Если await_ready возвращает true, сразу вызывается await_resume</vt:lpstr>
      <vt:lpstr>Управляем приостановленной корутиной</vt:lpstr>
      <vt:lpstr>PowerPoint Presentation</vt:lpstr>
      <vt:lpstr>std::suspend_always и std::suspend_never</vt:lpstr>
      <vt:lpstr>Продолжение корутин (Continuation)</vt:lpstr>
      <vt:lpstr>Класс Task</vt:lpstr>
      <vt:lpstr>PowerPoint Presentation</vt:lpstr>
      <vt:lpstr>PowerPoint Presentation</vt:lpstr>
      <vt:lpstr>Ограничения текущего подхода</vt:lpstr>
      <vt:lpstr>Асинхронная задача</vt:lpstr>
      <vt:lpstr>Асинхронная задача (общая идея)</vt:lpstr>
      <vt:lpstr>Task</vt:lpstr>
      <vt:lpstr>Promise</vt:lpstr>
      <vt:lpstr>PowerPoint Presentation</vt:lpstr>
      <vt:lpstr>PowerPoint Presentation</vt:lpstr>
      <vt:lpstr>PowerPoint Presentation</vt:lpstr>
      <vt:lpstr>Ожидание вложенных задач</vt:lpstr>
      <vt:lpstr>Проблема – как получить результат Task в main?</vt:lpstr>
      <vt:lpstr>Sync Wait</vt:lpstr>
      <vt:lpstr>SyncWaitTask</vt:lpstr>
      <vt:lpstr>PowerPoint Presentation</vt:lpstr>
      <vt:lpstr>SyncWaitTaskPromise - продолжение</vt:lpstr>
      <vt:lpstr>PowerPoint Presentation</vt:lpstr>
      <vt:lpstr>PowerPoint Presentation</vt:lpstr>
      <vt:lpstr>awaitable_traits — что это такое</vt:lpstr>
      <vt:lpstr>Прикладное применение корутин на примере boost.cobalt</vt:lpstr>
      <vt:lpstr>Boost.Cobalt</vt:lpstr>
      <vt:lpstr>Ограничения Boost.Cobalt</vt:lpstr>
      <vt:lpstr>Сборка и подключение библиотеки</vt:lpstr>
      <vt:lpstr>Пример CMakeLists.txt</vt:lpstr>
      <vt:lpstr>Hello world</vt:lpstr>
      <vt:lpstr>Синхронное ожидание в Boost.Asio</vt:lpstr>
      <vt:lpstr>Асинхронное ожидание в Boost.Asio</vt:lpstr>
      <vt:lpstr>Асинхронное ожидание с Boost.Asio и Boost.Cobalt</vt:lpstr>
      <vt:lpstr>task изначально приостановлен</vt:lpstr>
      <vt:lpstr>Как реализовано получение executor-а текущей корутины</vt:lpstr>
      <vt:lpstr>Корутина co_main</vt:lpstr>
      <vt:lpstr>Пример функции co_main</vt:lpstr>
      <vt:lpstr>cobalt::promise</vt:lpstr>
      <vt:lpstr>Готовим компоненты гамбургеры с promise</vt:lpstr>
      <vt:lpstr>Готовим гамбургер</vt:lpstr>
      <vt:lpstr>cobalt::task</vt:lpstr>
      <vt:lpstr>Пример работы task</vt:lpstr>
      <vt:lpstr>Готовим компоненты гамбургера с task</vt:lpstr>
      <vt:lpstr>Готовим гамбургер</vt:lpstr>
      <vt:lpstr>Простой асинхронный HTTPS-клиент</vt:lpstr>
      <vt:lpstr>Используемые библиотеки</vt:lpstr>
      <vt:lpstr>Каркас приложения</vt:lpstr>
      <vt:lpstr>PowerPoint Presentation</vt:lpstr>
      <vt:lpstr>PowerPoint Presentation</vt:lpstr>
      <vt:lpstr>PowerPoint Presentation</vt:lpstr>
      <vt:lpstr>Конкурентный запуск нескольких запросов в одном потоке</vt:lpstr>
      <vt:lpstr>Библиотеки с поддержкой корутин C++ 20</vt:lpstr>
      <vt:lpstr>Ссылки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338</cp:revision>
  <dcterms:created xsi:type="dcterms:W3CDTF">2025-02-03T14:52:05Z</dcterms:created>
  <dcterms:modified xsi:type="dcterms:W3CDTF">2026-04-29T18:24:41Z</dcterms:modified>
</cp:coreProperties>
</file>