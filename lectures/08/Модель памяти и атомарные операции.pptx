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96" r:id="rId3"/>
    <p:sldId id="297" r:id="rId4"/>
    <p:sldId id="298" r:id="rId5"/>
    <p:sldId id="299" r:id="rId6"/>
    <p:sldId id="300" r:id="rId7"/>
    <p:sldId id="257" r:id="rId8"/>
    <p:sldId id="302" r:id="rId9"/>
    <p:sldId id="303" r:id="rId10"/>
    <p:sldId id="301" r:id="rId11"/>
    <p:sldId id="304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06" r:id="rId30"/>
    <p:sldId id="307" r:id="rId31"/>
    <p:sldId id="308" r:id="rId32"/>
    <p:sldId id="32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66968" autoAdjust="0"/>
  </p:normalViewPr>
  <p:slideViewPr>
    <p:cSldViewPr snapToGrid="0" showGuides="1">
      <p:cViewPr varScale="1">
        <p:scale>
          <a:sx n="62" d="100"/>
          <a:sy n="62" d="100"/>
        </p:scale>
        <p:origin x="2388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6B638A-52FF-4912-BE28-5016985E3B3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C0D0F-0804-43AA-9EFD-A917F9F9F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33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начнём с простой задачи — ленивой инициализации.</a:t>
            </a:r>
          </a:p>
          <a:p>
            <a:r>
              <a:rPr lang="ru-RU" dirty="0"/>
              <a:t>У нас есть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Widget</a:t>
            </a:r>
            <a:r>
              <a:rPr lang="ru-RU" dirty="0"/>
              <a:t>, внутри которого есть указатель 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Мы не хотим создавать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dirty="0"/>
              <a:t> сразу — только когда он действительно нужен.</a:t>
            </a:r>
          </a:p>
          <a:p>
            <a:r>
              <a:rPr lang="ru-RU" dirty="0"/>
              <a:t>Смотрим на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:</a:t>
            </a:r>
          </a:p>
          <a:p>
            <a:r>
              <a:rPr lang="ru-RU" dirty="0"/>
              <a:t>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m_data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nullptr</a:t>
            </a:r>
            <a:r>
              <a:rPr lang="ru-RU" dirty="0"/>
              <a:t> — создаём объект</a:t>
            </a:r>
          </a:p>
          <a:p>
            <a:r>
              <a:rPr lang="ru-RU" dirty="0"/>
              <a:t>иначе просто используем</a:t>
            </a:r>
          </a:p>
          <a:p>
            <a:r>
              <a:rPr lang="ru-RU" dirty="0"/>
              <a:t>В однопоточном коде это работает идеально:</a:t>
            </a:r>
          </a:p>
          <a:p>
            <a:r>
              <a:rPr lang="ru-RU" dirty="0"/>
              <a:t>объект создаётся один раз</a:t>
            </a:r>
          </a:p>
          <a:p>
            <a:r>
              <a:rPr lang="ru-RU" dirty="0"/>
              <a:t>дальше просто используется</a:t>
            </a:r>
          </a:p>
          <a:p>
            <a:r>
              <a:rPr lang="ru-RU" dirty="0"/>
              <a:t>👉 Это классический паттерн </a:t>
            </a:r>
            <a:r>
              <a:rPr lang="ru-RU" dirty="0" err="1"/>
              <a:t>lazy</a:t>
            </a:r>
            <a:r>
              <a:rPr lang="ru-RU" dirty="0"/>
              <a:t> </a:t>
            </a:r>
            <a:r>
              <a:rPr lang="ru-RU" dirty="0" err="1"/>
              <a:t>initialization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91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добавим многопоточность.</a:t>
            </a:r>
          </a:p>
          <a:p>
            <a:r>
              <a:rPr lang="ru-RU" dirty="0"/>
              <a:t>Если несколько потоков одновременно вызовут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возможны проблемы:</a:t>
            </a:r>
          </a:p>
          <a:p>
            <a:r>
              <a:rPr lang="ru-RU" dirty="0"/>
              <a:t>несколько потоков могут одновременно увидеть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m_data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nullptr</a:t>
            </a:r>
            <a:endParaRPr lang="ru-RU" dirty="0"/>
          </a:p>
          <a:p>
            <a:r>
              <a:rPr lang="ru-RU" dirty="0"/>
              <a:t>и создать несколько объектов</a:t>
            </a:r>
          </a:p>
          <a:p>
            <a:r>
              <a:rPr lang="ru-RU" dirty="0"/>
              <a:t>Чтобы это исправить, добавляем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</a:t>
            </a:r>
            <a:r>
              <a:rPr lang="ru-RU" dirty="0"/>
              <a:t>.</a:t>
            </a:r>
          </a:p>
          <a:p>
            <a:r>
              <a:rPr lang="ru-RU" dirty="0"/>
              <a:t>Теперь:</a:t>
            </a:r>
          </a:p>
          <a:p>
            <a:r>
              <a:rPr lang="ru-RU" dirty="0"/>
              <a:t>только один поток может зайти в критическую секцию</a:t>
            </a:r>
          </a:p>
          <a:p>
            <a:r>
              <a:rPr lang="ru-RU" dirty="0"/>
              <a:t>объект создаётся ровно один раз</a:t>
            </a:r>
          </a:p>
          <a:p>
            <a:r>
              <a:rPr lang="ru-RU" dirty="0"/>
              <a:t>👉 Всё корректно. Это стандартный способ.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029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 теперь давайте посмотрим на производительность.</a:t>
            </a:r>
          </a:p>
          <a:p>
            <a:r>
              <a:rPr lang="ru-RU" dirty="0"/>
              <a:t>Мы сравниваем: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однопоточный вариант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многопоточный с мьютексом</a:t>
            </a:r>
          </a:p>
          <a:p>
            <a:r>
              <a:rPr lang="ru-RU" dirty="0"/>
              <a:t>Результат:</a:t>
            </a:r>
          </a:p>
          <a:p>
            <a:r>
              <a:rPr lang="ru-RU" dirty="0"/>
              <a:t>0.02 секунды </a:t>
            </a:r>
            <a:r>
              <a:rPr lang="ru-RU" dirty="0" err="1"/>
              <a:t>vs</a:t>
            </a:r>
            <a:r>
              <a:rPr lang="ru-RU" dirty="0"/>
              <a:t> 5.3 секунды</a:t>
            </a:r>
          </a:p>
          <a:p>
            <a:r>
              <a:rPr lang="ru-RU" dirty="0"/>
              <a:t>разница — </a:t>
            </a:r>
            <a:r>
              <a:rPr lang="ru-RU" b="1" dirty="0"/>
              <a:t>265 раз</a:t>
            </a:r>
            <a:endParaRPr lang="ru-RU" dirty="0"/>
          </a:p>
          <a:p>
            <a:r>
              <a:rPr lang="ru-RU" dirty="0"/>
              <a:t>👉 Это очень важный момент.</a:t>
            </a:r>
          </a:p>
          <a:p>
            <a:r>
              <a:rPr lang="ru-RU" dirty="0"/>
              <a:t>Мы сделали код </a:t>
            </a:r>
            <a:r>
              <a:rPr lang="ru-RU" b="1" dirty="0"/>
              <a:t>правильным</a:t>
            </a:r>
            <a:r>
              <a:rPr lang="ru-RU" dirty="0"/>
              <a:t>, но:</a:t>
            </a:r>
            <a:r>
              <a:rPr lang="en-US" dirty="0"/>
              <a:t> </a:t>
            </a:r>
            <a:r>
              <a:rPr lang="ru-RU" dirty="0"/>
              <a:t>цена синхронизации оказалась огромной</a:t>
            </a:r>
          </a:p>
          <a:p>
            <a:r>
              <a:rPr lang="ru-RU" dirty="0"/>
              <a:t>Причина:</a:t>
            </a:r>
          </a:p>
          <a:p>
            <a:r>
              <a:rPr lang="ru-RU" dirty="0"/>
              <a:t>каждый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берёт </a:t>
            </a:r>
            <a:r>
              <a:rPr lang="ru-RU" dirty="0" err="1"/>
              <a:t>mutex</a:t>
            </a:r>
            <a:endParaRPr lang="ru-RU" dirty="0"/>
          </a:p>
          <a:p>
            <a:r>
              <a:rPr lang="ru-RU" dirty="0"/>
              <a:t>даже когда объект уже давно инициализирован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99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Попробуем оптимизировать.</a:t>
            </a:r>
          </a:p>
          <a:p>
            <a:r>
              <a:rPr lang="ru-RU" dirty="0"/>
              <a:t>Идея:</a:t>
            </a:r>
          </a:p>
          <a:p>
            <a:r>
              <a:rPr lang="ru-RU" dirty="0"/>
              <a:t>не брать </a:t>
            </a:r>
            <a:r>
              <a:rPr lang="ru-RU" dirty="0" err="1"/>
              <a:t>mutex</a:t>
            </a:r>
            <a:r>
              <a:rPr lang="ru-RU" dirty="0"/>
              <a:t> каждый раз</a:t>
            </a:r>
            <a:r>
              <a:rPr lang="en-US" dirty="0"/>
              <a:t>, </a:t>
            </a:r>
            <a:r>
              <a:rPr lang="ru-RU" dirty="0"/>
              <a:t>а сначала проверить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m_data</a:t>
            </a:r>
            <a:r>
              <a:rPr lang="ru-RU" dirty="0"/>
              <a:t> без блокировки</a:t>
            </a:r>
            <a:r>
              <a:rPr lang="en-US" dirty="0"/>
              <a:t> </a:t>
            </a:r>
            <a:r>
              <a:rPr lang="ru-RU" dirty="0"/>
              <a:t>и только если он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nullptr</a:t>
            </a:r>
            <a:r>
              <a:rPr lang="ru-RU" dirty="0"/>
              <a:t> — брать </a:t>
            </a:r>
            <a:r>
              <a:rPr lang="ru-RU" dirty="0" err="1"/>
              <a:t>lock</a:t>
            </a:r>
            <a:endParaRPr lang="ru-RU" dirty="0"/>
          </a:p>
          <a:p>
            <a:r>
              <a:rPr lang="ru-RU" dirty="0"/>
              <a:t>Получается </a:t>
            </a:r>
            <a:r>
              <a:rPr lang="ru-RU" dirty="0" err="1"/>
              <a:t>double-checked</a:t>
            </a:r>
            <a:r>
              <a:rPr lang="ru-RU" dirty="0"/>
              <a:t> </a:t>
            </a:r>
            <a:r>
              <a:rPr lang="ru-RU" dirty="0" err="1"/>
              <a:t>locking</a:t>
            </a:r>
            <a:r>
              <a:rPr lang="ru-RU" dirty="0"/>
              <a:t>:</a:t>
            </a:r>
          </a:p>
          <a:p>
            <a:r>
              <a:rPr lang="ru-RU" dirty="0"/>
              <a:t>Что мы здесь сделали:</a:t>
            </a:r>
          </a:p>
          <a:p>
            <a:r>
              <a:rPr lang="ru-RU" dirty="0"/>
              <a:t>быстрый путь: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m_data</a:t>
            </a:r>
            <a:r>
              <a:rPr lang="ru-RU" dirty="0"/>
              <a:t> уже есть → без </a:t>
            </a:r>
            <a:r>
              <a:rPr lang="ru-RU" dirty="0" err="1"/>
              <a:t>mutex</a:t>
            </a:r>
            <a:endParaRPr lang="ru-RU" dirty="0"/>
          </a:p>
          <a:p>
            <a:r>
              <a:rPr lang="ru-RU" dirty="0"/>
              <a:t>медленный путь: только при инициализации → с </a:t>
            </a:r>
            <a:r>
              <a:rPr lang="ru-RU" dirty="0" err="1"/>
              <a:t>mutex</a:t>
            </a:r>
            <a:endParaRPr lang="ru-RU" dirty="0"/>
          </a:p>
          <a:p>
            <a:r>
              <a:rPr lang="ru-RU" dirty="0"/>
              <a:t>И производительность снова отличная.</a:t>
            </a:r>
          </a:p>
          <a:p>
            <a:endParaRPr lang="ru-RU" dirty="0"/>
          </a:p>
          <a:p>
            <a:r>
              <a:rPr lang="ru-RU" dirty="0"/>
              <a:t>Но здесь есть очень важный момент.</a:t>
            </a:r>
          </a:p>
          <a:p>
            <a:r>
              <a:rPr lang="ru-RU" dirty="0"/>
              <a:t>На первый взгляд всё выглядит правильно.</a:t>
            </a:r>
          </a:p>
          <a:p>
            <a:r>
              <a:rPr lang="ru-RU" dirty="0"/>
              <a:t>Но на самом деле:</a:t>
            </a:r>
          </a:p>
          <a:p>
            <a:r>
              <a:rPr lang="ru-RU" dirty="0"/>
              <a:t>❗ </a:t>
            </a:r>
            <a:r>
              <a:rPr lang="ru-RU" b="1" dirty="0"/>
              <a:t>этот код содержит </a:t>
            </a:r>
            <a:r>
              <a:rPr lang="ru-RU" b="1" dirty="0" err="1"/>
              <a:t>undefined</a:t>
            </a:r>
            <a:r>
              <a:rPr lang="ru-RU" b="1" dirty="0"/>
              <a:t> </a:t>
            </a:r>
            <a:r>
              <a:rPr lang="ru-RU" b="1" dirty="0" err="1"/>
              <a:t>behavior</a:t>
            </a:r>
            <a:endParaRPr lang="ru-RU" dirty="0"/>
          </a:p>
          <a:p>
            <a:r>
              <a:rPr lang="ru-RU" dirty="0"/>
              <a:t>Почему?</a:t>
            </a:r>
          </a:p>
          <a:p>
            <a:r>
              <a:rPr lang="ru-RU" dirty="0"/>
              <a:t>👉 Потому что:</a:t>
            </a:r>
          </a:p>
          <a:p>
            <a:r>
              <a:rPr lang="ru-RU" dirty="0"/>
              <a:t>мы читаем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m_data</a:t>
            </a:r>
            <a:r>
              <a:rPr lang="ru-RU" dirty="0"/>
              <a:t> </a:t>
            </a:r>
            <a:r>
              <a:rPr lang="ru-RU" b="1" dirty="0"/>
              <a:t>вне синхронизации </a:t>
            </a:r>
            <a:r>
              <a:rPr lang="ru-RU" dirty="0"/>
              <a:t>и записываем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m_data</a:t>
            </a:r>
            <a:r>
              <a:rPr lang="ru-RU" dirty="0"/>
              <a:t> </a:t>
            </a:r>
            <a:r>
              <a:rPr lang="ru-RU" b="1" dirty="0"/>
              <a:t>под мьютексом</a:t>
            </a:r>
            <a:endParaRPr lang="ru-RU" dirty="0"/>
          </a:p>
          <a:p>
            <a:r>
              <a:rPr lang="ru-RU" dirty="0"/>
              <a:t>То есть:</a:t>
            </a:r>
          </a:p>
          <a:p>
            <a:r>
              <a:rPr lang="ru-RU" dirty="0"/>
              <a:t>чтение и запись одной и той же переменной происходят без общего механизма синхронизации</a:t>
            </a:r>
          </a:p>
          <a:p>
            <a:r>
              <a:rPr lang="ru-RU" dirty="0"/>
              <a:t>А это в C++ означает </a:t>
            </a:r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b="1" dirty="0" err="1"/>
              <a:t>race</a:t>
            </a:r>
            <a:r>
              <a:rPr lang="ru-RU" b="1" dirty="0"/>
              <a:t> → </a:t>
            </a:r>
            <a:r>
              <a:rPr lang="ru-RU" b="1" dirty="0" err="1"/>
              <a:t>undefined</a:t>
            </a:r>
            <a:r>
              <a:rPr lang="ru-RU" b="1" dirty="0"/>
              <a:t> </a:t>
            </a:r>
            <a:r>
              <a:rPr lang="ru-RU" b="1" dirty="0" err="1"/>
              <a:t>behavior</a:t>
            </a:r>
            <a:br>
              <a:rPr lang="ru-RU" b="1" dirty="0"/>
            </a:br>
            <a:br>
              <a:rPr lang="ru-RU" b="1" dirty="0"/>
            </a:br>
            <a:r>
              <a:rPr lang="ru-RU" dirty="0"/>
              <a:t>Это означает, что:</a:t>
            </a:r>
          </a:p>
          <a:p>
            <a:r>
              <a:rPr lang="ru-RU" dirty="0"/>
              <a:t>один поток может увидеть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m_data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!=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nullptr</a:t>
            </a:r>
            <a:endParaRPr lang="ru-RU" dirty="0"/>
          </a:p>
          <a:p>
            <a:r>
              <a:rPr lang="ru-RU" dirty="0"/>
              <a:t>но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dirty="0"/>
              <a:t> ещё не полностью сконструирован</a:t>
            </a:r>
          </a:p>
          <a:p>
            <a:r>
              <a:rPr lang="ru-RU" dirty="0"/>
              <a:t>Или:</a:t>
            </a:r>
          </a:p>
          <a:p>
            <a:r>
              <a:rPr lang="ru-RU" dirty="0"/>
              <a:t>операции могут быть переупорядочены</a:t>
            </a:r>
          </a:p>
          <a:p>
            <a:r>
              <a:rPr lang="ru-RU" dirty="0"/>
              <a:t>и поведение программы становится непредсказуемым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58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76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увидели, что </a:t>
            </a:r>
            <a:r>
              <a:rPr lang="ru-RU" dirty="0" err="1"/>
              <a:t>double-checked</a:t>
            </a:r>
            <a:r>
              <a:rPr lang="ru-RU" dirty="0"/>
              <a:t> </a:t>
            </a:r>
            <a:r>
              <a:rPr lang="ru-RU" dirty="0" err="1"/>
              <a:t>locking</a:t>
            </a:r>
            <a:r>
              <a:rPr lang="ru-RU" dirty="0"/>
              <a:t> выглядит привлекательно, но на самом деле приводит к </a:t>
            </a:r>
            <a:r>
              <a:rPr lang="ru-RU" dirty="0" err="1"/>
              <a:t>undefined</a:t>
            </a:r>
            <a:r>
              <a:rPr lang="ru-RU" dirty="0"/>
              <a:t> </a:t>
            </a:r>
            <a:r>
              <a:rPr lang="ru-RU" dirty="0" err="1"/>
              <a:t>behavior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давайте посмотрим на стандартный инструмент, который решает эту задачу правильно.</a:t>
            </a:r>
          </a:p>
          <a:p>
            <a:r>
              <a:rPr lang="ru-RU" dirty="0"/>
              <a:t>В C++ есть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call_once</a:t>
            </a:r>
            <a:r>
              <a:rPr lang="ru-RU" dirty="0"/>
              <a:t>, которая предназначена ровно для такой ситуации — однократной инициализации в многопоточном окружении.</a:t>
            </a:r>
          </a:p>
          <a:p>
            <a:endParaRPr lang="ru-RU" dirty="0"/>
          </a:p>
          <a:p>
            <a:r>
              <a:rPr lang="ru-RU" dirty="0"/>
              <a:t>Она принимает специальный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once_flag</a:t>
            </a:r>
            <a:r>
              <a:rPr lang="ru-RU" dirty="0"/>
              <a:t> и функцию, которую нужно выполнить.</a:t>
            </a:r>
          </a:p>
          <a:p>
            <a:r>
              <a:rPr lang="ru-RU" dirty="0"/>
              <a:t>Ключевая идея очень простая: независимо от того, сколько потоков одновременно вызовут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call_once</a:t>
            </a:r>
            <a:r>
              <a:rPr lang="ru-RU" dirty="0"/>
              <a:t>, функция будет выполнена ровно один раз.</a:t>
            </a:r>
          </a:p>
          <a:p>
            <a:endParaRPr lang="ru-RU" dirty="0"/>
          </a:p>
          <a:p>
            <a:r>
              <a:rPr lang="ru-RU" dirty="0"/>
              <a:t>Первый поток выполняет функцию. Это так называемый активный вызов. Все остальные потоки либо ждут завершения, либо сразу возвращаются, если инициализация уже произошла.</a:t>
            </a:r>
          </a:p>
          <a:p>
            <a:endParaRPr lang="ru-RU" dirty="0"/>
          </a:p>
          <a:p>
            <a:r>
              <a:rPr lang="ru-RU" dirty="0"/>
              <a:t>Важно, что если внутри функции произойдёт исключение, то инициализация считается не завершённой, и следующий поток попробует выполнить её снова.</a:t>
            </a:r>
          </a:p>
          <a:p>
            <a:endParaRPr lang="ru-RU" dirty="0"/>
          </a:p>
          <a:p>
            <a:r>
              <a:rPr lang="ru-RU" dirty="0"/>
              <a:t>Если же функция завершилась успешно, все остальные вызовы становятся пассивными и просто пропускают выполнение.</a:t>
            </a:r>
          </a:p>
          <a:p>
            <a:endParaRPr lang="ru-RU" dirty="0"/>
          </a:p>
          <a:p>
            <a:r>
              <a:rPr lang="ru-RU" dirty="0"/>
              <a:t>Самое главное здесь — не сам факт "один раз", а гарантии памяти.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call_once</a:t>
            </a:r>
            <a:r>
              <a:rPr lang="ru-RU" dirty="0"/>
              <a:t> обеспечивает правильную синхронизацию между потоками. Это означает, что все потоки увидят полностью и корректно инициализированное состояние объекта.</a:t>
            </a:r>
          </a:p>
          <a:p>
            <a:endParaRPr lang="ru-RU" dirty="0"/>
          </a:p>
          <a:p>
            <a:r>
              <a:rPr lang="ru-RU" dirty="0"/>
              <a:t>То есть это безопасная альтернатива тому, что мы пытались сделать с помощью </a:t>
            </a:r>
            <a:r>
              <a:rPr lang="ru-RU" dirty="0" err="1"/>
              <a:t>double-checked</a:t>
            </a:r>
            <a:r>
              <a:rPr lang="ru-RU" dirty="0"/>
              <a:t> </a:t>
            </a:r>
            <a:r>
              <a:rPr lang="ru-RU" dirty="0" err="1"/>
              <a:t>locking</a:t>
            </a:r>
            <a:r>
              <a:rPr lang="ru-RU" dirty="0"/>
              <a:t>, но без </a:t>
            </a:r>
            <a:r>
              <a:rPr lang="ru-RU" dirty="0" err="1"/>
              <a:t>undefined</a:t>
            </a:r>
            <a:r>
              <a:rPr lang="ru-RU" dirty="0"/>
              <a:t> </a:t>
            </a:r>
            <a:r>
              <a:rPr lang="ru-RU" dirty="0" err="1"/>
              <a:t>behavior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C0D0F-0804-43AA-9EFD-A917F9F9F0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267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простой пример использования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call_once</a:t>
            </a:r>
            <a:r>
              <a:rPr lang="ru-RU" dirty="0"/>
              <a:t>.</a:t>
            </a:r>
          </a:p>
          <a:p>
            <a:r>
              <a:rPr lang="ru-RU" dirty="0"/>
              <a:t>У нас есть общий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once_flag</a:t>
            </a:r>
            <a:r>
              <a:rPr lang="ru-RU" dirty="0"/>
              <a:t>, который передаётся во все потоки. Каждый поток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call_once</a:t>
            </a:r>
            <a:r>
              <a:rPr lang="ru-RU" dirty="0"/>
              <a:t> со своей функцией.</a:t>
            </a:r>
          </a:p>
          <a:p>
            <a:endParaRPr lang="ru-RU" dirty="0"/>
          </a:p>
          <a:p>
            <a:r>
              <a:rPr lang="ru-RU" dirty="0"/>
              <a:t>Несмотря на то, что функции разные, выполнена будет ровно одна из них. Какая именно — не определено и зависит от того, какой поток окажется первым.</a:t>
            </a:r>
          </a:p>
          <a:p>
            <a:r>
              <a:rPr lang="ru-RU" dirty="0"/>
              <a:t>Все остальные потоки просто пропустят выполнение.</a:t>
            </a:r>
          </a:p>
          <a:p>
            <a:endParaRPr lang="ru-RU" dirty="0"/>
          </a:p>
          <a:p>
            <a:r>
              <a:rPr lang="ru-RU" dirty="0"/>
              <a:t>Важно, что это гарантируется даже при одновременном старте потоков и не требует ручной синхронизации.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63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применим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call_once</a:t>
            </a:r>
            <a:r>
              <a:rPr lang="ru-RU" dirty="0"/>
              <a:t> к нашей задаче ленивой инициализации.</a:t>
            </a:r>
          </a:p>
          <a:p>
            <a:endParaRPr lang="ru-RU" dirty="0"/>
          </a:p>
          <a:p>
            <a:r>
              <a:rPr lang="ru-RU" dirty="0"/>
              <a:t>Вместо ручной проверки и мьютексов мы просто оборачиваем создание объекта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call_once</a:t>
            </a:r>
            <a:r>
              <a:rPr lang="ru-RU" dirty="0"/>
              <a:t>. Это гарантирует, что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dirty="0"/>
              <a:t> будет создан ровно один раз, независимо от количества потоков.</a:t>
            </a:r>
          </a:p>
          <a:p>
            <a:endParaRPr lang="ru-RU" dirty="0"/>
          </a:p>
          <a:p>
            <a:r>
              <a:rPr lang="ru-RU" dirty="0"/>
              <a:t>Код становится проще и при этом полностью корректен с точки зрения многопоточности.</a:t>
            </a:r>
          </a:p>
          <a:p>
            <a:endParaRPr lang="ru-RU" dirty="0"/>
          </a:p>
          <a:p>
            <a:r>
              <a:rPr lang="ru-RU" dirty="0"/>
              <a:t>Посмотрим на производительность. Этот вариант заметно медленнее однопоточного, но при этом он безопасный и не содержит </a:t>
            </a:r>
            <a:r>
              <a:rPr lang="ru-RU" dirty="0" err="1"/>
              <a:t>undefined</a:t>
            </a:r>
            <a:r>
              <a:rPr lang="ru-RU" dirty="0"/>
              <a:t> </a:t>
            </a:r>
            <a:r>
              <a:rPr lang="ru-RU" dirty="0" err="1"/>
              <a:t>behavior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хороший базовый вариант, но он всё ещё может быть слишком дорогим, 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вызывается очень часто.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01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стандарта C++11 в языке вообще не было формальной модели памяти для многопоточности.</a:t>
            </a:r>
          </a:p>
          <a:p>
            <a:r>
              <a:rPr lang="ru-RU" dirty="0"/>
              <a:t>Компилятор мог делать любые оптимизации, предполагая, что программа однопоточная.</a:t>
            </a:r>
          </a:p>
          <a:p>
            <a:r>
              <a:rPr lang="ru-RU" dirty="0"/>
              <a:t>Это означало, что поведение многопоточного кода фактически не определялось стандартом и зависело от конкретного компилятора и платформы.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Поэтому разработчикам приходилось использовать платформенные механизмы и надеяться, что всё будет работать правильно.</a:t>
            </a:r>
          </a:p>
          <a:p>
            <a:r>
              <a:rPr lang="ru-RU" dirty="0"/>
              <a:t>С ростом многоядерных систем этого стало недостаточно.</a:t>
            </a:r>
          </a:p>
          <a:p>
            <a:endParaRPr lang="ru-RU" dirty="0"/>
          </a:p>
          <a:p>
            <a:r>
              <a:rPr lang="ru-RU" dirty="0"/>
              <a:t>В C++11 появилась модель памяти, которая формально описывает, как потоки взаимодействуют через память.</a:t>
            </a:r>
          </a:p>
          <a:p>
            <a:r>
              <a:rPr lang="ru-RU" dirty="0"/>
              <a:t>Она вводит ключевые понятия, такие как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race</a:t>
            </a:r>
            <a:r>
              <a:rPr lang="ru-RU" dirty="0"/>
              <a:t>, </a:t>
            </a:r>
            <a:r>
              <a:rPr lang="ru-RU" dirty="0" err="1"/>
              <a:t>happens-before</a:t>
            </a:r>
            <a:r>
              <a:rPr lang="ru-RU" dirty="0"/>
              <a:t> и синхронизация, а также предоставляет атомарные типы.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И именно эта модель объясняет, почему наш </a:t>
            </a:r>
            <a:r>
              <a:rPr lang="ru-RU" dirty="0" err="1"/>
              <a:t>double-checked</a:t>
            </a:r>
            <a:r>
              <a:rPr lang="ru-RU" dirty="0"/>
              <a:t> </a:t>
            </a:r>
            <a:r>
              <a:rPr lang="ru-RU" dirty="0" err="1"/>
              <a:t>locking</a:t>
            </a:r>
            <a:r>
              <a:rPr lang="ru-RU" dirty="0"/>
              <a:t> оказался некорректным.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C0D0F-0804-43AA-9EFD-A917F9F9F09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15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говорить о модели памяти, нужно уточнить, что именно мы называем данными.</a:t>
            </a:r>
          </a:p>
          <a:p>
            <a:r>
              <a:rPr lang="ru-RU" dirty="0"/>
              <a:t>В C++ данные — это объекты.</a:t>
            </a:r>
          </a:p>
          <a:p>
            <a:r>
              <a:rPr lang="ru-RU" dirty="0"/>
              <a:t>Объект — это область памяти, у которой есть тип и время жизни.</a:t>
            </a:r>
          </a:p>
          <a:p>
            <a:endParaRPr lang="ru-RU" dirty="0"/>
          </a:p>
          <a:p>
            <a:r>
              <a:rPr lang="ru-RU" dirty="0"/>
              <a:t>Важно, что объект — это не обязательно “одна переменная = один кусок памяти”.</a:t>
            </a:r>
          </a:p>
          <a:p>
            <a:r>
              <a:rPr lang="ru-RU" dirty="0"/>
              <a:t>Объект может состоять из нескольких частей, например структура с полями.</a:t>
            </a:r>
          </a:p>
          <a:p>
            <a:r>
              <a:rPr lang="ru-RU" dirty="0"/>
              <a:t>И наоборот, несколько объектов могут находиться в одной области памяти, как это бывает с битовыми полями.</a:t>
            </a:r>
          </a:p>
          <a:p>
            <a:endParaRPr lang="ru-RU" dirty="0"/>
          </a:p>
          <a:p>
            <a:r>
              <a:rPr lang="ru-RU" dirty="0"/>
              <a:t>Это важно, потому что синхронизация в C++ определяется именно на уровне объектов и областей памяти.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646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6497F-A11D-2AB1-3846-BC3A00F3D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6A695-1857-81C9-47F4-8B93FD39A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0FC1E-40FC-808B-7EF4-DB3B9615F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уточним, как объекты размещаются в памяти.</a:t>
            </a:r>
          </a:p>
          <a:p>
            <a:r>
              <a:rPr lang="ru-RU" dirty="0"/>
              <a:t>Каждая переменная в C++ — это отдельный объект, даже если она является полем другого объекта.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Обычно объекты занимают отдельные области памяти.</a:t>
            </a:r>
          </a:p>
          <a:p>
            <a:r>
              <a:rPr lang="ru-RU" dirty="0"/>
              <a:t>Но есть важное исключение — битовые поля.</a:t>
            </a:r>
          </a:p>
          <a:p>
            <a:r>
              <a:rPr lang="ru-RU" dirty="0"/>
              <a:t>Несколько битовых полей могут находиться в одной области памяти и фактически “делить” её.</a:t>
            </a:r>
          </a:p>
          <a:p>
            <a:endParaRPr lang="ru-RU" dirty="0"/>
          </a:p>
          <a:p>
            <a:r>
              <a:rPr lang="ru-RU" dirty="0"/>
              <a:t>Это становится важным в многопоточном коде.</a:t>
            </a:r>
          </a:p>
          <a:p>
            <a:r>
              <a:rPr lang="ru-RU" dirty="0"/>
              <a:t>Потому что синхронизация и гонки данных определяются на уровне областей памяти.</a:t>
            </a:r>
          </a:p>
          <a:p>
            <a:r>
              <a:rPr lang="ru-RU" dirty="0"/>
              <a:t>Если два потока работают с одной и той же областью без синхронизации, возникает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race</a:t>
            </a:r>
            <a:r>
              <a:rPr lang="ru-RU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652DD-012E-C228-0734-41EACF4EF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77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как один объект может располагаться в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У нас есть структура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dirty="0"/>
              <a:t>, и на диаграмме видно, что она состоит из нескольких полей, каждое из которых является отдельным объектом.</a:t>
            </a:r>
          </a:p>
          <a:p>
            <a:r>
              <a:rPr lang="ru-RU" dirty="0"/>
              <a:t>Важно, что объект — это не обязательно один непрерывный кусок памяти. Он может состоять из нескольких областей, а некоторые области могут даже разделяться между несколькими объектами.</a:t>
            </a:r>
          </a:p>
          <a:p>
            <a:r>
              <a:rPr lang="ru-RU" dirty="0"/>
              <a:t>Хороший пример — битовые поля.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bf1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bf2</a:t>
            </a:r>
            <a:r>
              <a:rPr lang="ru-RU" dirty="0"/>
              <a:t> могут находиться в одной и той же области памяти, хотя с точки зрения языка это разные объекты.</a:t>
            </a:r>
          </a:p>
          <a:p>
            <a:r>
              <a:rPr lang="ru-RU" dirty="0"/>
              <a:t>Это важно для многопоточности.</a:t>
            </a:r>
          </a:p>
          <a:p>
            <a:r>
              <a:rPr lang="ru-RU" dirty="0"/>
              <a:t>Потому что в C++ синхронизация и гонки данных определяются не просто “по переменным”, а по областям памяти.</a:t>
            </a:r>
          </a:p>
          <a:p>
            <a:r>
              <a:rPr lang="ru-RU" dirty="0"/>
              <a:t>Если два потока обращаются к одной и той же области памяти без синхронизации, возникает гонка данных и программа становится некорректной.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71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ещё раз чётко сформулируем, когда всё работает корректно.</a:t>
            </a:r>
          </a:p>
          <a:p>
            <a:r>
              <a:rPr lang="ru-RU" dirty="0"/>
              <a:t>Если потоки работают с разными областями памяти, проблем нет. Если несколько потоков читают одну и ту же область, это тоже безопасно.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Проблема возникает в тот момент, когда хотя бы один поток начинает писать.</a:t>
            </a:r>
          </a:p>
          <a:p>
            <a:r>
              <a:rPr lang="ru-RU" dirty="0"/>
              <a:t>Если при этом нет синхронизации, возникает гонка данных.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И это ключевой момент.</a:t>
            </a:r>
          </a:p>
          <a:p>
            <a:r>
              <a:rPr lang="ru-RU" dirty="0"/>
              <a:t>Гонка данных в C++ — это не просто “ошибка”, это </a:t>
            </a:r>
            <a:r>
              <a:rPr lang="ru-RU" dirty="0" err="1"/>
              <a:t>undefined</a:t>
            </a:r>
            <a:r>
              <a:rPr lang="ru-RU" dirty="0"/>
              <a:t> </a:t>
            </a:r>
            <a:r>
              <a:rPr lang="ru-RU" dirty="0" err="1"/>
              <a:t>behavior</a:t>
            </a:r>
            <a:r>
              <a:rPr lang="ru-RU" dirty="0"/>
              <a:t>.</a:t>
            </a:r>
          </a:p>
          <a:p>
            <a:r>
              <a:rPr lang="ru-RU" dirty="0"/>
              <a:t>Это означает, что программа может вести себя как угодно, даже если она “обычно работает”.</a:t>
            </a:r>
          </a:p>
          <a:p>
            <a:endParaRPr lang="ru-RU" dirty="0"/>
          </a:p>
          <a:p>
            <a:r>
              <a:rPr lang="ru-RU" dirty="0"/>
              <a:t>Чтобы этого избежать, нужно явно синхронизировать доступ.</a:t>
            </a:r>
          </a:p>
          <a:p>
            <a:r>
              <a:rPr lang="ru-RU" dirty="0"/>
              <a:t>Либо с помощью мьютексов, либо с помощью атомарных операций.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1170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 каждого объекта в C++ есть так называемый порядок модификаций.</a:t>
            </a:r>
          </a:p>
          <a:p>
            <a:r>
              <a:rPr lang="ru-RU" dirty="0"/>
              <a:t>Это просто последовательность всех записей в этот объект за время выполнения программы.</a:t>
            </a:r>
          </a:p>
          <a:p>
            <a:endParaRPr lang="ru-RU" dirty="0"/>
          </a:p>
          <a:p>
            <a:r>
              <a:rPr lang="ru-RU" dirty="0"/>
              <a:t>Важно, что в одном конкретном запуске этот порядок должен быть единым для всех потоков.</a:t>
            </a:r>
          </a:p>
          <a:p>
            <a:r>
              <a:rPr lang="ru-RU" dirty="0"/>
              <a:t>Все потоки должны согласованно видеть изменения одной и той же переменной.</a:t>
            </a:r>
          </a:p>
          <a:p>
            <a:endParaRPr lang="ru-RU" dirty="0"/>
          </a:p>
          <a:p>
            <a:r>
              <a:rPr lang="ru-RU" dirty="0"/>
              <a:t>Если разные потоки начинают видеть разные последовательности значений, это уже гонка данных и программа становится некорректной.</a:t>
            </a:r>
          </a:p>
          <a:p>
            <a:endParaRPr lang="ru-RU" dirty="0"/>
          </a:p>
          <a:p>
            <a:r>
              <a:rPr lang="ru-RU" dirty="0"/>
              <a:t>Для атомарных переменных язык сам гарантирует этот порядок.</a:t>
            </a:r>
          </a:p>
          <a:p>
            <a:r>
              <a:rPr lang="ru-RU" dirty="0"/>
              <a:t>А для обычных переменных ответственность полностью лежит на программисте.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44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ключевая причина всех проблем — оптимизации.</a:t>
            </a:r>
          </a:p>
          <a:p>
            <a:r>
              <a:rPr lang="ru-RU" dirty="0"/>
              <a:t>Чтобы ускорить выполнение, и компилятор, и процессор могут переупорядочивать операции.</a:t>
            </a:r>
          </a:p>
          <a:p>
            <a:endParaRPr lang="ru-RU" dirty="0"/>
          </a:p>
          <a:p>
            <a:r>
              <a:rPr lang="ru-RU" dirty="0"/>
              <a:t>Компилятор может менять порядок инструкций, если это не влияет на поведение в одном потоке.</a:t>
            </a:r>
          </a:p>
          <a:p>
            <a:r>
              <a:rPr lang="ru-RU" dirty="0"/>
              <a:t>Процессор тоже может выполнять инструкции в другом порядке, чтобы лучше загружать конвейер.</a:t>
            </a:r>
          </a:p>
          <a:p>
            <a:endParaRPr lang="ru-RU" dirty="0"/>
          </a:p>
          <a:p>
            <a:r>
              <a:rPr lang="ru-RU" dirty="0"/>
              <a:t>Важно, что всё это корректно с точки зрения одного потока.</a:t>
            </a:r>
          </a:p>
          <a:p>
            <a:r>
              <a:rPr lang="ru-RU" dirty="0"/>
              <a:t>Но в многопоточном коде это приводит к тому, что разные потоки могут видеть операции в разном порядке.</a:t>
            </a:r>
          </a:p>
          <a:p>
            <a:endParaRPr lang="ru-RU" dirty="0"/>
          </a:p>
          <a:p>
            <a:r>
              <a:rPr lang="ru-RU" dirty="0"/>
              <a:t>И именно из-за этого “логически правильный” код может ломаться.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59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этом полный хаос не допускается — есть ограничения.</a:t>
            </a:r>
          </a:p>
          <a:p>
            <a:endParaRPr lang="ru-RU" dirty="0"/>
          </a:p>
          <a:p>
            <a:r>
              <a:rPr lang="ru-RU" dirty="0"/>
              <a:t>Внутри одного потока сохраняется логика программы.</a:t>
            </a:r>
          </a:p>
          <a:p>
            <a:r>
              <a:rPr lang="ru-RU" dirty="0"/>
              <a:t>Если поток записал значение, он не может потом “увидеть прошлое”.</a:t>
            </a:r>
          </a:p>
          <a:p>
            <a:r>
              <a:rPr lang="ru-RU" dirty="0"/>
              <a:t>Если поток увидел изменение, он не может потом увидеть более старое значение.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Но между разными переменными таких гарантий уже нет.</a:t>
            </a:r>
          </a:p>
          <a:p>
            <a:r>
              <a:rPr lang="ru-RU" dirty="0"/>
              <a:t>Операции могут наблюдаться в разном порядке разными потоками.</a:t>
            </a:r>
          </a:p>
          <a:p>
            <a:endParaRPr lang="ru-RU" dirty="0"/>
          </a:p>
          <a:p>
            <a:r>
              <a:rPr lang="ru-RU" dirty="0"/>
              <a:t>Это означает, что в многопоточной программе нет единого глобального порядка операций.</a:t>
            </a:r>
          </a:p>
          <a:p>
            <a:r>
              <a:rPr lang="ru-RU" dirty="0"/>
              <a:t>И это ключевая идея модели памяти, которую нужно держать в голове.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633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простой пример с двумя потоками.</a:t>
            </a:r>
          </a:p>
          <a:p>
            <a:r>
              <a:rPr lang="ru-RU" dirty="0"/>
              <a:t>Первый поток записывает значения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, второй поток читает их в обратном порядке.</a:t>
            </a:r>
          </a:p>
          <a:p>
            <a:endParaRPr lang="ru-RU" dirty="0"/>
          </a:p>
          <a:p>
            <a:r>
              <a:rPr lang="ru-RU" dirty="0"/>
              <a:t>Интуитивно кажется, что если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3</a:t>
            </a:r>
            <a:r>
              <a:rPr lang="ru-RU" dirty="0"/>
              <a:t> выполняется до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= 4</a:t>
            </a:r>
            <a:r>
              <a:rPr lang="ru-RU" dirty="0"/>
              <a:t>, то поток, который читает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, уже должен увидеть и обновлённое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.</a:t>
            </a:r>
          </a:p>
          <a:p>
            <a:r>
              <a:rPr lang="ru-RU" dirty="0"/>
              <a:t>Но это не так.</a:t>
            </a:r>
          </a:p>
          <a:p>
            <a:endParaRPr lang="ru-RU" dirty="0"/>
          </a:p>
          <a:p>
            <a:r>
              <a:rPr lang="ru-RU" dirty="0"/>
              <a:t>На практике возможны разные результаты, включая “перемешанные” значения,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 = 4, y = 1</a:t>
            </a:r>
            <a:r>
              <a:rPr lang="ru-RU" dirty="0"/>
              <a:t>.</a:t>
            </a:r>
          </a:p>
          <a:p>
            <a:r>
              <a:rPr lang="ru-RU" dirty="0"/>
              <a:t>Это означает, что поток увидел новое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, но старое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Причина в том, что операции могут быть переупорядочены компилятором и процессором, а также по-разному наблюдаться из разных потоков.</a:t>
            </a:r>
          </a:p>
          <a:p>
            <a:endParaRPr lang="ru-RU" dirty="0"/>
          </a:p>
          <a:p>
            <a:r>
              <a:rPr lang="ru-RU" dirty="0"/>
              <a:t>Этот пример показывает, что без синхронизации нельзя полагаться на порядок операций между потоками.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922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увидели, что без синхронизации код может вести себя непредсказуемо.</a:t>
            </a:r>
          </a:p>
          <a:p>
            <a:r>
              <a:rPr lang="ru-RU" dirty="0"/>
              <a:t>Теперь давайте посмотрим на один из базовых инструментов решения этой проблемы — атомарные операции.</a:t>
            </a:r>
          </a:p>
          <a:p>
            <a:endParaRPr lang="ru-RU" dirty="0"/>
          </a:p>
          <a:p>
            <a:r>
              <a:rPr lang="ru-RU" dirty="0"/>
              <a:t>Атомарные операции выполняются неделимо.</a:t>
            </a:r>
          </a:p>
          <a:p>
            <a:r>
              <a:rPr lang="ru-RU" dirty="0"/>
              <a:t>Это означает, что ни один поток не может увидеть “промежуточное состояние”.</a:t>
            </a:r>
          </a:p>
          <a:p>
            <a:endParaRPr lang="ru-RU" dirty="0"/>
          </a:p>
          <a:p>
            <a:r>
              <a:rPr lang="ru-RU" dirty="0"/>
              <a:t>Именно поэтому атомарные операции позволяют безопасно работать с данными без мьютексов в некоторых случаях.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823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чём разница между атомарными и обычными операциями.</a:t>
            </a:r>
          </a:p>
          <a:p>
            <a:endParaRPr lang="ru-RU" dirty="0"/>
          </a:p>
          <a:p>
            <a:r>
              <a:rPr lang="ru-RU" dirty="0"/>
              <a:t>Атомарная операция либо полностью произошла, либо нет.</a:t>
            </a:r>
          </a:p>
          <a:p>
            <a:r>
              <a:rPr lang="ru-RU" dirty="0"/>
              <a:t>Никакой поток не может увидеть её “наполовину”.</a:t>
            </a:r>
          </a:p>
          <a:p>
            <a:endParaRPr lang="ru-RU" dirty="0"/>
          </a:p>
          <a:p>
            <a:r>
              <a:rPr lang="ru-RU" dirty="0"/>
              <a:t>В отличие от этого, неатомарные операции могут наблюдаться частично.</a:t>
            </a:r>
          </a:p>
          <a:p>
            <a:r>
              <a:rPr lang="ru-RU" dirty="0"/>
              <a:t>Например, при работе со сложными структурами поток может увидеть смесь старых и новых значений.</a:t>
            </a:r>
          </a:p>
          <a:p>
            <a:endParaRPr lang="ru-RU" dirty="0"/>
          </a:p>
          <a:p>
            <a:r>
              <a:rPr lang="ru-RU" dirty="0"/>
              <a:t>И самое важное — если мы обращаемся к неатомарным данным из разных потоков без синхронизации, возникает гонка данных и </a:t>
            </a:r>
            <a:r>
              <a:rPr lang="ru-RU" dirty="0" err="1"/>
              <a:t>undefined</a:t>
            </a:r>
            <a:r>
              <a:rPr lang="ru-RU" dirty="0"/>
              <a:t> </a:t>
            </a:r>
            <a:r>
              <a:rPr lang="ru-RU" dirty="0" err="1"/>
              <a:t>behavior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724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стандартной библиотеке C++ атомарные типы находятся в заголовке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atomic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.</a:t>
            </a:r>
          </a:p>
          <a:p>
            <a:r>
              <a:rPr lang="ru-RU" dirty="0"/>
              <a:t>Все операции над такими типами выполняются атомарно.</a:t>
            </a:r>
          </a:p>
          <a:p>
            <a:endParaRPr lang="ru-RU" dirty="0"/>
          </a:p>
          <a:p>
            <a:r>
              <a:rPr lang="ru-RU" dirty="0"/>
              <a:t>При этом важно понимать, что атомарность не всегда означает отсутствие блокировок.</a:t>
            </a:r>
          </a:p>
          <a:p>
            <a:r>
              <a:rPr lang="ru-RU" dirty="0"/>
              <a:t>В некоторых случаях реализация может использовать мьютексы.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Чтобы это проверить, есть методы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is_lock_free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is_always_lock_free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важно с точки зрения производительности, особенно в высоконагруженных системах.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05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посмотрим на конкретный пример.</a:t>
            </a:r>
          </a:p>
          <a:p>
            <a:r>
              <a:rPr lang="ru-RU" dirty="0"/>
              <a:t>Здесь мы проверяем, какие типы являются </a:t>
            </a:r>
            <a:r>
              <a:rPr lang="ru-RU" dirty="0" err="1"/>
              <a:t>lock-free</a:t>
            </a:r>
            <a:r>
              <a:rPr lang="ru-RU" dirty="0"/>
              <a:t>, то есть могут выполняться без использования блокировок.</a:t>
            </a:r>
          </a:p>
          <a:p>
            <a:endParaRPr lang="ru-RU" dirty="0"/>
          </a:p>
          <a:p>
            <a:r>
              <a:rPr lang="ru-RU" dirty="0"/>
              <a:t>Для простого типа, такого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атомарные операции всегда </a:t>
            </a:r>
            <a:r>
              <a:rPr lang="ru-RU" dirty="0" err="1"/>
              <a:t>lock-free</a:t>
            </a:r>
            <a:r>
              <a:rPr lang="ru-RU" dirty="0"/>
              <a:t>.</a:t>
            </a:r>
          </a:p>
          <a:p>
            <a:r>
              <a:rPr lang="ru-RU" dirty="0"/>
              <a:t>Для небольшой структуры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 — тоже, потому что она помещается в регистры процессора.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А вот для более крупного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LargeType</a:t>
            </a:r>
            <a:r>
              <a:rPr lang="ru-RU" dirty="0"/>
              <a:t> уже может потребоваться блокировка.</a:t>
            </a:r>
          </a:p>
          <a:p>
            <a:r>
              <a:rPr lang="ru-RU" dirty="0"/>
              <a:t>И мы видим, что на данной машине он не является </a:t>
            </a:r>
            <a:r>
              <a:rPr lang="ru-RU" dirty="0" err="1"/>
              <a:t>lock-free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важный момент.</a:t>
            </a:r>
          </a:p>
          <a:p>
            <a:r>
              <a:rPr lang="ru-RU" dirty="0"/>
              <a:t>Атомарность гарантирует корректность, но не гарантирует высокую производительность.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015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atomic_flag</a:t>
            </a:r>
            <a:r>
              <a:rPr lang="ru-RU" dirty="0"/>
              <a:t> — это самый простой атомарный тип в стандартной библиотеке.</a:t>
            </a:r>
          </a:p>
          <a:p>
            <a:r>
              <a:rPr lang="ru-RU" dirty="0"/>
              <a:t>Он представляет собой атомарный булев флаг и гарантированно работает без блокировок.</a:t>
            </a:r>
          </a:p>
          <a:p>
            <a:endParaRPr lang="ru-RU" dirty="0"/>
          </a:p>
          <a:p>
            <a:r>
              <a:rPr lang="ru-RU" dirty="0"/>
              <a:t>В отличие от других атомарных типов, у него даже нет метода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is_lock_free</a:t>
            </a:r>
            <a:r>
              <a:rPr lang="ru-RU" dirty="0"/>
              <a:t>, потому что он всегда </a:t>
            </a:r>
            <a:r>
              <a:rPr lang="ru-RU" dirty="0" err="1"/>
              <a:t>lock-free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Основная операция — это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test_and_set</a:t>
            </a:r>
            <a:r>
              <a:rPr lang="ru-RU" dirty="0"/>
              <a:t>.</a:t>
            </a:r>
          </a:p>
          <a:p>
            <a:r>
              <a:rPr lang="ru-RU" dirty="0"/>
              <a:t>Она устанавливает флаг и возвращает его предыдущее значение. Это удобно для реализации примитивов синхронизации.</a:t>
            </a:r>
          </a:p>
          <a:p>
            <a:endParaRPr lang="ru-RU" dirty="0"/>
          </a:p>
          <a:p>
            <a:r>
              <a:rPr lang="ru-RU" dirty="0"/>
              <a:t>Также есть операция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</a:t>
            </a:r>
            <a:r>
              <a:rPr lang="ru-RU" dirty="0"/>
              <a:t>, которая сбрасывает флаг, и с C++20 появились дополнительные возможности ожидания и уведомления.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На практике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atomic_flag</a:t>
            </a:r>
            <a:r>
              <a:rPr lang="ru-RU" dirty="0"/>
              <a:t> часто используется как строительный блок, например для реализации </a:t>
            </a:r>
            <a:r>
              <a:rPr lang="ru-RU" dirty="0" err="1"/>
              <a:t>spinlock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6740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простой пример </a:t>
            </a:r>
            <a:r>
              <a:rPr lang="ru-RU" dirty="0" err="1"/>
              <a:t>спинлока</a:t>
            </a:r>
            <a:r>
              <a:rPr lang="ru-RU" dirty="0"/>
              <a:t>, реализованного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atomic_flag</a:t>
            </a:r>
            <a:r>
              <a:rPr lang="ru-RU" dirty="0"/>
              <a:t>.</a:t>
            </a:r>
          </a:p>
          <a:p>
            <a:r>
              <a:rPr lang="ru-RU" dirty="0"/>
              <a:t>Идея очень простая: поток пытается установить флаг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test_and_set</a:t>
            </a:r>
            <a:r>
              <a:rPr lang="ru-RU" dirty="0"/>
              <a:t>. Если флаг уже установлен, значит другой поток владеет блокировкой, и мы продолжаем ждать в цикле.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В методе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dirty="0"/>
              <a:t> поток крутится, пока не сможет захватить флаг.</a:t>
            </a:r>
          </a:p>
          <a:p>
            <a:r>
              <a:rPr lang="ru-RU" dirty="0"/>
              <a:t>С C++20 добавлена оптимизация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dirty="0"/>
              <a:t>, которая позволяет не просто активно крутиться, а ожидать более эффективно.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try_lock</a:t>
            </a:r>
            <a:r>
              <a:rPr lang="ru-RU" dirty="0"/>
              <a:t> делает одну попытку захвата без ожидания.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unlock</a:t>
            </a:r>
            <a:r>
              <a:rPr lang="ru-RU" dirty="0"/>
              <a:t> мы сбрасываем флаг и, при наличии поддержки, уведомляем ожидающие потоки.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Это пример примитива синхронизации без использования мьютексов, но важно помнить, что такие решения могут быть дорогими из-за активного ожидания.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458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как наш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SpinMutex</a:t>
            </a:r>
            <a:r>
              <a:rPr lang="ru-RU" dirty="0"/>
              <a:t> используется на практике.</a:t>
            </a:r>
          </a:p>
          <a:p>
            <a:r>
              <a:rPr lang="ru-RU" dirty="0"/>
              <a:t>Два потока изменяют общий счётчик: один увеличивает, другой уменьшает.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Доступ к переменной защищён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lock_guard</a:t>
            </a:r>
            <a:r>
              <a:rPr lang="ru-RU" dirty="0"/>
              <a:t>, который использует наш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SpinMutex</a:t>
            </a:r>
            <a:r>
              <a:rPr lang="ru-RU" dirty="0"/>
              <a:t>.</a:t>
            </a:r>
          </a:p>
          <a:p>
            <a:r>
              <a:rPr lang="ru-RU" dirty="0"/>
              <a:t>Это гарантирует, что в каждый момент времени только один поток изменяет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результате после выполнения программы мы получаем корректное значение 0.</a:t>
            </a:r>
          </a:p>
          <a:p>
            <a:endParaRPr lang="ru-RU" dirty="0"/>
          </a:p>
          <a:p>
            <a:r>
              <a:rPr lang="ru-RU" dirty="0"/>
              <a:t>Обратите внимание, что с точки зрения интерфейса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SpinMutex</a:t>
            </a:r>
            <a:r>
              <a:rPr lang="ru-RU" dirty="0"/>
              <a:t> ведёт себя так же, как обычный мьютекс.</a:t>
            </a:r>
          </a:p>
          <a:p>
            <a:r>
              <a:rPr lang="ru-RU" dirty="0"/>
              <a:t>Но внутри он реализован через атомарные операции и активное ожидание.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091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применим наш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SpinMutex</a:t>
            </a:r>
            <a:r>
              <a:rPr lang="ru-RU" dirty="0"/>
              <a:t> к задаче ленивой инициализации.</a:t>
            </a:r>
          </a:p>
          <a:p>
            <a:r>
              <a:rPr lang="ru-RU" dirty="0"/>
              <a:t>Код выглядит так же, как и с обычным мьютексом, но используется </a:t>
            </a:r>
            <a:r>
              <a:rPr lang="ru-RU" dirty="0" err="1"/>
              <a:t>спинлок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С точки зрения корректности всё работает правильно, но посмотрим на производительность.</a:t>
            </a:r>
          </a:p>
          <a:p>
            <a:r>
              <a:rPr lang="ru-RU" dirty="0"/>
              <a:t>Время выполнения — почти 10 секунд, что значительно хуже предыдущих вариантов.</a:t>
            </a:r>
          </a:p>
          <a:p>
            <a:endParaRPr lang="ru-RU" dirty="0"/>
          </a:p>
          <a:p>
            <a:r>
              <a:rPr lang="ru-RU" dirty="0"/>
              <a:t>Причина в том,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SpinMutex</a:t>
            </a:r>
            <a:r>
              <a:rPr lang="ru-RU" dirty="0"/>
              <a:t> использует активное ожидание.</a:t>
            </a:r>
          </a:p>
          <a:p>
            <a:r>
              <a:rPr lang="ru-RU" dirty="0"/>
              <a:t>Потоки не блокируются, а продолжают крутиться в цикле, нагружая процессор.</a:t>
            </a:r>
          </a:p>
          <a:p>
            <a:endParaRPr lang="ru-RU" dirty="0"/>
          </a:p>
          <a:p>
            <a:r>
              <a:rPr lang="ru-RU" dirty="0"/>
              <a:t>Это хороший пример того, что атомарные операции сами по себе не гарантируют высокую производительность.</a:t>
            </a:r>
          </a:p>
          <a:p>
            <a:r>
              <a:rPr lang="ru-RU" dirty="0"/>
              <a:t>Иногда классический мьютекс оказывается эффективнее.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212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Атомарные типы предоставляют набор операций для безопасной работы с данными из нескольких потоков.</a:t>
            </a:r>
          </a:p>
          <a:p>
            <a:r>
              <a:rPr lang="ru-RU" dirty="0"/>
              <a:t>Базовые операции — это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</a:t>
            </a:r>
            <a:r>
              <a:rPr lang="ru-RU" dirty="0"/>
              <a:t>, то есть чтение и запись.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Есть более продвинутые операции,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exchange</a:t>
            </a:r>
            <a:r>
              <a:rPr lang="ru-RU" dirty="0"/>
              <a:t>, которая атомарно заменяет значение.</a:t>
            </a:r>
          </a:p>
          <a:p>
            <a:r>
              <a:rPr lang="ru-RU" dirty="0"/>
              <a:t>И особенно важны операции </a:t>
            </a:r>
            <a:r>
              <a:rPr lang="ru-RU" dirty="0" err="1"/>
              <a:t>compare-and-swap</a:t>
            </a:r>
            <a:r>
              <a:rPr lang="ru-RU" dirty="0"/>
              <a:t>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compare_exchange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Они позволяют реализовывать </a:t>
            </a:r>
            <a:r>
              <a:rPr lang="ru-RU" dirty="0" err="1"/>
              <a:t>lock-free</a:t>
            </a:r>
            <a:r>
              <a:rPr lang="ru-RU" dirty="0"/>
              <a:t> алгоритмы.</a:t>
            </a:r>
          </a:p>
          <a:p>
            <a:r>
              <a:rPr lang="ru-RU" dirty="0"/>
              <a:t>Идея в том, что мы проверяем текущее значение и меняем его только если оно совпадает с ожидаемым.</a:t>
            </a:r>
          </a:p>
          <a:p>
            <a:endParaRPr lang="ru-RU" dirty="0"/>
          </a:p>
          <a:p>
            <a:r>
              <a:rPr lang="ru-RU" dirty="0"/>
              <a:t>Также есть вспомогательные методы,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is_lock_free</a:t>
            </a:r>
            <a:r>
              <a:rPr lang="ru-RU" dirty="0"/>
              <a:t>, чтобы понять, используется ли блокировка.</a:t>
            </a:r>
          </a:p>
          <a:p>
            <a:endParaRPr lang="ru-RU" dirty="0"/>
          </a:p>
          <a:p>
            <a:r>
              <a:rPr lang="ru-RU" dirty="0"/>
              <a:t>Начиная с C++20 появились операции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</a:t>
            </a:r>
            <a:r>
              <a:rPr lang="ru-RU" dirty="0"/>
              <a:t>, которые позволяют эффективно ожидать изменения значения без активного ожидания.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473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вернёмся к нашей проблеме с </a:t>
            </a:r>
            <a:r>
              <a:rPr lang="ru-RU" dirty="0" err="1"/>
              <a:t>double-checked</a:t>
            </a:r>
            <a:r>
              <a:rPr lang="ru-RU" dirty="0"/>
              <a:t> </a:t>
            </a:r>
            <a:r>
              <a:rPr lang="ru-RU" dirty="0" err="1"/>
              <a:t>locking</a:t>
            </a:r>
            <a:r>
              <a:rPr lang="ru-RU" dirty="0"/>
              <a:t> и попробуем исправить её.</a:t>
            </a:r>
          </a:p>
          <a:p>
            <a:r>
              <a:rPr lang="ru-RU" dirty="0"/>
              <a:t>Ключевая идея — сделать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m_data</a:t>
            </a:r>
            <a:r>
              <a:rPr lang="ru-RU" dirty="0"/>
              <a:t> атомарным.</a:t>
            </a:r>
          </a:p>
          <a:p>
            <a:endParaRPr lang="ru-RU" dirty="0"/>
          </a:p>
          <a:p>
            <a:r>
              <a:rPr lang="ru-RU" dirty="0"/>
              <a:t>Теперь чтение и запись указателя происходят через атомарные операции.</a:t>
            </a:r>
          </a:p>
          <a:p>
            <a:r>
              <a:rPr lang="ru-RU" dirty="0"/>
              <a:t>Это устраняет гонку данных, которая была в предыдущем варианте.</a:t>
            </a:r>
          </a:p>
          <a:p>
            <a:endParaRPr lang="ru-RU" dirty="0"/>
          </a:p>
          <a:p>
            <a:r>
              <a:rPr lang="ru-RU" dirty="0"/>
              <a:t>При этом мы сохраняем оптимизацию: в большинстве случаев не берём мьютекс и просто читаем значение.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В результате получаем корректный код и хорошую производительность.</a:t>
            </a:r>
          </a:p>
          <a:p>
            <a:r>
              <a:rPr lang="ru-RU" dirty="0"/>
              <a:t>Он заметно быстрее, чем вариант с постоянным использованием мьютекса.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103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сравним производительность.</a:t>
            </a:r>
          </a:p>
          <a:p>
            <a:r>
              <a:rPr lang="ru-RU" dirty="0"/>
              <a:t>Слева — однопоточный вариант, справа — многопоточный с атомарным DCL.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Мы видим, что многопоточная версия работает быстрее и даёт ускорение примерно в 3.8 раза на 8 потоках.</a:t>
            </a:r>
          </a:p>
          <a:p>
            <a:endParaRPr lang="ru-RU" dirty="0"/>
          </a:p>
          <a:p>
            <a:r>
              <a:rPr lang="ru-RU" dirty="0"/>
              <a:t>Это хороший результат, но важно понимать, что он не линейный.</a:t>
            </a:r>
          </a:p>
          <a:p>
            <a:r>
              <a:rPr lang="ru-RU" dirty="0"/>
              <a:t>Причины — накладные расходы на синхронизацию и конкуренция между потоками.</a:t>
            </a:r>
          </a:p>
          <a:p>
            <a:endParaRPr lang="ru-RU" dirty="0"/>
          </a:p>
          <a:p>
            <a:r>
              <a:rPr lang="ru-RU" dirty="0"/>
              <a:t>Тем не менее, мы получили и корректность, и прирост производительности, что и было нашей целью.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49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Можно сделать ещё одну оптимизацию.</a:t>
            </a:r>
          </a:p>
          <a:p>
            <a:r>
              <a:rPr lang="ru-RU" dirty="0"/>
              <a:t>Мы сохраняем результат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 локальную переменную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dirty="0"/>
              <a:t>, чтобы не выполнять атомарную операцию несколько раз.</a:t>
            </a:r>
          </a:p>
          <a:p>
            <a:endParaRPr lang="ru-RU" dirty="0"/>
          </a:p>
          <a:p>
            <a:r>
              <a:rPr lang="ru-RU" dirty="0"/>
              <a:t>Это важно, потому что атомарные операции сами по себе не бесплатны.</a:t>
            </a:r>
          </a:p>
          <a:p>
            <a:r>
              <a:rPr lang="ru-RU" dirty="0"/>
              <a:t>Лишние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могут заметно влиять на производительность.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Внутри критической секции мы повторно загружаем значение и при необходимости создаём объект.</a:t>
            </a:r>
          </a:p>
          <a:p>
            <a:endParaRPr lang="ru-RU" dirty="0"/>
          </a:p>
          <a:p>
            <a:r>
              <a:rPr lang="ru-RU" dirty="0"/>
              <a:t>В результате код остаётся корректным, но становится быстрее.</a:t>
            </a:r>
          </a:p>
          <a:p>
            <a:r>
              <a:rPr lang="ru-RU" dirty="0"/>
              <a:t>Мы уменьшаем количество атомарных операций и получаем дополнительный прирост производительности.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768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подведём итог.</a:t>
            </a:r>
          </a:p>
          <a:p>
            <a:r>
              <a:rPr lang="ru-RU" dirty="0"/>
              <a:t>Мы начали с простой ленивой инициализации, которая отлично работает в одном потоке, но оказывается некорректной в многопоточном коде.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Самый очевидный способ исправить — использовать мьютекс.</a:t>
            </a:r>
          </a:p>
          <a:p>
            <a:r>
              <a:rPr lang="ru-RU" dirty="0"/>
              <a:t>Это даёт корректность, но может стоить очень дорого по производительности.</a:t>
            </a:r>
          </a:p>
          <a:p>
            <a:endParaRPr lang="ru-RU" dirty="0"/>
          </a:p>
          <a:p>
            <a:r>
              <a:rPr lang="ru-RU" dirty="0"/>
              <a:t>Попытка оптимизировать через </a:t>
            </a:r>
            <a:r>
              <a:rPr lang="ru-RU" dirty="0" err="1"/>
              <a:t>double-checked</a:t>
            </a:r>
            <a:r>
              <a:rPr lang="ru-RU" dirty="0"/>
              <a:t> </a:t>
            </a:r>
            <a:r>
              <a:rPr lang="ru-RU" dirty="0" err="1"/>
              <a:t>locking</a:t>
            </a:r>
            <a:r>
              <a:rPr lang="ru-RU" dirty="0"/>
              <a:t> без атомарных операций приводит к </a:t>
            </a:r>
            <a:r>
              <a:rPr lang="ru-RU" dirty="0" err="1"/>
              <a:t>undefined</a:t>
            </a:r>
            <a:r>
              <a:rPr lang="ru-RU" dirty="0"/>
              <a:t> </a:t>
            </a:r>
            <a:r>
              <a:rPr lang="ru-RU" dirty="0" err="1"/>
              <a:t>behavior</a:t>
            </a:r>
            <a:r>
              <a:rPr lang="ru-RU" dirty="0"/>
              <a:t>.</a:t>
            </a:r>
          </a:p>
          <a:p>
            <a:r>
              <a:rPr lang="ru-RU" dirty="0"/>
              <a:t>Хотя код выглядит логично, он нарушает модель памяти.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call_once</a:t>
            </a:r>
            <a:r>
              <a:rPr lang="ru-RU" dirty="0"/>
              <a:t> даёт корректное решение из коробки, но тоже не всегда оптимален по скорости.</a:t>
            </a:r>
          </a:p>
          <a:p>
            <a:endParaRPr lang="ru-RU" dirty="0"/>
          </a:p>
          <a:p>
            <a:r>
              <a:rPr lang="ru-RU" dirty="0"/>
              <a:t>Атомарные операции позволяют найти баланс.</a:t>
            </a:r>
          </a:p>
          <a:p>
            <a:r>
              <a:rPr lang="ru-RU" dirty="0"/>
              <a:t>Они устраняют гонки данных и при этом дают возможность писать более эффективный код.</a:t>
            </a:r>
          </a:p>
          <a:p>
            <a:endParaRPr lang="ru-RU" dirty="0"/>
          </a:p>
          <a:p>
            <a:r>
              <a:rPr lang="ru-RU" dirty="0"/>
              <a:t>И главный вывод здесь такой:</a:t>
            </a:r>
          </a:p>
          <a:p>
            <a:r>
              <a:rPr lang="ru-RU" dirty="0"/>
              <a:t>В многопоточном программировании нельзя полагаться на интуицию и “логический порядок” операций.</a:t>
            </a:r>
          </a:p>
          <a:p>
            <a:r>
              <a:rPr lang="ru-RU" dirty="0"/>
              <a:t>Нужно понимать модель памяти и явно управлять синхронизацией.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C0D0F-0804-43AA-9EFD-A917F9F9F09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68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063E-CCAE-0812-B176-5123D8B09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238F1-354B-443D-5387-5710C0AB5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BD04A-5E69-53DC-BB66-4650C5713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2FD0-428F-491D-9180-1B77C48D7D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294DB-7D93-FCB1-5937-988FD9143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D5C98-C96F-B05C-9635-BBAA0482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18E7-57B0-44E4-BF7E-78969AF4C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73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B6341-6F84-2AB6-C243-8895345FB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0363B-EB69-508F-4922-2C9A318B5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C7E60-BA43-9E9E-6D9F-E37A0BB67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2FD0-428F-491D-9180-1B77C48D7D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4145-DCA8-C8E9-4A77-43934D1E9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9CFB3-AEC9-737C-65A8-18ABD505B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18E7-57B0-44E4-BF7E-78969AF4C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24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128F-04D2-1F37-A467-C2879C76A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62D44-EDB1-B490-C523-AFF5F8621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D1F8B-68F8-F52B-3F72-BE2BA9BC3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2FD0-428F-491D-9180-1B77C48D7D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8E37B-0E57-B91A-5D2C-4CD9728C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3403E-B09B-AAFC-2132-7802AA356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18E7-57B0-44E4-BF7E-78969AF4C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10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140A-1580-1F6C-2440-1BFCBB76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BC033-A1B4-9096-5409-0D13E8F5E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A1F86-4295-11B8-0298-0166ED040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CDCB9-3D51-3B63-CD3B-9C192F02F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2FD0-428F-491D-9180-1B77C48D7D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1110B-CFDF-E21D-D4EC-7CD96ACA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5704E-3544-62C1-5C6C-EFB30363E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18E7-57B0-44E4-BF7E-78969AF4C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20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5EE12-2022-ACBF-D595-AD9673EF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1F633-7664-C3AD-026B-38D615285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D9325-BDC7-403B-B5C8-69776318D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DAADC6-C936-5E4A-8A35-7969F0B77E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F6422-5BAA-D5DC-2BCC-8751EBC85A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9C532B-10D2-D52D-B53B-F55E19A1B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2FD0-428F-491D-9180-1B77C48D7D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176C05-4E4C-486E-4A0E-BC967ECB5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E8B6B8-F1B8-A318-801A-6C124F65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18E7-57B0-44E4-BF7E-78969AF4C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29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864E-8DE2-CACA-D760-D33CCE6F3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D4561-EAA2-07A1-2545-5337522E1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2FD0-428F-491D-9180-1B77C48D7D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FAA36-CA32-DAD1-6B3C-25A74602B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A5CE7-DBDD-B75D-F956-1FF967D65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18E7-57B0-44E4-BF7E-78969AF4C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9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FDEEE9-F3E7-125F-A559-A4701C2B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2FD0-428F-491D-9180-1B77C48D7D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96C5A4-A2BD-BE21-3F02-357DDC897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CBF97-AE62-A6E5-5C75-E02ED7236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18E7-57B0-44E4-BF7E-78969AF4C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15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32558-B3E3-BA7D-8773-4BD28E255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FB559-0D52-C2F2-E1B2-D0030B3D3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78487-E03D-B4FA-6727-2E86E1062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723BE-940D-68B1-4B44-2D869335A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2FD0-428F-491D-9180-1B77C48D7D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C18AC-42CD-E058-AB3E-1594FCBF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B8867-C240-8E9A-29A9-4A47E494A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18E7-57B0-44E4-BF7E-78969AF4C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7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3D2F9-A878-3BFF-CF06-D24D1FB03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4A0E5-FA84-6E3B-A77E-CB13BBEF5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0AEEA-43F9-0A2A-D88D-6ADD8E898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E2C8E-E8D3-A19A-B3FB-C287E402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2FD0-428F-491D-9180-1B77C48D7D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269DE-7D8D-1240-7B95-3BC646560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61DAF-4A17-FBD2-766F-36F33C21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18E7-57B0-44E4-BF7E-78969AF4C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9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00E8-DDCD-23C2-D3D0-566BBEF6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50CB7-8942-708C-A945-6B553F450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3D800-603B-71E0-7778-6A27C2F18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2FD0-428F-491D-9180-1B77C48D7D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6453E-0613-FCEE-3903-6E6418758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A3401-4FF5-9046-3E3E-01EDB277F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18E7-57B0-44E4-BF7E-78969AF4C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83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A8CCB7-A4B6-C5C7-2C2D-439C6D5F5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85367-BB49-9640-BFDA-81518F699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E4FA8-80E1-79F2-0A6C-A72536C62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12FD0-428F-491D-9180-1B77C48D7D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51C28-95A6-997C-BDF3-36E50DC48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E3507-F654-4C11-C4F4-22D2B0FE5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018E7-57B0-44E4-BF7E-78969AF4C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233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F8441C-E610-12F2-9934-579918387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7F621-87DD-97F6-F59C-9DE8B8F62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D8E47-C808-5AAB-FF82-6C0E31A369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712FD0-428F-491D-9180-1B77C48D7D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263AF-C482-CFEA-419D-C1A8830CA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41218-7C11-051C-1DD8-35F680274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018E7-57B0-44E4-BF7E-78969AF4C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74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atomic/atomic_flag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E3357-9797-B27C-F1CB-5BB8728B17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Модель памяти и атомарные операции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8C98B-DD6F-324B-A302-DF94B61F61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35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5F3D2-9F37-BBDC-D7B3-69230BAE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Ленивая инициализация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543B6C-CEC9-E033-9FC5-A7E3FA040955}"/>
              </a:ext>
            </a:extLst>
          </p:cNvPr>
          <p:cNvSpPr txBox="1"/>
          <p:nvPr/>
        </p:nvSpPr>
        <p:spPr>
          <a:xfrm>
            <a:off x="838200" y="1690688"/>
            <a:ext cx="500411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Data::Data()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UseData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Data::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UseData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CDC93-4C9F-5BEB-41D1-D3A568AD98D0}"/>
              </a:ext>
            </a:extLst>
          </p:cNvPr>
          <p:cNvSpPr txBox="1"/>
          <p:nvPr/>
        </p:nvSpPr>
        <p:spPr>
          <a:xfrm>
            <a:off x="5687122" y="1690688"/>
            <a:ext cx="650487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Widget() = default;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Widget(const Widget&amp;) = delete;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Widget&amp; operator=(const Widget&amp;) = delete;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~Widget()</a:t>
            </a:r>
            <a:r>
              <a:rPr lang="ru-RU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delete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Widget::Foo()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UseData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99221-2D1F-C422-E59D-2DE67035EAEF}"/>
              </a:ext>
            </a:extLst>
          </p:cNvPr>
          <p:cNvSpPr txBox="1"/>
          <p:nvPr/>
        </p:nvSpPr>
        <p:spPr>
          <a:xfrm>
            <a:off x="838200" y="4869085"/>
            <a:ext cx="5257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43CE49-1AE1-9B6B-5589-5A0D923670A4}"/>
              </a:ext>
            </a:extLst>
          </p:cNvPr>
          <p:cNvSpPr txBox="1"/>
          <p:nvPr/>
        </p:nvSpPr>
        <p:spPr>
          <a:xfrm>
            <a:off x="3233854" y="4869085"/>
            <a:ext cx="2453268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Widget::Foo()</a:t>
            </a:r>
          </a:p>
          <a:p>
            <a:r>
              <a:rPr lang="en-US" dirty="0">
                <a:latin typeface="Consolas" panose="020B0609020204030204" pitchFamily="49" charset="0"/>
              </a:rPr>
              <a:t>Data::Data()</a:t>
            </a:r>
          </a:p>
          <a:p>
            <a:r>
              <a:rPr lang="en-US" dirty="0">
                <a:latin typeface="Consolas" panose="020B0609020204030204" pitchFamily="49" charset="0"/>
              </a:rPr>
              <a:t>Data::</a:t>
            </a:r>
            <a:r>
              <a:rPr lang="en-US" dirty="0" err="1">
                <a:latin typeface="Consolas" panose="020B0609020204030204" pitchFamily="49" charset="0"/>
              </a:rPr>
              <a:t>UseData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</a:rPr>
              <a:t>Widget::Foo()</a:t>
            </a:r>
          </a:p>
          <a:p>
            <a:r>
              <a:rPr lang="en-US" dirty="0">
                <a:latin typeface="Consolas" panose="020B0609020204030204" pitchFamily="49" charset="0"/>
              </a:rPr>
              <a:t>Data::</a:t>
            </a:r>
            <a:r>
              <a:rPr lang="en-US" dirty="0" err="1">
                <a:latin typeface="Consolas" panose="020B0609020204030204" pitchFamily="49" charset="0"/>
              </a:rPr>
              <a:t>UseData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399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91D23-C3B6-C0C5-0A14-B95BE3F4E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Потокобезопасная</a:t>
            </a:r>
            <a:r>
              <a:rPr lang="ru-RU" dirty="0"/>
              <a:t> ленивая инициализация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99672E-F321-DF10-1D43-91DC78225D44}"/>
              </a:ext>
            </a:extLst>
          </p:cNvPr>
          <p:cNvSpPr txBox="1"/>
          <p:nvPr/>
        </p:nvSpPr>
        <p:spPr>
          <a:xfrm>
            <a:off x="0" y="1690688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Widget() = default;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Widget(const Widget&amp;) = delete;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Widget&amp; operator=(const Widget&amp;) = delete;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~Widget()</a:t>
            </a:r>
            <a:r>
              <a:rPr lang="ru-RU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delete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&lt;&lt; "Widget::Foo()\n";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};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UseData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mutable const Data*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FF536D-B4EC-F4AA-55AB-05EE9A2CF6E1}"/>
              </a:ext>
            </a:extLst>
          </p:cNvPr>
          <p:cNvSpPr txBox="1"/>
          <p:nvPr/>
        </p:nvSpPr>
        <p:spPr>
          <a:xfrm>
            <a:off x="6325531" y="3164681"/>
            <a:ext cx="586646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numThreads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numThreads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threads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numThreads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threads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emplace_back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latch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arrive_and_wait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});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A5E370-4AFF-DAF4-16D0-668C2F5539A5}"/>
              </a:ext>
            </a:extLst>
          </p:cNvPr>
          <p:cNvSpPr txBox="1"/>
          <p:nvPr/>
        </p:nvSpPr>
        <p:spPr>
          <a:xfrm>
            <a:off x="10142034" y="122663"/>
            <a:ext cx="1934737" cy="375487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Widget::Foo()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Widget::Foo()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Widget::Foo()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Widget::Foo()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Widget::Foo()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Widget::Foo()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Widget::Foo()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Widget::Foo()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Data::Data()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Data::</a:t>
            </a:r>
            <a:r>
              <a:rPr lang="en-US" sz="1400" dirty="0" err="1">
                <a:latin typeface="Consolas" panose="020B0609020204030204" pitchFamily="49" charset="0"/>
              </a:rPr>
              <a:t>UseData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Data::</a:t>
            </a:r>
            <a:r>
              <a:rPr lang="en-US" sz="1400" dirty="0" err="1">
                <a:latin typeface="Consolas" panose="020B0609020204030204" pitchFamily="49" charset="0"/>
              </a:rPr>
              <a:t>UseData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Data::</a:t>
            </a:r>
            <a:r>
              <a:rPr lang="en-US" sz="1400" dirty="0" err="1">
                <a:latin typeface="Consolas" panose="020B0609020204030204" pitchFamily="49" charset="0"/>
              </a:rPr>
              <a:t>UseData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Data::</a:t>
            </a:r>
            <a:r>
              <a:rPr lang="en-US" sz="1400" dirty="0" err="1">
                <a:latin typeface="Consolas" panose="020B0609020204030204" pitchFamily="49" charset="0"/>
              </a:rPr>
              <a:t>UseData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Data::</a:t>
            </a:r>
            <a:r>
              <a:rPr lang="en-US" sz="1400" dirty="0" err="1">
                <a:latin typeface="Consolas" panose="020B0609020204030204" pitchFamily="49" charset="0"/>
              </a:rPr>
              <a:t>UseData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Data::</a:t>
            </a:r>
            <a:r>
              <a:rPr lang="en-US" sz="1400" dirty="0" err="1">
                <a:latin typeface="Consolas" panose="020B0609020204030204" pitchFamily="49" charset="0"/>
              </a:rPr>
              <a:t>UseData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Data::</a:t>
            </a:r>
            <a:r>
              <a:rPr lang="en-US" sz="1400" dirty="0" err="1">
                <a:latin typeface="Consolas" panose="020B0609020204030204" pitchFamily="49" charset="0"/>
              </a:rPr>
              <a:t>UseData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Data::</a:t>
            </a:r>
            <a:r>
              <a:rPr lang="en-US" sz="1400" dirty="0" err="1">
                <a:latin typeface="Consolas" panose="020B0609020204030204" pitchFamily="49" charset="0"/>
              </a:rPr>
              <a:t>UseData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9771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C0FEC-E438-CEAD-C602-EA9BA82D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Время измерить производительность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242E0A-0C3A-D432-AC9F-CE218CE0C873}"/>
              </a:ext>
            </a:extLst>
          </p:cNvPr>
          <p:cNvSpPr txBox="1"/>
          <p:nvPr/>
        </p:nvSpPr>
        <p:spPr>
          <a:xfrm>
            <a:off x="-14868" y="1915878"/>
            <a:ext cx="61108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numRounds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numRounds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219994-C1D2-A144-1309-F92C72C0D046}"/>
              </a:ext>
            </a:extLst>
          </p:cNvPr>
          <p:cNvSpPr txBox="1"/>
          <p:nvPr/>
        </p:nvSpPr>
        <p:spPr>
          <a:xfrm>
            <a:off x="6096000" y="1915878"/>
            <a:ext cx="61275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TestThreadsafe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numThreads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threads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numThreads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threads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emplace_back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34BD3A-6293-7CF9-68C8-99B6E7AD1B0B}"/>
              </a:ext>
            </a:extLst>
          </p:cNvPr>
          <p:cNvSpPr txBox="1"/>
          <p:nvPr/>
        </p:nvSpPr>
        <p:spPr>
          <a:xfrm>
            <a:off x="0" y="5767096"/>
            <a:ext cx="4101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Time: 20’016’400ns (0.0200164s)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96BFAE-7CF4-FD41-5C82-CB33EA4B4F14}"/>
              </a:ext>
            </a:extLst>
          </p:cNvPr>
          <p:cNvSpPr txBox="1"/>
          <p:nvPr/>
        </p:nvSpPr>
        <p:spPr>
          <a:xfrm>
            <a:off x="6079272" y="5772672"/>
            <a:ext cx="6110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Time: 5’317’164’800ns (5.31716s)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DE5FD7-FD54-16E4-F316-500A77481CFA}"/>
              </a:ext>
            </a:extLst>
          </p:cNvPr>
          <p:cNvSpPr txBox="1"/>
          <p:nvPr/>
        </p:nvSpPr>
        <p:spPr>
          <a:xfrm>
            <a:off x="3915936" y="6392236"/>
            <a:ext cx="4360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Разница во времени работы: 265 раз!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73C651-2AD5-75F5-05FF-4867E0A27F95}"/>
              </a:ext>
            </a:extLst>
          </p:cNvPr>
          <p:cNvSpPr txBox="1"/>
          <p:nvPr/>
        </p:nvSpPr>
        <p:spPr>
          <a:xfrm>
            <a:off x="-14868" y="5332198"/>
            <a:ext cx="11230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Processor: 12th Gen Intel(R) Core(TM) i7-12650H, 2300 </a:t>
            </a:r>
            <a:r>
              <a:rPr lang="en-US" dirty="0" err="1"/>
              <a:t>Mhz</a:t>
            </a:r>
            <a:r>
              <a:rPr lang="en-US" dirty="0"/>
              <a:t>, 10 Core(s), 16 Logical Processor(s)</a:t>
            </a:r>
          </a:p>
        </p:txBody>
      </p:sp>
    </p:spTree>
    <p:extLst>
      <p:ext uri="{BB962C8B-B14F-4D97-AF65-F5344CB8AC3E}">
        <p14:creationId xmlns:p14="http://schemas.microsoft.com/office/powerpoint/2010/main" val="80222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E48F2-99D7-7E7D-1028-935DF2D8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Решение: </a:t>
            </a:r>
            <a:r>
              <a:rPr lang="en-US" dirty="0"/>
              <a:t>Double-checked lock (DCL)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F53896-2C86-1542-362D-09DDB9A6F382}"/>
              </a:ext>
            </a:extLst>
          </p:cNvPr>
          <p:cNvSpPr txBox="1"/>
          <p:nvPr/>
        </p:nvSpPr>
        <p:spPr>
          <a:xfrm>
            <a:off x="838200" y="1632067"/>
            <a:ext cx="103130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 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ru-RU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UseData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F3DD8D-B0E2-CACD-E0F8-EDBA637E15B1}"/>
              </a:ext>
            </a:extLst>
          </p:cNvPr>
          <p:cNvSpPr txBox="1"/>
          <p:nvPr/>
        </p:nvSpPr>
        <p:spPr>
          <a:xfrm>
            <a:off x="7083812" y="4181953"/>
            <a:ext cx="4067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Time: 5’693’100ns (0.0056931s)</a:t>
            </a:r>
          </a:p>
        </p:txBody>
      </p:sp>
    </p:spTree>
    <p:extLst>
      <p:ext uri="{BB962C8B-B14F-4D97-AF65-F5344CB8AC3E}">
        <p14:creationId xmlns:p14="http://schemas.microsoft.com/office/powerpoint/2010/main" val="86279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9605D-7B23-FF23-78EB-529E5D92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BF9B1-C876-312A-8957-F6AE19DCA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Решение: </a:t>
            </a:r>
            <a:r>
              <a:rPr lang="en-US" dirty="0"/>
              <a:t>Double-checked lock (DCL)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ED389E-B678-1BA0-BC5F-963B0727585D}"/>
              </a:ext>
            </a:extLst>
          </p:cNvPr>
          <p:cNvSpPr txBox="1"/>
          <p:nvPr/>
        </p:nvSpPr>
        <p:spPr>
          <a:xfrm>
            <a:off x="838200" y="1632067"/>
            <a:ext cx="103130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 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UseData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A8F35F-4498-12AB-3A7A-C61D9418701D}"/>
              </a:ext>
            </a:extLst>
          </p:cNvPr>
          <p:cNvSpPr txBox="1"/>
          <p:nvPr/>
        </p:nvSpPr>
        <p:spPr>
          <a:xfrm>
            <a:off x="7727794" y="3802566"/>
            <a:ext cx="4464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Undefined behavior – </a:t>
            </a:r>
            <a:r>
              <a:rPr lang="ru-RU" dirty="0"/>
              <a:t>чтение </a:t>
            </a:r>
            <a:r>
              <a:rPr lang="en-US" dirty="0" err="1"/>
              <a:t>m_data</a:t>
            </a:r>
            <a:r>
              <a:rPr lang="en-US" dirty="0"/>
              <a:t> </a:t>
            </a:r>
            <a:r>
              <a:rPr lang="ru-RU" dirty="0"/>
              <a:t>и запись </a:t>
            </a:r>
            <a:r>
              <a:rPr lang="en-US" dirty="0" err="1"/>
              <a:t>m_data</a:t>
            </a:r>
            <a:r>
              <a:rPr lang="ru-RU" dirty="0"/>
              <a:t> не синхронизированы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64C2B2-BACC-7974-001C-933F7B0F4414}"/>
              </a:ext>
            </a:extLst>
          </p:cNvPr>
          <p:cNvSpPr/>
          <p:nvPr/>
        </p:nvSpPr>
        <p:spPr>
          <a:xfrm>
            <a:off x="6333893" y="5163015"/>
            <a:ext cx="4817327" cy="99336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Никогда так не делайте!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707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95FBD-5EFE-AC6A-7C95-A7E8B8F62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Однократная инициализация при помощи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call_once</a:t>
            </a:r>
            <a:br>
              <a:rPr lang="ru-RU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76527-5F7E-4DA0-0BB2-1867E2F6A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 err="1"/>
              <a:t>std</a:t>
            </a:r>
            <a:r>
              <a:rPr lang="ru-RU" b="1" dirty="0"/>
              <a:t>::</a:t>
            </a:r>
            <a:r>
              <a:rPr lang="ru-RU" b="1" dirty="0" err="1"/>
              <a:t>call_once</a:t>
            </a:r>
            <a:r>
              <a:rPr lang="ru-RU" dirty="0"/>
              <a:t> гарантирует, что функция будет выполнена ровно один раз даже при вызове из нескольких потоков</a:t>
            </a:r>
          </a:p>
          <a:p>
            <a:pPr lvl="1"/>
            <a:r>
              <a:rPr lang="ru-RU" dirty="0" err="1"/>
              <a:t>template</a:t>
            </a:r>
            <a:r>
              <a:rPr lang="ru-RU" dirty="0"/>
              <a:t>&lt;</a:t>
            </a:r>
            <a:r>
              <a:rPr lang="ru-RU" dirty="0" err="1"/>
              <a:t>class</a:t>
            </a:r>
            <a:r>
              <a:rPr lang="ru-RU" dirty="0"/>
              <a:t> </a:t>
            </a:r>
            <a:r>
              <a:rPr lang="ru-RU" dirty="0" err="1"/>
              <a:t>Callable</a:t>
            </a:r>
            <a:r>
              <a:rPr lang="ru-RU" dirty="0"/>
              <a:t>, </a:t>
            </a:r>
            <a:r>
              <a:rPr lang="ru-RU" dirty="0" err="1"/>
              <a:t>class</a:t>
            </a:r>
            <a:r>
              <a:rPr lang="ru-RU" dirty="0"/>
              <a:t>... </a:t>
            </a:r>
            <a:r>
              <a:rPr lang="ru-RU" dirty="0" err="1"/>
              <a:t>Args</a:t>
            </a:r>
            <a:r>
              <a:rPr lang="ru-RU" dirty="0"/>
              <a:t>&gt;</a:t>
            </a:r>
            <a:br>
              <a:rPr lang="ru-RU" dirty="0"/>
            </a:br>
            <a:r>
              <a:rPr lang="ru-RU" dirty="0" err="1"/>
              <a:t>void</a:t>
            </a:r>
            <a:r>
              <a:rPr lang="ru-RU" dirty="0"/>
              <a:t> </a:t>
            </a:r>
            <a:r>
              <a:rPr lang="ru-RU" dirty="0" err="1"/>
              <a:t>call_once</a:t>
            </a:r>
            <a:r>
              <a:rPr lang="ru-RU" dirty="0"/>
              <a:t>(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once_flag</a:t>
            </a:r>
            <a:r>
              <a:rPr lang="ru-RU" dirty="0"/>
              <a:t>&amp; </a:t>
            </a:r>
            <a:r>
              <a:rPr lang="ru-RU" dirty="0" err="1"/>
              <a:t>flag</a:t>
            </a:r>
            <a:r>
              <a:rPr lang="ru-RU" dirty="0"/>
              <a:t>, </a:t>
            </a:r>
            <a:r>
              <a:rPr lang="ru-RU" dirty="0" err="1"/>
              <a:t>Callable</a:t>
            </a:r>
            <a:r>
              <a:rPr lang="ru-RU" dirty="0"/>
              <a:t>&amp;&amp; f, </a:t>
            </a:r>
            <a:r>
              <a:rPr lang="ru-RU" dirty="0" err="1"/>
              <a:t>Args</a:t>
            </a:r>
            <a:r>
              <a:rPr lang="ru-RU" dirty="0"/>
              <a:t>&amp;&amp;... </a:t>
            </a:r>
            <a:r>
              <a:rPr lang="ru-RU" dirty="0" err="1"/>
              <a:t>args</a:t>
            </a:r>
            <a:r>
              <a:rPr lang="ru-RU" dirty="0"/>
              <a:t>);</a:t>
            </a:r>
          </a:p>
          <a:p>
            <a:r>
              <a:rPr lang="ru-RU" dirty="0"/>
              <a:t>Как это работает:</a:t>
            </a:r>
          </a:p>
          <a:p>
            <a:pPr lvl="1"/>
            <a:r>
              <a:rPr lang="ru-RU" dirty="0"/>
              <a:t>Первый поток выполняет функцию f (активный вызов)</a:t>
            </a:r>
          </a:p>
          <a:p>
            <a:pPr lvl="1"/>
            <a:r>
              <a:rPr lang="ru-RU" dirty="0"/>
              <a:t>Остальные потоки ждут завершения или сразу возвращаются (пассивные вызовы)</a:t>
            </a:r>
          </a:p>
          <a:p>
            <a:pPr lvl="1"/>
            <a:r>
              <a:rPr lang="ru-RU" dirty="0"/>
              <a:t>Если f выбрасывает исключение, инициализация считается неуспешной и может быть повторена</a:t>
            </a:r>
          </a:p>
          <a:p>
            <a:pPr lvl="1"/>
            <a:r>
              <a:rPr lang="ru-RU" dirty="0"/>
              <a:t>Если f завершилась успешно, все последующие вызовы не выполняют f</a:t>
            </a:r>
          </a:p>
          <a:p>
            <a:r>
              <a:rPr lang="ru-RU" dirty="0"/>
              <a:t>Гарантии:</a:t>
            </a:r>
          </a:p>
          <a:p>
            <a:pPr lvl="1"/>
            <a:r>
              <a:rPr lang="ru-RU" dirty="0"/>
              <a:t>Инициализация происходит ровно один раз</a:t>
            </a:r>
          </a:p>
          <a:p>
            <a:pPr lvl="1"/>
            <a:r>
              <a:rPr lang="ru-RU" dirty="0"/>
              <a:t>Все потоки увидят полностью инициализированное состояние</a:t>
            </a:r>
          </a:p>
          <a:p>
            <a:pPr lvl="1"/>
            <a:r>
              <a:rPr lang="ru-RU" dirty="0"/>
              <a:t>Между потоками устанавливается корректная синхронизация (</a:t>
            </a:r>
            <a:r>
              <a:rPr lang="ru-RU" dirty="0" err="1"/>
              <a:t>happens-before</a:t>
            </a:r>
            <a:r>
              <a:rPr lang="ru-RU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385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913B70-D071-9DBC-3D9F-C40D90190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использования</a:t>
            </a:r>
            <a:r>
              <a:rPr lang="en-US" dirty="0"/>
              <a:t> std::</a:t>
            </a:r>
            <a:r>
              <a:rPr lang="en-US" dirty="0" err="1"/>
              <a:t>call_once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98497F-C2CB-7A6A-2095-96C4A1834EE8}"/>
              </a:ext>
            </a:extLst>
          </p:cNvPr>
          <p:cNvSpPr txBox="1"/>
          <p:nvPr/>
        </p:nvSpPr>
        <p:spPr>
          <a:xfrm>
            <a:off x="838199" y="1690688"/>
            <a:ext cx="105155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once_flag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call_once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[] {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call_once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[] {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call_once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[] {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T3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0210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C1F40-19A2-9381-F40A-83937C35C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Ленивая инициализация с </a:t>
            </a:r>
            <a:r>
              <a:rPr lang="en-US" dirty="0" err="1"/>
              <a:t>call_once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3AD43-2A2E-6DDE-99DA-1EACC470AF7D}"/>
              </a:ext>
            </a:extLst>
          </p:cNvPr>
          <p:cNvSpPr txBox="1"/>
          <p:nvPr/>
        </p:nvSpPr>
        <p:spPr>
          <a:xfrm>
            <a:off x="838200" y="1823876"/>
            <a:ext cx="52578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call_once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m_initFlag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UseData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once_flag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m_initFlag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DBE75-09E6-3A79-FEA4-CA381FC4984A}"/>
              </a:ext>
            </a:extLst>
          </p:cNvPr>
          <p:cNvSpPr txBox="1"/>
          <p:nvPr/>
        </p:nvSpPr>
        <p:spPr>
          <a:xfrm>
            <a:off x="6579220" y="6308209"/>
            <a:ext cx="5612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call_once</a:t>
            </a:r>
            <a:r>
              <a:rPr lang="en-US" dirty="0">
                <a:latin typeface="Consolas" panose="020B0609020204030204" pitchFamily="49" charset="0"/>
              </a:rPr>
              <a:t> time: 52’848’500ns (0.0528485s)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CC467-B236-CFB8-9B93-1A3BC95D3058}"/>
              </a:ext>
            </a:extLst>
          </p:cNvPr>
          <p:cNvSpPr txBox="1"/>
          <p:nvPr/>
        </p:nvSpPr>
        <p:spPr>
          <a:xfrm>
            <a:off x="0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Single threaded time: 20’016’400ns (0.0200164s)</a:t>
            </a:r>
          </a:p>
        </p:txBody>
      </p:sp>
    </p:spTree>
    <p:extLst>
      <p:ext uri="{BB962C8B-B14F-4D97-AF65-F5344CB8AC3E}">
        <p14:creationId xmlns:p14="http://schemas.microsoft.com/office/powerpoint/2010/main" val="244961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9A8396-53B2-B60C-AD19-F5FFF3D59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памяти </a:t>
            </a:r>
            <a:r>
              <a:rPr lang="en-US" dirty="0"/>
              <a:t>C++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93A3A2-5080-8CAE-0C74-8BD960A6C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73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2F3083-E53C-9F99-4E7C-3E3DD3ACC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памяти и многопоточность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A4268D-5A7B-FC34-A8B9-F1622F025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До C++11 язык не имел формальной модели памяти для многопоточности</a:t>
            </a:r>
          </a:p>
          <a:p>
            <a:pPr lvl="1"/>
            <a:r>
              <a:rPr lang="ru-RU" dirty="0"/>
              <a:t>Компилятор мог свободно оптимизировать код, предполагая один поток</a:t>
            </a:r>
          </a:p>
          <a:p>
            <a:pPr lvl="1"/>
            <a:r>
              <a:rPr lang="ru-RU" dirty="0"/>
              <a:t>Поведение многопоточных программ было не определено стандартом</a:t>
            </a:r>
          </a:p>
          <a:p>
            <a:pPr lvl="1"/>
            <a:r>
              <a:rPr lang="ru-RU" dirty="0"/>
              <a:t>Использовались платформенные и нестандартные механизмы</a:t>
            </a:r>
          </a:p>
          <a:p>
            <a:r>
              <a:rPr lang="ru-RU" dirty="0"/>
              <a:t>C++11 вводит модель памяти:</a:t>
            </a:r>
          </a:p>
          <a:p>
            <a:pPr lvl="1"/>
            <a:r>
              <a:rPr lang="ru-RU" dirty="0"/>
              <a:t>Определяет правила взаимодействия потоков через память</a:t>
            </a:r>
          </a:p>
          <a:p>
            <a:pPr lvl="1"/>
            <a:r>
              <a:rPr lang="ru-RU" dirty="0"/>
              <a:t>Вводит понятия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race</a:t>
            </a:r>
            <a:r>
              <a:rPr lang="ru-RU" dirty="0"/>
              <a:t>, </a:t>
            </a:r>
            <a:r>
              <a:rPr lang="ru-RU" dirty="0" err="1"/>
              <a:t>happens-before</a:t>
            </a:r>
            <a:r>
              <a:rPr lang="ru-RU" dirty="0"/>
              <a:t> и синхронизации</a:t>
            </a:r>
          </a:p>
          <a:p>
            <a:pPr lvl="1"/>
            <a:r>
              <a:rPr lang="ru-RU" dirty="0"/>
              <a:t>Добавляет атомарные типы и операции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067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D58A-04BF-9F14-5CF2-ABA8331B5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«Объект»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FA89C-36EF-54B0-B916-3AF7BD96D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 C++ данные представлены </a:t>
            </a:r>
            <a:r>
              <a:rPr lang="ru-RU" b="1" dirty="0"/>
              <a:t>объектами</a:t>
            </a:r>
            <a:r>
              <a:rPr lang="en-US" dirty="0"/>
              <a:t>. </a:t>
            </a:r>
            <a:r>
              <a:rPr lang="ru-RU" dirty="0"/>
              <a:t>Объект — это:</a:t>
            </a:r>
          </a:p>
          <a:p>
            <a:pPr lvl="1"/>
            <a:r>
              <a:rPr lang="ru-RU" dirty="0"/>
              <a:t>область памяти</a:t>
            </a:r>
          </a:p>
          <a:p>
            <a:pPr lvl="1"/>
            <a:r>
              <a:rPr lang="ru-RU" dirty="0"/>
              <a:t>с типом</a:t>
            </a:r>
          </a:p>
          <a:p>
            <a:pPr lvl="1"/>
            <a:r>
              <a:rPr lang="ru-RU" dirty="0"/>
              <a:t>и временем жизни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Объекты могут содержать подобъекты</a:t>
            </a:r>
          </a:p>
          <a:p>
            <a:pPr lvl="1"/>
            <a:r>
              <a:rPr lang="ru-RU" dirty="0"/>
              <a:t>Один объект может занимать несколько областей памяти</a:t>
            </a:r>
          </a:p>
          <a:p>
            <a:pPr lvl="1"/>
            <a:r>
              <a:rPr lang="ru-RU" dirty="0"/>
              <a:t>Несколько объектов могут находиться в одной области памяти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ru-RU" dirty="0"/>
              <a:t>поля структуры</a:t>
            </a:r>
          </a:p>
          <a:p>
            <a:pPr lvl="1"/>
            <a:r>
              <a:rPr lang="ru-RU" dirty="0"/>
              <a:t>элементы массива</a:t>
            </a:r>
          </a:p>
          <a:p>
            <a:pPr lvl="1"/>
            <a:r>
              <a:rPr lang="ru-RU" dirty="0"/>
              <a:t>битовые поля</a:t>
            </a:r>
          </a:p>
        </p:txBody>
      </p:sp>
    </p:spTree>
    <p:extLst>
      <p:ext uri="{BB962C8B-B14F-4D97-AF65-F5344CB8AC3E}">
        <p14:creationId xmlns:p14="http://schemas.microsoft.com/office/powerpoint/2010/main" val="345302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EEBA5-D1F3-BF54-C82E-40D31D6F7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7B4A8-74F0-BCE3-4B39-53C0CCE4F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Правила размещения объектов в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DA2EA-254F-6291-4364-9861A59C7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Основные правила:</a:t>
            </a:r>
          </a:p>
          <a:p>
            <a:pPr lvl="1"/>
            <a:r>
              <a:rPr lang="ru-RU" dirty="0"/>
              <a:t>Каждая переменная — это объект</a:t>
            </a:r>
          </a:p>
          <a:p>
            <a:pPr lvl="1"/>
            <a:r>
              <a:rPr lang="ru-RU" dirty="0"/>
              <a:t>Даже поле структуры — отдельный объект</a:t>
            </a:r>
          </a:p>
          <a:p>
            <a:r>
              <a:rPr lang="ru-RU" dirty="0"/>
              <a:t>Размещение в памяти:</a:t>
            </a:r>
          </a:p>
          <a:p>
            <a:pPr lvl="1"/>
            <a:r>
              <a:rPr lang="ru-RU" dirty="0"/>
              <a:t>Каждый объект занимает как минимум одну область памяти</a:t>
            </a:r>
          </a:p>
          <a:p>
            <a:pPr lvl="1"/>
            <a:r>
              <a:rPr lang="ru-RU" dirty="0"/>
              <a:t>Объекты фундаментальных типов занимают одну область</a:t>
            </a:r>
          </a:p>
          <a:p>
            <a:pPr lvl="1"/>
            <a:r>
              <a:rPr lang="ru-RU" dirty="0"/>
              <a:t>Подобъекты могут занимать отдельные области</a:t>
            </a:r>
          </a:p>
          <a:p>
            <a:r>
              <a:rPr lang="ru-RU" dirty="0"/>
              <a:t>Особый случай:</a:t>
            </a:r>
          </a:p>
          <a:p>
            <a:pPr lvl="1"/>
            <a:r>
              <a:rPr lang="ru-RU" dirty="0"/>
              <a:t>Смежные битовые поля могут делить одну область памяти</a:t>
            </a:r>
          </a:p>
          <a:p>
            <a:pPr lvl="1"/>
            <a:r>
              <a:rPr lang="ru-RU" dirty="0"/>
              <a:t>Битовое поле нулевой длины разделяет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164882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17E787-E891-2D5E-31BA-DBF24C54C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Хранение структуры в памяти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B2F2D-5450-35D0-60FF-18FF1C6D0189}"/>
              </a:ext>
            </a:extLst>
          </p:cNvPr>
          <p:cNvSpPr txBox="1"/>
          <p:nvPr/>
        </p:nvSpPr>
        <p:spPr>
          <a:xfrm>
            <a:off x="838200" y="2086496"/>
            <a:ext cx="34884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bf1 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bf2 : </a:t>
            </a:r>
            <a:r>
              <a:rPr lang="ru-RU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/*bf3*/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bf4 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i2;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c1, c2;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std::string s;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D9F118-BFD7-3559-0610-2F38B2015C1D}"/>
              </a:ext>
            </a:extLst>
          </p:cNvPr>
          <p:cNvSpPr/>
          <p:nvPr/>
        </p:nvSpPr>
        <p:spPr>
          <a:xfrm>
            <a:off x="4068957" y="1616076"/>
            <a:ext cx="1925444" cy="508584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5B1613-4FF6-D88E-D4E0-F27370D38B65}"/>
              </a:ext>
            </a:extLst>
          </p:cNvPr>
          <p:cNvSpPr/>
          <p:nvPr/>
        </p:nvSpPr>
        <p:spPr>
          <a:xfrm>
            <a:off x="4233127" y="1767372"/>
            <a:ext cx="1602524" cy="483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4E89EC-9023-7375-B5F7-25C8339B6637}"/>
              </a:ext>
            </a:extLst>
          </p:cNvPr>
          <p:cNvSpPr/>
          <p:nvPr/>
        </p:nvSpPr>
        <p:spPr>
          <a:xfrm>
            <a:off x="4331628" y="1863123"/>
            <a:ext cx="1386469" cy="3014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i</a:t>
            </a: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7BBE55-2418-3D41-1D88-D128A6A70ADE}"/>
              </a:ext>
            </a:extLst>
          </p:cNvPr>
          <p:cNvSpPr/>
          <p:nvPr/>
        </p:nvSpPr>
        <p:spPr>
          <a:xfrm>
            <a:off x="4233127" y="2320478"/>
            <a:ext cx="1602524" cy="483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24A170-4A12-4B6E-2C35-62F9E783BD3E}"/>
              </a:ext>
            </a:extLst>
          </p:cNvPr>
          <p:cNvSpPr/>
          <p:nvPr/>
        </p:nvSpPr>
        <p:spPr>
          <a:xfrm>
            <a:off x="4331628" y="2416228"/>
            <a:ext cx="1386469" cy="3014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0626A2-9997-9170-CB79-B073C583CF71}"/>
              </a:ext>
            </a:extLst>
          </p:cNvPr>
          <p:cNvSpPr/>
          <p:nvPr/>
        </p:nvSpPr>
        <p:spPr>
          <a:xfrm>
            <a:off x="4233127" y="2870719"/>
            <a:ext cx="1602524" cy="483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C080B6-EBFA-10AE-D478-D40547AC9EF0}"/>
              </a:ext>
            </a:extLst>
          </p:cNvPr>
          <p:cNvSpPr/>
          <p:nvPr/>
        </p:nvSpPr>
        <p:spPr>
          <a:xfrm>
            <a:off x="4331628" y="2966470"/>
            <a:ext cx="634071" cy="3014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bf1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426B1A-216D-B90A-68E5-9E32CACCEB21}"/>
              </a:ext>
            </a:extLst>
          </p:cNvPr>
          <p:cNvSpPr/>
          <p:nvPr/>
        </p:nvSpPr>
        <p:spPr>
          <a:xfrm>
            <a:off x="5084026" y="2966470"/>
            <a:ext cx="634071" cy="3014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bf2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C5FF71-FB16-ED49-9719-41ABB2E98546}"/>
              </a:ext>
            </a:extLst>
          </p:cNvPr>
          <p:cNvSpPr/>
          <p:nvPr/>
        </p:nvSpPr>
        <p:spPr>
          <a:xfrm>
            <a:off x="4233127" y="3413489"/>
            <a:ext cx="1602524" cy="483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67A7BC-1452-8056-CF9B-367BE9ABC27D}"/>
              </a:ext>
            </a:extLst>
          </p:cNvPr>
          <p:cNvSpPr/>
          <p:nvPr/>
        </p:nvSpPr>
        <p:spPr>
          <a:xfrm>
            <a:off x="4331628" y="3509239"/>
            <a:ext cx="1386469" cy="3014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bf4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4278E7-0C23-FF1D-D458-F687E4210CD2}"/>
              </a:ext>
            </a:extLst>
          </p:cNvPr>
          <p:cNvSpPr/>
          <p:nvPr/>
        </p:nvSpPr>
        <p:spPr>
          <a:xfrm>
            <a:off x="4233127" y="3952272"/>
            <a:ext cx="1602524" cy="483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0F1898-D768-226B-F2E6-B54346BB2F08}"/>
              </a:ext>
            </a:extLst>
          </p:cNvPr>
          <p:cNvSpPr/>
          <p:nvPr/>
        </p:nvSpPr>
        <p:spPr>
          <a:xfrm>
            <a:off x="4331628" y="4048023"/>
            <a:ext cx="1386469" cy="3014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350BE3-0F13-FA08-744C-B613279C6094}"/>
              </a:ext>
            </a:extLst>
          </p:cNvPr>
          <p:cNvSpPr/>
          <p:nvPr/>
        </p:nvSpPr>
        <p:spPr>
          <a:xfrm>
            <a:off x="4233127" y="4488796"/>
            <a:ext cx="1602524" cy="483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6BF532-BDC6-CC68-C090-F735FBFF3132}"/>
              </a:ext>
            </a:extLst>
          </p:cNvPr>
          <p:cNvSpPr/>
          <p:nvPr/>
        </p:nvSpPr>
        <p:spPr>
          <a:xfrm>
            <a:off x="4331628" y="4584545"/>
            <a:ext cx="1386469" cy="3014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ch1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E45BD8-1E32-64FC-025C-8625E44E66D6}"/>
              </a:ext>
            </a:extLst>
          </p:cNvPr>
          <p:cNvSpPr/>
          <p:nvPr/>
        </p:nvSpPr>
        <p:spPr>
          <a:xfrm>
            <a:off x="4233127" y="5008482"/>
            <a:ext cx="1602524" cy="483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668AD9-4BA9-2672-311C-B06233FFFD76}"/>
              </a:ext>
            </a:extLst>
          </p:cNvPr>
          <p:cNvSpPr/>
          <p:nvPr/>
        </p:nvSpPr>
        <p:spPr>
          <a:xfrm>
            <a:off x="4331628" y="5104232"/>
            <a:ext cx="1386469" cy="3014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ch</a:t>
            </a:r>
            <a:r>
              <a:rPr lang="ru-RU" sz="1600" dirty="0"/>
              <a:t>2</a:t>
            </a:r>
            <a:endParaRPr lang="en-US" sz="16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4FD5C4-6FB6-8AF8-6215-659DEDEC4FA4}"/>
              </a:ext>
            </a:extLst>
          </p:cNvPr>
          <p:cNvSpPr/>
          <p:nvPr/>
        </p:nvSpPr>
        <p:spPr>
          <a:xfrm>
            <a:off x="4233127" y="5567031"/>
            <a:ext cx="1602524" cy="483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012097-1886-5E4B-D9CB-FC414E00865C}"/>
              </a:ext>
            </a:extLst>
          </p:cNvPr>
          <p:cNvSpPr/>
          <p:nvPr/>
        </p:nvSpPr>
        <p:spPr>
          <a:xfrm>
            <a:off x="4331628" y="5662782"/>
            <a:ext cx="1386469" cy="3014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ch</a:t>
            </a:r>
            <a:r>
              <a:rPr lang="ru-RU" sz="1600" dirty="0"/>
              <a:t>2</a:t>
            </a:r>
            <a:endParaRPr lang="en-US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347263-023E-80FB-FA6F-2280F4D032A1}"/>
              </a:ext>
            </a:extLst>
          </p:cNvPr>
          <p:cNvSpPr/>
          <p:nvPr/>
        </p:nvSpPr>
        <p:spPr>
          <a:xfrm>
            <a:off x="4233127" y="6103845"/>
            <a:ext cx="1602524" cy="483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8FDF62-C784-0D88-0890-B9C9F59EF28E}"/>
              </a:ext>
            </a:extLst>
          </p:cNvPr>
          <p:cNvSpPr/>
          <p:nvPr/>
        </p:nvSpPr>
        <p:spPr>
          <a:xfrm>
            <a:off x="4331628" y="6199595"/>
            <a:ext cx="1386469" cy="3014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B28185-8299-8E6B-21A6-F15098DCA179}"/>
              </a:ext>
            </a:extLst>
          </p:cNvPr>
          <p:cNvSpPr/>
          <p:nvPr/>
        </p:nvSpPr>
        <p:spPr>
          <a:xfrm>
            <a:off x="6395299" y="2967703"/>
            <a:ext cx="1925443" cy="483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Область памяти</a:t>
            </a:r>
            <a:endParaRPr lang="en-US" sz="16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0BC2C39-C3DB-CB85-0D7E-B90CFE234419}"/>
              </a:ext>
            </a:extLst>
          </p:cNvPr>
          <p:cNvSpPr/>
          <p:nvPr/>
        </p:nvSpPr>
        <p:spPr>
          <a:xfrm>
            <a:off x="6395300" y="2251144"/>
            <a:ext cx="1925442" cy="48666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Объект</a:t>
            </a:r>
            <a:endParaRPr lang="en-US" sz="16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28BA966-719D-57C6-6294-A3E33B992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95299" y="3877311"/>
            <a:ext cx="5593501" cy="247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587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AF421-D75C-B490-BC5A-1C4A05FC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Еще раз </a:t>
            </a:r>
            <a:r>
              <a:rPr lang="ru-RU"/>
              <a:t>про гонку </a:t>
            </a:r>
            <a:r>
              <a:rPr lang="ru-RU" dirty="0"/>
              <a:t>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9DB93-6B3F-9429-E8E9-20DEB64FA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Когда доступ безопасен:</a:t>
            </a:r>
          </a:p>
          <a:p>
            <a:pPr lvl="1"/>
            <a:r>
              <a:rPr lang="ru-RU" dirty="0"/>
              <a:t>Потоки работают с разными областями памяти</a:t>
            </a:r>
          </a:p>
          <a:p>
            <a:pPr lvl="1"/>
            <a:r>
              <a:rPr lang="ru-RU" dirty="0"/>
              <a:t>Потоки только читают одну и ту же область</a:t>
            </a:r>
          </a:p>
          <a:p>
            <a:r>
              <a:rPr lang="ru-RU" dirty="0"/>
              <a:t>Когда возникает проблема:</a:t>
            </a:r>
          </a:p>
          <a:p>
            <a:pPr lvl="1"/>
            <a:r>
              <a:rPr lang="ru-RU" dirty="0"/>
              <a:t>Хотя бы один поток записывает в область памяти</a:t>
            </a:r>
          </a:p>
          <a:p>
            <a:pPr lvl="1"/>
            <a:r>
              <a:rPr lang="ru-RU" dirty="0"/>
              <a:t>И нет синхронизации между потоками</a:t>
            </a:r>
          </a:p>
          <a:p>
            <a:pPr lvl="1"/>
            <a:r>
              <a:rPr lang="ru-RU" dirty="0"/>
              <a:t>Это называется </a:t>
            </a:r>
            <a:r>
              <a:rPr lang="ru-RU" b="1" dirty="0"/>
              <a:t>гонка данных (</a:t>
            </a:r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b="1" dirty="0" err="1"/>
              <a:t>race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Последствия:</a:t>
            </a:r>
          </a:p>
          <a:p>
            <a:pPr lvl="1"/>
            <a:r>
              <a:rPr lang="ru-RU" dirty="0"/>
              <a:t>Неопределённое поведение (</a:t>
            </a:r>
            <a:r>
              <a:rPr lang="ru-RU" dirty="0" err="1"/>
              <a:t>undefined</a:t>
            </a:r>
            <a:r>
              <a:rPr lang="ru-RU" dirty="0"/>
              <a:t> </a:t>
            </a:r>
            <a:r>
              <a:rPr lang="ru-RU" dirty="0" err="1"/>
              <a:t>behavior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Программа может работать “иногда правильно”</a:t>
            </a:r>
          </a:p>
          <a:p>
            <a:r>
              <a:rPr lang="ru-RU" dirty="0"/>
              <a:t>Как избежать:</a:t>
            </a:r>
          </a:p>
          <a:p>
            <a:pPr lvl="1"/>
            <a:r>
              <a:rPr lang="ru-RU" dirty="0"/>
              <a:t>Мьютексы и другие примитивы синхронизации</a:t>
            </a:r>
          </a:p>
          <a:p>
            <a:pPr lvl="1"/>
            <a:r>
              <a:rPr lang="ru-RU" dirty="0"/>
              <a:t>Атомарные операции</a:t>
            </a:r>
          </a:p>
        </p:txBody>
      </p:sp>
    </p:spTree>
    <p:extLst>
      <p:ext uri="{BB962C8B-B14F-4D97-AF65-F5344CB8AC3E}">
        <p14:creationId xmlns:p14="http://schemas.microsoft.com/office/powerpoint/2010/main" val="389418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10F6E-CF4C-7EC4-3F12-E41C97F44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модификаций</a:t>
            </a:r>
            <a:r>
              <a:rPr lang="en-US" dirty="0"/>
              <a:t> </a:t>
            </a:r>
            <a:r>
              <a:rPr lang="ru-RU" dirty="0"/>
              <a:t>объекта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3AEBE-29B3-5107-531D-AC9C51A03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Порядок модификаций — это:</a:t>
            </a:r>
          </a:p>
          <a:p>
            <a:pPr lvl="1"/>
            <a:r>
              <a:rPr lang="ru-RU" dirty="0"/>
              <a:t>последовательность всех записей в объект</a:t>
            </a:r>
          </a:p>
          <a:p>
            <a:pPr lvl="1"/>
            <a:r>
              <a:rPr lang="ru-RU" dirty="0"/>
              <a:t>начиная с его инициализации</a:t>
            </a:r>
          </a:p>
          <a:p>
            <a:r>
              <a:rPr lang="ru-RU" dirty="0"/>
              <a:t>Свойства:</a:t>
            </a:r>
          </a:p>
          <a:p>
            <a:pPr lvl="1"/>
            <a:r>
              <a:rPr lang="ru-RU" dirty="0"/>
              <a:t>В разных запусках порядок может отличаться</a:t>
            </a:r>
          </a:p>
          <a:p>
            <a:pPr lvl="1"/>
            <a:r>
              <a:rPr lang="ru-RU" dirty="0"/>
              <a:t>В одном запуске порядок един для всех потоков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Все потоки должны наблюдать один и тот же порядок записей</a:t>
            </a:r>
          </a:p>
          <a:p>
            <a:pPr lvl="1"/>
            <a:r>
              <a:rPr lang="ru-RU" dirty="0"/>
              <a:t>Если потоки видят разный порядок → это </a:t>
            </a:r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b="1" dirty="0" err="1"/>
              <a:t>race</a:t>
            </a:r>
            <a:r>
              <a:rPr lang="ru-RU" b="1" dirty="0"/>
              <a:t> → UB</a:t>
            </a:r>
            <a:endParaRPr lang="ru-RU" dirty="0"/>
          </a:p>
          <a:p>
            <a:r>
              <a:rPr lang="ru-RU" dirty="0"/>
              <a:t>Синхронизация:</a:t>
            </a:r>
          </a:p>
          <a:p>
            <a:pPr lvl="1"/>
            <a:r>
              <a:rPr lang="ru-RU" dirty="0"/>
              <a:t>Для атомарных объектов порядок обеспечивает язык</a:t>
            </a:r>
          </a:p>
          <a:p>
            <a:pPr lvl="1"/>
            <a:r>
              <a:rPr lang="ru-RU" dirty="0"/>
              <a:t>Для неатомарных объектов синхронизацию должен обеспечить программист</a:t>
            </a:r>
          </a:p>
        </p:txBody>
      </p:sp>
    </p:spTree>
    <p:extLst>
      <p:ext uri="{BB962C8B-B14F-4D97-AF65-F5344CB8AC3E}">
        <p14:creationId xmlns:p14="http://schemas.microsoft.com/office/powerpoint/2010/main" val="405171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5F995-F6D8-4F3E-FC99-ACB15542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Спекулятивное выполнение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4E17B-717B-3E83-27D5-086D7796B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повышения производительности:</a:t>
            </a:r>
          </a:p>
          <a:p>
            <a:pPr lvl="1"/>
            <a:r>
              <a:rPr lang="ru-RU" dirty="0"/>
              <a:t>Компилятор может переупорядочивать инструкции</a:t>
            </a:r>
          </a:p>
          <a:p>
            <a:pPr lvl="1"/>
            <a:r>
              <a:rPr lang="ru-RU" dirty="0"/>
              <a:t>Процессор может менять порядок выполнения операций</a:t>
            </a:r>
          </a:p>
          <a:p>
            <a:r>
              <a:rPr lang="ru-RU" dirty="0"/>
              <a:t>Что сохраняется:</a:t>
            </a:r>
          </a:p>
          <a:p>
            <a:pPr lvl="1"/>
            <a:r>
              <a:rPr lang="ru-RU" dirty="0"/>
              <a:t>Поведение должно быть корректным для одного потока</a:t>
            </a:r>
          </a:p>
          <a:p>
            <a:r>
              <a:rPr lang="ru-RU" dirty="0"/>
              <a:t>Но:</a:t>
            </a:r>
          </a:p>
          <a:p>
            <a:pPr lvl="1"/>
            <a:r>
              <a:rPr lang="ru-RU" dirty="0"/>
              <a:t>Между потоками порядок может выглядеть иначе</a:t>
            </a:r>
          </a:p>
          <a:p>
            <a:pPr lvl="1"/>
            <a:r>
              <a:rPr lang="ru-RU" dirty="0"/>
              <a:t>👉 Порядок операций в коде ≠ порядок выполнения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2334646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3649A-BDB1-9EFE-F8A7-5C261E1B8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на спекулятивное выполнение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9EE7B-9D2C-08ED-00DE-DB1D27EC5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Гарантии внутри одного потока:</a:t>
            </a:r>
          </a:p>
          <a:p>
            <a:pPr lvl="1"/>
            <a:r>
              <a:rPr lang="ru-RU" dirty="0"/>
              <a:t>После чтения нельзя увидеть более старое значение</a:t>
            </a:r>
          </a:p>
          <a:p>
            <a:pPr lvl="1"/>
            <a:r>
              <a:rPr lang="ru-RU" dirty="0"/>
              <a:t>После записи последующие чтения увидят это значение или более новое</a:t>
            </a:r>
          </a:p>
          <a:p>
            <a:r>
              <a:rPr lang="ru-RU" dirty="0"/>
              <a:t>Но:</a:t>
            </a:r>
          </a:p>
          <a:p>
            <a:pPr lvl="1"/>
            <a:r>
              <a:rPr lang="ru-RU" dirty="0"/>
              <a:t>Порядок операций между разными переменными не гарантирован</a:t>
            </a:r>
          </a:p>
          <a:p>
            <a:pPr lvl="1"/>
            <a:r>
              <a:rPr lang="ru-RU" dirty="0"/>
              <a:t>Разные потоки могут видеть разный порядок операций</a:t>
            </a:r>
          </a:p>
          <a:p>
            <a:pPr lvl="1"/>
            <a:r>
              <a:rPr lang="ru-RU" dirty="0"/>
              <a:t>Нет </a:t>
            </a:r>
            <a:r>
              <a:rPr lang="ru-RU" b="1" dirty="0"/>
              <a:t>единого глобального порядка</a:t>
            </a:r>
            <a:r>
              <a:rPr lang="ru-RU" dirty="0"/>
              <a:t> для всех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3128596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43DE76-126E-6219-6702-B679B4604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Переупорядочивания операций чтения и записи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1DAF8-0172-AAF1-E7F3-EC8902623F6B}"/>
              </a:ext>
            </a:extLst>
          </p:cNvPr>
          <p:cNvSpPr txBox="1"/>
          <p:nvPr/>
        </p:nvSpPr>
        <p:spPr>
          <a:xfrm>
            <a:off x="838200" y="1691561"/>
            <a:ext cx="66868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fr-F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y = </a:t>
            </a:r>
            <a:r>
              <a:rPr lang="fr-F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fr-F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b = </a:t>
            </a:r>
            <a:r>
              <a:rPr lang="fr-F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fr-FR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[] {</a:t>
            </a:r>
          </a:p>
          <a:p>
            <a:pPr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 = </a:t>
            </a:r>
            <a:r>
              <a:rPr lang="fr-F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b = </a:t>
            </a:r>
            <a:r>
              <a:rPr lang="fr-F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pPr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fr-FR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[] {</a:t>
            </a:r>
          </a:p>
          <a:p>
            <a:pPr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x = b;</a:t>
            </a:r>
          </a:p>
          <a:p>
            <a:pPr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y = a;</a:t>
            </a:r>
          </a:p>
          <a:p>
            <a:pPr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pPr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fr-FR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fr-FR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std::cout &lt;&lt; </a:t>
            </a:r>
            <a:r>
              <a:rPr lang="fr-FR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x: </a:t>
            </a:r>
            <a:r>
              <a:rPr lang="fr-FR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x &lt;&lt; </a:t>
            </a:r>
            <a:r>
              <a:rPr lang="fr-FR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y: </a:t>
            </a:r>
            <a:r>
              <a:rPr lang="fr-FR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y &lt;&lt; </a:t>
            </a:r>
            <a:r>
              <a:rPr lang="fr-FR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fr-FR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78E4C3-2633-6F60-1523-B0149BD24294}"/>
              </a:ext>
            </a:extLst>
          </p:cNvPr>
          <p:cNvSpPr txBox="1"/>
          <p:nvPr/>
        </p:nvSpPr>
        <p:spPr>
          <a:xfrm>
            <a:off x="6121259" y="2023110"/>
            <a:ext cx="52325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Возможный вывод, если закрыть глаза на </a:t>
            </a:r>
            <a:r>
              <a:rPr lang="en-US" dirty="0"/>
              <a:t>UB:</a:t>
            </a:r>
          </a:p>
          <a:p>
            <a:r>
              <a:rPr lang="en-US" dirty="0"/>
              <a:t>x: 2, y: 1</a:t>
            </a:r>
          </a:p>
          <a:p>
            <a:r>
              <a:rPr lang="en-US" dirty="0"/>
              <a:t>x: 4, y: 3</a:t>
            </a:r>
          </a:p>
          <a:p>
            <a:r>
              <a:rPr lang="en-US" dirty="0"/>
              <a:t>x: 4, y: 1</a:t>
            </a:r>
          </a:p>
          <a:p>
            <a:r>
              <a:rPr lang="en-US" dirty="0"/>
              <a:t>x: 2, y: 3</a:t>
            </a:r>
          </a:p>
        </p:txBody>
      </p:sp>
    </p:spTree>
    <p:extLst>
      <p:ext uri="{BB962C8B-B14F-4D97-AF65-F5344CB8AC3E}">
        <p14:creationId xmlns:p14="http://schemas.microsoft.com/office/powerpoint/2010/main" val="845361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886B59-7BEC-EFC2-490E-077A6D5F1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Атомарные операции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DC619-8AC6-0B24-DF11-46E9B17F7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77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905B48-FAD6-E77A-03F7-FF7505BAA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Атомарные и неатомарные операции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B455CF-C1BD-EA87-C048-8406C9499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Атомарные операции:</a:t>
            </a:r>
          </a:p>
          <a:p>
            <a:pPr lvl="1"/>
            <a:r>
              <a:rPr lang="ru-RU" dirty="0"/>
              <a:t>Выполняются как единое целое</a:t>
            </a:r>
          </a:p>
          <a:p>
            <a:pPr lvl="1"/>
            <a:r>
              <a:rPr lang="ru-RU" dirty="0"/>
              <a:t>Нельзя наблюдать частично выполненное состояние</a:t>
            </a:r>
          </a:p>
          <a:p>
            <a:pPr lvl="1"/>
            <a:r>
              <a:rPr lang="ru-RU" dirty="0"/>
              <a:t>Чтение возвращает корректное значение</a:t>
            </a:r>
          </a:p>
          <a:p>
            <a:r>
              <a:rPr lang="ru-RU" dirty="0"/>
              <a:t>Неатомарные операции:</a:t>
            </a:r>
          </a:p>
          <a:p>
            <a:pPr lvl="1"/>
            <a:r>
              <a:rPr lang="ru-RU" dirty="0"/>
              <a:t>Могут быть видны частично</a:t>
            </a:r>
          </a:p>
          <a:p>
            <a:pPr lvl="1"/>
            <a:r>
              <a:rPr lang="ru-RU" dirty="0"/>
              <a:t>Возможны “смешанные” состояния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Несинхронизированный доступ влечёт </a:t>
            </a:r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b="1" dirty="0" err="1"/>
              <a:t>race</a:t>
            </a:r>
            <a:r>
              <a:rPr lang="ru-RU" dirty="0"/>
              <a:t>, а это</a:t>
            </a:r>
            <a:r>
              <a:rPr lang="ru-RU" b="1" dirty="0"/>
              <a:t> UB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527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9FF1B-CC4D-751B-C70B-54E2123D6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Стандартные атомарные типы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A78B5-7DF4-1BCB-A848-8BF2235F2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Атомарные типы в C++:</a:t>
            </a:r>
          </a:p>
          <a:p>
            <a:pPr lvl="1"/>
            <a:r>
              <a:rPr lang="ru-RU" dirty="0"/>
              <a:t>Определены в &lt;</a:t>
            </a:r>
            <a:r>
              <a:rPr lang="ru-RU" dirty="0" err="1"/>
              <a:t>atomic</a:t>
            </a:r>
            <a:r>
              <a:rPr lang="ru-RU" dirty="0"/>
              <a:t>&gt;</a:t>
            </a:r>
          </a:p>
          <a:p>
            <a:pPr lvl="1"/>
            <a:r>
              <a:rPr lang="ru-RU" dirty="0"/>
              <a:t>Обеспечивают атомарные операции</a:t>
            </a:r>
          </a:p>
          <a:p>
            <a:r>
              <a:rPr lang="ru-RU" dirty="0"/>
              <a:t>Производительность:</a:t>
            </a:r>
          </a:p>
          <a:p>
            <a:pPr lvl="1"/>
            <a:r>
              <a:rPr lang="ru-RU" dirty="0"/>
              <a:t>Могут быть </a:t>
            </a:r>
            <a:r>
              <a:rPr lang="ru-RU" dirty="0" err="1"/>
              <a:t>lock-free</a:t>
            </a:r>
            <a:r>
              <a:rPr lang="ru-RU" dirty="0"/>
              <a:t> или использовать блокировки</a:t>
            </a:r>
          </a:p>
          <a:p>
            <a:pPr lvl="1"/>
            <a:r>
              <a:rPr lang="ru-RU" dirty="0" err="1"/>
              <a:t>is_lock_free</a:t>
            </a:r>
            <a:r>
              <a:rPr lang="ru-RU" dirty="0"/>
              <a:t>() — проверка на текущей платформе</a:t>
            </a:r>
          </a:p>
          <a:p>
            <a:pPr lvl="1"/>
            <a:r>
              <a:rPr lang="ru-RU" dirty="0" err="1"/>
              <a:t>is_always_lock_free</a:t>
            </a:r>
            <a:r>
              <a:rPr lang="ru-RU" dirty="0"/>
              <a:t> — гарантия на этапе компиляции</a:t>
            </a:r>
          </a:p>
          <a:p>
            <a:r>
              <a:rPr lang="ru-RU" dirty="0"/>
              <a:t> Атомарность не всегда означает “без блокировок”</a:t>
            </a:r>
          </a:p>
        </p:txBody>
      </p:sp>
    </p:spTree>
    <p:extLst>
      <p:ext uri="{BB962C8B-B14F-4D97-AF65-F5344CB8AC3E}">
        <p14:creationId xmlns:p14="http://schemas.microsoft.com/office/powerpoint/2010/main" val="428041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E55920D-AC1A-E12C-25BE-83A5F24CFBC4}"/>
              </a:ext>
            </a:extLst>
          </p:cNvPr>
          <p:cNvSpPr txBox="1"/>
          <p:nvPr/>
        </p:nvSpPr>
        <p:spPr>
          <a:xfrm>
            <a:off x="0" y="1"/>
            <a:ext cx="879961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iomanip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x,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alignas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LargeType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uint64_t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uint64_t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boolalpha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atomic&lt;int&gt; is always lock free: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  &lt;&lt;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is_always_lock_free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atomic&lt;Point&gt; is always lock free: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  &lt;&lt;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is_always_lock_free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LargeType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atomic&lt;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LargeType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 is lock free: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 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is_lock_free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E2671-849A-1F70-0A36-C67226D9967F}"/>
              </a:ext>
            </a:extLst>
          </p:cNvPr>
          <p:cNvSpPr txBox="1"/>
          <p:nvPr/>
        </p:nvSpPr>
        <p:spPr>
          <a:xfrm>
            <a:off x="6495802" y="2054432"/>
            <a:ext cx="5791200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atomic&lt;int&gt; is always lock free: true</a:t>
            </a:r>
          </a:p>
          <a:p>
            <a:r>
              <a:rPr lang="en-US" dirty="0">
                <a:latin typeface="Consolas" panose="020B0609020204030204" pitchFamily="49" charset="0"/>
              </a:rPr>
              <a:t>atomic&lt;Point&gt; is always lock free: true</a:t>
            </a:r>
          </a:p>
          <a:p>
            <a:r>
              <a:rPr lang="en-US" dirty="0">
                <a:latin typeface="Consolas" panose="020B0609020204030204" pitchFamily="49" charset="0"/>
              </a:rPr>
              <a:t>atomic&lt;</a:t>
            </a:r>
            <a:r>
              <a:rPr lang="en-US" dirty="0" err="1">
                <a:latin typeface="Consolas" panose="020B0609020204030204" pitchFamily="49" charset="0"/>
              </a:rPr>
              <a:t>LargeType</a:t>
            </a:r>
            <a:r>
              <a:rPr lang="en-US" dirty="0">
                <a:latin typeface="Consolas" panose="020B0609020204030204" pitchFamily="49" charset="0"/>
              </a:rPr>
              <a:t>&gt; is lock free: false</a:t>
            </a:r>
          </a:p>
        </p:txBody>
      </p:sp>
    </p:spTree>
    <p:extLst>
      <p:ext uri="{BB962C8B-B14F-4D97-AF65-F5344CB8AC3E}">
        <p14:creationId xmlns:p14="http://schemas.microsoft.com/office/powerpoint/2010/main" val="94208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5DA46-90FF-AD2D-5B17-AB915F267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std::</a:t>
            </a:r>
            <a:r>
              <a:rPr lang="en-US" dirty="0" err="1">
                <a:hlinkClick r:id="rId3"/>
              </a:rPr>
              <a:t>atomic_flag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B6995-D523-AF38-48E3-490D65134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atomic_flag</a:t>
            </a:r>
            <a:r>
              <a:rPr lang="ru-RU" dirty="0"/>
              <a:t> — самый простой атомарный тип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Всегда </a:t>
            </a:r>
            <a:r>
              <a:rPr lang="ru-RU" dirty="0" err="1"/>
              <a:t>lock-free</a:t>
            </a:r>
            <a:endParaRPr lang="ru-RU" dirty="0"/>
          </a:p>
          <a:p>
            <a:pPr lvl="1"/>
            <a:r>
              <a:rPr lang="ru-RU" dirty="0"/>
              <a:t>Не имеет </a:t>
            </a:r>
            <a:r>
              <a:rPr lang="ru-RU" dirty="0" err="1"/>
              <a:t>is_lock_free</a:t>
            </a:r>
            <a:endParaRPr lang="ru-RU" dirty="0"/>
          </a:p>
          <a:p>
            <a:pPr lvl="1"/>
            <a:r>
              <a:rPr lang="ru-RU" dirty="0"/>
              <a:t>Представляет собой атомарный булев флаг</a:t>
            </a:r>
          </a:p>
          <a:p>
            <a:r>
              <a:rPr lang="ru-RU" dirty="0"/>
              <a:t>Основные операции:</a:t>
            </a:r>
          </a:p>
          <a:p>
            <a:pPr lvl="1"/>
            <a:r>
              <a:rPr lang="ru-RU" dirty="0" err="1"/>
              <a:t>test_and_set</a:t>
            </a:r>
            <a:r>
              <a:rPr lang="ru-RU" dirty="0"/>
              <a:t> — установить флаг и вернуть старое значение</a:t>
            </a:r>
          </a:p>
          <a:p>
            <a:pPr lvl="1"/>
            <a:r>
              <a:rPr lang="ru-RU" dirty="0" err="1"/>
              <a:t>clear</a:t>
            </a:r>
            <a:r>
              <a:rPr lang="ru-RU" dirty="0"/>
              <a:t> — сбросить флаг</a:t>
            </a:r>
          </a:p>
          <a:p>
            <a:pPr lvl="1"/>
            <a:r>
              <a:rPr lang="ru-RU" dirty="0" err="1"/>
              <a:t>test</a:t>
            </a:r>
            <a:r>
              <a:rPr lang="ru-RU" dirty="0"/>
              <a:t> (C++20) — прочитать значение</a:t>
            </a:r>
          </a:p>
          <a:p>
            <a:r>
              <a:rPr lang="ru-RU" dirty="0"/>
              <a:t>Дополнительно (C++20):</a:t>
            </a:r>
          </a:p>
          <a:p>
            <a:pPr lvl="1"/>
            <a:r>
              <a:rPr lang="ru-RU" dirty="0" err="1"/>
              <a:t>wait</a:t>
            </a:r>
            <a:endParaRPr lang="ru-RU" dirty="0"/>
          </a:p>
          <a:p>
            <a:pPr lvl="1"/>
            <a:r>
              <a:rPr lang="ru-RU" dirty="0" err="1"/>
              <a:t>notify_one</a:t>
            </a:r>
            <a:endParaRPr lang="ru-RU" dirty="0"/>
          </a:p>
          <a:p>
            <a:pPr lvl="1"/>
            <a:r>
              <a:rPr lang="ru-RU" dirty="0" err="1"/>
              <a:t>notify_all</a:t>
            </a:r>
            <a:endParaRPr lang="ru-RU" dirty="0"/>
          </a:p>
          <a:p>
            <a:r>
              <a:rPr lang="ru-RU" dirty="0"/>
              <a:t>Используется для реализации примитивов синхронизации (например, </a:t>
            </a:r>
            <a:r>
              <a:rPr lang="ru-RU" dirty="0" err="1"/>
              <a:t>spinlock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719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CA3BDE-183A-39C1-0843-9984C1F5F661}"/>
              </a:ext>
            </a:extLst>
          </p:cNvPr>
          <p:cNvSpPr txBox="1"/>
          <p:nvPr/>
        </p:nvSpPr>
        <p:spPr>
          <a:xfrm>
            <a:off x="-1" y="0"/>
            <a:ext cx="1014152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SpinMutex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m_flag.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test_and_set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defined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cpp_lib_atomic_wait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&amp;&amp;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cpp_lib_atomic_wait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201907L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m_flag.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#endif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m_flag.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test_and_set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m_flag.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defined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cpp_lib_atomic_wait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&amp;&amp;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cpp_lib_atomic_wait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201907L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m_flag.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notify_one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#endif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atomic_flag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m_flag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ATOMIC_FLAG_INIT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20559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B16441-1DFA-EDE1-C09B-7D470B4B2EDF}"/>
              </a:ext>
            </a:extLst>
          </p:cNvPr>
          <p:cNvSpPr txBox="1"/>
          <p:nvPr/>
        </p:nvSpPr>
        <p:spPr>
          <a:xfrm>
            <a:off x="838200" y="1690688"/>
            <a:ext cx="830876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SpinMutex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++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--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Выведет 0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5A3606-80B0-567D-2EB3-A9DEB703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SpinMutex</a:t>
            </a:r>
            <a:r>
              <a:rPr lang="en-US" dirty="0"/>
              <a:t> </a:t>
            </a:r>
            <a:r>
              <a:rPr lang="ru-RU" dirty="0"/>
              <a:t>в действии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8A376-0BA8-ADB0-14B4-0534A69FE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Ленивая инициализация со </a:t>
            </a:r>
            <a:r>
              <a:rPr lang="en-US" dirty="0" err="1"/>
              <a:t>SpinMutex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9A0B6C-5293-DFBE-36FA-F2E2D481266F}"/>
              </a:ext>
            </a:extLst>
          </p:cNvPr>
          <p:cNvSpPr txBox="1"/>
          <p:nvPr/>
        </p:nvSpPr>
        <p:spPr>
          <a:xfrm>
            <a:off x="838200" y="1923802"/>
            <a:ext cx="830876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 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UseData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SpinMutex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4D142E-B5D8-0A64-728C-19B84A3715DA}"/>
              </a:ext>
            </a:extLst>
          </p:cNvPr>
          <p:cNvSpPr txBox="1"/>
          <p:nvPr/>
        </p:nvSpPr>
        <p:spPr>
          <a:xfrm>
            <a:off x="6694714" y="5862285"/>
            <a:ext cx="5110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Time: 9’902’381’900ns (9.90238s)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D424CF-4DA9-492F-9130-6B7FF8014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964" y="2667150"/>
            <a:ext cx="4802908" cy="2701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159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B36710-3999-CA33-29BF-41AC35C3F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над атомарными типами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179E55-D0AB-58E5-A208-FBBDF9022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Основные операции:</a:t>
            </a:r>
          </a:p>
          <a:p>
            <a:pPr lvl="1"/>
            <a:r>
              <a:rPr lang="en-US" dirty="0"/>
              <a:t>load — </a:t>
            </a:r>
            <a:r>
              <a:rPr lang="ru-RU" dirty="0"/>
              <a:t>чтение значения</a:t>
            </a:r>
          </a:p>
          <a:p>
            <a:pPr lvl="1"/>
            <a:r>
              <a:rPr lang="en-US" dirty="0"/>
              <a:t>store — </a:t>
            </a:r>
            <a:r>
              <a:rPr lang="ru-RU" dirty="0"/>
              <a:t>запись значения</a:t>
            </a:r>
          </a:p>
          <a:p>
            <a:pPr lvl="1"/>
            <a:r>
              <a:rPr lang="en-US" dirty="0"/>
              <a:t>exchange — </a:t>
            </a:r>
            <a:r>
              <a:rPr lang="ru-RU" dirty="0"/>
              <a:t>атомарная замена значения</a:t>
            </a:r>
          </a:p>
          <a:p>
            <a:r>
              <a:rPr lang="en-US" dirty="0"/>
              <a:t>CAS (Compare-And-Swap)</a:t>
            </a:r>
            <a:r>
              <a:rPr lang="ru-RU" dirty="0"/>
              <a:t> сравнивают текущее значение с ожидаемым и при совпадении выполняют замену 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compare_exchange_weak</a:t>
            </a:r>
            <a:endParaRPr lang="en-US" dirty="0"/>
          </a:p>
          <a:p>
            <a:pPr lvl="1"/>
            <a:r>
              <a:rPr lang="en-US" dirty="0" err="1"/>
              <a:t>compare_exchange_strong</a:t>
            </a:r>
            <a:endParaRPr lang="ru-RU" dirty="0"/>
          </a:p>
          <a:p>
            <a:r>
              <a:rPr lang="ru-RU" dirty="0"/>
              <a:t>Дополнительно:</a:t>
            </a:r>
          </a:p>
          <a:p>
            <a:pPr lvl="1"/>
            <a:r>
              <a:rPr lang="en-US" dirty="0" err="1"/>
              <a:t>is_lock_free</a:t>
            </a:r>
            <a:r>
              <a:rPr lang="en-US" dirty="0"/>
              <a:t> — </a:t>
            </a:r>
            <a:r>
              <a:rPr lang="ru-RU" dirty="0"/>
              <a:t>используется ли блокировка</a:t>
            </a:r>
          </a:p>
          <a:p>
            <a:pPr lvl="1"/>
            <a:r>
              <a:rPr lang="en-US" dirty="0"/>
              <a:t>operator T — </a:t>
            </a:r>
            <a:r>
              <a:rPr lang="ru-RU" dirty="0"/>
              <a:t>неявное чтение (</a:t>
            </a:r>
            <a:r>
              <a:rPr lang="en-US" dirty="0"/>
              <a:t>load)</a:t>
            </a:r>
          </a:p>
          <a:p>
            <a:r>
              <a:rPr lang="en-US" dirty="0"/>
              <a:t>C++20:</a:t>
            </a:r>
          </a:p>
          <a:p>
            <a:pPr lvl="1"/>
            <a:r>
              <a:rPr lang="en-US" dirty="0"/>
              <a:t>wait — </a:t>
            </a:r>
            <a:r>
              <a:rPr lang="ru-RU" dirty="0"/>
              <a:t>ожидание изменения значения</a:t>
            </a:r>
          </a:p>
          <a:p>
            <a:pPr lvl="1"/>
            <a:r>
              <a:rPr lang="en-US" dirty="0" err="1"/>
              <a:t>notify_one</a:t>
            </a:r>
            <a:r>
              <a:rPr lang="en-US" dirty="0"/>
              <a:t> / </a:t>
            </a:r>
            <a:r>
              <a:rPr lang="en-US" dirty="0" err="1"/>
              <a:t>notify_all</a:t>
            </a:r>
            <a:r>
              <a:rPr lang="en-US" dirty="0"/>
              <a:t> — </a:t>
            </a:r>
            <a:r>
              <a:rPr lang="ru-RU" dirty="0"/>
              <a:t>уведомление потоков</a:t>
            </a:r>
          </a:p>
        </p:txBody>
      </p:sp>
    </p:spTree>
    <p:extLst>
      <p:ext uri="{BB962C8B-B14F-4D97-AF65-F5344CB8AC3E}">
        <p14:creationId xmlns:p14="http://schemas.microsoft.com/office/powerpoint/2010/main" val="273240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516B3B2-5774-BB1F-4B3E-C0B393F98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Исправляем </a:t>
            </a:r>
            <a:r>
              <a:rPr lang="en-US" dirty="0"/>
              <a:t>DCL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9F25DF-AD0C-6DB9-B7C1-91DEA56B6EBF}"/>
              </a:ext>
            </a:extLst>
          </p:cNvPr>
          <p:cNvSpPr txBox="1"/>
          <p:nvPr/>
        </p:nvSpPr>
        <p:spPr>
          <a:xfrm>
            <a:off x="838200" y="1690688"/>
            <a:ext cx="830301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 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m_data.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UseData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*&gt;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5148BF-8051-5BF8-B8B4-7580E4BE9757}"/>
              </a:ext>
            </a:extLst>
          </p:cNvPr>
          <p:cNvSpPr txBox="1"/>
          <p:nvPr/>
        </p:nvSpPr>
        <p:spPr>
          <a:xfrm>
            <a:off x="6094176" y="6307336"/>
            <a:ext cx="3686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Time: 453’848’200ns (0.453848s)</a:t>
            </a:r>
          </a:p>
        </p:txBody>
      </p:sp>
    </p:spTree>
    <p:extLst>
      <p:ext uri="{BB962C8B-B14F-4D97-AF65-F5344CB8AC3E}">
        <p14:creationId xmlns:p14="http://schemas.microsoft.com/office/powerpoint/2010/main" val="96352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FE277-E3FF-D6D0-F27B-D789B82E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Сравниваем время работы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45F11D-698C-7131-B082-2B998DC9630B}"/>
              </a:ext>
            </a:extLst>
          </p:cNvPr>
          <p:cNvSpPr txBox="1"/>
          <p:nvPr/>
        </p:nvSpPr>
        <p:spPr>
          <a:xfrm>
            <a:off x="1930" y="2477906"/>
            <a:ext cx="60940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SingleThreaded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numRounds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numRounds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1'000'000'000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30B60A-72C9-3784-260F-47610A1BA67D}"/>
              </a:ext>
            </a:extLst>
          </p:cNvPr>
          <p:cNvSpPr txBox="1"/>
          <p:nvPr/>
        </p:nvSpPr>
        <p:spPr>
          <a:xfrm>
            <a:off x="6072850" y="2477906"/>
            <a:ext cx="61172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TestAtomicDCL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numThreads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threads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numThreads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threads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emplace_back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1'000'000'000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widget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44F3AD-8151-5A37-E7DA-B126FCD723BA}"/>
              </a:ext>
            </a:extLst>
          </p:cNvPr>
          <p:cNvSpPr txBox="1"/>
          <p:nvPr/>
        </p:nvSpPr>
        <p:spPr>
          <a:xfrm>
            <a:off x="0" y="6132872"/>
            <a:ext cx="4650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Time: 2’092’350’300ns (2.09235s)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7590DE-0B38-A9ED-3375-0F9FC4C26CC8}"/>
              </a:ext>
            </a:extLst>
          </p:cNvPr>
          <p:cNvSpPr txBox="1"/>
          <p:nvPr/>
        </p:nvSpPr>
        <p:spPr>
          <a:xfrm>
            <a:off x="6096000" y="6132872"/>
            <a:ext cx="4899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Time: 543’605’500ns (0.543605s)  </a:t>
            </a:r>
            <a:r>
              <a:rPr lang="ru-RU" dirty="0">
                <a:latin typeface="Consolas" panose="020B0609020204030204" pitchFamily="49" charset="0"/>
              </a:rPr>
              <a:t>Ускорение в </a:t>
            </a:r>
            <a:r>
              <a:rPr lang="en-US" dirty="0">
                <a:latin typeface="Consolas" panose="020B0609020204030204" pitchFamily="49" charset="0"/>
              </a:rPr>
              <a:t>3.85</a:t>
            </a:r>
            <a:r>
              <a:rPr lang="ru-RU" dirty="0">
                <a:latin typeface="Consolas" panose="020B0609020204030204" pitchFamily="49" charset="0"/>
              </a:rPr>
              <a:t> раз на 8 потоках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830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12FA-1F6B-16E5-80A1-0EA72F927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Оптимизируем </a:t>
            </a:r>
            <a:r>
              <a:rPr lang="en-US" dirty="0"/>
              <a:t>Atomic DCL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826C30-DD19-B931-F30C-767D305658C2}"/>
              </a:ext>
            </a:extLst>
          </p:cNvPr>
          <p:cNvSpPr txBox="1"/>
          <p:nvPr/>
        </p:nvSpPr>
        <p:spPr>
          <a:xfrm>
            <a:off x="838200" y="1690687"/>
            <a:ext cx="830876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  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UseData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FA8821-F2CB-0F7A-9399-5E3BB39E1EA1}"/>
              </a:ext>
            </a:extLst>
          </p:cNvPr>
          <p:cNvSpPr txBox="1"/>
          <p:nvPr/>
        </p:nvSpPr>
        <p:spPr>
          <a:xfrm>
            <a:off x="6849094" y="6308209"/>
            <a:ext cx="4040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Time: 362’779’500ns (0.362779s)</a:t>
            </a:r>
          </a:p>
        </p:txBody>
      </p:sp>
    </p:spTree>
    <p:extLst>
      <p:ext uri="{BB962C8B-B14F-4D97-AF65-F5344CB8AC3E}">
        <p14:creationId xmlns:p14="http://schemas.microsoft.com/office/powerpoint/2010/main" val="2656910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B27508-DB80-AA29-D46B-A8A45612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4B9184-F8D5-D007-B6AC-434B61A8A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Ленивая инициализация:</a:t>
            </a:r>
          </a:p>
          <a:p>
            <a:pPr lvl="1"/>
            <a:r>
              <a:rPr lang="ru-RU" dirty="0"/>
              <a:t>Простая реализация → некорректна в многопоточном коде</a:t>
            </a:r>
          </a:p>
          <a:p>
            <a:pPr lvl="1"/>
            <a:r>
              <a:rPr lang="ru-RU" dirty="0"/>
              <a:t>Мьютекс → корректно, но дорого</a:t>
            </a:r>
          </a:p>
          <a:p>
            <a:r>
              <a:rPr lang="ru-RU" dirty="0"/>
              <a:t>Оптимизации:</a:t>
            </a:r>
          </a:p>
          <a:p>
            <a:pPr lvl="1"/>
            <a:r>
              <a:rPr lang="ru-RU" dirty="0"/>
              <a:t>Double-</a:t>
            </a:r>
            <a:r>
              <a:rPr lang="ru-RU" dirty="0" err="1"/>
              <a:t>checked</a:t>
            </a:r>
            <a:r>
              <a:rPr lang="ru-RU" dirty="0"/>
              <a:t> </a:t>
            </a:r>
            <a:r>
              <a:rPr lang="ru-RU" dirty="0" err="1"/>
              <a:t>locking</a:t>
            </a:r>
            <a:r>
              <a:rPr lang="ru-RU" dirty="0"/>
              <a:t> без </a:t>
            </a:r>
            <a:r>
              <a:rPr lang="ru-RU" dirty="0" err="1"/>
              <a:t>атомиков</a:t>
            </a:r>
            <a:r>
              <a:rPr lang="ru-RU" dirty="0"/>
              <a:t> → </a:t>
            </a:r>
            <a:r>
              <a:rPr lang="ru-RU" b="1" dirty="0" err="1"/>
              <a:t>undefined</a:t>
            </a:r>
            <a:r>
              <a:rPr lang="ru-RU" b="1" dirty="0"/>
              <a:t> </a:t>
            </a:r>
            <a:r>
              <a:rPr lang="ru-RU" b="1" dirty="0" err="1"/>
              <a:t>behavior</a:t>
            </a:r>
            <a:endParaRPr lang="ru-RU" dirty="0"/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call_once</a:t>
            </a:r>
            <a:r>
              <a:rPr lang="ru-RU" dirty="0"/>
              <a:t> → корректно, но может быть медленно</a:t>
            </a:r>
          </a:p>
          <a:p>
            <a:r>
              <a:rPr lang="ru-RU" dirty="0"/>
              <a:t>Атомарные операции:</a:t>
            </a:r>
          </a:p>
          <a:p>
            <a:pPr lvl="1"/>
            <a:r>
              <a:rPr lang="ru-RU" dirty="0"/>
              <a:t>Позволяют устранить гонки данных</a:t>
            </a:r>
          </a:p>
          <a:p>
            <a:pPr lvl="1"/>
            <a:r>
              <a:rPr lang="ru-RU" dirty="0"/>
              <a:t>Дают баланс между корректностью и производительностью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Без синхронизации нельзя полагаться на порядок операций</a:t>
            </a:r>
          </a:p>
          <a:p>
            <a:pPr lvl="1"/>
            <a:r>
              <a:rPr lang="ru-RU" dirty="0"/>
              <a:t>Модель памяти определяет, что видят потоки</a:t>
            </a:r>
          </a:p>
          <a:p>
            <a:r>
              <a:rPr lang="ru-RU" dirty="0"/>
              <a:t>Правильная синхронизация важнее “логически правильного” кода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9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6137</Words>
  <Application>Microsoft Office PowerPoint</Application>
  <PresentationFormat>Widescreen</PresentationFormat>
  <Paragraphs>843</Paragraphs>
  <Slides>32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Consolas</vt:lpstr>
      <vt:lpstr>Office Theme</vt:lpstr>
      <vt:lpstr>Модель памяти и атомарные операции</vt:lpstr>
      <vt:lpstr>Ленивая инициализация</vt:lpstr>
      <vt:lpstr>Потокобезопасная ленивая инициализация</vt:lpstr>
      <vt:lpstr>Время измерить производительность</vt:lpstr>
      <vt:lpstr>Решение: Double-checked lock (DCL)</vt:lpstr>
      <vt:lpstr>Решение: Double-checked lock (DCL)</vt:lpstr>
      <vt:lpstr>Однократная инициализация при помощи std::call_once </vt:lpstr>
      <vt:lpstr>Пример использования std::call_once</vt:lpstr>
      <vt:lpstr>Ленивая инициализация с call_once</vt:lpstr>
      <vt:lpstr>Модель памяти C++</vt:lpstr>
      <vt:lpstr>Модель памяти и многопоточность</vt:lpstr>
      <vt:lpstr>Понятие «Объект»</vt:lpstr>
      <vt:lpstr>Правила размещения объектов в памяти</vt:lpstr>
      <vt:lpstr>Хранение структуры в памяти</vt:lpstr>
      <vt:lpstr>Еще раз про гонку данных</vt:lpstr>
      <vt:lpstr>Порядок модификаций объекта</vt:lpstr>
      <vt:lpstr>Спекулятивное выполнение</vt:lpstr>
      <vt:lpstr>Ограничения на спекулятивное выполнение</vt:lpstr>
      <vt:lpstr>Переупорядочивания операций чтения и записи</vt:lpstr>
      <vt:lpstr>Атомарные операции</vt:lpstr>
      <vt:lpstr>Атомарные и неатомарные операции</vt:lpstr>
      <vt:lpstr>Стандартные атомарные типы</vt:lpstr>
      <vt:lpstr>PowerPoint Presentation</vt:lpstr>
      <vt:lpstr>std::atomic_flag</vt:lpstr>
      <vt:lpstr>PowerPoint Presentation</vt:lpstr>
      <vt:lpstr>SpinMutex в действии</vt:lpstr>
      <vt:lpstr>Ленивая инициализация со SpinMutex</vt:lpstr>
      <vt:lpstr>Операции над атомарными типами</vt:lpstr>
      <vt:lpstr>Исправляем DCL</vt:lpstr>
      <vt:lpstr>Сравниваем время работы</vt:lpstr>
      <vt:lpstr>Оптимизируем Atomic DCL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3</cp:revision>
  <dcterms:created xsi:type="dcterms:W3CDTF">2026-03-20T14:44:58Z</dcterms:created>
  <dcterms:modified xsi:type="dcterms:W3CDTF">2026-03-20T20:40:10Z</dcterms:modified>
</cp:coreProperties>
</file>