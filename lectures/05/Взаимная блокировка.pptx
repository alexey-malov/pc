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87" r:id="rId3"/>
    <p:sldId id="266" r:id="rId4"/>
    <p:sldId id="268" r:id="rId5"/>
    <p:sldId id="270" r:id="rId6"/>
    <p:sldId id="269" r:id="rId7"/>
    <p:sldId id="271" r:id="rId8"/>
    <p:sldId id="275" r:id="rId9"/>
    <p:sldId id="277" r:id="rId10"/>
    <p:sldId id="279" r:id="rId11"/>
    <p:sldId id="278" r:id="rId12"/>
    <p:sldId id="280" r:id="rId13"/>
    <p:sldId id="281" r:id="rId14"/>
    <p:sldId id="274" r:id="rId15"/>
    <p:sldId id="272" r:id="rId16"/>
    <p:sldId id="282" r:id="rId17"/>
    <p:sldId id="283" r:id="rId18"/>
    <p:sldId id="284" r:id="rId19"/>
    <p:sldId id="288" r:id="rId20"/>
    <p:sldId id="286" r:id="rId21"/>
    <p:sldId id="2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21D366-7321-4E9E-B471-1AF82A17AE44}">
          <p14:sldIdLst>
            <p14:sldId id="257"/>
            <p14:sldId id="287"/>
            <p14:sldId id="266"/>
            <p14:sldId id="268"/>
            <p14:sldId id="270"/>
            <p14:sldId id="269"/>
            <p14:sldId id="271"/>
            <p14:sldId id="275"/>
            <p14:sldId id="277"/>
            <p14:sldId id="279"/>
            <p14:sldId id="278"/>
            <p14:sldId id="280"/>
            <p14:sldId id="281"/>
            <p14:sldId id="274"/>
            <p14:sldId id="272"/>
            <p14:sldId id="282"/>
            <p14:sldId id="283"/>
            <p14:sldId id="284"/>
            <p14:sldId id="288"/>
            <p14:sldId id="286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4" autoAdjust="0"/>
    <p:restoredTop sz="68689" autoAdjust="0"/>
  </p:normalViewPr>
  <p:slideViewPr>
    <p:cSldViewPr snapToGrid="0" showGuides="1">
      <p:cViewPr varScale="1">
        <p:scale>
          <a:sx n="53" d="100"/>
          <a:sy n="53" d="100"/>
        </p:scale>
        <p:origin x="102" y="492"/>
      </p:cViewPr>
      <p:guideLst>
        <p:guide orient="horz" pos="218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81A67-A27B-4083-940C-241E42A8E89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0D86D-1409-43B0-8811-9A559436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FB55F-6A40-4B48-8E84-03104FFED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53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говорили о гонках данных и о том, как их устранять с помощью мьютексов.</a:t>
            </a:r>
            <a:br>
              <a:rPr lang="ru-RU" dirty="0"/>
            </a:br>
            <a:r>
              <a:rPr lang="ru-RU" dirty="0"/>
              <a:t>Кажется, что всё просто: добавили блокировки — и программа стала безопасной.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на практике всё сложнее.</a:t>
            </a:r>
          </a:p>
          <a:p>
            <a:r>
              <a:rPr lang="ru-RU" dirty="0"/>
              <a:t>Когда мы начинаем использовать несколько блокировок одновременно, появляется новая, гораздо более опасная проблема — </a:t>
            </a:r>
            <a:r>
              <a:rPr lang="ru-RU" b="1" dirty="0"/>
              <a:t>взаимная блокировка</a:t>
            </a:r>
            <a:r>
              <a:rPr lang="ru-RU" dirty="0"/>
              <a:t>, или </a:t>
            </a:r>
            <a:r>
              <a:rPr lang="ru-RU" i="1" dirty="0" err="1"/>
              <a:t>deadlock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ситуация, когда потоки не падают, не выбрасывают исключения, не завершаются с ошибкой —</a:t>
            </a:r>
            <a:r>
              <a:rPr lang="en-US" dirty="0"/>
              <a:t> </a:t>
            </a:r>
            <a:r>
              <a:rPr lang="ru-RU" dirty="0"/>
              <a:t>они просто навсегда останавливаются.</a:t>
            </a:r>
          </a:p>
          <a:p>
            <a:endParaRPr lang="en-US" dirty="0"/>
          </a:p>
          <a:p>
            <a:r>
              <a:rPr lang="ru-RU" dirty="0"/>
              <a:t>Программа продолжает работать, процесс жив, CPU почти не загружен —</a:t>
            </a:r>
            <a:r>
              <a:rPr lang="en-US" dirty="0"/>
              <a:t> </a:t>
            </a:r>
            <a:r>
              <a:rPr lang="ru-RU" dirty="0"/>
              <a:t>но прогресса больше нет.</a:t>
            </a:r>
          </a:p>
          <a:p>
            <a:r>
              <a:rPr lang="ru-RU" dirty="0"/>
              <a:t>Особенно неприятно то, что: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deadlock</a:t>
            </a:r>
            <a:r>
              <a:rPr lang="ru-RU" dirty="0"/>
              <a:t> может проявляться редко,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может зависеть от планировщика,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может не воспроизводиться на тестовой машине,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часто обнаруживается уже в </a:t>
            </a:r>
            <a:r>
              <a:rPr lang="ru-RU" dirty="0" err="1"/>
              <a:t>production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Сегодня мы разберём: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 именно возникает </a:t>
            </a:r>
            <a:r>
              <a:rPr lang="ru-RU" dirty="0" err="1"/>
              <a:t>deadlock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какие условия к нему приводят,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какие инженерные приёмы позволяют его избежать.</a:t>
            </a:r>
          </a:p>
          <a:p>
            <a:endParaRPr lang="en-US" dirty="0"/>
          </a:p>
          <a:p>
            <a:r>
              <a:rPr lang="ru-RU" dirty="0"/>
              <a:t>Начнём с реального примера — с, казалось бы, безобидного оператора присваивания </a:t>
            </a:r>
            <a:r>
              <a:rPr lang="ru-RU" dirty="0" err="1"/>
              <a:t>потокобезопасного</a:t>
            </a:r>
            <a:r>
              <a:rPr lang="ru-RU" dirty="0"/>
              <a:t> стека.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52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пишем </a:t>
            </a:r>
            <a:r>
              <a:rPr lang="ru-RU" dirty="0" err="1"/>
              <a:t>потокобезопасный</a:t>
            </a:r>
            <a:r>
              <a:rPr lang="ru-RU" dirty="0"/>
              <a:t> стек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TSStack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Внутри —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ru-RU" dirty="0"/>
              <a:t>. Кажется, что всё готово для корректной работы в многопоточной среде.</a:t>
            </a:r>
          </a:p>
          <a:p>
            <a:endParaRPr lang="ru-RU" dirty="0"/>
          </a:p>
          <a:p>
            <a:r>
              <a:rPr lang="ru-RU" dirty="0"/>
              <a:t>Но обратите внимание на оператор присваивания. Он просто копирует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m_stack</a:t>
            </a:r>
            <a:r>
              <a:rPr lang="ru-RU" dirty="0"/>
              <a:t> без какой-либо синхронизации. Наличие мьютекса в классе само по себе не делает операции </a:t>
            </a:r>
            <a:r>
              <a:rPr lang="ru-RU" dirty="0" err="1"/>
              <a:t>потокобезопасными</a:t>
            </a:r>
            <a:r>
              <a:rPr lang="ru-RU" dirty="0"/>
              <a:t> — каждое чтение и запись должны быть защищены явно.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два потока активно изменяют оба стека и одновременно присваивают их друг другу. В результате один поток может читать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m_stack</a:t>
            </a:r>
            <a:r>
              <a:rPr lang="ru-RU" dirty="0"/>
              <a:t>, пока другой его изменяет. Это приводит к гонке данных.</a:t>
            </a:r>
          </a:p>
          <a:p>
            <a:r>
              <a:rPr lang="ru-RU" dirty="0"/>
              <a:t>А гонка данных в C++ — это 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behavior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В нашем случае программа падает 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SIGSEGV</a:t>
            </a:r>
            <a:r>
              <a:rPr lang="ru-RU" dirty="0"/>
              <a:t>.</a:t>
            </a:r>
          </a:p>
          <a:p>
            <a:r>
              <a:rPr lang="ru-RU" dirty="0"/>
              <a:t>Дальше мы попробуем «починить» её с помощью мьютексов — и столкнёмся уже с другой, более коварной проблемой.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7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предыдущем слайде у нас была гонка данных. Логичное решение — добавить синхронизацию.</a:t>
            </a:r>
          </a:p>
          <a:p>
            <a:r>
              <a:rPr lang="ru-RU" dirty="0"/>
              <a:t>Теперь в операторе присваивания мы берём блокировку на текущем объекте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, а также </a:t>
            </a:r>
            <a:r>
              <a:rPr lang="ru-RU" dirty="0" err="1"/>
              <a:t>shared</a:t>
            </a:r>
            <a:r>
              <a:rPr lang="ru-RU" dirty="0"/>
              <a:t>-блокировку на правом операнде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shared_lock</a:t>
            </a:r>
            <a:r>
              <a:rPr lang="ru-RU" dirty="0"/>
              <a:t>. После этого копируем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m_stack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Кажется, что всё сделано правильно: оба объекта защищены, конкурентный доступ исключён.</a:t>
            </a:r>
          </a:p>
          <a:p>
            <a:r>
              <a:rPr lang="ru-RU" dirty="0"/>
              <a:t>И действительно — гонка данных исчезает. Программа больше не падает.</a:t>
            </a:r>
          </a:p>
          <a:p>
            <a:endParaRPr lang="ru-RU" dirty="0"/>
          </a:p>
          <a:p>
            <a:r>
              <a:rPr lang="ru-RU" dirty="0"/>
              <a:t>Но теперь возникает новая проблема.</a:t>
            </a:r>
            <a:br>
              <a:rPr lang="ru-RU" dirty="0"/>
            </a:br>
            <a:r>
              <a:rPr lang="ru-RU" dirty="0"/>
              <a:t>Обратите внимание: оператор присваивания одновременно захватывает </a:t>
            </a:r>
            <a:r>
              <a:rPr lang="ru-RU" b="1" dirty="0"/>
              <a:t>два мьютекса</a:t>
            </a:r>
            <a:r>
              <a:rPr lang="ru-RU" dirty="0"/>
              <a:t>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m_mutex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rhs.m_mutex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два потока выполняют перекрёстные присваивания: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один делает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stack1 = stack2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другой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stack2 = stack1</a:t>
            </a:r>
            <a:r>
              <a:rPr lang="ru-RU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То есть возможна ситуация, когда: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первый поток захватил мьютекс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stack1</a:t>
            </a:r>
            <a:r>
              <a:rPr lang="ru-RU" dirty="0"/>
              <a:t> и ждёт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stack2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второй поток захватил мьютекс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stack2</a:t>
            </a:r>
            <a:r>
              <a:rPr lang="ru-RU" dirty="0"/>
              <a:t> и ждёт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stack1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Оба ждут друг друга. Программа больше не падает — она просто зависает.</a:t>
            </a:r>
          </a:p>
          <a:p>
            <a:r>
              <a:rPr lang="ru-RU" dirty="0"/>
              <a:t>Мы исправили одну проблему синхронизации и создали другую, более коварную — взаимную блокировку.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95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71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Deadlock</a:t>
            </a:r>
            <a:r>
              <a:rPr lang="ru-RU" dirty="0"/>
              <a:t> — это ситуация, когда несколько потоков оказываются заблокированы навсегда, потому что каждый ждёт ресурс, который удерживает другой участник этой цепочки.</a:t>
            </a:r>
          </a:p>
          <a:p>
            <a:r>
              <a:rPr lang="ru-RU" dirty="0"/>
              <a:t>Важно понимать:</a:t>
            </a:r>
            <a:r>
              <a:rPr lang="en-US" dirty="0"/>
              <a:t> </a:t>
            </a:r>
            <a:r>
              <a:rPr lang="ru-RU" dirty="0"/>
              <a:t>программа не падает, не выбрасывает исключения.</a:t>
            </a:r>
            <a:r>
              <a:rPr lang="en-US" dirty="0"/>
              <a:t> </a:t>
            </a:r>
            <a:r>
              <a:rPr lang="ru-RU" dirty="0"/>
              <a:t>Она просто перестаёт делать полезную работу.</a:t>
            </a:r>
          </a:p>
          <a:p>
            <a:endParaRPr lang="en-US" dirty="0"/>
          </a:p>
          <a:p>
            <a:r>
              <a:rPr lang="ru-RU" dirty="0"/>
              <a:t>Существует классическая формулировка — четыре необходимых условия возникновения </a:t>
            </a:r>
            <a:r>
              <a:rPr lang="ru-RU" dirty="0" err="1"/>
              <a:t>deadlock</a:t>
            </a:r>
            <a:r>
              <a:rPr lang="ru-RU" dirty="0"/>
              <a:t>, их называют условиями </a:t>
            </a:r>
            <a:r>
              <a:rPr lang="ru-RU" dirty="0" err="1"/>
              <a:t>Коффмана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Первое — взаимное исключение. Ресурс не может использоваться одновременно несколькими потоками. Например, мьютекс.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Второе — удержание и ожидание. Поток уже держит один ресурс и при этом пытается получить другой.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Третье — отсутствие принудительного освобождения. Мы не можем насильно отобрать мьютекс у потока — он сам должен его отпустить.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четвёртое — циклическое ожидание. Возникает цикл: поток A ждёт ресурс у B, B ждёт у C, а C — у A.</a:t>
            </a:r>
          </a:p>
          <a:p>
            <a:endParaRPr lang="en-US" dirty="0"/>
          </a:p>
          <a:p>
            <a:r>
              <a:rPr lang="ru-RU" dirty="0"/>
              <a:t>Ключевой момент:</a:t>
            </a:r>
            <a:r>
              <a:rPr lang="en-US" dirty="0"/>
              <a:t> </a:t>
            </a:r>
            <a:r>
              <a:rPr lang="ru-RU" dirty="0" err="1"/>
              <a:t>deadlock</a:t>
            </a:r>
            <a:r>
              <a:rPr lang="ru-RU" dirty="0"/>
              <a:t> возможен только тогда, когда выполняются все четыре условия одновременно.</a:t>
            </a:r>
            <a:br>
              <a:rPr lang="ru-RU" dirty="0"/>
            </a:br>
            <a:r>
              <a:rPr lang="ru-RU" dirty="0"/>
              <a:t>Если мы нарушим хотя бы одно из них — взаимная блокировка станет невозможной.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дальнейших примерах мы будем видеть, как именно возникает циклическое ожидание — и как его можно устранить.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61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самый простой и наглядный пример взаимной блокировки — цикл длины один.</a:t>
            </a:r>
          </a:p>
          <a:p>
            <a:r>
              <a:rPr lang="ru-RU" dirty="0"/>
              <a:t>Здесь один поток создаёт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ru-RU" dirty="0"/>
              <a:t> и берёт его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. Всё корректно — мьютекс захвачен.</a:t>
            </a:r>
          </a:p>
          <a:p>
            <a:endParaRPr lang="ru-RU" dirty="0"/>
          </a:p>
          <a:p>
            <a:r>
              <a:rPr lang="ru-RU" dirty="0"/>
              <a:t>Но затем тот же поток пытается захватить тот же самый мьютекс ещё раз.</a:t>
            </a:r>
            <a:br>
              <a:rPr lang="ru-RU" dirty="0"/>
            </a:br>
            <a:r>
              <a:rPr lang="ru-RU" dirty="0"/>
              <a:t>Проблема в том,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</a:t>
            </a:r>
            <a:r>
              <a:rPr lang="ru-RU" dirty="0"/>
              <a:t> — </a:t>
            </a:r>
            <a:r>
              <a:rPr lang="ru-RU" b="1" dirty="0" err="1"/>
              <a:t>нерекурсивный</a:t>
            </a:r>
            <a:r>
              <a:rPr lang="ru-RU" dirty="0"/>
              <a:t>. Он не хранит счётчик захватов и не позволяет одному и тому же потоку захватывать его повторно.</a:t>
            </a:r>
          </a:p>
          <a:p>
            <a:endParaRPr lang="ru-RU" dirty="0"/>
          </a:p>
          <a:p>
            <a:r>
              <a:rPr lang="ru-RU" dirty="0"/>
              <a:t>Что происходит дальше? Поток уже владеет мьютексом и одновременно ждёт, пока этот мьютекс освободится. Но освободить его может только он сам — а он уже заблокирован на второй попытке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Получается классический </a:t>
            </a:r>
            <a:r>
              <a:rPr lang="ru-RU" dirty="0" err="1"/>
              <a:t>deadlock</a:t>
            </a:r>
            <a:r>
              <a:rPr lang="ru-RU" dirty="0"/>
              <a:t>, просто с одним участником.</a:t>
            </a:r>
          </a:p>
          <a:p>
            <a:r>
              <a:rPr lang="ru-RU" dirty="0"/>
              <a:t>Стандарт формулирует это как 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behavior</a:t>
            </a:r>
            <a:r>
              <a:rPr lang="ru-RU" dirty="0"/>
              <a:t> и допускает, что реализация может:</a:t>
            </a:r>
            <a:r>
              <a:rPr lang="en-US" dirty="0"/>
              <a:t> </a:t>
            </a:r>
            <a:r>
              <a:rPr lang="ru-RU" dirty="0"/>
              <a:t>либо реально зависнуть, либо выбросить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system_error</a:t>
            </a:r>
            <a:r>
              <a:rPr lang="ru-RU" dirty="0"/>
              <a:t> с ошибкой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resource_deadlock_would_occur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понимать: это не «особый случай», а частный пример общего принципа — возник циклический граф ожиданий. Просто цикл состоит из одного узла.</a:t>
            </a:r>
          </a:p>
          <a:p>
            <a:endParaRPr lang="ru-RU" dirty="0"/>
          </a:p>
          <a:p>
            <a:r>
              <a:rPr lang="ru-RU" dirty="0"/>
              <a:t>Отсюда два вывода: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Первый — нужно чётко понимать, какие примитивы вы используете.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Второй — повторный захват мьютекса почти всегда является логической ошибкой проектирования.</a:t>
            </a:r>
          </a:p>
          <a:p>
            <a:endParaRPr lang="ru-RU" dirty="0"/>
          </a:p>
          <a:p>
            <a:r>
              <a:rPr lang="ru-RU" dirty="0"/>
              <a:t>Существует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recursive_mutex</a:t>
            </a:r>
            <a:r>
              <a:rPr lang="ru-RU" dirty="0"/>
              <a:t>, который позволяет повторный захват, но он не устраняет проблему архитектурно — он лишь скрывает её. И использовать его стоит очень осторожно.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39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классическая задача, иллюстрирующая проблемы синхронизации.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Пять философов сидят за круглым столом. Между каждой парой — одна вилка.</a:t>
            </a:r>
            <a:br>
              <a:rPr lang="ru-RU" dirty="0"/>
            </a:br>
            <a:r>
              <a:rPr lang="ru-RU" dirty="0"/>
              <a:t>Философ может либо думать, либо есть. Чтобы поесть, ему нужны две вилки — левая и правая.</a:t>
            </a:r>
          </a:p>
          <a:p>
            <a:r>
              <a:rPr lang="ru-RU" dirty="0"/>
              <a:t>Вилки — это общие ресурсы. Их можно взять и положить независимо друг от друга. И именно здесь возникает проблема.</a:t>
            </a:r>
          </a:p>
          <a:p>
            <a:r>
              <a:rPr lang="ru-RU" dirty="0"/>
              <a:t>Если все философы одновременно возьмут, например, левую вилку, то каждый будет держать одну вилку и ждать вторую. В результате образуется цикл ожидания — и система полностью остановится. Это классический </a:t>
            </a:r>
            <a:r>
              <a:rPr lang="ru-RU" dirty="0" err="1"/>
              <a:t>deadlock</a:t>
            </a:r>
            <a:r>
              <a:rPr lang="ru-RU" dirty="0"/>
              <a:t>.</a:t>
            </a:r>
          </a:p>
          <a:p>
            <a:r>
              <a:rPr lang="ru-RU" dirty="0"/>
              <a:t>В этой модели философы — это потоки, вилки — это мьютексы.</a:t>
            </a:r>
          </a:p>
          <a:p>
            <a:endParaRPr lang="ru-RU" dirty="0"/>
          </a:p>
          <a:p>
            <a:r>
              <a:rPr lang="ru-RU" dirty="0"/>
              <a:t>Наша цель — придумать такую стратегию захвата ресурсов, при которой:</a:t>
            </a:r>
          </a:p>
          <a:p>
            <a:r>
              <a:rPr lang="ru-RU" dirty="0"/>
              <a:t>не возникнет взаимная блокировка,</a:t>
            </a:r>
          </a:p>
          <a:p>
            <a:r>
              <a:rPr lang="ru-RU" dirty="0"/>
              <a:t>никто не будет голодать,</a:t>
            </a:r>
          </a:p>
          <a:p>
            <a:r>
              <a:rPr lang="ru-RU" dirty="0"/>
              <a:t>и система сможет бесконечно долго работать, делая прогресс.</a:t>
            </a:r>
          </a:p>
          <a:p>
            <a:r>
              <a:rPr lang="ru-RU" dirty="0"/>
              <a:t>На следующих слайдах мы посмотрим, как наивная реализация приводит к </a:t>
            </a:r>
            <a:r>
              <a:rPr lang="ru-RU" dirty="0" err="1"/>
              <a:t>deadlock</a:t>
            </a:r>
            <a:r>
              <a:rPr lang="ru-RU" dirty="0"/>
              <a:t>, и какие существуют способы её исправить.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2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нами наивная реализация задачи об обедающих философах.</a:t>
            </a:r>
          </a:p>
          <a:p>
            <a:r>
              <a:rPr lang="ru-RU" dirty="0"/>
              <a:t>Для каждого философа создаётся поток. Ему передаются две вилки — левая и правая.</a:t>
            </a:r>
            <a:br>
              <a:rPr lang="ru-RU" dirty="0"/>
            </a:br>
            <a:r>
              <a:rPr lang="ru-RU" dirty="0"/>
              <a:t>Внутри бесконечного цикла философ сначала захватывает левую вилку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, затем правую, ест, после чего освобождает их и «думает».</a:t>
            </a:r>
          </a:p>
          <a:p>
            <a:endParaRPr lang="en-US" dirty="0"/>
          </a:p>
          <a:p>
            <a:r>
              <a:rPr lang="ru-RU" dirty="0"/>
              <a:t>Код выглядит вполне естественно и логично. Каждый поток корректно использует RAII, никаких забытых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dirty="0"/>
              <a:t>, всё аккуратно.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обратите внимание на порядок захвата:</a:t>
            </a:r>
            <a:r>
              <a:rPr lang="en-US" dirty="0"/>
              <a:t> </a:t>
            </a:r>
            <a:r>
              <a:rPr lang="ru-RU" dirty="0"/>
              <a:t>каждый философ сначала берёт </a:t>
            </a:r>
            <a:r>
              <a:rPr lang="ru-RU" b="1" dirty="0"/>
              <a:t>левую</a:t>
            </a:r>
            <a:r>
              <a:rPr lang="ru-RU" dirty="0"/>
              <a:t> вилку, потом </a:t>
            </a:r>
            <a:r>
              <a:rPr lang="ru-RU" b="1" dirty="0"/>
              <a:t>правую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Теперь представим, что все пять потоков одновременно начали выполнение.</a:t>
            </a:r>
            <a:r>
              <a:rPr lang="en-US" dirty="0"/>
              <a:t> </a:t>
            </a:r>
            <a:r>
              <a:rPr lang="ru-RU" dirty="0"/>
              <a:t>Каждый успел захватить свою левую вилку.</a:t>
            </a:r>
            <a:br>
              <a:rPr lang="ru-RU" dirty="0"/>
            </a:br>
            <a:r>
              <a:rPr lang="ru-RU" dirty="0"/>
              <a:t>И теперь каждый пытается захватить правую — которая уже занята соседом.</a:t>
            </a:r>
          </a:p>
          <a:p>
            <a:r>
              <a:rPr lang="ru-RU" dirty="0"/>
              <a:t>В результате: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философ 0 ждёт вилку 1,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философ 1 ждёт вилку 2,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философ 4 ждёт вилку 0.</a:t>
            </a:r>
          </a:p>
          <a:p>
            <a:r>
              <a:rPr lang="ru-RU" dirty="0"/>
              <a:t>Получается замкнутый цикл ожидания.</a:t>
            </a:r>
            <a:br>
              <a:rPr lang="ru-RU" dirty="0"/>
            </a:br>
            <a:r>
              <a:rPr lang="ru-RU" dirty="0"/>
              <a:t>Все потоки заблокированы, никто не может продвинуться дальше.</a:t>
            </a:r>
          </a:p>
          <a:p>
            <a:r>
              <a:rPr lang="ru-RU" dirty="0"/>
              <a:t>Это классический </a:t>
            </a:r>
            <a:r>
              <a:rPr lang="ru-RU" dirty="0" err="1"/>
              <a:t>deadlock</a:t>
            </a:r>
            <a:r>
              <a:rPr lang="ru-RU" dirty="0"/>
              <a:t>, возникающий из-за одинакового порядка захвата ресурсов у всех участников.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0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увидели, что проблема возникает из-за циклического ожидания. Значит, чтобы устранить </a:t>
            </a:r>
            <a:r>
              <a:rPr lang="ru-RU" dirty="0" err="1"/>
              <a:t>deadlock</a:t>
            </a:r>
            <a:r>
              <a:rPr lang="ru-RU" dirty="0"/>
              <a:t>, нам нужно разрушить одно из условий </a:t>
            </a:r>
            <a:r>
              <a:rPr lang="ru-RU" dirty="0" err="1"/>
              <a:t>Коффмана</a:t>
            </a:r>
            <a:r>
              <a:rPr lang="ru-RU" dirty="0"/>
              <a:t> — чаще всего именно цикл.</a:t>
            </a:r>
          </a:p>
          <a:p>
            <a:endParaRPr lang="ru-RU" dirty="0"/>
          </a:p>
          <a:p>
            <a:r>
              <a:rPr lang="ru-RU" dirty="0"/>
              <a:t>Первый способ — ввести внешнего координатора, «официанта».</a:t>
            </a:r>
            <a:br>
              <a:rPr lang="ru-RU" dirty="0"/>
            </a:br>
            <a:r>
              <a:rPr lang="ru-RU" dirty="0"/>
              <a:t>Перед тем как взять вилки, философ спрашивает разрешение.</a:t>
            </a:r>
            <a:br>
              <a:rPr lang="ru-RU" dirty="0"/>
            </a:br>
            <a:r>
              <a:rPr lang="ru-RU" dirty="0"/>
              <a:t>Официант может, например, разрешать есть не более чем четырём философам одновременно. Тогда хотя бы один всегда сможет получить две вилки, и цикл не замкнётся.</a:t>
            </a:r>
          </a:p>
          <a:p>
            <a:r>
              <a:rPr lang="ru-RU" dirty="0"/>
              <a:t>Это простое решение, но появляется централизованная точка контроля — потенциальное узкое место.</a:t>
            </a:r>
          </a:p>
          <a:p>
            <a:endParaRPr lang="ru-RU" dirty="0"/>
          </a:p>
          <a:p>
            <a:r>
              <a:rPr lang="ru-RU" dirty="0"/>
              <a:t>Второй способ — ввести глобальный порядок ресурсов.</a:t>
            </a:r>
            <a:br>
              <a:rPr lang="ru-RU" dirty="0"/>
            </a:br>
            <a:r>
              <a:rPr lang="ru-RU" dirty="0"/>
              <a:t>Мы нумеруем вилки и всегда сначала берём вилку с меньшим номером, затем с большим.</a:t>
            </a:r>
            <a:br>
              <a:rPr lang="ru-RU" dirty="0"/>
            </a:br>
            <a:r>
              <a:rPr lang="ru-RU" dirty="0"/>
              <a:t>Тогда цикл ожидания становится невозможным, потому что ресурсы захватываются в фиксированном порядке.</a:t>
            </a:r>
          </a:p>
          <a:p>
            <a:r>
              <a:rPr lang="ru-RU" dirty="0"/>
              <a:t>Это очень распространённый инженерный приём.</a:t>
            </a:r>
            <a:br>
              <a:rPr lang="ru-RU" dirty="0"/>
            </a:br>
            <a:r>
              <a:rPr lang="ru-RU" dirty="0"/>
              <a:t>Но он не гарантирует отсутствия </a:t>
            </a:r>
            <a:r>
              <a:rPr lang="ru-RU" dirty="0" err="1"/>
              <a:t>starvation</a:t>
            </a:r>
            <a:r>
              <a:rPr lang="ru-RU" dirty="0"/>
              <a:t> — теоретически кто-то может долго не получать ресурс.</a:t>
            </a:r>
          </a:p>
          <a:p>
            <a:endParaRPr lang="ru-RU" dirty="0"/>
          </a:p>
          <a:p>
            <a:r>
              <a:rPr lang="ru-RU" dirty="0"/>
              <a:t>Третий способ —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Они захватывают несколько мьютексов с применением алгоритма предотвращения </a:t>
            </a:r>
            <a:r>
              <a:rPr lang="ru-RU" dirty="0" err="1"/>
              <a:t>deadlock</a:t>
            </a:r>
            <a:r>
              <a:rPr lang="ru-RU" dirty="0"/>
              <a:t>.</a:t>
            </a:r>
          </a:p>
          <a:p>
            <a:r>
              <a:rPr lang="ru-RU" dirty="0"/>
              <a:t>Это самый удобный способ в современном C++, и именно его чаще всего стоит использовать на практике.</a:t>
            </a:r>
          </a:p>
          <a:p>
            <a:r>
              <a:rPr lang="ru-RU" dirty="0"/>
              <a:t>Во всех случаях идея одна и та же: мы сознательно разрушаем возможность циклического ожидания.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75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реализуем решение с «официантом» — внешним координатором.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добавляем ещё один мьютекс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waiter</a:t>
            </a:r>
            <a:r>
              <a:rPr lang="ru-RU" dirty="0"/>
              <a:t>. Перед тем как философ попытается взять вилки, он сначала захватывает этот мьютекс. Пока один философ получает вилки, остальные не могут одновременно начать этот процесс.</a:t>
            </a:r>
          </a:p>
          <a:p>
            <a:r>
              <a:rPr lang="ru-RU" dirty="0"/>
              <a:t>Обратите внимание на последовательность: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берётся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waiter</a:t>
            </a:r>
            <a:r>
              <a:rPr lang="ru-RU" dirty="0"/>
              <a:t>, затем левая и правая вилки.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После того как обе вилки успешно захвачены, мьютекс официанта освобождается — дальше философ ест уже без участия координатора.</a:t>
            </a:r>
          </a:p>
          <a:p>
            <a:r>
              <a:rPr lang="ru-RU" dirty="0"/>
              <a:t>Что это нам даёт?</a:t>
            </a:r>
          </a:p>
          <a:p>
            <a:r>
              <a:rPr lang="ru-RU" dirty="0"/>
              <a:t>Мы устраняем возможность ситуации, когда все философы одновременно схватили по одной вилке.</a:t>
            </a:r>
          </a:p>
          <a:p>
            <a:br>
              <a:rPr lang="ru-RU" dirty="0"/>
            </a:br>
            <a:r>
              <a:rPr lang="ru-RU" dirty="0"/>
              <a:t>Теперь процесс получения двух вилок становится атомарным с точки зрения остальных потоков.</a:t>
            </a:r>
          </a:p>
          <a:p>
            <a:r>
              <a:rPr lang="ru-RU" dirty="0"/>
              <a:t>Таким образом мы разрушаем условие циклического ожидания — </a:t>
            </a:r>
            <a:r>
              <a:rPr lang="ru-RU" dirty="0" err="1"/>
              <a:t>deadlock</a:t>
            </a:r>
            <a:r>
              <a:rPr lang="ru-RU" dirty="0"/>
              <a:t> невозможен.</a:t>
            </a:r>
          </a:p>
          <a:p>
            <a:r>
              <a:rPr lang="ru-RU" dirty="0"/>
              <a:t>Цена этого решения — централизованная точка синхронизации.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waiter</a:t>
            </a:r>
            <a:r>
              <a:rPr lang="ru-RU" dirty="0"/>
              <a:t> может стать узким местом и снижать параллелизм, потому что философы вынуждены по очереди входить в критическую секцию получения вилок.</a:t>
            </a:r>
          </a:p>
          <a:p>
            <a:endParaRPr lang="ru-RU" dirty="0"/>
          </a:p>
          <a:p>
            <a:r>
              <a:rPr lang="ru-RU" dirty="0"/>
              <a:t>Но как концептуальный приём — введение координатора — это очень распространённая стратегия устранения взаимных блокировок.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48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используем другой подход — вводим глобальный порядок ресурсов.</a:t>
            </a:r>
          </a:p>
          <a:p>
            <a:r>
              <a:rPr lang="ru-RU" dirty="0"/>
              <a:t>Обратите внимание: каждому философу по-прежнему передаются две вилки.</a:t>
            </a:r>
            <a:br>
              <a:rPr lang="ru-RU" dirty="0"/>
            </a:br>
            <a:r>
              <a:rPr lang="ru-RU" dirty="0"/>
              <a:t>Но теперь мы не говорим «левая» и «правая». Вместо этого мы нумеруем вилки и передаём их в порядке возрастания индекса: сначала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(i, j)</a:t>
            </a:r>
            <a:r>
              <a:rPr lang="ru-RU" dirty="0"/>
              <a:t>, 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(i, j)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</a:t>
            </a:r>
            <a:r>
              <a:rPr lang="ru-RU" b="1" dirty="0"/>
              <a:t>все потоки захватывают ресурсы в одном и том же глобальном порядке</a:t>
            </a:r>
            <a:r>
              <a:rPr lang="ru-RU" dirty="0"/>
              <a:t> — от меньшего номера к большему.</a:t>
            </a:r>
          </a:p>
          <a:p>
            <a:endParaRPr lang="ru-RU" dirty="0"/>
          </a:p>
          <a:p>
            <a:r>
              <a:rPr lang="ru-RU" dirty="0"/>
              <a:t>Почему это работает?</a:t>
            </a:r>
          </a:p>
          <a:p>
            <a:r>
              <a:rPr lang="ru-RU" dirty="0"/>
              <a:t>Потому что мы разрушаем условие циклического ожидания.</a:t>
            </a:r>
            <a:br>
              <a:rPr lang="ru-RU" dirty="0"/>
            </a:br>
            <a:r>
              <a:rPr lang="ru-RU" dirty="0"/>
              <a:t>Чтобы возник цикл, нужно, чтобы кто-то захватывал ресурсы в обратном порядке. Но теперь это невозможно: порядок един для всех.</a:t>
            </a:r>
          </a:p>
          <a:p>
            <a:endParaRPr lang="ru-RU" dirty="0"/>
          </a:p>
          <a:p>
            <a:r>
              <a:rPr lang="ru-RU" dirty="0"/>
              <a:t>Если попытаться построить цикл ожидания, он обязательно нарушит правило монотонного роста номеров — а значит, такой цикл просто не может возникнуть.</a:t>
            </a:r>
          </a:p>
          <a:p>
            <a:endParaRPr lang="ru-RU" dirty="0"/>
          </a:p>
          <a:p>
            <a:r>
              <a:rPr lang="ru-RU" dirty="0"/>
              <a:t>Это очень распространённый инженерный приём:</a:t>
            </a:r>
            <a:br>
              <a:rPr lang="ru-RU" dirty="0"/>
            </a:br>
            <a:r>
              <a:rPr lang="ru-RU" dirty="0"/>
              <a:t>ввести иерархию ресурсов и строго придерживаться её при захвате блокировок.</a:t>
            </a:r>
          </a:p>
          <a:p>
            <a:endParaRPr lang="ru-RU" dirty="0"/>
          </a:p>
          <a:p>
            <a:r>
              <a:rPr lang="ru-RU" dirty="0"/>
              <a:t>Решение масштабируемое, не требует централизованного координатора и обычно предпочтительнее «официанта».</a:t>
            </a:r>
            <a:br>
              <a:rPr lang="ru-RU" dirty="0"/>
            </a:br>
            <a:r>
              <a:rPr lang="ru-RU" dirty="0"/>
              <a:t>Однако теоретически возможно </a:t>
            </a:r>
            <a:r>
              <a:rPr lang="ru-RU" dirty="0" err="1"/>
              <a:t>starvation</a:t>
            </a:r>
            <a:r>
              <a:rPr lang="ru-RU" dirty="0"/>
              <a:t> — некоторым потокам может долго не везти с получением ресурсов.</a:t>
            </a:r>
          </a:p>
          <a:p>
            <a:endParaRPr lang="ru-RU" dirty="0"/>
          </a:p>
          <a:p>
            <a:r>
              <a:rPr lang="ru-RU" dirty="0"/>
              <a:t>Главная идея здесь — фиксированный порядок захвата устраняет возможность </a:t>
            </a:r>
            <a:r>
              <a:rPr lang="ru-RU" dirty="0" err="1"/>
              <a:t>deadlock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163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мы используем современный и наиболее удобный способ решения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внимание: философу снова передаются «левая» и «правая» вилки, без явной нумерации и без координатора.</a:t>
            </a:r>
          </a:p>
          <a:p>
            <a:br>
              <a:rPr lang="ru-RU" dirty="0"/>
            </a:br>
            <a:r>
              <a:rPr lang="ru-RU" dirty="0"/>
              <a:t>Но теперь вместо двух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 мы используем один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ru-RU" dirty="0"/>
              <a:t>, которому передаём оба мьютекса сразу.</a:t>
            </a:r>
          </a:p>
          <a:p>
            <a:endParaRPr lang="ru-RU" dirty="0"/>
          </a:p>
          <a:p>
            <a:r>
              <a:rPr lang="ru-RU" dirty="0"/>
              <a:t>Что происходит внутри?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ru-RU" dirty="0"/>
              <a:t> использует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 — специальный алгоритм захвата нескольких мьютексов, который предотвращает взаимную блокировку.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Он пытается захватить все переданные мьютексы так, чтобы не возникло циклического ожидания. Если нужно, временно отпускает уже захваченные и повторяет попытку.</a:t>
            </a:r>
          </a:p>
          <a:p>
            <a:endParaRPr lang="ru-RU" dirty="0"/>
          </a:p>
          <a:p>
            <a:r>
              <a:rPr lang="ru-RU" dirty="0"/>
              <a:t>Для нас это означает: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нужно вручную задавать порядок,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нужен внешний координатор,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риск </a:t>
            </a:r>
            <a:r>
              <a:rPr lang="ru-RU" dirty="0" err="1"/>
              <a:t>deadlock</a:t>
            </a:r>
            <a:r>
              <a:rPr lang="ru-RU" dirty="0"/>
              <a:t> устранён.</a:t>
            </a:r>
          </a:p>
          <a:p>
            <a:r>
              <a:rPr lang="ru-RU" dirty="0"/>
              <a:t>Это рекомендуемый способ захвата нескольких мьютексов в современном C++.</a:t>
            </a:r>
          </a:p>
          <a:p>
            <a:r>
              <a:rPr lang="ru-RU" dirty="0"/>
              <a:t>Важно понимать: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ru-RU" dirty="0"/>
              <a:t> решает проблему взаимной блокировки, но не гарантирует отсутствие </a:t>
            </a:r>
            <a:r>
              <a:rPr lang="ru-RU" dirty="0" err="1"/>
              <a:t>starvation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Тем не менее, в большинстве практических случаев это самый безопасный и удобный инструмент.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99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вернёмся к нашему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TSStack</a:t>
            </a:r>
            <a:r>
              <a:rPr lang="ru-RU" dirty="0"/>
              <a:t> и исправим взаимную блокировку в операторе присваивания.</a:t>
            </a:r>
          </a:p>
          <a:p>
            <a:endParaRPr lang="ru-RU" dirty="0"/>
          </a:p>
          <a:p>
            <a:r>
              <a:rPr lang="ru-RU" dirty="0"/>
              <a:t>Раньше мы брали мьютексы по отдельности: сначала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dirty="0"/>
              <a:t>, потом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rhs</a:t>
            </a:r>
            <a:r>
              <a:rPr lang="ru-RU" dirty="0"/>
              <a:t>. При перекрёстном присваивании в двух потоках это легко приводило к циклу ожидания: один поток держит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stack1</a:t>
            </a:r>
            <a:r>
              <a:rPr lang="ru-RU" dirty="0"/>
              <a:t> и ждёт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stack2</a:t>
            </a:r>
            <a:r>
              <a:rPr lang="ru-RU" dirty="0"/>
              <a:t>, второй — наоборот.</a:t>
            </a:r>
          </a:p>
          <a:p>
            <a:endParaRPr lang="ru-RU" dirty="0"/>
          </a:p>
          <a:p>
            <a:r>
              <a:rPr lang="ru-RU" dirty="0"/>
              <a:t>Здесь вместо двух отдельных захватов 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ru-RU" dirty="0"/>
              <a:t> и передаём ему </a:t>
            </a:r>
            <a:r>
              <a:rPr lang="ru-RU" b="1" dirty="0"/>
              <a:t>оба мьютекса одновременно</a:t>
            </a:r>
            <a:r>
              <a:rPr lang="ru-RU" dirty="0"/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m_mutex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rhs.m_mutex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ru-RU" dirty="0"/>
              <a:t> внутри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dirty="0"/>
              <a:t> — он захватывает несколько блокировок так, чтобы не допустить </a:t>
            </a:r>
            <a:r>
              <a:rPr lang="ru-RU" dirty="0" err="1"/>
              <a:t>deadlock</a:t>
            </a:r>
            <a:r>
              <a:rPr lang="ru-RU" dirty="0"/>
              <a:t>. Нам больше не нужно вручную придумывать порядок и надеяться, что в другом месте программы его не нарушат.</a:t>
            </a:r>
          </a:p>
          <a:p>
            <a:endParaRPr lang="ru-RU" dirty="0"/>
          </a:p>
          <a:p>
            <a:r>
              <a:rPr lang="ru-RU" dirty="0"/>
              <a:t>После того как обе блокировки взяты, мы безопасно копируем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m_stack</a:t>
            </a:r>
            <a:r>
              <a:rPr lang="ru-RU" dirty="0"/>
              <a:t>. RAII гарантирует, что оба мьютекса будут освобождены корректно даже при исключениях.</a:t>
            </a:r>
          </a:p>
          <a:p>
            <a:endParaRPr lang="ru-RU" dirty="0"/>
          </a:p>
          <a:p>
            <a:r>
              <a:rPr lang="ru-RU" dirty="0"/>
              <a:t>Внизу тот же тест с двумя потоками и перекрёстными присваиваниями. Теперь программа не падает и не зависает: мы сохранили </a:t>
            </a:r>
            <a:r>
              <a:rPr lang="ru-RU" dirty="0" err="1"/>
              <a:t>потокобезопасность</a:t>
            </a:r>
            <a:r>
              <a:rPr lang="ru-RU" dirty="0"/>
              <a:t> и убрали возможность циклического ожидания.</a:t>
            </a:r>
          </a:p>
          <a:p>
            <a:endParaRPr lang="ru-RU" dirty="0"/>
          </a:p>
          <a:p>
            <a:r>
              <a:rPr lang="ru-RU" dirty="0"/>
              <a:t>Практический вывод отсюда простой: если операция должна атомарно работать с несколькими защищаемыми объектами, в C++ почти всегда стоит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ru-RU" dirty="0"/>
              <a:t> вместо ручного захвата по одному.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36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Deadlock</a:t>
            </a:r>
            <a:r>
              <a:rPr lang="ru-RU" dirty="0"/>
              <a:t> возникает не только при неправильном порядке захвата нескольких мьютексов.</a:t>
            </a:r>
          </a:p>
          <a:p>
            <a:endParaRPr lang="ru-RU" dirty="0"/>
          </a:p>
          <a:p>
            <a:r>
              <a:rPr lang="ru-RU" dirty="0"/>
              <a:t>Первый пример — взаимный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поток A ждёт завершения потока B, а поток B — завершения потока A, получается тот же самый цикл ожидания, только уже не по ресурсам, а по завершению потоков. Оба живы, оба ждут, прогресса нет.</a:t>
            </a:r>
          </a:p>
          <a:p>
            <a:endParaRPr lang="ru-RU" dirty="0"/>
          </a:p>
          <a:p>
            <a:r>
              <a:rPr lang="ru-RU" dirty="0"/>
              <a:t>Второй пример — более тонкий и встречается в системном программировании.</a:t>
            </a:r>
            <a:br>
              <a:rPr lang="ru-RU" dirty="0"/>
            </a:br>
            <a:r>
              <a:rPr lang="ru-RU" dirty="0"/>
              <a:t>Если в многопоточной программе один поток удерживает мьютекс, а другой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то в дочернем процессе остаётся только один поток — тот, который вызвал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r>
              <a:rPr lang="ru-RU" dirty="0"/>
              <a:t>Все остальные потоки исчезают, но их захваченные мьютексы остаются в «заблокированном» состоянии.</a:t>
            </a:r>
          </a:p>
          <a:p>
            <a:r>
              <a:rPr lang="ru-RU" dirty="0"/>
              <a:t>Если теперь в дочернем процессе попытаться захватить такой мьютекс, произойдёт </a:t>
            </a:r>
            <a:r>
              <a:rPr lang="ru-RU" dirty="0" err="1"/>
              <a:t>deadlock</a:t>
            </a:r>
            <a:r>
              <a:rPr lang="ru-RU" dirty="0"/>
              <a:t> — потому что потока, который мог бы его освободить, больше не существует.</a:t>
            </a:r>
          </a:p>
          <a:p>
            <a:endParaRPr lang="ru-RU" dirty="0"/>
          </a:p>
          <a:p>
            <a:r>
              <a:rPr lang="ru-RU" dirty="0"/>
              <a:t>Общий принцип в обоих случаях один и тот же: возникает цикл ожидания или ресурс оказывается удержан навсегда.</a:t>
            </a:r>
          </a:p>
          <a:p>
            <a:r>
              <a:rPr lang="ru-RU" dirty="0"/>
              <a:t>Это ещё раз показывает, что </a:t>
            </a:r>
            <a:r>
              <a:rPr lang="ru-RU" dirty="0" err="1"/>
              <a:t>deadlock</a:t>
            </a:r>
            <a:r>
              <a:rPr lang="ru-RU" dirty="0"/>
              <a:t> — это не частный баг с мьютексами, а более общая проблема управления зависимостями между потоками и ресурсами.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13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сформулировали несколько практических правил, которые помогают избежать взаимных блокировок.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Минимизируйте вложенные блокировки — чем меньше одновременно удерживаемых ресурсов, тем сложнее образовать цикл.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необходимо захватывать несколько ресурсов, делайте это в фиксированном глобальном порядке. Это разрушает возможность циклического ожидания.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Не вызывайте внешний или пользовательский код под блокировкой — вы не контролируете, какие мьютексы он может попытаться захватить внутри.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Минимизируйте время удержания блокировки — критическая секция должна быть как можно короче.</a:t>
            </a:r>
          </a:p>
          <a:p>
            <a:r>
              <a:rPr lang="ru-RU" dirty="0"/>
              <a:t>И ещё одно важное правило — пишите </a:t>
            </a:r>
            <a:r>
              <a:rPr lang="ru-RU" dirty="0" err="1"/>
              <a:t>exception-safe</a:t>
            </a:r>
            <a:r>
              <a:rPr lang="ru-RU" dirty="0"/>
              <a:t> код.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Если внутри критической секции будет выброшено исключение, мьютекс не должен остаться заблокированным. Иначе вы получите «вечную» блокировку, которую очень трудно диагностировать.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поэтому в современном C++ следует использовать RAII-обёртки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unique_lock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ru-RU" dirty="0"/>
              <a:t>. Они гарантируют, что мьютекс будет освобождён автоматически при выходе из области видимости, даже если произошло исключение.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Все эти правила направлены на одно — не допустить появления цикла в графе ожиданий и не оставить ресурсы захваченными навсегда.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252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более системный подход к предотвращению </a:t>
            </a:r>
            <a:r>
              <a:rPr lang="ru-RU" dirty="0" err="1"/>
              <a:t>deadlock</a:t>
            </a:r>
            <a:r>
              <a:rPr lang="ru-RU" dirty="0"/>
              <a:t> — </a:t>
            </a:r>
            <a:r>
              <a:rPr lang="ru-RU" b="1" dirty="0"/>
              <a:t>иерархические мьютексы</a:t>
            </a:r>
            <a:r>
              <a:rPr lang="ru-RU" dirty="0"/>
              <a:t>.</a:t>
            </a:r>
          </a:p>
          <a:p>
            <a:r>
              <a:rPr lang="ru-RU" dirty="0"/>
              <a:t>Идея простая: мы не просто договариваемся о глобальном порядке захвата ресурсов, а </a:t>
            </a:r>
            <a:r>
              <a:rPr lang="ru-RU" b="1" dirty="0" err="1"/>
              <a:t>программно</a:t>
            </a:r>
            <a:r>
              <a:rPr lang="ru-RU" b="1" dirty="0"/>
              <a:t> его контролируем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Каждому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HierarchicalMutex</a:t>
            </a:r>
            <a:r>
              <a:rPr lang="ru-RU" dirty="0"/>
              <a:t> при создании назначается числовой уровень иерархии. Чем больше число — тем «выше» уровень. Поток может захватывать только мьютексы с </a:t>
            </a:r>
            <a:r>
              <a:rPr lang="ru-RU" b="1" dirty="0"/>
              <a:t>меньшим уровнем</a:t>
            </a:r>
            <a:r>
              <a:rPr lang="ru-RU" dirty="0"/>
              <a:t>, чем тот, который он уже удерживает.</a:t>
            </a:r>
          </a:p>
          <a:p>
            <a:endParaRPr lang="ru-RU" dirty="0"/>
          </a:p>
          <a:p>
            <a:r>
              <a:rPr lang="ru-RU" dirty="0"/>
              <a:t>Ключевой механизм — 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thread_local</a:t>
            </a:r>
            <a:r>
              <a:rPr lang="ru-RU" dirty="0"/>
              <a:t>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m_thisThreadHierarchy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У каждого потока есть собственное текущее значение «самого высокого захваченного уровня». Изначально оно равно максимальному значению, поэтому первый мьютекс можно захватить любой.</a:t>
            </a:r>
          </a:p>
          <a:p>
            <a:endParaRPr lang="ru-RU" dirty="0"/>
          </a:p>
          <a:p>
            <a:r>
              <a:rPr lang="ru-RU" dirty="0"/>
              <a:t>Когда поток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происходит проверка:</a:t>
            </a:r>
            <a:br>
              <a:rPr lang="ru-RU" dirty="0"/>
            </a:br>
            <a:r>
              <a:rPr lang="ru-RU" dirty="0"/>
              <a:t>если он пытается взять мьютекс с уровнем выше или равным уже удерживаемому — выбрасывается исключение. То есть мы не даём нарушить порядок.</a:t>
            </a:r>
          </a:p>
          <a:p>
            <a:r>
              <a:rPr lang="ru-RU" dirty="0"/>
              <a:t>После успешного захвата уровень обновляется.</a:t>
            </a:r>
          </a:p>
          <a:p>
            <a:br>
              <a:rPr lang="ru-RU" dirty="0"/>
            </a:br>
            <a:r>
              <a:rPr lang="ru-RU" dirty="0"/>
              <a:t>При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прежнее значение восстанавливается — поэтому мы сохраняем его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m_prevHierarchy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внимание: если попытаться разблокировать мьютекс не в обратном порядке, будет выброшено исключение. Это защищает нас от «ломания» иерархии.</a:t>
            </a:r>
          </a:p>
          <a:p>
            <a:endParaRPr lang="ru-RU" dirty="0"/>
          </a:p>
          <a:p>
            <a:r>
              <a:rPr lang="ru-RU" dirty="0"/>
              <a:t>Таким образом, мы полностью исключаем возможность циклического ожидания — потому что порядок захвата теперь жёстко контролируется во время выполнения программы.</a:t>
            </a:r>
          </a:p>
          <a:p>
            <a:endParaRPr lang="ru-RU" dirty="0"/>
          </a:p>
          <a:p>
            <a:r>
              <a:rPr lang="ru-RU" dirty="0"/>
              <a:t>Это уже не просто соглашение разработчиков, а механизм, который автоматически обнаруживает нарушение архитектурного правила.</a:t>
            </a:r>
          </a:p>
          <a:p>
            <a:br>
              <a:rPr lang="ru-RU" dirty="0"/>
            </a:br>
            <a:r>
              <a:rPr lang="ru-RU" dirty="0"/>
              <a:t>Цена — дополнительная проверка и чуть более сложная реализация. Зато в больших кодовых базах такой подход позволяет выявлять потенциальные </a:t>
            </a:r>
            <a:r>
              <a:rPr lang="ru-RU" dirty="0" err="1"/>
              <a:t>deadlock</a:t>
            </a:r>
            <a:r>
              <a:rPr lang="ru-RU" dirty="0"/>
              <a:t> на ранней стадии.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477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пример использования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HierarchicalMutex</a:t>
            </a:r>
            <a:r>
              <a:rPr lang="ru-RU" dirty="0"/>
              <a:t> на практике.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 нас есть три уровня иерархии: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highLevelMutex</a:t>
            </a:r>
            <a:r>
              <a:rPr lang="ru-RU" dirty="0"/>
              <a:t> — самый высокий уровень,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midLevelMutex</a:t>
            </a:r>
            <a:r>
              <a:rPr lang="ru-RU" dirty="0"/>
              <a:t> — средний,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lowLevelMutex</a:t>
            </a:r>
            <a:r>
              <a:rPr lang="ru-RU" dirty="0"/>
              <a:t> — самый низкий.</a:t>
            </a:r>
          </a:p>
          <a:p>
            <a:r>
              <a:rPr lang="ru-RU" dirty="0"/>
              <a:t>По правилу иерархии поток может захватывать мьютексы только в направлении «сверху вниз» — от большего уровня к меньшему.</a:t>
            </a:r>
          </a:p>
          <a:p>
            <a:endParaRPr lang="ru-RU" dirty="0"/>
          </a:p>
          <a:p>
            <a:r>
              <a:rPr lang="ru-RU" dirty="0"/>
              <a:t>Посмотрим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HighLevelFunc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Она захватывает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highLevelMutex</a:t>
            </a:r>
            <a:r>
              <a:rPr lang="ru-RU" dirty="0"/>
              <a:t>, а затем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LowLevelFunc</a:t>
            </a:r>
            <a:r>
              <a:rPr lang="ru-RU" dirty="0"/>
              <a:t>, которая внутри берёт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lowLevelMutex</a:t>
            </a:r>
            <a:r>
              <a:rPr lang="ru-RU" dirty="0"/>
              <a:t>. Это корректно: 10 000 → 1 000 — движение вниз по иерархии.</a:t>
            </a:r>
          </a:p>
          <a:p>
            <a:endParaRPr lang="ru-RU" dirty="0"/>
          </a:p>
          <a:p>
            <a:r>
              <a:rPr lang="ru-RU" dirty="0"/>
              <a:t>Теперь обратим внимание на второй поток.</a:t>
            </a:r>
            <a:br>
              <a:rPr lang="ru-RU" dirty="0"/>
            </a:br>
            <a:r>
              <a:rPr lang="ru-RU" dirty="0"/>
              <a:t>Он захватывает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midLevelMutex</a:t>
            </a:r>
            <a:r>
              <a:rPr lang="ru-RU" dirty="0"/>
              <a:t>, а затем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OtherFunc</a:t>
            </a:r>
            <a:r>
              <a:rPr lang="ru-RU" dirty="0"/>
              <a:t>, которая приводит к вызову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HighLevelFunc</a:t>
            </a:r>
            <a:r>
              <a:rPr lang="ru-RU" dirty="0"/>
              <a:t>, а значит — к попытке захвата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highLevelMutex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Получается порядок 5 000 → 10 000 — движение вверх по иерархии.</a:t>
            </a:r>
            <a:br>
              <a:rPr lang="ru-RU" dirty="0"/>
            </a:br>
            <a:r>
              <a:rPr lang="ru-RU" dirty="0"/>
              <a:t>Это нарушение установленного правила.</a:t>
            </a:r>
          </a:p>
          <a:p>
            <a:endParaRPr lang="ru-RU" dirty="0"/>
          </a:p>
          <a:p>
            <a:r>
              <a:rPr lang="ru-RU" dirty="0"/>
              <a:t>И в этом случае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HierarchicalMutex</a:t>
            </a:r>
            <a:r>
              <a:rPr lang="ru-RU" dirty="0"/>
              <a:t> не допустит потенциальной взаимной блокировки — будет выброшено исключение с сообщением о нарушении иерархии.</a:t>
            </a:r>
          </a:p>
          <a:p>
            <a:endParaRPr lang="ru-RU" dirty="0"/>
          </a:p>
          <a:p>
            <a:r>
              <a:rPr lang="ru-RU" dirty="0"/>
              <a:t>Важно понимать: без такого механизма этот код мог бы привести к </a:t>
            </a:r>
            <a:r>
              <a:rPr lang="ru-RU" dirty="0" err="1"/>
              <a:t>deadlock</a:t>
            </a:r>
            <a:r>
              <a:rPr lang="ru-RU" dirty="0"/>
              <a:t> в реальной системе.</a:t>
            </a:r>
          </a:p>
          <a:p>
            <a:br>
              <a:rPr lang="ru-RU" dirty="0"/>
            </a:br>
            <a:r>
              <a:rPr lang="ru-RU" dirty="0"/>
              <a:t>Но благодаря проверке мы обнаруживаем архитектурную ошибку сразу, в момент выполнения.</a:t>
            </a:r>
          </a:p>
          <a:p>
            <a:endParaRPr lang="ru-RU" dirty="0"/>
          </a:p>
          <a:p>
            <a:r>
              <a:rPr lang="ru-RU" dirty="0"/>
              <a:t>Таким образом, иерархические мьютексы позволяют превратить «скрытую возможность </a:t>
            </a:r>
            <a:r>
              <a:rPr lang="ru-RU" dirty="0" err="1"/>
              <a:t>deadlock</a:t>
            </a:r>
            <a:r>
              <a:rPr lang="ru-RU" dirty="0"/>
              <a:t>» в явную ошибку проектирования, которую можно быстро диагностировать и исправить.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34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мы увидели, что </a:t>
            </a:r>
            <a:r>
              <a:rPr lang="ru-RU" dirty="0" err="1"/>
              <a:t>deadlock</a:t>
            </a:r>
            <a:r>
              <a:rPr lang="ru-RU" dirty="0"/>
              <a:t> — это не случайная ошибка, а следствие вполне конкретной структуры зависимостей.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появляется цикл ожиданий — система останавливается.</a:t>
            </a:r>
            <a:br>
              <a:rPr lang="ru-RU" dirty="0"/>
            </a:br>
            <a:r>
              <a:rPr lang="ru-RU" dirty="0"/>
              <a:t>Если цикла нет — </a:t>
            </a:r>
            <a:r>
              <a:rPr lang="ru-RU" dirty="0" err="1"/>
              <a:t>deadlock</a:t>
            </a:r>
            <a:r>
              <a:rPr lang="ru-RU" dirty="0"/>
              <a:t> невозможен.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основная инженерная задача — либо не допускать циклов, либо выявлять их как можно раньше.</a:t>
            </a:r>
          </a:p>
          <a:p>
            <a:endParaRPr lang="en-US" dirty="0"/>
          </a:p>
          <a:p>
            <a:r>
              <a:rPr lang="ru-RU" dirty="0"/>
              <a:t>И чем раньше в архитектуре вы продумали стратегию захвата ресурсов, тем меньше шансов однажды обнаружить «таинственное зависание» в </a:t>
            </a:r>
            <a:r>
              <a:rPr lang="ru-RU" dirty="0" err="1"/>
              <a:t>production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113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51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34B-A6AF-65FD-E801-6AA58D9D7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2731D-7764-B810-4DE6-EFEC6FF6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64FF-4361-8A20-8632-A7357C4E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259B1-BCF5-E9E4-5DC1-A0E7FB3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8E0-C2F7-7889-A85C-AEB7F30C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2129-36EC-F59A-E517-4AE8C0F4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0D9-C1D5-53E2-6F3E-B5D41EE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264F9-DAD5-4879-8AB1-37BF95F4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5842-F7DB-7A7D-1C0E-AFFCBC86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19B0-0BDE-6FEA-C9CE-9D47CC28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97F7-76ED-7011-F138-E869A524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0DBCF-9801-0CD0-80D6-3F447D74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BA715-0CC9-5B9C-18CF-61BDF80E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B509-CF39-AD98-5B9F-6F587A46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C96F-9DB3-A7C7-7684-A6D19B1E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573-6F50-BDB4-D64E-0EA61F6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47B1-2CE0-DD8E-6AA7-1D71BCB1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AA8E-0111-1C0D-1995-BAF9D0B4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EFB7E-2F96-B516-E4C4-FE880B92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964-F35F-1C34-CFF5-6D2BE76B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7BFC-C04F-FDE7-1C5E-0E27EDE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9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093F-8967-AE7C-5F1B-469F7B5F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1410-333F-199D-FAEF-B7E8E2241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F0024-0881-46A2-51B7-982D4F4C5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22088-D942-59C3-B01C-15738ADE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CCBFD-239F-B16A-FB41-D184A8113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BE7A7-F321-1F82-486C-8401595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27A04-391E-89F7-BFFA-811FB328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C0C-4462-0CE6-C0CF-4B724D6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ED1-E045-5879-2239-6CF5C404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1E778-7F1D-EF5E-EEF7-4818E0F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EFE2F-792D-2D06-A5D4-438C959A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6091-370F-F4E1-14F0-848B8256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1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E108-E833-D2C8-21FA-F53422A3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8860-D7FB-EA40-D280-809C91D7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3219E-EFDA-81ED-A397-CE586F6E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4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6CAE-1701-A719-EA99-F0D91409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1DDF-3F4C-05B6-8145-DFEF2AE77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4061A-05F1-3202-44CE-A30ED63A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6C9E7-259F-EDF3-0908-D55526AF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15CC9-295B-0269-3314-C3F56891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4882-B6A9-A334-945F-1BDAECCE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31C-EF23-165A-DB9E-C64FAC3B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F2B43-92D8-9B53-B80B-07CF8E5D3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B1E2-8C85-BB65-94AD-57DDF6A85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A67C-F130-FC8C-ECA4-4DFCAFDF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FBD6-94D0-F263-A675-E4CD7038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72E05-13C4-BD37-B083-A3EF5E25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C5DC-6526-8DE1-FD88-D04D3339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DF879-56A4-E5E8-0C9C-6B1CFBABC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A286-1207-DBA2-EA14-1A5B1DF4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0F58-DE4D-21AA-7FBF-5E6395FA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1BC4-3E61-F68B-63AA-A46453E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9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935F9-8F87-75E1-FD10-0D2519C7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6B2D0-EDCD-04ED-374A-DD406C0D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1ED0-C0A0-A33C-BF28-ACF1E44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E4BA-3647-8657-5F57-15CEC51B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67EA-5E3D-41B7-F8BB-EF7B5CD4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8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A1EC3-25D6-57CE-99DC-2AF2BC12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F670-12C1-CE1C-0CAB-31FB9C087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97D7-5848-8CBF-CFD1-3BE99CFC6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5F23-F574-4C00-9B25-D94C8E69B068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12AB-B38C-C36A-1C31-960B8BDAC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06F2E-FB57-0F30-5944-4E9F97F9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4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odbolt.org/z/Psrrqco9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M1sqvYnj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3Pxa7rEK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n.cppreference.com/w/cpp/error/system_error" TargetMode="External"/><Relationship Id="rId5" Type="http://schemas.openxmlformats.org/officeDocument/2006/relationships/hyperlink" Target="https://en.cppreference.com/w/cpp/thread/mutex/lock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vYK6c5reW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hread/mutex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99E1-33FD-FB31-1D48-33E0470F1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ru-RU" dirty="0"/>
              <a:t>Взаимная блокировка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AFB1629-3497-E7B0-FF65-15DF9081CD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941001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C68E7-B868-99FB-863B-4C1251F6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Взаимная блокировка (</a:t>
            </a:r>
            <a:r>
              <a:rPr lang="en-US" dirty="0"/>
              <a:t>Deadlock)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2C750-B348-2983-5EFA-941DC43F3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Проблема взаимных блокировок</a:t>
            </a:r>
          </a:p>
          <a:p>
            <a:pPr lvl="1"/>
            <a:r>
              <a:rPr lang="ru-RU" dirty="0"/>
              <a:t>Одна из самых опасных ошибок в многопоточном коде</a:t>
            </a:r>
          </a:p>
          <a:p>
            <a:pPr lvl="1"/>
            <a:r>
              <a:rPr lang="ru-RU" dirty="0"/>
              <a:t>Проявляется редко, но может полностью остановить систему</a:t>
            </a:r>
          </a:p>
          <a:p>
            <a:pPr lvl="1"/>
            <a:r>
              <a:rPr lang="ru-RU" dirty="0"/>
              <a:t>Часто не воспроизводится при тестировании</a:t>
            </a:r>
          </a:p>
          <a:p>
            <a:pPr lvl="1"/>
            <a:r>
              <a:rPr lang="ru-RU" dirty="0"/>
              <a:t>Возникает даже при «правильном» использовании мьютексов</a:t>
            </a:r>
          </a:p>
          <a:p>
            <a:r>
              <a:rPr lang="ru-RU" dirty="0"/>
              <a:t>В этой лекции разберём:</a:t>
            </a:r>
          </a:p>
          <a:p>
            <a:pPr lvl="1"/>
            <a:r>
              <a:rPr lang="ru-RU" dirty="0"/>
              <a:t>почему возникает </a:t>
            </a:r>
            <a:r>
              <a:rPr lang="ru-RU" dirty="0" err="1"/>
              <a:t>deadlock</a:t>
            </a:r>
            <a:endParaRPr lang="ru-RU" dirty="0"/>
          </a:p>
          <a:p>
            <a:pPr lvl="1"/>
            <a:r>
              <a:rPr lang="ru-RU" dirty="0"/>
              <a:t>как его распознать</a:t>
            </a:r>
          </a:p>
          <a:p>
            <a:pPr lvl="1"/>
            <a:r>
              <a:rPr lang="ru-RU" dirty="0"/>
              <a:t>как его предотвращать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15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3115F-A482-1976-5029-E0EA367E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Присваивание стека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39C97-4789-FD28-8141-752CCCED68C1}"/>
              </a:ext>
            </a:extLst>
          </p:cNvPr>
          <p:cNvSpPr txBox="1"/>
          <p:nvPr/>
        </p:nvSpPr>
        <p:spPr>
          <a:xfrm>
            <a:off x="1" y="169068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addressof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574262-B785-1CF7-E08B-EE7E876A4C90}"/>
              </a:ext>
            </a:extLst>
          </p:cNvPr>
          <p:cNvSpPr txBox="1"/>
          <p:nvPr/>
        </p:nvSpPr>
        <p:spPr>
          <a:xfrm>
            <a:off x="6096000" y="117693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repeatCount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repeatCount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std::ignore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repeatCount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std::ignore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stack1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TryPop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A1C872-8767-F1ED-8CE2-672A448A03F2}"/>
              </a:ext>
            </a:extLst>
          </p:cNvPr>
          <p:cNvSpPr/>
          <p:nvPr/>
        </p:nvSpPr>
        <p:spPr>
          <a:xfrm>
            <a:off x="261257" y="6215002"/>
            <a:ext cx="4934857" cy="64299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Program terminated with signal: SIGSEGV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8557FA-E104-EAF9-81CA-20C3CB1D4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3143" y="5459927"/>
            <a:ext cx="1378856" cy="139807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5436A46-D7D3-4DFB-93DA-3D9F0DAECE86}"/>
              </a:ext>
            </a:extLst>
          </p:cNvPr>
          <p:cNvSpPr txBox="1"/>
          <p:nvPr/>
        </p:nvSpPr>
        <p:spPr>
          <a:xfrm>
            <a:off x="7402286" y="6488667"/>
            <a:ext cx="3410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https://godbolt.org/z/Psrrqco98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14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7FA33-7648-70D6-4BC7-0FBF1BBD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5BEB0B-C83A-8D89-6825-A81B3771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 мьютексы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81824-3564-D725-52C0-253A80B77D36}"/>
              </a:ext>
            </a:extLst>
          </p:cNvPr>
          <p:cNvSpPr txBox="1"/>
          <p:nvPr/>
        </p:nvSpPr>
        <p:spPr>
          <a:xfrm>
            <a:off x="1" y="1690688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template &lt;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ru-RU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TSStack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&amp; operator=(const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TSStack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if (this != std::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addressof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 std::</a:t>
            </a:r>
            <a:r>
              <a:rPr lang="en-US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lock_guard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377F"/>
                </a:solidFill>
                <a:latin typeface="Consolas" panose="020B0609020204030204" pitchFamily="49" charset="0"/>
              </a:rPr>
              <a:t>thisLock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m_mutex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 std::</a:t>
            </a:r>
            <a:r>
              <a:rPr lang="en-US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shared_lock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377F"/>
                </a:solidFill>
                <a:latin typeface="Consolas" panose="020B0609020204030204" pitchFamily="49" charset="0"/>
              </a:rPr>
              <a:t>otherLock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.m_mutex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m_stack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other.m_stack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return *this;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}</a:t>
            </a:r>
            <a:endParaRPr lang="ru-RU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private: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std::stack&lt;T&gt;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mutable 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8F80C-7F54-E0C7-469B-D90F63DE1AE4}"/>
              </a:ext>
            </a:extLst>
          </p:cNvPr>
          <p:cNvSpPr txBox="1"/>
          <p:nvPr/>
        </p:nvSpPr>
        <p:spPr>
          <a:xfrm>
            <a:off x="6357256" y="117693"/>
            <a:ext cx="583474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int main() 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&lt;int&gt; stack1;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&lt;int&gt; stack2;</a:t>
            </a:r>
          </a:p>
          <a:p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for (int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&lt; 100; ++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stack1.Push(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stack2.Push(-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static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int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repeatCount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= 10'000;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t{ [&amp;stack1, &amp;stack2] 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for (int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repeatCount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  stack2.Push(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  stack1 = stack2;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  std::ignore = stack2.TryPop();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for (int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repeatCount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stack1.Push(-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stack2 = stack1;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std::ignore = stack1.TryPop();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t.join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FCA74-E665-0C68-F27B-524E0E1B5E7D}"/>
              </a:ext>
            </a:extLst>
          </p:cNvPr>
          <p:cNvSpPr txBox="1"/>
          <p:nvPr/>
        </p:nvSpPr>
        <p:spPr>
          <a:xfrm>
            <a:off x="234484" y="6488668"/>
            <a:ext cx="3694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https://godbolt.org/z/M1sqvYnjo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C9CDDD-B8E7-4911-FF5F-09E35C5AA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4794" y="0"/>
            <a:ext cx="1427206" cy="144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2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24D3F-FE60-9E5E-F243-23A87C8B7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Причина зависания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D21F76-0DF2-D856-0722-59B2C10F7834}"/>
              </a:ext>
            </a:extLst>
          </p:cNvPr>
          <p:cNvSpPr/>
          <p:nvPr/>
        </p:nvSpPr>
        <p:spPr>
          <a:xfrm>
            <a:off x="2986315" y="2929389"/>
            <a:ext cx="2090057" cy="13255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0158E4-9239-8BBA-3D74-E6AE07877308}"/>
              </a:ext>
            </a:extLst>
          </p:cNvPr>
          <p:cNvSpPr/>
          <p:nvPr/>
        </p:nvSpPr>
        <p:spPr>
          <a:xfrm>
            <a:off x="7369627" y="2929388"/>
            <a:ext cx="2090057" cy="13255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8D8813-8977-EC76-D91C-1880DFB18112}"/>
              </a:ext>
            </a:extLst>
          </p:cNvPr>
          <p:cNvSpPr/>
          <p:nvPr/>
        </p:nvSpPr>
        <p:spPr>
          <a:xfrm>
            <a:off x="4474029" y="3105941"/>
            <a:ext cx="486229" cy="48622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FB3BCF-1216-DEAD-86C5-46BBA39BC4E0}"/>
              </a:ext>
            </a:extLst>
          </p:cNvPr>
          <p:cNvSpPr/>
          <p:nvPr/>
        </p:nvSpPr>
        <p:spPr>
          <a:xfrm>
            <a:off x="8857342" y="3024863"/>
            <a:ext cx="486229" cy="48622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7CCDA-5F06-D153-B3D0-E821CF1C3C43}"/>
              </a:ext>
            </a:extLst>
          </p:cNvPr>
          <p:cNvSpPr txBox="1"/>
          <p:nvPr/>
        </p:nvSpPr>
        <p:spPr>
          <a:xfrm>
            <a:off x="4156529" y="4960642"/>
            <a:ext cx="1121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DA08A-975E-6981-5485-C71451833F04}"/>
              </a:ext>
            </a:extLst>
          </p:cNvPr>
          <p:cNvSpPr txBox="1"/>
          <p:nvPr/>
        </p:nvSpPr>
        <p:spPr>
          <a:xfrm>
            <a:off x="8539842" y="4960642"/>
            <a:ext cx="1121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3FA36F-4C6E-5BC5-954B-1FBEA2C209D9}"/>
              </a:ext>
            </a:extLst>
          </p:cNvPr>
          <p:cNvCxnSpPr>
            <a:cxnSpLocks/>
            <a:stCxn id="8" idx="0"/>
            <a:endCxn id="5" idx="4"/>
          </p:cNvCxnSpPr>
          <p:nvPr/>
        </p:nvCxnSpPr>
        <p:spPr>
          <a:xfrm flipV="1">
            <a:off x="4717143" y="3592170"/>
            <a:ext cx="1" cy="136847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86916F-EF6F-7A3A-2981-8DE8EB4B1243}"/>
              </a:ext>
            </a:extLst>
          </p:cNvPr>
          <p:cNvCxnSpPr>
            <a:cxnSpLocks/>
            <a:stCxn id="9" idx="0"/>
            <a:endCxn id="6" idx="4"/>
          </p:cNvCxnSpPr>
          <p:nvPr/>
        </p:nvCxnSpPr>
        <p:spPr>
          <a:xfrm flipV="1">
            <a:off x="9100456" y="3511092"/>
            <a:ext cx="1" cy="144955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D0F8A2-4605-8D6A-8B99-33FC18F89A7A}"/>
              </a:ext>
            </a:extLst>
          </p:cNvPr>
          <p:cNvCxnSpPr>
            <a:cxnSpLocks/>
            <a:stCxn id="8" idx="3"/>
            <a:endCxn id="6" idx="2"/>
          </p:cNvCxnSpPr>
          <p:nvPr/>
        </p:nvCxnSpPr>
        <p:spPr>
          <a:xfrm flipV="1">
            <a:off x="5277757" y="3267978"/>
            <a:ext cx="3579585" cy="187733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EC7327-903C-51FB-9E49-7B4C51BA9BD1}"/>
              </a:ext>
            </a:extLst>
          </p:cNvPr>
          <p:cNvCxnSpPr>
            <a:cxnSpLocks/>
            <a:stCxn id="9" idx="1"/>
            <a:endCxn id="5" idx="5"/>
          </p:cNvCxnSpPr>
          <p:nvPr/>
        </p:nvCxnSpPr>
        <p:spPr>
          <a:xfrm flipH="1" flipV="1">
            <a:off x="4889051" y="3520963"/>
            <a:ext cx="3650791" cy="162434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17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A98F41-C50C-CC23-783B-08075441B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Взаимная блокировка (</a:t>
            </a:r>
            <a:r>
              <a:rPr lang="en-US" dirty="0"/>
              <a:t>deadlock)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49D67-39EE-6A36-5111-9DC7E8E03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err="1"/>
              <a:t>Deadlock</a:t>
            </a:r>
            <a:r>
              <a:rPr lang="ru-RU" dirty="0"/>
              <a:t> — это ситуация, при которой группа потоков навсегда остаётся заблокированной, ожидая ресурсы, удерживаемые друг другом.</a:t>
            </a:r>
          </a:p>
          <a:p>
            <a:pPr lvl="1"/>
            <a:r>
              <a:rPr lang="ru-RU" dirty="0"/>
              <a:t>Программа не падает. Потоки не завершаются. Прогресса больше нет.</a:t>
            </a:r>
          </a:p>
          <a:p>
            <a:r>
              <a:rPr lang="ru-RU" dirty="0"/>
              <a:t>Необходимые условия возникновения (условия </a:t>
            </a:r>
            <a:r>
              <a:rPr lang="ru-RU" dirty="0" err="1"/>
              <a:t>Коффмана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Взаимное исключение. Ресурс может принадлежать только одному потоку.</a:t>
            </a:r>
          </a:p>
          <a:p>
            <a:pPr lvl="1"/>
            <a:r>
              <a:rPr lang="ru-RU" dirty="0"/>
              <a:t>Удержание и ожидание. Поток удерживает один ресурс и ждёт другой.</a:t>
            </a:r>
          </a:p>
          <a:p>
            <a:pPr lvl="1"/>
            <a:r>
              <a:rPr lang="ru-RU" dirty="0"/>
              <a:t>Отсутствие принудительного освобождения. Ресурс нельзя отобрать — только добровольно освободить.</a:t>
            </a:r>
          </a:p>
          <a:p>
            <a:pPr lvl="1"/>
            <a:r>
              <a:rPr lang="ru-RU" dirty="0"/>
              <a:t>Циклическое ожидание. Существует цикл потоков, каждый из которых ждёт ресурс следующего.</a:t>
            </a:r>
          </a:p>
          <a:p>
            <a:pPr lvl="1"/>
            <a:r>
              <a:rPr lang="ru-RU" dirty="0" err="1"/>
              <a:t>Deadlock</a:t>
            </a:r>
            <a:r>
              <a:rPr lang="ru-RU" dirty="0"/>
              <a:t> возможен только если выполняются все четыре условия.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2598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BD14DF-7CFC-31E9-A779-DD940F02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Повторный захват мьютекса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73991-AC31-5C1C-FFA9-A9F5A5A22B65}"/>
              </a:ext>
            </a:extLst>
          </p:cNvPr>
          <p:cNvSpPr txBox="1"/>
          <p:nvPr/>
        </p:nvSpPr>
        <p:spPr>
          <a:xfrm>
            <a:off x="838200" y="6308209"/>
            <a:ext cx="3598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https://godbolt.org/z/3Pxa7rEKa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F908CC-B5A2-B2B6-53B4-E30596609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825" y="1423712"/>
            <a:ext cx="2321437" cy="2387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16FFF8-6EB8-A761-F4D4-10CF1C337F10}"/>
              </a:ext>
            </a:extLst>
          </p:cNvPr>
          <p:cNvSpPr txBox="1"/>
          <p:nvPr/>
        </p:nvSpPr>
        <p:spPr>
          <a:xfrm>
            <a:off x="838200" y="1915297"/>
            <a:ext cx="83088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std::mutex m;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lk1{ m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1st lock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lk2{ m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2nd lock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7932A6-32D3-4954-0B0D-D1365CFB1883}"/>
              </a:ext>
            </a:extLst>
          </p:cNvPr>
          <p:cNvSpPr txBox="1"/>
          <p:nvPr/>
        </p:nvSpPr>
        <p:spPr>
          <a:xfrm>
            <a:off x="6096000" y="4647049"/>
            <a:ext cx="5902411" cy="206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47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hlinkClick r:id="rId5"/>
              </a:rPr>
              <a:t>std::mutex::lock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lnSpc>
                <a:spcPts val="1747"/>
              </a:lnSpc>
            </a:pPr>
            <a:endParaRPr lang="en-US" b="0" i="0" dirty="0">
              <a:solidFill>
                <a:srgbClr val="000000"/>
              </a:solidFill>
              <a:effectLst/>
              <a:latin typeface="DejaVuSans"/>
            </a:endParaRPr>
          </a:p>
          <a:p>
            <a:pPr algn="l">
              <a:lnSpc>
                <a:spcPts val="1747"/>
              </a:lnSpc>
            </a:pPr>
            <a:r>
              <a:rPr lang="en-US" b="0" i="0" dirty="0">
                <a:solidFill>
                  <a:srgbClr val="000000"/>
                </a:solidFill>
                <a:effectLst/>
              </a:rPr>
              <a:t>If lock is called by a thread that already owns the mutex, the behavior is undefined: for example, the program may deadlock.</a:t>
            </a:r>
          </a:p>
          <a:p>
            <a:pPr algn="l">
              <a:lnSpc>
                <a:spcPts val="1747"/>
              </a:lnSpc>
            </a:pPr>
            <a:r>
              <a:rPr lang="en-US" b="0" i="0" dirty="0">
                <a:solidFill>
                  <a:srgbClr val="000000"/>
                </a:solidFill>
                <a:effectLst/>
              </a:rPr>
              <a:t>An implementation that can detect the invalid usage is encouraged to throw a </a:t>
            </a:r>
            <a:r>
              <a:rPr lang="en-US" b="0" i="0" dirty="0">
                <a:solidFill>
                  <a:srgbClr val="000000"/>
                </a:solidFill>
                <a:effectLst/>
                <a:hlinkClick r:id="rId6"/>
              </a:rPr>
              <a:t>std::</a:t>
            </a:r>
            <a:r>
              <a:rPr lang="en-US" b="0" i="0" dirty="0" err="1">
                <a:solidFill>
                  <a:srgbClr val="000000"/>
                </a:solidFill>
                <a:effectLst/>
                <a:hlinkClick r:id="rId6"/>
              </a:rPr>
              <a:t>system_error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with error condition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resource_deadlock_would_occur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instead of deadlocking.</a:t>
            </a:r>
          </a:p>
        </p:txBody>
      </p:sp>
    </p:spTree>
    <p:extLst>
      <p:ext uri="{BB962C8B-B14F-4D97-AF65-F5344CB8AC3E}">
        <p14:creationId xmlns:p14="http://schemas.microsoft.com/office/powerpoint/2010/main" val="2749443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5703-1548-682B-AECA-10BF56D1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об обедающих философах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31320-7387-5894-C33B-F27CF6DD8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47816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Классическая модель проблемы синхронизации</a:t>
            </a:r>
          </a:p>
          <a:p>
            <a:pPr lvl="1"/>
            <a:r>
              <a:rPr lang="ru-RU" dirty="0"/>
              <a:t>5 философов сидят за круглым столом</a:t>
            </a:r>
          </a:p>
          <a:p>
            <a:pPr lvl="1"/>
            <a:r>
              <a:rPr lang="ru-RU" dirty="0"/>
              <a:t>Между каждой парой философов лежит одна вилка</a:t>
            </a:r>
          </a:p>
          <a:p>
            <a:pPr lvl="1"/>
            <a:r>
              <a:rPr lang="ru-RU" dirty="0"/>
              <a:t>Чтобы поесть, философу нужны </a:t>
            </a:r>
            <a:r>
              <a:rPr lang="ru-RU" b="1" dirty="0"/>
              <a:t>две вилки</a:t>
            </a:r>
            <a:r>
              <a:rPr lang="ru-RU" dirty="0"/>
              <a:t> — слева и справа</a:t>
            </a:r>
          </a:p>
          <a:p>
            <a:pPr lvl="1"/>
            <a:r>
              <a:rPr lang="ru-RU" dirty="0"/>
              <a:t>Взятие и возврат вилок — независимые операции</a:t>
            </a:r>
          </a:p>
          <a:p>
            <a:r>
              <a:rPr lang="ru-RU" dirty="0"/>
              <a:t>Задача</a:t>
            </a:r>
          </a:p>
          <a:p>
            <a:pPr lvl="1"/>
            <a:r>
              <a:rPr lang="ru-RU" dirty="0"/>
              <a:t>Разработать параллельный алгоритм, при котором:</a:t>
            </a:r>
          </a:p>
          <a:p>
            <a:pPr lvl="1"/>
            <a:r>
              <a:rPr lang="ru-RU" dirty="0"/>
              <a:t>не возникает </a:t>
            </a:r>
            <a:r>
              <a:rPr lang="ru-RU" dirty="0" err="1"/>
              <a:t>deadlock</a:t>
            </a:r>
            <a:endParaRPr lang="ru-RU" dirty="0"/>
          </a:p>
          <a:p>
            <a:pPr lvl="1"/>
            <a:r>
              <a:rPr lang="ru-RU" dirty="0"/>
              <a:t>ни один философ не голодает (нет </a:t>
            </a:r>
            <a:r>
              <a:rPr lang="ru-RU" dirty="0" err="1"/>
              <a:t>starvation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система делает прогресс</a:t>
            </a:r>
          </a:p>
          <a:p>
            <a:endParaRPr lang="ru-RU" dirty="0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859F414F-160F-A6EB-5278-A30FB8DBB6D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696" y="1825625"/>
            <a:ext cx="3706123" cy="384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85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EA095E-C753-2D11-CB34-FAFEEED0CEC0}"/>
              </a:ext>
            </a:extLst>
          </p:cNvPr>
          <p:cNvSpPr txBox="1"/>
          <p:nvPr/>
        </p:nvSpPr>
        <p:spPr>
          <a:xfrm>
            <a:off x="0" y="1"/>
            <a:ext cx="1282631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MakePhilosopher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leftFork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rightFork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leftFork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rightFork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(;;)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leftFork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rightFork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Philosopher #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eating #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“</a:t>
            </a:r>
          </a:p>
          <a:p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                                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Philosopher #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thinking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MakePhilosopher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468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D0F4-4609-3BE1-FC13-F814EF84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решения проблемы обедающих философов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FCEA5-7A86-6A32-D541-CD4CC28F9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Внешний координатор (официант)</a:t>
            </a:r>
          </a:p>
          <a:p>
            <a:pPr lvl="1"/>
            <a:r>
              <a:rPr lang="ru-RU" dirty="0"/>
              <a:t>Философ должен получить разрешение перед тем, как брать вилки</a:t>
            </a:r>
          </a:p>
          <a:p>
            <a:pPr lvl="1"/>
            <a:r>
              <a:rPr lang="ru-RU" dirty="0"/>
              <a:t>Официант ограничивает число одновременно «едящих»</a:t>
            </a:r>
          </a:p>
          <a:p>
            <a:pPr lvl="1"/>
            <a:r>
              <a:rPr lang="ru-RU" dirty="0"/>
              <a:t>Исключается циклическое ожидание</a:t>
            </a:r>
          </a:p>
          <a:p>
            <a:pPr lvl="1"/>
            <a:r>
              <a:rPr lang="ru-RU" dirty="0"/>
              <a:t>✔ Простая логика</a:t>
            </a:r>
          </a:p>
          <a:p>
            <a:pPr lvl="1"/>
            <a:r>
              <a:rPr lang="ru-RU" dirty="0"/>
              <a:t>✖ Централизованное узкое место</a:t>
            </a:r>
          </a:p>
          <a:p>
            <a:r>
              <a:rPr lang="ru-RU" b="1" dirty="0"/>
              <a:t>Иерархия ресурсов (глобальный порядок)</a:t>
            </a:r>
          </a:p>
          <a:p>
            <a:pPr lvl="1"/>
            <a:r>
              <a:rPr lang="ru-RU" dirty="0"/>
              <a:t>Пронумеровать вилки</a:t>
            </a:r>
          </a:p>
          <a:p>
            <a:pPr lvl="1"/>
            <a:r>
              <a:rPr lang="ru-RU" dirty="0"/>
              <a:t>Всегда сначала брать вилку с меньшим номером</a:t>
            </a:r>
          </a:p>
          <a:p>
            <a:pPr lvl="1"/>
            <a:r>
              <a:rPr lang="ru-RU" dirty="0"/>
              <a:t>Нарушается условие циклического ожидания</a:t>
            </a:r>
          </a:p>
          <a:p>
            <a:pPr lvl="1"/>
            <a:r>
              <a:rPr lang="ru-RU" dirty="0"/>
              <a:t>✔ Нет </a:t>
            </a:r>
            <a:r>
              <a:rPr lang="ru-RU" dirty="0" err="1"/>
              <a:t>deadlock</a:t>
            </a:r>
            <a:endParaRPr lang="ru-RU" dirty="0"/>
          </a:p>
          <a:p>
            <a:pPr lvl="1"/>
            <a:r>
              <a:rPr lang="ru-RU" dirty="0"/>
              <a:t>✖ Возможен </a:t>
            </a:r>
            <a:r>
              <a:rPr lang="ru-RU" dirty="0" err="1"/>
              <a:t>starvation</a:t>
            </a:r>
            <a:endParaRPr lang="ru-RU" dirty="0"/>
          </a:p>
          <a:p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lock</a:t>
            </a:r>
            <a:r>
              <a:rPr lang="ru-RU" b="1" dirty="0"/>
              <a:t> / </a:t>
            </a:r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scoped_lock</a:t>
            </a:r>
            <a:endParaRPr lang="ru-RU" b="1" dirty="0"/>
          </a:p>
          <a:p>
            <a:pPr lvl="1"/>
            <a:r>
              <a:rPr lang="ru-RU" dirty="0"/>
              <a:t>Захватывают несколько мьютексов безопасно</a:t>
            </a:r>
          </a:p>
          <a:p>
            <a:pPr lvl="1"/>
            <a:r>
              <a:rPr lang="ru-RU" dirty="0"/>
              <a:t>Используют алгоритм предотвращения </a:t>
            </a:r>
            <a:r>
              <a:rPr lang="ru-RU" dirty="0" err="1"/>
              <a:t>deadlock</a:t>
            </a:r>
            <a:endParaRPr lang="ru-RU" dirty="0"/>
          </a:p>
          <a:p>
            <a:pPr lvl="1"/>
            <a:r>
              <a:rPr lang="ru-RU" dirty="0"/>
              <a:t>✔ Удобно и безопасно</a:t>
            </a:r>
          </a:p>
          <a:p>
            <a:pPr lvl="1"/>
            <a:r>
              <a:rPr lang="ru-RU" dirty="0"/>
              <a:t>✖ Не гарантируют отсутствие </a:t>
            </a:r>
            <a:r>
              <a:rPr lang="ru-RU" dirty="0" err="1"/>
              <a:t>starvation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616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E47FC6-77BB-A729-A316-B76B7A98DB67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MakePhilosopher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1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waiter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leftFork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rightFork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leftFork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rightFork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waiter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(;;)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fr-FR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fr-FR" sz="16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unique_lock</a:t>
            </a:r>
            <a:r>
              <a:rPr lang="fr-FR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lkw</a:t>
            </a:r>
            <a:r>
              <a:rPr lang="fr-FR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fr-FR" sz="1600" b="1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waiter</a:t>
            </a:r>
            <a:r>
              <a:rPr lang="fr-FR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std::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lock_guard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lk1{ 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leftFork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std::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lock_guard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lk2{ 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rightFork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};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lkw.unlock</a:t>
            </a:r>
            <a:r>
              <a:rPr 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sz="1600" b="1" dirty="0"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Philosopher #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eating #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Philosopher #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thinking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1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waiter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philosophers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philosophers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MakePhilosopher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waiter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16B8D-F3E2-3987-B34B-29794C3945AF}"/>
              </a:ext>
            </a:extLst>
          </p:cNvPr>
          <p:cNvSpPr txBox="1"/>
          <p:nvPr/>
        </p:nvSpPr>
        <p:spPr>
          <a:xfrm>
            <a:off x="8587946" y="3917092"/>
            <a:ext cx="310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Привлекаем официанта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14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AAAB9A-48E3-A2D2-89BA-759CBA2125B3}"/>
              </a:ext>
            </a:extLst>
          </p:cNvPr>
          <p:cNvSpPr txBox="1"/>
          <p:nvPr/>
        </p:nvSpPr>
        <p:spPr>
          <a:xfrm>
            <a:off x="0" y="-1"/>
            <a:ext cx="1219200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MakePhilosopher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fork1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fork2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fork1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fork2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(;;)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lk1{ fork1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lk2{ fork2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++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Philosopher #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index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eating #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Philosopher #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index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thinking</a:t>
            </a:r>
            <a:r>
              <a:rPr lang="en-US" sz="17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});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std::array&lt;std::mutex,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forks{};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std::array&lt;std::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philosophers;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= (</a:t>
            </a:r>
            <a:r>
              <a:rPr lang="en-US" sz="17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en-US" sz="17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philosophers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MakePhilosopher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[std::</a:t>
            </a:r>
            <a:r>
              <a:rPr lang="en-US" sz="1700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j)], </a:t>
            </a:r>
            <a:r>
              <a:rPr lang="en-US" sz="17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[std::</a:t>
            </a:r>
            <a:r>
              <a:rPr lang="en-US" sz="1700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j)]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4EAD1-0CBB-1E59-C383-FEF846254417}"/>
              </a:ext>
            </a:extLst>
          </p:cNvPr>
          <p:cNvSpPr txBox="1"/>
          <p:nvPr/>
        </p:nvSpPr>
        <p:spPr>
          <a:xfrm>
            <a:off x="8587946" y="3917092"/>
            <a:ext cx="310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Нумеруем вилки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751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506131-A6D3-7A94-CB3A-237010DEF52F}"/>
              </a:ext>
            </a:extLst>
          </p:cNvPr>
          <p:cNvSpPr txBox="1"/>
          <p:nvPr/>
        </p:nvSpPr>
        <p:spPr>
          <a:xfrm>
            <a:off x="0" y="-1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MakePhilosopher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leftFork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rightFork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leftFork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rightFork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(;;)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scoped_lock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1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leftFork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rightFork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Philosopher #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    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eating #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eatTimes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Philosopher #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thinking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MakePhilosopher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forks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numPhilosophers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6EFAA-2246-F553-37DA-2B6CE8560279}"/>
              </a:ext>
            </a:extLst>
          </p:cNvPr>
          <p:cNvSpPr txBox="1"/>
          <p:nvPr/>
        </p:nvSpPr>
        <p:spPr>
          <a:xfrm>
            <a:off x="7537622" y="3917092"/>
            <a:ext cx="415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Упорядочиваем захват мьютексов при помощи </a:t>
            </a:r>
            <a:r>
              <a:rPr lang="en-US" dirty="0" err="1"/>
              <a:t>scoped_lock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693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23496-6837-4227-F2D0-6D36DEF0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78E3DB-A0A0-A448-528B-A0087846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Исправляем </a:t>
            </a:r>
            <a:r>
              <a:rPr lang="en-US" dirty="0"/>
              <a:t>deadlock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ABD9E-C2B5-C4E7-C35B-35FFB1D446F9}"/>
              </a:ext>
            </a:extLst>
          </p:cNvPr>
          <p:cNvSpPr txBox="1"/>
          <p:nvPr/>
        </p:nvSpPr>
        <p:spPr>
          <a:xfrm>
            <a:off x="1" y="1690688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template &lt;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ru-RU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&amp; operator=(const 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if (this != std::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addressof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ru-RU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scoped_lock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.m_mutex</a:t>
            </a:r>
            <a:endParaRPr lang="ru-RU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.m_stack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return *this;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private: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std::stack&lt;T&gt;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m_stack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mutable 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BD1D71-FF0C-8F34-CF9A-58A4E41AFFC0}"/>
              </a:ext>
            </a:extLst>
          </p:cNvPr>
          <p:cNvSpPr txBox="1"/>
          <p:nvPr/>
        </p:nvSpPr>
        <p:spPr>
          <a:xfrm>
            <a:off x="6357256" y="117693"/>
            <a:ext cx="583474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int main() 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&lt;int&gt; stack1;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TSStack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&lt;int&gt; stack2;</a:t>
            </a:r>
          </a:p>
          <a:p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for (int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&lt; 100; ++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stack1.Push(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stack2.Push(-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static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int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repeatCount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= 10'000;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t{ [&amp;stack1, &amp;stack2] 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for (int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repeatCount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  stack2.Push(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  stack1 = stack2;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  std::ignore = stack2.TryPop();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for (int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= 0;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repeatCount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stack1.Push(-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stack2 = stack1;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std::ignore = stack1.TryPop();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t.join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6F52C7-21D8-8DFB-711E-6F8F579AAA4F}"/>
              </a:ext>
            </a:extLst>
          </p:cNvPr>
          <p:cNvSpPr txBox="1"/>
          <p:nvPr/>
        </p:nvSpPr>
        <p:spPr>
          <a:xfrm>
            <a:off x="973095" y="6467631"/>
            <a:ext cx="3635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https://godbolt.org/z/vYK6c5reW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DA9BF-C852-89FB-DF11-A9EA10914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3580" y="49130"/>
            <a:ext cx="1448420" cy="143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03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E115-404D-0D34-2BFB-BC206A1D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Прочие ситуации возникновения </a:t>
            </a:r>
            <a:r>
              <a:rPr lang="en-US" dirty="0"/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7F542-D374-170A-7515-66AB7E823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Взаимный </a:t>
            </a:r>
            <a:r>
              <a:rPr lang="ru-RU" b="1" dirty="0" err="1"/>
              <a:t>join</a:t>
            </a:r>
            <a:endParaRPr lang="ru-RU" b="1" dirty="0"/>
          </a:p>
          <a:p>
            <a:pPr lvl="1"/>
            <a:r>
              <a:rPr lang="ru-RU" dirty="0"/>
              <a:t>Поток A вызывает </a:t>
            </a:r>
            <a:r>
              <a:rPr lang="ru-RU" dirty="0" err="1"/>
              <a:t>join</a:t>
            </a:r>
            <a:r>
              <a:rPr lang="ru-RU" dirty="0"/>
              <a:t>() у потока B</a:t>
            </a:r>
          </a:p>
          <a:p>
            <a:pPr lvl="1"/>
            <a:r>
              <a:rPr lang="ru-RU" dirty="0"/>
              <a:t>Поток B вызывает </a:t>
            </a:r>
            <a:r>
              <a:rPr lang="ru-RU" dirty="0" err="1"/>
              <a:t>join</a:t>
            </a:r>
            <a:r>
              <a:rPr lang="ru-RU" dirty="0"/>
              <a:t>() у потока A</a:t>
            </a:r>
          </a:p>
          <a:p>
            <a:pPr lvl="1"/>
            <a:r>
              <a:rPr lang="ru-RU" dirty="0"/>
              <a:t>Оба ждут завершения друг друга → бесконечное ожидание</a:t>
            </a:r>
          </a:p>
          <a:p>
            <a:r>
              <a:rPr lang="ru-RU" b="1" dirty="0" err="1"/>
              <a:t>fork</a:t>
            </a:r>
            <a:r>
              <a:rPr lang="ru-RU" b="1" dirty="0"/>
              <a:t>() в многопоточной программе</a:t>
            </a:r>
          </a:p>
          <a:p>
            <a:pPr lvl="1"/>
            <a:r>
              <a:rPr lang="ru-RU" dirty="0"/>
              <a:t>Поток B удерживает мьютекс</a:t>
            </a:r>
          </a:p>
          <a:p>
            <a:pPr lvl="1"/>
            <a:r>
              <a:rPr lang="ru-RU" dirty="0"/>
              <a:t>Поток A вызывает </a:t>
            </a:r>
            <a:r>
              <a:rPr lang="ru-RU" dirty="0" err="1"/>
              <a:t>fork</a:t>
            </a:r>
            <a:r>
              <a:rPr lang="ru-RU" dirty="0"/>
              <a:t>()</a:t>
            </a:r>
          </a:p>
          <a:p>
            <a:pPr lvl="1"/>
            <a:r>
              <a:rPr lang="ru-RU" dirty="0"/>
              <a:t>В дочернем процессе остаётся только один поток</a:t>
            </a:r>
          </a:p>
          <a:p>
            <a:pPr lvl="1"/>
            <a:r>
              <a:rPr lang="ru-RU" dirty="0"/>
              <a:t>Мьютекс остаётся захваченным, но разблокировать его некому</a:t>
            </a:r>
          </a:p>
          <a:p>
            <a:pPr lvl="1"/>
            <a:r>
              <a:rPr lang="ru-RU" dirty="0"/>
              <a:t>Попытка захвата приводит к </a:t>
            </a:r>
            <a:r>
              <a:rPr lang="ru-RU" dirty="0" err="1"/>
              <a:t>deadlock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106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5DE0-00AD-1632-F49F-AE302D53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проблемы взаимных блокировок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22C4-991F-98F3-C200-964677014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Минимизируйте вложенные блокировки</a:t>
            </a:r>
          </a:p>
          <a:p>
            <a:pPr lvl="1"/>
            <a:r>
              <a:rPr lang="ru-RU" dirty="0"/>
              <a:t>Старайтесь удерживать не более одной блокировки одновременно</a:t>
            </a:r>
          </a:p>
          <a:p>
            <a:r>
              <a:rPr lang="ru-RU" dirty="0"/>
              <a:t>Соблюдайте фиксированный порядок</a:t>
            </a:r>
          </a:p>
          <a:p>
            <a:pPr lvl="1"/>
            <a:r>
              <a:rPr lang="ru-RU" dirty="0"/>
              <a:t>Всегда захватывайте ресурсы в одном и том же глобальном порядке</a:t>
            </a:r>
          </a:p>
          <a:p>
            <a:r>
              <a:rPr lang="ru-RU" dirty="0"/>
              <a:t>Не вызывайте внешний код под блокировкой</a:t>
            </a:r>
          </a:p>
          <a:p>
            <a:pPr lvl="1"/>
            <a:r>
              <a:rPr lang="ru-RU" dirty="0" err="1"/>
              <a:t>Колбэки</a:t>
            </a:r>
            <a:endParaRPr lang="ru-RU" dirty="0"/>
          </a:p>
          <a:p>
            <a:pPr lvl="1"/>
            <a:r>
              <a:rPr lang="ru-RU" dirty="0"/>
              <a:t>Виртуальные функции</a:t>
            </a:r>
          </a:p>
          <a:p>
            <a:pPr lvl="1"/>
            <a:r>
              <a:rPr lang="ru-RU" dirty="0"/>
              <a:t>Код из других модулей</a:t>
            </a:r>
          </a:p>
          <a:p>
            <a:r>
              <a:rPr lang="ru-RU" dirty="0"/>
              <a:t>Минимизируйте время удержания блокировки</a:t>
            </a:r>
          </a:p>
          <a:p>
            <a:pPr lvl="1"/>
            <a:r>
              <a:rPr lang="ru-RU" dirty="0"/>
              <a:t>Блокируйте только действительно критическую секцию</a:t>
            </a:r>
          </a:p>
          <a:p>
            <a:r>
              <a:rPr lang="ru-RU" dirty="0"/>
              <a:t>Пишите </a:t>
            </a:r>
            <a:r>
              <a:rPr lang="ru-RU" dirty="0" err="1"/>
              <a:t>exception-safe</a:t>
            </a:r>
            <a:r>
              <a:rPr lang="ru-RU" dirty="0"/>
              <a:t> код</a:t>
            </a:r>
          </a:p>
          <a:p>
            <a:pPr lvl="1"/>
            <a:r>
              <a:rPr lang="ru-RU" dirty="0"/>
              <a:t>Мьютекс не должен оставаться захваченным при исключении</a:t>
            </a:r>
          </a:p>
          <a:p>
            <a:pPr lvl="1"/>
            <a:r>
              <a:rPr lang="ru-RU" dirty="0"/>
              <a:t>Используйте RAII: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lock_guard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unique_lock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scoped_lock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383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BBB057-FCAE-E87C-CFA5-EEC082089881}"/>
              </a:ext>
            </a:extLst>
          </p:cNvPr>
          <p:cNvSpPr txBox="1"/>
          <p:nvPr/>
        </p:nvSpPr>
        <p:spPr>
          <a:xfrm>
            <a:off x="0" y="-1"/>
            <a:ext cx="85471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HierarchicalMutex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HierarchicalMutex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{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CheckForHierarchyViolation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m_thisThreadHierarchy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Mutex hierarchy violated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m_thisThreadHierarchy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thread_local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Hierarchy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m_thisThreadHierarchy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E9A26-FACA-2149-1FDC-49ABBD34F687}"/>
              </a:ext>
            </a:extLst>
          </p:cNvPr>
          <p:cNvSpPr txBox="1"/>
          <p:nvPr/>
        </p:nvSpPr>
        <p:spPr>
          <a:xfrm>
            <a:off x="6261100" y="0"/>
            <a:ext cx="59309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… 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CheckForHierarchyViolation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try_lock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CheckForHierarchyViolation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m_thisThreadHierarchy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Mutex hierarchy violated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m_prevHierarchy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m_thisThreadHierarchy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m_thisThreadHierarchy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m_hierarchy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15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C3E1EC-BA3D-8564-EA85-6553D3BF5E7C}"/>
              </a:ext>
            </a:extLst>
          </p:cNvPr>
          <p:cNvSpPr txBox="1"/>
          <p:nvPr/>
        </p:nvSpPr>
        <p:spPr>
          <a:xfrm>
            <a:off x="0" y="0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HierarchicalMutex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highLevelMutex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HierarchicalMutex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midLevelMutex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HierarchicalMutex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lowLevelMutex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lowLevelData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DoLowLevelStuff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lowLevelData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LowLevelFunc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lowLevelMutex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DoLowLevelStuff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DoHighLevelStuff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osyncstream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Low level data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HighLevelFunc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highLevelMutex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DoHighLevelStuff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LowLevelFunc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35395-F39F-C95A-F4FD-93752F2E1DF9}"/>
              </a:ext>
            </a:extLst>
          </p:cNvPr>
          <p:cNvSpPr txBox="1"/>
          <p:nvPr/>
        </p:nvSpPr>
        <p:spPr>
          <a:xfrm>
            <a:off x="6096000" y="0"/>
            <a:ext cx="61214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OtherFunc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HighLevelFunc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HighLevelFunc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[]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midLevelMutex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OtherFunc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267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D3D4-9817-675C-6C1F-BFB3CB412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F4982-4881-3CBA-BC6E-1A9E59727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Что важно запомнить</a:t>
            </a:r>
          </a:p>
          <a:p>
            <a:pPr lvl="1"/>
            <a:r>
              <a:rPr lang="ru-RU" dirty="0" err="1"/>
              <a:t>Deadlock</a:t>
            </a:r>
            <a:r>
              <a:rPr lang="ru-RU" dirty="0"/>
              <a:t> — это цикл в графе ожиданий</a:t>
            </a:r>
          </a:p>
          <a:p>
            <a:pPr lvl="1"/>
            <a:r>
              <a:rPr lang="ru-RU" dirty="0"/>
              <a:t>Для возникновения нужны 4 условия (</a:t>
            </a:r>
            <a:r>
              <a:rPr lang="ru-RU" dirty="0" err="1"/>
              <a:t>Коффман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Чаще всего проблема — в порядке захвата ресурсов</a:t>
            </a:r>
          </a:p>
          <a:p>
            <a:r>
              <a:rPr lang="ru-RU" dirty="0"/>
              <a:t>Практические инструменты</a:t>
            </a:r>
          </a:p>
          <a:p>
            <a:pPr lvl="1"/>
            <a:r>
              <a:rPr lang="ru-RU" dirty="0"/>
              <a:t>Фиксированный глобальный порядок блокировок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scoped_lock</a:t>
            </a:r>
            <a:r>
              <a:rPr lang="ru-RU" dirty="0"/>
              <a:t> /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lock</a:t>
            </a:r>
            <a:endParaRPr lang="ru-RU" dirty="0"/>
          </a:p>
          <a:p>
            <a:pPr lvl="1"/>
            <a:r>
              <a:rPr lang="ru-RU" dirty="0"/>
              <a:t>Минимизация вложенных блокировок</a:t>
            </a:r>
          </a:p>
          <a:p>
            <a:pPr lvl="1"/>
            <a:r>
              <a:rPr lang="ru-RU" dirty="0"/>
              <a:t>RAII и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endParaRPr lang="ru-RU" dirty="0"/>
          </a:p>
          <a:p>
            <a:pPr lvl="1"/>
            <a:r>
              <a:rPr lang="ru-RU" dirty="0"/>
              <a:t>Иерархические мьютексы</a:t>
            </a:r>
          </a:p>
          <a:p>
            <a:r>
              <a:rPr lang="ru-RU" dirty="0"/>
              <a:t>Если вы контролируете порядок захвата ресурсов, то вы контролируете возможность </a:t>
            </a:r>
            <a:r>
              <a:rPr lang="ru-RU" dirty="0" err="1"/>
              <a:t>deadlock</a:t>
            </a:r>
            <a:r>
              <a:rPr lang="ru-RU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032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A5F2-8E48-CE68-098E-97BD444C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60341-E35E-08A7-47CB-C35363D04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Williams Anthony, “C++ Concurrency in Action, 2</a:t>
            </a:r>
            <a:r>
              <a:rPr lang="en-US" baseline="30000" dirty="0"/>
              <a:t>nd</a:t>
            </a:r>
            <a:r>
              <a:rPr lang="en-US" dirty="0"/>
              <a:t> Edition”</a:t>
            </a:r>
            <a:endParaRPr lang="ru-RU" dirty="0"/>
          </a:p>
          <a:p>
            <a:r>
              <a:rPr lang="en-US" dirty="0"/>
              <a:t>Maurice Herlihy, Nir Shavit “The Art of Multiprocessor Programming”</a:t>
            </a:r>
          </a:p>
          <a:p>
            <a:r>
              <a:rPr lang="en-US" dirty="0"/>
              <a:t>C++ Mutex</a:t>
            </a:r>
            <a:br>
              <a:rPr lang="en-US" dirty="0"/>
            </a:br>
            <a:r>
              <a:rPr lang="en-US" dirty="0">
                <a:hlinkClick r:id="rId3"/>
              </a:rPr>
              <a:t>https://en.cppreference.com/w/cpp/thread/mutex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37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8A16-D3F9-CF1C-55F9-85E43B6F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20E6-49CD-914B-5655-ECC3ECF46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9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4483</TotalTime>
  <Words>6020</Words>
  <Application>Microsoft Office PowerPoint</Application>
  <PresentationFormat>Widescreen</PresentationFormat>
  <Paragraphs>674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DejaVuSans</vt:lpstr>
      <vt:lpstr>Office Theme</vt:lpstr>
      <vt:lpstr>Взаимная блокировка</vt:lpstr>
      <vt:lpstr>Взаимная блокировка (Deadlock)</vt:lpstr>
      <vt:lpstr>Присваивание стека</vt:lpstr>
      <vt:lpstr>Используем мьютексы</vt:lpstr>
      <vt:lpstr>Причина зависания</vt:lpstr>
      <vt:lpstr>Взаимная блокировка (deadlock)</vt:lpstr>
      <vt:lpstr>Повторный захват мьютекса</vt:lpstr>
      <vt:lpstr>Задача об обедающих философах</vt:lpstr>
      <vt:lpstr>PowerPoint Presentation</vt:lpstr>
      <vt:lpstr>Способы решения проблемы обедающих философов</vt:lpstr>
      <vt:lpstr>PowerPoint Presentation</vt:lpstr>
      <vt:lpstr>PowerPoint Presentation</vt:lpstr>
      <vt:lpstr>PowerPoint Presentation</vt:lpstr>
      <vt:lpstr>Исправляем deadlock</vt:lpstr>
      <vt:lpstr>Прочие ситуации возникновения deadlock</vt:lpstr>
      <vt:lpstr>Решение проблемы взаимных блокировок</vt:lpstr>
      <vt:lpstr>PowerPoint Presentation</vt:lpstr>
      <vt:lpstr>PowerPoint Presentation</vt:lpstr>
      <vt:lpstr>Заключение</vt:lpstr>
      <vt:lpstr>Список литературы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66</cp:revision>
  <dcterms:created xsi:type="dcterms:W3CDTF">2025-02-03T14:52:05Z</dcterms:created>
  <dcterms:modified xsi:type="dcterms:W3CDTF">2026-02-27T21:09:51Z</dcterms:modified>
</cp:coreProperties>
</file>