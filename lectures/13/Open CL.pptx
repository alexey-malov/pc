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8"/>
  </p:notesMasterIdLst>
  <p:sldIdLst>
    <p:sldId id="295" r:id="rId2"/>
    <p:sldId id="298" r:id="rId3"/>
    <p:sldId id="344" r:id="rId4"/>
    <p:sldId id="343" r:id="rId5"/>
    <p:sldId id="346" r:id="rId6"/>
    <p:sldId id="348" r:id="rId7"/>
    <p:sldId id="347" r:id="rId8"/>
    <p:sldId id="351" r:id="rId9"/>
    <p:sldId id="350" r:id="rId10"/>
    <p:sldId id="349" r:id="rId11"/>
    <p:sldId id="300" r:id="rId12"/>
    <p:sldId id="345" r:id="rId13"/>
    <p:sldId id="296" r:id="rId14"/>
    <p:sldId id="311" r:id="rId15"/>
    <p:sldId id="352" r:id="rId16"/>
    <p:sldId id="312" r:id="rId17"/>
    <p:sldId id="301" r:id="rId18"/>
    <p:sldId id="302" r:id="rId19"/>
    <p:sldId id="297" r:id="rId20"/>
    <p:sldId id="305" r:id="rId21"/>
    <p:sldId id="307" r:id="rId22"/>
    <p:sldId id="308" r:id="rId23"/>
    <p:sldId id="353" r:id="rId24"/>
    <p:sldId id="354" r:id="rId25"/>
    <p:sldId id="304" r:id="rId26"/>
    <p:sldId id="303" r:id="rId27"/>
    <p:sldId id="355" r:id="rId28"/>
    <p:sldId id="358" r:id="rId29"/>
    <p:sldId id="360" r:id="rId30"/>
    <p:sldId id="361" r:id="rId31"/>
    <p:sldId id="356" r:id="rId32"/>
    <p:sldId id="306" r:id="rId33"/>
    <p:sldId id="310" r:id="rId34"/>
    <p:sldId id="309" r:id="rId35"/>
    <p:sldId id="314" r:id="rId36"/>
    <p:sldId id="315" r:id="rId37"/>
    <p:sldId id="316" r:id="rId38"/>
    <p:sldId id="317" r:id="rId39"/>
    <p:sldId id="318" r:id="rId40"/>
    <p:sldId id="357" r:id="rId41"/>
    <p:sldId id="319" r:id="rId42"/>
    <p:sldId id="320" r:id="rId43"/>
    <p:sldId id="321" r:id="rId44"/>
    <p:sldId id="359" r:id="rId45"/>
    <p:sldId id="324" r:id="rId46"/>
    <p:sldId id="362" r:id="rId47"/>
    <p:sldId id="326" r:id="rId48"/>
    <p:sldId id="327" r:id="rId49"/>
    <p:sldId id="328" r:id="rId50"/>
    <p:sldId id="329" r:id="rId51"/>
    <p:sldId id="323" r:id="rId52"/>
    <p:sldId id="330" r:id="rId53"/>
    <p:sldId id="331" r:id="rId54"/>
    <p:sldId id="363" r:id="rId55"/>
    <p:sldId id="332" r:id="rId56"/>
    <p:sldId id="333" r:id="rId57"/>
    <p:sldId id="334" r:id="rId58"/>
    <p:sldId id="335" r:id="rId59"/>
    <p:sldId id="336" r:id="rId60"/>
    <p:sldId id="337" r:id="rId61"/>
    <p:sldId id="339" r:id="rId62"/>
    <p:sldId id="338" r:id="rId63"/>
    <p:sldId id="341" r:id="rId64"/>
    <p:sldId id="342" r:id="rId65"/>
    <p:sldId id="340" r:id="rId66"/>
    <p:sldId id="364" r:id="rId67"/>
    <p:sldId id="370" r:id="rId68"/>
    <p:sldId id="371" r:id="rId69"/>
    <p:sldId id="372" r:id="rId70"/>
    <p:sldId id="365" r:id="rId71"/>
    <p:sldId id="366" r:id="rId72"/>
    <p:sldId id="367" r:id="rId73"/>
    <p:sldId id="368" r:id="rId74"/>
    <p:sldId id="373" r:id="rId75"/>
    <p:sldId id="374" r:id="rId76"/>
    <p:sldId id="375" r:id="rId77"/>
    <p:sldId id="376" r:id="rId78"/>
    <p:sldId id="377" r:id="rId79"/>
    <p:sldId id="378" r:id="rId80"/>
    <p:sldId id="379" r:id="rId81"/>
    <p:sldId id="380" r:id="rId82"/>
    <p:sldId id="382" r:id="rId83"/>
    <p:sldId id="383" r:id="rId84"/>
    <p:sldId id="384" r:id="rId85"/>
    <p:sldId id="381" r:id="rId86"/>
    <p:sldId id="392" r:id="rId87"/>
    <p:sldId id="386" r:id="rId88"/>
    <p:sldId id="387" r:id="rId89"/>
    <p:sldId id="388" r:id="rId90"/>
    <p:sldId id="389" r:id="rId91"/>
    <p:sldId id="390" r:id="rId92"/>
    <p:sldId id="391" r:id="rId93"/>
    <p:sldId id="393" r:id="rId94"/>
    <p:sldId id="394" r:id="rId95"/>
    <p:sldId id="385" r:id="rId96"/>
    <p:sldId id="395" r:id="rId97"/>
    <p:sldId id="397" r:id="rId98"/>
    <p:sldId id="396" r:id="rId99"/>
    <p:sldId id="398" r:id="rId100"/>
    <p:sldId id="399" r:id="rId101"/>
    <p:sldId id="405" r:id="rId102"/>
    <p:sldId id="400" r:id="rId103"/>
    <p:sldId id="401" r:id="rId104"/>
    <p:sldId id="402" r:id="rId105"/>
    <p:sldId id="403" r:id="rId106"/>
    <p:sldId id="404" r:id="rId107"/>
    <p:sldId id="406" r:id="rId108"/>
    <p:sldId id="408" r:id="rId109"/>
    <p:sldId id="407" r:id="rId110"/>
    <p:sldId id="409" r:id="rId111"/>
    <p:sldId id="410" r:id="rId112"/>
    <p:sldId id="411" r:id="rId113"/>
    <p:sldId id="412" r:id="rId114"/>
    <p:sldId id="413" r:id="rId115"/>
    <p:sldId id="414" r:id="rId116"/>
    <p:sldId id="415" r:id="rId117"/>
    <p:sldId id="416" r:id="rId118"/>
    <p:sldId id="417" r:id="rId119"/>
    <p:sldId id="418" r:id="rId120"/>
    <p:sldId id="419" r:id="rId121"/>
    <p:sldId id="420" r:id="rId122"/>
    <p:sldId id="421" r:id="rId123"/>
    <p:sldId id="422" r:id="rId124"/>
    <p:sldId id="429" r:id="rId125"/>
    <p:sldId id="423" r:id="rId126"/>
    <p:sldId id="424" r:id="rId127"/>
    <p:sldId id="425" r:id="rId128"/>
    <p:sldId id="426" r:id="rId129"/>
    <p:sldId id="427" r:id="rId130"/>
    <p:sldId id="428" r:id="rId131"/>
    <p:sldId id="430" r:id="rId132"/>
    <p:sldId id="431" r:id="rId133"/>
    <p:sldId id="432" r:id="rId134"/>
    <p:sldId id="434" r:id="rId135"/>
    <p:sldId id="435" r:id="rId136"/>
    <p:sldId id="433" r:id="rId137"/>
    <p:sldId id="436" r:id="rId138"/>
    <p:sldId id="437" r:id="rId139"/>
    <p:sldId id="438" r:id="rId140"/>
    <p:sldId id="439" r:id="rId141"/>
    <p:sldId id="441" r:id="rId142"/>
    <p:sldId id="440" r:id="rId143"/>
    <p:sldId id="442" r:id="rId144"/>
    <p:sldId id="443" r:id="rId145"/>
    <p:sldId id="444" r:id="rId146"/>
    <p:sldId id="445" r:id="rId147"/>
    <p:sldId id="446" r:id="rId148"/>
    <p:sldId id="447" r:id="rId149"/>
    <p:sldId id="448" r:id="rId150"/>
    <p:sldId id="449" r:id="rId151"/>
    <p:sldId id="450" r:id="rId152"/>
    <p:sldId id="451" r:id="rId153"/>
    <p:sldId id="452" r:id="rId154"/>
    <p:sldId id="453" r:id="rId155"/>
    <p:sldId id="454" r:id="rId156"/>
    <p:sldId id="285" r:id="rId1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95"/>
            <p14:sldId id="298"/>
            <p14:sldId id="344"/>
            <p14:sldId id="343"/>
            <p14:sldId id="346"/>
            <p14:sldId id="348"/>
            <p14:sldId id="347"/>
            <p14:sldId id="351"/>
            <p14:sldId id="350"/>
            <p14:sldId id="349"/>
            <p14:sldId id="300"/>
            <p14:sldId id="345"/>
            <p14:sldId id="296"/>
            <p14:sldId id="311"/>
            <p14:sldId id="352"/>
            <p14:sldId id="312"/>
            <p14:sldId id="301"/>
            <p14:sldId id="302"/>
            <p14:sldId id="297"/>
            <p14:sldId id="305"/>
            <p14:sldId id="307"/>
            <p14:sldId id="308"/>
            <p14:sldId id="353"/>
            <p14:sldId id="354"/>
            <p14:sldId id="304"/>
            <p14:sldId id="303"/>
            <p14:sldId id="355"/>
            <p14:sldId id="358"/>
            <p14:sldId id="360"/>
            <p14:sldId id="361"/>
            <p14:sldId id="356"/>
            <p14:sldId id="306"/>
            <p14:sldId id="310"/>
            <p14:sldId id="309"/>
            <p14:sldId id="314"/>
            <p14:sldId id="315"/>
            <p14:sldId id="316"/>
            <p14:sldId id="317"/>
            <p14:sldId id="318"/>
            <p14:sldId id="357"/>
            <p14:sldId id="319"/>
            <p14:sldId id="320"/>
            <p14:sldId id="321"/>
            <p14:sldId id="359"/>
            <p14:sldId id="324"/>
            <p14:sldId id="362"/>
            <p14:sldId id="326"/>
            <p14:sldId id="327"/>
            <p14:sldId id="328"/>
            <p14:sldId id="329"/>
            <p14:sldId id="323"/>
            <p14:sldId id="330"/>
            <p14:sldId id="331"/>
            <p14:sldId id="363"/>
            <p14:sldId id="332"/>
            <p14:sldId id="333"/>
            <p14:sldId id="334"/>
            <p14:sldId id="335"/>
            <p14:sldId id="336"/>
            <p14:sldId id="337"/>
            <p14:sldId id="339"/>
            <p14:sldId id="338"/>
            <p14:sldId id="341"/>
            <p14:sldId id="342"/>
            <p14:sldId id="340"/>
            <p14:sldId id="364"/>
            <p14:sldId id="370"/>
            <p14:sldId id="371"/>
            <p14:sldId id="372"/>
            <p14:sldId id="365"/>
            <p14:sldId id="366"/>
            <p14:sldId id="367"/>
            <p14:sldId id="368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2"/>
            <p14:sldId id="383"/>
            <p14:sldId id="384"/>
            <p14:sldId id="381"/>
            <p14:sldId id="392"/>
            <p14:sldId id="386"/>
            <p14:sldId id="387"/>
            <p14:sldId id="388"/>
            <p14:sldId id="389"/>
            <p14:sldId id="390"/>
            <p14:sldId id="391"/>
            <p14:sldId id="393"/>
            <p14:sldId id="394"/>
            <p14:sldId id="385"/>
            <p14:sldId id="395"/>
            <p14:sldId id="397"/>
            <p14:sldId id="396"/>
            <p14:sldId id="398"/>
            <p14:sldId id="399"/>
            <p14:sldId id="405"/>
            <p14:sldId id="400"/>
            <p14:sldId id="401"/>
            <p14:sldId id="402"/>
            <p14:sldId id="403"/>
            <p14:sldId id="404"/>
            <p14:sldId id="406"/>
            <p14:sldId id="408"/>
            <p14:sldId id="407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9"/>
            <p14:sldId id="423"/>
            <p14:sldId id="424"/>
            <p14:sldId id="425"/>
            <p14:sldId id="426"/>
            <p14:sldId id="427"/>
            <p14:sldId id="428"/>
            <p14:sldId id="430"/>
            <p14:sldId id="431"/>
            <p14:sldId id="432"/>
            <p14:sldId id="434"/>
            <p14:sldId id="435"/>
            <p14:sldId id="433"/>
            <p14:sldId id="436"/>
            <p14:sldId id="437"/>
            <p14:sldId id="438"/>
            <p14:sldId id="439"/>
            <p14:sldId id="441"/>
            <p14:sldId id="440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  <p14:sldId id="452"/>
            <p14:sldId id="453"/>
            <p14:sldId id="454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FF00"/>
    <a:srgbClr val="00FFFF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7" autoAdjust="0"/>
    <p:restoredTop sz="60437" autoAdjust="0"/>
  </p:normalViewPr>
  <p:slideViewPr>
    <p:cSldViewPr snapToGrid="0" showGuides="1">
      <p:cViewPr varScale="1">
        <p:scale>
          <a:sx n="63" d="100"/>
          <a:sy n="63" d="100"/>
        </p:scale>
        <p:origin x="2208" y="66"/>
      </p:cViewPr>
      <p:guideLst>
        <p:guide orient="horz" pos="2160"/>
        <p:guide pos="3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46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вычислительные системы редко состоят только из CPU.</a:t>
            </a:r>
          </a:p>
          <a:p>
            <a:br>
              <a:rPr lang="ru-RU" dirty="0"/>
            </a:br>
            <a:r>
              <a:rPr lang="ru-RU" dirty="0"/>
              <a:t>Практически любой ноутбук, рабочая станция или сервер сегодня является гетерогенной платформой.</a:t>
            </a:r>
          </a:p>
          <a:p>
            <a:r>
              <a:rPr lang="ru-RU" dirty="0"/>
              <a:t>Гетерогенная платформа — это система, в которой одновременно используются разные типы вычислителей.</a:t>
            </a:r>
          </a:p>
          <a:p>
            <a:r>
              <a:rPr lang="ru-RU" dirty="0"/>
              <a:t>CPU и GPU проектировались под разные задачи.</a:t>
            </a:r>
          </a:p>
          <a:p>
            <a:endParaRPr lang="ru-RU" dirty="0"/>
          </a:p>
          <a:p>
            <a:r>
              <a:rPr lang="ru-RU" dirty="0"/>
              <a:t>CPU содержит небольшое количество сложных и мощных ядер. Он хорошо справляется с: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сложной логикой, ветвлениями,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последовательным выполнением,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управлением программой. </a:t>
            </a:r>
          </a:p>
          <a:p>
            <a:endParaRPr lang="ru-RU" dirty="0"/>
          </a:p>
          <a:p>
            <a:r>
              <a:rPr lang="ru-RU" dirty="0"/>
              <a:t>GPU устроен иначе. Он содержит огромное количество более простых вычислительных блоков и рассчитан на выполнение большого количества одинаковых операций параллельно.</a:t>
            </a:r>
          </a:p>
          <a:p>
            <a:endParaRPr lang="ru-RU" dirty="0"/>
          </a:p>
          <a:p>
            <a:r>
              <a:rPr lang="ru-RU" dirty="0"/>
              <a:t>Поэтому GPU особенно эффективен для: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обработки изображений,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машинного обучения,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научных вычислений,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линейной алгебры,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обработки больших массивов данных. </a:t>
            </a:r>
          </a:p>
          <a:p>
            <a:endParaRPr lang="ru-RU" dirty="0"/>
          </a:p>
          <a:p>
            <a:r>
              <a:rPr lang="ru-RU" dirty="0"/>
              <a:t>Кроме CPU и GPU существуют и другие ускорители: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FPGA,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DSP,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специализированные AI-процессоры. </a:t>
            </a:r>
          </a:p>
          <a:p>
            <a:endParaRPr lang="ru-RU" dirty="0"/>
          </a:p>
          <a:p>
            <a:r>
              <a:rPr lang="ru-RU" dirty="0"/>
              <a:t>Идея гетерогенных вычислений состоит в том, чтобы использовать каждое устройство там, где оно наиболее эффективно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538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идея гетерогенных вычислений — использовать сильные стороны каждого устройства.</a:t>
            </a:r>
          </a:p>
          <a:p>
            <a:endParaRPr lang="ru-RU" dirty="0"/>
          </a:p>
          <a:p>
            <a:r>
              <a:rPr lang="ru-RU" dirty="0"/>
              <a:t>CPU лучше подходит для: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сложной логики,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управления программой,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задач с большим количеством ветвлений. </a:t>
            </a:r>
          </a:p>
          <a:p>
            <a:endParaRPr lang="ru-RU" dirty="0"/>
          </a:p>
          <a:p>
            <a:r>
              <a:rPr lang="ru-RU" dirty="0"/>
              <a:t>GPU лучше подходит для ситуаций, когда нужно выполнить одинаковые операции над большим количеством данных.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сложение больших векторов,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обработка изображений,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умножение матриц,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нейронные сети. </a:t>
            </a:r>
          </a:p>
          <a:p>
            <a:endParaRPr lang="ru-RU" dirty="0"/>
          </a:p>
          <a:p>
            <a:r>
              <a:rPr lang="ru-RU" dirty="0"/>
              <a:t>При этом CPU и GPU могут работать одновременно.</a:t>
            </a:r>
          </a:p>
          <a:p>
            <a:r>
              <a:rPr lang="ru-RU" dirty="0"/>
              <a:t>Например, при обработке видео: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CPU может заниматься логикой приложения,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декодированием потока,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управлением интерфейсом,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а GPU — выполнять вычислительно тяжёлые операции: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фильтрацию,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цветокоррекцию,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масштабирование. </a:t>
            </a:r>
          </a:p>
          <a:p>
            <a:endParaRPr lang="ru-RU" dirty="0"/>
          </a:p>
          <a:p>
            <a:r>
              <a:rPr lang="ru-RU" dirty="0"/>
              <a:t>Кроме производительности важна и энергоэффективность.</a:t>
            </a:r>
          </a:p>
          <a:p>
            <a:r>
              <a:rPr lang="ru-RU" dirty="0"/>
              <a:t>Для хорошо распараллеливаемых задач GPU часто выполняет работу эффективнее не только по времени, но и по энергопотреблению.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9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CPU и GPU отличаются не только количеством ядер — они изначально проектировались для разных целей.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CPU оптимизирован под минимальную задержку выполнения одной задачи.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Поэтому в CPU:</a:t>
            </a:r>
          </a:p>
          <a:p>
            <a:r>
              <a:rPr lang="ru-RU" dirty="0"/>
              <a:t>сложная логика управления, </a:t>
            </a:r>
          </a:p>
          <a:p>
            <a:r>
              <a:rPr lang="ru-RU" dirty="0"/>
              <a:t>большие кэши, </a:t>
            </a:r>
          </a:p>
          <a:p>
            <a:r>
              <a:rPr lang="ru-RU" dirty="0"/>
              <a:t>механизмы </a:t>
            </a:r>
            <a:r>
              <a:rPr lang="ru-RU" dirty="0" err="1"/>
              <a:t>prediction</a:t>
            </a:r>
            <a:r>
              <a:rPr lang="ru-RU" dirty="0"/>
              <a:t>, </a:t>
            </a:r>
          </a:p>
          <a:p>
            <a:r>
              <a:rPr lang="ru-RU" dirty="0"/>
              <a:t>сложный конвейер обработки.</a:t>
            </a:r>
          </a:p>
          <a:p>
            <a:r>
              <a:rPr lang="ru-RU" dirty="0"/>
              <a:t> </a:t>
            </a:r>
          </a:p>
          <a:p>
            <a:r>
              <a:rPr lang="ru-RU" dirty="0"/>
              <a:t>CPU старается как можно быстрее выполнить один поток команд.</a:t>
            </a:r>
          </a:p>
          <a:p>
            <a:r>
              <a:rPr lang="ru-RU" dirty="0"/>
              <a:t>GPU проектировался иначе.</a:t>
            </a:r>
          </a:p>
          <a:p>
            <a:r>
              <a:rPr lang="ru-RU" dirty="0"/>
              <a:t>Его задача — выполнять огромное количество однотипных операций одновременно.</a:t>
            </a:r>
          </a:p>
          <a:p>
            <a:endParaRPr lang="ru-RU" dirty="0"/>
          </a:p>
          <a:p>
            <a:r>
              <a:rPr lang="ru-RU" dirty="0"/>
              <a:t>Поэтому GPU содержит: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намного больше вычислительных блоков,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меньше сложной управляющей логики,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меньше ресурсов на одно вычислительное ядро. </a:t>
            </a:r>
          </a:p>
          <a:p>
            <a:endParaRPr lang="ru-RU" dirty="0"/>
          </a:p>
          <a:p>
            <a:r>
              <a:rPr lang="ru-RU" dirty="0"/>
              <a:t>GPU оптимизирован не под </a:t>
            </a:r>
            <a:r>
              <a:rPr lang="ru-RU" dirty="0" err="1"/>
              <a:t>latency</a:t>
            </a:r>
            <a:r>
              <a:rPr lang="ru-RU" dirty="0"/>
              <a:t>, а под </a:t>
            </a:r>
            <a:r>
              <a:rPr lang="ru-RU" dirty="0" err="1"/>
              <a:t>throughput</a:t>
            </a:r>
            <a:r>
              <a:rPr lang="ru-RU" dirty="0"/>
              <a:t> — то есть под количество операций в единицу времени.</a:t>
            </a:r>
          </a:p>
          <a:p>
            <a:endParaRPr lang="ru-RU" dirty="0"/>
          </a:p>
          <a:p>
            <a:r>
              <a:rPr lang="ru-RU" dirty="0"/>
              <a:t>Это делает GPU особенно эффективным для задач, где: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много данных,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одинаковые вычисления,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высокая степень параллелизма. 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обработка изображений,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линейная алгебра,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машинное обучение,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физические симуляции. </a:t>
            </a:r>
          </a:p>
          <a:p>
            <a:endParaRPr lang="ru-RU" dirty="0"/>
          </a:p>
          <a:p>
            <a:r>
              <a:rPr lang="ru-RU" dirty="0"/>
              <a:t>Именно из-за этих архитектурных различий для GPU потребовались специальные модели параллельного программирования — такие как </a:t>
            </a:r>
            <a:r>
              <a:rPr lang="ru-RU" dirty="0" err="1"/>
              <a:t>OpenCL</a:t>
            </a:r>
            <a:r>
              <a:rPr lang="ru-RU" dirty="0"/>
              <a:t>, CUDA и SYCL.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58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CPU каждое ядро может выполнять независимый поток инструкций.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ядра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собственные регистры,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счётчик команд,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сложная логика управления,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кэш-память. </a:t>
            </a:r>
          </a:p>
          <a:p>
            <a:endParaRPr lang="en-US" dirty="0"/>
          </a:p>
          <a:p>
            <a:r>
              <a:rPr lang="ru-RU" dirty="0"/>
              <a:t>Операционная система вводит понятие потока — </a:t>
            </a:r>
            <a:r>
              <a:rPr lang="ru-RU" dirty="0" err="1"/>
              <a:t>thread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Поток является единицей выполнения программы.</a:t>
            </a:r>
            <a:br>
              <a:rPr lang="ru-RU" dirty="0"/>
            </a:br>
            <a:r>
              <a:rPr lang="ru-RU" dirty="0"/>
              <a:t>ОС может: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остановить поток,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сохранить его состояние,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переключить процессор на выполнение другого потока. </a:t>
            </a:r>
          </a:p>
          <a:p>
            <a:endParaRPr lang="en-US" dirty="0"/>
          </a:p>
          <a:p>
            <a:r>
              <a:rPr lang="ru-RU" dirty="0"/>
              <a:t>Поэтому на компьютере могут одновременно существовать сотни или тысячи потоков, даже если физических ядер намного меньше.</a:t>
            </a:r>
          </a:p>
          <a:p>
            <a:endParaRPr lang="en-US" dirty="0"/>
          </a:p>
          <a:p>
            <a:r>
              <a:rPr lang="ru-RU" dirty="0"/>
              <a:t>Современные CPU также используют технологии Hyper-</a:t>
            </a:r>
            <a:r>
              <a:rPr lang="ru-RU" dirty="0" err="1"/>
              <a:t>Threading</a:t>
            </a:r>
            <a:r>
              <a:rPr lang="ru-RU" dirty="0"/>
              <a:t> или SMT</a:t>
            </a:r>
            <a:r>
              <a:rPr lang="en-US" dirty="0"/>
              <a:t> (Simultaneous Multithreading)</a:t>
            </a:r>
          </a:p>
          <a:p>
            <a:endParaRPr lang="ru-RU" dirty="0"/>
          </a:p>
          <a:p>
            <a:r>
              <a:rPr lang="ru-RU" dirty="0"/>
              <a:t>Идея состоит в том, что один поток не всегда полностью загружает вычислительные блоки процессора.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поток может ожидать данные из памяти,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использовать только часть функциональных блоков. </a:t>
            </a:r>
          </a:p>
          <a:p>
            <a:endParaRPr lang="en-US" dirty="0"/>
          </a:p>
          <a:p>
            <a:r>
              <a:rPr lang="ru-RU" dirty="0"/>
              <a:t>Тогда ядро может параллельно выполнять второй поток.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не даёт двукратного ускорения, но позволяет лучше использовать ресурсы CPU.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идея CPU — эффективно выполнять небольшое количество сложных независимых потоков.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388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CPU и GPU проектировались для разных задач.</a:t>
            </a:r>
          </a:p>
          <a:p>
            <a:r>
              <a:rPr lang="ru-RU" dirty="0"/>
              <a:t>CPU содержит небольшое количество сложных и мощных ядер.</a:t>
            </a:r>
            <a:endParaRPr lang="en-US" dirty="0"/>
          </a:p>
          <a:p>
            <a:endParaRPr lang="en-US" dirty="0"/>
          </a:p>
          <a:p>
            <a:r>
              <a:rPr lang="ru-RU" dirty="0"/>
              <a:t>Значительная часть площади процессора занята:</a:t>
            </a:r>
          </a:p>
          <a:p>
            <a:r>
              <a:rPr lang="ru-RU" dirty="0"/>
              <a:t>управляющей логикой, </a:t>
            </a:r>
          </a:p>
          <a:p>
            <a:r>
              <a:rPr lang="ru-RU" dirty="0"/>
              <a:t>кэш-памятью, </a:t>
            </a:r>
          </a:p>
          <a:p>
            <a:r>
              <a:rPr lang="ru-RU" dirty="0"/>
              <a:t>механизмами ускорения последовательного выполнения. </a:t>
            </a:r>
          </a:p>
          <a:p>
            <a:endParaRPr lang="en-US" dirty="0"/>
          </a:p>
          <a:p>
            <a:r>
              <a:rPr lang="ru-RU" dirty="0"/>
              <a:t>CPU оптимизирован под минимальную задержку выполнения отдельных потоков и хорошо подходит для сложной логики и ветвлений.</a:t>
            </a:r>
          </a:p>
          <a:p>
            <a:endParaRPr lang="en-US" dirty="0"/>
          </a:p>
          <a:p>
            <a:r>
              <a:rPr lang="ru-RU" dirty="0"/>
              <a:t>GPU устроен иначе. Большая часть его площади занята вычислительными блоками — ALU.</a:t>
            </a:r>
            <a:br>
              <a:rPr lang="ru-RU" dirty="0"/>
            </a:br>
            <a:endParaRPr lang="en-US" dirty="0"/>
          </a:p>
          <a:p>
            <a:r>
              <a:rPr lang="ru-RU" dirty="0"/>
              <a:t>GPU содержит огромное количество более простых вычислительных ядер и рассчитан на массово-параллельное выполнение одинаковых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82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GPU использует другую модель выполнения вычислений.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Вместо выполнения большого количества независимых потоков GPU ориентирован на выполнение большого количества одинаковых операций одновременно.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используется модель SIMT — Single </a:t>
            </a:r>
            <a:r>
              <a:rPr lang="ru-RU" dirty="0" err="1"/>
              <a:t>Instruction</a:t>
            </a:r>
            <a:r>
              <a:rPr lang="ru-RU" dirty="0"/>
              <a:t> </a:t>
            </a:r>
            <a:r>
              <a:rPr lang="ru-RU" dirty="0" err="1"/>
              <a:t>Multiple</a:t>
            </a:r>
            <a:r>
              <a:rPr lang="ru-RU" dirty="0"/>
              <a:t> </a:t>
            </a:r>
            <a:r>
              <a:rPr lang="ru-RU" dirty="0" err="1"/>
              <a:t>Threads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группа потоков одновременно выполняет одну и ту же инструкцию, но над разными данными.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r>
              <a:rPr lang="ru-RU" dirty="0"/>
              <a:t>один поток складывает элементы с индексом 0, </a:t>
            </a:r>
          </a:p>
          <a:p>
            <a:r>
              <a:rPr lang="ru-RU" dirty="0"/>
              <a:t>другой — элементы с индексом 1, </a:t>
            </a:r>
          </a:p>
          <a:p>
            <a:r>
              <a:rPr lang="ru-RU" dirty="0"/>
              <a:t>третий — элементы с индексом 2.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GPU потоки объединяются в группы:</a:t>
            </a:r>
          </a:p>
          <a:p>
            <a:r>
              <a:rPr lang="ru-RU" dirty="0"/>
              <a:t>у NVIDIA это </a:t>
            </a:r>
            <a:r>
              <a:rPr lang="ru-RU" dirty="0" err="1"/>
              <a:t>warp</a:t>
            </a:r>
            <a:r>
              <a:rPr lang="ru-RU" dirty="0"/>
              <a:t> из 32 потоков, </a:t>
            </a:r>
          </a:p>
          <a:p>
            <a:r>
              <a:rPr lang="ru-RU" dirty="0"/>
              <a:t>у AMD — </a:t>
            </a:r>
            <a:r>
              <a:rPr lang="ru-RU" dirty="0" err="1"/>
              <a:t>wavefront</a:t>
            </a:r>
            <a:r>
              <a:rPr lang="ru-RU" dirty="0"/>
              <a:t> из 64 потоков.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группы выполняются синхронно.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позволяет GPU очень эффективно выполнять:</a:t>
            </a:r>
          </a:p>
          <a:p>
            <a:r>
              <a:rPr lang="ru-RU" dirty="0"/>
              <a:t>линейную алгебру, </a:t>
            </a:r>
          </a:p>
          <a:p>
            <a:r>
              <a:rPr lang="ru-RU" dirty="0"/>
              <a:t>обработку изображений, </a:t>
            </a:r>
          </a:p>
          <a:p>
            <a:r>
              <a:rPr lang="ru-RU" dirty="0"/>
              <a:t>машинное обучение, </a:t>
            </a:r>
          </a:p>
          <a:p>
            <a:r>
              <a:rPr lang="ru-RU" dirty="0"/>
              <a:t>научные вычисления.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есть и ограничения.</a:t>
            </a:r>
          </a:p>
          <a:p>
            <a:r>
              <a:rPr lang="ru-RU" dirty="0"/>
              <a:t>GPU наиболее эффективен, когда:</a:t>
            </a:r>
            <a:r>
              <a:rPr lang="en-US" dirty="0"/>
              <a:t> </a:t>
            </a:r>
            <a:r>
              <a:rPr lang="ru-RU" dirty="0"/>
              <a:t>потоки выполняют одинаковый код, </a:t>
            </a:r>
          </a:p>
          <a:p>
            <a:r>
              <a:rPr lang="ru-RU" dirty="0"/>
              <a:t>и обрабатывают независимые 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056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схеме показано сложение двух массивов:</a:t>
            </a:r>
          </a:p>
          <a:p>
            <a:r>
              <a:rPr lang="ru-RU" dirty="0"/>
              <a:t>каждый поток получает свой индекс i, </a:t>
            </a:r>
          </a:p>
          <a:p>
            <a:r>
              <a:rPr lang="ru-RU" dirty="0"/>
              <a:t>считывает элементы A[i] и B[i], </a:t>
            </a:r>
          </a:p>
          <a:p>
            <a:r>
              <a:rPr lang="ru-RU" dirty="0"/>
              <a:t>выполняет одну и ту же операцию сложения, </a:t>
            </a:r>
          </a:p>
          <a:p>
            <a:r>
              <a:rPr lang="ru-RU" dirty="0"/>
              <a:t>записывает результат в C[i].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потоки варпа выполняют одинаковую инструкцию: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C[i] = A[i] + B[i]</a:t>
            </a:r>
          </a:p>
          <a:p>
            <a:r>
              <a:rPr lang="ru-RU" dirty="0"/>
              <a:t>но работают с разными элементами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197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GPU наиболее эффективен, когда все потоки внутри </a:t>
            </a:r>
            <a:r>
              <a:rPr lang="ru-RU" dirty="0" err="1"/>
              <a:t>warp</a:t>
            </a:r>
            <a:r>
              <a:rPr lang="ru-RU" dirty="0"/>
              <a:t> выполняют одинаковые инструкции.</a:t>
            </a:r>
          </a:p>
          <a:p>
            <a:endParaRPr lang="ru-RU" dirty="0"/>
          </a:p>
          <a:p>
            <a:r>
              <a:rPr lang="ru-RU" dirty="0"/>
              <a:t>Но если возникает ветвление, появляется проблема </a:t>
            </a:r>
            <a:r>
              <a:rPr lang="ru-RU" dirty="0" err="1"/>
              <a:t>divergence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Представим </a:t>
            </a:r>
            <a:r>
              <a:rPr lang="ru-RU" dirty="0" err="1"/>
              <a:t>warp</a:t>
            </a:r>
            <a:r>
              <a:rPr lang="ru-RU" dirty="0"/>
              <a:t> как автобус с 32 рабочими.</a:t>
            </a:r>
          </a:p>
          <a:p>
            <a:r>
              <a:rPr lang="ru-RU" dirty="0"/>
              <a:t>Часть рабочих любит рыбу, а другая часть — веганы.</a:t>
            </a:r>
          </a:p>
          <a:p>
            <a:endParaRPr lang="ru-RU" dirty="0"/>
          </a:p>
          <a:p>
            <a:r>
              <a:rPr lang="ru-RU" dirty="0"/>
              <a:t>Автобус не может одновременно поехать в два ресторана, поэтому приходится:</a:t>
            </a:r>
          </a:p>
          <a:p>
            <a:r>
              <a:rPr lang="ru-RU" dirty="0"/>
              <a:t>сначала ехать в рыбный ресторан, </a:t>
            </a:r>
          </a:p>
          <a:p>
            <a:r>
              <a:rPr lang="ru-RU" dirty="0"/>
              <a:t>затем в веганский. </a:t>
            </a:r>
          </a:p>
          <a:p>
            <a:endParaRPr lang="ru-RU" dirty="0"/>
          </a:p>
          <a:p>
            <a:r>
              <a:rPr lang="ru-RU" dirty="0"/>
              <a:t>Пока одна группа ест, другая просто ждёт.</a:t>
            </a:r>
          </a:p>
          <a:p>
            <a:endParaRPr lang="ru-RU" dirty="0"/>
          </a:p>
          <a:p>
            <a:r>
              <a:rPr lang="ru-RU" dirty="0"/>
              <a:t>То же самое происходит и в GPU.</a:t>
            </a:r>
          </a:p>
          <a:p>
            <a:r>
              <a:rPr lang="ru-RU" dirty="0"/>
              <a:t>Если часть потоков выполняет ветку </a:t>
            </a:r>
            <a:r>
              <a:rPr lang="ru-RU" dirty="0" err="1"/>
              <a:t>if</a:t>
            </a:r>
            <a:r>
              <a:rPr lang="ru-RU" dirty="0"/>
              <a:t>, а часть — </a:t>
            </a:r>
            <a:r>
              <a:rPr lang="ru-RU" dirty="0" err="1"/>
              <a:t>else</a:t>
            </a:r>
            <a:r>
              <a:rPr lang="ru-RU" dirty="0"/>
              <a:t>, GPU выполняет обе ветки последовательно, временно отключая часть потоков.</a:t>
            </a:r>
          </a:p>
          <a:p>
            <a:endParaRPr lang="ru-RU" dirty="0"/>
          </a:p>
          <a:p>
            <a:r>
              <a:rPr lang="ru-RU" dirty="0"/>
              <a:t>Из-за этого часть вычислительных блоков простаивает, и производительность падает.</a:t>
            </a:r>
          </a:p>
          <a:p>
            <a:endParaRPr lang="ru-RU" dirty="0"/>
          </a:p>
          <a:p>
            <a:r>
              <a:rPr lang="ru-RU" dirty="0"/>
              <a:t>Поэтому GPU лучше всего работает в задачах, где:</a:t>
            </a:r>
          </a:p>
          <a:p>
            <a:r>
              <a:rPr lang="ru-RU" dirty="0"/>
              <a:t>потоки выполняют одинаковые инструкции, </a:t>
            </a:r>
          </a:p>
          <a:p>
            <a:r>
              <a:rPr lang="ru-RU" dirty="0"/>
              <a:t>и имеют минимальное количество ветвлений.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29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программирования гетерогенных систем существует несколько API и платформ.</a:t>
            </a:r>
          </a:p>
          <a:p>
            <a:endParaRPr lang="ru-RU" dirty="0"/>
          </a:p>
          <a:p>
            <a:r>
              <a:rPr lang="ru-RU" dirty="0"/>
              <a:t>Они отличаются: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поддерживаемым оборудованием,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уровнем абстракции,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переносимостью,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используемыми языками программирования. </a:t>
            </a:r>
          </a:p>
          <a:p>
            <a:endParaRPr lang="ru-RU" dirty="0"/>
          </a:p>
          <a:p>
            <a:r>
              <a:rPr lang="ru-RU" dirty="0"/>
              <a:t>CUDA — наиболее популярная платформа для GPU NVIDIA, но она привязана только к оборудованию этой компании.</a:t>
            </a:r>
          </a:p>
          <a:p>
            <a:endParaRPr lang="ru-RU" dirty="0"/>
          </a:p>
          <a:p>
            <a:r>
              <a:rPr lang="ru-RU" dirty="0" err="1"/>
              <a:t>OpenCL</a:t>
            </a:r>
            <a:r>
              <a:rPr lang="ru-RU" dirty="0"/>
              <a:t> — открытый кроссплатформенный стандарт, поддерживаемый различными производителями CPU, GPU и других ускорителей.</a:t>
            </a:r>
          </a:p>
          <a:p>
            <a:endParaRPr lang="ru-RU" dirty="0"/>
          </a:p>
          <a:p>
            <a:r>
              <a:rPr lang="ru-RU" dirty="0"/>
              <a:t>SYCL и HIP — более современные C++-ориентированные решения, упрощающие разработку гетерогенных приложений.</a:t>
            </a:r>
          </a:p>
          <a:p>
            <a:endParaRPr lang="ru-RU" dirty="0"/>
          </a:p>
          <a:p>
            <a:r>
              <a:rPr lang="ru-RU" dirty="0"/>
              <a:t>Также существуют платформы, привязанные к конкретным экосистемам: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DirectCompute</a:t>
            </a:r>
            <a:r>
              <a:rPr lang="ru-RU" dirty="0"/>
              <a:t> — для Windows,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MetalCompute</a:t>
            </a:r>
            <a:r>
              <a:rPr lang="ru-RU" dirty="0"/>
              <a:t> — для устройств Apple,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VulkanCompute</a:t>
            </a:r>
            <a:r>
              <a:rPr lang="ru-RU" dirty="0"/>
              <a:t> — вычислительное расширение </a:t>
            </a:r>
            <a:r>
              <a:rPr lang="ru-RU" dirty="0" err="1"/>
              <a:t>Vulkan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В этой лекции мы будем использовать </a:t>
            </a:r>
            <a:r>
              <a:rPr lang="ru-RU" dirty="0" err="1"/>
              <a:t>OpenCL</a:t>
            </a:r>
            <a:r>
              <a:rPr lang="ru-RU" dirty="0"/>
              <a:t>, поскольку он позволяет работать с разными типами устройств и хорошо демонстрирует базовые принципы GPU-вычислений.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6489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OpenCL</a:t>
            </a:r>
            <a:r>
              <a:rPr lang="ru-RU" dirty="0"/>
              <a:t> — это открытый стандарт для параллельных вычислений на гетерогенных системах.</a:t>
            </a:r>
          </a:p>
          <a:p>
            <a:endParaRPr lang="ru-RU" dirty="0"/>
          </a:p>
          <a:p>
            <a:r>
              <a:rPr lang="ru-RU" dirty="0"/>
              <a:t>Он позволяет писать программы, которые могут использовать:</a:t>
            </a:r>
          </a:p>
          <a:p>
            <a:r>
              <a:rPr lang="ru-RU" dirty="0"/>
              <a:t>CPU, </a:t>
            </a:r>
          </a:p>
          <a:p>
            <a:r>
              <a:rPr lang="ru-RU" dirty="0"/>
              <a:t>GPU, </a:t>
            </a:r>
          </a:p>
          <a:p>
            <a:r>
              <a:rPr lang="ru-RU" dirty="0"/>
              <a:t>FPGA, </a:t>
            </a:r>
          </a:p>
          <a:p>
            <a:r>
              <a:rPr lang="ru-RU" dirty="0"/>
              <a:t>и другие ускорители. </a:t>
            </a:r>
          </a:p>
          <a:p>
            <a:endParaRPr lang="ru-RU" dirty="0"/>
          </a:p>
          <a:p>
            <a:r>
              <a:rPr lang="ru-RU" dirty="0" err="1"/>
              <a:t>OpenCL</a:t>
            </a:r>
            <a:r>
              <a:rPr lang="ru-RU" dirty="0"/>
              <a:t> состоит из нескольких частей.</a:t>
            </a:r>
          </a:p>
          <a:p>
            <a:endParaRPr lang="ru-RU" dirty="0"/>
          </a:p>
          <a:p>
            <a:r>
              <a:rPr lang="ru-RU" dirty="0"/>
              <a:t>Во-первых, это Host API — интерфейс, через который CPU управляет вычислениями: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выбирает устройство,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выделяет память,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загружает данные,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запускает вычисления. </a:t>
            </a:r>
          </a:p>
          <a:p>
            <a:endParaRPr lang="ru-RU" dirty="0"/>
          </a:p>
          <a:p>
            <a:r>
              <a:rPr lang="ru-RU" dirty="0"/>
              <a:t>Во-вторых, </a:t>
            </a:r>
            <a:r>
              <a:rPr lang="ru-RU" dirty="0" err="1"/>
              <a:t>OpenCL</a:t>
            </a:r>
            <a:r>
              <a:rPr lang="ru-RU" dirty="0"/>
              <a:t> определяет язык ядер —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language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Ядро — это функция, которая выполняется параллельно на устройстве.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dirty="0" err="1"/>
              <a:t>OpenCL</a:t>
            </a:r>
            <a:r>
              <a:rPr lang="ru-RU" dirty="0"/>
              <a:t> задаёт: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модель выполнения,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модель памяти,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механизм компиляции программ во время выполнения. </a:t>
            </a:r>
          </a:p>
          <a:p>
            <a:endParaRPr lang="ru-RU" dirty="0"/>
          </a:p>
          <a:p>
            <a:r>
              <a:rPr lang="ru-RU" dirty="0"/>
              <a:t>Главное преимущество </a:t>
            </a:r>
            <a:r>
              <a:rPr lang="ru-RU" dirty="0" err="1"/>
              <a:t>OpenCL</a:t>
            </a:r>
            <a:r>
              <a:rPr lang="ru-RU" dirty="0"/>
              <a:t> — переносимость.</a:t>
            </a:r>
          </a:p>
          <a:p>
            <a:endParaRPr lang="ru-RU" dirty="0"/>
          </a:p>
          <a:p>
            <a:r>
              <a:rPr lang="ru-RU" dirty="0"/>
              <a:t>Одна и та же </a:t>
            </a:r>
            <a:r>
              <a:rPr lang="ru-RU" dirty="0" err="1"/>
              <a:t>OpenCL</a:t>
            </a:r>
            <a:r>
              <a:rPr lang="ru-RU" dirty="0"/>
              <a:t>-программа может работать на устройствах разных производителей: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NVIDIA,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AMD,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Intel,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Apple,</a:t>
            </a:r>
            <a:br>
              <a:rPr lang="ru-RU" dirty="0"/>
            </a:br>
            <a:r>
              <a:rPr lang="ru-RU" dirty="0"/>
              <a:t>и других.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1469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OpenCL</a:t>
            </a:r>
            <a:r>
              <a:rPr lang="ru-RU" dirty="0"/>
              <a:t> вычисления разделяются между </a:t>
            </a:r>
            <a:r>
              <a:rPr lang="ru-RU" dirty="0" err="1"/>
              <a:t>host</a:t>
            </a:r>
            <a:r>
              <a:rPr lang="ru-RU" dirty="0"/>
              <a:t> и </a:t>
            </a:r>
            <a:r>
              <a:rPr lang="ru-RU" dirty="0" err="1"/>
              <a:t>device</a:t>
            </a:r>
            <a:r>
              <a:rPr lang="ru-RU" dirty="0"/>
              <a:t>.</a:t>
            </a:r>
          </a:p>
          <a:p>
            <a:r>
              <a:rPr lang="ru-RU" dirty="0"/>
              <a:t>Host — это обычно CPU и основной код приложения.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Host отвечает за организацию вычислений:</a:t>
            </a:r>
          </a:p>
          <a:p>
            <a:r>
              <a:rPr lang="ru-RU" dirty="0"/>
              <a:t>выбирает устройство, </a:t>
            </a:r>
            <a:r>
              <a:rPr lang="en-US" dirty="0"/>
              <a:t> </a:t>
            </a:r>
            <a:r>
              <a:rPr lang="ru-RU" dirty="0"/>
              <a:t>выделяет память, </a:t>
            </a:r>
          </a:p>
          <a:p>
            <a:r>
              <a:rPr lang="ru-RU" dirty="0"/>
              <a:t>загружает данные, </a:t>
            </a:r>
          </a:p>
          <a:p>
            <a:r>
              <a:rPr lang="ru-RU" dirty="0"/>
              <a:t>компилирует ядра, </a:t>
            </a:r>
          </a:p>
          <a:p>
            <a:r>
              <a:rPr lang="ru-RU" dirty="0"/>
              <a:t>запускает вычисления, </a:t>
            </a:r>
          </a:p>
          <a:p>
            <a:r>
              <a:rPr lang="ru-RU" dirty="0"/>
              <a:t>получает результат. </a:t>
            </a:r>
            <a:endParaRPr lang="en-US" dirty="0"/>
          </a:p>
          <a:p>
            <a:endParaRPr lang="ru-RU" dirty="0"/>
          </a:p>
          <a:p>
            <a:r>
              <a:rPr lang="ru-RU" dirty="0"/>
              <a:t>Device — это вычислительное устройство:</a:t>
            </a:r>
          </a:p>
          <a:p>
            <a:r>
              <a:rPr lang="ru-RU" dirty="0"/>
              <a:t>GPU, </a:t>
            </a:r>
          </a:p>
          <a:p>
            <a:r>
              <a:rPr lang="ru-RU" dirty="0"/>
              <a:t>CPU, </a:t>
            </a:r>
          </a:p>
          <a:p>
            <a:r>
              <a:rPr lang="ru-RU" dirty="0"/>
              <a:t>FPGA, </a:t>
            </a:r>
          </a:p>
          <a:p>
            <a:r>
              <a:rPr lang="ru-RU" dirty="0"/>
              <a:t>или другой ускоритель.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</a:t>
            </a:r>
            <a:r>
              <a:rPr lang="ru-RU" dirty="0" err="1"/>
              <a:t>device</a:t>
            </a:r>
            <a:r>
              <a:rPr lang="ru-RU" dirty="0"/>
              <a:t> выполняет </a:t>
            </a:r>
            <a:r>
              <a:rPr lang="ru-RU" dirty="0" err="1"/>
              <a:t>OpenCL</a:t>
            </a:r>
            <a:r>
              <a:rPr lang="ru-RU" dirty="0"/>
              <a:t>-ядра параллельно над данными.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Между </a:t>
            </a:r>
            <a:r>
              <a:rPr lang="ru-RU" dirty="0" err="1"/>
              <a:t>host</a:t>
            </a:r>
            <a:r>
              <a:rPr lang="ru-RU" dirty="0"/>
              <a:t> и устройствами создаётся </a:t>
            </a:r>
            <a:r>
              <a:rPr lang="ru-RU" dirty="0" err="1"/>
              <a:t>context</a:t>
            </a:r>
            <a:r>
              <a:rPr lang="ru-RU" dirty="0"/>
              <a:t> — контекст </a:t>
            </a:r>
            <a:r>
              <a:rPr lang="ru-RU" dirty="0" err="1"/>
              <a:t>OpenCL</a:t>
            </a:r>
            <a:r>
              <a:rPr lang="ru-RU" dirty="0"/>
              <a:t>.</a:t>
            </a:r>
          </a:p>
          <a:p>
            <a:r>
              <a:rPr lang="ru-RU" dirty="0"/>
              <a:t>Контекст объединяет:</a:t>
            </a:r>
          </a:p>
          <a:p>
            <a:r>
              <a:rPr lang="ru-RU" dirty="0"/>
              <a:t>устройства, </a:t>
            </a:r>
          </a:p>
          <a:p>
            <a:r>
              <a:rPr lang="ru-RU" dirty="0"/>
              <a:t>память, </a:t>
            </a:r>
          </a:p>
          <a:p>
            <a:r>
              <a:rPr lang="ru-RU" dirty="0"/>
              <a:t>программы, </a:t>
            </a:r>
          </a:p>
          <a:p>
            <a:r>
              <a:rPr lang="ru-RU" dirty="0"/>
              <a:t>очереди команд.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Можно воспринимать </a:t>
            </a:r>
            <a:r>
              <a:rPr lang="ru-RU" dirty="0" err="1"/>
              <a:t>context</a:t>
            </a:r>
            <a:r>
              <a:rPr lang="ru-RU" dirty="0"/>
              <a:t> как среду выполнения </a:t>
            </a:r>
            <a:r>
              <a:rPr lang="ru-RU" dirty="0" err="1"/>
              <a:t>OpenCL</a:t>
            </a:r>
            <a:r>
              <a:rPr lang="ru-RU" dirty="0"/>
              <a:t>-приложения.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Host помещает команды в </a:t>
            </a:r>
            <a:r>
              <a:rPr lang="ru-RU" dirty="0" err="1"/>
              <a:t>command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:</a:t>
            </a:r>
          </a:p>
          <a:p>
            <a:r>
              <a:rPr lang="ru-RU" dirty="0"/>
              <a:t>копирование данных, </a:t>
            </a:r>
          </a:p>
          <a:p>
            <a:r>
              <a:rPr lang="ru-RU" dirty="0"/>
              <a:t>запуск </a:t>
            </a:r>
            <a:r>
              <a:rPr lang="ru-RU" dirty="0" err="1"/>
              <a:t>kernel</a:t>
            </a:r>
            <a:r>
              <a:rPr lang="ru-RU" dirty="0"/>
              <a:t>, </a:t>
            </a:r>
          </a:p>
          <a:p>
            <a:r>
              <a:rPr lang="ru-RU" dirty="0"/>
              <a:t>чтение результата.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этого устройство выполняет эти команды.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15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4874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7267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300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основные компоненты </a:t>
            </a:r>
            <a:r>
              <a:rPr lang="ru-RU" dirty="0" err="1"/>
              <a:t>OpenCL</a:t>
            </a:r>
            <a:r>
              <a:rPr lang="ru-RU" dirty="0"/>
              <a:t> и то, как организуется выполнение вычислений.</a:t>
            </a:r>
          </a:p>
          <a:p>
            <a:endParaRPr lang="ru-RU" dirty="0"/>
          </a:p>
          <a:p>
            <a:r>
              <a:rPr lang="ru-RU" dirty="0" err="1"/>
              <a:t>OpenCL</a:t>
            </a:r>
            <a:r>
              <a:rPr lang="ru-RU" dirty="0"/>
              <a:t> разделяет оборудование по платформам.</a:t>
            </a:r>
            <a:br>
              <a:rPr lang="ru-RU" dirty="0"/>
            </a:br>
            <a:r>
              <a:rPr lang="ru-RU" dirty="0"/>
              <a:t>Платформа обычно соответствует производителю </a:t>
            </a:r>
            <a:r>
              <a:rPr lang="ru-RU" dirty="0" err="1"/>
              <a:t>OpenCL</a:t>
            </a:r>
            <a:r>
              <a:rPr lang="ru-RU" dirty="0"/>
              <a:t>-драйвера: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NVIDIA,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AMD,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Intel,</a:t>
            </a:r>
            <a:br>
              <a:rPr lang="ru-RU" dirty="0"/>
            </a:br>
            <a:r>
              <a:rPr lang="ru-RU" dirty="0"/>
              <a:t>и другим. </a:t>
            </a:r>
          </a:p>
          <a:p>
            <a:endParaRPr lang="ru-RU" dirty="0"/>
          </a:p>
          <a:p>
            <a:r>
              <a:rPr lang="ru-RU" dirty="0"/>
              <a:t>Одна платформа может содержать несколько устройств. Например:</a:t>
            </a:r>
          </a:p>
          <a:p>
            <a:r>
              <a:rPr lang="ru-RU" dirty="0"/>
              <a:t>дискретный GPU, </a:t>
            </a:r>
          </a:p>
          <a:p>
            <a:r>
              <a:rPr lang="ru-RU" dirty="0"/>
              <a:t>встроенный GPU, </a:t>
            </a:r>
          </a:p>
          <a:p>
            <a:r>
              <a:rPr lang="ru-RU" dirty="0"/>
              <a:t>CPU. </a:t>
            </a:r>
          </a:p>
          <a:p>
            <a:endParaRPr lang="ru-RU" dirty="0"/>
          </a:p>
          <a:p>
            <a:r>
              <a:rPr lang="ru-RU" dirty="0"/>
              <a:t>Устройство — это конкретный вычислитель, на котором будут выполняться </a:t>
            </a:r>
            <a:r>
              <a:rPr lang="ru-RU" dirty="0" err="1"/>
              <a:t>kernel</a:t>
            </a:r>
            <a:r>
              <a:rPr lang="ru-RU" dirty="0"/>
              <a:t>-функции.</a:t>
            </a:r>
          </a:p>
          <a:p>
            <a:endParaRPr lang="ru-RU" dirty="0"/>
          </a:p>
          <a:p>
            <a:r>
              <a:rPr lang="ru-RU" dirty="0"/>
              <a:t>Для работы с устройствами создаётся </a:t>
            </a:r>
            <a:r>
              <a:rPr lang="ru-RU" dirty="0" err="1"/>
              <a:t>context</a:t>
            </a:r>
            <a:r>
              <a:rPr lang="ru-RU" dirty="0"/>
              <a:t> — контекст </a:t>
            </a:r>
            <a:r>
              <a:rPr lang="ru-RU" dirty="0" err="1"/>
              <a:t>OpenCL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Контекст объединяет:</a:t>
            </a:r>
          </a:p>
          <a:p>
            <a:r>
              <a:rPr lang="ru-RU" dirty="0"/>
              <a:t>устройства, </a:t>
            </a:r>
          </a:p>
          <a:p>
            <a:r>
              <a:rPr lang="ru-RU" dirty="0"/>
              <a:t>память, </a:t>
            </a:r>
          </a:p>
          <a:p>
            <a:r>
              <a:rPr lang="ru-RU" dirty="0"/>
              <a:t>программы, </a:t>
            </a:r>
          </a:p>
          <a:p>
            <a:r>
              <a:rPr lang="ru-RU" dirty="0"/>
              <a:t>очереди команд. </a:t>
            </a:r>
          </a:p>
          <a:p>
            <a:endParaRPr lang="ru-RU" dirty="0"/>
          </a:p>
          <a:p>
            <a:r>
              <a:rPr lang="ru-RU" dirty="0"/>
              <a:t>Host отправляет команды устройству через </a:t>
            </a:r>
            <a:r>
              <a:rPr lang="ru-RU" dirty="0" err="1"/>
              <a:t>command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команд.</a:t>
            </a:r>
          </a:p>
          <a:p>
            <a:br>
              <a:rPr lang="ru-RU" dirty="0"/>
            </a:br>
            <a:r>
              <a:rPr lang="ru-RU" dirty="0"/>
              <a:t>В очередь помещаются:</a:t>
            </a:r>
          </a:p>
          <a:p>
            <a:r>
              <a:rPr lang="ru-RU" dirty="0"/>
              <a:t>копирование данных, </a:t>
            </a:r>
          </a:p>
          <a:p>
            <a:r>
              <a:rPr lang="ru-RU" dirty="0"/>
              <a:t>запуск </a:t>
            </a:r>
            <a:r>
              <a:rPr lang="ru-RU" dirty="0" err="1"/>
              <a:t>kernel</a:t>
            </a:r>
            <a:r>
              <a:rPr lang="ru-RU" dirty="0"/>
              <a:t>, </a:t>
            </a:r>
          </a:p>
          <a:p>
            <a:r>
              <a:rPr lang="ru-RU" dirty="0"/>
              <a:t>чтение результатов. </a:t>
            </a:r>
          </a:p>
          <a:p>
            <a:endParaRPr lang="ru-RU" dirty="0"/>
          </a:p>
          <a:p>
            <a:r>
              <a:rPr lang="ru-RU" dirty="0"/>
              <a:t>Program — это </a:t>
            </a:r>
            <a:r>
              <a:rPr lang="ru-RU" dirty="0" err="1"/>
              <a:t>OpenCL</a:t>
            </a:r>
            <a:r>
              <a:rPr lang="ru-RU" dirty="0"/>
              <a:t>-программа, содержащая код одного или нескольких ядер.</a:t>
            </a:r>
          </a:p>
          <a:p>
            <a:endParaRPr lang="ru-RU" dirty="0"/>
          </a:p>
          <a:p>
            <a:r>
              <a:rPr lang="ru-RU" dirty="0" err="1"/>
              <a:t>Kernel</a:t>
            </a:r>
            <a:r>
              <a:rPr lang="ru-RU" dirty="0"/>
              <a:t> — функция, которая выполняется параллельно на устройстве.</a:t>
            </a:r>
          </a:p>
          <a:p>
            <a:endParaRPr lang="ru-RU" dirty="0"/>
          </a:p>
          <a:p>
            <a:r>
              <a:rPr lang="ru-RU" dirty="0"/>
              <a:t>Данные для вычислений хранятся в буферах — </a:t>
            </a:r>
            <a:r>
              <a:rPr lang="ru-RU" dirty="0" err="1"/>
              <a:t>buffers</a:t>
            </a:r>
            <a:r>
              <a:rPr lang="ru-RU" dirty="0"/>
              <a:t>.</a:t>
            </a:r>
          </a:p>
          <a:p>
            <a:r>
              <a:rPr lang="ru-RU" dirty="0"/>
              <a:t>При запуске ядра </a:t>
            </a:r>
            <a:r>
              <a:rPr lang="ru-RU" dirty="0" err="1"/>
              <a:t>OpenCL</a:t>
            </a:r>
            <a:r>
              <a:rPr lang="ru-RU" dirty="0"/>
              <a:t> создаёт множество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 — параллельных потоков выполнения.</a:t>
            </a:r>
          </a:p>
          <a:p>
            <a:br>
              <a:rPr lang="ru-RU" dirty="0"/>
            </a:br>
            <a:r>
              <a:rPr lang="ru-RU" dirty="0"/>
              <a:t>Work </a:t>
            </a:r>
            <a:r>
              <a:rPr lang="ru-RU" dirty="0" err="1"/>
              <a:t>items</a:t>
            </a:r>
            <a:r>
              <a:rPr lang="ru-RU" dirty="0"/>
              <a:t> объединяются в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, внутри которых потоки могут:</a:t>
            </a:r>
          </a:p>
          <a:p>
            <a:r>
              <a:rPr lang="ru-RU" dirty="0"/>
              <a:t>синхронизироваться, </a:t>
            </a:r>
          </a:p>
          <a:p>
            <a:r>
              <a:rPr lang="ru-RU" dirty="0"/>
              <a:t>и использовать общую локальную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шаг в </a:t>
            </a:r>
            <a:r>
              <a:rPr lang="ru-RU" dirty="0" err="1"/>
              <a:t>OpenCL</a:t>
            </a:r>
            <a:r>
              <a:rPr lang="ru-RU" dirty="0"/>
              <a:t>-приложении — получить список доступных платформ.</a:t>
            </a:r>
          </a:p>
          <a:p>
            <a:r>
              <a:rPr lang="ru-RU" dirty="0"/>
              <a:t>В </a:t>
            </a:r>
            <a:r>
              <a:rPr lang="ru-RU" dirty="0" err="1"/>
              <a:t>OpenCL</a:t>
            </a:r>
            <a:r>
              <a:rPr lang="ru-RU" dirty="0"/>
              <a:t> платформа обычно соответствует производителю драйвера:</a:t>
            </a:r>
          </a:p>
          <a:p>
            <a:r>
              <a:rPr lang="ru-RU" dirty="0"/>
              <a:t>NVIDIA, </a:t>
            </a:r>
          </a:p>
          <a:p>
            <a:r>
              <a:rPr lang="ru-RU" dirty="0"/>
              <a:t>AMD, </a:t>
            </a:r>
          </a:p>
          <a:p>
            <a:r>
              <a:rPr lang="ru-RU" dirty="0"/>
              <a:t>Intel,</a:t>
            </a:r>
            <a:br>
              <a:rPr lang="ru-RU" dirty="0"/>
            </a:br>
            <a:r>
              <a:rPr lang="ru-RU" dirty="0"/>
              <a:t>и другим. 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::Platform::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dirty="0"/>
              <a:t> возвращает все платформы, доступные в системе.</a:t>
            </a:r>
          </a:p>
          <a:p>
            <a:endParaRPr lang="ru-RU" dirty="0"/>
          </a:p>
          <a:p>
            <a:r>
              <a:rPr lang="ru-RU" dirty="0"/>
              <a:t>После этого программа:</a:t>
            </a:r>
          </a:p>
          <a:p>
            <a:r>
              <a:rPr lang="ru-RU" dirty="0"/>
              <a:t>проверяет, найдены ли платформы, </a:t>
            </a:r>
          </a:p>
          <a:p>
            <a:r>
              <a:rPr lang="ru-RU" dirty="0"/>
              <a:t>получает имя каждой платформы, </a:t>
            </a:r>
          </a:p>
          <a:p>
            <a:r>
              <a:rPr lang="ru-RU" dirty="0"/>
              <a:t>и выводит список устройств, доступных внутри платформы. </a:t>
            </a:r>
          </a:p>
          <a:p>
            <a:endParaRPr lang="ru-RU" dirty="0"/>
          </a:p>
          <a:p>
            <a:r>
              <a:rPr lang="ru-RU" dirty="0"/>
              <a:t>Это позволяет приложению определить, какие CPU и GPU доступны для выполнения вычислений.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4144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получения платформ можно запросить список устройств внутри каждой платформы.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getDevices</a:t>
            </a:r>
            <a:r>
              <a:rPr lang="ru-RU" dirty="0"/>
              <a:t> возвращает все доступные устройства:</a:t>
            </a:r>
          </a:p>
          <a:p>
            <a:r>
              <a:rPr lang="ru-RU" dirty="0"/>
              <a:t>CPU, </a:t>
            </a:r>
          </a:p>
          <a:p>
            <a:r>
              <a:rPr lang="ru-RU" dirty="0"/>
              <a:t>GPU, </a:t>
            </a:r>
          </a:p>
          <a:p>
            <a:r>
              <a:rPr lang="ru-RU" dirty="0"/>
              <a:t>FPGA, </a:t>
            </a:r>
          </a:p>
          <a:p>
            <a:r>
              <a:rPr lang="ru-RU" dirty="0"/>
              <a:t>и другие ускорители. </a:t>
            </a:r>
          </a:p>
          <a:p>
            <a:endParaRPr lang="ru-RU" dirty="0"/>
          </a:p>
          <a:p>
            <a:r>
              <a:rPr lang="ru-RU" dirty="0"/>
              <a:t>Для каждого устройства программа получает:</a:t>
            </a:r>
          </a:p>
          <a:p>
            <a:r>
              <a:rPr lang="ru-RU" dirty="0"/>
              <a:t>имя устройства, </a:t>
            </a:r>
          </a:p>
          <a:p>
            <a:r>
              <a:rPr lang="ru-RU" dirty="0"/>
              <a:t>и его тип. </a:t>
            </a:r>
          </a:p>
          <a:p>
            <a:endParaRPr lang="ru-RU" dirty="0"/>
          </a:p>
          <a:p>
            <a:r>
              <a:rPr lang="ru-RU" dirty="0"/>
              <a:t>Это позволяет приложению определить, какие вычислительные ресурсы доступны в системе, и выбрать подходящее устройство для выполнения </a:t>
            </a:r>
            <a:r>
              <a:rPr lang="ru-RU" dirty="0" err="1"/>
              <a:t>OpenCL</a:t>
            </a:r>
            <a:r>
              <a:rPr lang="ru-RU" dirty="0"/>
              <a:t>-программы.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289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функция определяет тип </a:t>
            </a:r>
            <a:r>
              <a:rPr lang="ru-RU" dirty="0" err="1"/>
              <a:t>OpenCL</a:t>
            </a:r>
            <a:r>
              <a:rPr lang="ru-RU" dirty="0"/>
              <a:t>-устройства и выводит его в консоль.</a:t>
            </a:r>
          </a:p>
          <a:p>
            <a:endParaRPr lang="ru-RU" dirty="0"/>
          </a:p>
          <a:p>
            <a:r>
              <a:rPr lang="ru-RU" dirty="0" err="1"/>
              <a:t>OpenCL</a:t>
            </a:r>
            <a:r>
              <a:rPr lang="ru-RU" dirty="0"/>
              <a:t> поддерживает разные типы вычислителей:</a:t>
            </a:r>
          </a:p>
          <a:p>
            <a:r>
              <a:rPr lang="ru-RU" dirty="0"/>
              <a:t>CPU, </a:t>
            </a:r>
          </a:p>
          <a:p>
            <a:r>
              <a:rPr lang="ru-RU" dirty="0"/>
              <a:t>GPU, </a:t>
            </a:r>
          </a:p>
          <a:p>
            <a:r>
              <a:rPr lang="ru-RU" dirty="0"/>
              <a:t>специализированные ускорители, </a:t>
            </a:r>
          </a:p>
          <a:p>
            <a:r>
              <a:rPr lang="ru-RU" dirty="0"/>
              <a:t>и пользовательские устройства. </a:t>
            </a:r>
          </a:p>
          <a:p>
            <a:endParaRPr lang="ru-RU" dirty="0"/>
          </a:p>
          <a:p>
            <a:r>
              <a:rPr lang="ru-RU" dirty="0"/>
              <a:t>Тип устройства хранится в виде битовой маски, поэтому проверка выполняется при помощи побитовой операции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.</a:t>
            </a:r>
          </a:p>
          <a:p>
            <a:r>
              <a:rPr lang="ru-RU" dirty="0"/>
              <a:t>В примере ниже показан результат работы программы на реальной системе.</a:t>
            </a:r>
          </a:p>
          <a:p>
            <a:endParaRPr lang="ru-RU" dirty="0"/>
          </a:p>
          <a:p>
            <a:r>
              <a:rPr lang="ru-RU" dirty="0"/>
              <a:t>Мы видим несколько </a:t>
            </a:r>
            <a:r>
              <a:rPr lang="ru-RU" dirty="0" err="1"/>
              <a:t>OpenCL</a:t>
            </a:r>
            <a:r>
              <a:rPr lang="ru-RU" dirty="0"/>
              <a:t>-платформ:</a:t>
            </a:r>
          </a:p>
          <a:p>
            <a:r>
              <a:rPr lang="ru-RU" dirty="0"/>
              <a:t>NVIDIA CUDA, </a:t>
            </a:r>
          </a:p>
          <a:p>
            <a:r>
              <a:rPr lang="ru-RU" dirty="0"/>
              <a:t>Intel </a:t>
            </a:r>
            <a:r>
              <a:rPr lang="ru-RU" dirty="0" err="1"/>
              <a:t>OpenCL</a:t>
            </a:r>
            <a:r>
              <a:rPr lang="ru-RU" dirty="0"/>
              <a:t>, </a:t>
            </a:r>
          </a:p>
          <a:p>
            <a:r>
              <a:rPr lang="ru-RU" dirty="0"/>
              <a:t>OpenCLOn12. </a:t>
            </a:r>
          </a:p>
          <a:p>
            <a:endParaRPr lang="ru-RU" dirty="0"/>
          </a:p>
          <a:p>
            <a:r>
              <a:rPr lang="ru-RU" dirty="0"/>
              <a:t>При этом одно и то же физическое устройство может быть доступно через разные </a:t>
            </a:r>
            <a:r>
              <a:rPr lang="ru-RU" dirty="0" err="1"/>
              <a:t>OpenCL</a:t>
            </a:r>
            <a:r>
              <a:rPr lang="ru-RU" dirty="0"/>
              <a:t>-драйверы и платформы.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266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OpenCL</a:t>
            </a:r>
            <a:r>
              <a:rPr lang="ru-RU" dirty="0"/>
              <a:t> может выполнять программы на разных типах устройств: CPU, GPU, FPGA и других ускорителях. При этом архитектура этих устройств может сильно отличаться.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OpenCL</a:t>
            </a:r>
            <a:r>
              <a:rPr lang="ru-RU" dirty="0"/>
              <a:t> использует абстрактную модель вычислений, которая позволяет описывать параллельные вычисления независимо от конкретного оборудования.</a:t>
            </a:r>
          </a:p>
          <a:p>
            <a:endParaRPr lang="ru-RU" dirty="0"/>
          </a:p>
          <a:p>
            <a:r>
              <a:rPr lang="ru-RU" dirty="0"/>
              <a:t>Основными элементами этой модели являются:</a:t>
            </a:r>
          </a:p>
          <a:p>
            <a:r>
              <a:rPr lang="ru-RU" dirty="0"/>
              <a:t>Work </a:t>
            </a:r>
            <a:r>
              <a:rPr lang="ru-RU" dirty="0" err="1"/>
              <a:t>Items</a:t>
            </a:r>
            <a:r>
              <a:rPr lang="ru-RU" dirty="0"/>
              <a:t>, </a:t>
            </a:r>
          </a:p>
          <a:p>
            <a:r>
              <a:rPr lang="ru-RU" dirty="0" err="1"/>
              <a:t>NDRange</a:t>
            </a:r>
            <a:r>
              <a:rPr lang="ru-RU" dirty="0"/>
              <a:t>, </a:t>
            </a:r>
          </a:p>
          <a:p>
            <a:r>
              <a:rPr lang="ru-RU" dirty="0"/>
              <a:t>Work </a:t>
            </a:r>
            <a:r>
              <a:rPr lang="ru-RU" dirty="0" err="1"/>
              <a:t>Groups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 err="1"/>
              <a:t>Kernel</a:t>
            </a:r>
            <a:r>
              <a:rPr lang="ru-RU" dirty="0"/>
              <a:t>-функция запускается сразу для большого количества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. Work </a:t>
            </a:r>
            <a:r>
              <a:rPr lang="ru-RU" dirty="0" err="1"/>
              <a:t>items</a:t>
            </a:r>
            <a:r>
              <a:rPr lang="ru-RU" dirty="0"/>
              <a:t> объединяются в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, которые затем распределяются между вычислительными блоками устройства.</a:t>
            </a:r>
          </a:p>
          <a:p>
            <a:endParaRPr lang="ru-RU" dirty="0"/>
          </a:p>
          <a:p>
            <a:r>
              <a:rPr lang="ru-RU" dirty="0"/>
              <a:t>На GPU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можно приблизительно рассматривать как поток выполнения, а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</a:t>
            </a:r>
            <a:r>
              <a:rPr lang="ru-RU" dirty="0"/>
              <a:t> — как группу потоков, выполняющихся совместно на одном вычислительном блоке.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497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запуске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OpenCL</a:t>
            </a:r>
            <a:r>
              <a:rPr lang="ru-RU" dirty="0"/>
              <a:t> создаёт множество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 — параллельных экземпляров </a:t>
            </a:r>
            <a:r>
              <a:rPr lang="ru-RU" dirty="0" err="1"/>
              <a:t>kernel</a:t>
            </a:r>
            <a:r>
              <a:rPr lang="ru-RU" dirty="0"/>
              <a:t>-функции.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выполняет один и тот же код, но работает со своими данными.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GPU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можно приблизительно воспринимать как поток выполнения.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NDRange</a:t>
            </a:r>
            <a:r>
              <a:rPr lang="ru-RU" dirty="0"/>
              <a:t> задаёт пространство индексов, внутри которого создаются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. Оно может быть:</a:t>
            </a:r>
          </a:p>
          <a:p>
            <a:r>
              <a:rPr lang="ru-RU" dirty="0"/>
              <a:t>одномерным, </a:t>
            </a:r>
          </a:p>
          <a:p>
            <a:r>
              <a:rPr lang="ru-RU" dirty="0"/>
              <a:t>двумерным, </a:t>
            </a:r>
          </a:p>
          <a:p>
            <a:r>
              <a:rPr lang="ru-RU" dirty="0"/>
              <a:t>или трёхмерным.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получает свой индекс через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get_global_id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Например, при сложении векторов один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обрабатывает один элемент массива:</a:t>
            </a:r>
          </a:p>
          <a:p>
            <a:r>
              <a:rPr lang="ru-RU" dirty="0"/>
              <a:t>первый поток вычисляет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C[0]</a:t>
            </a:r>
            <a:r>
              <a:rPr lang="ru-RU" dirty="0"/>
              <a:t>, </a:t>
            </a:r>
          </a:p>
          <a:p>
            <a:r>
              <a:rPr lang="ru-RU" dirty="0"/>
              <a:t>второй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C[1]</a:t>
            </a:r>
            <a:r>
              <a:rPr lang="ru-RU" dirty="0"/>
              <a:t>, </a:t>
            </a:r>
          </a:p>
          <a:p>
            <a:r>
              <a:rPr lang="ru-RU" dirty="0"/>
              <a:t>и так далее.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такая модель позволяет </a:t>
            </a:r>
            <a:r>
              <a:rPr lang="ru-RU" dirty="0" err="1"/>
              <a:t>OpenCL</a:t>
            </a:r>
            <a:r>
              <a:rPr lang="ru-RU" dirty="0"/>
              <a:t> запускать тысячи параллельных потоков вычислений.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6185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более эффективного выполнения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 объединяются в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Work </a:t>
            </a:r>
            <a:r>
              <a:rPr lang="ru-RU" dirty="0" err="1"/>
              <a:t>group</a:t>
            </a:r>
            <a:r>
              <a:rPr lang="ru-RU" dirty="0"/>
              <a:t> — это группа потоков, выполняемых совместно на одном вычислительном блоке GPU.</a:t>
            </a:r>
            <a:endParaRPr lang="en-US" dirty="0"/>
          </a:p>
          <a:p>
            <a:endParaRPr lang="ru-RU" dirty="0"/>
          </a:p>
          <a:p>
            <a:r>
              <a:rPr lang="ru-RU" dirty="0"/>
              <a:t>Work </a:t>
            </a:r>
            <a:r>
              <a:rPr lang="ru-RU" dirty="0" err="1"/>
              <a:t>groups</a:t>
            </a:r>
            <a:r>
              <a:rPr lang="ru-RU" dirty="0"/>
              <a:t> нужны по нескольким причинам:</a:t>
            </a:r>
            <a:r>
              <a:rPr lang="en-US" dirty="0"/>
              <a:t> </a:t>
            </a:r>
            <a:r>
              <a:rPr lang="ru-RU" dirty="0"/>
              <a:t>для эффективного планирования вычислений, для использования быстрой </a:t>
            </a:r>
            <a:r>
              <a:rPr lang="ru-RU" dirty="0" err="1"/>
              <a:t>local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, </a:t>
            </a:r>
          </a:p>
          <a:p>
            <a:r>
              <a:rPr lang="ru-RU" dirty="0"/>
              <a:t>и для синхронизации потоков. </a:t>
            </a:r>
            <a:endParaRPr lang="en-US" dirty="0"/>
          </a:p>
          <a:p>
            <a:endParaRPr lang="ru-RU" dirty="0"/>
          </a:p>
          <a:p>
            <a:r>
              <a:rPr lang="ru-RU" dirty="0"/>
              <a:t>Work </a:t>
            </a:r>
            <a:r>
              <a:rPr lang="ru-RU" dirty="0" err="1"/>
              <a:t>items</a:t>
            </a:r>
            <a:r>
              <a:rPr lang="ru-RU" dirty="0"/>
              <a:t> внутри одной группы могут обмениваться данными и использовать общую локальную память.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потоки внутри группы могут синхронизироваться при помощи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разные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 считаются независимыми и могут выполняться параллельно в произвольном порядке.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благодаря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 становятся возможны такие оптимизации, как </a:t>
            </a:r>
            <a:r>
              <a:rPr lang="ru-RU" dirty="0" err="1"/>
              <a:t>tiled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 </a:t>
            </a:r>
            <a:r>
              <a:rPr lang="ru-RU" dirty="0" err="1"/>
              <a:t>multiplication</a:t>
            </a:r>
            <a:r>
              <a:rPr lang="ru-RU" dirty="0"/>
              <a:t>, которое мы рассмотрим дальше.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668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OpenCL</a:t>
            </a:r>
            <a:r>
              <a:rPr lang="ru-RU" dirty="0"/>
              <a:t> использует иерархическую модель памяти. Разные типы памяти отличаются:</a:t>
            </a:r>
          </a:p>
          <a:p>
            <a:r>
              <a:rPr lang="ru-RU" dirty="0"/>
              <a:t>объёмом, </a:t>
            </a:r>
          </a:p>
          <a:p>
            <a:r>
              <a:rPr lang="ru-RU" dirty="0"/>
              <a:t>скоростью доступа, </a:t>
            </a:r>
          </a:p>
          <a:p>
            <a:r>
              <a:rPr lang="ru-RU" dirty="0"/>
              <a:t>и областью видимости. </a:t>
            </a:r>
          </a:p>
          <a:p>
            <a:endParaRPr lang="ru-RU" dirty="0"/>
          </a:p>
          <a:p>
            <a:r>
              <a:rPr lang="ru-RU" dirty="0"/>
              <a:t>Global </a:t>
            </a:r>
            <a:r>
              <a:rPr lang="ru-RU" dirty="0" err="1"/>
              <a:t>memory</a:t>
            </a:r>
            <a:r>
              <a:rPr lang="ru-RU" dirty="0"/>
              <a:t> доступна всем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. Это основная память устройства с большим объёмом, но высокой задержкой доступа. Именно 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обычно располагаются большие массивы данных.</a:t>
            </a:r>
          </a:p>
          <a:p>
            <a:endParaRPr lang="ru-RU" dirty="0"/>
          </a:p>
          <a:p>
            <a:r>
              <a:rPr lang="ru-RU" dirty="0"/>
              <a:t>Local </a:t>
            </a:r>
            <a:r>
              <a:rPr lang="ru-RU" dirty="0" err="1"/>
              <a:t>memory</a:t>
            </a:r>
            <a:r>
              <a:rPr lang="ru-RU" dirty="0"/>
              <a:t> является общей для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 внутри одной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</a:t>
            </a:r>
            <a:r>
              <a:rPr lang="ru-RU" dirty="0"/>
              <a:t>. Она значительно быстрее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и используется для обмена данными и переиспользования уже загруженных значений. Именно </a:t>
            </a:r>
            <a:r>
              <a:rPr lang="ru-RU" dirty="0" err="1"/>
              <a:t>local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используется в </a:t>
            </a:r>
            <a:r>
              <a:rPr lang="ru-RU" dirty="0" err="1"/>
              <a:t>tiled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 </a:t>
            </a:r>
            <a:r>
              <a:rPr lang="ru-RU" dirty="0" err="1"/>
              <a:t>multiplication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Private </a:t>
            </a:r>
            <a:r>
              <a:rPr lang="ru-RU" dirty="0" err="1"/>
              <a:t>memory</a:t>
            </a:r>
            <a:r>
              <a:rPr lang="ru-RU" dirty="0"/>
              <a:t> принадлежит отдельному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. Обычно это регистры или очень быстрая локальная память потока. В </a:t>
            </a:r>
            <a:r>
              <a:rPr lang="ru-RU" dirty="0" err="1"/>
              <a:t>private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хранятся локальные переменные </a:t>
            </a:r>
            <a:r>
              <a:rPr lang="ru-RU" dirty="0" err="1"/>
              <a:t>kernel</a:t>
            </a:r>
            <a:r>
              <a:rPr lang="ru-RU" dirty="0"/>
              <a:t>-функции.</a:t>
            </a:r>
          </a:p>
          <a:p>
            <a:endParaRPr lang="ru-RU" dirty="0"/>
          </a:p>
          <a:p>
            <a:r>
              <a:rPr lang="ru-RU" dirty="0"/>
              <a:t>Для GPU производительность очень сильно зависит от эффективности работы с памятью. Во многих задачах ограничением является не количество вычислений, а скорость доступа к данным. Поэтому минимизация обращений к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является одной из ключевых задач оптимизации GPU-программ.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704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Производительность GPU зависит не только от количества вычислений, но и от того, как потоки обращаются к памяти.</a:t>
            </a:r>
          </a:p>
          <a:p>
            <a:endParaRPr lang="ru-RU" dirty="0"/>
          </a:p>
          <a:p>
            <a:r>
              <a:rPr lang="ru-RU" dirty="0"/>
              <a:t>GPU читает данные большими блоками —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наиболее эффективно, когда соседние потоки внутри </a:t>
            </a:r>
            <a:r>
              <a:rPr lang="ru-RU" dirty="0" err="1"/>
              <a:t>warp</a:t>
            </a:r>
            <a:r>
              <a:rPr lang="ru-RU" dirty="0"/>
              <a:t> обращаются к соседним адресам памяти.</a:t>
            </a:r>
          </a:p>
          <a:p>
            <a:r>
              <a:rPr lang="ru-RU" dirty="0"/>
              <a:t>Например:</a:t>
            </a:r>
          </a:p>
          <a:p>
            <a:r>
              <a:rPr lang="ru-RU" dirty="0"/>
              <a:t>поток 0 читает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A[0]</a:t>
            </a:r>
            <a:r>
              <a:rPr lang="ru-RU" dirty="0"/>
              <a:t>, </a:t>
            </a:r>
          </a:p>
          <a:p>
            <a:r>
              <a:rPr lang="ru-RU" dirty="0"/>
              <a:t>поток 1 читает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A[1]</a:t>
            </a:r>
            <a:r>
              <a:rPr lang="ru-RU" dirty="0"/>
              <a:t>, </a:t>
            </a:r>
          </a:p>
          <a:p>
            <a:r>
              <a:rPr lang="ru-RU" dirty="0"/>
              <a:t>поток 2 читает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A[2]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В этом случае GPU может объединить обращения в одно крупное чтение памяти.</a:t>
            </a:r>
          </a:p>
          <a:p>
            <a:endParaRPr lang="ru-RU" dirty="0"/>
          </a:p>
          <a:p>
            <a:r>
              <a:rPr lang="ru-RU" dirty="0"/>
              <a:t>Такой доступ называется </a:t>
            </a:r>
            <a:r>
              <a:rPr lang="ru-RU" dirty="0" err="1"/>
              <a:t>coalesced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</a:t>
            </a:r>
            <a:r>
              <a:rPr lang="ru-RU" dirty="0" err="1"/>
              <a:t>access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же потоки обращаются к далёким адресам памяти, GPU приходится выполнять множество отдельных обращений, и производительность падает.</a:t>
            </a:r>
          </a:p>
          <a:p>
            <a:endParaRPr lang="ru-RU" dirty="0"/>
          </a:p>
          <a:p>
            <a:r>
              <a:rPr lang="ru-RU" dirty="0"/>
              <a:t>Поэтому расположение данных в памяти и паттерн доступа потоков очень сильно влияют на скорость GPU-программ.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3273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потоки внутри </a:t>
            </a:r>
            <a:r>
              <a:rPr lang="ru-RU" dirty="0" err="1"/>
              <a:t>warp</a:t>
            </a:r>
            <a:r>
              <a:rPr lang="ru-RU" dirty="0"/>
              <a:t> ожидают данные из памяти, выполнение всего </a:t>
            </a:r>
            <a:r>
              <a:rPr lang="ru-RU" dirty="0" err="1"/>
              <a:t>warp</a:t>
            </a:r>
            <a:r>
              <a:rPr lang="ru-RU" dirty="0"/>
              <a:t> приостанавливается.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GPU не может продолжить выполнение только части потоков внутри </a:t>
            </a:r>
            <a:r>
              <a:rPr lang="ru-RU" dirty="0" err="1"/>
              <a:t>warp</a:t>
            </a:r>
            <a:r>
              <a:rPr lang="ru-RU" dirty="0"/>
              <a:t>, поскольку </a:t>
            </a:r>
            <a:r>
              <a:rPr lang="ru-RU" dirty="0" err="1"/>
              <a:t>warp</a:t>
            </a:r>
            <a:r>
              <a:rPr lang="ru-RU" dirty="0"/>
              <a:t> является единицей исполнения инструкций.</a:t>
            </a:r>
          </a:p>
          <a:p>
            <a:r>
              <a:rPr lang="ru-RU" dirty="0"/>
              <a:t>Но GPU использует другой подход для борьбы с задержками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одном </a:t>
            </a:r>
            <a:r>
              <a:rPr lang="ru-RU" dirty="0" err="1"/>
              <a:t>Streaming</a:t>
            </a:r>
            <a:r>
              <a:rPr lang="ru-RU" dirty="0"/>
              <a:t> </a:t>
            </a:r>
            <a:r>
              <a:rPr lang="ru-RU" dirty="0" err="1"/>
              <a:t>Multiprocessor</a:t>
            </a:r>
            <a:r>
              <a:rPr lang="ru-RU" dirty="0"/>
              <a:t> одновременно находятся десятки активных </a:t>
            </a:r>
            <a:r>
              <a:rPr lang="ru-RU" dirty="0" err="1"/>
              <a:t>warp-ов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один </a:t>
            </a:r>
            <a:r>
              <a:rPr lang="ru-RU" dirty="0" err="1"/>
              <a:t>warp</a:t>
            </a:r>
            <a:r>
              <a:rPr lang="ru-RU" dirty="0"/>
              <a:t> ожидает данные из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, </a:t>
            </a:r>
            <a:r>
              <a:rPr lang="ru-RU" dirty="0" err="1"/>
              <a:t>scheduler</a:t>
            </a:r>
            <a:r>
              <a:rPr lang="ru-RU" dirty="0"/>
              <a:t> быстро переключается на другой </a:t>
            </a:r>
            <a:r>
              <a:rPr lang="ru-RU" dirty="0" err="1"/>
              <a:t>warp</a:t>
            </a:r>
            <a:r>
              <a:rPr lang="ru-RU" dirty="0"/>
              <a:t>, готовый к выполнению.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За счёт этого вычислительные блоки GPU меньше простаивают.</a:t>
            </a:r>
          </a:p>
          <a:p>
            <a:r>
              <a:rPr lang="ru-RU" dirty="0"/>
              <a:t>Такой подход называется скрытием задержек памяти — </a:t>
            </a:r>
            <a:r>
              <a:rPr lang="ru-RU" dirty="0" err="1"/>
              <a:t>latency</a:t>
            </a:r>
            <a:r>
              <a:rPr lang="ru-RU" dirty="0"/>
              <a:t> </a:t>
            </a:r>
            <a:r>
              <a:rPr lang="ru-RU" dirty="0" err="1"/>
              <a:t>hiding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CPU, который старается минимизировать </a:t>
            </a:r>
            <a:r>
              <a:rPr lang="ru-RU" dirty="0" err="1"/>
              <a:t>latency</a:t>
            </a:r>
            <a:r>
              <a:rPr lang="ru-RU" dirty="0"/>
              <a:t> доступа к памяти, GPU скрывает </a:t>
            </a:r>
            <a:r>
              <a:rPr lang="ru-RU" dirty="0" err="1"/>
              <a:t>latency</a:t>
            </a:r>
            <a:r>
              <a:rPr lang="ru-RU" dirty="0"/>
              <a:t> при помощи огромного количества параллельных потоков.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для GPU особенно важны: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высокая степень параллелизма,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эффективный доступ к памяти,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большое количество активных </a:t>
            </a:r>
            <a:r>
              <a:rPr lang="ru-RU" dirty="0" err="1"/>
              <a:t>warp-ов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314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качестве первого примера рассмотрим задачу поэлементного суммирования двух массивов.</a:t>
            </a:r>
          </a:p>
          <a:p>
            <a:endParaRPr lang="ru-RU" dirty="0"/>
          </a:p>
          <a:p>
            <a:r>
              <a:rPr lang="ru-RU" dirty="0"/>
              <a:t>Каждый элемент результирующего массива вычисляется независимо: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C[0] = A[0] + B[0]</a:t>
            </a:r>
            <a:r>
              <a:rPr lang="ru-RU" dirty="0"/>
              <a:t>, 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C[1] = A[1] + B[1]</a:t>
            </a:r>
            <a:r>
              <a:rPr lang="ru-RU" dirty="0"/>
              <a:t>, </a:t>
            </a:r>
          </a:p>
          <a:p>
            <a:r>
              <a:rPr lang="ru-RU" dirty="0"/>
              <a:t>и так далее. </a:t>
            </a:r>
          </a:p>
          <a:p>
            <a:endParaRPr lang="ru-RU" dirty="0"/>
          </a:p>
          <a:p>
            <a:r>
              <a:rPr lang="ru-RU" dirty="0"/>
              <a:t>Это хороший пример </a:t>
            </a:r>
            <a:r>
              <a:rPr lang="ru-RU" dirty="0" err="1"/>
              <a:t>data-parallel</a:t>
            </a:r>
            <a:r>
              <a:rPr lang="ru-RU" dirty="0"/>
              <a:t> задачи, поскольку вычисления для разных элементов не зависят друг от друга.</a:t>
            </a:r>
          </a:p>
          <a:p>
            <a:endParaRPr lang="ru-RU" dirty="0"/>
          </a:p>
          <a:p>
            <a:r>
              <a:rPr lang="ru-RU" dirty="0"/>
              <a:t>Поэтому такую задачу удобно распараллелить: каждому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можно поручить обработку одного элемента массива.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580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общий порядок выполнения </a:t>
            </a:r>
            <a:r>
              <a:rPr lang="ru-RU" dirty="0" err="1"/>
              <a:t>OpenCL</a:t>
            </a:r>
            <a:r>
              <a:rPr lang="ru-RU" dirty="0"/>
              <a:t>-программы.</a:t>
            </a:r>
          </a:p>
          <a:p>
            <a:r>
              <a:rPr lang="ru-RU" dirty="0"/>
              <a:t>Сначала приложение получает список доступных платформ и устройств и выбирает устройство, на котором будут выполняться вычисления.</a:t>
            </a:r>
          </a:p>
          <a:p>
            <a:endParaRPr lang="ru-RU" dirty="0"/>
          </a:p>
          <a:p>
            <a:r>
              <a:rPr lang="ru-RU" dirty="0"/>
              <a:t>После этого создаются:</a:t>
            </a:r>
          </a:p>
          <a:p>
            <a:r>
              <a:rPr lang="ru-RU" dirty="0" err="1"/>
              <a:t>context</a:t>
            </a:r>
            <a:r>
              <a:rPr lang="ru-RU" dirty="0"/>
              <a:t>, </a:t>
            </a:r>
          </a:p>
          <a:p>
            <a:r>
              <a:rPr lang="ru-RU" dirty="0"/>
              <a:t>и </a:t>
            </a:r>
            <a:r>
              <a:rPr lang="ru-RU" dirty="0" err="1"/>
              <a:t>command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Далее </a:t>
            </a:r>
            <a:r>
              <a:rPr lang="ru-RU" dirty="0" err="1"/>
              <a:t>host</a:t>
            </a:r>
            <a:r>
              <a:rPr lang="ru-RU" dirty="0"/>
              <a:t> создаёт буферы памяти и копирует входные данные на устройство.</a:t>
            </a:r>
          </a:p>
          <a:p>
            <a:endParaRPr lang="ru-RU" dirty="0"/>
          </a:p>
          <a:p>
            <a:r>
              <a:rPr lang="ru-RU" dirty="0"/>
              <a:t>Затем </a:t>
            </a:r>
            <a:r>
              <a:rPr lang="ru-RU" dirty="0" err="1"/>
              <a:t>OpenCL</a:t>
            </a:r>
            <a:r>
              <a:rPr lang="ru-RU" dirty="0"/>
              <a:t> компилирует </a:t>
            </a:r>
            <a:r>
              <a:rPr lang="ru-RU" dirty="0" err="1"/>
              <a:t>kernel</a:t>
            </a:r>
            <a:r>
              <a:rPr lang="ru-RU" dirty="0"/>
              <a:t>-функцию, которая будет выполняться параллельно на устройстве.</a:t>
            </a:r>
          </a:p>
          <a:p>
            <a:endParaRPr lang="ru-RU" dirty="0"/>
          </a:p>
          <a:p>
            <a:r>
              <a:rPr lang="ru-RU" dirty="0"/>
              <a:t>После компиляции приложению нужно передать </a:t>
            </a:r>
            <a:r>
              <a:rPr lang="ru-RU" dirty="0" err="1"/>
              <a:t>kernel</a:t>
            </a:r>
            <a:r>
              <a:rPr lang="ru-RU" dirty="0"/>
              <a:t> аргументы:</a:t>
            </a:r>
          </a:p>
          <a:p>
            <a:r>
              <a:rPr lang="ru-RU" dirty="0"/>
              <a:t>буферы, </a:t>
            </a:r>
          </a:p>
          <a:p>
            <a:r>
              <a:rPr lang="ru-RU" dirty="0"/>
              <a:t>размеры данных, </a:t>
            </a:r>
          </a:p>
          <a:p>
            <a:r>
              <a:rPr lang="ru-RU" dirty="0"/>
              <a:t>и другие параметры. </a:t>
            </a:r>
          </a:p>
          <a:p>
            <a:endParaRPr lang="ru-RU" dirty="0"/>
          </a:p>
          <a:p>
            <a:r>
              <a:rPr lang="ru-RU" dirty="0"/>
              <a:t>Далее </a:t>
            </a:r>
            <a:r>
              <a:rPr lang="ru-RU" dirty="0" err="1"/>
              <a:t>kernel</a:t>
            </a:r>
            <a:r>
              <a:rPr lang="ru-RU" dirty="0"/>
              <a:t> запускается на </a:t>
            </a:r>
            <a:r>
              <a:rPr lang="ru-RU" dirty="0" err="1"/>
              <a:t>NDRange</a:t>
            </a:r>
            <a:r>
              <a:rPr lang="ru-RU" dirty="0"/>
              <a:t> — множестве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.</a:t>
            </a:r>
          </a:p>
          <a:p>
            <a:r>
              <a:rPr lang="ru-RU" dirty="0"/>
              <a:t>После завершения вычислений результат копируется обратно из памяти устройства в память </a:t>
            </a:r>
            <a:r>
              <a:rPr lang="ru-RU" dirty="0" err="1"/>
              <a:t>host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host</a:t>
            </a:r>
            <a:r>
              <a:rPr lang="ru-RU" dirty="0"/>
              <a:t> управляет вычислениями и передачей данных, а </a:t>
            </a:r>
            <a:r>
              <a:rPr lang="ru-RU" dirty="0" err="1"/>
              <a:t>device</a:t>
            </a:r>
            <a:r>
              <a:rPr lang="ru-RU" dirty="0"/>
              <a:t> выполняет </a:t>
            </a:r>
            <a:r>
              <a:rPr lang="ru-RU" dirty="0" err="1"/>
              <a:t>kernel</a:t>
            </a:r>
            <a:r>
              <a:rPr lang="ru-RU" dirty="0"/>
              <a:t> параллельно над большим количеством элементов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3989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приложение должно выбрать устройство, на котором будут выполняться вычисления.</a:t>
            </a:r>
          </a:p>
          <a:p>
            <a:endParaRPr lang="ru-RU" dirty="0"/>
          </a:p>
          <a:p>
            <a:r>
              <a:rPr lang="ru-RU" dirty="0"/>
              <a:t>Функция получает список </a:t>
            </a:r>
            <a:r>
              <a:rPr lang="ru-RU" dirty="0" err="1"/>
              <a:t>OpenCL</a:t>
            </a:r>
            <a:r>
              <a:rPr lang="ru-RU" dirty="0"/>
              <a:t>-платформ, после чего перебирает устройства внутри каждой платформы и ищет GPU.</a:t>
            </a:r>
          </a:p>
          <a:p>
            <a:r>
              <a:rPr lang="ru-RU" dirty="0"/>
              <a:t>Как только находится первое доступное GPU-устройство, функция возвращает его.</a:t>
            </a:r>
          </a:p>
          <a:p>
            <a:endParaRPr lang="ru-RU" dirty="0"/>
          </a:p>
          <a:p>
            <a:r>
              <a:rPr lang="ru-RU" dirty="0"/>
              <a:t>Если в системе отсутствуют </a:t>
            </a:r>
            <a:r>
              <a:rPr lang="ru-RU" dirty="0" err="1"/>
              <a:t>OpenCL</a:t>
            </a:r>
            <a:r>
              <a:rPr lang="ru-RU" dirty="0"/>
              <a:t>-платформы или GPU-устройства, генерируется исключение.</a:t>
            </a:r>
          </a:p>
          <a:p>
            <a:endParaRPr lang="ru-RU" dirty="0"/>
          </a:p>
          <a:p>
            <a:r>
              <a:rPr lang="ru-RU" dirty="0"/>
              <a:t>В реальных приложениях выбор устройства обычно сложнее. Например, можно учитывать:</a:t>
            </a:r>
          </a:p>
          <a:p>
            <a:r>
              <a:rPr lang="ru-RU" dirty="0"/>
              <a:t>объём памяти, </a:t>
            </a:r>
          </a:p>
          <a:p>
            <a:r>
              <a:rPr lang="ru-RU" dirty="0"/>
              <a:t>производительность, </a:t>
            </a:r>
          </a:p>
          <a:p>
            <a:r>
              <a:rPr lang="ru-RU" dirty="0"/>
              <a:t>поддержку нужной версии </a:t>
            </a:r>
            <a:r>
              <a:rPr lang="ru-RU" dirty="0" err="1"/>
              <a:t>OpenCL</a:t>
            </a:r>
            <a:r>
              <a:rPr lang="ru-RU" dirty="0"/>
              <a:t>, </a:t>
            </a:r>
          </a:p>
          <a:p>
            <a:r>
              <a:rPr lang="ru-RU" dirty="0"/>
              <a:t>или возможность работы с несколькими GPU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5012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выбора устройства создаётся </a:t>
            </a:r>
            <a:r>
              <a:rPr lang="ru-RU" dirty="0" err="1"/>
              <a:t>context</a:t>
            </a:r>
            <a:r>
              <a:rPr lang="ru-RU" dirty="0"/>
              <a:t> — среда выполнения </a:t>
            </a:r>
            <a:r>
              <a:rPr lang="ru-RU" dirty="0" err="1"/>
              <a:t>OpenCL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Контекст связывает устройство, память, программы и очереди команд.</a:t>
            </a:r>
          </a:p>
          <a:p>
            <a:r>
              <a:rPr lang="ru-RU" dirty="0"/>
              <a:t>Затем создаётся </a:t>
            </a:r>
            <a:r>
              <a:rPr lang="ru-RU" dirty="0" err="1"/>
              <a:t>command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команд, через которую </a:t>
            </a:r>
            <a:r>
              <a:rPr lang="ru-RU" dirty="0" err="1"/>
              <a:t>host</a:t>
            </a:r>
            <a:r>
              <a:rPr lang="ru-RU" dirty="0"/>
              <a:t> отправляет устройству операции:</a:t>
            </a:r>
          </a:p>
          <a:p>
            <a:r>
              <a:rPr lang="ru-RU" dirty="0"/>
              <a:t>копирование данных, </a:t>
            </a:r>
          </a:p>
          <a:p>
            <a:r>
              <a:rPr lang="ru-RU" dirty="0"/>
              <a:t>запуск </a:t>
            </a:r>
            <a:r>
              <a:rPr lang="ru-RU" dirty="0" err="1"/>
              <a:t>kernel</a:t>
            </a:r>
            <a:r>
              <a:rPr lang="ru-RU" dirty="0"/>
              <a:t>, </a:t>
            </a:r>
          </a:p>
          <a:p>
            <a:r>
              <a:rPr lang="ru-RU" dirty="0"/>
              <a:t>чтение результатов. </a:t>
            </a:r>
          </a:p>
          <a:p>
            <a:endParaRPr lang="ru-RU" dirty="0"/>
          </a:p>
          <a:p>
            <a:r>
              <a:rPr lang="ru-RU" dirty="0"/>
              <a:t>Также программа выводит имя выбранного устройства, чтобы можно было убедиться, на каком GPU будут выполняться вычисления.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5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подготовим данные для вычислений.</a:t>
            </a:r>
          </a:p>
          <a:p>
            <a:r>
              <a:rPr lang="ru-RU" dirty="0"/>
              <a:t>Создаются три вектора:</a:t>
            </a:r>
          </a:p>
          <a:p>
            <a:r>
              <a:rPr lang="ru-RU" dirty="0"/>
              <a:t>два входных массива, </a:t>
            </a:r>
          </a:p>
          <a:p>
            <a:r>
              <a:rPr lang="ru-RU" dirty="0"/>
              <a:t>и один массив для результата. </a:t>
            </a:r>
          </a:p>
          <a:p>
            <a:r>
              <a:rPr lang="ru-RU" dirty="0"/>
              <a:t>После этого создаются </a:t>
            </a:r>
            <a:r>
              <a:rPr lang="ru-RU" dirty="0" err="1"/>
              <a:t>OpenCL</a:t>
            </a:r>
            <a:r>
              <a:rPr lang="ru-RU" dirty="0"/>
              <a:t>-буферы в памяти устройства.</a:t>
            </a:r>
          </a:p>
          <a:p>
            <a:endParaRPr lang="ru-RU" dirty="0"/>
          </a:p>
          <a:p>
            <a:r>
              <a:rPr lang="ru-RU" dirty="0"/>
              <a:t>Для входных буферов используется флаг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CL_MEM_COPY_HOST_PTR</a:t>
            </a:r>
            <a:r>
              <a:rPr lang="ru-RU" dirty="0"/>
              <a:t>. Он говорит </a:t>
            </a:r>
            <a:r>
              <a:rPr lang="ru-RU" dirty="0" err="1"/>
              <a:t>OpenCL</a:t>
            </a:r>
            <a:r>
              <a:rPr lang="ru-RU" dirty="0"/>
              <a:t> сразу скопировать данные из памяти </a:t>
            </a:r>
            <a:r>
              <a:rPr lang="ru-RU" dirty="0" err="1"/>
              <a:t>host</a:t>
            </a:r>
            <a:r>
              <a:rPr lang="ru-RU" dirty="0"/>
              <a:t> в память устройства.</a:t>
            </a:r>
          </a:p>
          <a:p>
            <a:endParaRPr lang="ru-RU" dirty="0"/>
          </a:p>
          <a:p>
            <a:r>
              <a:rPr lang="ru-RU" dirty="0"/>
              <a:t>Также используется флаг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CL_MEM_READ_ONLY</a:t>
            </a:r>
            <a:r>
              <a:rPr lang="ru-RU" dirty="0"/>
              <a:t>, поскольку </a:t>
            </a:r>
            <a:r>
              <a:rPr lang="ru-RU" dirty="0" err="1"/>
              <a:t>kernel</a:t>
            </a:r>
            <a:r>
              <a:rPr lang="ru-RU" dirty="0"/>
              <a:t> будет только читать входные данные.</a:t>
            </a:r>
          </a:p>
          <a:p>
            <a:endParaRPr lang="ru-RU" dirty="0"/>
          </a:p>
          <a:p>
            <a:r>
              <a:rPr lang="ru-RU" dirty="0"/>
              <a:t>Для результирующего буфера используется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CL_MEM_WRITE_ONLY</a:t>
            </a:r>
            <a:r>
              <a:rPr lang="ru-RU" dirty="0"/>
              <a:t>, так как </a:t>
            </a:r>
            <a:r>
              <a:rPr lang="ru-RU" dirty="0" err="1"/>
              <a:t>kernel</a:t>
            </a:r>
            <a:r>
              <a:rPr lang="ru-RU" dirty="0"/>
              <a:t> будет записывать в него результат.</a:t>
            </a:r>
          </a:p>
          <a:p>
            <a:endParaRPr lang="ru-RU" dirty="0"/>
          </a:p>
          <a:p>
            <a:r>
              <a:rPr lang="ru-RU" dirty="0"/>
              <a:t>На этом этапе данные уже находятся в памяти устройства и готовы к обработке </a:t>
            </a:r>
            <a:r>
              <a:rPr lang="ru-RU" dirty="0" err="1"/>
              <a:t>kernel</a:t>
            </a:r>
            <a:r>
              <a:rPr lang="ru-RU" dirty="0"/>
              <a:t>-функцией.»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72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</a:t>
            </a:r>
            <a:r>
              <a:rPr lang="ru-RU" dirty="0" err="1"/>
              <a:t>OpenCL</a:t>
            </a:r>
            <a:r>
              <a:rPr lang="ru-RU" dirty="0"/>
              <a:t>-ядро для поэлементного сложения векторов.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</a:t>
            </a:r>
            <a:r>
              <a:rPr lang="ru-RU" dirty="0"/>
              <a:t> обозначает функцию, которая будет выполняться на устройстве.</a:t>
            </a:r>
          </a:p>
          <a:p>
            <a:endParaRPr lang="ru-RU" dirty="0"/>
          </a:p>
          <a:p>
            <a:r>
              <a:rPr lang="ru-RU" dirty="0"/>
              <a:t>Аргументы с модификатором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global</a:t>
            </a:r>
            <a:r>
              <a:rPr lang="ru-RU" dirty="0"/>
              <a:t> указывают, что массивы расположены 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устройства.</a:t>
            </a:r>
          </a:p>
          <a:p>
            <a:endParaRPr lang="ru-RU" dirty="0"/>
          </a:p>
          <a:p>
            <a:r>
              <a:rPr lang="ru-RU" dirty="0"/>
              <a:t>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получает свой индекс при помощи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get_global_id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(0)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индекс определяет, какой элемент массива должен обработать текущий поток.</a:t>
            </a:r>
          </a:p>
          <a:p>
            <a:endParaRPr lang="ru-RU" dirty="0"/>
          </a:p>
          <a:p>
            <a:r>
              <a:rPr lang="ru-RU" dirty="0"/>
              <a:t>Таким образом:</a:t>
            </a:r>
          </a:p>
          <a:p>
            <a:r>
              <a:rPr lang="ru-RU" dirty="0"/>
              <a:t>один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складывает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a[0]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b[0]</a:t>
            </a:r>
            <a:r>
              <a:rPr lang="ru-RU" dirty="0"/>
              <a:t>, </a:t>
            </a:r>
          </a:p>
          <a:p>
            <a:r>
              <a:rPr lang="ru-RU" dirty="0"/>
              <a:t>другой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a[1]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b[1]</a:t>
            </a:r>
            <a:r>
              <a:rPr lang="ru-RU" dirty="0"/>
              <a:t>, </a:t>
            </a:r>
          </a:p>
          <a:p>
            <a:r>
              <a:rPr lang="ru-RU" dirty="0"/>
              <a:t>и так далее. </a:t>
            </a:r>
          </a:p>
          <a:p>
            <a:endParaRPr lang="ru-RU" dirty="0"/>
          </a:p>
          <a:p>
            <a:r>
              <a:rPr lang="ru-RU" dirty="0"/>
              <a:t>Именно так </a:t>
            </a:r>
            <a:r>
              <a:rPr lang="ru-RU" dirty="0" err="1"/>
              <a:t>OpenCL</a:t>
            </a:r>
            <a:r>
              <a:rPr lang="ru-RU" dirty="0"/>
              <a:t> распараллеливает вычисления над большими массивами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976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создания </a:t>
            </a:r>
            <a:r>
              <a:rPr lang="ru-RU" dirty="0" err="1"/>
              <a:t>kernel</a:t>
            </a:r>
            <a:r>
              <a:rPr lang="ru-RU" dirty="0"/>
              <a:t>-кода </a:t>
            </a:r>
            <a:r>
              <a:rPr lang="ru-RU" dirty="0" err="1"/>
              <a:t>OpenCL</a:t>
            </a:r>
            <a:r>
              <a:rPr lang="ru-RU" dirty="0"/>
              <a:t> компилирует программу для выбранного устройства.</a:t>
            </a:r>
          </a:p>
          <a:p>
            <a:endParaRPr lang="ru-RU" dirty="0"/>
          </a:p>
          <a:p>
            <a:r>
              <a:rPr lang="ru-RU" dirty="0"/>
              <a:t>Компиляция происходит во время выполнения приложения, поэтому </a:t>
            </a:r>
            <a:r>
              <a:rPr lang="ru-RU" dirty="0" err="1"/>
              <a:t>OpenCL</a:t>
            </a:r>
            <a:r>
              <a:rPr lang="ru-RU" dirty="0"/>
              <a:t> может генерировать код под конкретный GPU или CPU.</a:t>
            </a:r>
          </a:p>
          <a:p>
            <a:endParaRPr lang="ru-RU" dirty="0"/>
          </a:p>
          <a:p>
            <a:r>
              <a:rPr lang="ru-RU" dirty="0"/>
              <a:t>После компиляции создаётся объект </a:t>
            </a:r>
            <a:r>
              <a:rPr lang="ru-RU" dirty="0" err="1"/>
              <a:t>kernel</a:t>
            </a:r>
            <a:r>
              <a:rPr lang="ru-RU" dirty="0"/>
              <a:t>, соответствующий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vector_add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</a:t>
            </a:r>
            <a:r>
              <a:rPr lang="ru-RU" dirty="0" err="1"/>
              <a:t>host</a:t>
            </a:r>
            <a:r>
              <a:rPr lang="ru-RU" dirty="0"/>
              <a:t> передаёт </a:t>
            </a:r>
            <a:r>
              <a:rPr lang="ru-RU" dirty="0" err="1"/>
              <a:t>kernel</a:t>
            </a:r>
            <a:r>
              <a:rPr lang="ru-RU" dirty="0"/>
              <a:t> аргументы:</a:t>
            </a:r>
          </a:p>
          <a:p>
            <a:r>
              <a:rPr lang="ru-RU" dirty="0"/>
              <a:t>входные буферы, </a:t>
            </a:r>
          </a:p>
          <a:p>
            <a:r>
              <a:rPr lang="ru-RU" dirty="0"/>
              <a:t>выходной буфер, </a:t>
            </a:r>
          </a:p>
          <a:p>
            <a:r>
              <a:rPr lang="ru-RU" dirty="0"/>
              <a:t>и размер массива. </a:t>
            </a:r>
          </a:p>
          <a:p>
            <a:endParaRPr lang="ru-RU" dirty="0"/>
          </a:p>
          <a:p>
            <a:r>
              <a:rPr lang="ru-RU" dirty="0"/>
              <a:t>Порядок аргументов должен совпадать с порядком параметров в </a:t>
            </a:r>
            <a:r>
              <a:rPr lang="ru-RU" dirty="0" err="1"/>
              <a:t>kernel</a:t>
            </a:r>
            <a:r>
              <a:rPr lang="ru-RU" dirty="0"/>
              <a:t>-функции.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574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можно запустить </a:t>
            </a:r>
            <a:r>
              <a:rPr lang="ru-RU" dirty="0" err="1"/>
              <a:t>kernel</a:t>
            </a:r>
            <a:r>
              <a:rPr lang="ru-RU" dirty="0"/>
              <a:t> на устройстве.</a:t>
            </a:r>
          </a:p>
          <a:p>
            <a:r>
              <a:rPr lang="ru-RU" dirty="0"/>
              <a:t>Создаётся одномерный </a:t>
            </a:r>
            <a:r>
              <a:rPr lang="ru-RU" dirty="0" err="1"/>
              <a:t>NDRange</a:t>
            </a:r>
            <a:r>
              <a:rPr lang="ru-RU" dirty="0"/>
              <a:t> размером, равным количеству элементов массива.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dirty="0" err="1"/>
              <a:t>OpenCL</a:t>
            </a:r>
            <a:r>
              <a:rPr lang="ru-RU" dirty="0"/>
              <a:t> создаст столько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items</a:t>
            </a:r>
            <a:r>
              <a:rPr lang="ru-RU" dirty="0"/>
              <a:t>, сколько элементов нужно обработать.</a:t>
            </a:r>
          </a:p>
          <a:p>
            <a:endParaRPr lang="ru-RU" dirty="0"/>
          </a:p>
          <a:p>
            <a:r>
              <a:rPr lang="ru-RU" dirty="0"/>
              <a:t>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выполнит </a:t>
            </a:r>
            <a:r>
              <a:rPr lang="ru-RU" dirty="0" err="1"/>
              <a:t>kernel</a:t>
            </a:r>
            <a:r>
              <a:rPr lang="ru-RU" dirty="0"/>
              <a:t> для своего индекса массива.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enqueueNDRangeKernel</a:t>
            </a:r>
            <a:r>
              <a:rPr lang="ru-RU" dirty="0"/>
              <a:t> помещает запуск </a:t>
            </a:r>
            <a:r>
              <a:rPr lang="ru-RU" dirty="0" err="1"/>
              <a:t>kernel</a:t>
            </a:r>
            <a:r>
              <a:rPr lang="ru-RU" dirty="0"/>
              <a:t> в </a:t>
            </a:r>
            <a:r>
              <a:rPr lang="ru-RU" dirty="0" err="1"/>
              <a:t>command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finish</a:t>
            </a:r>
            <a:r>
              <a:rPr lang="ru-RU" dirty="0"/>
              <a:t>, чтобы дождаться завершения всех операций в очереди.</a:t>
            </a:r>
          </a:p>
          <a:p>
            <a:endParaRPr lang="ru-RU" dirty="0"/>
          </a:p>
          <a:p>
            <a:r>
              <a:rPr lang="ru-RU" dirty="0"/>
              <a:t>Когда вычисления завершены, результат копируется из памяти устройства обратно в память </a:t>
            </a:r>
            <a:r>
              <a:rPr lang="ru-RU" dirty="0" err="1"/>
              <a:t>host</a:t>
            </a:r>
            <a:r>
              <a:rPr lang="ru-RU" dirty="0"/>
              <a:t> при помощи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enqueueReadBuffer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738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0013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более сложную и важную задачу — умножение матриц.</a:t>
            </a:r>
          </a:p>
          <a:p>
            <a:endParaRPr lang="ru-RU" dirty="0"/>
          </a:p>
          <a:p>
            <a:r>
              <a:rPr lang="ru-RU" dirty="0"/>
              <a:t>Каждый элемент результирующей матрицы вычисляется независимо как скалярное произведение строки матрицы A и столбца матрицы B.</a:t>
            </a:r>
          </a:p>
          <a:p>
            <a:r>
              <a:rPr lang="ru-RU" dirty="0"/>
              <a:t>Например, элемент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C[2,3]</a:t>
            </a:r>
            <a:r>
              <a:rPr lang="ru-RU" dirty="0"/>
              <a:t> вычисляется как сумма произведений соответствующих элементов строки и столбца.</a:t>
            </a:r>
          </a:p>
          <a:p>
            <a:endParaRPr lang="ru-RU" dirty="0"/>
          </a:p>
          <a:p>
            <a:r>
              <a:rPr lang="ru-RU" dirty="0"/>
              <a:t>Такая задача хорошо подходит для GPU, поскольку вычисления разных элементов результирующей матрицы не зависят друг от друга.</a:t>
            </a:r>
          </a:p>
          <a:p>
            <a:endParaRPr lang="ru-RU" dirty="0"/>
          </a:p>
          <a:p>
            <a:r>
              <a:rPr lang="ru-RU" dirty="0"/>
              <a:t>Поэтому можно создать двумерное итерационное пространство, где 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отвечает за вычисление одного элемента результирующей матрицы.</a:t>
            </a:r>
          </a:p>
          <a:p>
            <a:endParaRPr lang="ru-RU" dirty="0"/>
          </a:p>
          <a:p>
            <a:r>
              <a:rPr lang="ru-RU" dirty="0"/>
              <a:t>Фактически </a:t>
            </a:r>
            <a:r>
              <a:rPr lang="ru-RU" dirty="0" err="1"/>
              <a:t>OpenCL</a:t>
            </a:r>
            <a:r>
              <a:rPr lang="ru-RU" dirty="0"/>
              <a:t> создаёт сетку потоков, соответствующую размеру матрицы результата.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2619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</a:t>
            </a:r>
            <a:r>
              <a:rPr lang="ru-RU" dirty="0" err="1"/>
              <a:t>kernel</a:t>
            </a:r>
            <a:r>
              <a:rPr lang="ru-RU" dirty="0"/>
              <a:t> для классического умножения матриц.</a:t>
            </a:r>
          </a:p>
          <a:p>
            <a:r>
              <a:rPr lang="ru-RU" dirty="0"/>
              <a:t>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вычисляет один элемент результирующей матрицы.</a:t>
            </a:r>
          </a:p>
          <a:p>
            <a:endParaRPr lang="ru-RU" dirty="0"/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get_global_id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(0)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get_global_id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(1)</a:t>
            </a:r>
            <a:r>
              <a:rPr lang="ru-RU" dirty="0"/>
              <a:t> определяют:</a:t>
            </a:r>
          </a:p>
          <a:p>
            <a:r>
              <a:rPr lang="ru-RU" dirty="0"/>
              <a:t>номер строки, </a:t>
            </a:r>
          </a:p>
          <a:p>
            <a:r>
              <a:rPr lang="ru-RU" dirty="0"/>
              <a:t>и номер столбца,</a:t>
            </a:r>
            <a:br>
              <a:rPr lang="ru-RU" dirty="0"/>
            </a:br>
            <a:r>
              <a:rPr lang="ru-RU" dirty="0"/>
              <a:t>которые должен обработать текущий поток. 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dirty="0" err="1"/>
              <a:t>kernel</a:t>
            </a:r>
            <a:r>
              <a:rPr lang="ru-RU" dirty="0"/>
              <a:t> последовательно проходит по строке матрицы A и столбцу матрицы B, перемножает соответствующие элементы и накапливает сумму.</a:t>
            </a:r>
          </a:p>
          <a:p>
            <a:endParaRPr lang="ru-RU" dirty="0"/>
          </a:p>
          <a:p>
            <a:r>
              <a:rPr lang="ru-RU" dirty="0"/>
              <a:t>Полученное значение записывается в соответствующий элемент результирующей матрицы.</a:t>
            </a:r>
          </a:p>
          <a:p>
            <a:endParaRPr lang="ru-RU" dirty="0"/>
          </a:p>
          <a:p>
            <a:r>
              <a:rPr lang="ru-RU" dirty="0"/>
              <a:t>Обратите внимание, что каждый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независимо вычисляет свой элемент результата, поэтому задача хорошо распараллеливается на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0829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запуск </a:t>
            </a:r>
            <a:r>
              <a:rPr lang="ru-RU" dirty="0" err="1"/>
              <a:t>kernel</a:t>
            </a:r>
            <a:r>
              <a:rPr lang="ru-RU" dirty="0"/>
              <a:t> для умножения матриц размером 1024×1024.</a:t>
            </a:r>
          </a:p>
          <a:p>
            <a:r>
              <a:rPr lang="ru-RU" dirty="0"/>
              <a:t>Сначала создаются буферы для входных матриц и результирующей матрицы.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dirty="0" err="1"/>
              <a:t>host</a:t>
            </a:r>
            <a:r>
              <a:rPr lang="ru-RU" dirty="0"/>
              <a:t> передаёт </a:t>
            </a:r>
            <a:r>
              <a:rPr lang="ru-RU" dirty="0" err="1"/>
              <a:t>kernel</a:t>
            </a:r>
            <a:r>
              <a:rPr lang="ru-RU" dirty="0"/>
              <a:t> параметры:</a:t>
            </a:r>
          </a:p>
          <a:p>
            <a:r>
              <a:rPr lang="ru-RU" dirty="0"/>
              <a:t>размеры матриц, </a:t>
            </a:r>
          </a:p>
          <a:p>
            <a:r>
              <a:rPr lang="ru-RU" dirty="0"/>
              <a:t>и буферы с данными. </a:t>
            </a:r>
          </a:p>
          <a:p>
            <a:endParaRPr lang="ru-RU" dirty="0"/>
          </a:p>
          <a:p>
            <a:r>
              <a:rPr lang="ru-RU" dirty="0"/>
              <a:t>Далее создаётся двумерный </a:t>
            </a:r>
            <a:r>
              <a:rPr lang="ru-RU" dirty="0" err="1"/>
              <a:t>NDRange</a:t>
            </a:r>
            <a:r>
              <a:rPr lang="ru-RU" dirty="0"/>
              <a:t>. Его размер совпадает с размером результирующей матрицы.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dirty="0" err="1"/>
              <a:t>OpenCL</a:t>
            </a:r>
            <a:r>
              <a:rPr lang="ru-RU" dirty="0"/>
              <a:t> создаст отдельный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item</a:t>
            </a:r>
            <a:r>
              <a:rPr lang="ru-RU" dirty="0"/>
              <a:t> для вычисления каждого элемента результата.</a:t>
            </a:r>
          </a:p>
          <a:p>
            <a:endParaRPr lang="ru-RU" dirty="0"/>
          </a:p>
          <a:p>
            <a:r>
              <a:rPr lang="ru-RU" dirty="0"/>
              <a:t>После запуска </a:t>
            </a:r>
            <a:r>
              <a:rPr lang="ru-RU" dirty="0" err="1"/>
              <a:t>kernel</a:t>
            </a:r>
            <a:r>
              <a:rPr lang="ru-RU" dirty="0"/>
              <a:t> программа ожидает завершения вычислений и копирует результат обратно в память </a:t>
            </a:r>
            <a:r>
              <a:rPr lang="ru-RU" dirty="0" err="1"/>
              <a:t>host</a:t>
            </a:r>
            <a:r>
              <a:rPr lang="ru-RU" dirty="0"/>
              <a:t>.</a:t>
            </a:r>
          </a:p>
          <a:p>
            <a:r>
              <a:rPr lang="ru-RU" dirty="0"/>
              <a:t>Внизу показано измеренное время выполнения.</a:t>
            </a:r>
          </a:p>
          <a:p>
            <a:endParaRPr lang="ru-RU" dirty="0"/>
          </a:p>
          <a:p>
            <a:r>
              <a:rPr lang="ru-RU" dirty="0"/>
              <a:t>GPU выполнил умножение примерно за 25 миллисекунд, тогда как CPU потребовалось около 2.5 секунд.</a:t>
            </a:r>
          </a:p>
          <a:p>
            <a:endParaRPr lang="ru-RU" dirty="0"/>
          </a:p>
          <a:p>
            <a:r>
              <a:rPr lang="ru-RU" dirty="0"/>
              <a:t>Даже для классического алгоритма без оптимизаций GPU обеспечивает ускорение почти в 100 раз благодаря массовому параллелизму.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696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становится понятно, почему классическое умножение матриц работает не очень эффективно на GPU.</a:t>
            </a:r>
          </a:p>
          <a:p>
            <a:endParaRPr lang="ru-RU" dirty="0"/>
          </a:p>
          <a:p>
            <a:r>
              <a:rPr lang="ru-RU" dirty="0"/>
              <a:t>Для вычисления каждого элемента результата поток многократно обращается к глобальной памяти.</a:t>
            </a:r>
          </a:p>
          <a:p>
            <a:endParaRPr lang="ru-RU" dirty="0"/>
          </a:p>
          <a:p>
            <a:r>
              <a:rPr lang="ru-RU" dirty="0"/>
              <a:t>При этом соседние потоки часто читают одни и те же данные повторно.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несколько потоков используют одинаковые элементы строки матрицы A,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одинаковые элементы столбца матрицы B.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Из-за этого возникает огромное количество обращений к глобальной памяти, которая имеет высокую задержку доступа.</a:t>
            </a:r>
          </a:p>
          <a:p>
            <a:endParaRPr lang="ru-RU" dirty="0"/>
          </a:p>
          <a:p>
            <a:r>
              <a:rPr lang="ru-RU" dirty="0"/>
              <a:t>GPU тратит много времени не на вычисления, а на ожидание данных.</a:t>
            </a:r>
          </a:p>
          <a:p>
            <a:endParaRPr lang="ru-RU" dirty="0"/>
          </a:p>
          <a:p>
            <a:r>
              <a:rPr lang="ru-RU" dirty="0"/>
              <a:t>Поэтому следующая задача — уменьшить количество обращений к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Для этого используются: </a:t>
            </a:r>
            <a:r>
              <a:rPr lang="ru-RU" dirty="0" err="1"/>
              <a:t>work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, </a:t>
            </a:r>
            <a:r>
              <a:rPr lang="ru-RU" dirty="0" err="1"/>
              <a:t>local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, и </a:t>
            </a:r>
            <a:r>
              <a:rPr lang="ru-RU" dirty="0" err="1"/>
              <a:t>tiled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 </a:t>
            </a:r>
            <a:r>
              <a:rPr lang="ru-RU" dirty="0" err="1"/>
              <a:t>multiplication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8116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классическое</a:t>
            </a:r>
            <a:r>
              <a:rPr lang="en-US" dirty="0"/>
              <a:t> </a:t>
            </a:r>
            <a:r>
              <a:rPr lang="en-US" dirty="0" err="1"/>
              <a:t>умножение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результирующей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скалярное</a:t>
            </a:r>
            <a:r>
              <a:rPr lang="en-US" dirty="0"/>
              <a:t> </a:t>
            </a:r>
            <a:r>
              <a:rPr lang="en-US" dirty="0" err="1"/>
              <a:t>произведение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A и </a:t>
            </a:r>
            <a:r>
              <a:rPr lang="en-US" dirty="0" err="1"/>
              <a:t>столбца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B.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130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строка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A и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столбец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B,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140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строка</a:t>
            </a:r>
            <a:r>
              <a:rPr lang="en-US" dirty="0"/>
              <a:t> A,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столбец</a:t>
            </a:r>
            <a:r>
              <a:rPr lang="en-US" dirty="0"/>
              <a:t> B.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одни</a:t>
            </a:r>
            <a:r>
              <a:rPr lang="en-US" dirty="0"/>
              <a:t> и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участвуют</a:t>
            </a:r>
            <a:r>
              <a:rPr lang="en-US" dirty="0"/>
              <a:t> в </a:t>
            </a:r>
            <a:r>
              <a:rPr lang="en-US" dirty="0" err="1"/>
              <a:t>вычислениях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строки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1 2 3 4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столбцов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читаются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разными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классическом</a:t>
            </a:r>
            <a:r>
              <a:rPr lang="en-US" dirty="0"/>
              <a:t> </a:t>
            </a:r>
            <a:r>
              <a:rPr lang="en-US" dirty="0" err="1"/>
              <a:t>алгоритме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и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загружаются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global memory.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снижает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GPU.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в local memory,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переиспользовать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основан</a:t>
            </a:r>
            <a:r>
              <a:rPr lang="en-US" dirty="0"/>
              <a:t> tiled matrix multiplication,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7785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tiled matrix multiplication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global memory.</a:t>
            </a:r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считывал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небольшие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— </a:t>
            </a:r>
            <a:r>
              <a:rPr lang="en-US" dirty="0" err="1"/>
              <a:t>тайлы</a:t>
            </a:r>
            <a:r>
              <a:rPr lang="en-US" dirty="0"/>
              <a:t> — в local memory.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загруженные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local memory,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global memory.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накапливает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частичный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в private memory,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 </a:t>
            </a:r>
            <a:r>
              <a:rPr lang="en-US" dirty="0" err="1"/>
              <a:t>обработаны</a:t>
            </a:r>
            <a:r>
              <a:rPr lang="en-US" dirty="0"/>
              <a:t>, </a:t>
            </a:r>
            <a:r>
              <a:rPr lang="en-US" dirty="0" err="1"/>
              <a:t>итоговые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записываются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global memory.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снижает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GPU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8830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99F45-8736-9202-EFBB-288223FD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025A1D-798B-2D5F-F24B-9600B0AC6D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23F474-1764-D14F-8A56-C3BFBF15B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тайл</a:t>
            </a:r>
            <a:r>
              <a:rPr lang="en-US" dirty="0"/>
              <a:t> </a:t>
            </a:r>
            <a:r>
              <a:rPr lang="en-US" dirty="0" err="1"/>
              <a:t>результирующей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завершено</a:t>
            </a:r>
            <a:r>
              <a:rPr lang="en-US" dirty="0"/>
              <a:t>, </a:t>
            </a:r>
            <a:r>
              <a:rPr lang="en-US" dirty="0" err="1"/>
              <a:t>промежуточный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в private memory </a:t>
            </a:r>
            <a:r>
              <a:rPr lang="en-US" dirty="0" err="1"/>
              <a:t>потока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записываются</a:t>
            </a:r>
            <a:r>
              <a:rPr lang="en-US" dirty="0"/>
              <a:t> в global memory.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избежать</a:t>
            </a:r>
            <a:r>
              <a:rPr lang="en-US" dirty="0"/>
              <a:t> </a:t>
            </a:r>
            <a:r>
              <a:rPr lang="en-US" dirty="0" err="1"/>
              <a:t>лишних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накопление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09852-1BAA-955D-CD4B-A9424C76E1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47083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5136A-448C-1576-274A-65E803150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FB7508-0CAB-315E-6CFA-33BFE3A99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850AED-036B-AC7F-500E-6BD00759B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небольшие</a:t>
            </a:r>
            <a:r>
              <a:rPr lang="en-US" dirty="0"/>
              <a:t> </a:t>
            </a:r>
            <a:r>
              <a:rPr lang="en-US" dirty="0" err="1"/>
              <a:t>фрагменты</a:t>
            </a:r>
            <a:r>
              <a:rPr lang="en-US" dirty="0"/>
              <a:t> </a:t>
            </a:r>
            <a:r>
              <a:rPr lang="en-US" dirty="0" err="1"/>
              <a:t>обеих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в local memory.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копирует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global memory в shared local memory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получают</a:t>
            </a:r>
            <a:r>
              <a:rPr lang="en-US" dirty="0"/>
              <a:t> </a:t>
            </a:r>
            <a:r>
              <a:rPr lang="en-US" dirty="0" err="1"/>
              <a:t>быстрый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данным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начинают</a:t>
            </a:r>
            <a:r>
              <a:rPr lang="en-US" dirty="0"/>
              <a:t> </a:t>
            </a:r>
            <a:r>
              <a:rPr lang="en-US" dirty="0" err="1"/>
              <a:t>перемножать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и </a:t>
            </a:r>
            <a:r>
              <a:rPr lang="en-US" dirty="0" err="1"/>
              <a:t>накапливать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в private memory.</a:t>
            </a:r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переиспользуются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считываются</a:t>
            </a:r>
            <a:r>
              <a:rPr lang="en-US" dirty="0"/>
              <a:t>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global memory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39764-1BB4-24E1-0D29-81FF26E65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7224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0B41B-C036-014B-5F0B-E6081EC61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CEB3D0-47C0-0314-8626-F85E12E98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7B55-2181-A97E-CA24-81DB0484C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первого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к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блокам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:</a:t>
            </a:r>
          </a:p>
          <a:p>
            <a:r>
              <a:rPr lang="en-US" dirty="0" err="1"/>
              <a:t>загружаются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, </a:t>
            </a:r>
          </a:p>
          <a:p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перемножение</a:t>
            </a:r>
            <a:r>
              <a:rPr lang="en-US" dirty="0"/>
              <a:t>, </a:t>
            </a:r>
          </a:p>
          <a:p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накапливается</a:t>
            </a:r>
            <a:r>
              <a:rPr lang="en-US" dirty="0"/>
              <a:t> в private memory </a:t>
            </a:r>
            <a:r>
              <a:rPr lang="en-US" dirty="0" err="1"/>
              <a:t>потоков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собирается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частичных</a:t>
            </a:r>
            <a:r>
              <a:rPr lang="en-US" dirty="0"/>
              <a:t> </a:t>
            </a:r>
            <a:r>
              <a:rPr lang="en-US" dirty="0" err="1"/>
              <a:t>произведений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tiled algorithm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 —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переиспользуются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BBC41-5070-1F96-9C17-99DE3777E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154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FC0E4-DAB4-0B6E-2DC2-3E7AF916B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7256B-E9D2-4353-79AC-D453E5C00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83F0B-4C68-BD3B-2AE2-D22C02D0F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обработаны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,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окончательное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своего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результирующей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global memory.</a:t>
            </a:r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в global memory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и </a:t>
            </a:r>
            <a:r>
              <a:rPr lang="en-US" dirty="0" err="1"/>
              <a:t>записывать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в </a:t>
            </a:r>
            <a:r>
              <a:rPr lang="en-US" dirty="0" err="1"/>
              <a:t>процессе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tiled matrix multiplication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настолько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EC6FD-3DAF-8A34-B9B9-FFD9ADD7C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5328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676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заготовка</a:t>
            </a:r>
            <a:r>
              <a:rPr lang="en-US" dirty="0"/>
              <a:t> kernel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тайлового</a:t>
            </a:r>
            <a:r>
              <a:rPr lang="en-US" dirty="0"/>
              <a:t> </a:t>
            </a:r>
            <a:r>
              <a:rPr lang="en-US" dirty="0" err="1"/>
              <a:t>умножения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 —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16 </a:t>
            </a:r>
            <a:r>
              <a:rPr lang="en-US" dirty="0" err="1"/>
              <a:t>на</a:t>
            </a:r>
            <a:r>
              <a:rPr lang="en-US" dirty="0"/>
              <a:t> 16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в local memory: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m1sub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m2sub</a:t>
            </a:r>
            <a:r>
              <a:rPr lang="en-US" dirty="0"/>
              <a:t>. В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загружать</a:t>
            </a:r>
            <a:r>
              <a:rPr lang="en-US" dirty="0"/>
              <a:t> </a:t>
            </a:r>
            <a:r>
              <a:rPr lang="en-US" dirty="0" err="1"/>
              <a:t>фрагменты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и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work item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двумя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get_global_id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результирующей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get_local_id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потока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numTiles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пар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накапливает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в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private memory </a:t>
            </a:r>
            <a:r>
              <a:rPr lang="en-US" dirty="0" err="1"/>
              <a:t>текущего</a:t>
            </a:r>
            <a:r>
              <a:rPr lang="en-US" dirty="0"/>
              <a:t> work item.</a:t>
            </a:r>
          </a:p>
          <a:p>
            <a:r>
              <a:rPr lang="en-US" dirty="0"/>
              <a:t>В </a:t>
            </a:r>
            <a:r>
              <a:rPr lang="en-US" dirty="0" err="1"/>
              <a:t>цикле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тайлам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: </a:t>
            </a:r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local memory, </a:t>
            </a:r>
            <a:r>
              <a:rPr lang="en-US" dirty="0" err="1"/>
              <a:t>перемножение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и </a:t>
            </a:r>
            <a:r>
              <a:rPr lang="en-US" dirty="0" err="1"/>
              <a:t>накопление</a:t>
            </a:r>
            <a:r>
              <a:rPr lang="en-US" dirty="0"/>
              <a:t> </a:t>
            </a:r>
            <a:r>
              <a:rPr lang="en-US" dirty="0" err="1"/>
              <a:t>частичного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итоговое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результирующую</a:t>
            </a:r>
            <a:r>
              <a:rPr lang="en-US" dirty="0"/>
              <a:t> </a:t>
            </a:r>
            <a:r>
              <a:rPr lang="en-US" dirty="0" err="1"/>
              <a:t>матрицу</a:t>
            </a:r>
            <a:r>
              <a:rPr lang="en-US" dirty="0"/>
              <a:t>.</a:t>
            </a:r>
          </a:p>
          <a:p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row &lt; rows1 &amp;&amp; col &lt; columns2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кратен</a:t>
            </a:r>
            <a:r>
              <a:rPr lang="en-US" dirty="0"/>
              <a:t>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71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основную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tiled matrix multiplication.</a:t>
            </a:r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итерация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обрабатывает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пару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в local memory.</a:t>
            </a:r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копирует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.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заполняет</a:t>
            </a:r>
            <a:r>
              <a:rPr lang="en-US" dirty="0"/>
              <a:t> local memory.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выходит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границы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размере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кратном</a:t>
            </a:r>
            <a:r>
              <a:rPr lang="en-US" dirty="0"/>
              <a:t>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,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en-US" dirty="0"/>
              <a:t>.</a:t>
            </a:r>
          </a:p>
          <a:p>
            <a:r>
              <a:rPr lang="en-US" dirty="0"/>
              <a:t>Barrier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критически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Дело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warp.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состоять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256 </a:t>
            </a:r>
            <a:r>
              <a:rPr lang="en-US" dirty="0" err="1"/>
              <a:t>потоков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GPU </a:t>
            </a:r>
            <a:r>
              <a:rPr lang="en-US" dirty="0" err="1"/>
              <a:t>разобьёт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8 warp-</a:t>
            </a:r>
            <a:r>
              <a:rPr lang="en-US" dirty="0" err="1"/>
              <a:t>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32 </a:t>
            </a:r>
            <a:r>
              <a:rPr lang="en-US" dirty="0" err="1"/>
              <a:t>потока</a:t>
            </a:r>
            <a:r>
              <a:rPr lang="en-US" dirty="0"/>
              <a:t>.</a:t>
            </a:r>
          </a:p>
          <a:p>
            <a:r>
              <a:rPr lang="en-US" dirty="0"/>
              <a:t>Warp-ы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друга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warp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закончить</a:t>
            </a:r>
            <a:r>
              <a:rPr lang="en-US" dirty="0"/>
              <a:t> </a:t>
            </a:r>
            <a:r>
              <a:rPr lang="en-US" dirty="0" err="1"/>
              <a:t>загрузку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Без</a:t>
            </a:r>
            <a:r>
              <a:rPr lang="en-US" dirty="0"/>
              <a:t> barrier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warp-а </a:t>
            </a:r>
            <a:r>
              <a:rPr lang="en-US" dirty="0" err="1"/>
              <a:t>могли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перейти</a:t>
            </a:r>
            <a:r>
              <a:rPr lang="en-US" dirty="0"/>
              <a:t> к </a:t>
            </a:r>
            <a:r>
              <a:rPr lang="en-US" dirty="0" err="1"/>
              <a:t>следующему</a:t>
            </a:r>
            <a:r>
              <a:rPr lang="en-US" dirty="0"/>
              <a:t> </a:t>
            </a:r>
            <a:r>
              <a:rPr lang="en-US" dirty="0" err="1"/>
              <a:t>этапу</a:t>
            </a:r>
            <a:r>
              <a:rPr lang="en-US" dirty="0"/>
              <a:t> и </a:t>
            </a:r>
            <a:r>
              <a:rPr lang="en-US" dirty="0" err="1"/>
              <a:t>начать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local memory,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warp-ы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продолжают</a:t>
            </a:r>
            <a:r>
              <a:rPr lang="en-US" dirty="0"/>
              <a:t> </a:t>
            </a:r>
            <a:r>
              <a:rPr lang="en-US" dirty="0" err="1"/>
              <a:t>загружать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local memory </a:t>
            </a:r>
            <a:r>
              <a:rPr lang="en-US" dirty="0" err="1"/>
              <a:t>содержала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старые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неинициализированные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Хорошая</a:t>
            </a:r>
            <a:r>
              <a:rPr lang="en-US" dirty="0"/>
              <a:t> </a:t>
            </a:r>
            <a:r>
              <a:rPr lang="en-US" dirty="0" err="1"/>
              <a:t>аналогия</a:t>
            </a:r>
            <a:r>
              <a:rPr lang="en-US" dirty="0"/>
              <a:t> —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бригада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256 </a:t>
            </a:r>
            <a:r>
              <a:rPr lang="en-US" dirty="0" err="1"/>
              <a:t>рабочих</a:t>
            </a:r>
            <a:r>
              <a:rPr lang="en-US" dirty="0"/>
              <a:t>, </a:t>
            </a:r>
            <a:r>
              <a:rPr lang="en-US" dirty="0" err="1"/>
              <a:t>приехавших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8 </a:t>
            </a:r>
            <a:r>
              <a:rPr lang="en-US" dirty="0" err="1"/>
              <a:t>автобусах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32 </a:t>
            </a:r>
            <a:r>
              <a:rPr lang="en-US" dirty="0" err="1"/>
              <a:t>человека</a:t>
            </a:r>
            <a:r>
              <a:rPr lang="en-US" dirty="0"/>
              <a:t>.</a:t>
            </a:r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рабочие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автобуса</a:t>
            </a:r>
            <a:r>
              <a:rPr lang="en-US" dirty="0"/>
              <a:t> </a:t>
            </a:r>
            <a:r>
              <a:rPr lang="en-US" dirty="0" err="1"/>
              <a:t>закончили</a:t>
            </a:r>
            <a:r>
              <a:rPr lang="en-US" dirty="0"/>
              <a:t> </a:t>
            </a:r>
            <a:r>
              <a:rPr lang="en-US" dirty="0" err="1"/>
              <a:t>свою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остальных</a:t>
            </a:r>
            <a:r>
              <a:rPr lang="en-US" dirty="0"/>
              <a:t>,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дождаться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завершена</a:t>
            </a:r>
            <a:r>
              <a:rPr lang="en-US" dirty="0"/>
              <a:t> </a:t>
            </a:r>
            <a:r>
              <a:rPr lang="ru-RU" dirty="0"/>
              <a:t>рабочими из всех</a:t>
            </a:r>
            <a:r>
              <a:rPr lang="en-US" dirty="0"/>
              <a:t> </a:t>
            </a:r>
            <a:r>
              <a:rPr lang="en-US" dirty="0" err="1"/>
              <a:t>автобус</a:t>
            </a:r>
            <a:r>
              <a:rPr lang="ru-RU" dirty="0" err="1"/>
              <a:t>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и </a:t>
            </a:r>
            <a:r>
              <a:rPr lang="en-US" dirty="0" err="1"/>
              <a:t>делает</a:t>
            </a:r>
            <a:r>
              <a:rPr lang="en-US" dirty="0"/>
              <a:t> barrier —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синхронизирует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barrier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начинают</a:t>
            </a:r>
            <a:r>
              <a:rPr lang="en-US" dirty="0"/>
              <a:t> </a:t>
            </a:r>
            <a:r>
              <a:rPr lang="en-US" dirty="0" err="1"/>
              <a:t>перемножение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.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берёт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первого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 и </a:t>
            </a:r>
            <a:r>
              <a:rPr lang="en-US" dirty="0" err="1"/>
              <a:t>столбец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второго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,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накапливая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в private memory.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нуж</a:t>
            </a:r>
            <a:r>
              <a:rPr lang="ru-RU" dirty="0" err="1"/>
              <a:t>ен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 local memory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перезаписываться</a:t>
            </a:r>
            <a:r>
              <a:rPr lang="en-US" dirty="0"/>
              <a:t> </a:t>
            </a:r>
            <a:r>
              <a:rPr lang="en-US" dirty="0" err="1"/>
              <a:t>следующими</a:t>
            </a:r>
            <a:r>
              <a:rPr lang="en-US" dirty="0"/>
              <a:t> </a:t>
            </a:r>
            <a:r>
              <a:rPr lang="en-US" dirty="0" err="1"/>
              <a:t>тайлами</a:t>
            </a:r>
            <a:r>
              <a:rPr lang="en-US" dirty="0"/>
              <a:t>.</a:t>
            </a:r>
          </a:p>
          <a:p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гарантировать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закончили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текущие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кто-то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загружать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в global memory.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global memory </a:t>
            </a:r>
            <a:r>
              <a:rPr lang="en-US" dirty="0" err="1"/>
              <a:t>загружаются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реже</a:t>
            </a:r>
            <a:r>
              <a:rPr lang="en-US" dirty="0"/>
              <a:t> и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переиспользуются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7704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доходит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barrier,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останавливается</a:t>
            </a:r>
            <a:r>
              <a:rPr lang="en-US" dirty="0"/>
              <a:t> и </a:t>
            </a:r>
            <a:r>
              <a:rPr lang="en-US" dirty="0" err="1"/>
              <a:t>ждёт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Work Group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достигнут</a:t>
            </a:r>
            <a:r>
              <a:rPr lang="en-US" dirty="0"/>
              <a:t> barrier.</a:t>
            </a:r>
            <a:endParaRPr lang="ru-RU" dirty="0"/>
          </a:p>
          <a:p>
            <a:endParaRPr lang="en-US" dirty="0"/>
          </a:p>
          <a:p>
            <a:r>
              <a:rPr lang="en-US" dirty="0"/>
              <a:t>Barrier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совместном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OpenCL barrier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флаги</a:t>
            </a:r>
            <a:r>
              <a:rPr lang="en-US" dirty="0"/>
              <a:t>.</a:t>
            </a:r>
          </a:p>
          <a:p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CLK_LOCAL_MEM_FENCE</a:t>
            </a:r>
            <a:r>
              <a:rPr lang="en-US" dirty="0"/>
              <a:t> </a:t>
            </a:r>
            <a:r>
              <a:rPr lang="en-US" dirty="0" err="1"/>
              <a:t>гарантирует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в local memory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завершены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продолжения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tiled algorithms,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local memory.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CLK_GLOBAL_MEM_FENCE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аналогичную</a:t>
            </a:r>
            <a:r>
              <a:rPr lang="en-US" dirty="0"/>
              <a:t> </a:t>
            </a:r>
            <a:r>
              <a:rPr lang="en-US" dirty="0" err="1"/>
              <a:t>гарантию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global memory.</a:t>
            </a:r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Barrier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256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разбита</a:t>
            </a:r>
            <a:r>
              <a:rPr lang="en-US" dirty="0"/>
              <a:t> GPU </a:t>
            </a:r>
            <a:r>
              <a:rPr lang="en-US" dirty="0" err="1"/>
              <a:t>на</a:t>
            </a:r>
            <a:r>
              <a:rPr lang="en-US" dirty="0"/>
              <a:t> 8 warp-</a:t>
            </a:r>
            <a:r>
              <a:rPr lang="en-US" dirty="0" err="1"/>
              <a:t>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32 </a:t>
            </a:r>
            <a:r>
              <a:rPr lang="en-US" dirty="0" err="1"/>
              <a:t>потока</a:t>
            </a:r>
            <a:r>
              <a:rPr lang="en-US" dirty="0"/>
              <a:t>.</a:t>
            </a:r>
          </a:p>
          <a:p>
            <a:r>
              <a:rPr lang="en-US" dirty="0" err="1"/>
              <a:t>Один</a:t>
            </a:r>
            <a:r>
              <a:rPr lang="en-US" dirty="0"/>
              <a:t> warp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закончить</a:t>
            </a:r>
            <a:r>
              <a:rPr lang="en-US" dirty="0"/>
              <a:t> </a:t>
            </a:r>
            <a:r>
              <a:rPr lang="en-US" dirty="0" err="1"/>
              <a:t>загрузку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и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перейти</a:t>
            </a:r>
            <a:r>
              <a:rPr lang="en-US" dirty="0"/>
              <a:t> к </a:t>
            </a:r>
            <a:r>
              <a:rPr lang="en-US" dirty="0" err="1"/>
              <a:t>вычислениям</a:t>
            </a:r>
            <a:r>
              <a:rPr lang="en-US" dirty="0"/>
              <a:t>.</a:t>
            </a:r>
          </a:p>
          <a:p>
            <a:r>
              <a:rPr lang="en-US" dirty="0" err="1"/>
              <a:t>Без</a:t>
            </a:r>
            <a:r>
              <a:rPr lang="en-US" dirty="0"/>
              <a:t> barrier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привело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к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local memory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Barrier </a:t>
            </a:r>
            <a:r>
              <a:rPr lang="en-US" dirty="0" err="1"/>
              <a:t>гарантирует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завершит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переходом</a:t>
            </a:r>
            <a:r>
              <a:rPr lang="en-US" dirty="0"/>
              <a:t> к </a:t>
            </a:r>
            <a:r>
              <a:rPr lang="en-US" dirty="0" err="1"/>
              <a:t>следующему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помнить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barrier </a:t>
            </a:r>
            <a:r>
              <a:rPr lang="en-US" dirty="0" err="1"/>
              <a:t>синхронизирует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Work Group. </a:t>
            </a:r>
            <a:r>
              <a:rPr lang="en-US" dirty="0" err="1"/>
              <a:t>Разные</a:t>
            </a:r>
            <a:r>
              <a:rPr lang="en-US" dirty="0"/>
              <a:t> Work Groups в OpenCL </a:t>
            </a:r>
            <a:r>
              <a:rPr lang="en-US" dirty="0" err="1"/>
              <a:t>считаются</a:t>
            </a:r>
            <a:r>
              <a:rPr lang="en-US" dirty="0"/>
              <a:t> </a:t>
            </a:r>
            <a:r>
              <a:rPr lang="en-US" dirty="0" err="1"/>
              <a:t>независимыми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синхронизироваться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с </a:t>
            </a:r>
            <a:r>
              <a:rPr lang="en-US" dirty="0" err="1"/>
              <a:t>другом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6577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tiled matrix multiplication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задаём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globalSize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localSize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localSize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Work Group. 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16 </a:t>
            </a:r>
            <a:r>
              <a:rPr lang="en-US" dirty="0" err="1"/>
              <a:t>на</a:t>
            </a:r>
            <a:r>
              <a:rPr lang="en-US" dirty="0"/>
              <a:t> 16 </a:t>
            </a:r>
            <a:r>
              <a:rPr lang="en-US" dirty="0" err="1"/>
              <a:t>потоков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256 work items.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local memory и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обрабатывает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тайл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globalSize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work items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всём</a:t>
            </a:r>
            <a:r>
              <a:rPr lang="en-US" dirty="0"/>
              <a:t> </a:t>
            </a:r>
            <a:r>
              <a:rPr lang="en-US" dirty="0" err="1"/>
              <a:t>NDRange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глобального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округляется</a:t>
            </a:r>
            <a:r>
              <a:rPr lang="en-US" dirty="0"/>
              <a:t> </a:t>
            </a:r>
            <a:r>
              <a:rPr lang="en-US" dirty="0" err="1"/>
              <a:t>вверх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ближайшего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, </a:t>
            </a:r>
            <a:r>
              <a:rPr lang="en-US" dirty="0" err="1"/>
              <a:t>кратного</a:t>
            </a:r>
            <a:r>
              <a:rPr lang="en-US" dirty="0"/>
              <a:t>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OpenCL </a:t>
            </a:r>
            <a:r>
              <a:rPr lang="en-US" dirty="0" err="1"/>
              <a:t>разбивает</a:t>
            </a:r>
            <a:r>
              <a:rPr lang="en-US" dirty="0"/>
              <a:t> </a:t>
            </a:r>
            <a:r>
              <a:rPr lang="en-US" dirty="0" err="1"/>
              <a:t>NDRange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Work Groups </a:t>
            </a:r>
            <a:r>
              <a:rPr lang="en-US" dirty="0" err="1"/>
              <a:t>одинакового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кратен</a:t>
            </a:r>
            <a:r>
              <a:rPr lang="en-US" dirty="0"/>
              <a:t>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тайла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границах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“</a:t>
            </a:r>
            <a:r>
              <a:rPr lang="en-US" dirty="0" err="1"/>
              <a:t>лишние</a:t>
            </a:r>
            <a:r>
              <a:rPr lang="en-US" dirty="0"/>
              <a:t>” </a:t>
            </a:r>
            <a:r>
              <a:rPr lang="en-US" dirty="0" err="1"/>
              <a:t>потоки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kernel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проверки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row &lt; rows1</a:t>
            </a:r>
            <a:r>
              <a:rPr lang="en-US" dirty="0"/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 &lt; columns2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полезных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простую</a:t>
            </a:r>
            <a:r>
              <a:rPr lang="en-US" dirty="0"/>
              <a:t> и </a:t>
            </a:r>
            <a:r>
              <a:rPr lang="en-US" dirty="0" err="1"/>
              <a:t>эффективную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tiled algorithm.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задания</a:t>
            </a:r>
            <a:r>
              <a:rPr lang="en-US" dirty="0"/>
              <a:t> </a:t>
            </a:r>
            <a:r>
              <a:rPr lang="en-US" dirty="0" err="1"/>
              <a:t>globalSize</a:t>
            </a:r>
            <a:r>
              <a:rPr lang="en-US" dirty="0"/>
              <a:t> и </a:t>
            </a:r>
            <a:r>
              <a:rPr lang="en-US" dirty="0" err="1"/>
              <a:t>localSize</a:t>
            </a:r>
            <a:r>
              <a:rPr lang="en-US" dirty="0"/>
              <a:t> kernel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считывается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host.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90816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умножения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  <a:r>
              <a:rPr lang="en-US" dirty="0" err="1"/>
              <a:t>размером</a:t>
            </a:r>
            <a:r>
              <a:rPr lang="en-US" dirty="0"/>
              <a:t> 4096 </a:t>
            </a:r>
            <a:r>
              <a:rPr lang="en-US" dirty="0" err="1"/>
              <a:t>на</a:t>
            </a:r>
            <a:r>
              <a:rPr lang="en-US" dirty="0"/>
              <a:t> 4096.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.</a:t>
            </a:r>
          </a:p>
          <a:p>
            <a:r>
              <a:rPr lang="en-US" dirty="0" err="1"/>
              <a:t>Однопоточная</a:t>
            </a:r>
            <a:r>
              <a:rPr lang="en-US" dirty="0"/>
              <a:t> CPU-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выполнялась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семи</a:t>
            </a:r>
            <a:r>
              <a:rPr lang="en-US" dirty="0"/>
              <a:t> </a:t>
            </a:r>
            <a:r>
              <a:rPr lang="en-US" dirty="0" err="1"/>
              <a:t>минут</a:t>
            </a:r>
            <a:r>
              <a:rPr lang="en-US" dirty="0"/>
              <a:t>.</a:t>
            </a:r>
          </a:p>
          <a:p>
            <a:r>
              <a:rPr lang="en-US" dirty="0" err="1"/>
              <a:t>Параллельная</a:t>
            </a:r>
            <a:r>
              <a:rPr lang="en-US" dirty="0"/>
              <a:t> 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CPU с </a:t>
            </a:r>
            <a:r>
              <a:rPr lang="en-US" dirty="0" err="1"/>
              <a:t>использованием</a:t>
            </a:r>
            <a:r>
              <a:rPr lang="en-US" dirty="0"/>
              <a:t> OpenCL </a:t>
            </a:r>
            <a:r>
              <a:rPr lang="en-US" dirty="0" err="1"/>
              <a:t>ускорилась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в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раза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работала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.</a:t>
            </a:r>
          </a:p>
          <a:p>
            <a:r>
              <a:rPr lang="en-US" dirty="0"/>
              <a:t>GPU-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оказалась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— </a:t>
            </a:r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составило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186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однопоточным</a:t>
            </a:r>
            <a:r>
              <a:rPr lang="en-US" dirty="0"/>
              <a:t> CPU.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интересное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tiled matrix multiplication.</a:t>
            </a:r>
          </a:p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local memory,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совместной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переиспользования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выросла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сильнее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CPU-</a:t>
            </a:r>
            <a:r>
              <a:rPr lang="en-US" dirty="0" err="1"/>
              <a:t>версия</a:t>
            </a:r>
            <a:r>
              <a:rPr lang="en-US" dirty="0"/>
              <a:t> tiled algorithm </a:t>
            </a:r>
            <a:r>
              <a:rPr lang="en-US" dirty="0" err="1"/>
              <a:t>ускорилась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в 18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исходным</a:t>
            </a:r>
            <a:r>
              <a:rPr lang="en-US" dirty="0"/>
              <a:t> </a:t>
            </a:r>
            <a:r>
              <a:rPr lang="en-US" dirty="0" err="1"/>
              <a:t>однопоточным</a:t>
            </a:r>
            <a:r>
              <a:rPr lang="en-US" dirty="0"/>
              <a:t> </a:t>
            </a:r>
            <a:r>
              <a:rPr lang="en-US" dirty="0" err="1"/>
              <a:t>вариантом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А tiled GPU-</a:t>
            </a:r>
            <a:r>
              <a:rPr lang="en-US" dirty="0" err="1"/>
              <a:t>версия</a:t>
            </a:r>
            <a:r>
              <a:rPr lang="en-US" dirty="0"/>
              <a:t> </a:t>
            </a:r>
            <a:r>
              <a:rPr lang="en-US" dirty="0" err="1"/>
              <a:t>выполнила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полсекунды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тысячекратное</a:t>
            </a:r>
            <a:r>
              <a:rPr lang="en-US" dirty="0"/>
              <a:t> </a:t>
            </a:r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исходным</a:t>
            </a:r>
            <a:r>
              <a:rPr lang="en-US" dirty="0"/>
              <a:t> CPU-</a:t>
            </a:r>
            <a:r>
              <a:rPr lang="en-US" dirty="0" err="1"/>
              <a:t>алгоритмом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“</a:t>
            </a:r>
            <a:r>
              <a:rPr lang="en-US" dirty="0" err="1"/>
              <a:t>магией</a:t>
            </a:r>
            <a:r>
              <a:rPr lang="en-US" dirty="0"/>
              <a:t> GPU”, а </a:t>
            </a:r>
            <a:r>
              <a:rPr lang="en-US" dirty="0" err="1"/>
              <a:t>правильной</a:t>
            </a:r>
            <a:r>
              <a:rPr lang="en-US" dirty="0"/>
              <a:t> </a:t>
            </a:r>
            <a:r>
              <a:rPr lang="en-US" dirty="0" err="1"/>
              <a:t>организацией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и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переиспользование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ключевыми</a:t>
            </a:r>
            <a:r>
              <a:rPr lang="en-US" dirty="0"/>
              <a:t> </a:t>
            </a:r>
            <a:r>
              <a:rPr lang="en-US" dirty="0" err="1"/>
              <a:t>факторами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941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7834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OpenCL </a:t>
            </a:r>
            <a:r>
              <a:rPr lang="en-US" dirty="0" err="1"/>
              <a:t>поддерживает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очередей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:</a:t>
            </a:r>
          </a:p>
          <a:p>
            <a:r>
              <a:rPr lang="en-US" dirty="0"/>
              <a:t>in-order, </a:t>
            </a:r>
          </a:p>
          <a:p>
            <a:r>
              <a:rPr lang="en-US" dirty="0"/>
              <a:t>и out-of-order. </a:t>
            </a:r>
          </a:p>
          <a:p>
            <a:r>
              <a:rPr lang="en-US" dirty="0"/>
              <a:t>In-order queue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Команды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: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запуск</a:t>
            </a:r>
            <a:r>
              <a:rPr lang="en-US" dirty="0"/>
              <a:t> kernel, 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команда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предыдущая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завершится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 и </a:t>
            </a:r>
            <a:r>
              <a:rPr lang="en-US" dirty="0" err="1"/>
              <a:t>удобен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прототипирования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у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недостаток</a:t>
            </a:r>
            <a:r>
              <a:rPr lang="en-US" dirty="0"/>
              <a:t> — GPU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простаивать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буфера</a:t>
            </a:r>
            <a:r>
              <a:rPr lang="en-US" dirty="0"/>
              <a:t>,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</a:t>
            </a:r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свободна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Out-of-order queue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командами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, OpenCL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эффективной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буферов</a:t>
            </a:r>
            <a:r>
              <a:rPr lang="en-US" dirty="0"/>
              <a:t>, </a:t>
            </a:r>
          </a:p>
          <a:p>
            <a:r>
              <a:rPr lang="en-US" dirty="0" err="1"/>
              <a:t>вычисления</a:t>
            </a:r>
            <a:r>
              <a:rPr lang="en-US" dirty="0"/>
              <a:t>, </a:t>
            </a:r>
          </a:p>
          <a:p>
            <a:r>
              <a:rPr lang="en-US" dirty="0"/>
              <a:t>и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br>
              <a:rPr lang="en-US" dirty="0"/>
            </a:b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частично</a:t>
            </a:r>
            <a:r>
              <a:rPr lang="en-US" dirty="0"/>
              <a:t> </a:t>
            </a:r>
            <a:r>
              <a:rPr lang="en-US" dirty="0" err="1"/>
              <a:t>перекрываться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простои</a:t>
            </a:r>
            <a:r>
              <a:rPr lang="en-US" dirty="0"/>
              <a:t> GPU и </a:t>
            </a:r>
            <a:r>
              <a:rPr lang="en-US" dirty="0" err="1"/>
              <a:t>повысить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out-of-order queue </a:t>
            </a:r>
            <a:r>
              <a:rPr lang="en-US" dirty="0" err="1"/>
              <a:t>программист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задавать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командами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OpenCL.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OpenCL </a:t>
            </a:r>
            <a:r>
              <a:rPr lang="en-US" dirty="0" err="1"/>
              <a:t>понять</a:t>
            </a:r>
            <a:r>
              <a:rPr lang="en-US" dirty="0"/>
              <a:t>:</a:t>
            </a:r>
          </a:p>
          <a:p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, </a:t>
            </a:r>
          </a:p>
          <a:p>
            <a:r>
              <a:rPr lang="en-US" dirty="0"/>
              <a:t>а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04369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</a:t>
            </a:r>
            <a:r>
              <a:rPr lang="en-US" dirty="0" err="1"/>
              <a:t>десь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очередь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с </a:t>
            </a:r>
            <a:r>
              <a:rPr lang="en-US" dirty="0" err="1"/>
              <a:t>поддержкой</a:t>
            </a:r>
            <a:r>
              <a:rPr lang="en-US" dirty="0"/>
              <a:t> out-of-order execution.</a:t>
            </a:r>
          </a:p>
          <a:p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CL_QUEUE_OUT_OF_ORDER_EXEC_MODE_ENABLE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OpenCL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команды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, а в </a:t>
            </a:r>
            <a:r>
              <a:rPr lang="en-US" dirty="0" err="1"/>
              <a:t>произвольном</a:t>
            </a:r>
            <a:r>
              <a:rPr lang="en-US" dirty="0"/>
              <a:t> </a:t>
            </a:r>
            <a:r>
              <a:rPr lang="en-US" dirty="0" err="1"/>
              <a:t>порядке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буферов</a:t>
            </a:r>
            <a:r>
              <a:rPr lang="en-US" dirty="0"/>
              <a:t>, </a:t>
            </a:r>
          </a:p>
          <a:p>
            <a:r>
              <a:rPr lang="en-US" dirty="0" err="1"/>
              <a:t>выполнение</a:t>
            </a:r>
            <a:r>
              <a:rPr lang="en-US" dirty="0"/>
              <a:t> kernel, </a:t>
            </a:r>
          </a:p>
          <a:p>
            <a:r>
              <a:rPr lang="en-US" dirty="0"/>
              <a:t>и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br>
              <a:rPr lang="en-US" dirty="0"/>
            </a:b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частично</a:t>
            </a:r>
            <a:r>
              <a:rPr lang="en-US" dirty="0"/>
              <a:t> </a:t>
            </a:r>
            <a:r>
              <a:rPr lang="en-US" dirty="0" err="1"/>
              <a:t>перекрываться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GPU и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простои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CL_QUEUE_PROFILING_ENABLE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профилирование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OpenCL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:</a:t>
            </a:r>
          </a:p>
          <a:p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r>
              <a:rPr lang="en-US" dirty="0"/>
              <a:t>kernel, </a:t>
            </a:r>
          </a:p>
          <a:p>
            <a:r>
              <a:rPr lang="en-US" dirty="0"/>
              <a:t>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увидим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OpenCL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задавать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командами</a:t>
            </a:r>
            <a:r>
              <a:rPr lang="en-US" dirty="0"/>
              <a:t> и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этапов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8840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OpenCL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host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команду</a:t>
            </a:r>
            <a:r>
              <a:rPr lang="en-US" dirty="0"/>
              <a:t> в command queue, </a:t>
            </a:r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буфера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запуск</a:t>
            </a:r>
            <a:r>
              <a:rPr lang="en-US" dirty="0"/>
              <a:t> kernel,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,</a:t>
            </a:r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OpenCL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начать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 и </a:t>
            </a:r>
            <a:r>
              <a:rPr lang="en-US" dirty="0" err="1"/>
              <a:t>параллельно</a:t>
            </a:r>
            <a:r>
              <a:rPr lang="en-US" dirty="0"/>
              <a:t> с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отслеживания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cl::Event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командой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узнать</a:t>
            </a:r>
            <a:r>
              <a:rPr lang="en-US" dirty="0"/>
              <a:t>, </a:t>
            </a:r>
            <a:r>
              <a:rPr lang="en-US" dirty="0" err="1"/>
              <a:t>завершилась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окончания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kernel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стартовать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out-of-order queue, </a:t>
            </a:r>
            <a:r>
              <a:rPr lang="en-US" dirty="0" err="1"/>
              <a:t>где</a:t>
            </a:r>
            <a:r>
              <a:rPr lang="en-US" dirty="0"/>
              <a:t> OpenCL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команды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.</a:t>
            </a:r>
          </a:p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перекрывать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и </a:t>
            </a:r>
            <a:r>
              <a:rPr lang="en-US" dirty="0" err="1"/>
              <a:t>вычисления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уменьшать</a:t>
            </a:r>
            <a:r>
              <a:rPr lang="en-US" dirty="0"/>
              <a:t> </a:t>
            </a:r>
            <a:r>
              <a:rPr lang="en-US" dirty="0" err="1"/>
              <a:t>простои</a:t>
            </a:r>
            <a:r>
              <a:rPr lang="en-US" dirty="0"/>
              <a:t> GPU,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вычислительные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профилирования</a:t>
            </a:r>
            <a:r>
              <a:rPr lang="en-US" dirty="0"/>
              <a:t> и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OpenCL.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26519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граф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 OpenCL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умножении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host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и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соответствующее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buf1Ready</a:t>
            </a:r>
            <a:r>
              <a:rPr lang="en-US" dirty="0"/>
              <a:t> </a:t>
            </a:r>
          </a:p>
          <a:p>
            <a:r>
              <a:rPr lang="en-US" dirty="0"/>
              <a:t>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buf2Ready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/>
              <a:t>Kernel </a:t>
            </a:r>
            <a:r>
              <a:rPr lang="en-US" dirty="0" err="1"/>
              <a:t>умножения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запускать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окажутся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GPU,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kernel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multiplied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запускать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системную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,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dataReady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out-of-order queue.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жёсткой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описываем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, а OpenCL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происходить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и </a:t>
            </a:r>
            <a:r>
              <a:rPr lang="en-US" dirty="0" err="1"/>
              <a:t>драйвер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поддерживают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53365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реальном</a:t>
            </a:r>
            <a:r>
              <a:rPr lang="en-US" dirty="0"/>
              <a:t> OpenCL-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графа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создаём</a:t>
            </a:r>
            <a:r>
              <a:rPr lang="en-US" dirty="0"/>
              <a:t> </a:t>
            </a:r>
            <a:r>
              <a:rPr lang="en-US" dirty="0" err="1"/>
              <a:t>буферы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копируем</a:t>
            </a:r>
            <a:r>
              <a:rPr lang="en-US" dirty="0"/>
              <a:t> в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запускаются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асинхронные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ru-RU" dirty="0"/>
              <a:t> </a:t>
            </a:r>
            <a:r>
              <a:rPr lang="en-US" dirty="0"/>
              <a:t>blocking =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CL_FALSE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enqueueWriteBuffer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неблокирующим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host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последний</a:t>
            </a:r>
            <a:r>
              <a:rPr lang="en-US" dirty="0"/>
              <a:t>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buf1Ready</a:t>
            </a:r>
            <a:r>
              <a:rPr lang="en-US" dirty="0"/>
              <a:t> </a:t>
            </a:r>
          </a:p>
          <a:p>
            <a:r>
              <a:rPr lang="en-US" dirty="0"/>
              <a:t>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buf2Ready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соответствующее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завершится</a:t>
            </a:r>
            <a:r>
              <a:rPr lang="en-US" dirty="0"/>
              <a:t>, OpenCL </a:t>
            </a:r>
            <a:r>
              <a:rPr lang="en-US" dirty="0" err="1"/>
              <a:t>пометит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completed.</a:t>
            </a:r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список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kernelDeps</a:t>
            </a:r>
            <a:r>
              <a:rPr lang="en-US" dirty="0"/>
              <a:t>.</a:t>
            </a:r>
          </a:p>
          <a:p>
            <a:r>
              <a:rPr lang="en-US" dirty="0"/>
              <a:t>Kernel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запускать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окажутся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GPU,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передаём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enqueueNDRangeKernel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OpenCL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дождётся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buf1Ready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buf2Ready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и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kernel. 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multiplied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аналогичным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enqueueReadBuffer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kernel.</a:t>
            </a:r>
          </a:p>
          <a:p>
            <a:r>
              <a:rPr lang="en-US" dirty="0"/>
              <a:t>В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конце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resultReady.wait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синхронизация</a:t>
            </a:r>
            <a:r>
              <a:rPr lang="en-US" dirty="0"/>
              <a:t> host с </a:t>
            </a:r>
            <a:r>
              <a:rPr lang="en-US" dirty="0" err="1"/>
              <a:t>устройством</a:t>
            </a:r>
            <a:r>
              <a:rPr lang="en-US" dirty="0"/>
              <a:t> — CPU </a:t>
            </a:r>
            <a:r>
              <a:rPr lang="en-US" dirty="0" err="1"/>
              <a:t>ждёт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GPU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закончит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нигде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управляем</a:t>
            </a:r>
            <a:r>
              <a:rPr lang="en-US" dirty="0"/>
              <a:t> </a:t>
            </a:r>
            <a:r>
              <a:rPr lang="en-US" dirty="0" err="1"/>
              <a:t>порядком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описываем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, а OpenCL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планирует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72224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тратится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копировании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выполнении</a:t>
            </a:r>
            <a:r>
              <a:rPr lang="en-US" dirty="0"/>
              <a:t> kernel,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ожидании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в OpenCL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встроенное</a:t>
            </a:r>
            <a:r>
              <a:rPr lang="en-US" dirty="0"/>
              <a:t> </a:t>
            </a:r>
            <a:r>
              <a:rPr lang="en-US" dirty="0" err="1"/>
              <a:t>профилирование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создании</a:t>
            </a:r>
            <a:r>
              <a:rPr lang="en-US" dirty="0"/>
              <a:t> </a:t>
            </a:r>
            <a:r>
              <a:rPr lang="en-US" dirty="0" err="1"/>
              <a:t>очереди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добавляли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CL_QUEUE_PROFILING_ENABLE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OpenCL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сохранять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метки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в </a:t>
            </a:r>
            <a:r>
              <a:rPr lang="en-US" dirty="0" err="1"/>
              <a:t>очереди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постановки</a:t>
            </a:r>
            <a:r>
              <a:rPr lang="en-US" dirty="0"/>
              <a:t> </a:t>
            </a:r>
            <a:r>
              <a:rPr lang="en-US" dirty="0" err="1"/>
              <a:t>команды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объектом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cl::Event</a:t>
            </a:r>
            <a:r>
              <a:rPr lang="en-US" dirty="0"/>
              <a:t>, у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запросить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метки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метода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getProfilingInfo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kernel,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эффективность</a:t>
            </a:r>
            <a:r>
              <a:rPr lang="en-US" dirty="0"/>
              <a:t> overlap </a:t>
            </a:r>
            <a:r>
              <a:rPr lang="en-US" dirty="0" err="1"/>
              <a:t>вычислений</a:t>
            </a:r>
            <a:r>
              <a:rPr lang="en-US" dirty="0"/>
              <a:t> и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профилирование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самим</a:t>
            </a:r>
            <a:r>
              <a:rPr lang="en-US" dirty="0"/>
              <a:t> OpenCL runtime и </a:t>
            </a:r>
            <a:r>
              <a:rPr lang="en-US" dirty="0" err="1"/>
              <a:t>устройством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получаются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точнее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std::chrono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host.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замеры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полезны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узким</a:t>
            </a:r>
            <a:r>
              <a:rPr lang="en-US" dirty="0"/>
              <a:t> </a:t>
            </a:r>
            <a:r>
              <a:rPr lang="en-US" dirty="0" err="1"/>
              <a:t>местом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оказываются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а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плохая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очередей</a:t>
            </a:r>
            <a:r>
              <a:rPr lang="en-US" dirty="0"/>
              <a:t> и </a:t>
            </a:r>
            <a:r>
              <a:rPr lang="en-US" dirty="0" err="1"/>
              <a:t>зависимостей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3614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OpenCL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PrintEventDuration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cl::Event</a:t>
            </a:r>
            <a:r>
              <a:rPr lang="en-US" dirty="0"/>
              <a:t> и </a:t>
            </a:r>
            <a:r>
              <a:rPr lang="en-US" dirty="0" err="1"/>
              <a:t>извлекает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метки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команды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getProfilingInfo</a:t>
            </a:r>
            <a:r>
              <a:rPr lang="en-US" dirty="0"/>
              <a:t>.</a:t>
            </a:r>
          </a:p>
          <a:p>
            <a:r>
              <a:rPr lang="en-US" dirty="0"/>
              <a:t>OpenCL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в </a:t>
            </a:r>
            <a:r>
              <a:rPr lang="en-US" dirty="0" err="1"/>
              <a:t>наносекундах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вычисляем</a:t>
            </a:r>
            <a:r>
              <a:rPr lang="en-US" dirty="0"/>
              <a:t> </a:t>
            </a:r>
            <a:r>
              <a:rPr lang="en-US" dirty="0" err="1"/>
              <a:t>разницу</a:t>
            </a:r>
            <a:r>
              <a:rPr lang="en-US" dirty="0"/>
              <a:t> и </a:t>
            </a:r>
            <a:r>
              <a:rPr lang="en-US" dirty="0" err="1"/>
              <a:t>выводим</a:t>
            </a:r>
            <a:r>
              <a:rPr lang="en-US" dirty="0"/>
              <a:t> </a:t>
            </a:r>
            <a:r>
              <a:rPr lang="en-US" dirty="0" err="1"/>
              <a:t>длительность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в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MultMatrices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измеряем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матрицы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выполнения</a:t>
            </a:r>
            <a:r>
              <a:rPr lang="en-US" dirty="0"/>
              <a:t> kernel,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dirty="0" err="1"/>
              <a:t>системную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занимают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миллисекунд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а </a:t>
            </a:r>
            <a:r>
              <a:rPr lang="en-US" dirty="0" err="1"/>
              <a:t>основное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тратится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 </a:t>
            </a:r>
          </a:p>
          <a:p>
            <a:endParaRPr lang="ru-RU" dirty="0"/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наоборот</a:t>
            </a:r>
            <a:r>
              <a:rPr lang="en-US" dirty="0"/>
              <a:t> —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kernel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неэффективно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плохого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divergence.</a:t>
            </a:r>
          </a:p>
          <a:p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профилирование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узкое</a:t>
            </a:r>
            <a:r>
              <a:rPr lang="en-US" dirty="0"/>
              <a:t> </a:t>
            </a:r>
            <a:r>
              <a:rPr lang="en-US" dirty="0" err="1"/>
              <a:t>место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981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out-of-order queue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тайлового</a:t>
            </a:r>
            <a:r>
              <a:rPr lang="en-US" dirty="0"/>
              <a:t> </a:t>
            </a:r>
            <a:r>
              <a:rPr lang="en-US" dirty="0" err="1"/>
              <a:t>умножения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Без</a:t>
            </a:r>
            <a:r>
              <a:rPr lang="en-US" dirty="0"/>
              <a:t> out-of-order execution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работала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0.397 </a:t>
            </a:r>
            <a:r>
              <a:rPr lang="en-US" dirty="0" err="1"/>
              <a:t>секунды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out-of-order queue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уменьшилось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0.368 </a:t>
            </a:r>
            <a:r>
              <a:rPr lang="en-US" dirty="0" err="1"/>
              <a:t>секунды</a:t>
            </a:r>
            <a:r>
              <a:rPr lang="en-US" dirty="0"/>
              <a:t>.</a:t>
            </a:r>
          </a:p>
          <a:p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получилось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небольшим</a:t>
            </a:r>
            <a:r>
              <a:rPr lang="en-US" dirty="0"/>
              <a:t> — </a:t>
            </a:r>
            <a:r>
              <a:rPr lang="en-US" dirty="0" err="1"/>
              <a:t>около</a:t>
            </a:r>
            <a:r>
              <a:rPr lang="en-US" dirty="0"/>
              <a:t> 8%.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прирост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огромный</a:t>
            </a:r>
            <a:r>
              <a:rPr lang="en-US" dirty="0"/>
              <a:t>?</a:t>
            </a:r>
          </a:p>
          <a:p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основное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занимает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kernel — </a:t>
            </a:r>
            <a:r>
              <a:rPr lang="en-US" dirty="0" err="1"/>
              <a:t>почти</a:t>
            </a:r>
            <a:r>
              <a:rPr lang="en-US" dirty="0"/>
              <a:t> 0.345 </a:t>
            </a:r>
            <a:r>
              <a:rPr lang="en-US" dirty="0" err="1"/>
              <a:t>секунды</a:t>
            </a:r>
            <a:r>
              <a:rPr lang="en-US" dirty="0"/>
              <a:t>.</a:t>
            </a:r>
          </a:p>
          <a:p>
            <a:r>
              <a:rPr lang="en-US" dirty="0"/>
              <a:t>А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буферов</a:t>
            </a:r>
            <a:r>
              <a:rPr lang="en-US" dirty="0"/>
              <a:t> </a:t>
            </a:r>
            <a:r>
              <a:rPr lang="en-US" dirty="0" err="1"/>
              <a:t>занимают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около</a:t>
            </a:r>
            <a:r>
              <a:rPr lang="en-US" dirty="0"/>
              <a:t> 5–6 </a:t>
            </a:r>
            <a:r>
              <a:rPr lang="en-US" dirty="0" err="1"/>
              <a:t>миллисекунд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оптимизировали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и </a:t>
            </a:r>
            <a:r>
              <a:rPr lang="en-US" dirty="0" err="1"/>
              <a:t>возможности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overlap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ограничены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выигрыш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 5–10% </a:t>
            </a:r>
            <a:r>
              <a:rPr lang="en-US" dirty="0" err="1"/>
              <a:t>ускорения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значимыми</a:t>
            </a:r>
            <a:r>
              <a:rPr lang="en-US" dirty="0"/>
              <a:t>,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тысячи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кластерах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GPU-</a:t>
            </a:r>
            <a:r>
              <a:rPr lang="en-US" dirty="0" err="1"/>
              <a:t>программирования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узким</a:t>
            </a:r>
            <a:r>
              <a:rPr lang="en-US" dirty="0"/>
              <a:t> </a:t>
            </a:r>
            <a:r>
              <a:rPr lang="en-US" dirty="0" err="1"/>
              <a:t>местом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синхронизация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GPU-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асинхронные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события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overlap </a:t>
            </a:r>
            <a:r>
              <a:rPr lang="en-US" dirty="0" err="1"/>
              <a:t>вычислений</a:t>
            </a:r>
            <a:r>
              <a:rPr lang="en-US" dirty="0"/>
              <a:t> с </a:t>
            </a:r>
            <a:r>
              <a:rPr lang="en-US" dirty="0" err="1"/>
              <a:t>копированием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338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GPU-</a:t>
            </a:r>
            <a:r>
              <a:rPr lang="en-US" dirty="0" err="1"/>
              <a:t>архитектур</a:t>
            </a:r>
            <a:r>
              <a:rPr lang="en-US" dirty="0"/>
              <a:t>.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— </a:t>
            </a:r>
            <a:r>
              <a:rPr lang="en-US" dirty="0" err="1"/>
              <a:t>дискретный</a:t>
            </a:r>
            <a:r>
              <a:rPr lang="en-US" dirty="0"/>
              <a:t> GPU.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видеокарта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своей</a:t>
            </a:r>
            <a:r>
              <a:rPr lang="en-US" dirty="0"/>
              <a:t> </a:t>
            </a:r>
            <a:r>
              <a:rPr lang="en-US" dirty="0" err="1"/>
              <a:t>собственной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 — VRAM.</a:t>
            </a:r>
          </a:p>
          <a:p>
            <a:endParaRPr lang="en-US" dirty="0"/>
          </a:p>
          <a:p>
            <a:r>
              <a:rPr lang="en-US" dirty="0"/>
              <a:t>CPU и GPU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копировать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PCI Express.</a:t>
            </a:r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устроено</a:t>
            </a:r>
            <a:r>
              <a:rPr lang="en-US" dirty="0"/>
              <a:t> </a:t>
            </a:r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видеокарт</a:t>
            </a:r>
            <a:r>
              <a:rPr lang="en-US" dirty="0"/>
              <a:t> NVIDIA и AMD.</a:t>
            </a:r>
          </a:p>
          <a:p>
            <a:endParaRPr lang="en-US" dirty="0"/>
          </a:p>
          <a:p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— integrated GPU,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встроенная</a:t>
            </a:r>
            <a:r>
              <a:rPr lang="en-US" dirty="0"/>
              <a:t> </a:t>
            </a:r>
            <a:r>
              <a:rPr lang="en-US" dirty="0" err="1"/>
              <a:t>графика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CPU и GPU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Intel UHD Graphics, </a:t>
            </a:r>
          </a:p>
          <a:p>
            <a:r>
              <a:rPr lang="en-US" dirty="0" err="1"/>
              <a:t>многие</a:t>
            </a:r>
            <a:r>
              <a:rPr lang="en-US" dirty="0"/>
              <a:t> AMD APU, </a:t>
            </a:r>
          </a:p>
          <a:p>
            <a:r>
              <a:rPr lang="en-US" dirty="0"/>
              <a:t>и Apple Silicon. </a:t>
            </a:r>
          </a:p>
          <a:p>
            <a:endParaRPr lang="en-US" dirty="0"/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shared memory architecture — </a:t>
            </a:r>
            <a:r>
              <a:rPr lang="en-US" dirty="0" err="1"/>
              <a:t>уменьшение</a:t>
            </a:r>
            <a:r>
              <a:rPr lang="en-US" dirty="0"/>
              <a:t> </a:t>
            </a:r>
            <a:r>
              <a:rPr lang="en-US" dirty="0" err="1"/>
              <a:t>стоимости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integrated GPU </a:t>
            </a:r>
            <a:r>
              <a:rPr lang="en-US" dirty="0" err="1"/>
              <a:t>уступают</a:t>
            </a:r>
            <a:r>
              <a:rPr lang="en-US" dirty="0"/>
              <a:t> </a:t>
            </a:r>
            <a:r>
              <a:rPr lang="en-US" dirty="0" err="1"/>
              <a:t>дискретным</a:t>
            </a:r>
            <a:r>
              <a:rPr lang="en-US" dirty="0"/>
              <a:t> </a:t>
            </a:r>
            <a:r>
              <a:rPr lang="en-US" dirty="0" err="1"/>
              <a:t>видеокартам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вычислительной</a:t>
            </a:r>
            <a:r>
              <a:rPr lang="en-US" dirty="0"/>
              <a:t> </a:t>
            </a:r>
            <a:r>
              <a:rPr lang="en-US" dirty="0" err="1"/>
              <a:t>мощности</a:t>
            </a:r>
            <a:r>
              <a:rPr lang="en-US" dirty="0"/>
              <a:t> и </a:t>
            </a:r>
            <a:r>
              <a:rPr lang="ru-RU" dirty="0"/>
              <a:t>пропускной способности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3390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Современные</a:t>
            </a:r>
            <a:r>
              <a:rPr lang="en-US" dirty="0"/>
              <a:t> GPU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Unified Memory.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CPU и GPU </a:t>
            </a:r>
            <a:r>
              <a:rPr lang="en-US" dirty="0" err="1"/>
              <a:t>получают</a:t>
            </a:r>
            <a:r>
              <a:rPr lang="en-US" dirty="0"/>
              <a:t> </a:t>
            </a:r>
            <a:r>
              <a:rPr lang="en-US" dirty="0" err="1"/>
              <a:t>единое</a:t>
            </a:r>
            <a:r>
              <a:rPr lang="en-US" dirty="0"/>
              <a:t> </a:t>
            </a:r>
            <a:r>
              <a:rPr lang="en-US" dirty="0" err="1"/>
              <a:t>виртуальное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программиста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будто</a:t>
            </a:r>
            <a:r>
              <a:rPr lang="en-US" dirty="0"/>
              <a:t> CPU и GPU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разработку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ручных</a:t>
            </a:r>
            <a:r>
              <a:rPr lang="en-US" dirty="0"/>
              <a:t> </a:t>
            </a:r>
            <a:r>
              <a:rPr lang="en-US" dirty="0" err="1"/>
              <a:t>копирований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упрощается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runtime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перемещать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Unified Memory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отменяет</a:t>
            </a:r>
            <a:r>
              <a:rPr lang="en-US" dirty="0"/>
              <a:t> </a:t>
            </a:r>
            <a:r>
              <a:rPr lang="en-US" dirty="0" err="1"/>
              <a:t>физические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CPU и GPU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разную</a:t>
            </a:r>
            <a:r>
              <a:rPr lang="en-US" dirty="0"/>
              <a:t> </a:t>
            </a:r>
            <a:r>
              <a:rPr lang="en-US" dirty="0" err="1"/>
              <a:t>физическую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придётся</a:t>
            </a:r>
            <a:r>
              <a:rPr lang="en-US" dirty="0"/>
              <a:t> </a:t>
            </a:r>
            <a:r>
              <a:rPr lang="en-US" dirty="0" err="1"/>
              <a:t>перемещать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</a:p>
          <a:p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runtime </a:t>
            </a:r>
            <a:r>
              <a:rPr lang="en-US" dirty="0" err="1"/>
              <a:t>автоматически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page migration,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page faults,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неожиданным</a:t>
            </a:r>
            <a:r>
              <a:rPr lang="en-US" dirty="0"/>
              <a:t> </a:t>
            </a:r>
            <a:r>
              <a:rPr lang="en-US" dirty="0" err="1"/>
              <a:t>задержкам</a:t>
            </a:r>
            <a:r>
              <a:rPr lang="en-US" dirty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Unified Memory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удобнее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гарантирует</a:t>
            </a:r>
            <a:r>
              <a:rPr lang="en-US" dirty="0"/>
              <a:t> </a:t>
            </a:r>
            <a:r>
              <a:rPr lang="en-US" dirty="0" err="1"/>
              <a:t>максимальную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8849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сильно</a:t>
            </a:r>
            <a:r>
              <a:rPr lang="en-US" dirty="0"/>
              <a:t> </a:t>
            </a:r>
            <a:r>
              <a:rPr lang="en-US" dirty="0" err="1"/>
              <a:t>влияет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GPU-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Дискретные</a:t>
            </a:r>
            <a:r>
              <a:rPr lang="en-US" dirty="0"/>
              <a:t> GPU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и bandwidth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платить</a:t>
            </a:r>
            <a:r>
              <a:rPr lang="en-US" dirty="0"/>
              <a:t> </a:t>
            </a:r>
            <a:r>
              <a:rPr lang="en-US" dirty="0" err="1"/>
              <a:t>стоимостью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</a:t>
            </a:r>
            <a:endParaRPr lang="ru-RU" dirty="0"/>
          </a:p>
          <a:p>
            <a:endParaRPr lang="en-US" dirty="0"/>
          </a:p>
          <a:p>
            <a:r>
              <a:rPr lang="en-US" dirty="0"/>
              <a:t>Integrated GPU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с CPU,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обходится</a:t>
            </a:r>
            <a:r>
              <a:rPr lang="en-US" dirty="0"/>
              <a:t> </a:t>
            </a:r>
            <a:r>
              <a:rPr lang="en-US" dirty="0" err="1"/>
              <a:t>дешевле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встроенная</a:t>
            </a:r>
            <a:r>
              <a:rPr lang="en-US" dirty="0"/>
              <a:t> </a:t>
            </a:r>
            <a:r>
              <a:rPr lang="en-US" dirty="0" err="1"/>
              <a:t>графика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r>
              <a:rPr lang="en-US" dirty="0" err="1"/>
              <a:t>слабее</a:t>
            </a:r>
            <a:r>
              <a:rPr lang="en-US" dirty="0"/>
              <a:t> </a:t>
            </a:r>
            <a:r>
              <a:rPr lang="en-US" dirty="0" err="1"/>
              <a:t>вычислительно</a:t>
            </a:r>
            <a:r>
              <a:rPr lang="en-US" dirty="0"/>
              <a:t>, </a:t>
            </a:r>
          </a:p>
          <a:p>
            <a:r>
              <a:rPr lang="en-US" dirty="0"/>
              <a:t>и </a:t>
            </a:r>
            <a:r>
              <a:rPr lang="en-US" dirty="0" err="1"/>
              <a:t>делит</a:t>
            </a:r>
            <a:r>
              <a:rPr lang="en-US" dirty="0"/>
              <a:t> bandwidth </a:t>
            </a:r>
            <a:r>
              <a:rPr lang="en-US" dirty="0" err="1"/>
              <a:t>памяти</a:t>
            </a:r>
            <a:r>
              <a:rPr lang="en-US" dirty="0"/>
              <a:t> с CPU.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влияет</a:t>
            </a:r>
            <a:r>
              <a:rPr lang="en-US" dirty="0"/>
              <a:t>: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, 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</a:p>
          <a:p>
            <a:r>
              <a:rPr lang="en-US" dirty="0"/>
              <a:t>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выгодно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GPU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высокопроизводительные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стараются</a:t>
            </a:r>
            <a:r>
              <a:rPr lang="en-US" dirty="0"/>
              <a:t>:</a:t>
            </a:r>
          </a:p>
          <a:p>
            <a:r>
              <a:rPr lang="en-US" dirty="0" err="1"/>
              <a:t>минимизировать</a:t>
            </a:r>
            <a:r>
              <a:rPr lang="en-US" dirty="0"/>
              <a:t>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r>
              <a:rPr lang="en-US" dirty="0" err="1"/>
              <a:t>переиспользовать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GPU, </a:t>
            </a:r>
          </a:p>
          <a:p>
            <a:r>
              <a:rPr lang="en-US" dirty="0"/>
              <a:t>и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ru-RU" dirty="0"/>
              <a:t>архитектуру памяти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5383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 </a:t>
            </a:r>
            <a:r>
              <a:rPr lang="en-US" dirty="0" err="1"/>
              <a:t>скрывает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warp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scheduler </a:t>
            </a:r>
            <a:r>
              <a:rPr lang="en-US" dirty="0" err="1"/>
              <a:t>переключается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warp, </a:t>
            </a:r>
            <a:r>
              <a:rPr lang="en-US" dirty="0" err="1"/>
              <a:t>готовый</a:t>
            </a:r>
            <a:r>
              <a:rPr lang="en-US" dirty="0"/>
              <a:t> к </a:t>
            </a:r>
            <a:r>
              <a:rPr lang="en-US" dirty="0" err="1"/>
              <a:t>выполнению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GPU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Streaming Multiprocessor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находилось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активных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заполнения</a:t>
            </a:r>
            <a:r>
              <a:rPr lang="en-US" dirty="0"/>
              <a:t> SM </a:t>
            </a:r>
            <a:r>
              <a:rPr lang="en-US" dirty="0" err="1"/>
              <a:t>активными</a:t>
            </a:r>
            <a:r>
              <a:rPr lang="en-US" dirty="0"/>
              <a:t> warp-</a:t>
            </a:r>
            <a:r>
              <a:rPr lang="en-US" dirty="0" err="1"/>
              <a:t>ами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occupancy.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Высокий</a:t>
            </a:r>
            <a:r>
              <a:rPr lang="en-US" dirty="0"/>
              <a:t> occupancy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GPU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найти</a:t>
            </a:r>
            <a:r>
              <a:rPr lang="en-US" dirty="0"/>
              <a:t> warp, </a:t>
            </a:r>
            <a:r>
              <a:rPr lang="en-US" dirty="0" err="1"/>
              <a:t>готовый</a:t>
            </a:r>
            <a:r>
              <a:rPr lang="en-US" dirty="0"/>
              <a:t> к </a:t>
            </a:r>
            <a:r>
              <a:rPr lang="en-US" dirty="0" err="1"/>
              <a:t>выполнению</a:t>
            </a:r>
            <a:r>
              <a:rPr lang="en-US" dirty="0"/>
              <a:t>.</a:t>
            </a:r>
          </a:p>
          <a:p>
            <a:r>
              <a:rPr lang="en-US" dirty="0" err="1"/>
              <a:t>Низкий</a:t>
            </a:r>
            <a:r>
              <a:rPr lang="en-US" dirty="0"/>
              <a:t> occupancy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GPU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простаивать</a:t>
            </a:r>
            <a:r>
              <a:rPr lang="en-US" dirty="0"/>
              <a:t> в </a:t>
            </a:r>
            <a:r>
              <a:rPr lang="en-US" dirty="0" err="1"/>
              <a:t>ожидании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GPU </a:t>
            </a:r>
            <a:r>
              <a:rPr lang="en-US" dirty="0" err="1"/>
              <a:t>достигает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огромного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способности</a:t>
            </a:r>
            <a:r>
              <a:rPr lang="en-US" dirty="0"/>
              <a:t> </a:t>
            </a:r>
            <a:r>
              <a:rPr lang="en-US" dirty="0" err="1"/>
              <a:t>скрывать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большим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61620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occupancy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 </a:t>
            </a:r>
            <a:r>
              <a:rPr lang="en-US" dirty="0" err="1"/>
              <a:t>бесконечно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У </a:t>
            </a:r>
            <a:r>
              <a:rPr lang="en-US" dirty="0" err="1"/>
              <a:t>каждого</a:t>
            </a:r>
            <a:r>
              <a:rPr lang="en-US" dirty="0"/>
              <a:t> Streaming Multiprocessor </a:t>
            </a:r>
            <a:r>
              <a:rPr lang="en-US" dirty="0" err="1"/>
              <a:t>ограничены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объём</a:t>
            </a:r>
            <a:r>
              <a:rPr lang="en-US" dirty="0"/>
              <a:t> local memory,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активных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Каждый</a:t>
            </a:r>
            <a:r>
              <a:rPr lang="en-US" dirty="0"/>
              <a:t> kernel </a:t>
            </a:r>
            <a:r>
              <a:rPr lang="en-US" dirty="0" err="1"/>
              <a:t>потребляет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tiled matrix multiplication </a:t>
            </a:r>
            <a:r>
              <a:rPr lang="en-US" dirty="0" err="1"/>
              <a:t>использует</a:t>
            </a:r>
            <a:r>
              <a:rPr lang="en-US" dirty="0"/>
              <a:t> local memory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большими</a:t>
            </a:r>
            <a:r>
              <a:rPr lang="en-US" dirty="0"/>
              <a:t>, </a:t>
            </a:r>
            <a:r>
              <a:rPr lang="en-US" dirty="0" err="1"/>
              <a:t>каждая</a:t>
            </a:r>
            <a:r>
              <a:rPr lang="en-US" dirty="0"/>
              <a:t> Work Group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занимать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local memory.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одном</a:t>
            </a:r>
            <a:r>
              <a:rPr lang="en-US" dirty="0"/>
              <a:t> SM </a:t>
            </a:r>
            <a:r>
              <a:rPr lang="en-US" dirty="0" err="1"/>
              <a:t>поместится</a:t>
            </a:r>
            <a:r>
              <a:rPr lang="en-US" dirty="0"/>
              <a:t> </a:t>
            </a:r>
            <a:r>
              <a:rPr lang="en-US" dirty="0" err="1"/>
              <a:t>меньше</a:t>
            </a:r>
            <a:r>
              <a:rPr lang="en-US" dirty="0"/>
              <a:t> Work Groups и </a:t>
            </a:r>
            <a:r>
              <a:rPr lang="en-US" dirty="0" err="1"/>
              <a:t>меньше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.</a:t>
            </a:r>
          </a:p>
          <a:p>
            <a:r>
              <a:rPr lang="en-US" dirty="0"/>
              <a:t>Occupancy </a:t>
            </a:r>
            <a:r>
              <a:rPr lang="en-US" dirty="0" err="1"/>
              <a:t>уменьшится</a:t>
            </a:r>
            <a:r>
              <a:rPr lang="en-US" dirty="0"/>
              <a:t>, и GPU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хуже</a:t>
            </a:r>
            <a:r>
              <a:rPr lang="en-US" dirty="0"/>
              <a:t> </a:t>
            </a:r>
            <a:r>
              <a:rPr lang="en-US" dirty="0" err="1"/>
              <a:t>скрывать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GPU-</a:t>
            </a:r>
            <a:r>
              <a:rPr lang="en-US" dirty="0" err="1"/>
              <a:t>оптимизация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поиск</a:t>
            </a:r>
            <a:r>
              <a:rPr lang="en-US" dirty="0"/>
              <a:t> </a:t>
            </a:r>
            <a:r>
              <a:rPr lang="en-US" dirty="0" err="1"/>
              <a:t>компромисса</a:t>
            </a:r>
            <a:r>
              <a:rPr lang="en-US" dirty="0"/>
              <a:t>.</a:t>
            </a:r>
          </a:p>
          <a:p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маленькие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переиспользуют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большие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 </a:t>
            </a:r>
            <a:r>
              <a:rPr lang="en-US" dirty="0" err="1"/>
              <a:t>уменьшают</a:t>
            </a:r>
            <a:r>
              <a:rPr lang="en-US" dirty="0"/>
              <a:t> occupancy.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оптимизация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экспериментального</a:t>
            </a:r>
            <a:r>
              <a:rPr lang="en-US" dirty="0"/>
              <a:t> </a:t>
            </a:r>
            <a:r>
              <a:rPr lang="en-US" dirty="0" err="1"/>
              <a:t>подбора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kernel и </a:t>
            </a:r>
            <a:r>
              <a:rPr lang="ru-RU" dirty="0"/>
              <a:t>профилирования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5032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дискретных</a:t>
            </a:r>
            <a:r>
              <a:rPr lang="en-US" dirty="0"/>
              <a:t> GPU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— VRAM.</a:t>
            </a:r>
          </a:p>
          <a:p>
            <a:r>
              <a:rPr lang="en-US" dirty="0"/>
              <a:t>CPU и GPU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с </a:t>
            </a:r>
            <a:r>
              <a:rPr lang="en-US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:</a:t>
            </a:r>
          </a:p>
          <a:p>
            <a:r>
              <a:rPr lang="en-US" dirty="0" err="1"/>
              <a:t>скопировать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RAM в </a:t>
            </a:r>
            <a:r>
              <a:rPr lang="en-US" dirty="0" err="1"/>
              <a:t>память</a:t>
            </a:r>
            <a:r>
              <a:rPr lang="en-US" dirty="0"/>
              <a:t> GPU, </a:t>
            </a:r>
          </a:p>
          <a:p>
            <a:r>
              <a:rPr lang="en-US" dirty="0" err="1"/>
              <a:t>выполнить</a:t>
            </a:r>
            <a:r>
              <a:rPr lang="en-US" dirty="0"/>
              <a:t> kernel, </a:t>
            </a:r>
          </a:p>
          <a:p>
            <a:r>
              <a:rPr lang="en-US" dirty="0"/>
              <a:t>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скопировать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PCI Express.</a:t>
            </a:r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PCIe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медленнее</a:t>
            </a:r>
            <a:r>
              <a:rPr lang="en-US" dirty="0"/>
              <a:t> </a:t>
            </a:r>
            <a:r>
              <a:rPr lang="en-US" dirty="0" err="1"/>
              <a:t>внутренней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GPU.</a:t>
            </a:r>
          </a:p>
          <a:p>
            <a:r>
              <a:rPr lang="en-US" dirty="0" err="1"/>
              <a:t>Поэтому</a:t>
            </a:r>
            <a:r>
              <a:rPr lang="en-US" dirty="0"/>
              <a:t>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задачах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самих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инженерных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GPU-</a:t>
            </a:r>
            <a:r>
              <a:rPr lang="en-US" dirty="0" err="1"/>
              <a:t>программирования</a:t>
            </a:r>
            <a:r>
              <a:rPr lang="en-US" dirty="0"/>
              <a:t>: </a:t>
            </a:r>
            <a:r>
              <a:rPr lang="en-US" dirty="0" err="1"/>
              <a:t>ускорение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окупать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956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Хорошая</a:t>
            </a:r>
            <a:r>
              <a:rPr lang="en-US" dirty="0"/>
              <a:t> </a:t>
            </a:r>
            <a:r>
              <a:rPr lang="en-US" dirty="0" err="1"/>
              <a:t>аналогия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самолёт</a:t>
            </a:r>
            <a:r>
              <a:rPr lang="en-US" dirty="0"/>
              <a:t>.</a:t>
            </a:r>
          </a:p>
          <a:p>
            <a:r>
              <a:rPr lang="en-US" dirty="0" err="1"/>
              <a:t>Самолёт</a:t>
            </a:r>
            <a:r>
              <a:rPr lang="en-US" dirty="0"/>
              <a:t> </a:t>
            </a:r>
            <a:r>
              <a:rPr lang="en-US" dirty="0" err="1"/>
              <a:t>летит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</a:t>
            </a:r>
            <a:r>
              <a:rPr lang="en-US" dirty="0" err="1"/>
              <a:t>машины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попасть</a:t>
            </a:r>
            <a:r>
              <a:rPr lang="en-US" dirty="0"/>
              <a:t> в </a:t>
            </a:r>
            <a:r>
              <a:rPr lang="en-US" dirty="0" err="1"/>
              <a:t>соседний</a:t>
            </a:r>
            <a:r>
              <a:rPr lang="en-US" dirty="0"/>
              <a:t> </a:t>
            </a:r>
            <a:r>
              <a:rPr lang="en-US" dirty="0" err="1"/>
              <a:t>город</a:t>
            </a:r>
            <a:r>
              <a:rPr lang="en-US" dirty="0"/>
              <a:t>,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меняется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вы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доедете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аэропорта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пройдёте</a:t>
            </a:r>
            <a:r>
              <a:rPr lang="en-US" dirty="0"/>
              <a:t> </a:t>
            </a:r>
            <a:r>
              <a:rPr lang="en-US" dirty="0" err="1"/>
              <a:t>регистрацию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безопасности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дождётесь</a:t>
            </a:r>
            <a:r>
              <a:rPr lang="en-US" dirty="0"/>
              <a:t> </a:t>
            </a:r>
            <a:r>
              <a:rPr lang="en-US" dirty="0" err="1"/>
              <a:t>посадки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взлетите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приземлитесь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получите</a:t>
            </a:r>
            <a:r>
              <a:rPr lang="en-US" dirty="0"/>
              <a:t> </a:t>
            </a:r>
            <a:r>
              <a:rPr lang="en-US" dirty="0" err="1"/>
              <a:t>багаж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машине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давно</a:t>
            </a:r>
            <a:r>
              <a:rPr lang="en-US" dirty="0"/>
              <a:t> </a:t>
            </a:r>
            <a:r>
              <a:rPr lang="en-US" dirty="0" err="1"/>
              <a:t>доехать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GPU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похожим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.</a:t>
            </a:r>
          </a:p>
          <a:p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скопировать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запустить</a:t>
            </a:r>
            <a:r>
              <a:rPr lang="en-US" dirty="0"/>
              <a:t> kernel,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вернуть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маленьких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выигрыша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GPU.</a:t>
            </a:r>
          </a:p>
          <a:p>
            <a:r>
              <a:rPr lang="en-US" dirty="0" err="1"/>
              <a:t>Поэтому</a:t>
            </a:r>
            <a:r>
              <a:rPr lang="en-US" dirty="0"/>
              <a:t> GPU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эффективен</a:t>
            </a:r>
            <a:r>
              <a:rPr lang="en-US" dirty="0"/>
              <a:t> в </a:t>
            </a:r>
            <a:r>
              <a:rPr lang="en-US" dirty="0" err="1"/>
              <a:t>задачах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с </a:t>
            </a:r>
            <a:r>
              <a:rPr lang="en-US" dirty="0" err="1"/>
              <a:t>большим</a:t>
            </a:r>
            <a:r>
              <a:rPr lang="en-US" dirty="0"/>
              <a:t> </a:t>
            </a:r>
            <a:r>
              <a:rPr lang="en-US" dirty="0" err="1"/>
              <a:t>объёмом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большим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и </a:t>
            </a:r>
            <a:r>
              <a:rPr lang="en-US" dirty="0" err="1"/>
              <a:t>минимальным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передач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 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GPU-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стараются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дольше</a:t>
            </a:r>
            <a:r>
              <a:rPr lang="en-US" dirty="0"/>
              <a:t> </a:t>
            </a:r>
            <a:r>
              <a:rPr lang="en-US" dirty="0" err="1"/>
              <a:t>удерживать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GPU и </a:t>
            </a:r>
            <a:r>
              <a:rPr lang="en-US" dirty="0" err="1"/>
              <a:t>минимизировать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с CPU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9788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</a:t>
            </a:r>
            <a:r>
              <a:rPr lang="en-US" dirty="0" err="1"/>
              <a:t>ри</a:t>
            </a:r>
            <a:r>
              <a:rPr lang="en-US" dirty="0"/>
              <a:t> </a:t>
            </a:r>
            <a:r>
              <a:rPr lang="en-US" dirty="0" err="1"/>
              <a:t>программировании</a:t>
            </a:r>
            <a:r>
              <a:rPr lang="en-US" dirty="0"/>
              <a:t> GPU 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редко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сложного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строится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типовых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алгоритмическими</a:t>
            </a:r>
            <a:r>
              <a:rPr lang="en-US" dirty="0"/>
              <a:t> </a:t>
            </a:r>
            <a:r>
              <a:rPr lang="en-US" dirty="0" err="1"/>
              <a:t>примитивами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parallel primitives.</a:t>
            </a:r>
          </a:p>
          <a:p>
            <a:endParaRPr lang="ru-RU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некоторый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встречающийся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применение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перестановка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фундаментальными</a:t>
            </a:r>
            <a:r>
              <a:rPr lang="en-US" dirty="0"/>
              <a:t> </a:t>
            </a:r>
            <a:r>
              <a:rPr lang="en-US" dirty="0" err="1"/>
              <a:t>строительными</a:t>
            </a:r>
            <a:r>
              <a:rPr lang="en-US" dirty="0"/>
              <a:t> </a:t>
            </a:r>
            <a:r>
              <a:rPr lang="en-US" dirty="0" err="1"/>
              <a:t>блоками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,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, </a:t>
            </a:r>
            <a:r>
              <a:rPr lang="en-US" dirty="0" err="1"/>
              <a:t>научных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и </a:t>
            </a:r>
            <a:r>
              <a:rPr lang="en-US" dirty="0" err="1"/>
              <a:t>компьютерной</a:t>
            </a:r>
            <a:r>
              <a:rPr lang="en-US" dirty="0"/>
              <a:t> </a:t>
            </a:r>
            <a:r>
              <a:rPr lang="en-US" dirty="0" err="1"/>
              <a:t>графики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библиотеках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высокооптимизированные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зачастую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комбинировать</a:t>
            </a:r>
            <a:r>
              <a:rPr lang="en-US" dirty="0"/>
              <a:t> </a:t>
            </a:r>
            <a:r>
              <a:rPr lang="en-US" dirty="0" err="1"/>
              <a:t>готовые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прикладной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48598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состоят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известных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быстрая</a:t>
            </a:r>
            <a:r>
              <a:rPr lang="en-US" dirty="0"/>
              <a:t> </a:t>
            </a:r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реализуется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построение</a:t>
            </a:r>
            <a:r>
              <a:rPr lang="en-US" dirty="0"/>
              <a:t> </a:t>
            </a:r>
            <a:r>
              <a:rPr lang="en-US" dirty="0" err="1"/>
              <a:t>гистограмм</a:t>
            </a:r>
            <a:r>
              <a:rPr lang="en-US" dirty="0"/>
              <a:t>,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префиксных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и </a:t>
            </a:r>
            <a:r>
              <a:rPr lang="en-US" dirty="0" err="1"/>
              <a:t>последующее</a:t>
            </a:r>
            <a:r>
              <a:rPr lang="en-US" dirty="0"/>
              <a:t> </a:t>
            </a:r>
            <a:r>
              <a:rPr lang="en-US" dirty="0" err="1"/>
              <a:t>перераспределение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обхода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фильтрации</a:t>
            </a:r>
            <a:r>
              <a:rPr lang="en-US" dirty="0"/>
              <a:t>, </a:t>
            </a:r>
            <a:r>
              <a:rPr lang="en-US" dirty="0" err="1"/>
              <a:t>сканирования</a:t>
            </a:r>
            <a:r>
              <a:rPr lang="en-US" dirty="0"/>
              <a:t> и </a:t>
            </a:r>
            <a:r>
              <a:rPr lang="en-US" dirty="0" err="1"/>
              <a:t>компактного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обучение</a:t>
            </a:r>
            <a:r>
              <a:rPr lang="en-US" dirty="0"/>
              <a:t> </a:t>
            </a:r>
            <a:r>
              <a:rPr lang="en-US" dirty="0" err="1"/>
              <a:t>нейронных</a:t>
            </a:r>
            <a:r>
              <a:rPr lang="en-US" dirty="0"/>
              <a:t> </a:t>
            </a:r>
            <a:r>
              <a:rPr lang="en-US" dirty="0" err="1"/>
              <a:t>сетей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многом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 </a:t>
            </a:r>
            <a:r>
              <a:rPr lang="en-US" dirty="0" err="1"/>
              <a:t>комбинации</a:t>
            </a:r>
            <a:r>
              <a:rPr lang="en-US" dirty="0"/>
              <a:t> </a:t>
            </a:r>
            <a:r>
              <a:rPr lang="en-US" dirty="0" err="1"/>
              <a:t>массовых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и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редукции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7226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вычислительные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Агрегация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объединения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и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синхронизацией</a:t>
            </a:r>
            <a:r>
              <a:rPr lang="en-US" dirty="0"/>
              <a:t> и </a:t>
            </a:r>
            <a:r>
              <a:rPr lang="en-US" dirty="0" err="1"/>
              <a:t>атомарными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Перестановка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ограничена</a:t>
            </a:r>
            <a:r>
              <a:rPr lang="en-US" dirty="0"/>
              <a:t> </a:t>
            </a:r>
            <a:r>
              <a:rPr lang="en-US" dirty="0" err="1"/>
              <a:t>пропускной</a:t>
            </a:r>
            <a:r>
              <a:rPr lang="en-US" dirty="0"/>
              <a:t> </a:t>
            </a:r>
            <a:r>
              <a:rPr lang="en-US" dirty="0" err="1"/>
              <a:t>способностью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эффективностью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ней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различий</a:t>
            </a:r>
            <a:r>
              <a:rPr lang="en-US" dirty="0"/>
              <a:t> </a:t>
            </a:r>
            <a:r>
              <a:rPr lang="en-US" dirty="0" err="1"/>
              <a:t>помогает</a:t>
            </a:r>
            <a:r>
              <a:rPr lang="en-US" dirty="0"/>
              <a:t> </a:t>
            </a:r>
            <a:r>
              <a:rPr lang="en-US" dirty="0" err="1"/>
              <a:t>объяснить</a:t>
            </a:r>
            <a:r>
              <a:rPr lang="en-US" dirty="0"/>
              <a:t>, </a:t>
            </a:r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некоторые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масштабируются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линейно</a:t>
            </a:r>
            <a:r>
              <a:rPr lang="en-US" dirty="0"/>
              <a:t>, а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оптимизаций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170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определяются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алгоритмическом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,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GPU.</a:t>
            </a:r>
          </a:p>
          <a:p>
            <a:endParaRPr lang="en-US" dirty="0"/>
          </a:p>
          <a:p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эффективные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локальную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временного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уменьшения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загружают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обмениваются</a:t>
            </a:r>
            <a:r>
              <a:rPr lang="en-US" dirty="0"/>
              <a:t> </a:t>
            </a:r>
            <a:r>
              <a:rPr lang="en-US" dirty="0" err="1"/>
              <a:t>промежуточными</a:t>
            </a:r>
            <a:r>
              <a:rPr lang="en-US" dirty="0"/>
              <a:t> </a:t>
            </a:r>
            <a:r>
              <a:rPr lang="en-US" dirty="0" err="1"/>
              <a:t>результатами</a:t>
            </a:r>
            <a:r>
              <a:rPr lang="en-US" dirty="0"/>
              <a:t> и </a:t>
            </a:r>
            <a:r>
              <a:rPr lang="en-US" dirty="0" err="1"/>
              <a:t>синхронизируются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барьеры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изучении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примитива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обращать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способы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эффективной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графическом</a:t>
            </a:r>
            <a:r>
              <a:rPr lang="en-US" dirty="0"/>
              <a:t> </a:t>
            </a:r>
            <a:r>
              <a:rPr lang="en-US" dirty="0" err="1"/>
              <a:t>процессоре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7008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распространённым</a:t>
            </a:r>
            <a:r>
              <a:rPr lang="en-US" dirty="0"/>
              <a:t> </a:t>
            </a:r>
            <a:r>
              <a:rPr lang="en-US" dirty="0" err="1"/>
              <a:t>алгоритмическим</a:t>
            </a:r>
            <a:r>
              <a:rPr lang="en-US" dirty="0"/>
              <a:t> </a:t>
            </a:r>
            <a:r>
              <a:rPr lang="en-US" dirty="0" err="1"/>
              <a:t>примитивом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Map.</a:t>
            </a:r>
          </a:p>
          <a:p>
            <a:endParaRPr lang="en-US" dirty="0"/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к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и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.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остальных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математической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отображению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входных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выходных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посредством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свойство</a:t>
            </a:r>
            <a:r>
              <a:rPr lang="en-US" dirty="0"/>
              <a:t> Map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отсутствии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элементами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потоку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с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подходят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задействовать</a:t>
            </a:r>
            <a:r>
              <a:rPr lang="en-US" dirty="0"/>
              <a:t> </a:t>
            </a:r>
            <a:r>
              <a:rPr lang="en-US" dirty="0" err="1"/>
              <a:t>тысячи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9630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OpenCL </a:t>
            </a:r>
            <a:r>
              <a:rPr lang="en-US" dirty="0" err="1"/>
              <a:t>примитив</a:t>
            </a:r>
            <a:r>
              <a:rPr lang="en-US" dirty="0"/>
              <a:t> Map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реализуется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запуск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work-item.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глобальный</a:t>
            </a:r>
            <a:r>
              <a:rPr lang="en-US" dirty="0"/>
              <a:t> </a:t>
            </a:r>
            <a:r>
              <a:rPr lang="en-US" dirty="0" err="1"/>
              <a:t>идентификатор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get_global_id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идентификатор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индекс</a:t>
            </a:r>
            <a:r>
              <a:rPr lang="en-US" dirty="0"/>
              <a:t> </a:t>
            </a:r>
            <a:r>
              <a:rPr lang="en-US" dirty="0" err="1"/>
              <a:t>обрабатываемого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распределяется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 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</a:t>
            </a:r>
            <a:r>
              <a:rPr lang="en-US" dirty="0" err="1"/>
              <a:t>разбивать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и </a:t>
            </a:r>
            <a:r>
              <a:rPr lang="en-US" dirty="0" err="1"/>
              <a:t>назначать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потокам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программировании</a:t>
            </a:r>
            <a:r>
              <a:rPr lang="en-US" dirty="0"/>
              <a:t> CPU.</a:t>
            </a:r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OpenCL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</a:t>
            </a:r>
            <a:r>
              <a:rPr lang="en-US" dirty="0" err="1"/>
              <a:t>последовательный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большим</a:t>
            </a:r>
            <a:r>
              <a:rPr lang="en-US" dirty="0"/>
              <a:t> </a:t>
            </a:r>
            <a:r>
              <a:rPr lang="en-US" dirty="0" err="1"/>
              <a:t>числом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 </a:t>
            </a:r>
            <a:r>
              <a:rPr lang="en-US" dirty="0" err="1"/>
              <a:t>работающих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мышления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переходом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традиционного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 к </a:t>
            </a:r>
            <a:r>
              <a:rPr lang="en-US" dirty="0" err="1"/>
              <a:t>программированию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GPU.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мыслить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последовательностью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а </a:t>
            </a:r>
            <a:r>
              <a:rPr lang="en-US" dirty="0" err="1"/>
              <a:t>множеством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выполняемых</a:t>
            </a:r>
            <a:r>
              <a:rPr lang="en-US" dirty="0"/>
              <a:t> </a:t>
            </a:r>
            <a:r>
              <a:rPr lang="en-US" dirty="0" err="1"/>
              <a:t>экземпляров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31460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реальные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формулируются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Map.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пиксель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обрабатываться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остальных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преобразовании</a:t>
            </a:r>
            <a:r>
              <a:rPr lang="en-US" dirty="0"/>
              <a:t> </a:t>
            </a:r>
            <a:r>
              <a:rPr lang="en-US" dirty="0" err="1"/>
              <a:t>цветного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 в </a:t>
            </a:r>
            <a:r>
              <a:rPr lang="en-US" dirty="0" err="1"/>
              <a:t>оттенки</a:t>
            </a:r>
            <a:r>
              <a:rPr lang="en-US" dirty="0"/>
              <a:t> </a:t>
            </a:r>
            <a:r>
              <a:rPr lang="en-US" dirty="0" err="1"/>
              <a:t>серого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одинаковое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каждым</a:t>
            </a:r>
            <a:r>
              <a:rPr lang="en-US" dirty="0"/>
              <a:t> </a:t>
            </a:r>
            <a:r>
              <a:rPr lang="en-US" dirty="0" err="1"/>
              <a:t>пикселем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научных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применить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математическую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к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массиву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синус</a:t>
            </a:r>
            <a:r>
              <a:rPr lang="en-US" dirty="0"/>
              <a:t>, </a:t>
            </a:r>
            <a:r>
              <a:rPr lang="en-US" dirty="0" err="1"/>
              <a:t>косинус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единиц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миллионов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компьютерной</a:t>
            </a:r>
            <a:r>
              <a:rPr lang="en-US" dirty="0"/>
              <a:t> </a:t>
            </a:r>
            <a:r>
              <a:rPr lang="en-US" dirty="0" err="1"/>
              <a:t>графике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  <a:r>
              <a:rPr lang="en-US" dirty="0" err="1"/>
              <a:t>встречается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конвейера</a:t>
            </a:r>
            <a:r>
              <a:rPr lang="en-US" dirty="0"/>
              <a:t> </a:t>
            </a:r>
            <a:r>
              <a:rPr lang="en-US" dirty="0" err="1"/>
              <a:t>визуализации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вершины</a:t>
            </a:r>
            <a:r>
              <a:rPr lang="en-US" dirty="0"/>
              <a:t> </a:t>
            </a:r>
            <a:r>
              <a:rPr lang="en-US" dirty="0" err="1"/>
              <a:t>трёхмерной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преобразовываться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вершин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элементами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подходят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3036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эффективных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</a:p>
          <a:p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взаимодействуют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с </a:t>
            </a:r>
            <a:r>
              <a:rPr lang="en-US" dirty="0" err="1"/>
              <a:t>другом</a:t>
            </a:r>
            <a:r>
              <a:rPr lang="en-US" dirty="0"/>
              <a:t>, </a:t>
            </a:r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необходимость</a:t>
            </a:r>
            <a:r>
              <a:rPr lang="en-US" dirty="0"/>
              <a:t> в </a:t>
            </a:r>
            <a:r>
              <a:rPr lang="en-US" dirty="0" err="1"/>
              <a:t>синхронизации</a:t>
            </a:r>
            <a:r>
              <a:rPr lang="en-US" dirty="0"/>
              <a:t> и </a:t>
            </a:r>
            <a:r>
              <a:rPr lang="en-US" dirty="0" err="1"/>
              <a:t>атомарных</a:t>
            </a:r>
            <a:r>
              <a:rPr lang="en-US" dirty="0"/>
              <a:t> </a:t>
            </a:r>
            <a:r>
              <a:rPr lang="en-US" dirty="0" err="1"/>
              <a:t>операциях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 </a:t>
            </a:r>
            <a:r>
              <a:rPr lang="en-US" dirty="0" err="1"/>
              <a:t>поддерживать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выполняемых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и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скрывать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скоростью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а </a:t>
            </a:r>
            <a:r>
              <a:rPr lang="en-US" dirty="0" err="1"/>
              <a:t>скоростью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проста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определяться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Map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коалесцирование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721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столь</a:t>
            </a:r>
            <a:r>
              <a:rPr lang="en-US" dirty="0"/>
              <a:t> </a:t>
            </a:r>
            <a:r>
              <a:rPr lang="en-US" dirty="0" err="1"/>
              <a:t>простого</a:t>
            </a:r>
            <a:r>
              <a:rPr lang="en-US" dirty="0"/>
              <a:t> </a:t>
            </a:r>
            <a:r>
              <a:rPr lang="en-US" dirty="0" err="1"/>
              <a:t>примитива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сильно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характера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эффективной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соседние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обращаются</a:t>
            </a:r>
            <a:r>
              <a:rPr lang="en-US" dirty="0"/>
              <a:t> к </a:t>
            </a:r>
            <a:r>
              <a:rPr lang="en-US" dirty="0" err="1"/>
              <a:t>соседним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контроллер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объединять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запросов</a:t>
            </a:r>
            <a:r>
              <a:rPr lang="en-US" dirty="0"/>
              <a:t> в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крупную</a:t>
            </a:r>
            <a:r>
              <a:rPr lang="en-US" dirty="0"/>
              <a:t> </a:t>
            </a:r>
            <a:r>
              <a:rPr lang="en-US" dirty="0" err="1"/>
              <a:t>транзакцию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коалесцированным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обращаются</a:t>
            </a:r>
            <a:r>
              <a:rPr lang="en-US" dirty="0"/>
              <a:t> к </a:t>
            </a:r>
            <a:r>
              <a:rPr lang="en-US" dirty="0" err="1"/>
              <a:t>удалённым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друга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,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транзакций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возрастает</a:t>
            </a:r>
            <a:r>
              <a:rPr lang="en-US" dirty="0"/>
              <a:t>, а </a:t>
            </a:r>
            <a:r>
              <a:rPr lang="en-US" dirty="0" err="1"/>
              <a:t>эффективная</a:t>
            </a:r>
            <a:r>
              <a:rPr lang="en-US" dirty="0"/>
              <a:t> </a:t>
            </a:r>
            <a:r>
              <a:rPr lang="en-US" dirty="0" err="1"/>
              <a:t>пропускная</a:t>
            </a:r>
            <a:r>
              <a:rPr lang="en-US" dirty="0"/>
              <a:t> </a:t>
            </a:r>
            <a:r>
              <a:rPr lang="en-US" dirty="0" err="1"/>
              <a:t>способность</a:t>
            </a:r>
            <a:r>
              <a:rPr lang="en-US" dirty="0"/>
              <a:t> </a:t>
            </a:r>
            <a:r>
              <a:rPr lang="en-US" dirty="0" err="1"/>
              <a:t>снижается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размещения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71830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Подведём</a:t>
            </a:r>
            <a:r>
              <a:rPr lang="en-US" dirty="0"/>
              <a:t> </a:t>
            </a:r>
            <a:r>
              <a:rPr lang="en-US" dirty="0" err="1"/>
              <a:t>итог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Map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графических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создавались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GPU-</a:t>
            </a:r>
            <a:r>
              <a:rPr lang="en-US" dirty="0" err="1"/>
              <a:t>архитектуры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данный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  <a:r>
              <a:rPr lang="en-US" dirty="0" err="1"/>
              <a:t>чрезвычайно</a:t>
            </a:r>
            <a:r>
              <a:rPr lang="en-US" dirty="0"/>
              <a:t> </a:t>
            </a:r>
            <a:r>
              <a:rPr lang="en-US" dirty="0" err="1"/>
              <a:t>масштабируемым</a:t>
            </a:r>
            <a:r>
              <a:rPr lang="en-US" dirty="0"/>
              <a:t> и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в </a:t>
            </a:r>
            <a:r>
              <a:rPr lang="en-US" dirty="0" err="1"/>
              <a:t>реализации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увидим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объединить</a:t>
            </a:r>
            <a:r>
              <a:rPr lang="en-US" dirty="0"/>
              <a:t> в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итоговое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важнейший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— Reduction.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744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Map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Reduction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противоположную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итоговое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входных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распространёнными</a:t>
            </a:r>
            <a:r>
              <a:rPr lang="en-US" dirty="0"/>
              <a:t> </a:t>
            </a:r>
            <a:r>
              <a:rPr lang="en-US" dirty="0" err="1"/>
              <a:t>примерами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, </a:t>
            </a:r>
            <a:r>
              <a:rPr lang="en-US" dirty="0" err="1"/>
              <a:t>максимального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минимального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среднего</a:t>
            </a:r>
            <a:r>
              <a:rPr lang="en-US" dirty="0"/>
              <a:t> </a:t>
            </a:r>
            <a:r>
              <a:rPr lang="en-US" dirty="0" err="1"/>
              <a:t>арифметического</a:t>
            </a:r>
            <a:r>
              <a:rPr lang="en-US" dirty="0"/>
              <a:t> и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статистических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встречаются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областях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GPU: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научных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 и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Reduction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Map,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объединить</a:t>
            </a:r>
            <a:r>
              <a:rPr lang="en-US" dirty="0"/>
              <a:t> в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0449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приходит</a:t>
            </a:r>
            <a:r>
              <a:rPr lang="en-US" dirty="0"/>
              <a:t> в </a:t>
            </a:r>
            <a:r>
              <a:rPr lang="en-US" dirty="0" err="1"/>
              <a:t>голову</a:t>
            </a:r>
            <a:r>
              <a:rPr lang="en-US" dirty="0"/>
              <a:t>,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возьмёт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и </a:t>
            </a:r>
            <a:r>
              <a:rPr lang="en-US" dirty="0" err="1"/>
              <a:t>добавит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гонку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старое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,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и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обновлений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потеряна</a:t>
            </a:r>
            <a:r>
              <a:rPr lang="en-US" dirty="0"/>
              <a:t>.</a:t>
            </a:r>
          </a:p>
          <a:p>
            <a:r>
              <a:rPr lang="en-US" dirty="0" err="1"/>
              <a:t>Получаемый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недетерминированным</a:t>
            </a:r>
            <a:r>
              <a:rPr lang="en-US" dirty="0"/>
              <a:t> и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9408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устранения</a:t>
            </a:r>
            <a:r>
              <a:rPr lang="en-US" dirty="0"/>
              <a:t> </a:t>
            </a:r>
            <a:r>
              <a:rPr lang="en-US" dirty="0" err="1"/>
              <a:t>гонок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воспользоваться</a:t>
            </a:r>
            <a:r>
              <a:rPr lang="en-US" dirty="0"/>
              <a:t> </a:t>
            </a:r>
            <a:r>
              <a:rPr lang="en-US" dirty="0" err="1"/>
              <a:t>атомарными</a:t>
            </a:r>
            <a:r>
              <a:rPr lang="en-US" dirty="0"/>
              <a:t> </a:t>
            </a:r>
            <a:r>
              <a:rPr lang="en-US" dirty="0" err="1"/>
              <a:t>операциями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Атомарное</a:t>
            </a:r>
            <a:r>
              <a:rPr lang="en-US" dirty="0"/>
              <a:t> </a:t>
            </a:r>
            <a:r>
              <a:rPr lang="en-US" dirty="0" err="1"/>
              <a:t>сложение</a:t>
            </a:r>
            <a:r>
              <a:rPr lang="en-US" dirty="0"/>
              <a:t> </a:t>
            </a:r>
            <a:r>
              <a:rPr lang="en-US" dirty="0" err="1"/>
              <a:t>гарантирует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обновление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единая</a:t>
            </a:r>
            <a:r>
              <a:rPr lang="en-US" dirty="0"/>
              <a:t> </a:t>
            </a:r>
            <a:r>
              <a:rPr lang="en-US" dirty="0" err="1"/>
              <a:t>неделимая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хуже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тысячи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пытаются</a:t>
            </a:r>
            <a:r>
              <a:rPr lang="en-US" dirty="0"/>
              <a:t> </a:t>
            </a:r>
            <a:r>
              <a:rPr lang="en-US" dirty="0" err="1"/>
              <a:t>обновить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,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вынуждено</a:t>
            </a:r>
            <a:r>
              <a:rPr lang="en-US" dirty="0"/>
              <a:t> </a:t>
            </a:r>
            <a:r>
              <a:rPr lang="en-US" dirty="0" err="1"/>
              <a:t>обслуживать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запросы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очереди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большая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потенциального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r>
              <a:rPr lang="en-US" dirty="0"/>
              <a:t> </a:t>
            </a:r>
            <a:r>
              <a:rPr lang="en-US" dirty="0" err="1"/>
              <a:t>теряется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51255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эффективной</a:t>
            </a:r>
            <a:r>
              <a:rPr lang="en-US" dirty="0"/>
              <a:t> Reduction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отказе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единственной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вычисляют</a:t>
            </a:r>
            <a:r>
              <a:rPr lang="en-US" dirty="0"/>
              <a:t> </a:t>
            </a:r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друга</a:t>
            </a:r>
            <a:r>
              <a:rPr lang="en-US" dirty="0"/>
              <a:t>.</a:t>
            </a:r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попарно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шага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активных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</a:t>
            </a:r>
            <a:r>
              <a:rPr lang="en-US" dirty="0" err="1"/>
              <a:t>вдвое</a:t>
            </a:r>
            <a:r>
              <a:rPr lang="en-US" dirty="0"/>
              <a:t>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образует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 </a:t>
            </a:r>
            <a:r>
              <a:rPr lang="en-US" dirty="0" err="1"/>
              <a:t>редукции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значительную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и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уменьшает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конфликтов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8894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Reduction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рабочих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загружаются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в </a:t>
            </a:r>
            <a:r>
              <a:rPr lang="en-US" dirty="0" err="1"/>
              <a:t>быструю</a:t>
            </a:r>
            <a:r>
              <a:rPr lang="en-US" dirty="0"/>
              <a:t> </a:t>
            </a:r>
            <a:r>
              <a:rPr lang="en-US" dirty="0" err="1"/>
              <a:t>локальную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 </a:t>
            </a:r>
            <a:r>
              <a:rPr lang="en-US" dirty="0" err="1"/>
              <a:t>редукции</a:t>
            </a:r>
            <a:r>
              <a:rPr lang="en-US" dirty="0"/>
              <a:t>, </a:t>
            </a:r>
            <a:r>
              <a:rPr lang="en-US" dirty="0" err="1"/>
              <a:t>периодически</a:t>
            </a:r>
            <a:r>
              <a:rPr lang="en-US" dirty="0"/>
              <a:t> </a:t>
            </a:r>
            <a:r>
              <a:rPr lang="en-US" dirty="0" err="1"/>
              <a:t>синхронизируясь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</a:t>
            </a:r>
            <a:r>
              <a:rPr lang="en-US" dirty="0" err="1"/>
              <a:t>барьеров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выдаёт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частичный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велик</a:t>
            </a:r>
            <a:r>
              <a:rPr lang="en-US" dirty="0"/>
              <a:t>,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Reduction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частичными</a:t>
            </a:r>
            <a:r>
              <a:rPr lang="en-US" dirty="0"/>
              <a:t> </a:t>
            </a:r>
            <a:r>
              <a:rPr lang="en-US" dirty="0" err="1"/>
              <a:t>результатами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55537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задачах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миллионы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миллиарды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Reduction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этапов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частичную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входными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следующего</a:t>
            </a:r>
            <a:r>
              <a:rPr lang="en-US" dirty="0"/>
              <a:t> </a:t>
            </a:r>
            <a:r>
              <a:rPr lang="en-US" dirty="0" err="1"/>
              <a:t>этапа</a:t>
            </a:r>
            <a:r>
              <a:rPr lang="en-US" dirty="0"/>
              <a:t> Reduction.</a:t>
            </a:r>
          </a:p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итоговое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dirty="0" err="1"/>
              <a:t>финальный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центральном</a:t>
            </a:r>
            <a:r>
              <a:rPr lang="en-US" dirty="0"/>
              <a:t> </a:t>
            </a:r>
            <a:r>
              <a:rPr lang="en-US" dirty="0" err="1"/>
              <a:t>процессоре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оставшихся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малым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37385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Reduction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алгоритмических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параллельного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строятся</a:t>
            </a:r>
            <a:r>
              <a:rPr lang="en-US" dirty="0"/>
              <a:t> </a:t>
            </a:r>
            <a:r>
              <a:rPr lang="en-US" dirty="0" err="1"/>
              <a:t>многочисленные</a:t>
            </a:r>
            <a:r>
              <a:rPr lang="en-US" dirty="0"/>
              <a:t> </a:t>
            </a:r>
            <a:r>
              <a:rPr lang="en-US" dirty="0" err="1"/>
              <a:t>статистические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линейной</a:t>
            </a:r>
            <a:r>
              <a:rPr lang="en-US" dirty="0"/>
              <a:t> </a:t>
            </a:r>
            <a:r>
              <a:rPr lang="en-US" dirty="0" err="1"/>
              <a:t>алгебры</a:t>
            </a:r>
            <a:r>
              <a:rPr lang="en-US" dirty="0"/>
              <a:t> и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Reduction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внутренний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данного</a:t>
            </a:r>
            <a:r>
              <a:rPr lang="en-US" dirty="0"/>
              <a:t> </a:t>
            </a:r>
            <a:r>
              <a:rPr lang="en-US" dirty="0" err="1"/>
              <a:t>примитива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шагом</a:t>
            </a:r>
            <a:r>
              <a:rPr lang="en-US" dirty="0"/>
              <a:t> к </a:t>
            </a:r>
            <a:r>
              <a:rPr lang="en-US" dirty="0" err="1"/>
              <a:t>освоению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продвинутых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6948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Reduction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существенное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простыми</a:t>
            </a:r>
            <a:r>
              <a:rPr lang="en-US" dirty="0"/>
              <a:t> и </a:t>
            </a:r>
            <a:r>
              <a:rPr lang="en-US" dirty="0" err="1"/>
              <a:t>сложными</a:t>
            </a:r>
            <a:r>
              <a:rPr lang="en-US" dirty="0"/>
              <a:t> </a:t>
            </a:r>
            <a:r>
              <a:rPr lang="en-US" dirty="0" err="1"/>
              <a:t>параллельными</a:t>
            </a:r>
            <a:r>
              <a:rPr lang="en-US" dirty="0"/>
              <a:t> </a:t>
            </a:r>
            <a:r>
              <a:rPr lang="en-US" dirty="0" err="1"/>
              <a:t>алгоритмами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Map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взаимодействовали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организовать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совместную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древовидной</a:t>
            </a:r>
            <a:r>
              <a:rPr lang="en-US" dirty="0"/>
              <a:t> </a:t>
            </a:r>
            <a:r>
              <a:rPr lang="en-US" dirty="0" err="1"/>
              <a:t>структуре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рабочих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интересный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— Scan, </a:t>
            </a:r>
            <a:r>
              <a:rPr lang="en-US" dirty="0" err="1"/>
              <a:t>или</a:t>
            </a:r>
            <a:r>
              <a:rPr lang="en-US" dirty="0"/>
              <a:t> Prefix Sum,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лежит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66359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Примитив</a:t>
            </a:r>
            <a:r>
              <a:rPr lang="en-US" dirty="0"/>
              <a:t> Scan,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Prefix Sum,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в </a:t>
            </a:r>
            <a:r>
              <a:rPr lang="en-US" dirty="0" err="1"/>
              <a:t>параллельных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Reduction,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Scan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предыдущим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сложения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общем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любая</a:t>
            </a:r>
            <a:r>
              <a:rPr lang="en-US" dirty="0"/>
              <a:t> </a:t>
            </a:r>
            <a:r>
              <a:rPr lang="en-US" dirty="0" err="1"/>
              <a:t>ассоциативная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Различают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Scan.</a:t>
            </a:r>
          </a:p>
          <a:p>
            <a:r>
              <a:rPr lang="en-US" dirty="0"/>
              <a:t>Inclusive Scan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сумму</a:t>
            </a:r>
            <a:r>
              <a:rPr lang="en-US" dirty="0"/>
              <a:t>.</a:t>
            </a:r>
          </a:p>
          <a:p>
            <a:r>
              <a:rPr lang="en-US" dirty="0"/>
              <a:t>Exclusive Scan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, </a:t>
            </a:r>
            <a:r>
              <a:rPr lang="en-US" dirty="0" err="1"/>
              <a:t>расположенные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текущим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7933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Prefix Sum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специфическую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понятным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рассмотреть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позиций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обозначает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, а </a:t>
            </a:r>
            <a:r>
              <a:rPr lang="en-US" dirty="0" err="1"/>
              <a:t>ноль</a:t>
            </a:r>
            <a:r>
              <a:rPr lang="en-US" dirty="0"/>
              <a:t> — </a:t>
            </a:r>
            <a:r>
              <a:rPr lang="en-US" dirty="0" err="1"/>
              <a:t>элемент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отбросить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Exclusive Scan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индекс</a:t>
            </a:r>
            <a:r>
              <a:rPr lang="en-US" dirty="0"/>
              <a:t> </a:t>
            </a:r>
            <a:r>
              <a:rPr lang="en-US" dirty="0" err="1"/>
              <a:t>своей</a:t>
            </a:r>
            <a:r>
              <a:rPr lang="en-US" dirty="0"/>
              <a:t> </a:t>
            </a:r>
            <a:r>
              <a:rPr lang="en-US" dirty="0" err="1"/>
              <a:t>будущей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в </a:t>
            </a:r>
            <a:r>
              <a:rPr lang="en-US" dirty="0" err="1"/>
              <a:t>новом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свойству</a:t>
            </a:r>
            <a:r>
              <a:rPr lang="en-US" dirty="0"/>
              <a:t> Scan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множестве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537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Последовательная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Scan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полученного</a:t>
            </a:r>
            <a:r>
              <a:rPr lang="en-US" dirty="0"/>
              <a:t> </a:t>
            </a:r>
            <a:r>
              <a:rPr lang="en-US" dirty="0" err="1"/>
              <a:t>предыдущего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Map.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назначить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отдельному</a:t>
            </a:r>
            <a:r>
              <a:rPr lang="en-US" dirty="0"/>
              <a:t> </a:t>
            </a:r>
            <a:r>
              <a:rPr lang="en-US" dirty="0" err="1"/>
              <a:t>потоку</a:t>
            </a:r>
            <a:r>
              <a:rPr lang="en-US" dirty="0"/>
              <a:t>, </a:t>
            </a:r>
            <a:r>
              <a:rPr lang="en-US" dirty="0" err="1"/>
              <a:t>возникнет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очередного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эффективная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Scan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сложного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46033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известным</a:t>
            </a:r>
            <a:r>
              <a:rPr lang="en-US" dirty="0"/>
              <a:t> </a:t>
            </a:r>
            <a:r>
              <a:rPr lang="en-US" dirty="0" err="1"/>
              <a:t>параллельным</a:t>
            </a:r>
            <a:r>
              <a:rPr lang="en-US" dirty="0"/>
              <a:t> </a:t>
            </a:r>
            <a:r>
              <a:rPr lang="en-US" dirty="0" err="1"/>
              <a:t>алгоритмом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Блеллока</a:t>
            </a:r>
            <a:r>
              <a:rPr lang="en-US" dirty="0"/>
              <a:t>, </a:t>
            </a:r>
            <a:r>
              <a:rPr lang="en-US" dirty="0" err="1"/>
              <a:t>предложенный</a:t>
            </a:r>
            <a:r>
              <a:rPr lang="en-US" dirty="0"/>
              <a:t> </a:t>
            </a:r>
            <a:r>
              <a:rPr lang="en-US" dirty="0" err="1"/>
              <a:t>Гаем</a:t>
            </a:r>
            <a:r>
              <a:rPr lang="en-US" dirty="0"/>
              <a:t> </a:t>
            </a:r>
            <a:r>
              <a:rPr lang="en-US" dirty="0" err="1"/>
              <a:t>Блеллоком</a:t>
            </a:r>
            <a:r>
              <a:rPr lang="en-US" dirty="0"/>
              <a:t> в </a:t>
            </a:r>
            <a:r>
              <a:rPr lang="en-US" dirty="0" err="1"/>
              <a:t>начале</a:t>
            </a:r>
            <a:r>
              <a:rPr lang="en-US" dirty="0"/>
              <a:t> 1990-х </a:t>
            </a:r>
            <a:r>
              <a:rPr lang="en-US" dirty="0" err="1"/>
              <a:t>годов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фаз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фазе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построение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частичных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, </a:t>
            </a:r>
            <a:r>
              <a:rPr lang="en-US" dirty="0" err="1"/>
              <a:t>напоминающее</a:t>
            </a:r>
            <a:r>
              <a:rPr lang="en-US" dirty="0"/>
              <a:t> Reduction.</a:t>
            </a:r>
          </a:p>
          <a:p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фазу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Up-Sweep </a:t>
            </a:r>
            <a:r>
              <a:rPr lang="en-US" dirty="0" err="1"/>
              <a:t>или</a:t>
            </a:r>
            <a:r>
              <a:rPr lang="en-US" dirty="0"/>
              <a:t> Reduce Phase.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фазе</a:t>
            </a:r>
            <a:r>
              <a:rPr lang="en-US" dirty="0"/>
              <a:t> </a:t>
            </a:r>
            <a:r>
              <a:rPr lang="en-US" dirty="0" err="1"/>
              <a:t>накопленная</a:t>
            </a:r>
            <a:r>
              <a:rPr lang="en-US" dirty="0"/>
              <a:t> </a:t>
            </a:r>
            <a:r>
              <a:rPr lang="en-US" dirty="0" err="1"/>
              <a:t>информация</a:t>
            </a:r>
            <a:r>
              <a:rPr lang="en-US" dirty="0"/>
              <a:t> </a:t>
            </a:r>
            <a:r>
              <a:rPr lang="en-US" dirty="0" err="1"/>
              <a:t>распространяется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дереву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фаза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Down-Sweep.</a:t>
            </a:r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r>
              <a:rPr lang="en-US" dirty="0"/>
              <a:t> и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4939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фаза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с </a:t>
            </a:r>
            <a:r>
              <a:rPr lang="en-US" dirty="0" err="1"/>
              <a:t>деревом</a:t>
            </a:r>
            <a:r>
              <a:rPr lang="en-US" dirty="0"/>
              <a:t> Reduction.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объединяют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промежуточных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вершине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завершён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Reduction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итоговая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информация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дополнительный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дереву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28190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Up-Sweep в </a:t>
            </a:r>
            <a:r>
              <a:rPr lang="en-US" dirty="0" err="1"/>
              <a:t>корне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Prefix Sum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корень</a:t>
            </a:r>
            <a:r>
              <a:rPr lang="en-US" dirty="0"/>
              <a:t> </a:t>
            </a:r>
            <a:r>
              <a:rPr lang="en-US" dirty="0" err="1"/>
              <a:t>заменяется</a:t>
            </a:r>
            <a:r>
              <a:rPr lang="en-US" dirty="0"/>
              <a:t> </a:t>
            </a:r>
            <a:r>
              <a:rPr lang="en-US" dirty="0" err="1"/>
              <a:t>нейтральным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сложения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</a:t>
            </a:r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 </a:t>
            </a:r>
            <a:r>
              <a:rPr lang="en-US" dirty="0" err="1"/>
              <a:t>обходится</a:t>
            </a:r>
            <a:r>
              <a:rPr lang="en-US" dirty="0"/>
              <a:t> </a:t>
            </a:r>
            <a:r>
              <a:rPr lang="en-US" dirty="0" err="1"/>
              <a:t>сверху</a:t>
            </a:r>
            <a:r>
              <a:rPr lang="en-US" dirty="0"/>
              <a:t> </a:t>
            </a:r>
            <a:r>
              <a:rPr lang="en-US" dirty="0" err="1"/>
              <a:t>вниз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левый</a:t>
            </a:r>
            <a:r>
              <a:rPr lang="en-US" dirty="0"/>
              <a:t> </a:t>
            </a:r>
            <a:r>
              <a:rPr lang="en-US" dirty="0" err="1"/>
              <a:t>потомок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</a:p>
          <a:p>
            <a:r>
              <a:rPr lang="en-US" dirty="0"/>
              <a:t>Правый </a:t>
            </a:r>
            <a:r>
              <a:rPr lang="en-US" dirty="0" err="1"/>
              <a:t>потомок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 </a:t>
            </a:r>
            <a:r>
              <a:rPr lang="en-US" dirty="0" err="1"/>
              <a:t>плюс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левого</a:t>
            </a:r>
            <a:r>
              <a:rPr lang="en-US" dirty="0"/>
              <a:t> </a:t>
            </a:r>
            <a:r>
              <a:rPr lang="en-US" dirty="0" err="1"/>
              <a:t>поддерева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узлу</a:t>
            </a:r>
            <a:r>
              <a:rPr lang="en-US" dirty="0"/>
              <a:t> </a:t>
            </a:r>
            <a:r>
              <a:rPr lang="en-US" dirty="0" err="1"/>
              <a:t>узнать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расположенных</a:t>
            </a:r>
            <a:r>
              <a:rPr lang="en-US" dirty="0"/>
              <a:t> </a:t>
            </a:r>
            <a:r>
              <a:rPr lang="en-US" dirty="0" err="1"/>
              <a:t>левее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в </a:t>
            </a:r>
            <a:r>
              <a:rPr lang="en-US" dirty="0" err="1"/>
              <a:t>исходном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25762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фаза</a:t>
            </a:r>
            <a:r>
              <a:rPr lang="en-US" dirty="0"/>
              <a:t> Up-Sweep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 2 3 4 5 6 7 8]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соседние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 </a:t>
            </a:r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записываются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существующие</a:t>
            </a:r>
            <a:r>
              <a:rPr lang="en-US" dirty="0"/>
              <a:t> </a:t>
            </a:r>
            <a:r>
              <a:rPr lang="en-US" dirty="0" err="1"/>
              <a:t>ячейки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 </a:t>
            </a:r>
            <a:r>
              <a:rPr lang="en-US" dirty="0" err="1"/>
              <a:t>Элементы</a:t>
            </a:r>
            <a:r>
              <a:rPr lang="en-US" dirty="0"/>
              <a:t> с </a:t>
            </a:r>
            <a:r>
              <a:rPr lang="en-US" dirty="0" err="1"/>
              <a:t>индексами</a:t>
            </a:r>
            <a:r>
              <a:rPr lang="en-US" dirty="0"/>
              <a:t> 1, 3, 5 и 7 </a:t>
            </a:r>
            <a:r>
              <a:rPr lang="en-US" dirty="0" err="1"/>
              <a:t>заменяются</a:t>
            </a:r>
            <a:r>
              <a:rPr lang="en-US" dirty="0"/>
              <a:t> </a:t>
            </a:r>
            <a:r>
              <a:rPr lang="en-US" dirty="0" err="1"/>
              <a:t>суммами</a:t>
            </a:r>
            <a:r>
              <a:rPr lang="en-US" dirty="0"/>
              <a:t>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пар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получаем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 3 3 7 5 11 7 15]</a:t>
            </a:r>
          </a:p>
          <a:p>
            <a:r>
              <a:rPr lang="en-US" dirty="0" err="1"/>
              <a:t>Оранжевым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вычисленные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, а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. </a:t>
            </a:r>
            <a:r>
              <a:rPr lang="en-US" dirty="0" err="1"/>
              <a:t>Значение</a:t>
            </a:r>
            <a:r>
              <a:rPr lang="en-US" dirty="0"/>
              <a:t> 10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3 и 7, а </a:t>
            </a:r>
            <a:r>
              <a:rPr lang="en-US" dirty="0" err="1"/>
              <a:t>значение</a:t>
            </a:r>
            <a:r>
              <a:rPr lang="en-US" dirty="0"/>
              <a:t> 26 —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11 и 15.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вид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 3 3 10 5 11 7 26]</a:t>
            </a:r>
          </a:p>
          <a:p>
            <a:r>
              <a:rPr lang="en-US" dirty="0" err="1"/>
              <a:t>Зелёным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вершины</a:t>
            </a:r>
            <a:r>
              <a:rPr lang="en-US" dirty="0"/>
              <a:t> </a:t>
            </a:r>
            <a:r>
              <a:rPr lang="en-US" dirty="0" err="1"/>
              <a:t>второго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последнем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. </a:t>
            </a:r>
            <a:r>
              <a:rPr lang="en-US" dirty="0" err="1"/>
              <a:t>Значение</a:t>
            </a:r>
            <a:r>
              <a:rPr lang="en-US" dirty="0"/>
              <a:t> 36 </a:t>
            </a:r>
            <a:r>
              <a:rPr lang="en-US" dirty="0" err="1"/>
              <a:t>записывается</a:t>
            </a:r>
            <a:r>
              <a:rPr lang="en-US" dirty="0"/>
              <a:t> в </a:t>
            </a:r>
            <a:r>
              <a:rPr lang="en-US" dirty="0" err="1"/>
              <a:t>последнюю</a:t>
            </a:r>
            <a:r>
              <a:rPr lang="en-US" dirty="0"/>
              <a:t> </a:t>
            </a:r>
            <a:r>
              <a:rPr lang="en-US" dirty="0" err="1"/>
              <a:t>ячейку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и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исходного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r>
              <a:rPr lang="en-US" dirty="0" err="1"/>
              <a:t>Получаем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 3 3 10 5 11 7 36]</a:t>
            </a:r>
          </a:p>
          <a:p>
            <a:r>
              <a:rPr lang="en-US" dirty="0" err="1"/>
              <a:t>Голубым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 </a:t>
            </a:r>
            <a:r>
              <a:rPr lang="en-US" dirty="0" err="1"/>
              <a:t>выделена</a:t>
            </a:r>
            <a:r>
              <a:rPr lang="en-US" dirty="0"/>
              <a:t> </a:t>
            </a:r>
            <a:r>
              <a:rPr lang="en-US" dirty="0" err="1"/>
              <a:t>вершина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редукции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рисуют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объяснении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. </a:t>
            </a:r>
            <a:r>
              <a:rPr lang="en-US" dirty="0" err="1"/>
              <a:t>Физически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восьми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переиспользуется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промежуточных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</a:t>
            </a:r>
            <a:r>
              <a:rPr lang="en-US" b="1" dirty="0"/>
              <a:t>in-place</a:t>
            </a:r>
            <a:r>
              <a:rPr lang="en-US" dirty="0"/>
              <a:t>: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исходном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выделения</a:t>
            </a:r>
            <a:r>
              <a:rPr lang="en-US" dirty="0"/>
              <a:t> </a:t>
            </a:r>
            <a:r>
              <a:rPr lang="en-US" dirty="0" err="1"/>
              <a:t>дополнительной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важна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ограниченный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и </a:t>
            </a:r>
            <a:r>
              <a:rPr lang="en-US" dirty="0" err="1"/>
              <a:t>минимизировать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0761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возможных</a:t>
            </a:r>
            <a:r>
              <a:rPr lang="en-US" dirty="0"/>
              <a:t> </a:t>
            </a:r>
            <a:r>
              <a:rPr lang="en-US" dirty="0" err="1"/>
              <a:t>вариантов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фазы</a:t>
            </a:r>
            <a:r>
              <a:rPr lang="en-US" dirty="0"/>
              <a:t> Up-Sweep в OpenCL.</a:t>
            </a:r>
          </a:p>
          <a:p>
            <a:endParaRPr lang="en-US" dirty="0"/>
          </a:p>
          <a:p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dirty="0"/>
              <a:t> </a:t>
            </a:r>
            <a:r>
              <a:rPr lang="en-US" dirty="0" err="1"/>
              <a:t>расположен</a:t>
            </a:r>
            <a:r>
              <a:rPr lang="en-US" dirty="0"/>
              <a:t> в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и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которыми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Scan.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lid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потока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проходе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offset</a:t>
            </a:r>
            <a:r>
              <a:rPr lang="en-US" dirty="0"/>
              <a:t> </a:t>
            </a:r>
            <a:r>
              <a:rPr lang="en-US" dirty="0" err="1"/>
              <a:t>удваивается</a:t>
            </a:r>
            <a:r>
              <a:rPr lang="en-US" dirty="0"/>
              <a:t>.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соседние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обновлён</a:t>
            </a:r>
            <a:r>
              <a:rPr lang="en-US" dirty="0"/>
              <a:t> </a:t>
            </a:r>
            <a:r>
              <a:rPr lang="en-US" dirty="0" err="1"/>
              <a:t>данным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текущем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промежуточные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записываются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барьер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гарантирует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завершили</a:t>
            </a:r>
            <a:r>
              <a:rPr lang="en-US" dirty="0"/>
              <a:t> </a:t>
            </a:r>
            <a:r>
              <a:rPr lang="en-US" dirty="0" err="1"/>
              <a:t>обновление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начнётся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Up-Sweep.</a:t>
            </a:r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в </a:t>
            </a:r>
            <a:r>
              <a:rPr lang="en-US" dirty="0" err="1"/>
              <a:t>последнем</a:t>
            </a:r>
            <a:r>
              <a:rPr lang="en-US" dirty="0"/>
              <a:t> </a:t>
            </a:r>
            <a:r>
              <a:rPr lang="en-US" dirty="0" err="1"/>
              <a:t>элементе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, а </a:t>
            </a:r>
            <a:r>
              <a:rPr lang="en-US" dirty="0" err="1"/>
              <a:t>остальные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промежуточные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фазы</a:t>
            </a:r>
            <a:r>
              <a:rPr lang="en-US" dirty="0"/>
              <a:t> Down-Sweep.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7324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Down-Sweep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распространение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дереву</a:t>
            </a:r>
            <a:r>
              <a:rPr lang="en-US" dirty="0"/>
              <a:t>. </a:t>
            </a:r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реальной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никакого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использовался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Up-Sweep.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Up-Sweep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поддеревьев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примера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вид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 3 3 10 5 11 7 36]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Последний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Down-Sweep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заменяем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сложения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нейтральным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 и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первым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Exclusive Scan.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начинаем</a:t>
            </a:r>
            <a:r>
              <a:rPr lang="en-US" dirty="0"/>
              <a:t> </a:t>
            </a:r>
            <a:r>
              <a:rPr lang="en-US" dirty="0" err="1"/>
              <a:t>движение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уровням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сверху</a:t>
            </a:r>
            <a:r>
              <a:rPr lang="en-US" dirty="0"/>
              <a:t> </a:t>
            </a:r>
            <a:r>
              <a:rPr lang="en-US" dirty="0" err="1"/>
              <a:t>вниз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и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. </a:t>
            </a:r>
            <a:r>
              <a:rPr lang="en-US" dirty="0" err="1"/>
              <a:t>Левый</a:t>
            </a:r>
            <a:r>
              <a:rPr lang="en-US" dirty="0"/>
              <a:t> </a:t>
            </a:r>
            <a:r>
              <a:rPr lang="en-US" dirty="0" err="1"/>
              <a:t>потомок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, а </a:t>
            </a:r>
            <a:r>
              <a:rPr lang="en-US" dirty="0" err="1"/>
              <a:t>правый</a:t>
            </a:r>
            <a:r>
              <a:rPr lang="en-US" dirty="0"/>
              <a:t> </a:t>
            </a:r>
            <a:r>
              <a:rPr lang="en-US" dirty="0" err="1"/>
              <a:t>потомок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 и </a:t>
            </a:r>
            <a:r>
              <a:rPr lang="en-US" dirty="0" err="1"/>
              <a:t>старого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левого</a:t>
            </a:r>
            <a:r>
              <a:rPr lang="en-US" dirty="0"/>
              <a:t> </a:t>
            </a:r>
            <a:r>
              <a:rPr lang="en-US" dirty="0" err="1"/>
              <a:t>потомка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шаг</a:t>
            </a:r>
            <a:r>
              <a:rPr lang="en-US" dirty="0"/>
              <a:t>. </a:t>
            </a:r>
            <a:r>
              <a:rPr lang="en-US" dirty="0" err="1"/>
              <a:t>Значение</a:t>
            </a:r>
            <a:r>
              <a:rPr lang="en-US" dirty="0"/>
              <a:t> 10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сумме</a:t>
            </a:r>
            <a:r>
              <a:rPr lang="en-US" dirty="0"/>
              <a:t> </a:t>
            </a:r>
            <a:r>
              <a:rPr lang="en-US" dirty="0" err="1"/>
              <a:t>левого</a:t>
            </a:r>
            <a:r>
              <a:rPr lang="en-US" dirty="0"/>
              <a:t> </a:t>
            </a:r>
            <a:r>
              <a:rPr lang="en-US" dirty="0" err="1"/>
              <a:t>поддерева</a:t>
            </a:r>
            <a:r>
              <a:rPr lang="en-US" dirty="0"/>
              <a:t>, а </a:t>
            </a:r>
            <a:r>
              <a:rPr lang="en-US" dirty="0" err="1"/>
              <a:t>значение</a:t>
            </a:r>
            <a:r>
              <a:rPr lang="en-US" dirty="0"/>
              <a:t> 0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корне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левое</a:t>
            </a:r>
            <a:r>
              <a:rPr lang="en-US" dirty="0"/>
              <a:t> </a:t>
            </a:r>
            <a:r>
              <a:rPr lang="en-US" dirty="0" err="1"/>
              <a:t>поддерево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0, а </a:t>
            </a:r>
            <a:r>
              <a:rPr lang="en-US" dirty="0" err="1"/>
              <a:t>правое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10.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выделенные</a:t>
            </a:r>
            <a:r>
              <a:rPr lang="en-US" dirty="0"/>
              <a:t> </a:t>
            </a:r>
            <a:r>
              <a:rPr lang="en-US" dirty="0" err="1"/>
              <a:t>зелёным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аналогичная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поддеревьев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0 и 10 </a:t>
            </a:r>
            <a:r>
              <a:rPr lang="en-US" dirty="0" err="1"/>
              <a:t>формируются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: 0, 3, 10 и 21.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dirty="0" err="1"/>
              <a:t>голубым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последнем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к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соседнему</a:t>
            </a:r>
            <a:r>
              <a:rPr lang="en-US" dirty="0"/>
              <a:t> </a:t>
            </a:r>
            <a:r>
              <a:rPr lang="en-US" dirty="0" err="1"/>
              <a:t>блоку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листья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получают</a:t>
            </a:r>
            <a:r>
              <a:rPr lang="en-US" dirty="0"/>
              <a:t> </a:t>
            </a:r>
            <a:r>
              <a:rPr lang="en-US" dirty="0" err="1"/>
              <a:t>свои</a:t>
            </a:r>
            <a:r>
              <a:rPr lang="en-US" dirty="0"/>
              <a:t> </a:t>
            </a:r>
            <a:r>
              <a:rPr lang="en-US" dirty="0" err="1"/>
              <a:t>окончательные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Prefix Sum, </a:t>
            </a:r>
            <a:r>
              <a:rPr lang="en-US" dirty="0" err="1"/>
              <a:t>показанные</a:t>
            </a:r>
            <a:r>
              <a:rPr lang="en-US" dirty="0"/>
              <a:t> </a:t>
            </a:r>
            <a:r>
              <a:rPr lang="en-US" dirty="0" err="1"/>
              <a:t>фиолетовым</a:t>
            </a:r>
            <a:r>
              <a:rPr lang="en-US" dirty="0"/>
              <a:t> </a:t>
            </a:r>
            <a:r>
              <a:rPr lang="en-US" dirty="0" err="1"/>
              <a:t>цветом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имеющиеся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 </a:t>
            </a:r>
            <a:r>
              <a:rPr lang="en-US" dirty="0" err="1"/>
              <a:t>Никакие</a:t>
            </a:r>
            <a:r>
              <a:rPr lang="en-US" dirty="0"/>
              <a:t>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en-US" dirty="0" err="1"/>
              <a:t>структуры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O(N)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в </a:t>
            </a:r>
            <a:r>
              <a:rPr lang="en-US" dirty="0" err="1"/>
              <a:t>ограниченной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получаем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 1 3 6 10 15 21 28]</a:t>
            </a:r>
          </a:p>
          <a:p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Exclusive Scan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исходных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строительный</a:t>
            </a:r>
            <a:r>
              <a:rPr lang="en-US" dirty="0"/>
              <a:t> </a:t>
            </a:r>
            <a:r>
              <a:rPr lang="en-US" dirty="0" err="1"/>
              <a:t>блок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Stream Compaction </a:t>
            </a:r>
            <a:r>
              <a:rPr lang="en-US" dirty="0" err="1"/>
              <a:t>или</a:t>
            </a:r>
            <a:r>
              <a:rPr lang="en-US" dirty="0"/>
              <a:t> Radix 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фаза</a:t>
            </a:r>
            <a:r>
              <a:rPr lang="en-US" dirty="0"/>
              <a:t> Down-Sweep,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Up-Sweep в </a:t>
            </a:r>
            <a:r>
              <a:rPr lang="en-US" dirty="0" err="1"/>
              <a:t>том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последний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заменяется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Up-Sweep </a:t>
            </a:r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Exclusive Scan в </a:t>
            </a:r>
            <a:r>
              <a:rPr lang="en-US" dirty="0" err="1"/>
              <a:t>корне</a:t>
            </a:r>
            <a:r>
              <a:rPr lang="en-US" dirty="0"/>
              <a:t> </a:t>
            </a:r>
            <a:r>
              <a:rPr lang="en-US" dirty="0" err="1"/>
              <a:t>дерева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нейтральное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сложения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идёт</a:t>
            </a:r>
            <a:r>
              <a:rPr lang="en-US" dirty="0"/>
              <a:t> в </a:t>
            </a:r>
            <a:r>
              <a:rPr lang="en-US" dirty="0" err="1"/>
              <a:t>обратном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: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обрабатываются</a:t>
            </a:r>
            <a:r>
              <a:rPr lang="en-US" dirty="0"/>
              <a:t> </a:t>
            </a:r>
            <a:r>
              <a:rPr lang="en-US" dirty="0" err="1"/>
              <a:t>крупные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мелкие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</a:t>
            </a:r>
            <a:r>
              <a:rPr lang="en-US" dirty="0"/>
              <a:t> </a:t>
            </a:r>
            <a:r>
              <a:rPr lang="en-US" dirty="0" err="1"/>
              <a:t>указывает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правый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поддерева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 - offset</a:t>
            </a:r>
            <a:r>
              <a:rPr lang="en-US" dirty="0"/>
              <a:t> —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левый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условия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: </a:t>
            </a:r>
            <a:r>
              <a:rPr lang="en-US" dirty="0" err="1"/>
              <a:t>старое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левого</a:t>
            </a:r>
            <a:r>
              <a:rPr lang="en-US" dirty="0"/>
              <a:t> </a:t>
            </a:r>
            <a:r>
              <a:rPr lang="en-US" dirty="0" err="1"/>
              <a:t>узла</a:t>
            </a:r>
            <a:r>
              <a:rPr lang="en-US" dirty="0"/>
              <a:t>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</a:t>
            </a:r>
            <a:r>
              <a:rPr lang="en-US" dirty="0"/>
              <a:t>, </a:t>
            </a:r>
            <a:r>
              <a:rPr lang="en-US" dirty="0" err="1"/>
              <a:t>левый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, а </a:t>
            </a:r>
            <a:r>
              <a:rPr lang="en-US" dirty="0" err="1"/>
              <a:t>правый</a:t>
            </a:r>
            <a:r>
              <a:rPr lang="en-US" dirty="0"/>
              <a:t> </a:t>
            </a:r>
            <a:r>
              <a:rPr lang="en-US" dirty="0" err="1"/>
              <a:t>узел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 и </a:t>
            </a:r>
            <a:r>
              <a:rPr lang="en-US" dirty="0" err="1"/>
              <a:t>старого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левого</a:t>
            </a:r>
            <a:r>
              <a:rPr lang="en-US" dirty="0"/>
              <a:t> </a:t>
            </a:r>
            <a:r>
              <a:rPr lang="en-US" dirty="0" err="1"/>
              <a:t>узла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барьер</a:t>
            </a:r>
            <a:r>
              <a:rPr lang="en-US" dirty="0"/>
              <a:t>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Down-Sweep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</a:t>
            </a:r>
            <a:r>
              <a:rPr lang="en-US" dirty="0" err="1"/>
              <a:t>предыдущего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Exclusive Scan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5292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предполагали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помещается</a:t>
            </a:r>
            <a:r>
              <a:rPr lang="en-US" dirty="0"/>
              <a:t> в </a:t>
            </a:r>
            <a:r>
              <a:rPr lang="en-US" dirty="0" err="1"/>
              <a:t>локальную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возможно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большой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разбивается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фиксированного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.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Scan </a:t>
            </a:r>
            <a:r>
              <a:rPr lang="en-US" dirty="0" err="1"/>
              <a:t>своего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и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образуют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меньшего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Scan.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велик</a:t>
            </a:r>
            <a:r>
              <a:rPr lang="en-US" dirty="0"/>
              <a:t>, </a:t>
            </a:r>
            <a:r>
              <a:rPr lang="en-US" dirty="0" err="1"/>
              <a:t>процедура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.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многоуровневая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иерархическая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256, а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256³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первого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получится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256² </a:t>
            </a:r>
            <a:r>
              <a:rPr lang="en-US" dirty="0" err="1"/>
              <a:t>сумм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второго</a:t>
            </a:r>
            <a:r>
              <a:rPr lang="en-US" dirty="0"/>
              <a:t> —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256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обработан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верхнего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</a:t>
            </a:r>
            <a:r>
              <a:rPr lang="en-US" dirty="0" err="1"/>
              <a:t>обратный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известна</a:t>
            </a:r>
            <a:r>
              <a:rPr lang="en-US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расположенных</a:t>
            </a:r>
            <a:r>
              <a:rPr lang="en-US" dirty="0"/>
              <a:t> в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блоках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добавляется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элементам</a:t>
            </a:r>
            <a:r>
              <a:rPr lang="en-US" dirty="0"/>
              <a:t> </a:t>
            </a:r>
            <a:r>
              <a:rPr lang="en-US" dirty="0" err="1"/>
              <a:t>локального</a:t>
            </a:r>
            <a:r>
              <a:rPr lang="en-US" dirty="0"/>
              <a:t> Scan </a:t>
            </a:r>
            <a:r>
              <a:rPr lang="en-US" dirty="0" err="1"/>
              <a:t>данного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глобальная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составляет</a:t>
            </a:r>
            <a:r>
              <a:rPr lang="en-US" dirty="0"/>
              <a:t> </a:t>
            </a:r>
            <a:r>
              <a:rPr lang="en-US" dirty="0" err="1"/>
              <a:t>сумму</a:t>
            </a:r>
            <a:r>
              <a:rPr lang="en-US" dirty="0"/>
              <a:t> </a:t>
            </a:r>
            <a:r>
              <a:rPr lang="en-US" dirty="0" err="1"/>
              <a:t>размеров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промежуточных</a:t>
            </a:r>
            <a:r>
              <a:rPr lang="en-US" dirty="0"/>
              <a:t> </a:t>
            </a:r>
            <a:r>
              <a:rPr lang="en-US" dirty="0" err="1"/>
              <a:t>уровней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N/B + N/B² + N/B³ + ...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величина</a:t>
            </a:r>
            <a:r>
              <a:rPr lang="en-US" dirty="0"/>
              <a:t> </a:t>
            </a:r>
            <a:r>
              <a:rPr lang="en-US" dirty="0" err="1"/>
              <a:t>растёт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геометрическая</a:t>
            </a:r>
            <a:r>
              <a:rPr lang="en-US" dirty="0"/>
              <a:t> </a:t>
            </a:r>
            <a:r>
              <a:rPr lang="en-US" dirty="0" err="1"/>
              <a:t>прогрессия</a:t>
            </a:r>
            <a:r>
              <a:rPr lang="en-US" dirty="0"/>
              <a:t> 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размере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256 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 </a:t>
            </a:r>
            <a:r>
              <a:rPr lang="en-US" dirty="0" err="1"/>
              <a:t>составляют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0,4%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исходного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иерархический</a:t>
            </a:r>
            <a:r>
              <a:rPr lang="en-US" dirty="0"/>
              <a:t> Scan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большие</a:t>
            </a:r>
            <a:r>
              <a:rPr lang="en-US" dirty="0"/>
              <a:t> </a:t>
            </a:r>
            <a:r>
              <a:rPr lang="en-US" dirty="0" err="1"/>
              <a:t>объёмы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</a:t>
            </a:r>
            <a:r>
              <a:rPr lang="en-US" dirty="0" err="1"/>
              <a:t>реальных</a:t>
            </a:r>
            <a:r>
              <a:rPr lang="en-US" dirty="0"/>
              <a:t> GPU-</a:t>
            </a:r>
            <a:r>
              <a:rPr lang="en-US" dirty="0" err="1"/>
              <a:t>библиотеках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0303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показаться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Scan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kernel.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мешает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 OpenCL.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barrier()</a:t>
            </a:r>
            <a:r>
              <a:rPr lang="en-US" dirty="0"/>
              <a:t> </a:t>
            </a:r>
            <a:r>
              <a:rPr lang="en-US" dirty="0" err="1"/>
              <a:t>синхронизирует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 </a:t>
            </a:r>
            <a:r>
              <a:rPr lang="en-US" dirty="0" err="1"/>
              <a:t>Средств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рабочими</a:t>
            </a:r>
            <a:r>
              <a:rPr lang="en-US" dirty="0"/>
              <a:t> </a:t>
            </a:r>
            <a:r>
              <a:rPr lang="en-US" dirty="0" err="1"/>
              <a:t>группами</a:t>
            </a:r>
            <a:r>
              <a:rPr lang="en-US" dirty="0"/>
              <a:t> OpenCL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рабочие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вычислили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своих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,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,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переходить</a:t>
            </a:r>
            <a:r>
              <a:rPr lang="en-US" dirty="0"/>
              <a:t> к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следующего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. </a:t>
            </a:r>
            <a:r>
              <a:rPr lang="en-US" dirty="0" err="1"/>
              <a:t>Единственный</a:t>
            </a:r>
            <a:r>
              <a:rPr lang="en-US" dirty="0"/>
              <a:t> </a:t>
            </a:r>
            <a:r>
              <a:rPr lang="en-US" dirty="0" err="1"/>
              <a:t>надёжный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— </a:t>
            </a:r>
            <a:r>
              <a:rPr lang="en-US" dirty="0" err="1"/>
              <a:t>завершить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kernel и </a:t>
            </a:r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иерархический</a:t>
            </a:r>
            <a:r>
              <a:rPr lang="en-US" dirty="0"/>
              <a:t> Scan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реализуется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запусков</a:t>
            </a:r>
            <a:r>
              <a:rPr lang="en-US" dirty="0"/>
              <a:t> kernel.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проходы</a:t>
            </a:r>
            <a:r>
              <a:rPr lang="en-US" dirty="0"/>
              <a:t> </a:t>
            </a:r>
            <a:r>
              <a:rPr lang="en-US" dirty="0" err="1"/>
              <a:t>снизу</a:t>
            </a:r>
            <a:r>
              <a:rPr lang="en-US" dirty="0"/>
              <a:t> </a:t>
            </a:r>
            <a:r>
              <a:rPr lang="en-US" dirty="0" err="1"/>
              <a:t>вверх</a:t>
            </a:r>
            <a:r>
              <a:rPr lang="en-US" dirty="0"/>
              <a:t>, </a:t>
            </a:r>
            <a:r>
              <a:rPr lang="en-US" dirty="0" err="1"/>
              <a:t>вычисляющие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проходы</a:t>
            </a:r>
            <a:r>
              <a:rPr lang="en-US" dirty="0"/>
              <a:t> </a:t>
            </a:r>
            <a:r>
              <a:rPr lang="en-US" dirty="0" err="1"/>
              <a:t>сверху</a:t>
            </a:r>
            <a:r>
              <a:rPr lang="en-US" dirty="0"/>
              <a:t> </a:t>
            </a:r>
            <a:r>
              <a:rPr lang="en-US" dirty="0" err="1"/>
              <a:t>вниз</a:t>
            </a:r>
            <a:r>
              <a:rPr lang="en-US" dirty="0"/>
              <a:t>, </a:t>
            </a:r>
            <a:r>
              <a:rPr lang="en-US" dirty="0" err="1"/>
              <a:t>распространяющие</a:t>
            </a:r>
            <a:r>
              <a:rPr lang="en-US" dirty="0"/>
              <a:t> </a:t>
            </a:r>
            <a:r>
              <a:rPr lang="en-US" dirty="0" err="1"/>
              <a:t>накопленные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к </a:t>
            </a:r>
            <a:r>
              <a:rPr lang="en-US" dirty="0" err="1"/>
              <a:t>исходным</a:t>
            </a:r>
            <a:r>
              <a:rPr lang="en-US" dirty="0"/>
              <a:t> </a:t>
            </a:r>
            <a:r>
              <a:rPr lang="en-US" dirty="0" err="1"/>
              <a:t>данным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размером</a:t>
            </a:r>
            <a:r>
              <a:rPr lang="en-US" dirty="0"/>
              <a:t> 256³ </a:t>
            </a:r>
            <a:r>
              <a:rPr lang="en-US" dirty="0" err="1"/>
              <a:t>элементов</a:t>
            </a:r>
            <a:r>
              <a:rPr lang="en-US" dirty="0"/>
              <a:t> и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256 </a:t>
            </a:r>
            <a:r>
              <a:rPr lang="en-US" dirty="0" err="1"/>
              <a:t>потребуется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пяти</a:t>
            </a:r>
            <a:r>
              <a:rPr lang="en-US" dirty="0"/>
              <a:t> </a:t>
            </a:r>
            <a:r>
              <a:rPr lang="en-US" dirty="0" err="1"/>
              <a:t>запускам</a:t>
            </a:r>
            <a:r>
              <a:rPr lang="en-US" dirty="0"/>
              <a:t> kernel: </a:t>
            </a:r>
            <a:r>
              <a:rPr lang="en-US" dirty="0" err="1"/>
              <a:t>трём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и </a:t>
            </a:r>
            <a:r>
              <a:rPr lang="en-US" dirty="0" err="1"/>
              <a:t>двум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последующей</a:t>
            </a:r>
            <a:r>
              <a:rPr lang="en-US" dirty="0"/>
              <a:t> </a:t>
            </a:r>
            <a:r>
              <a:rPr lang="en-US" dirty="0" err="1"/>
              <a:t>коррекции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в GPU-</a:t>
            </a:r>
            <a:r>
              <a:rPr lang="en-US" dirty="0" err="1"/>
              <a:t>программировании</a:t>
            </a:r>
            <a:r>
              <a:rPr lang="en-US" dirty="0"/>
              <a:t> </a:t>
            </a:r>
            <a:r>
              <a:rPr lang="en-US" dirty="0" err="1"/>
              <a:t>запуск</a:t>
            </a:r>
            <a:r>
              <a:rPr lang="en-US" dirty="0"/>
              <a:t> kernel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рабочими</a:t>
            </a:r>
            <a:r>
              <a:rPr lang="en-US" dirty="0"/>
              <a:t> </a:t>
            </a:r>
            <a:r>
              <a:rPr lang="en-US" dirty="0" err="1"/>
              <a:t>группами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22807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сложную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, Scan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востребованных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в </a:t>
            </a:r>
            <a:r>
              <a:rPr lang="en-US" dirty="0" err="1"/>
              <a:t>параллельном</a:t>
            </a:r>
            <a:r>
              <a:rPr lang="en-US" dirty="0"/>
              <a:t> </a:t>
            </a:r>
            <a:r>
              <a:rPr lang="en-US" dirty="0" err="1"/>
              <a:t>программировании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лежит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, </a:t>
            </a:r>
            <a:r>
              <a:rPr lang="en-US" dirty="0" err="1"/>
              <a:t>фильтрации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 и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Scan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таковых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 </a:t>
            </a:r>
            <a:r>
              <a:rPr lang="en-US" dirty="0" err="1"/>
              <a:t>позиций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выходных</a:t>
            </a:r>
            <a:r>
              <a:rPr lang="en-US" dirty="0"/>
              <a:t> </a:t>
            </a:r>
            <a:r>
              <a:rPr lang="en-US" dirty="0" err="1"/>
              <a:t>структурах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исследователи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Prefix Sum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примитивом</a:t>
            </a:r>
            <a:r>
              <a:rPr lang="en-US" dirty="0"/>
              <a:t> </a:t>
            </a:r>
            <a:r>
              <a:rPr lang="en-US" dirty="0" err="1"/>
              <a:t>параллельных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752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Reduction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итоговое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Scan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богатую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узнать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остальных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Scan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универсальным</a:t>
            </a:r>
            <a:r>
              <a:rPr lang="en-US" dirty="0"/>
              <a:t> </a:t>
            </a:r>
            <a:r>
              <a:rPr lang="en-US" dirty="0" err="1"/>
              <a:t>строительным</a:t>
            </a:r>
            <a:r>
              <a:rPr lang="en-US" dirty="0"/>
              <a:t> </a:t>
            </a:r>
            <a:r>
              <a:rPr lang="en-US" dirty="0" err="1"/>
              <a:t>блоком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алгоритмом</a:t>
            </a:r>
            <a:r>
              <a:rPr lang="en-US" dirty="0"/>
              <a:t> </a:t>
            </a:r>
            <a:r>
              <a:rPr lang="en-US" dirty="0" err="1"/>
              <a:t>станет</a:t>
            </a:r>
            <a:r>
              <a:rPr lang="en-US" dirty="0"/>
              <a:t> Stream Compaction —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удаления</a:t>
            </a:r>
            <a:r>
              <a:rPr lang="en-US" dirty="0"/>
              <a:t> </a:t>
            </a:r>
            <a:r>
              <a:rPr lang="en-US" dirty="0" err="1"/>
              <a:t>ненужных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основанная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Prefix Sum.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0952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Задача</a:t>
            </a:r>
            <a:r>
              <a:rPr lang="en-US" dirty="0"/>
              <a:t> Stream Compaction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удалении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удовлетворяющих</a:t>
            </a:r>
            <a:r>
              <a:rPr lang="en-US" dirty="0"/>
              <a:t> </a:t>
            </a:r>
            <a:r>
              <a:rPr lang="en-US" dirty="0" err="1"/>
              <a:t>некоторому</a:t>
            </a:r>
            <a:r>
              <a:rPr lang="en-US" dirty="0"/>
              <a:t> </a:t>
            </a:r>
            <a:r>
              <a:rPr lang="en-US" dirty="0" err="1"/>
              <a:t>условию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нулевые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отрицательные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сохранение</a:t>
            </a:r>
            <a:r>
              <a:rPr lang="en-US" dirty="0"/>
              <a:t> </a:t>
            </a:r>
            <a:r>
              <a:rPr lang="en-US" dirty="0" err="1"/>
              <a:t>относительного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оставшихся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последовательной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просматриваем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и </a:t>
            </a:r>
            <a:r>
              <a:rPr lang="en-US" dirty="0" err="1"/>
              <a:t>копируем</a:t>
            </a:r>
            <a:r>
              <a:rPr lang="en-US" dirty="0"/>
              <a:t> </a:t>
            </a:r>
            <a:r>
              <a:rPr lang="en-US" dirty="0" err="1"/>
              <a:t>подходящие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в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позиция</a:t>
            </a:r>
            <a:r>
              <a:rPr lang="en-US" dirty="0"/>
              <a:t> </a:t>
            </a:r>
            <a:r>
              <a:rPr lang="en-US" dirty="0" err="1"/>
              <a:t>очередного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сохранено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CPU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проблем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мешает</a:t>
            </a:r>
            <a:r>
              <a:rPr lang="en-US" dirty="0"/>
              <a:t> </a:t>
            </a:r>
            <a:r>
              <a:rPr lang="en-US" dirty="0" err="1"/>
              <a:t>независимой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неизвестно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фильтрации</a:t>
            </a:r>
            <a:r>
              <a:rPr lang="en-US" dirty="0"/>
              <a:t> и </a:t>
            </a:r>
            <a:r>
              <a:rPr lang="en-US" dirty="0" err="1"/>
              <a:t>куда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записывать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7815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индекс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в </a:t>
            </a:r>
            <a:r>
              <a:rPr lang="en-US" dirty="0" err="1"/>
              <a:t>выходном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поток</a:t>
            </a:r>
            <a:r>
              <a:rPr lang="en-US" dirty="0"/>
              <a:t>, </a:t>
            </a:r>
            <a:r>
              <a:rPr lang="en-US" dirty="0" err="1"/>
              <a:t>обрабатывающий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7,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1,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позиция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Stream Compaction </a:t>
            </a:r>
            <a:r>
              <a:rPr lang="en-US" dirty="0" err="1"/>
              <a:t>заключается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фильтрации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а в </a:t>
            </a:r>
            <a:r>
              <a:rPr lang="en-US" dirty="0" err="1"/>
              <a:t>вычислении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позиций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89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и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маску</a:t>
            </a:r>
            <a:r>
              <a:rPr lang="en-US" dirty="0"/>
              <a:t>.</a:t>
            </a:r>
          </a:p>
          <a:p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Ноль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отброшен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Map и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152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Exclusive Scan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маской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Полученное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сохранённых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, </a:t>
            </a:r>
            <a:r>
              <a:rPr lang="en-US" dirty="0" err="1"/>
              <a:t>расположенных</a:t>
            </a:r>
            <a:r>
              <a:rPr lang="en-US" dirty="0"/>
              <a:t> </a:t>
            </a:r>
            <a:r>
              <a:rPr lang="en-US" dirty="0" err="1"/>
              <a:t>левее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Scan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индекс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которому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выходной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понятно</a:t>
            </a:r>
            <a:r>
              <a:rPr lang="en-US" dirty="0"/>
              <a:t>, </a:t>
            </a:r>
            <a:r>
              <a:rPr lang="en-US" dirty="0" err="1"/>
              <a:t>почему</a:t>
            </a:r>
            <a:r>
              <a:rPr lang="en-US" dirty="0"/>
              <a:t> Prefix Sum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настолько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примитивом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позиций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последовательного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5244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последнем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и в </a:t>
            </a:r>
            <a:r>
              <a:rPr lang="en-US" dirty="0" err="1"/>
              <a:t>какую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элемент</a:t>
            </a:r>
            <a:r>
              <a:rPr lang="en-US" dirty="0"/>
              <a:t> 7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Scan, </a:t>
            </a:r>
            <a:r>
              <a:rPr lang="en-US" dirty="0" err="1"/>
              <a:t>равное</a:t>
            </a:r>
            <a:r>
              <a:rPr lang="en-US" dirty="0"/>
              <a:t> </a:t>
            </a:r>
            <a:r>
              <a:rPr lang="en-US" dirty="0" err="1"/>
              <a:t>единице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1.</a:t>
            </a:r>
          </a:p>
          <a:p>
            <a:r>
              <a:rPr lang="en-US" dirty="0" err="1"/>
              <a:t>Элемент</a:t>
            </a:r>
            <a:r>
              <a:rPr lang="en-US" dirty="0"/>
              <a:t> 5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2, а </a:t>
            </a:r>
            <a:r>
              <a:rPr lang="en-US" dirty="0" err="1"/>
              <a:t>элемент</a:t>
            </a:r>
            <a:r>
              <a:rPr lang="en-US" dirty="0"/>
              <a:t> 9 —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3.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конфликтов</a:t>
            </a:r>
            <a:r>
              <a:rPr lang="en-US" dirty="0"/>
              <a:t> и </a:t>
            </a:r>
            <a:r>
              <a:rPr lang="en-US" dirty="0" err="1"/>
              <a:t>атомарных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5880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знакомых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Map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маски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Scan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Наконец</a:t>
            </a:r>
            <a:r>
              <a:rPr lang="en-US" dirty="0"/>
              <a:t>, Scatter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в </a:t>
            </a:r>
            <a:r>
              <a:rPr lang="en-US" dirty="0" err="1"/>
              <a:t>выходной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строятся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63662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Stream Compaction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всякий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исключить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дальнейших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—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частиц</a:t>
            </a:r>
            <a:r>
              <a:rPr lang="en-US" dirty="0"/>
              <a:t>. В </a:t>
            </a:r>
            <a:r>
              <a:rPr lang="en-US" dirty="0" err="1"/>
              <a:t>ходе</a:t>
            </a:r>
            <a:r>
              <a:rPr lang="en-US" dirty="0"/>
              <a:t> </a:t>
            </a:r>
            <a:r>
              <a:rPr lang="en-US" dirty="0" err="1"/>
              <a:t>моделирования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частиц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завершить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жизненный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обрабатывать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каждом</a:t>
            </a:r>
            <a:r>
              <a:rPr lang="en-US" dirty="0"/>
              <a:t> </a:t>
            </a:r>
            <a:r>
              <a:rPr lang="en-US" dirty="0" err="1"/>
              <a:t>кадре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и </a:t>
            </a:r>
            <a:r>
              <a:rPr lang="en-US" dirty="0" err="1"/>
              <a:t>оставить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активные</a:t>
            </a:r>
            <a:r>
              <a:rPr lang="en-US" dirty="0"/>
              <a:t> </a:t>
            </a:r>
            <a:r>
              <a:rPr lang="en-US" dirty="0" err="1"/>
              <a:t>частицы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—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обхода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очередного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графа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вершин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интереса</a:t>
            </a:r>
            <a:r>
              <a:rPr lang="en-US" dirty="0"/>
              <a:t>. Stream Compaction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сформировать</a:t>
            </a:r>
            <a:r>
              <a:rPr lang="en-US" dirty="0"/>
              <a:t> </a:t>
            </a:r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список</a:t>
            </a:r>
            <a:r>
              <a:rPr lang="en-US" dirty="0"/>
              <a:t> </a:t>
            </a:r>
            <a:r>
              <a:rPr lang="en-US" dirty="0" err="1"/>
              <a:t>вершин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исследовать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шаге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Похожая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в </a:t>
            </a:r>
            <a:r>
              <a:rPr lang="en-US" dirty="0" err="1"/>
              <a:t>алгоритмах</a:t>
            </a:r>
            <a:r>
              <a:rPr lang="en-US" dirty="0"/>
              <a:t> </a:t>
            </a:r>
            <a:r>
              <a:rPr lang="en-US" dirty="0" err="1"/>
              <a:t>трассировки</a:t>
            </a:r>
            <a:r>
              <a:rPr lang="en-US" dirty="0"/>
              <a:t> </a:t>
            </a:r>
            <a:r>
              <a:rPr lang="en-US" dirty="0" err="1"/>
              <a:t>лучей</a:t>
            </a:r>
            <a:r>
              <a:rPr lang="en-US" dirty="0"/>
              <a:t>.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лучи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покидают</a:t>
            </a:r>
            <a:r>
              <a:rPr lang="en-US" dirty="0"/>
              <a:t> </a:t>
            </a:r>
            <a:r>
              <a:rPr lang="en-US" dirty="0" err="1"/>
              <a:t>сцену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достигают</a:t>
            </a:r>
            <a:r>
              <a:rPr lang="en-US" dirty="0"/>
              <a:t> </a:t>
            </a:r>
            <a:r>
              <a:rPr lang="en-US" dirty="0" err="1"/>
              <a:t>цели</a:t>
            </a:r>
            <a:r>
              <a:rPr lang="en-US" dirty="0"/>
              <a:t> и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удаление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сосредоточить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GPU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лучах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активны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Наконец</a:t>
            </a:r>
            <a:r>
              <a:rPr lang="en-US" dirty="0"/>
              <a:t>, Stream Compaction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подготовительный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ненужные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передаваемых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этапами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и </a:t>
            </a:r>
            <a:r>
              <a:rPr lang="en-US" dirty="0" err="1"/>
              <a:t>сократить</a:t>
            </a:r>
            <a:r>
              <a:rPr lang="en-US" dirty="0"/>
              <a:t>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Stream Compaction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 </a:t>
            </a:r>
            <a:r>
              <a:rPr lang="en-US" dirty="0" err="1"/>
              <a:t>фильтрации</a:t>
            </a:r>
            <a:r>
              <a:rPr lang="en-US" dirty="0"/>
              <a:t>, а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 </a:t>
            </a:r>
            <a:r>
              <a:rPr lang="en-US" dirty="0" err="1"/>
              <a:t>повышения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GPU-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60310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 Compaction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</a:t>
            </a:r>
            <a:r>
              <a:rPr lang="en-US" dirty="0" err="1"/>
              <a:t>современного</a:t>
            </a:r>
            <a:r>
              <a:rPr lang="en-US" dirty="0"/>
              <a:t> GPU-</a:t>
            </a:r>
            <a:r>
              <a:rPr lang="en-US" dirty="0" err="1"/>
              <a:t>программирования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полезные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, а </a:t>
            </a:r>
            <a:r>
              <a:rPr lang="en-US" dirty="0" err="1"/>
              <a:t>собираются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ключевую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играет</a:t>
            </a:r>
            <a:r>
              <a:rPr lang="en-US" dirty="0"/>
              <a:t> Scan,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последовательного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Prefix Sum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алгоритмических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параллельных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26426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подсчёте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появлений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подсчитать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пикселей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яркость</a:t>
            </a:r>
            <a:r>
              <a:rPr lang="en-US" dirty="0"/>
              <a:t> 0,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яркость</a:t>
            </a:r>
            <a:r>
              <a:rPr lang="en-US" dirty="0"/>
              <a:t> 1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255.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Map и Scan,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соответствовать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ячейке</a:t>
            </a:r>
            <a:r>
              <a:rPr lang="en-US" dirty="0"/>
              <a:t> </a:t>
            </a:r>
            <a:r>
              <a:rPr lang="en-US" dirty="0" err="1"/>
              <a:t>гистограммы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основную</a:t>
            </a:r>
            <a:r>
              <a:rPr lang="en-US" dirty="0"/>
              <a:t> </a:t>
            </a:r>
            <a:r>
              <a:rPr lang="en-US" dirty="0" err="1"/>
              <a:t>сложность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параллельной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2330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гистограммы</a:t>
            </a:r>
            <a:r>
              <a:rPr lang="en-US" dirty="0"/>
              <a:t> —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.</a:t>
            </a:r>
          </a:p>
          <a:p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возможному</a:t>
            </a:r>
            <a:r>
              <a:rPr lang="en-US" dirty="0"/>
              <a:t> </a:t>
            </a:r>
            <a:r>
              <a:rPr lang="en-US" dirty="0" err="1"/>
              <a:t>значению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очередного</a:t>
            </a:r>
            <a:r>
              <a:rPr lang="en-US" dirty="0"/>
              <a:t> </a:t>
            </a:r>
            <a:r>
              <a:rPr lang="en-US" dirty="0" err="1"/>
              <a:t>пикселя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яркость</a:t>
            </a:r>
            <a:r>
              <a:rPr lang="en-US" dirty="0"/>
              <a:t> и </a:t>
            </a:r>
            <a:r>
              <a:rPr lang="en-US" dirty="0" err="1"/>
              <a:t>увеличить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в </a:t>
            </a:r>
            <a:r>
              <a:rPr lang="en-US" dirty="0" err="1"/>
              <a:t>последовательной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одновременного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к </a:t>
            </a:r>
            <a:r>
              <a:rPr lang="en-US" dirty="0" err="1"/>
              <a:t>одним</a:t>
            </a:r>
            <a:r>
              <a:rPr lang="en-US" dirty="0"/>
              <a:t> и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счётчикам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47405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обрабатывает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потока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встретят</a:t>
            </a:r>
            <a:r>
              <a:rPr lang="en-US" dirty="0"/>
              <a:t> </a:t>
            </a:r>
            <a:r>
              <a:rPr lang="en-US" dirty="0" err="1"/>
              <a:t>одинаковое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,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попытаются</a:t>
            </a:r>
            <a:r>
              <a:rPr lang="en-US" dirty="0"/>
              <a:t> </a:t>
            </a:r>
            <a:r>
              <a:rPr lang="en-US" dirty="0" err="1"/>
              <a:t>увеличить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.</a:t>
            </a:r>
          </a:p>
          <a:p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старое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какая-либо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успеет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обновлений</a:t>
            </a:r>
            <a:r>
              <a:rPr lang="en-US" dirty="0"/>
              <a:t> </a:t>
            </a:r>
            <a:r>
              <a:rPr lang="en-US" dirty="0" err="1"/>
              <a:t>потеряется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некорректной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устранения</a:t>
            </a:r>
            <a:r>
              <a:rPr lang="en-US" dirty="0"/>
              <a:t> </a:t>
            </a:r>
            <a:r>
              <a:rPr lang="en-US" dirty="0" err="1"/>
              <a:t>гонок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атомарные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неделимая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гарантирует</a:t>
            </a:r>
            <a:r>
              <a:rPr lang="en-US" dirty="0"/>
              <a:t> </a:t>
            </a:r>
            <a:r>
              <a:rPr lang="en-US" dirty="0" err="1"/>
              <a:t>корректность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низкой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тысячи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пытаются</a:t>
            </a:r>
            <a:r>
              <a:rPr lang="en-US" dirty="0"/>
              <a:t> </a:t>
            </a:r>
            <a:r>
              <a:rPr lang="en-US" dirty="0" err="1"/>
              <a:t>обновлять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,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большая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потенциального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r>
              <a:rPr lang="en-US" dirty="0"/>
              <a:t> </a:t>
            </a:r>
            <a:r>
              <a:rPr lang="en-US" dirty="0" err="1"/>
              <a:t>теряется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3054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повышения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двухэтапный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гистограммы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локальную</a:t>
            </a:r>
            <a:r>
              <a:rPr lang="en-US" dirty="0"/>
              <a:t> </a:t>
            </a:r>
            <a:r>
              <a:rPr lang="en-US" dirty="0" err="1"/>
              <a:t>гистограмму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размещается</a:t>
            </a:r>
            <a:r>
              <a:rPr lang="en-US" dirty="0"/>
              <a:t> в </a:t>
            </a:r>
            <a:r>
              <a:rPr lang="en-US" dirty="0" err="1"/>
              <a:t>быстрой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GPU.</a:t>
            </a:r>
          </a:p>
          <a:p>
            <a:endParaRPr lang="ru-RU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конкуренция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всеми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частичную</a:t>
            </a:r>
            <a:r>
              <a:rPr lang="en-US" dirty="0"/>
              <a:t> </a:t>
            </a:r>
            <a:r>
              <a:rPr lang="en-US" dirty="0" err="1"/>
              <a:t>гистограмму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просуммировать</a:t>
            </a:r>
            <a:r>
              <a:rPr lang="en-US" dirty="0"/>
              <a:t>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счётчики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локальных</a:t>
            </a:r>
            <a:r>
              <a:rPr lang="en-US" dirty="0"/>
              <a:t> </a:t>
            </a:r>
            <a:r>
              <a:rPr lang="en-US" dirty="0" err="1"/>
              <a:t>гистограмм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напоминает</a:t>
            </a:r>
            <a:r>
              <a:rPr lang="en-US" dirty="0"/>
              <a:t> Reduction 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исходных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15076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Гистограммы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распределения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распределение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и </a:t>
            </a:r>
            <a:r>
              <a:rPr lang="en-US" dirty="0" err="1"/>
              <a:t>контраст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алгоритмах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Radix Sort, </a:t>
            </a:r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подсчёта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гистограммы</a:t>
            </a:r>
            <a:r>
              <a:rPr lang="en-US" dirty="0"/>
              <a:t> </a:t>
            </a:r>
            <a:r>
              <a:rPr lang="en-US" dirty="0" err="1"/>
              <a:t>применяются</a:t>
            </a:r>
            <a:r>
              <a:rPr lang="en-US" dirty="0"/>
              <a:t> в </a:t>
            </a:r>
            <a:r>
              <a:rPr lang="en-US" dirty="0" err="1"/>
              <a:t>статистике</a:t>
            </a:r>
            <a:r>
              <a:rPr lang="en-US" dirty="0"/>
              <a:t>, </a:t>
            </a:r>
            <a:r>
              <a:rPr lang="en-US" dirty="0" err="1"/>
              <a:t>анализе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алгоритмах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конечной</a:t>
            </a:r>
            <a:r>
              <a:rPr lang="en-US" dirty="0"/>
              <a:t> </a:t>
            </a:r>
            <a:r>
              <a:rPr lang="en-US" dirty="0" err="1"/>
              <a:t>целью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а </a:t>
            </a:r>
            <a:r>
              <a:rPr lang="en-US" dirty="0" err="1"/>
              <a:t>служит</a:t>
            </a:r>
            <a:r>
              <a:rPr lang="en-US" dirty="0"/>
              <a:t> </a:t>
            </a:r>
            <a:r>
              <a:rPr lang="en-US" dirty="0" err="1"/>
              <a:t>промежуточным</a:t>
            </a:r>
            <a:r>
              <a:rPr lang="en-US" dirty="0"/>
              <a:t> </a:t>
            </a:r>
            <a:r>
              <a:rPr lang="en-US" dirty="0" err="1"/>
              <a:t>этапом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сложного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12912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параллельного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dirty="0" err="1"/>
              <a:t>узким</a:t>
            </a:r>
            <a:r>
              <a:rPr lang="en-US" dirty="0"/>
              <a:t> </a:t>
            </a:r>
            <a:r>
              <a:rPr lang="en-US" dirty="0" err="1"/>
              <a:t>местом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эффективных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характер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конкуренцию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и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8842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с </a:t>
            </a:r>
            <a:r>
              <a:rPr lang="en-US" dirty="0" err="1"/>
              <a:t>номером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работал</a:t>
            </a:r>
            <a:r>
              <a:rPr lang="en-US" dirty="0"/>
              <a:t> с </a:t>
            </a:r>
            <a:r>
              <a:rPr lang="en-US" dirty="0" err="1"/>
              <a:t>элементом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задачах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записывать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индексам</a:t>
            </a:r>
            <a:r>
              <a:rPr lang="en-US" dirty="0"/>
              <a:t>, </a:t>
            </a:r>
            <a:r>
              <a:rPr lang="en-US" dirty="0" err="1"/>
              <a:t>вычисленным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примитива</a:t>
            </a:r>
            <a:r>
              <a:rPr lang="en-US" dirty="0"/>
              <a:t>: Gather и Scatter.</a:t>
            </a:r>
          </a:p>
          <a:p>
            <a:endParaRPr lang="en-US" dirty="0"/>
          </a:p>
          <a:p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перестановку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в </a:t>
            </a:r>
            <a:r>
              <a:rPr lang="en-US" dirty="0" err="1"/>
              <a:t>противоположных</a:t>
            </a:r>
            <a:r>
              <a:rPr lang="en-US" dirty="0"/>
              <a:t> </a:t>
            </a:r>
            <a:r>
              <a:rPr lang="en-US" dirty="0" err="1"/>
              <a:t>направлениях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063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операции</a:t>
            </a:r>
            <a:r>
              <a:rPr lang="en-US" dirty="0"/>
              <a:t> Gather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 </a:t>
            </a:r>
            <a:r>
              <a:rPr lang="en-US" dirty="0" err="1"/>
              <a:t>своей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и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индексов</a:t>
            </a:r>
            <a:r>
              <a:rPr lang="en-US" dirty="0"/>
              <a:t> </a:t>
            </a:r>
            <a:r>
              <a:rPr lang="en-US" dirty="0" err="1"/>
              <a:t>определяет</a:t>
            </a:r>
            <a:r>
              <a:rPr lang="en-US" dirty="0"/>
              <a:t>, </a:t>
            </a:r>
            <a:r>
              <a:rPr lang="en-US" dirty="0" err="1"/>
              <a:t>откуда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с </a:t>
            </a:r>
            <a:r>
              <a:rPr lang="en-US" dirty="0" err="1"/>
              <a:t>индексом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,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— </a:t>
            </a:r>
            <a:r>
              <a:rPr lang="en-US" dirty="0" err="1"/>
              <a:t>элемент</a:t>
            </a:r>
            <a:r>
              <a:rPr lang="en-US" dirty="0"/>
              <a:t> с </a:t>
            </a:r>
            <a:r>
              <a:rPr lang="en-US" dirty="0" err="1"/>
              <a:t>индексом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Слово</a:t>
            </a:r>
            <a:r>
              <a:rPr lang="en-US" dirty="0"/>
              <a:t> Gather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перевести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«</a:t>
            </a:r>
            <a:r>
              <a:rPr lang="en-US" dirty="0" err="1"/>
              <a:t>собрать</a:t>
            </a:r>
            <a:r>
              <a:rPr lang="en-US" dirty="0"/>
              <a:t>». </a:t>
            </a:r>
            <a:r>
              <a:rPr lang="en-US" dirty="0" err="1"/>
              <a:t>Действительно</a:t>
            </a:r>
            <a:r>
              <a:rPr lang="en-US" dirty="0"/>
              <a:t>,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собирает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входного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-</a:t>
            </a:r>
          </a:p>
          <a:p>
            <a:endParaRPr lang="en-US" dirty="0"/>
          </a:p>
          <a:p>
            <a:r>
              <a:rPr lang="en-US" dirty="0"/>
              <a:t>Scatter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противоположную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входного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и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позицию</a:t>
            </a:r>
            <a:r>
              <a:rPr lang="en-US" dirty="0"/>
              <a:t>, </a:t>
            </a:r>
            <a:r>
              <a:rPr lang="en-US" dirty="0" err="1"/>
              <a:t>указанную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индексов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Слово</a:t>
            </a:r>
            <a:r>
              <a:rPr lang="en-US" dirty="0"/>
              <a:t> Scatter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перевести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«</a:t>
            </a:r>
            <a:r>
              <a:rPr lang="en-US" dirty="0" err="1"/>
              <a:t>разбросать</a:t>
            </a:r>
            <a:r>
              <a:rPr lang="en-US" dirty="0"/>
              <a:t>».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Gather </a:t>
            </a:r>
            <a:r>
              <a:rPr lang="en-US" dirty="0" err="1"/>
              <a:t>собирает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мест</a:t>
            </a:r>
            <a:r>
              <a:rPr lang="en-US" dirty="0"/>
              <a:t> в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Scatter </a:t>
            </a:r>
            <a:r>
              <a:rPr lang="en-US" dirty="0" err="1"/>
              <a:t>распределяет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различным</a:t>
            </a:r>
            <a:r>
              <a:rPr lang="en-US" dirty="0"/>
              <a:t> </a:t>
            </a:r>
            <a:r>
              <a:rPr lang="en-US" dirty="0" err="1"/>
              <a:t>позициям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обе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выглядят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похожими</a:t>
            </a:r>
            <a:r>
              <a:rPr lang="en-US" dirty="0"/>
              <a:t>.</a:t>
            </a:r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принципиальная</a:t>
            </a:r>
            <a:r>
              <a:rPr lang="en-US" dirty="0"/>
              <a:t> </a:t>
            </a:r>
            <a:r>
              <a:rPr lang="en-US" dirty="0" err="1"/>
              <a:t>разница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Gather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записывают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в </a:t>
            </a:r>
            <a:r>
              <a:rPr lang="en-US" dirty="0" err="1"/>
              <a:t>последовательные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r>
              <a:rPr lang="en-US" dirty="0"/>
              <a:t>В Scatter </a:t>
            </a:r>
            <a:r>
              <a:rPr lang="en-US" dirty="0" err="1"/>
              <a:t>последовательным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входного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а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произвольным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 </a:t>
            </a:r>
            <a:r>
              <a:rPr lang="en-US" dirty="0" err="1"/>
              <a:t>оказывает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влияние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53663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Gather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удобной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GPU.</a:t>
            </a:r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читают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случайных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в </a:t>
            </a:r>
            <a:r>
              <a:rPr lang="en-US" dirty="0" err="1"/>
              <a:t>последовательные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конфликтов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Gather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ухудшении</a:t>
            </a:r>
            <a:r>
              <a:rPr lang="en-US" dirty="0"/>
              <a:t> </a:t>
            </a:r>
            <a:r>
              <a:rPr lang="en-US" dirty="0" err="1"/>
              <a:t>локальности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снижении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кэширования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4669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сложной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пытаются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и </a:t>
            </a:r>
            <a:r>
              <a:rPr lang="en-US" dirty="0" err="1"/>
              <a:t>тому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,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конфликт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неопределённым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Scatter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гарантия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потоку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уникальная</a:t>
            </a:r>
            <a:r>
              <a:rPr lang="en-US" dirty="0"/>
              <a:t> </a:t>
            </a:r>
            <a:r>
              <a:rPr lang="en-US" dirty="0" err="1"/>
              <a:t>позиция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такую</a:t>
            </a:r>
            <a:r>
              <a:rPr lang="en-US" dirty="0"/>
              <a:t> </a:t>
            </a:r>
            <a:r>
              <a:rPr lang="en-US" dirty="0" err="1"/>
              <a:t>гарантию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алгоритм</a:t>
            </a:r>
            <a:r>
              <a:rPr lang="en-US" dirty="0"/>
              <a:t> Stream Compaction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Scan.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45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Scatter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Scan.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маски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знаем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.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попадёт</a:t>
            </a:r>
            <a:r>
              <a:rPr lang="en-US" dirty="0"/>
              <a:t> в </a:t>
            </a:r>
            <a:r>
              <a:rPr lang="en-US" dirty="0" err="1"/>
              <a:t>выходной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, а </a:t>
            </a:r>
            <a:r>
              <a:rPr lang="en-US" dirty="0" err="1"/>
              <a:t>ноль</a:t>
            </a:r>
            <a:r>
              <a:rPr lang="en-US" dirty="0"/>
              <a:t> —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отброшен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Exclusive Scan. </a:t>
            </a:r>
            <a:r>
              <a:rPr lang="en-US" dirty="0" err="1"/>
              <a:t>Полученные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индексы</a:t>
            </a:r>
            <a:r>
              <a:rPr lang="en-US" dirty="0"/>
              <a:t> в </a:t>
            </a:r>
            <a:r>
              <a:rPr lang="en-US" dirty="0" err="1"/>
              <a:t>выходном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1 </a:t>
            </a:r>
            <a:r>
              <a:rPr lang="en-US" dirty="0" err="1"/>
              <a:t>значение</a:t>
            </a:r>
            <a:r>
              <a:rPr lang="en-US" dirty="0"/>
              <a:t> Scan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в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B[0]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7 </a:t>
            </a:r>
            <a:r>
              <a:rPr lang="en-US" dirty="0" err="1"/>
              <a:t>значение</a:t>
            </a:r>
            <a:r>
              <a:rPr lang="en-US" dirty="0"/>
              <a:t> Scan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единице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в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B[1]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5 </a:t>
            </a:r>
            <a:r>
              <a:rPr lang="en-US" dirty="0" err="1"/>
              <a:t>значение</a:t>
            </a:r>
            <a:r>
              <a:rPr lang="en-US" dirty="0"/>
              <a:t> Scan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двум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9 — </a:t>
            </a:r>
            <a:r>
              <a:rPr lang="en-US" dirty="0" err="1"/>
              <a:t>трём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с </a:t>
            </a:r>
            <a:r>
              <a:rPr lang="en-US" dirty="0" err="1"/>
              <a:t>маской</a:t>
            </a:r>
            <a:r>
              <a:rPr lang="en-US" dirty="0"/>
              <a:t> 0 </a:t>
            </a:r>
            <a:r>
              <a:rPr lang="en-US" dirty="0" err="1"/>
              <a:t>никаких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сохраняемый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уникальную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в </a:t>
            </a:r>
            <a:r>
              <a:rPr lang="en-US" dirty="0" err="1"/>
              <a:t>выходном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конфликтов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, и Scatter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2947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Gather и Scatter </a:t>
            </a:r>
            <a:r>
              <a:rPr lang="en-US" dirty="0" err="1"/>
              <a:t>встречаются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алгоритмах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с </a:t>
            </a:r>
            <a:r>
              <a:rPr lang="en-US" dirty="0" err="1"/>
              <a:t>изменением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сортировках</a:t>
            </a:r>
            <a:r>
              <a:rPr lang="en-US" dirty="0"/>
              <a:t>, </a:t>
            </a:r>
            <a:r>
              <a:rPr lang="en-US" dirty="0" err="1"/>
              <a:t>алгоритмах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, </a:t>
            </a:r>
            <a:r>
              <a:rPr lang="en-US" dirty="0" err="1"/>
              <a:t>линейной</a:t>
            </a:r>
            <a:r>
              <a:rPr lang="en-US" dirty="0"/>
              <a:t> </a:t>
            </a:r>
            <a:r>
              <a:rPr lang="en-US" dirty="0" err="1"/>
              <a:t>алгебре</a:t>
            </a:r>
            <a:r>
              <a:rPr lang="en-US" dirty="0"/>
              <a:t> и </a:t>
            </a:r>
            <a:r>
              <a:rPr lang="en-US" dirty="0" err="1"/>
              <a:t>многочисленных</a:t>
            </a:r>
            <a:r>
              <a:rPr lang="en-US" dirty="0"/>
              <a:t> </a:t>
            </a:r>
            <a:r>
              <a:rPr lang="en-US" dirty="0" err="1"/>
              <a:t>задачах</a:t>
            </a:r>
            <a:r>
              <a:rPr lang="en-US" dirty="0"/>
              <a:t> </a:t>
            </a:r>
            <a:r>
              <a:rPr lang="en-US" dirty="0" err="1"/>
              <a:t>компьютерной</a:t>
            </a:r>
            <a:r>
              <a:rPr lang="en-US" dirty="0"/>
              <a:t> </a:t>
            </a:r>
            <a:r>
              <a:rPr lang="en-US" dirty="0" err="1"/>
              <a:t>графики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большая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выполнена</a:t>
            </a:r>
            <a:r>
              <a:rPr lang="en-US" dirty="0"/>
              <a:t>, и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перераспределить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сцену</a:t>
            </a:r>
            <a:r>
              <a:rPr lang="en-US" dirty="0"/>
              <a:t> </a:t>
            </a:r>
            <a:r>
              <a:rPr lang="en-US" dirty="0" err="1"/>
              <a:t>выходят</a:t>
            </a:r>
            <a:r>
              <a:rPr lang="en-US" dirty="0"/>
              <a:t> Gather и Scatter.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9303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внешнее</a:t>
            </a:r>
            <a:r>
              <a:rPr lang="en-US" dirty="0"/>
              <a:t> </a:t>
            </a:r>
            <a:r>
              <a:rPr lang="en-US" dirty="0" err="1"/>
              <a:t>сходство</a:t>
            </a:r>
            <a:r>
              <a:rPr lang="en-US" dirty="0"/>
              <a:t>, Gather и Scatter </a:t>
            </a:r>
            <a:r>
              <a:rPr lang="en-US" dirty="0" err="1"/>
              <a:t>обладают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характеристиками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Gather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конфликты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отсутствуют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Scatter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аккуратного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произвольные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конфликтам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изучении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 и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перестановка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0551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, в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работал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своим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с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структурой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гистограммой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задачах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соседей</a:t>
            </a:r>
            <a:r>
              <a:rPr lang="en-US" dirty="0"/>
              <a:t>.</a:t>
            </a:r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Stencil Computations.</a:t>
            </a:r>
          </a:p>
          <a:p>
            <a:endParaRPr lang="en-US" dirty="0"/>
          </a:p>
          <a:p>
            <a:r>
              <a:rPr lang="en-US" dirty="0" err="1"/>
              <a:t>Слово</a:t>
            </a:r>
            <a:r>
              <a:rPr lang="en-US" dirty="0"/>
              <a:t> stencil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перевести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«</a:t>
            </a:r>
            <a:r>
              <a:rPr lang="en-US" dirty="0" err="1"/>
              <a:t>трафарет</a:t>
            </a:r>
            <a:r>
              <a:rPr lang="en-US" dirty="0"/>
              <a:t>» </a:t>
            </a:r>
            <a:r>
              <a:rPr lang="en-US" dirty="0" err="1"/>
              <a:t>или</a:t>
            </a:r>
            <a:r>
              <a:rPr lang="en-US" dirty="0"/>
              <a:t> «</a:t>
            </a:r>
            <a:r>
              <a:rPr lang="en-US" dirty="0" err="1"/>
              <a:t>шаблон</a:t>
            </a:r>
            <a:r>
              <a:rPr lang="en-US" dirty="0"/>
              <a:t>».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подчёркивает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и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соседним</a:t>
            </a:r>
            <a:r>
              <a:rPr lang="en-US" dirty="0"/>
              <a:t> </a:t>
            </a:r>
            <a:r>
              <a:rPr lang="en-US" dirty="0" err="1"/>
              <a:t>значениям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известных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размытие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пикселя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соседних</a:t>
            </a:r>
            <a:r>
              <a:rPr lang="en-US" dirty="0"/>
              <a:t> </a:t>
            </a:r>
            <a:r>
              <a:rPr lang="en-US" dirty="0" err="1"/>
              <a:t>пикселей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— </a:t>
            </a:r>
            <a:r>
              <a:rPr lang="en-US" dirty="0" err="1"/>
              <a:t>усреднение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шум</a:t>
            </a:r>
            <a:r>
              <a:rPr lang="en-US" dirty="0"/>
              <a:t> и </a:t>
            </a:r>
            <a:r>
              <a:rPr lang="en-US" dirty="0" err="1"/>
              <a:t>сгладить</a:t>
            </a:r>
            <a:r>
              <a:rPr lang="en-US" dirty="0"/>
              <a:t> </a:t>
            </a:r>
            <a:r>
              <a:rPr lang="en-US" dirty="0" err="1"/>
              <a:t>резкие</a:t>
            </a:r>
            <a:r>
              <a:rPr lang="en-US" dirty="0"/>
              <a:t> </a:t>
            </a:r>
            <a:r>
              <a:rPr lang="en-US" dirty="0" err="1"/>
              <a:t>переходы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девять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56420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рассмотреть</a:t>
            </a:r>
            <a:r>
              <a:rPr lang="en-US" dirty="0"/>
              <a:t> </a:t>
            </a:r>
            <a:r>
              <a:rPr lang="en-US" dirty="0" err="1"/>
              <a:t>одномерный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слева</a:t>
            </a:r>
            <a:r>
              <a:rPr lang="en-US" dirty="0"/>
              <a:t>,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и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справа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в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и </a:t>
            </a:r>
            <a:r>
              <a:rPr lang="en-US" dirty="0" err="1"/>
              <a:t>численных</a:t>
            </a:r>
            <a:r>
              <a:rPr lang="en-US" dirty="0"/>
              <a:t> </a:t>
            </a:r>
            <a:r>
              <a:rPr lang="en-US" dirty="0" err="1"/>
              <a:t>методах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дифференциальных</a:t>
            </a:r>
            <a:r>
              <a:rPr lang="en-US" dirty="0"/>
              <a:t> </a:t>
            </a:r>
            <a:r>
              <a:rPr lang="en-US" dirty="0" err="1"/>
              <a:t>уравнений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соседние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читают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одних</a:t>
            </a:r>
            <a:r>
              <a:rPr lang="en-US" dirty="0"/>
              <a:t> и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31995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повторений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элемент</a:t>
            </a:r>
            <a:r>
              <a:rPr lang="en-US" dirty="0"/>
              <a:t> A[4]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нескольким</a:t>
            </a:r>
            <a:r>
              <a:rPr lang="en-US" dirty="0"/>
              <a:t> </a:t>
            </a:r>
            <a:r>
              <a:rPr lang="en-US" dirty="0" err="1"/>
              <a:t>соседним</a:t>
            </a:r>
            <a:r>
              <a:rPr lang="en-US" dirty="0"/>
              <a:t> </a:t>
            </a:r>
            <a:r>
              <a:rPr lang="en-US" dirty="0" err="1"/>
              <a:t>потокам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заставляет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загружать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необходимого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322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необходимый</a:t>
            </a:r>
            <a:r>
              <a:rPr lang="en-US" dirty="0"/>
              <a:t> </a:t>
            </a:r>
            <a:r>
              <a:rPr lang="en-US" dirty="0" err="1"/>
              <a:t>участок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читают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уменьшается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повышается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3726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границе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требуются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, </a:t>
            </a:r>
            <a:r>
              <a:rPr lang="en-US" dirty="0" err="1"/>
              <a:t>принадлежащие</a:t>
            </a:r>
            <a:r>
              <a:rPr lang="en-US" dirty="0"/>
              <a:t> </a:t>
            </a:r>
            <a:r>
              <a:rPr lang="en-US" dirty="0" err="1"/>
              <a:t>соседним</a:t>
            </a:r>
            <a:r>
              <a:rPr lang="en-US" dirty="0"/>
              <a:t> </a:t>
            </a:r>
            <a:r>
              <a:rPr lang="en-US" dirty="0" err="1"/>
              <a:t>блокам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основными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загружаются</a:t>
            </a:r>
            <a:r>
              <a:rPr lang="en-US" dirty="0"/>
              <a:t>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краям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Halo Cells </a:t>
            </a:r>
            <a:r>
              <a:rPr lang="en-US" dirty="0" err="1"/>
              <a:t>или</a:t>
            </a:r>
            <a:r>
              <a:rPr lang="en-US" dirty="0"/>
              <a:t> Ghost Cells.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границах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41276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Stencil Computations </a:t>
            </a:r>
            <a:r>
              <a:rPr lang="en-US" dirty="0" err="1"/>
              <a:t>встречаются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множестве</a:t>
            </a:r>
            <a:r>
              <a:rPr lang="en-US" dirty="0"/>
              <a:t> </a:t>
            </a:r>
            <a:r>
              <a:rPr lang="en-US" dirty="0" err="1"/>
              <a:t>областей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размытия</a:t>
            </a:r>
            <a:r>
              <a:rPr lang="en-US" dirty="0"/>
              <a:t>, </a:t>
            </a:r>
            <a:r>
              <a:rPr lang="en-US" dirty="0" err="1"/>
              <a:t>повышения</a:t>
            </a:r>
            <a:r>
              <a:rPr lang="en-US" dirty="0"/>
              <a:t> </a:t>
            </a:r>
            <a:r>
              <a:rPr lang="en-US" dirty="0" err="1"/>
              <a:t>резкости</a:t>
            </a:r>
            <a:r>
              <a:rPr lang="en-US" dirty="0"/>
              <a:t> и </a:t>
            </a:r>
            <a:r>
              <a:rPr lang="en-US" dirty="0" err="1"/>
              <a:t>выделения</a:t>
            </a:r>
            <a:r>
              <a:rPr lang="en-US" dirty="0"/>
              <a:t> </a:t>
            </a:r>
            <a:r>
              <a:rPr lang="en-US" dirty="0" err="1"/>
              <a:t>границ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научных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лежат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методов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дифференциальных</a:t>
            </a:r>
            <a:r>
              <a:rPr lang="en-US" dirty="0"/>
              <a:t> </a:t>
            </a:r>
            <a:r>
              <a:rPr lang="en-US" dirty="0" err="1"/>
              <a:t>уравнений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Классическим</a:t>
            </a:r>
            <a:r>
              <a:rPr lang="en-US" dirty="0"/>
              <a:t> </a:t>
            </a:r>
            <a:r>
              <a:rPr lang="en-US" dirty="0" err="1"/>
              <a:t>примером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клеточный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 «</a:t>
            </a:r>
            <a:r>
              <a:rPr lang="en-US" dirty="0" err="1"/>
              <a:t>Жизнь</a:t>
            </a:r>
            <a:r>
              <a:rPr lang="en-US" dirty="0"/>
              <a:t>» </a:t>
            </a:r>
            <a:r>
              <a:rPr lang="en-US" dirty="0" err="1"/>
              <a:t>Конвея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клетки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соседей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данный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в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86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Stencil Computations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распространённых</a:t>
            </a:r>
            <a:r>
              <a:rPr lang="en-US" dirty="0"/>
              <a:t> </a:t>
            </a:r>
            <a:r>
              <a:rPr lang="en-US" dirty="0" err="1"/>
              <a:t>паттернов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Map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своим</a:t>
            </a:r>
            <a:r>
              <a:rPr lang="en-US" dirty="0"/>
              <a:t> </a:t>
            </a:r>
            <a:r>
              <a:rPr lang="en-US" dirty="0" err="1"/>
              <a:t>элементом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с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соседями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повторных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локальной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загружать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и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рабочей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эффективными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GPU.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5260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фундаментальной</a:t>
            </a:r>
            <a:r>
              <a:rPr lang="en-US" dirty="0"/>
              <a:t> </a:t>
            </a:r>
            <a:r>
              <a:rPr lang="en-US" dirty="0" err="1"/>
              <a:t>операцией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алгоритмах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классических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разработаны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последовательного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CPU.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Quick Sort </a:t>
            </a:r>
            <a:r>
              <a:rPr lang="en-US" dirty="0" err="1"/>
              <a:t>активно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рекурсию</a:t>
            </a:r>
            <a:r>
              <a:rPr lang="en-US" dirty="0"/>
              <a:t> и </a:t>
            </a:r>
            <a:r>
              <a:rPr lang="en-US" dirty="0" err="1"/>
              <a:t>ветвления</a:t>
            </a:r>
            <a:r>
              <a:rPr lang="en-US" dirty="0"/>
              <a:t>, а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распределения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приводят</a:t>
            </a:r>
            <a:r>
              <a:rPr lang="en-US" dirty="0"/>
              <a:t> к </a:t>
            </a:r>
            <a:r>
              <a:rPr lang="en-US" dirty="0" err="1"/>
              <a:t>ухудшению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графических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 </a:t>
            </a:r>
            <a:r>
              <a:rPr lang="en-US" dirty="0" err="1"/>
              <a:t>разработаны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,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массового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42275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первых</a:t>
            </a:r>
            <a:r>
              <a:rPr lang="en-US" dirty="0"/>
              <a:t> </a:t>
            </a:r>
            <a:r>
              <a:rPr lang="en-US" dirty="0" err="1"/>
              <a:t>популярных</a:t>
            </a:r>
            <a:r>
              <a:rPr lang="en-US" dirty="0"/>
              <a:t> GPU-</a:t>
            </a:r>
            <a:r>
              <a:rPr lang="en-US" dirty="0" err="1"/>
              <a:t>сортировок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</a:t>
            </a:r>
            <a:r>
              <a:rPr lang="en-US" dirty="0" err="1"/>
              <a:t>служит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Compare-Exchange.</a:t>
            </a:r>
          </a:p>
          <a:p>
            <a:endParaRPr lang="en-US" dirty="0"/>
          </a:p>
          <a:p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сравниваются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меняются</a:t>
            </a:r>
            <a:r>
              <a:rPr lang="en-US" dirty="0"/>
              <a:t> </a:t>
            </a:r>
            <a:r>
              <a:rPr lang="en-US" dirty="0" err="1"/>
              <a:t>местами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известна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распараллеливать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14249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строится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 </a:t>
            </a:r>
            <a:r>
              <a:rPr lang="en-US" dirty="0" err="1"/>
              <a:t>битонической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.</a:t>
            </a:r>
          </a:p>
          <a:p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возрастает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убывает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битонические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большего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и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превращает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в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отсортированные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необычно</a:t>
            </a:r>
            <a:r>
              <a:rPr lang="en-US" dirty="0"/>
              <a:t>,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организовать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 в </a:t>
            </a:r>
            <a:r>
              <a:rPr lang="en-US" dirty="0" err="1"/>
              <a:t>виде</a:t>
            </a:r>
            <a:r>
              <a:rPr lang="en-US" dirty="0"/>
              <a:t> </a:t>
            </a:r>
            <a:r>
              <a:rPr lang="en-US" dirty="0" err="1"/>
              <a:t>регулярной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3239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рисунке</a:t>
            </a:r>
            <a:r>
              <a:rPr lang="en-US" dirty="0"/>
              <a:t> </a:t>
            </a:r>
            <a:r>
              <a:rPr lang="en-US" dirty="0" err="1"/>
              <a:t>показана</a:t>
            </a:r>
            <a:r>
              <a:rPr lang="en-US" dirty="0"/>
              <a:t> </a:t>
            </a:r>
            <a:r>
              <a:rPr lang="en-US" dirty="0" err="1"/>
              <a:t>сеть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 </a:t>
            </a:r>
            <a:r>
              <a:rPr lang="en-US" dirty="0" err="1"/>
              <a:t>битонической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горизонтальная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а </a:t>
            </a:r>
            <a:r>
              <a:rPr lang="en-US" dirty="0" err="1"/>
              <a:t>соединения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линиями</a:t>
            </a:r>
            <a:r>
              <a:rPr lang="en-US" dirty="0"/>
              <a:t> </a:t>
            </a:r>
            <a:r>
              <a:rPr lang="en-US" dirty="0" err="1"/>
              <a:t>обозначают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и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</a:t>
            </a:r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известна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входных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 </a:t>
            </a:r>
            <a:r>
              <a:rPr lang="en-US" dirty="0" err="1"/>
              <a:t>формируются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крупные</a:t>
            </a:r>
            <a:r>
              <a:rPr lang="en-US" dirty="0"/>
              <a:t> </a:t>
            </a:r>
            <a:r>
              <a:rPr lang="en-US" dirty="0" err="1"/>
              <a:t>битонические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в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отсортированный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регулярная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сделала</a:t>
            </a:r>
            <a:r>
              <a:rPr lang="en-US" dirty="0"/>
              <a:t> </a:t>
            </a:r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первых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,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использовавшихся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 и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платить</a:t>
            </a:r>
            <a:r>
              <a:rPr lang="en-US" dirty="0"/>
              <a:t> </a:t>
            </a:r>
            <a:r>
              <a:rPr lang="en-US" dirty="0" err="1"/>
              <a:t>большим</a:t>
            </a:r>
            <a:r>
              <a:rPr lang="en-US" dirty="0"/>
              <a:t> </a:t>
            </a:r>
            <a:r>
              <a:rPr lang="en-US" dirty="0" err="1"/>
              <a:t>количеством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массивах</a:t>
            </a:r>
            <a:r>
              <a:rPr lang="en-US" dirty="0"/>
              <a:t>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Radix 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629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, Radix Sort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чисел</a:t>
            </a:r>
            <a:r>
              <a:rPr lang="en-US" dirty="0"/>
              <a:t>.</a:t>
            </a:r>
          </a:p>
          <a:p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отдельным</a:t>
            </a:r>
            <a:r>
              <a:rPr lang="en-US" dirty="0"/>
              <a:t> </a:t>
            </a:r>
            <a:r>
              <a:rPr lang="en-US" dirty="0" err="1"/>
              <a:t>разрядам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младших</a:t>
            </a:r>
            <a:r>
              <a:rPr lang="en-US" dirty="0"/>
              <a:t> </a:t>
            </a:r>
            <a:r>
              <a:rPr lang="en-US" dirty="0" err="1"/>
              <a:t>разрядов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обрабатываются</a:t>
            </a:r>
            <a:r>
              <a:rPr lang="en-US" dirty="0"/>
              <a:t> </a:t>
            </a:r>
            <a:r>
              <a:rPr lang="en-US" dirty="0" err="1"/>
              <a:t>старшие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целочисленных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</a:t>
            </a:r>
            <a:r>
              <a:rPr lang="en-US" dirty="0" err="1"/>
              <a:t>чрезвычайно</a:t>
            </a:r>
            <a:r>
              <a:rPr lang="en-US" dirty="0"/>
              <a:t> </a:t>
            </a:r>
            <a:r>
              <a:rPr lang="en-US" dirty="0" err="1"/>
              <a:t>эффективным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7977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 Radix Sort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младшему</a:t>
            </a:r>
            <a:r>
              <a:rPr lang="en-US" dirty="0"/>
              <a:t> </a:t>
            </a:r>
            <a:r>
              <a:rPr lang="en-US" dirty="0" err="1"/>
              <a:t>биту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младшего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.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разделяются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: </a:t>
            </a:r>
            <a:r>
              <a:rPr lang="en-US" dirty="0" err="1"/>
              <a:t>числа</a:t>
            </a:r>
            <a:r>
              <a:rPr lang="en-US" dirty="0"/>
              <a:t> с </a:t>
            </a:r>
            <a:r>
              <a:rPr lang="en-US" dirty="0" err="1"/>
              <a:t>битом</a:t>
            </a:r>
            <a:r>
              <a:rPr lang="en-US" dirty="0"/>
              <a:t> 0 и </a:t>
            </a:r>
            <a:r>
              <a:rPr lang="en-US" dirty="0" err="1"/>
              <a:t>числа</a:t>
            </a:r>
            <a:r>
              <a:rPr lang="en-US" dirty="0"/>
              <a:t> с </a:t>
            </a:r>
            <a:r>
              <a:rPr lang="en-US" dirty="0" err="1"/>
              <a:t>битом</a:t>
            </a:r>
            <a:r>
              <a:rPr lang="en-US" dirty="0"/>
              <a:t> 1.</a:t>
            </a:r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строится</a:t>
            </a:r>
            <a:r>
              <a:rPr lang="en-US" dirty="0"/>
              <a:t> </a:t>
            </a:r>
            <a:r>
              <a:rPr lang="en-US" dirty="0" err="1"/>
              <a:t>маска</a:t>
            </a:r>
            <a:r>
              <a:rPr lang="en-US" dirty="0"/>
              <a:t> </a:t>
            </a:r>
            <a:r>
              <a:rPr lang="en-US" dirty="0" err="1"/>
              <a:t>нулей</a:t>
            </a:r>
            <a:r>
              <a:rPr lang="en-US" dirty="0"/>
              <a:t>.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попасть</a:t>
            </a:r>
            <a:r>
              <a:rPr lang="en-US" dirty="0"/>
              <a:t> в </a:t>
            </a:r>
            <a:r>
              <a:rPr lang="en-US" dirty="0" err="1"/>
              <a:t>первую</a:t>
            </a:r>
            <a:r>
              <a:rPr lang="en-US" dirty="0"/>
              <a:t> </a:t>
            </a:r>
            <a:r>
              <a:rPr lang="en-US" dirty="0" err="1"/>
              <a:t>группу</a:t>
            </a:r>
            <a:r>
              <a:rPr lang="en-US" dirty="0"/>
              <a:t>, а </a:t>
            </a:r>
            <a:r>
              <a:rPr lang="en-US" dirty="0" err="1"/>
              <a:t>ноль</a:t>
            </a:r>
            <a:r>
              <a:rPr lang="en-US" dirty="0"/>
              <a:t> —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вторую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Exclusive Scan. </a:t>
            </a:r>
            <a:r>
              <a:rPr lang="en-US" dirty="0" err="1"/>
              <a:t>Полученные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нулей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 Scan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нулей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. </a:t>
            </a:r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единиц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начинаться</a:t>
            </a:r>
            <a:r>
              <a:rPr lang="en-US" dirty="0"/>
              <a:t> с </a:t>
            </a:r>
            <a:r>
              <a:rPr lang="en-US" dirty="0" err="1"/>
              <a:t>позиции</a:t>
            </a:r>
            <a:r>
              <a:rPr lang="en-US" dirty="0"/>
              <a:t> 3.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Scatter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свою</a:t>
            </a:r>
            <a:r>
              <a:rPr lang="en-US" dirty="0"/>
              <a:t> </a:t>
            </a:r>
            <a:r>
              <a:rPr lang="en-US" dirty="0" err="1"/>
              <a:t>итоговую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и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выходной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с </a:t>
            </a:r>
            <a:r>
              <a:rPr lang="en-US" dirty="0" err="1"/>
              <a:t>младшим</a:t>
            </a:r>
            <a:r>
              <a:rPr lang="en-US" dirty="0"/>
              <a:t> </a:t>
            </a:r>
            <a:r>
              <a:rPr lang="en-US" dirty="0" err="1"/>
              <a:t>битом</a:t>
            </a:r>
            <a:r>
              <a:rPr lang="en-US" dirty="0"/>
              <a:t> 0 </a:t>
            </a:r>
            <a:r>
              <a:rPr lang="en-US" dirty="0" err="1"/>
              <a:t>оказываются</a:t>
            </a:r>
            <a:r>
              <a:rPr lang="en-US" dirty="0"/>
              <a:t> 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, а </a:t>
            </a:r>
            <a:r>
              <a:rPr lang="en-US" dirty="0" err="1"/>
              <a:t>числа</a:t>
            </a:r>
            <a:r>
              <a:rPr lang="en-US" dirty="0"/>
              <a:t> с </a:t>
            </a:r>
            <a:r>
              <a:rPr lang="en-US" dirty="0" err="1"/>
              <a:t>младшим</a:t>
            </a:r>
            <a:r>
              <a:rPr lang="en-US" dirty="0"/>
              <a:t> </a:t>
            </a:r>
            <a:r>
              <a:rPr lang="en-US" dirty="0" err="1"/>
              <a:t>битом</a:t>
            </a:r>
            <a:r>
              <a:rPr lang="en-US" dirty="0"/>
              <a:t> 1 —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отсортирован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младшему</a:t>
            </a:r>
            <a:r>
              <a:rPr lang="en-US" dirty="0"/>
              <a:t> </a:t>
            </a:r>
            <a:r>
              <a:rPr lang="en-US" dirty="0" err="1"/>
              <a:t>биту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установлен</a:t>
            </a:r>
            <a:r>
              <a:rPr lang="en-US" dirty="0"/>
              <a:t>. </a:t>
            </a:r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аналогичные</a:t>
            </a:r>
            <a:r>
              <a:rPr lang="en-US" dirty="0"/>
              <a:t> </a:t>
            </a:r>
            <a:r>
              <a:rPr lang="en-US" dirty="0" err="1"/>
              <a:t>проходы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следующих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разрядов</a:t>
            </a:r>
            <a:r>
              <a:rPr lang="en-US" dirty="0"/>
              <a:t> </a:t>
            </a:r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отсортированный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Radix Sort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знакомые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Scan и Scatter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сортировки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74341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предыдущем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сортировку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биту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удобен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объяснения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редко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Radix Sort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обрабатывают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восемь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проходов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данным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шестнадцать</a:t>
            </a:r>
            <a:r>
              <a:rPr lang="en-US" dirty="0"/>
              <a:t>, </a:t>
            </a:r>
            <a:r>
              <a:rPr lang="en-US" dirty="0" err="1"/>
              <a:t>двести</a:t>
            </a:r>
            <a:r>
              <a:rPr lang="en-US" dirty="0"/>
              <a:t> </a:t>
            </a:r>
            <a:r>
              <a:rPr lang="en-US" dirty="0" err="1"/>
              <a:t>пятьдесят</a:t>
            </a:r>
            <a:r>
              <a:rPr lang="en-US" dirty="0"/>
              <a:t> </a:t>
            </a:r>
            <a:r>
              <a:rPr lang="en-US" dirty="0" err="1"/>
              <a:t>шесть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попало</a:t>
            </a:r>
            <a:r>
              <a:rPr lang="en-US" dirty="0"/>
              <a:t> и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начинаться</a:t>
            </a:r>
            <a:r>
              <a:rPr lang="en-US" dirty="0"/>
              <a:t> в </a:t>
            </a:r>
            <a:r>
              <a:rPr lang="en-US" dirty="0" err="1"/>
              <a:t>выходном</a:t>
            </a:r>
            <a:r>
              <a:rPr lang="en-US" dirty="0"/>
              <a:t> </a:t>
            </a:r>
            <a:r>
              <a:rPr lang="en-US" dirty="0" err="1"/>
              <a:t>массиве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Histogram.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подсчитывает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в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группе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Scan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гистограммой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начальные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свою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и </a:t>
            </a:r>
            <a:r>
              <a:rPr lang="en-US" dirty="0" err="1"/>
              <a:t>выполнить</a:t>
            </a:r>
            <a:r>
              <a:rPr lang="en-US" dirty="0"/>
              <a:t> Scatter.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в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реализациях</a:t>
            </a:r>
            <a:r>
              <a:rPr lang="en-US" dirty="0"/>
              <a:t> Radix Sort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рассмотренные</a:t>
            </a:r>
            <a:r>
              <a:rPr lang="en-US" dirty="0"/>
              <a:t> </a:t>
            </a:r>
            <a:r>
              <a:rPr lang="en-US" dirty="0" err="1"/>
              <a:t>нами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совместно</a:t>
            </a:r>
            <a:r>
              <a:rPr lang="en-US" dirty="0"/>
              <a:t>: Histogram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размеры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, Scan </a:t>
            </a:r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смещения</a:t>
            </a:r>
            <a:r>
              <a:rPr lang="en-US" dirty="0"/>
              <a:t>, а Scatter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перестановку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Radix Sort </a:t>
            </a:r>
            <a:r>
              <a:rPr lang="en-US" dirty="0" err="1"/>
              <a:t>считается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лучших</a:t>
            </a:r>
            <a:r>
              <a:rPr lang="en-US" dirty="0"/>
              <a:t> </a:t>
            </a:r>
            <a:r>
              <a:rPr lang="en-US" dirty="0" err="1"/>
              <a:t>примеров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, </a:t>
            </a:r>
            <a:r>
              <a:rPr lang="en-US" dirty="0" err="1"/>
              <a:t>построенного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GPU-</a:t>
            </a:r>
            <a:r>
              <a:rPr lang="en-US" dirty="0" err="1"/>
              <a:t>примитивов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508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и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используемых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в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, </a:t>
            </a:r>
            <a:r>
              <a:rPr lang="en-US" dirty="0" err="1"/>
              <a:t>основанный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регулярной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фиксированной</a:t>
            </a:r>
            <a:r>
              <a:rPr lang="en-US" dirty="0"/>
              <a:t> </a:t>
            </a:r>
            <a:r>
              <a:rPr lang="en-US" dirty="0" err="1"/>
              <a:t>структуре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отображается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GPU и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приложениях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Radix Sort.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высокую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и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большие</a:t>
            </a:r>
            <a:r>
              <a:rPr lang="en-US" dirty="0"/>
              <a:t> </a:t>
            </a:r>
            <a:r>
              <a:rPr lang="en-US" dirty="0" err="1"/>
              <a:t>объёмы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Radix Sort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каким-то</a:t>
            </a:r>
            <a:r>
              <a:rPr lang="en-US" dirty="0"/>
              <a:t> </a:t>
            </a:r>
            <a:r>
              <a:rPr lang="en-US" dirty="0" err="1"/>
              <a:t>отдельным</a:t>
            </a:r>
            <a:r>
              <a:rPr lang="en-US" dirty="0"/>
              <a:t> </a:t>
            </a:r>
            <a:r>
              <a:rPr lang="en-US" dirty="0" err="1"/>
              <a:t>специализированным</a:t>
            </a:r>
            <a:r>
              <a:rPr lang="en-US" dirty="0"/>
              <a:t> </a:t>
            </a:r>
            <a:r>
              <a:rPr lang="en-US" dirty="0" err="1"/>
              <a:t>алгоритмом</a:t>
            </a:r>
            <a:r>
              <a:rPr lang="en-US" dirty="0"/>
              <a:t>.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строится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знакомых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: Histogram, Scan и Scatter.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иллюстрирует</a:t>
            </a:r>
            <a:r>
              <a:rPr lang="en-US" dirty="0"/>
              <a:t> </a:t>
            </a:r>
            <a:r>
              <a:rPr lang="en-US" dirty="0" err="1"/>
              <a:t>ключевую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раздела</a:t>
            </a:r>
            <a:r>
              <a:rPr lang="en-US" dirty="0"/>
              <a:t>.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сложные</a:t>
            </a:r>
            <a:r>
              <a:rPr lang="en-US" dirty="0"/>
              <a:t> GPU-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представляют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комбинацию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набора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реализуются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графических</a:t>
            </a:r>
            <a:r>
              <a:rPr lang="en-US" dirty="0"/>
              <a:t> </a:t>
            </a:r>
            <a:r>
              <a:rPr lang="en-US" dirty="0" err="1"/>
              <a:t>процессорах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6415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74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ronosGroup/OpenCL-SDK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10" Type="http://schemas.openxmlformats.org/officeDocument/2006/relationships/image" Target="../media/image13.png"/><Relationship Id="rId4" Type="http://schemas.openxmlformats.org/officeDocument/2006/relationships/image" Target="../media/image70.png"/><Relationship Id="rId9" Type="http://schemas.openxmlformats.org/officeDocument/2006/relationships/image" Target="../media/image1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9D%D0%BE%D1%80%D0%BC%D0%B0_(%D0%BC%D0%B0%D1%82%D0%B5%D0%BC%D0%B0%D1%82%D0%B8%D0%BA%D0%B0)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7.png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E63DB1-5874-8A47-D26E-06AA18EAD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/>
              <a:t>Вычисления на </a:t>
            </a:r>
            <a:r>
              <a:rPr lang="en-US" dirty="0"/>
              <a:t>CPU </a:t>
            </a:r>
            <a:r>
              <a:rPr lang="ru-RU" dirty="0"/>
              <a:t>и </a:t>
            </a:r>
            <a:r>
              <a:rPr lang="en-US" dirty="0"/>
              <a:t>GPU </a:t>
            </a:r>
            <a:r>
              <a:rPr lang="ru-RU" dirty="0"/>
              <a:t>с использованием </a:t>
            </a:r>
            <a:r>
              <a:rPr lang="en-US" dirty="0"/>
              <a:t>OpenCL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ADC6EA90-44AB-A1C3-39BA-3CBFC5F2F2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28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E6464-6DE1-11C9-47AF-D566B85D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Гетерогенные платформы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0C014-5CB7-C7CB-B068-D4B8673B3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Гетерогенная платформа</a:t>
            </a:r>
            <a:r>
              <a:rPr lang="ru-RU" dirty="0"/>
              <a:t> — вычислительная система, содержащая несколько типов вычислительных устройств.</a:t>
            </a:r>
          </a:p>
          <a:p>
            <a:r>
              <a:rPr lang="ru-RU" dirty="0"/>
              <a:t>CPU (Central Processing Unit)</a:t>
            </a:r>
          </a:p>
          <a:p>
            <a:pPr lvl="1"/>
            <a:r>
              <a:rPr lang="ru-RU" dirty="0"/>
              <a:t>Небольшое количество мощных ядер </a:t>
            </a:r>
          </a:p>
          <a:p>
            <a:pPr lvl="1"/>
            <a:r>
              <a:rPr lang="ru-RU" dirty="0"/>
              <a:t>Хорошо подходит для: последовательных вычислений, сложной логики, ветвлений, управления программой </a:t>
            </a:r>
          </a:p>
          <a:p>
            <a:r>
              <a:rPr lang="ru-RU" dirty="0"/>
              <a:t>GPU (Graphics Processing Unit)</a:t>
            </a:r>
          </a:p>
          <a:p>
            <a:pPr lvl="1"/>
            <a:r>
              <a:rPr lang="ru-RU" dirty="0"/>
              <a:t>Тысячи более простых вычислительных ядер </a:t>
            </a:r>
          </a:p>
          <a:p>
            <a:pPr lvl="1"/>
            <a:r>
              <a:rPr lang="ru-RU" dirty="0"/>
              <a:t>Эффективен для: массово-параллельных вычислений, обработки больших массивов данных, одинаковых операций над множеством элементов </a:t>
            </a:r>
          </a:p>
          <a:p>
            <a:r>
              <a:rPr lang="ru-RU" dirty="0"/>
              <a:t>Другие ускорители</a:t>
            </a:r>
          </a:p>
          <a:p>
            <a:pPr lvl="1"/>
            <a:r>
              <a:rPr lang="ru-RU" dirty="0"/>
              <a:t>FPGA </a:t>
            </a:r>
          </a:p>
          <a:p>
            <a:pPr lvl="1"/>
            <a:r>
              <a:rPr lang="ru-RU" dirty="0"/>
              <a:t>DSP</a:t>
            </a:r>
          </a:p>
          <a:p>
            <a:pPr lvl="1"/>
            <a:r>
              <a:rPr lang="ru-RU" dirty="0"/>
              <a:t>AI/ML </a:t>
            </a:r>
            <a:r>
              <a:rPr lang="ru-RU" dirty="0" err="1"/>
              <a:t>accelerators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специализированные процессоры</a:t>
            </a:r>
          </a:p>
        </p:txBody>
      </p:sp>
    </p:spTree>
    <p:extLst>
      <p:ext uri="{BB962C8B-B14F-4D97-AF65-F5344CB8AC3E}">
        <p14:creationId xmlns:p14="http://schemas.microsoft.com/office/powerpoint/2010/main" val="162303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FC2E86-A2F2-9F08-B099-49F8A8393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чего нужны гетерогенные платформы?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919294-28EC-CCA9-62B8-2F2486ADE6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Использование сильных сторон устройств</a:t>
            </a:r>
          </a:p>
          <a:p>
            <a:r>
              <a:rPr lang="ru-RU" dirty="0"/>
              <a:t>Повышение производительности</a:t>
            </a:r>
          </a:p>
          <a:p>
            <a:r>
              <a:rPr lang="ru-RU" dirty="0"/>
              <a:t>CPU и GPU могут работать одновременно </a:t>
            </a:r>
          </a:p>
          <a:p>
            <a:pPr lvl="1"/>
            <a:r>
              <a:rPr lang="ru-RU" dirty="0"/>
              <a:t>Разные части задачи выполняются на наиболее подходящем устройстве </a:t>
            </a:r>
          </a:p>
          <a:p>
            <a:pPr lvl="1"/>
            <a:r>
              <a:rPr lang="ru-RU" dirty="0"/>
              <a:t>Например, при обработке видео:</a:t>
            </a:r>
          </a:p>
          <a:p>
            <a:pPr lvl="2"/>
            <a:r>
              <a:rPr lang="ru-RU" dirty="0"/>
              <a:t>CPU управляет логикой приложения </a:t>
            </a:r>
          </a:p>
          <a:p>
            <a:pPr lvl="2"/>
            <a:r>
              <a:rPr lang="ru-RU" dirty="0"/>
              <a:t>GPU выполняет фильтрацию и цветокоррекцию </a:t>
            </a:r>
          </a:p>
          <a:p>
            <a:r>
              <a:rPr lang="ru-RU" dirty="0"/>
              <a:t>Энергоэффективность</a:t>
            </a:r>
          </a:p>
          <a:p>
            <a:pPr lvl="1"/>
            <a:r>
              <a:rPr lang="ru-RU" dirty="0"/>
              <a:t>GPU часто выполняет параллельные вычисления быстрее и с меньшими затратами энергии на одну операцию</a:t>
            </a:r>
          </a:p>
          <a:p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287E75D-3A84-D119-AE82-947E3025C2B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0543834"/>
              </p:ext>
            </p:extLst>
          </p:nvPr>
        </p:nvGraphicFramePr>
        <p:xfrm>
          <a:off x="6172200" y="1825625"/>
          <a:ext cx="518160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330869526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6877049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955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Сложная логика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Массовый параллелизм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309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Последовательные алгоритмы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Однотипные вычисления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551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Управление программой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Обработка больших массивов данных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323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450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F807D-F053-5823-3FFC-A75ED4371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различия CPU и GPU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54C95DE-C9A0-2FA2-832F-A6648B45A1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CPU</a:t>
            </a:r>
          </a:p>
          <a:p>
            <a:pPr lvl="1"/>
            <a:r>
              <a:rPr lang="ru-RU" dirty="0"/>
              <a:t>Минимизировать время выполнения одной задачи</a:t>
            </a:r>
          </a:p>
          <a:p>
            <a:r>
              <a:rPr lang="ru-RU" dirty="0"/>
              <a:t>GPU</a:t>
            </a:r>
          </a:p>
          <a:p>
            <a:pPr lvl="1"/>
            <a:r>
              <a:rPr lang="ru-RU" dirty="0"/>
              <a:t>Максимизировать количество выполняемых операций</a:t>
            </a:r>
          </a:p>
          <a:p>
            <a:r>
              <a:rPr lang="ru-RU" dirty="0"/>
              <a:t>Типичные задачи GPU</a:t>
            </a:r>
          </a:p>
          <a:p>
            <a:pPr lvl="1"/>
            <a:r>
              <a:rPr lang="ru-RU" dirty="0"/>
              <a:t>обработка изображений, </a:t>
            </a:r>
          </a:p>
          <a:p>
            <a:pPr lvl="1"/>
            <a:r>
              <a:rPr lang="ru-RU" dirty="0"/>
              <a:t>линейная алгебра, </a:t>
            </a:r>
          </a:p>
          <a:p>
            <a:pPr lvl="1"/>
            <a:r>
              <a:rPr lang="ru-RU" dirty="0"/>
              <a:t>машинное обучение, </a:t>
            </a:r>
          </a:p>
          <a:p>
            <a:pPr lvl="1"/>
            <a:r>
              <a:rPr lang="ru-RU" dirty="0"/>
              <a:t>научные вычисления, </a:t>
            </a:r>
          </a:p>
          <a:p>
            <a:pPr lvl="1"/>
            <a:r>
              <a:rPr lang="ru-RU" dirty="0" err="1"/>
              <a:t>simulation</a:t>
            </a:r>
            <a:r>
              <a:rPr lang="ru-RU" dirty="0"/>
              <a:t> / </a:t>
            </a:r>
            <a:r>
              <a:rPr lang="ru-RU" dirty="0" err="1"/>
              <a:t>physics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3D6E6F09-D53C-D1D1-967C-AE23B3269C1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80505015"/>
              </p:ext>
            </p:extLst>
          </p:nvPr>
        </p:nvGraphicFramePr>
        <p:xfrm>
          <a:off x="6172200" y="1825625"/>
          <a:ext cx="5181600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077">
                  <a:extLst>
                    <a:ext uri="{9D8B030D-6E8A-4147-A177-3AD203B41FA5}">
                      <a16:colId xmlns:a16="http://schemas.microsoft.com/office/drawing/2014/main" val="3434302060"/>
                    </a:ext>
                  </a:extLst>
                </a:gridCol>
                <a:gridCol w="2983523">
                  <a:extLst>
                    <a:ext uri="{9D8B030D-6E8A-4147-A177-3AD203B41FA5}">
                      <a16:colId xmlns:a16="http://schemas.microsoft.com/office/drawing/2014/main" val="859952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3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Небольшое количество мощных ядер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Тысячи более простых ядер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447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Оптимизация под минимальную задержку (</a:t>
                      </a:r>
                      <a:r>
                        <a:rPr lang="ru-RU" dirty="0" err="1"/>
                        <a:t>latency</a:t>
                      </a:r>
                      <a:r>
                        <a:rPr lang="ru-RU" dirty="0"/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Оптимизация под максимальную пропускную способность (</a:t>
                      </a:r>
                      <a:r>
                        <a:rPr lang="ru-RU" dirty="0" err="1"/>
                        <a:t>throughput</a:t>
                      </a:r>
                      <a:r>
                        <a:rPr lang="ru-RU" dirty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726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Большие кэши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Большое количество вычислительных блоков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751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Сложная логика управления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Массовое параллельное выполнение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32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Хорошо работает с ветвлениями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Эффективен для одинаковых операций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601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191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92E857-7408-9144-31EB-ADEDC44D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потоков на </a:t>
            </a:r>
            <a:r>
              <a:rPr lang="en-US" dirty="0"/>
              <a:t>CPU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A6DC38-4BA9-3B80-6098-8528E5DD6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CPU выполняет независимые потоки инструкций</a:t>
            </a:r>
          </a:p>
          <a:p>
            <a:pPr lvl="1"/>
            <a:r>
              <a:rPr lang="ru-RU" dirty="0"/>
              <a:t>Каждое ядро CPU содержит:</a:t>
            </a:r>
            <a:r>
              <a:rPr lang="en-US" dirty="0"/>
              <a:t> </a:t>
            </a:r>
            <a:r>
              <a:rPr lang="ru-RU" dirty="0"/>
              <a:t>собственные регистры, </a:t>
            </a:r>
            <a:r>
              <a:rPr lang="ru-RU" dirty="0" err="1"/>
              <a:t>program</a:t>
            </a:r>
            <a:r>
              <a:rPr lang="ru-RU" dirty="0"/>
              <a:t> </a:t>
            </a:r>
            <a:r>
              <a:rPr lang="ru-RU" dirty="0" err="1"/>
              <a:t>counter</a:t>
            </a:r>
            <a:r>
              <a:rPr lang="ru-RU" dirty="0"/>
              <a:t>, управляющую логику, кэши. </a:t>
            </a:r>
          </a:p>
          <a:p>
            <a:r>
              <a:rPr lang="ru-RU" dirty="0"/>
              <a:t>Поток (</a:t>
            </a:r>
            <a:r>
              <a:rPr lang="ru-RU" dirty="0" err="1"/>
              <a:t>Thread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Поток — единица выполнения программы, планируемая операционной системой.</a:t>
            </a:r>
          </a:p>
          <a:p>
            <a:pPr lvl="1"/>
            <a:r>
              <a:rPr lang="ru-RU" dirty="0"/>
              <a:t>ОС может:</a:t>
            </a:r>
            <a:r>
              <a:rPr lang="en-US" dirty="0"/>
              <a:t> </a:t>
            </a:r>
            <a:r>
              <a:rPr lang="ru-RU" dirty="0"/>
              <a:t>приостанавливать поток, сохранять его контекст, переключать CPU на другой поток. </a:t>
            </a:r>
          </a:p>
          <a:p>
            <a:r>
              <a:rPr lang="ru-RU" dirty="0"/>
              <a:t>Hyper-</a:t>
            </a:r>
            <a:r>
              <a:rPr lang="ru-RU" dirty="0" err="1"/>
              <a:t>Threading</a:t>
            </a:r>
            <a:r>
              <a:rPr lang="ru-RU" dirty="0"/>
              <a:t> / SMT</a:t>
            </a:r>
          </a:p>
          <a:p>
            <a:pPr lvl="1"/>
            <a:r>
              <a:rPr lang="ru-RU" dirty="0"/>
              <a:t>Одно ядро CPU может выполнять несколько потоков одновременно:</a:t>
            </a:r>
          </a:p>
          <a:p>
            <a:pPr lvl="2"/>
            <a:r>
              <a:rPr lang="ru-RU" dirty="0"/>
              <a:t>пока один поток ожидает память, другой может использовать вычислительные блоки. </a:t>
            </a:r>
          </a:p>
          <a:p>
            <a:r>
              <a:rPr lang="ru-RU" dirty="0"/>
              <a:t>CPU оптимизирован для эффективного выполнения небольшого количества сложных потоков.</a:t>
            </a:r>
          </a:p>
        </p:txBody>
      </p:sp>
    </p:spTree>
    <p:extLst>
      <p:ext uri="{BB962C8B-B14F-4D97-AF65-F5344CB8AC3E}">
        <p14:creationId xmlns:p14="http://schemas.microsoft.com/office/powerpoint/2010/main" val="2638621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E978-3466-96D5-7850-6C1A45BAA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vs GPU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211F5C4-344C-396F-3A6B-EF3B30641B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838200" y="2093070"/>
            <a:ext cx="10515600" cy="3816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1253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CC1EA-7CA9-53DC-6647-2C96466B7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Выполнение потоков на </a:t>
            </a:r>
            <a:r>
              <a:rPr lang="en-US" dirty="0"/>
              <a:t>GPU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4F048-44C2-98AA-13F7-E8BD0672D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SIMT — Single </a:t>
            </a:r>
            <a:r>
              <a:rPr lang="ru-RU" dirty="0" err="1"/>
              <a:t>Instruction</a:t>
            </a:r>
            <a:r>
              <a:rPr lang="ru-RU" dirty="0"/>
              <a:t> </a:t>
            </a:r>
            <a:r>
              <a:rPr lang="ru-RU" dirty="0" err="1"/>
              <a:t>Multiple</a:t>
            </a:r>
            <a:r>
              <a:rPr lang="ru-RU" dirty="0"/>
              <a:t> </a:t>
            </a:r>
            <a:r>
              <a:rPr lang="ru-RU" dirty="0" err="1"/>
              <a:t>Threads</a:t>
            </a:r>
            <a:endParaRPr lang="ru-RU" dirty="0"/>
          </a:p>
          <a:p>
            <a:r>
              <a:rPr lang="ru-RU" b="1" dirty="0"/>
              <a:t>Множество потоков</a:t>
            </a:r>
            <a:r>
              <a:rPr lang="en-US" dirty="0"/>
              <a:t> </a:t>
            </a:r>
            <a:r>
              <a:rPr lang="ru-RU" dirty="0"/>
              <a:t>выполняют </a:t>
            </a:r>
            <a:r>
              <a:rPr lang="ru-RU" b="1" dirty="0"/>
              <a:t>одну инструкцию</a:t>
            </a:r>
            <a:r>
              <a:rPr lang="en-US" dirty="0"/>
              <a:t> </a:t>
            </a:r>
            <a:r>
              <a:rPr lang="ru-RU" dirty="0"/>
              <a:t>над разными данными</a:t>
            </a:r>
            <a:r>
              <a:rPr lang="en-US" dirty="0"/>
              <a:t>, </a:t>
            </a:r>
            <a:r>
              <a:rPr lang="ru-RU" dirty="0"/>
              <a:t>используя разные регистры. </a:t>
            </a:r>
          </a:p>
          <a:p>
            <a:r>
              <a:rPr lang="ru-RU" dirty="0"/>
              <a:t>GPU состоит из множества </a:t>
            </a:r>
            <a:r>
              <a:rPr lang="ru-RU" dirty="0" err="1"/>
              <a:t>Streaming</a:t>
            </a:r>
            <a:r>
              <a:rPr lang="ru-RU" dirty="0"/>
              <a:t> </a:t>
            </a:r>
            <a:r>
              <a:rPr lang="ru-RU" dirty="0" err="1"/>
              <a:t>Multiprocessor</a:t>
            </a:r>
            <a:r>
              <a:rPr lang="ru-RU" dirty="0"/>
              <a:t> (SM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Каждый SM</a:t>
            </a:r>
            <a:r>
              <a:rPr lang="en-US" dirty="0"/>
              <a:t> </a:t>
            </a:r>
            <a:r>
              <a:rPr lang="ru-RU" dirty="0"/>
              <a:t>содержит вычислительные блоки</a:t>
            </a:r>
            <a:r>
              <a:rPr lang="en-US" dirty="0"/>
              <a:t> </a:t>
            </a:r>
            <a:r>
              <a:rPr lang="ru-RU" dirty="0"/>
              <a:t>и выполняет группы потоков одновременно.</a:t>
            </a:r>
          </a:p>
          <a:p>
            <a:pPr lvl="2"/>
            <a:r>
              <a:rPr lang="en-US" dirty="0"/>
              <a:t>NVIDIA – </a:t>
            </a:r>
            <a:r>
              <a:rPr lang="en-US" b="1" dirty="0"/>
              <a:t>Warp</a:t>
            </a:r>
            <a:r>
              <a:rPr lang="en-US" dirty="0"/>
              <a:t> </a:t>
            </a:r>
            <a:r>
              <a:rPr lang="ru-RU" dirty="0"/>
              <a:t>– группа из 32 потоков</a:t>
            </a:r>
          </a:p>
          <a:p>
            <a:pPr lvl="2"/>
            <a:r>
              <a:rPr lang="en-US" dirty="0"/>
              <a:t>AMD – </a:t>
            </a:r>
            <a:r>
              <a:rPr lang="en-US" b="1" dirty="0"/>
              <a:t>Wavefront</a:t>
            </a:r>
            <a:r>
              <a:rPr lang="en-US" dirty="0"/>
              <a:t>  </a:t>
            </a:r>
            <a:r>
              <a:rPr lang="ru-RU" dirty="0"/>
              <a:t>- группа из</a:t>
            </a:r>
            <a:r>
              <a:rPr lang="en-US" dirty="0"/>
              <a:t> 64 </a:t>
            </a:r>
            <a:r>
              <a:rPr lang="ru-RU" dirty="0"/>
              <a:t>потоков</a:t>
            </a:r>
          </a:p>
          <a:p>
            <a:r>
              <a:rPr lang="ru-RU" dirty="0"/>
              <a:t>GPU оптимизирован для массового выполнения одинаковых операций.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853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C084FA-E824-73B1-5FB1-5D663854C97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91" y="0"/>
            <a:ext cx="10007418" cy="66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35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929D-256B-1795-506C-16D1E26F3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Ветвления и </a:t>
            </a:r>
            <a:r>
              <a:rPr lang="en-US" dirty="0"/>
              <a:t>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8A022-EE6A-0262-E53D-456B92AD6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/>
              <a:t>Divergence</a:t>
            </a:r>
            <a:r>
              <a:rPr lang="ru-RU" dirty="0"/>
              <a:t> — проблема GPU</a:t>
            </a:r>
          </a:p>
          <a:p>
            <a:pPr lvl="1"/>
            <a:r>
              <a:rPr lang="ru-RU" dirty="0" err="1"/>
              <a:t>if</a:t>
            </a:r>
            <a:r>
              <a:rPr lang="ru-RU" dirty="0"/>
              <a:t> (x % 2 == 0)</a:t>
            </a:r>
            <a:br>
              <a:rPr lang="ru-RU" dirty="0"/>
            </a:br>
            <a:r>
              <a:rPr lang="ru-RU" dirty="0"/>
              <a:t>    a[i] *= 2;</a:t>
            </a:r>
            <a:br>
              <a:rPr lang="ru-RU" dirty="0"/>
            </a:br>
            <a:r>
              <a:rPr lang="ru-RU" dirty="0" err="1"/>
              <a:t>else</a:t>
            </a:r>
            <a:br>
              <a:rPr lang="ru-RU" dirty="0"/>
            </a:br>
            <a:r>
              <a:rPr lang="ru-RU" dirty="0"/>
              <a:t>    a[i] *= 3;</a:t>
            </a:r>
          </a:p>
          <a:p>
            <a:r>
              <a:rPr lang="ru-RU" dirty="0"/>
              <a:t>Аналогия: автобус с рабочими-веганами и любителями рыбы</a:t>
            </a:r>
          </a:p>
          <a:p>
            <a:r>
              <a:rPr lang="ru-RU" dirty="0"/>
              <a:t>Что происходит в GPU?</a:t>
            </a:r>
          </a:p>
          <a:p>
            <a:pPr lvl="1"/>
            <a:r>
              <a:rPr lang="ru-RU" dirty="0"/>
              <a:t>Если потоки внутри </a:t>
            </a:r>
            <a:r>
              <a:rPr lang="ru-RU" dirty="0" err="1"/>
              <a:t>warp</a:t>
            </a:r>
            <a:r>
              <a:rPr lang="ru-RU" dirty="0"/>
              <a:t> идут по разным веткам, GPU выполняет ветки по очереди и часть потоков временно простаивает </a:t>
            </a:r>
          </a:p>
          <a:p>
            <a:r>
              <a:rPr lang="ru-RU" dirty="0"/>
              <a:t>GPU наиболее эффективен, когда потоки выполняют одинаковый код, и идут по одному пути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1325677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E8BBFFD-2858-4C75-EC42-98165C3DF878}"/>
              </a:ext>
            </a:extLst>
          </p:cNvPr>
          <p:cNvPicPr>
            <a:picLocks noGrp="1" noChangeAspect="1" noChangeArrowheads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154" y="70258"/>
            <a:ext cx="8234491" cy="671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0639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E7255-7143-7913-9C11-D6C2091DF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</a:t>
            </a:r>
            <a:r>
              <a:rPr lang="ru-RU" dirty="0"/>
              <a:t>для гетерогенных вычислений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BC22A-1F31-D9F6-9A12-DEDE910E0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OpenCL – </a:t>
            </a:r>
            <a:r>
              <a:rPr lang="ru-RU" dirty="0"/>
              <a:t>кроссплатформенный стандарт от </a:t>
            </a:r>
            <a:r>
              <a:rPr lang="en-US" dirty="0"/>
              <a:t>Khronos Group</a:t>
            </a:r>
            <a:endParaRPr lang="ru-RU" dirty="0"/>
          </a:p>
          <a:p>
            <a:r>
              <a:rPr lang="en-US" dirty="0"/>
              <a:t>CUDA – </a:t>
            </a:r>
            <a:r>
              <a:rPr lang="ru-RU" dirty="0"/>
              <a:t>проприетарное </a:t>
            </a:r>
            <a:r>
              <a:rPr lang="en-US" dirty="0"/>
              <a:t>API </a:t>
            </a:r>
            <a:r>
              <a:rPr lang="ru-RU" dirty="0"/>
              <a:t>от </a:t>
            </a:r>
            <a:r>
              <a:rPr lang="en-US" dirty="0"/>
              <a:t>Nvidia</a:t>
            </a:r>
            <a:endParaRPr lang="ru-RU" dirty="0"/>
          </a:p>
          <a:p>
            <a:r>
              <a:rPr lang="en-US" dirty="0"/>
              <a:t>SYCL – </a:t>
            </a:r>
            <a:r>
              <a:rPr lang="ru-RU" dirty="0"/>
              <a:t>современный</a:t>
            </a:r>
            <a:r>
              <a:rPr lang="en-US" dirty="0"/>
              <a:t> C++ API </a:t>
            </a:r>
            <a:r>
              <a:rPr lang="ru-RU" dirty="0"/>
              <a:t>от</a:t>
            </a:r>
            <a:r>
              <a:rPr lang="en-US" dirty="0"/>
              <a:t> Khronos Group</a:t>
            </a:r>
            <a:r>
              <a:rPr lang="ru-RU" dirty="0"/>
              <a:t>, совместимый с </a:t>
            </a:r>
            <a:r>
              <a:rPr lang="en-US" dirty="0"/>
              <a:t>C++ 17</a:t>
            </a:r>
          </a:p>
          <a:p>
            <a:r>
              <a:rPr lang="en-US" dirty="0"/>
              <a:t>HIP – C++ runtime API</a:t>
            </a:r>
            <a:r>
              <a:rPr lang="ru-RU" dirty="0"/>
              <a:t> для создания приложений, работающих с</a:t>
            </a:r>
            <a:r>
              <a:rPr lang="en-US" dirty="0"/>
              <a:t> CPU, </a:t>
            </a:r>
            <a:r>
              <a:rPr lang="ru-RU" dirty="0"/>
              <a:t>и </a:t>
            </a:r>
            <a:r>
              <a:rPr lang="en-US" dirty="0"/>
              <a:t>GPU </a:t>
            </a:r>
            <a:r>
              <a:rPr lang="ru-RU" dirty="0"/>
              <a:t>от</a:t>
            </a:r>
            <a:r>
              <a:rPr lang="en-US" dirty="0"/>
              <a:t> NVidia </a:t>
            </a:r>
            <a:r>
              <a:rPr lang="ru-RU" dirty="0"/>
              <a:t>и </a:t>
            </a:r>
            <a:r>
              <a:rPr lang="en-US" dirty="0"/>
              <a:t>AMD</a:t>
            </a:r>
          </a:p>
          <a:p>
            <a:r>
              <a:rPr lang="en-US" dirty="0" err="1"/>
              <a:t>DirectCompute</a:t>
            </a:r>
            <a:r>
              <a:rPr lang="ru-RU" dirty="0"/>
              <a:t> – </a:t>
            </a:r>
            <a:r>
              <a:rPr lang="en-US" dirty="0"/>
              <a:t>API </a:t>
            </a:r>
            <a:r>
              <a:rPr lang="ru-RU" dirty="0"/>
              <a:t>от </a:t>
            </a:r>
            <a:r>
              <a:rPr lang="en-US" dirty="0"/>
              <a:t>Microsoft </a:t>
            </a:r>
            <a:r>
              <a:rPr lang="ru-RU" dirty="0"/>
              <a:t>для </a:t>
            </a:r>
            <a:r>
              <a:rPr lang="en-US" dirty="0"/>
              <a:t>GPU</a:t>
            </a:r>
            <a:r>
              <a:rPr lang="ru-RU" dirty="0"/>
              <a:t>-вычислений</a:t>
            </a:r>
            <a:endParaRPr lang="en-US" dirty="0"/>
          </a:p>
          <a:p>
            <a:r>
              <a:rPr lang="en-US" dirty="0" err="1"/>
              <a:t>MetalCompute</a:t>
            </a:r>
            <a:r>
              <a:rPr lang="ru-RU" dirty="0"/>
              <a:t> – </a:t>
            </a:r>
            <a:r>
              <a:rPr lang="en-US" dirty="0"/>
              <a:t>API</a:t>
            </a:r>
            <a:r>
              <a:rPr lang="ru-RU" dirty="0"/>
              <a:t> </a:t>
            </a:r>
            <a:r>
              <a:rPr lang="en-US" dirty="0"/>
              <a:t>Apple </a:t>
            </a:r>
            <a:r>
              <a:rPr lang="ru-RU" dirty="0"/>
              <a:t>для </a:t>
            </a:r>
            <a:r>
              <a:rPr lang="en-US" dirty="0"/>
              <a:t>GPU-</a:t>
            </a:r>
            <a:r>
              <a:rPr lang="ru-RU" dirty="0"/>
              <a:t>вычислений</a:t>
            </a:r>
            <a:endParaRPr lang="en-US" dirty="0"/>
          </a:p>
          <a:p>
            <a:r>
              <a:rPr lang="en-US" dirty="0" err="1"/>
              <a:t>VulkanCompute</a:t>
            </a:r>
            <a:r>
              <a:rPr lang="en-US" dirty="0"/>
              <a:t> – </a:t>
            </a:r>
            <a:r>
              <a:rPr lang="ru-RU" dirty="0"/>
              <a:t>расширение графического </a:t>
            </a:r>
            <a:r>
              <a:rPr lang="en-US" dirty="0"/>
              <a:t>API Vulkan </a:t>
            </a:r>
            <a:r>
              <a:rPr lang="ru-RU" dirty="0"/>
              <a:t>для вычислений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1499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805B9A-85BE-5222-696B-E236DC274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OpenCL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444E1-0A45-FF3E-8BD8-A06AFA779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94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F488-2E8C-C710-02E2-2DB023F02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OpenCL?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C0B57-548C-8FF7-F14A-EA139679D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err="1"/>
              <a:t>OpenCL</a:t>
            </a:r>
            <a:r>
              <a:rPr lang="ru-RU" dirty="0"/>
              <a:t> (Open Computing Language) - Открытый стандарт для параллельных вычислений на гетерогенных системах.</a:t>
            </a:r>
          </a:p>
          <a:p>
            <a:r>
              <a:rPr lang="ru-RU" dirty="0"/>
              <a:t>Поддерживаемые устройства</a:t>
            </a:r>
          </a:p>
          <a:p>
            <a:pPr lvl="1"/>
            <a:r>
              <a:rPr lang="ru-RU" dirty="0"/>
              <a:t>CPU </a:t>
            </a:r>
          </a:p>
          <a:p>
            <a:pPr lvl="1"/>
            <a:r>
              <a:rPr lang="ru-RU" dirty="0"/>
              <a:t>GPU </a:t>
            </a:r>
          </a:p>
          <a:p>
            <a:pPr lvl="1"/>
            <a:r>
              <a:rPr lang="ru-RU" dirty="0"/>
              <a:t>FPGA </a:t>
            </a:r>
          </a:p>
          <a:p>
            <a:pPr lvl="1"/>
            <a:r>
              <a:rPr lang="ru-RU" dirty="0"/>
              <a:t>AI/ML </a:t>
            </a:r>
            <a:r>
              <a:rPr lang="ru-RU" dirty="0" err="1"/>
              <a:t>accelerators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другие ускорители </a:t>
            </a:r>
          </a:p>
          <a:p>
            <a:r>
              <a:rPr lang="ru-RU" dirty="0"/>
              <a:t>Что предоставляет </a:t>
            </a:r>
            <a:r>
              <a:rPr lang="ru-RU" dirty="0" err="1"/>
              <a:t>OpenCL</a:t>
            </a:r>
            <a:r>
              <a:rPr lang="ru-RU" dirty="0"/>
              <a:t>?</a:t>
            </a:r>
          </a:p>
          <a:p>
            <a:pPr lvl="1"/>
            <a:r>
              <a:rPr lang="ru-RU" dirty="0"/>
              <a:t>Host API для управления устройствами </a:t>
            </a:r>
          </a:p>
          <a:p>
            <a:pPr lvl="1"/>
            <a:r>
              <a:rPr lang="ru-RU" dirty="0"/>
              <a:t>Язык ядер (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language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Модель параллельного выполнения </a:t>
            </a:r>
          </a:p>
          <a:p>
            <a:pPr lvl="1"/>
            <a:r>
              <a:rPr lang="ru-RU" dirty="0"/>
              <a:t>Модель памяти </a:t>
            </a:r>
          </a:p>
          <a:p>
            <a:pPr lvl="1"/>
            <a:r>
              <a:rPr lang="ru-RU" dirty="0" err="1"/>
              <a:t>Runtime</a:t>
            </a:r>
            <a:r>
              <a:rPr lang="ru-RU" dirty="0"/>
              <a:t>-компиляцию программ </a:t>
            </a:r>
          </a:p>
          <a:p>
            <a:r>
              <a:rPr lang="ru-RU" dirty="0"/>
              <a:t>Одна программа может выполнять вычисления на устройствах разных производителей.</a:t>
            </a:r>
          </a:p>
        </p:txBody>
      </p:sp>
    </p:spTree>
    <p:extLst>
      <p:ext uri="{BB962C8B-B14F-4D97-AF65-F5344CB8AC3E}">
        <p14:creationId xmlns:p14="http://schemas.microsoft.com/office/powerpoint/2010/main" val="3433856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1E67-6320-ED07-3021-456F9772A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Хост, устройство, контекст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65D2-AC98-1369-15C7-867DD9734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b="1" dirty="0"/>
              <a:t>Host (хост)</a:t>
            </a:r>
            <a:r>
              <a:rPr lang="ru-RU" dirty="0"/>
              <a:t> – обычно CPU и код приложения.</a:t>
            </a:r>
          </a:p>
          <a:p>
            <a:pPr lvl="1"/>
            <a:r>
              <a:rPr lang="ru-RU" dirty="0"/>
              <a:t>Отвечает за: выбор устройства, создание контекста, управление памятью, запуск ядер, получение результатов. </a:t>
            </a:r>
          </a:p>
          <a:p>
            <a:r>
              <a:rPr lang="ru-RU" b="1" dirty="0"/>
              <a:t>Device (устройство)</a:t>
            </a:r>
            <a:r>
              <a:rPr lang="ru-RU" dirty="0"/>
              <a:t> – вычислительное  устройство: GPU, CPU, FPGA, </a:t>
            </a:r>
            <a:r>
              <a:rPr lang="ru-RU" dirty="0" err="1"/>
              <a:t>accelerator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Выполняет </a:t>
            </a:r>
            <a:r>
              <a:rPr lang="ru-RU" dirty="0" err="1"/>
              <a:t>OpenCL</a:t>
            </a:r>
            <a:r>
              <a:rPr lang="ru-RU" dirty="0"/>
              <a:t>-ядра над данными.</a:t>
            </a:r>
          </a:p>
          <a:p>
            <a:r>
              <a:rPr lang="ru-RU" b="1" dirty="0" err="1"/>
              <a:t>Context</a:t>
            </a:r>
            <a:r>
              <a:rPr lang="ru-RU" b="1" dirty="0"/>
              <a:t> (контекст)</a:t>
            </a:r>
            <a:r>
              <a:rPr lang="ru-RU" dirty="0"/>
              <a:t> – среда выполнения </a:t>
            </a:r>
            <a:r>
              <a:rPr lang="ru-RU" dirty="0" err="1"/>
              <a:t>OpenCL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Объединяет: устройства, память, программы, очереди команд.</a:t>
            </a:r>
          </a:p>
        </p:txBody>
      </p:sp>
    </p:spTree>
    <p:extLst>
      <p:ext uri="{BB962C8B-B14F-4D97-AF65-F5344CB8AC3E}">
        <p14:creationId xmlns:p14="http://schemas.microsoft.com/office/powerpoint/2010/main" val="2907315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F721DE-07CB-FECD-7DDA-F27C879DE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380"/>
            <a:ext cx="12192000" cy="670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98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CAB7AB-AD55-84AB-9BA1-B6A029F44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Хост и устройства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58B1C5-BCF8-887F-0D0C-0BD81D8D099E}"/>
              </a:ext>
            </a:extLst>
          </p:cNvPr>
          <p:cNvSpPr/>
          <p:nvPr/>
        </p:nvSpPr>
        <p:spPr>
          <a:xfrm>
            <a:off x="838200" y="1936750"/>
            <a:ext cx="2857500" cy="160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EA736D-7E4D-8492-D0B2-2DB840C472F5}"/>
              </a:ext>
            </a:extLst>
          </p:cNvPr>
          <p:cNvSpPr/>
          <p:nvPr/>
        </p:nvSpPr>
        <p:spPr>
          <a:xfrm>
            <a:off x="838200" y="4311650"/>
            <a:ext cx="2857500" cy="1600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EAB893-7065-6B32-5F2C-E6BE033B14B8}"/>
              </a:ext>
            </a:extLst>
          </p:cNvPr>
          <p:cNvSpPr/>
          <p:nvPr/>
        </p:nvSpPr>
        <p:spPr>
          <a:xfrm>
            <a:off x="6711952" y="2044700"/>
            <a:ext cx="1504948" cy="1282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9E2EA7-F4C4-4E27-6FB5-913E3A39DEA2}"/>
              </a:ext>
            </a:extLst>
          </p:cNvPr>
          <p:cNvSpPr/>
          <p:nvPr/>
        </p:nvSpPr>
        <p:spPr>
          <a:xfrm>
            <a:off x="6711952" y="4578350"/>
            <a:ext cx="1504948" cy="1282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C308F-25A8-410F-7FB3-67B8839AF616}"/>
              </a:ext>
            </a:extLst>
          </p:cNvPr>
          <p:cNvSpPr/>
          <p:nvPr/>
        </p:nvSpPr>
        <p:spPr>
          <a:xfrm>
            <a:off x="4667250" y="3346450"/>
            <a:ext cx="1357313" cy="1181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6CB2ED-D87E-40E2-B051-55E42E1030A7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6024563" y="2686050"/>
            <a:ext cx="687389" cy="1250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E3986F-15E9-B53F-8FD0-3603346722FB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6024563" y="3937000"/>
            <a:ext cx="687389" cy="1282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61A4EAC-25A8-1D31-B0B4-0CDB2395CCD7}"/>
              </a:ext>
            </a:extLst>
          </p:cNvPr>
          <p:cNvSpPr/>
          <p:nvPr/>
        </p:nvSpPr>
        <p:spPr>
          <a:xfrm>
            <a:off x="9448800" y="2044700"/>
            <a:ext cx="1993900" cy="1282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 1 Memory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EC3AEF-2561-3BEB-F132-0AD7CD88A57D}"/>
              </a:ext>
            </a:extLst>
          </p:cNvPr>
          <p:cNvSpPr/>
          <p:nvPr/>
        </p:nvSpPr>
        <p:spPr>
          <a:xfrm>
            <a:off x="9448800" y="4578350"/>
            <a:ext cx="1905000" cy="1282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 2 Memory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6FB07F-6DF3-07DF-FB5B-C2CDA0EACEAB}"/>
              </a:ext>
            </a:extLst>
          </p:cNvPr>
          <p:cNvCxnSpPr>
            <a:cxnSpLocks/>
            <a:stCxn id="7" idx="3"/>
            <a:endCxn id="20" idx="1"/>
          </p:cNvCxnSpPr>
          <p:nvPr/>
        </p:nvCxnSpPr>
        <p:spPr>
          <a:xfrm>
            <a:off x="8216900" y="2686050"/>
            <a:ext cx="1231900" cy="0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83B0002-D5F7-8387-8B2D-F150B2094EEA}"/>
              </a:ext>
            </a:extLst>
          </p:cNvPr>
          <p:cNvCxnSpPr>
            <a:cxnSpLocks/>
            <a:stCxn id="8" idx="3"/>
            <a:endCxn id="25" idx="1"/>
          </p:cNvCxnSpPr>
          <p:nvPr/>
        </p:nvCxnSpPr>
        <p:spPr>
          <a:xfrm>
            <a:off x="8216900" y="5219700"/>
            <a:ext cx="1231900" cy="0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97BADB-1CC5-72E0-8935-34608DEFB8FF}"/>
              </a:ext>
            </a:extLst>
          </p:cNvPr>
          <p:cNvCxnSpPr>
            <a:cxnSpLocks/>
            <a:stCxn id="6" idx="2"/>
            <a:endCxn id="25" idx="2"/>
          </p:cNvCxnSpPr>
          <p:nvPr/>
        </p:nvCxnSpPr>
        <p:spPr>
          <a:xfrm rot="5400000" flipH="1" flipV="1">
            <a:off x="6308725" y="1819275"/>
            <a:ext cx="50800" cy="8134350"/>
          </a:xfrm>
          <a:prstGeom prst="bentConnector3">
            <a:avLst>
              <a:gd name="adj1" fmla="val -925000"/>
            </a:avLst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34">
            <a:extLst>
              <a:ext uri="{FF2B5EF4-FFF2-40B4-BE49-F238E27FC236}">
                <a16:creationId xmlns:a16="http://schemas.microsoft.com/office/drawing/2014/main" id="{D2AC1796-CA9E-13F4-80B5-EB1CBB6BCC50}"/>
              </a:ext>
            </a:extLst>
          </p:cNvPr>
          <p:cNvCxnSpPr>
            <a:cxnSpLocks/>
            <a:stCxn id="6" idx="2"/>
            <a:endCxn id="20" idx="3"/>
          </p:cNvCxnSpPr>
          <p:nvPr/>
        </p:nvCxnSpPr>
        <p:spPr>
          <a:xfrm rot="5400000" flipH="1" flipV="1">
            <a:off x="5241925" y="-288925"/>
            <a:ext cx="3225800" cy="9175750"/>
          </a:xfrm>
          <a:prstGeom prst="bentConnector4">
            <a:avLst>
              <a:gd name="adj1" fmla="val -7087"/>
              <a:gd name="adj2" fmla="val 102491"/>
            </a:avLst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FC5F46E-F51F-F3A1-1D96-5DA7F14DDF8D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3695700" y="2736850"/>
            <a:ext cx="971550" cy="1200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29831B3-3D84-C4EB-9DA6-4AC76405B78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266950" y="3536950"/>
            <a:ext cx="0" cy="774700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4867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90843-49C9-4713-D604-7039E1C9A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Сборка и установка </a:t>
            </a:r>
            <a:r>
              <a:rPr lang="en-US" dirty="0"/>
              <a:t>OpenCL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27D05-1EA2-D697-D730-D9BFF505C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Инструкция по установке: </a:t>
            </a:r>
            <a:r>
              <a:rPr lang="en-US" dirty="0">
                <a:hlinkClick r:id="rId3"/>
              </a:rPr>
              <a:t>https://github.com/KhronosGroup/OpenCL-SDK/</a:t>
            </a:r>
            <a:endParaRPr lang="ru-RU" dirty="0"/>
          </a:p>
          <a:p>
            <a:r>
              <a:rPr lang="ru-RU" dirty="0"/>
              <a:t>Подключение к </a:t>
            </a:r>
            <a:r>
              <a:rPr lang="en-US" dirty="0" err="1"/>
              <a:t>CMake</a:t>
            </a:r>
            <a:r>
              <a:rPr lang="en-US" dirty="0"/>
              <a:t>-</a:t>
            </a:r>
            <a:r>
              <a:rPr lang="ru-RU" dirty="0"/>
              <a:t>проекту</a:t>
            </a:r>
          </a:p>
          <a:p>
            <a:pPr lvl="1"/>
            <a:r>
              <a:rPr lang="ru-RU" dirty="0"/>
              <a:t>Прописать переменные окружения: </a:t>
            </a:r>
            <a:r>
              <a:rPr lang="en-US" dirty="0" err="1"/>
              <a:t>OpenCL_ROOT</a:t>
            </a:r>
            <a:r>
              <a:rPr lang="en-US" dirty="0"/>
              <a:t>, </a:t>
            </a:r>
            <a:r>
              <a:rPr lang="ru-RU" dirty="0"/>
              <a:t>добавить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CMAKE_PREFIX_PATH </a:t>
            </a:r>
            <a:r>
              <a:rPr lang="ru-RU" dirty="0"/>
              <a:t>значение </a:t>
            </a:r>
            <a:r>
              <a:rPr lang="en-US" dirty="0"/>
              <a:t>%</a:t>
            </a:r>
            <a:r>
              <a:rPr lang="en-US" dirty="0" err="1"/>
              <a:t>OpenCL_ROOT</a:t>
            </a:r>
            <a:r>
              <a:rPr lang="en-US" dirty="0"/>
              <a:t>%/install</a:t>
            </a:r>
          </a:p>
          <a:p>
            <a:pPr lvl="1"/>
            <a:r>
              <a:rPr lang="ru-RU" dirty="0"/>
              <a:t>Добавить в </a:t>
            </a:r>
            <a:r>
              <a:rPr lang="en-US" dirty="0"/>
              <a:t>CMakeLists.txt: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(OpenCL REQUIRED)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target_compile_definitions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CL_TARGET_OPENCL_VERSION=300 CL_HPP_TARGET_OPENCL_VERSION=300)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OpenCL_INCLUDE_DIRS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OpenCL::OpenCL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458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FA0FFF-4799-652C-E2F7-6D2E50588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CMakeLists.txt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FF614E-07FB-3D82-8DB1-686FAE1DAFDD}"/>
              </a:ext>
            </a:extLst>
          </p:cNvPr>
          <p:cNvSpPr txBox="1"/>
          <p:nvPr/>
        </p:nvSpPr>
        <p:spPr>
          <a:xfrm>
            <a:off x="838200" y="1828800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add_executable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(01_list_devices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"01_list_devices.cpp"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CMAKE_VERSION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VERSION_GREATER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3.12)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set_property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01_list_devices PROPERTY CXX_STANDARD 20)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(MSVC)</a:t>
            </a:r>
          </a:p>
          <a:p>
            <a:pPr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/W4 /WX)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-Wall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Wextra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Wpedantic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(OpenCL REQUIRED)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target_compile_definitions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CL_TARGET_OPENCL_VERSION=300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CL_HPP_TARGET_OPENCL_VERSION=300)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OpenCL_INCLUDE_DIRS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(01_list_devices PRIVATE OpenCL::OpenCL)</a:t>
            </a:r>
          </a:p>
        </p:txBody>
      </p:sp>
    </p:spTree>
    <p:extLst>
      <p:ext uri="{BB962C8B-B14F-4D97-AF65-F5344CB8AC3E}">
        <p14:creationId xmlns:p14="http://schemas.microsoft.com/office/powerpoint/2010/main" val="1941153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584C-10F6-D8FF-5039-B5215EF0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компоненты </a:t>
            </a:r>
            <a:r>
              <a:rPr lang="en-US" dirty="0"/>
              <a:t>OpenCL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CAC6F-6539-40EA-4BA3-DA2BD8C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/>
              <a:t>Платформа</a:t>
            </a:r>
            <a:r>
              <a:rPr lang="en-US" dirty="0"/>
              <a:t> – </a:t>
            </a:r>
            <a:r>
              <a:rPr lang="ru-RU" dirty="0"/>
              <a:t>производитель </a:t>
            </a:r>
            <a:r>
              <a:rPr lang="en-US" dirty="0"/>
              <a:t>OpenCL</a:t>
            </a:r>
            <a:r>
              <a:rPr lang="ru-RU" dirty="0"/>
              <a:t>-устройств (</a:t>
            </a:r>
            <a:r>
              <a:rPr lang="en-US" dirty="0"/>
              <a:t>Intel, AMD, NVidia, …)</a:t>
            </a:r>
          </a:p>
          <a:p>
            <a:pPr lvl="1"/>
            <a:r>
              <a:rPr lang="ru-RU" dirty="0"/>
              <a:t>Может содержать несколько устройств</a:t>
            </a:r>
          </a:p>
          <a:p>
            <a:r>
              <a:rPr lang="ru-RU" dirty="0"/>
              <a:t>Устройство</a:t>
            </a:r>
            <a:r>
              <a:rPr lang="en-US" dirty="0"/>
              <a:t> –</a:t>
            </a:r>
            <a:r>
              <a:rPr lang="ru-RU" dirty="0"/>
              <a:t> конкретное вычислительное устройство, доступное в платформе (</a:t>
            </a:r>
            <a:r>
              <a:rPr lang="en-US" dirty="0"/>
              <a:t>CPU, GPU, FPGA)</a:t>
            </a:r>
            <a:endParaRPr lang="ru-RU" dirty="0"/>
          </a:p>
          <a:p>
            <a:r>
              <a:rPr lang="ru-RU" dirty="0"/>
              <a:t>Контекст</a:t>
            </a:r>
          </a:p>
          <a:p>
            <a:pPr lvl="1"/>
            <a:r>
              <a:rPr lang="ru-RU" dirty="0"/>
              <a:t>Запускает вычисления на одном или нескольких устройствах</a:t>
            </a:r>
          </a:p>
          <a:p>
            <a:pPr lvl="1"/>
            <a:r>
              <a:rPr lang="ru-RU" dirty="0"/>
              <a:t>Управляет памятью и командами</a:t>
            </a:r>
          </a:p>
          <a:p>
            <a:r>
              <a:rPr lang="ru-RU" dirty="0"/>
              <a:t>Очередь команд</a:t>
            </a:r>
          </a:p>
          <a:p>
            <a:pPr lvl="1"/>
            <a:r>
              <a:rPr lang="ru-RU" dirty="0"/>
              <a:t>Обеспечивает отправку задач на устройство</a:t>
            </a:r>
          </a:p>
          <a:p>
            <a:r>
              <a:rPr lang="ru-RU" dirty="0"/>
              <a:t>Программа</a:t>
            </a:r>
          </a:p>
          <a:p>
            <a:pPr lvl="1"/>
            <a:r>
              <a:rPr lang="ru-RU" dirty="0"/>
              <a:t>Содержит код одного или нескольких </a:t>
            </a:r>
            <a:r>
              <a:rPr lang="en-US" dirty="0"/>
              <a:t>OpenCL-</a:t>
            </a:r>
            <a:r>
              <a:rPr lang="ru-RU" dirty="0"/>
              <a:t>ядер</a:t>
            </a:r>
          </a:p>
          <a:p>
            <a:r>
              <a:rPr lang="ru-RU" dirty="0"/>
              <a:t>Ядро (</a:t>
            </a:r>
            <a:r>
              <a:rPr lang="en-US" dirty="0"/>
              <a:t>Kernel)</a:t>
            </a:r>
            <a:r>
              <a:rPr lang="ru-RU" dirty="0"/>
              <a:t> – функция, выполняемая на устройстве</a:t>
            </a:r>
            <a:endParaRPr lang="en-US" dirty="0"/>
          </a:p>
          <a:p>
            <a:r>
              <a:rPr lang="ru-RU" dirty="0"/>
              <a:t>Буферы – хранят данные, необходимые для вычислений</a:t>
            </a:r>
          </a:p>
          <a:p>
            <a:r>
              <a:rPr lang="ru-RU" dirty="0"/>
              <a:t>Рабочие элементы (</a:t>
            </a:r>
            <a:r>
              <a:rPr lang="en-US" dirty="0"/>
              <a:t>Work Items) </a:t>
            </a:r>
            <a:r>
              <a:rPr lang="ru-RU" dirty="0"/>
              <a:t>и рабочие группы (</a:t>
            </a:r>
            <a:r>
              <a:rPr lang="en-US" dirty="0"/>
              <a:t>Work Groups)</a:t>
            </a:r>
          </a:p>
          <a:p>
            <a:pPr lvl="1"/>
            <a:r>
              <a:rPr lang="en-US" dirty="0"/>
              <a:t>OpenCL </a:t>
            </a:r>
            <a:r>
              <a:rPr lang="ru-RU" dirty="0"/>
              <a:t>выполняет вычисления над множеством </a:t>
            </a:r>
            <a:r>
              <a:rPr lang="en-US" dirty="0"/>
              <a:t>Work Items</a:t>
            </a:r>
            <a:r>
              <a:rPr lang="ru-RU" dirty="0"/>
              <a:t>, сгруппированных в </a:t>
            </a:r>
            <a:r>
              <a:rPr lang="en-US" dirty="0"/>
              <a:t>work groups</a:t>
            </a:r>
          </a:p>
        </p:txBody>
      </p:sp>
    </p:spTree>
    <p:extLst>
      <p:ext uri="{BB962C8B-B14F-4D97-AF65-F5344CB8AC3E}">
        <p14:creationId xmlns:p14="http://schemas.microsoft.com/office/powerpoint/2010/main" val="1853857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028DE-8DFB-9AAA-2490-BF07EA54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имеющихся платформ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6F42B1-C1DB-D3F0-0465-36588BFAA020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ListPlatformsAndDevices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std::vector&lt;cl::Platform&gt; platforms;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cl::Platform::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(&amp;platforms);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OpenCL platforms found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platforms)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(CL_PLATFORM_NAME, 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Platform: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ListPlatformDevices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0529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C17BB-7AC4-4A00-7854-DD20C916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информации об устройствах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C39020-17F2-8631-C087-FBAED32C2052}"/>
              </a:ext>
            </a:extLst>
          </p:cNvPr>
          <p:cNvSpPr txBox="1"/>
          <p:nvPr/>
        </p:nvSpPr>
        <p:spPr>
          <a:xfrm>
            <a:off x="965200" y="1498600"/>
            <a:ext cx="10388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ListPlatformDevices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std::vector&lt;cl::Device&gt; devices;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(CL_DEVICE_TYPE_ALL, &amp;devices);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OpenCL devices found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devices)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(CL_DEVICE_NAME, 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 Device: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cl_device_type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(CL_DEVICE_TYPE, 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84529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E4FAA-4A3D-8842-568A-ACE0D12EB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типа устройства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BF0FE-DBF7-BB35-C222-25305B7D1635}"/>
              </a:ext>
            </a:extLst>
          </p:cNvPr>
          <p:cNvSpPr txBox="1"/>
          <p:nvPr/>
        </p:nvSpPr>
        <p:spPr>
          <a:xfrm>
            <a:off x="838200" y="1779687"/>
            <a:ext cx="9677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cl_device_type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Device type: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cl_device_type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 CL_DEVICE_TYPE_CPU,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CPU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 CL_DEVICE_TYPE_GPU,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GPU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 CL_DEVICE_TYPE_ACCELERATOR,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Accelerator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 CL_DEVICE_TYPE_CUSTOM,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Custom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A519E3-BE16-686E-EA1A-BA67F4B3E27A}"/>
              </a:ext>
            </a:extLst>
          </p:cNvPr>
          <p:cNvSpPr txBox="1"/>
          <p:nvPr/>
        </p:nvSpPr>
        <p:spPr>
          <a:xfrm>
            <a:off x="5664200" y="5042118"/>
            <a:ext cx="6527800" cy="18158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Platform: NVIDIA CUDA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Device: NVIDIA GeForce RTX 4060 Laptop GPU. Device type: GPU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Platform: Intel(R) OpenCL HD Graphics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Device: Intel(R) UHD Graphics. Device type: GPU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Platform: OpenCLOn12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Device: NVIDIA GeForce RTX 4060 Laptop GPU. Device type: GPU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Device: Intel(R) UHD Graphics. Device type: GPU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Device: Microsoft Basic Render Driver. Device type: CPU</a:t>
            </a:r>
          </a:p>
        </p:txBody>
      </p:sp>
    </p:spTree>
    <p:extLst>
      <p:ext uri="{BB962C8B-B14F-4D97-AF65-F5344CB8AC3E}">
        <p14:creationId xmlns:p14="http://schemas.microsoft.com/office/powerpoint/2010/main" val="419422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9F9045-3441-DCE0-0922-FA315E7B1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вычислений </a:t>
            </a:r>
            <a:r>
              <a:rPr lang="en-US" dirty="0"/>
              <a:t>OpenCL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CA4107-EA0A-865A-EEF7-92BF3DF49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67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295378-12DF-D6B2-EC51-E44CB028D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вычислений </a:t>
            </a:r>
            <a:r>
              <a:rPr lang="en-US" dirty="0"/>
              <a:t>OpenCL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ED28FB-0C79-C1A7-50D0-10D8381AE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3183890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/>
              <a:t>OpenCL</a:t>
            </a:r>
            <a:r>
              <a:rPr lang="ru-RU" dirty="0"/>
              <a:t> использует абстрактную модель вычислений</a:t>
            </a:r>
          </a:p>
          <a:p>
            <a:pPr lvl="1"/>
            <a:r>
              <a:rPr lang="ru-RU" dirty="0" err="1"/>
              <a:t>OpenCL</a:t>
            </a:r>
            <a:r>
              <a:rPr lang="ru-RU" dirty="0"/>
              <a:t>-программы могут выполняться на:</a:t>
            </a:r>
            <a:r>
              <a:rPr lang="en-US" dirty="0"/>
              <a:t> </a:t>
            </a:r>
            <a:r>
              <a:rPr lang="ru-RU" dirty="0"/>
              <a:t>CPU</a:t>
            </a:r>
            <a:r>
              <a:rPr lang="en-US" dirty="0"/>
              <a:t>, </a:t>
            </a:r>
            <a:r>
              <a:rPr lang="ru-RU" dirty="0"/>
              <a:t>GPU</a:t>
            </a:r>
            <a:r>
              <a:rPr lang="en-US" dirty="0"/>
              <a:t>, </a:t>
            </a:r>
            <a:r>
              <a:rPr lang="ru-RU" dirty="0"/>
              <a:t>FPGA и других ускорителях </a:t>
            </a:r>
          </a:p>
          <a:p>
            <a:r>
              <a:rPr lang="ru-RU" dirty="0"/>
              <a:t>Нужна единая модель параллельного выполнения</a:t>
            </a:r>
          </a:p>
          <a:p>
            <a:pPr lvl="1"/>
            <a:r>
              <a:rPr lang="ru-RU" dirty="0" err="1"/>
              <a:t>OpenCL</a:t>
            </a:r>
            <a:r>
              <a:rPr lang="ru-RU" dirty="0"/>
              <a:t> абстрагирует различия между устройствами при помощи: Work </a:t>
            </a:r>
            <a:r>
              <a:rPr lang="ru-RU" dirty="0" err="1"/>
              <a:t>Items</a:t>
            </a:r>
            <a:r>
              <a:rPr lang="ru-RU" dirty="0"/>
              <a:t>, </a:t>
            </a:r>
            <a:r>
              <a:rPr lang="ru-RU" dirty="0" err="1"/>
              <a:t>NDRange</a:t>
            </a:r>
            <a:r>
              <a:rPr lang="ru-RU" dirty="0"/>
              <a:t>, Work </a:t>
            </a:r>
            <a:r>
              <a:rPr lang="ru-RU" dirty="0" err="1"/>
              <a:t>Groups</a:t>
            </a:r>
            <a:endParaRPr lang="ru-RU" dirty="0"/>
          </a:p>
          <a:p>
            <a:r>
              <a:rPr lang="ru-RU" dirty="0"/>
              <a:t>Основная идея</a:t>
            </a:r>
          </a:p>
          <a:p>
            <a:pPr lvl="1"/>
            <a:r>
              <a:rPr lang="ru-RU" dirty="0" err="1"/>
              <a:t>Kernel</a:t>
            </a:r>
            <a:r>
              <a:rPr lang="ru-RU" dirty="0"/>
              <a:t> выполняется над множеством Work </a:t>
            </a:r>
            <a:r>
              <a:rPr lang="ru-RU" dirty="0" err="1"/>
              <a:t>Items</a:t>
            </a:r>
            <a:r>
              <a:rPr lang="ru-RU" dirty="0"/>
              <a:t>, сгруппированных в Work </a:t>
            </a:r>
            <a:r>
              <a:rPr lang="ru-RU" dirty="0" err="1"/>
              <a:t>Groups</a:t>
            </a:r>
            <a:endParaRPr lang="ru-RU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7B98135-991E-DEF7-50E9-D436126585A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64588680"/>
              </p:ext>
            </p:extLst>
          </p:nvPr>
        </p:nvGraphicFramePr>
        <p:xfrm>
          <a:off x="6457950" y="5009515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3747374028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4155934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OpenCL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38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595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Группа потоков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281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NDRange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Grid of threads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0240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47324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5B0FC3-0BFC-0361-98B9-A12F57BDF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Рабочие элементы и </a:t>
            </a:r>
            <a:r>
              <a:rPr lang="en-US" dirty="0" err="1"/>
              <a:t>NDRange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EC9CC-724C-4D18-8BA5-DF4DCA8ADA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Work Item — </a:t>
            </a:r>
            <a:r>
              <a:rPr lang="ru-RU" dirty="0"/>
              <a:t>экземпляр </a:t>
            </a:r>
            <a:r>
              <a:rPr lang="en-US" dirty="0"/>
              <a:t>kernel-</a:t>
            </a:r>
            <a:r>
              <a:rPr lang="ru-RU" dirty="0"/>
              <a:t>функции, выполняемый над своими данными.</a:t>
            </a:r>
          </a:p>
          <a:p>
            <a:pPr lvl="1"/>
            <a:r>
              <a:rPr lang="ru-RU" dirty="0"/>
              <a:t>Обычно:</a:t>
            </a:r>
            <a:r>
              <a:rPr lang="en-US" dirty="0"/>
              <a:t> </a:t>
            </a:r>
            <a:r>
              <a:rPr lang="ru-RU" dirty="0"/>
              <a:t>один </a:t>
            </a:r>
            <a:r>
              <a:rPr lang="en-US" dirty="0"/>
              <a:t>Work Item ≈ </a:t>
            </a:r>
            <a:r>
              <a:rPr lang="ru-RU" dirty="0"/>
              <a:t>один поток </a:t>
            </a:r>
            <a:r>
              <a:rPr lang="en-US" dirty="0"/>
              <a:t>GPU </a:t>
            </a:r>
          </a:p>
          <a:p>
            <a:r>
              <a:rPr lang="en-US" dirty="0" err="1"/>
              <a:t>NDRange</a:t>
            </a:r>
            <a:r>
              <a:rPr lang="en-US" dirty="0"/>
              <a:t> </a:t>
            </a:r>
            <a:r>
              <a:rPr lang="ru-RU" dirty="0"/>
              <a:t>задаёт пространство индексов для запуска </a:t>
            </a:r>
            <a:r>
              <a:rPr lang="en-US" dirty="0"/>
              <a:t>Work Items:</a:t>
            </a:r>
          </a:p>
          <a:p>
            <a:pPr lvl="1"/>
            <a:r>
              <a:rPr lang="en-US" dirty="0"/>
              <a:t>1D, 2D</a:t>
            </a:r>
            <a:r>
              <a:rPr lang="ru-RU" dirty="0"/>
              <a:t> или </a:t>
            </a:r>
            <a:r>
              <a:rPr lang="en-US" dirty="0"/>
              <a:t>3D</a:t>
            </a:r>
          </a:p>
          <a:p>
            <a:r>
              <a:rPr lang="ru-RU" dirty="0"/>
              <a:t>Каждый </a:t>
            </a:r>
            <a:r>
              <a:rPr lang="en-US" dirty="0"/>
              <a:t>Work Item </a:t>
            </a:r>
            <a:r>
              <a:rPr lang="ru-RU" dirty="0"/>
              <a:t>имеет свой индекс</a:t>
            </a:r>
          </a:p>
          <a:p>
            <a:pPr lvl="1"/>
            <a:r>
              <a:rPr lang="en-US" dirty="0"/>
              <a:t>int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get_global_id</a:t>
            </a:r>
            <a:r>
              <a:rPr lang="en-US" dirty="0"/>
              <a:t>(0);</a:t>
            </a:r>
          </a:p>
          <a:p>
            <a:r>
              <a:rPr lang="ru-RU" dirty="0"/>
              <a:t>Пример</a:t>
            </a:r>
          </a:p>
          <a:p>
            <a:pPr lvl="1"/>
            <a:r>
              <a:rPr lang="en-US" dirty="0"/>
              <a:t>c[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 + b[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1"/>
            <a:r>
              <a:rPr lang="en-US" dirty="0"/>
              <a:t>Work Item 0 → C[0] </a:t>
            </a:r>
          </a:p>
          <a:p>
            <a:pPr lvl="1"/>
            <a:r>
              <a:rPr lang="en-US" dirty="0"/>
              <a:t>Work Item 1 → C[1]</a:t>
            </a:r>
          </a:p>
        </p:txBody>
      </p:sp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3E8A5891-5A3B-0658-61B2-8B78D9E1E92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83401" y="1825625"/>
            <a:ext cx="3548882" cy="4351338"/>
          </a:xfrm>
        </p:spPr>
      </p:pic>
    </p:spTree>
    <p:extLst>
      <p:ext uri="{BB962C8B-B14F-4D97-AF65-F5344CB8AC3E}">
        <p14:creationId xmlns:p14="http://schemas.microsoft.com/office/powerpoint/2010/main" val="1746965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B756-7A9D-16FA-26B7-2AC9C8947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Рабочие группы (</a:t>
            </a:r>
            <a:r>
              <a:rPr lang="en-US" dirty="0"/>
              <a:t>Work Groups)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87FE2025-7017-E643-00FC-9F98029D1B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8318" y="2167731"/>
            <a:ext cx="5285482" cy="3667126"/>
          </a:xfrm>
        </p:spPr>
      </p:pic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DD929E2-9350-9140-CA5B-E56DCFA5B2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Work Group — группа Work </a:t>
            </a:r>
            <a:r>
              <a:rPr lang="ru-RU" dirty="0" err="1"/>
              <a:t>Items</a:t>
            </a:r>
            <a:r>
              <a:rPr lang="ru-RU" dirty="0"/>
              <a:t>, выполняемых совместно.</a:t>
            </a:r>
          </a:p>
          <a:p>
            <a:r>
              <a:rPr lang="ru-RU" b="1" dirty="0"/>
              <a:t>Зачем нужны Work </a:t>
            </a:r>
            <a:r>
              <a:rPr lang="ru-RU" b="1" dirty="0" err="1"/>
              <a:t>Groups</a:t>
            </a:r>
            <a:r>
              <a:rPr lang="ru-RU" b="1" dirty="0"/>
              <a:t>?</a:t>
            </a:r>
          </a:p>
          <a:p>
            <a:pPr lvl="1"/>
            <a:r>
              <a:rPr lang="ru-RU" dirty="0"/>
              <a:t>совместное выполнение </a:t>
            </a:r>
          </a:p>
          <a:p>
            <a:pPr lvl="1"/>
            <a:r>
              <a:rPr lang="ru-RU" dirty="0"/>
              <a:t>эффективное распределение на GPU </a:t>
            </a:r>
          </a:p>
          <a:p>
            <a:pPr lvl="1"/>
            <a:r>
              <a:rPr lang="ru-RU" dirty="0"/>
              <a:t>использование </a:t>
            </a:r>
            <a:r>
              <a:rPr lang="ru-RU" dirty="0" err="1"/>
              <a:t>local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синхронизация потоков </a:t>
            </a:r>
          </a:p>
          <a:p>
            <a:r>
              <a:rPr lang="ru-RU" dirty="0"/>
              <a:t>Work </a:t>
            </a:r>
            <a:r>
              <a:rPr lang="ru-RU" dirty="0" err="1"/>
              <a:t>Groups</a:t>
            </a:r>
            <a:r>
              <a:rPr lang="ru-RU" dirty="0"/>
              <a:t> выполняются независимо друг от друга </a:t>
            </a:r>
          </a:p>
          <a:p>
            <a:r>
              <a:rPr lang="ru-RU" dirty="0"/>
              <a:t>Work </a:t>
            </a:r>
            <a:r>
              <a:rPr lang="ru-RU" dirty="0" err="1"/>
              <a:t>Items</a:t>
            </a:r>
            <a:r>
              <a:rPr lang="ru-RU" dirty="0"/>
              <a:t> внутри группы могут: </a:t>
            </a:r>
          </a:p>
          <a:p>
            <a:pPr lvl="1"/>
            <a:r>
              <a:rPr lang="ru-RU" dirty="0"/>
              <a:t>обмениваться данными, </a:t>
            </a:r>
          </a:p>
          <a:p>
            <a:pPr lvl="1"/>
            <a:r>
              <a:rPr lang="ru-RU" dirty="0"/>
              <a:t>использовать </a:t>
            </a:r>
            <a:r>
              <a:rPr lang="ru-RU" dirty="0" err="1"/>
              <a:t>local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, </a:t>
            </a:r>
          </a:p>
          <a:p>
            <a:pPr lvl="1"/>
            <a:r>
              <a:rPr lang="ru-RU" dirty="0"/>
              <a:t>синхронизироваться через </a:t>
            </a:r>
            <a:r>
              <a:rPr lang="ru-RU" dirty="0" err="1"/>
              <a:t>barrier</a:t>
            </a:r>
            <a:r>
              <a:rPr lang="ru-RU" dirty="0"/>
              <a:t>() </a:t>
            </a:r>
          </a:p>
          <a:p>
            <a:r>
              <a:rPr lang="ru-RU" dirty="0"/>
              <a:t>Синхронизация возможна только внутри одной Work Group.</a:t>
            </a:r>
          </a:p>
        </p:txBody>
      </p:sp>
    </p:spTree>
    <p:extLst>
      <p:ext uri="{BB962C8B-B14F-4D97-AF65-F5344CB8AC3E}">
        <p14:creationId xmlns:p14="http://schemas.microsoft.com/office/powerpoint/2010/main" val="3691311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2ED87-E8A1-12A2-FE2A-760D26F9B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 </a:t>
            </a:r>
            <a:r>
              <a:rPr lang="en-US" dirty="0"/>
              <a:t>OpenCL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8EC89-B313-3373-2640-290E74E41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474677" cy="4351338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/>
              <a:t>Global Memory</a:t>
            </a:r>
          </a:p>
          <a:p>
            <a:pPr lvl="1"/>
            <a:r>
              <a:rPr lang="ru-RU" dirty="0"/>
              <a:t>доступна всем Work </a:t>
            </a:r>
            <a:r>
              <a:rPr lang="ru-RU" dirty="0" err="1"/>
              <a:t>Items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большой объём </a:t>
            </a:r>
          </a:p>
          <a:p>
            <a:pPr lvl="1"/>
            <a:r>
              <a:rPr lang="ru-RU" dirty="0"/>
              <a:t>высокая задержка доступа </a:t>
            </a:r>
          </a:p>
          <a:p>
            <a:r>
              <a:rPr lang="ru-RU" b="1" dirty="0"/>
              <a:t>Local Memory</a:t>
            </a:r>
          </a:p>
          <a:p>
            <a:pPr lvl="1"/>
            <a:r>
              <a:rPr lang="ru-RU" dirty="0"/>
              <a:t>общая для Work </a:t>
            </a:r>
            <a:r>
              <a:rPr lang="ru-RU" dirty="0" err="1"/>
              <a:t>Items</a:t>
            </a:r>
            <a:r>
              <a:rPr lang="ru-RU" dirty="0"/>
              <a:t> внутри одной Work Group </a:t>
            </a:r>
          </a:p>
          <a:p>
            <a:pPr lvl="1"/>
            <a:r>
              <a:rPr lang="ru-RU" dirty="0"/>
              <a:t>намного быстрее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используется для переиспользования данных </a:t>
            </a:r>
          </a:p>
          <a:p>
            <a:r>
              <a:rPr lang="ru-RU" b="1" dirty="0"/>
              <a:t>Private Memory</a:t>
            </a:r>
          </a:p>
          <a:p>
            <a:pPr lvl="1"/>
            <a:r>
              <a:rPr lang="ru-RU" dirty="0"/>
              <a:t>принадлежит одному Work </a:t>
            </a:r>
            <a:r>
              <a:rPr lang="ru-RU" dirty="0" err="1"/>
              <a:t>Item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обычно хранится в регистрах </a:t>
            </a:r>
          </a:p>
          <a:p>
            <a:pPr lvl="1"/>
            <a:r>
              <a:rPr lang="ru-RU" dirty="0"/>
              <a:t>используется для локальных переменных 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5BF7461-AE44-BCF2-2AD0-8FEA88FBEB5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73339540"/>
              </p:ext>
            </p:extLst>
          </p:nvPr>
        </p:nvGraphicFramePr>
        <p:xfrm>
          <a:off x="6893168" y="4201795"/>
          <a:ext cx="4882664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9231">
                  <a:extLst>
                    <a:ext uri="{9D8B030D-6E8A-4147-A177-3AD203B41FA5}">
                      <a16:colId xmlns:a16="http://schemas.microsoft.com/office/drawing/2014/main" val="780902530"/>
                    </a:ext>
                  </a:extLst>
                </a:gridCol>
                <a:gridCol w="1318846">
                  <a:extLst>
                    <a:ext uri="{9D8B030D-6E8A-4147-A177-3AD203B41FA5}">
                      <a16:colId xmlns:a16="http://schemas.microsoft.com/office/drawing/2014/main" val="3288934736"/>
                    </a:ext>
                  </a:extLst>
                </a:gridCol>
                <a:gridCol w="1283677">
                  <a:extLst>
                    <a:ext uri="{9D8B030D-6E8A-4147-A177-3AD203B41FA5}">
                      <a16:colId xmlns:a16="http://schemas.microsoft.com/office/drawing/2014/main" val="413519247"/>
                    </a:ext>
                  </a:extLst>
                </a:gridCol>
                <a:gridCol w="1400910">
                  <a:extLst>
                    <a:ext uri="{9D8B030D-6E8A-4147-A177-3AD203B41FA5}">
                      <a16:colId xmlns:a16="http://schemas.microsoft.com/office/drawing/2014/main" val="27021834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Тип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Доступ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Скорость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Размер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770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 </a:t>
                      </a:r>
                      <a:r>
                        <a:rPr lang="en-US" dirty="0"/>
                        <a:t>Work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Очень высокая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Очень маленький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09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Небольшой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0415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Все </a:t>
                      </a:r>
                      <a:r>
                        <a:rPr lang="en-US" dirty="0"/>
                        <a:t>work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Большой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9054935"/>
                  </a:ext>
                </a:extLst>
              </a:tr>
            </a:tbl>
          </a:graphicData>
        </a:graphic>
      </p:graphicFrame>
      <p:pic>
        <p:nvPicPr>
          <p:cNvPr id="6" name="Picture 2">
            <a:extLst>
              <a:ext uri="{FF2B5EF4-FFF2-40B4-BE49-F238E27FC236}">
                <a16:creationId xmlns:a16="http://schemas.microsoft.com/office/drawing/2014/main" id="{B4452326-2EFF-0938-8604-342D3B3A3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523" y="174673"/>
            <a:ext cx="3458309" cy="3900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455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EB24FDE-8F0A-D3B9-BCCE-D29738C4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потоков к памяти GPU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E5E45-9632-BDC9-09C5-B4A8F3597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GPU читает память блоками (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Потоки внутри </a:t>
            </a:r>
            <a:r>
              <a:rPr lang="ru-RU" dirty="0" err="1"/>
              <a:t>warp</a:t>
            </a:r>
            <a:r>
              <a:rPr lang="ru-RU" dirty="0"/>
              <a:t> работают наиболее эффективно, когда обращаются к соседним адресам памяти. </a:t>
            </a:r>
          </a:p>
          <a:p>
            <a:r>
              <a:rPr lang="ru-RU" dirty="0"/>
              <a:t>Хороший доступ (</a:t>
            </a:r>
            <a:r>
              <a:rPr lang="ru-RU" dirty="0" err="1"/>
              <a:t>coalesced</a:t>
            </a:r>
            <a:r>
              <a:rPr lang="ru-RU" dirty="0"/>
              <a:t> </a:t>
            </a:r>
            <a:r>
              <a:rPr lang="ru-RU" dirty="0" err="1"/>
              <a:t>access</a:t>
            </a:r>
            <a:r>
              <a:rPr lang="ru-RU" dirty="0"/>
              <a:t>)</a:t>
            </a:r>
          </a:p>
          <a:p>
            <a:pPr lvl="1"/>
            <a:r>
              <a:rPr lang="ru-RU" dirty="0" err="1"/>
              <a:t>Thread</a:t>
            </a:r>
            <a:r>
              <a:rPr lang="ru-RU" dirty="0"/>
              <a:t> 0 → A[0]</a:t>
            </a:r>
            <a:br>
              <a:rPr lang="ru-RU" dirty="0"/>
            </a:br>
            <a:r>
              <a:rPr lang="ru-RU" dirty="0" err="1"/>
              <a:t>Thread</a:t>
            </a:r>
            <a:r>
              <a:rPr lang="ru-RU" dirty="0"/>
              <a:t> 1 → A[1]</a:t>
            </a:r>
            <a:br>
              <a:rPr lang="ru-RU" dirty="0"/>
            </a:br>
            <a:r>
              <a:rPr lang="ru-RU" dirty="0" err="1"/>
              <a:t>Thread</a:t>
            </a:r>
            <a:r>
              <a:rPr lang="ru-RU" dirty="0"/>
              <a:t> 2 → A[2]</a:t>
            </a:r>
            <a:br>
              <a:rPr lang="ru-RU" dirty="0"/>
            </a:br>
            <a:r>
              <a:rPr lang="ru-RU" dirty="0"/>
              <a:t>...</a:t>
            </a:r>
          </a:p>
          <a:p>
            <a:pPr lvl="1"/>
            <a:r>
              <a:rPr lang="ru-RU" dirty="0"/>
              <a:t>GPU выполняет одно крупное чтение памяти.</a:t>
            </a:r>
          </a:p>
          <a:p>
            <a:r>
              <a:rPr lang="ru-RU" dirty="0"/>
              <a:t>Плохой доступ</a:t>
            </a:r>
          </a:p>
          <a:p>
            <a:pPr lvl="1"/>
            <a:r>
              <a:rPr lang="ru-RU" dirty="0" err="1"/>
              <a:t>Thread</a:t>
            </a:r>
            <a:r>
              <a:rPr lang="ru-RU" dirty="0"/>
              <a:t> 0 → A[0]</a:t>
            </a:r>
            <a:br>
              <a:rPr lang="ru-RU" dirty="0"/>
            </a:br>
            <a:r>
              <a:rPr lang="ru-RU" dirty="0" err="1"/>
              <a:t>Thread</a:t>
            </a:r>
            <a:r>
              <a:rPr lang="ru-RU" dirty="0"/>
              <a:t> 1 → A[1024]</a:t>
            </a:r>
            <a:br>
              <a:rPr lang="ru-RU" dirty="0"/>
            </a:br>
            <a:r>
              <a:rPr lang="ru-RU" dirty="0" err="1"/>
              <a:t>Thread</a:t>
            </a:r>
            <a:r>
              <a:rPr lang="ru-RU" dirty="0"/>
              <a:t> 2 → A[2048]</a:t>
            </a:r>
            <a:br>
              <a:rPr lang="ru-RU" dirty="0"/>
            </a:br>
            <a:r>
              <a:rPr lang="ru-RU" dirty="0"/>
              <a:t>...</a:t>
            </a:r>
          </a:p>
          <a:p>
            <a:pPr lvl="1"/>
            <a:r>
              <a:rPr lang="ru-RU" dirty="0"/>
              <a:t>GPU выполняет множество отдельных обращений.</a:t>
            </a:r>
          </a:p>
          <a:p>
            <a:r>
              <a:rPr lang="ru-RU" dirty="0"/>
              <a:t>Расположение данных в памяти сильно влияет на производительность GPU.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0204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F73713B-54CB-55AE-A2BB-EBEA52F69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512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2AC1-2A86-D015-3705-3C5640D4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Скрытие задержек памяти на GPU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475D1-BC38-D5F1-8DCC-927B64330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Если </a:t>
            </a:r>
            <a:r>
              <a:rPr lang="en-US" dirty="0"/>
              <a:t>warp </a:t>
            </a:r>
            <a:r>
              <a:rPr lang="ru-RU" dirty="0"/>
              <a:t>ожидает данные из памяти</a:t>
            </a:r>
            <a:r>
              <a:rPr lang="en-US" dirty="0"/>
              <a:t>, </a:t>
            </a:r>
            <a:r>
              <a:rPr lang="ru-RU" dirty="0"/>
              <a:t>выполнение всего </a:t>
            </a:r>
            <a:r>
              <a:rPr lang="en-US" dirty="0"/>
              <a:t>warp </a:t>
            </a:r>
            <a:r>
              <a:rPr lang="ru-RU" dirty="0"/>
              <a:t>приостанавливается. </a:t>
            </a:r>
          </a:p>
          <a:p>
            <a:r>
              <a:rPr lang="en-US" dirty="0"/>
              <a:t>GPU </a:t>
            </a:r>
            <a:r>
              <a:rPr lang="ru-RU" dirty="0"/>
              <a:t>переключается между </a:t>
            </a:r>
            <a:r>
              <a:rPr lang="en-US" dirty="0"/>
              <a:t>warp-</a:t>
            </a:r>
            <a:r>
              <a:rPr lang="ru-RU" dirty="0" err="1"/>
              <a:t>ами</a:t>
            </a:r>
            <a:endParaRPr lang="ru-RU" dirty="0"/>
          </a:p>
          <a:p>
            <a:pPr lvl="1"/>
            <a:r>
              <a:rPr lang="en-US" dirty="0"/>
              <a:t>Warp 0 → waiting memory</a:t>
            </a:r>
            <a:br>
              <a:rPr lang="en-US" dirty="0"/>
            </a:br>
            <a:r>
              <a:rPr lang="en-US" dirty="0"/>
              <a:t>Warp 1 → executing</a:t>
            </a:r>
            <a:br>
              <a:rPr lang="en-US" dirty="0"/>
            </a:br>
            <a:r>
              <a:rPr lang="en-US" dirty="0"/>
              <a:t>Warp 2 → executing</a:t>
            </a:r>
            <a:br>
              <a:rPr lang="en-US" dirty="0"/>
            </a:br>
            <a:r>
              <a:rPr lang="en-US" dirty="0"/>
              <a:t>Warp 3 → ready</a:t>
            </a:r>
          </a:p>
          <a:p>
            <a:r>
              <a:rPr lang="en-US" dirty="0"/>
              <a:t>GPU scheduler</a:t>
            </a:r>
          </a:p>
          <a:p>
            <a:pPr lvl="1"/>
            <a:r>
              <a:rPr lang="en-US" dirty="0"/>
              <a:t>Streaming Multiprocessor </a:t>
            </a:r>
            <a:r>
              <a:rPr lang="ru-RU" dirty="0"/>
              <a:t>хранит множество активных </a:t>
            </a:r>
            <a:r>
              <a:rPr lang="en-US" dirty="0"/>
              <a:t>warp-</a:t>
            </a:r>
            <a:r>
              <a:rPr lang="ru-RU" dirty="0" err="1"/>
              <a:t>ов</a:t>
            </a:r>
            <a:r>
              <a:rPr lang="ru-RU" dirty="0"/>
              <a:t> и быстро переключается между ними.</a:t>
            </a:r>
          </a:p>
          <a:p>
            <a:r>
              <a:rPr lang="en-US" dirty="0"/>
              <a:t>GPU </a:t>
            </a:r>
            <a:r>
              <a:rPr lang="ru-RU" dirty="0"/>
              <a:t>скрывает задержки памяти за счёт:</a:t>
            </a:r>
          </a:p>
          <a:p>
            <a:pPr lvl="1"/>
            <a:r>
              <a:rPr lang="ru-RU" dirty="0"/>
              <a:t>большого количества потоков, </a:t>
            </a:r>
          </a:p>
          <a:p>
            <a:pPr lvl="1"/>
            <a:r>
              <a:rPr lang="ru-RU" dirty="0"/>
              <a:t>и быстрого переключения между </a:t>
            </a:r>
            <a:r>
              <a:rPr lang="en-US" dirty="0"/>
              <a:t>warp-</a:t>
            </a:r>
            <a:r>
              <a:rPr lang="ru-RU" dirty="0" err="1"/>
              <a:t>ами</a:t>
            </a:r>
            <a:r>
              <a:rPr lang="ru-RU" dirty="0"/>
              <a:t>. </a:t>
            </a:r>
          </a:p>
          <a:p>
            <a:r>
              <a:rPr lang="ru-RU" dirty="0"/>
              <a:t>Для высокой производительности </a:t>
            </a:r>
            <a:r>
              <a:rPr lang="en-US" dirty="0"/>
              <a:t>GPU </a:t>
            </a:r>
            <a:r>
              <a:rPr lang="ru-RU" dirty="0"/>
              <a:t>нужны:</a:t>
            </a:r>
          </a:p>
          <a:p>
            <a:pPr lvl="1"/>
            <a:r>
              <a:rPr lang="en-US" dirty="0"/>
              <a:t>massive parallelism, </a:t>
            </a:r>
          </a:p>
          <a:p>
            <a:pPr lvl="1"/>
            <a:r>
              <a:rPr lang="en-US" dirty="0"/>
              <a:t>coalesced memory access, </a:t>
            </a:r>
          </a:p>
          <a:p>
            <a:pPr lvl="1"/>
            <a:r>
              <a:rPr lang="ru-RU" dirty="0"/>
              <a:t>большое количество активных </a:t>
            </a:r>
            <a:r>
              <a:rPr lang="en-US" dirty="0"/>
              <a:t>warp-</a:t>
            </a:r>
            <a:r>
              <a:rPr lang="ru-RU" dirty="0" err="1"/>
              <a:t>ов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54576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61F6C3-E507-351B-FFDB-3F06B41B9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Суммирование элементов массивов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A9D17D-CA72-4E08-87C8-E09B51810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316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B296E7-42D2-5FB5-755F-E3FB34930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Суммирование элементов массивов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4AF52C-F70E-6A3A-DDB7-8B389381BDD1}"/>
              </a:ext>
            </a:extLst>
          </p:cNvPr>
          <p:cNvSpPr/>
          <p:nvPr/>
        </p:nvSpPr>
        <p:spPr>
          <a:xfrm>
            <a:off x="10922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D0F2FC-86A0-4393-D8D1-21E3DAD15EA3}"/>
              </a:ext>
            </a:extLst>
          </p:cNvPr>
          <p:cNvSpPr/>
          <p:nvPr/>
        </p:nvSpPr>
        <p:spPr>
          <a:xfrm>
            <a:off x="15494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DCF167-D680-0A24-A0D3-9E2BAB1D82D9}"/>
              </a:ext>
            </a:extLst>
          </p:cNvPr>
          <p:cNvSpPr/>
          <p:nvPr/>
        </p:nvSpPr>
        <p:spPr>
          <a:xfrm>
            <a:off x="20066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94A03-5177-62E2-7F59-07D1961DC4D9}"/>
              </a:ext>
            </a:extLst>
          </p:cNvPr>
          <p:cNvSpPr/>
          <p:nvPr/>
        </p:nvSpPr>
        <p:spPr>
          <a:xfrm>
            <a:off x="24638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38FAFC-445E-1337-BF7E-B582B98BF03C}"/>
              </a:ext>
            </a:extLst>
          </p:cNvPr>
          <p:cNvSpPr/>
          <p:nvPr/>
        </p:nvSpPr>
        <p:spPr>
          <a:xfrm>
            <a:off x="29210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0F1D57-1E75-CD52-3BC8-D4ACA1BD003B}"/>
              </a:ext>
            </a:extLst>
          </p:cNvPr>
          <p:cNvSpPr/>
          <p:nvPr/>
        </p:nvSpPr>
        <p:spPr>
          <a:xfrm>
            <a:off x="33782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613ECF-D7F5-F785-499B-DF93D3918780}"/>
              </a:ext>
            </a:extLst>
          </p:cNvPr>
          <p:cNvSpPr/>
          <p:nvPr/>
        </p:nvSpPr>
        <p:spPr>
          <a:xfrm>
            <a:off x="38354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44601E-2B76-6F3E-F719-25612334D19D}"/>
              </a:ext>
            </a:extLst>
          </p:cNvPr>
          <p:cNvSpPr/>
          <p:nvPr/>
        </p:nvSpPr>
        <p:spPr>
          <a:xfrm>
            <a:off x="42926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2BB94B-F1A5-755D-8882-CF7342A2D2D2}"/>
              </a:ext>
            </a:extLst>
          </p:cNvPr>
          <p:cNvSpPr/>
          <p:nvPr/>
        </p:nvSpPr>
        <p:spPr>
          <a:xfrm>
            <a:off x="47498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5D8EA0-E9A7-4010-AD6F-AEA0DE9BF957}"/>
              </a:ext>
            </a:extLst>
          </p:cNvPr>
          <p:cNvSpPr/>
          <p:nvPr/>
        </p:nvSpPr>
        <p:spPr>
          <a:xfrm>
            <a:off x="52070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7EDD91-4A29-6E37-0554-EE696103DF2F}"/>
              </a:ext>
            </a:extLst>
          </p:cNvPr>
          <p:cNvSpPr/>
          <p:nvPr/>
        </p:nvSpPr>
        <p:spPr>
          <a:xfrm>
            <a:off x="56642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8ED74D-292C-6524-EB8E-2159D2542F6B}"/>
              </a:ext>
            </a:extLst>
          </p:cNvPr>
          <p:cNvSpPr/>
          <p:nvPr/>
        </p:nvSpPr>
        <p:spPr>
          <a:xfrm>
            <a:off x="61214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12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B8DE07-FE2A-0A99-CB03-4A396660D3FF}"/>
              </a:ext>
            </a:extLst>
          </p:cNvPr>
          <p:cNvSpPr/>
          <p:nvPr/>
        </p:nvSpPr>
        <p:spPr>
          <a:xfrm>
            <a:off x="65786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13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4C2B45-7192-1257-C04C-3251B838727C}"/>
              </a:ext>
            </a:extLst>
          </p:cNvPr>
          <p:cNvSpPr/>
          <p:nvPr/>
        </p:nvSpPr>
        <p:spPr>
          <a:xfrm>
            <a:off x="70358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14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7FFF97-B366-0DED-F43B-207C3E0301D2}"/>
              </a:ext>
            </a:extLst>
          </p:cNvPr>
          <p:cNvSpPr/>
          <p:nvPr/>
        </p:nvSpPr>
        <p:spPr>
          <a:xfrm>
            <a:off x="74930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A11014-C13C-5D8D-E9E4-D9EFD7D81E88}"/>
              </a:ext>
            </a:extLst>
          </p:cNvPr>
          <p:cNvSpPr/>
          <p:nvPr/>
        </p:nvSpPr>
        <p:spPr>
          <a:xfrm>
            <a:off x="79502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16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8A1AF8-A2AA-ABE2-42C2-335CA74CC41C}"/>
              </a:ext>
            </a:extLst>
          </p:cNvPr>
          <p:cNvSpPr/>
          <p:nvPr/>
        </p:nvSpPr>
        <p:spPr>
          <a:xfrm>
            <a:off x="84074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17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4A633A-FE6A-F510-DF28-E2D2C888C5BC}"/>
              </a:ext>
            </a:extLst>
          </p:cNvPr>
          <p:cNvSpPr/>
          <p:nvPr/>
        </p:nvSpPr>
        <p:spPr>
          <a:xfrm>
            <a:off x="88646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18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246CDA-B35A-556E-9741-42087EA52F32}"/>
              </a:ext>
            </a:extLst>
          </p:cNvPr>
          <p:cNvSpPr/>
          <p:nvPr/>
        </p:nvSpPr>
        <p:spPr>
          <a:xfrm>
            <a:off x="93218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19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926210A-9917-68E9-42CD-4F9FC110D427}"/>
              </a:ext>
            </a:extLst>
          </p:cNvPr>
          <p:cNvSpPr/>
          <p:nvPr/>
        </p:nvSpPr>
        <p:spPr>
          <a:xfrm>
            <a:off x="97790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20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FA159E-D455-C275-E37A-8D5FAD0B4C50}"/>
              </a:ext>
            </a:extLst>
          </p:cNvPr>
          <p:cNvSpPr/>
          <p:nvPr/>
        </p:nvSpPr>
        <p:spPr>
          <a:xfrm>
            <a:off x="10236200" y="22225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21</a:t>
            </a: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9AF797-DEF1-9405-F722-5A9F6B9079A4}"/>
              </a:ext>
            </a:extLst>
          </p:cNvPr>
          <p:cNvSpPr/>
          <p:nvPr/>
        </p:nvSpPr>
        <p:spPr>
          <a:xfrm>
            <a:off x="10922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21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B46AF2-427C-BD41-CB5F-07A865169F22}"/>
              </a:ext>
            </a:extLst>
          </p:cNvPr>
          <p:cNvSpPr/>
          <p:nvPr/>
        </p:nvSpPr>
        <p:spPr>
          <a:xfrm>
            <a:off x="15494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20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1A22E7-AADA-DFDE-7267-CF91E3C3041D}"/>
              </a:ext>
            </a:extLst>
          </p:cNvPr>
          <p:cNvSpPr/>
          <p:nvPr/>
        </p:nvSpPr>
        <p:spPr>
          <a:xfrm>
            <a:off x="20066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19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B5C2B4C-9CF2-B022-BB42-59139D7B43B8}"/>
              </a:ext>
            </a:extLst>
          </p:cNvPr>
          <p:cNvSpPr/>
          <p:nvPr/>
        </p:nvSpPr>
        <p:spPr>
          <a:xfrm>
            <a:off x="24638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18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A5A76A-913C-D15E-BCEB-F44CCE7B73E7}"/>
              </a:ext>
            </a:extLst>
          </p:cNvPr>
          <p:cNvSpPr/>
          <p:nvPr/>
        </p:nvSpPr>
        <p:spPr>
          <a:xfrm>
            <a:off x="29210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17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4BD2D49-3C4E-84FE-B799-D197A1D9BC4A}"/>
              </a:ext>
            </a:extLst>
          </p:cNvPr>
          <p:cNvSpPr/>
          <p:nvPr/>
        </p:nvSpPr>
        <p:spPr>
          <a:xfrm>
            <a:off x="33782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16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4907959-2428-9844-2417-5FFC64F20F80}"/>
              </a:ext>
            </a:extLst>
          </p:cNvPr>
          <p:cNvSpPr/>
          <p:nvPr/>
        </p:nvSpPr>
        <p:spPr>
          <a:xfrm>
            <a:off x="38354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1960E9-1921-FA98-0538-285D595C4498}"/>
              </a:ext>
            </a:extLst>
          </p:cNvPr>
          <p:cNvSpPr/>
          <p:nvPr/>
        </p:nvSpPr>
        <p:spPr>
          <a:xfrm>
            <a:off x="42926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14</a:t>
            </a:r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711D0C7-C51E-E26F-ACFA-0FEACD80DC58}"/>
              </a:ext>
            </a:extLst>
          </p:cNvPr>
          <p:cNvSpPr/>
          <p:nvPr/>
        </p:nvSpPr>
        <p:spPr>
          <a:xfrm>
            <a:off x="47498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13</a:t>
            </a:r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49D3BB6-464E-90E3-454A-37279366000F}"/>
              </a:ext>
            </a:extLst>
          </p:cNvPr>
          <p:cNvSpPr/>
          <p:nvPr/>
        </p:nvSpPr>
        <p:spPr>
          <a:xfrm>
            <a:off x="52070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12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22F9C1-AF71-7F50-B845-7BB9D9113456}"/>
              </a:ext>
            </a:extLst>
          </p:cNvPr>
          <p:cNvSpPr/>
          <p:nvPr/>
        </p:nvSpPr>
        <p:spPr>
          <a:xfrm>
            <a:off x="56642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7080766-0E97-052A-6CCC-26DD1B00936C}"/>
              </a:ext>
            </a:extLst>
          </p:cNvPr>
          <p:cNvSpPr/>
          <p:nvPr/>
        </p:nvSpPr>
        <p:spPr>
          <a:xfrm>
            <a:off x="61214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CA5F5C-2F7C-7B81-4137-6B0FA84FB9FD}"/>
              </a:ext>
            </a:extLst>
          </p:cNvPr>
          <p:cNvSpPr/>
          <p:nvPr/>
        </p:nvSpPr>
        <p:spPr>
          <a:xfrm>
            <a:off x="65786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8B045F-0728-D491-5256-2E1178D43AC7}"/>
              </a:ext>
            </a:extLst>
          </p:cNvPr>
          <p:cNvSpPr/>
          <p:nvPr/>
        </p:nvSpPr>
        <p:spPr>
          <a:xfrm>
            <a:off x="70358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146B2C7-DFC3-878A-5BF1-0A1CCC75078F}"/>
              </a:ext>
            </a:extLst>
          </p:cNvPr>
          <p:cNvSpPr/>
          <p:nvPr/>
        </p:nvSpPr>
        <p:spPr>
          <a:xfrm>
            <a:off x="74930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10E406-EF25-59A3-1F46-92F257BCAB6B}"/>
              </a:ext>
            </a:extLst>
          </p:cNvPr>
          <p:cNvSpPr/>
          <p:nvPr/>
        </p:nvSpPr>
        <p:spPr>
          <a:xfrm>
            <a:off x="79502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175581-B375-D0CB-5805-004655777CF6}"/>
              </a:ext>
            </a:extLst>
          </p:cNvPr>
          <p:cNvSpPr/>
          <p:nvPr/>
        </p:nvSpPr>
        <p:spPr>
          <a:xfrm>
            <a:off x="84074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C155A29-FB9D-EA58-7BF7-9B12346CB4AC}"/>
              </a:ext>
            </a:extLst>
          </p:cNvPr>
          <p:cNvSpPr/>
          <p:nvPr/>
        </p:nvSpPr>
        <p:spPr>
          <a:xfrm>
            <a:off x="88646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24EAEA8-11AD-311B-039F-F39F46162000}"/>
              </a:ext>
            </a:extLst>
          </p:cNvPr>
          <p:cNvSpPr/>
          <p:nvPr/>
        </p:nvSpPr>
        <p:spPr>
          <a:xfrm>
            <a:off x="93218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0BA837-511C-A32D-182F-3C5121312381}"/>
              </a:ext>
            </a:extLst>
          </p:cNvPr>
          <p:cNvSpPr/>
          <p:nvPr/>
        </p:nvSpPr>
        <p:spPr>
          <a:xfrm>
            <a:off x="97790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60C3AE-BBDC-5AFC-F995-9B095AE7B31E}"/>
              </a:ext>
            </a:extLst>
          </p:cNvPr>
          <p:cNvSpPr/>
          <p:nvPr/>
        </p:nvSpPr>
        <p:spPr>
          <a:xfrm>
            <a:off x="10236200" y="318135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AC6090A-4253-5742-2F79-59065F044B8E}"/>
              </a:ext>
            </a:extLst>
          </p:cNvPr>
          <p:cNvSpPr/>
          <p:nvPr/>
        </p:nvSpPr>
        <p:spPr>
          <a:xfrm>
            <a:off x="10922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F6713F-7CC0-490E-028A-963C8D07B9F9}"/>
              </a:ext>
            </a:extLst>
          </p:cNvPr>
          <p:cNvSpPr/>
          <p:nvPr/>
        </p:nvSpPr>
        <p:spPr>
          <a:xfrm>
            <a:off x="15494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B018FD2-2BF1-27BD-7FB9-1ECB86AF14DE}"/>
              </a:ext>
            </a:extLst>
          </p:cNvPr>
          <p:cNvSpPr/>
          <p:nvPr/>
        </p:nvSpPr>
        <p:spPr>
          <a:xfrm>
            <a:off x="20066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913606-9324-23A1-A9E3-27FBB41DD721}"/>
              </a:ext>
            </a:extLst>
          </p:cNvPr>
          <p:cNvSpPr/>
          <p:nvPr/>
        </p:nvSpPr>
        <p:spPr>
          <a:xfrm>
            <a:off x="24638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782861-FA2D-425F-42A9-B5D0FB8BA097}"/>
              </a:ext>
            </a:extLst>
          </p:cNvPr>
          <p:cNvSpPr/>
          <p:nvPr/>
        </p:nvSpPr>
        <p:spPr>
          <a:xfrm>
            <a:off x="29210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A6F39A0-9D70-8571-BE9C-FA494A8563E9}"/>
              </a:ext>
            </a:extLst>
          </p:cNvPr>
          <p:cNvSpPr/>
          <p:nvPr/>
        </p:nvSpPr>
        <p:spPr>
          <a:xfrm>
            <a:off x="33782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1CF1E4D-C400-3345-8DD8-B7734B419F5A}"/>
              </a:ext>
            </a:extLst>
          </p:cNvPr>
          <p:cNvSpPr/>
          <p:nvPr/>
        </p:nvSpPr>
        <p:spPr>
          <a:xfrm>
            <a:off x="38354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344FC1A-3287-6C84-A317-B7DC4B48A2C7}"/>
              </a:ext>
            </a:extLst>
          </p:cNvPr>
          <p:cNvSpPr/>
          <p:nvPr/>
        </p:nvSpPr>
        <p:spPr>
          <a:xfrm>
            <a:off x="42926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338B30D-E47D-AD02-1F45-38A86F1BBC09}"/>
              </a:ext>
            </a:extLst>
          </p:cNvPr>
          <p:cNvSpPr/>
          <p:nvPr/>
        </p:nvSpPr>
        <p:spPr>
          <a:xfrm>
            <a:off x="47498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45AA6E1-A293-6EBF-B0C0-CFF695923DB9}"/>
              </a:ext>
            </a:extLst>
          </p:cNvPr>
          <p:cNvSpPr/>
          <p:nvPr/>
        </p:nvSpPr>
        <p:spPr>
          <a:xfrm>
            <a:off x="52070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B1BD3B0-796D-CE9A-DAE1-D8111CE2F5DF}"/>
              </a:ext>
            </a:extLst>
          </p:cNvPr>
          <p:cNvSpPr/>
          <p:nvPr/>
        </p:nvSpPr>
        <p:spPr>
          <a:xfrm>
            <a:off x="56642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33D095-E301-95C6-7E1A-F02C8A28337E}"/>
              </a:ext>
            </a:extLst>
          </p:cNvPr>
          <p:cNvSpPr/>
          <p:nvPr/>
        </p:nvSpPr>
        <p:spPr>
          <a:xfrm>
            <a:off x="61214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8E5369-C7FF-4683-55A3-74936476DD88}"/>
              </a:ext>
            </a:extLst>
          </p:cNvPr>
          <p:cNvSpPr/>
          <p:nvPr/>
        </p:nvSpPr>
        <p:spPr>
          <a:xfrm>
            <a:off x="65786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31E88E-3CEB-EB8F-23EE-3C9EC0FCC6A5}"/>
              </a:ext>
            </a:extLst>
          </p:cNvPr>
          <p:cNvSpPr/>
          <p:nvPr/>
        </p:nvSpPr>
        <p:spPr>
          <a:xfrm>
            <a:off x="70358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C86531D-CD40-0C7D-11B7-B021DF86003A}"/>
              </a:ext>
            </a:extLst>
          </p:cNvPr>
          <p:cNvSpPr/>
          <p:nvPr/>
        </p:nvSpPr>
        <p:spPr>
          <a:xfrm>
            <a:off x="74930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C81635E-C90C-6566-8393-B1C44B8B1EA0}"/>
              </a:ext>
            </a:extLst>
          </p:cNvPr>
          <p:cNvSpPr/>
          <p:nvPr/>
        </p:nvSpPr>
        <p:spPr>
          <a:xfrm>
            <a:off x="79502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6225AAD-35B6-D4BE-1A95-C14CA6A4A295}"/>
              </a:ext>
            </a:extLst>
          </p:cNvPr>
          <p:cNvSpPr/>
          <p:nvPr/>
        </p:nvSpPr>
        <p:spPr>
          <a:xfrm>
            <a:off x="84074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57DD7BF-C265-1D34-56FD-E2BC0A479CD9}"/>
              </a:ext>
            </a:extLst>
          </p:cNvPr>
          <p:cNvSpPr/>
          <p:nvPr/>
        </p:nvSpPr>
        <p:spPr>
          <a:xfrm>
            <a:off x="88646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FF09680-ACE3-0847-AC0D-C9B2958C4BD0}"/>
              </a:ext>
            </a:extLst>
          </p:cNvPr>
          <p:cNvSpPr/>
          <p:nvPr/>
        </p:nvSpPr>
        <p:spPr>
          <a:xfrm>
            <a:off x="93218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4276C19-FDEF-380D-D026-A772368B3ECB}"/>
              </a:ext>
            </a:extLst>
          </p:cNvPr>
          <p:cNvSpPr/>
          <p:nvPr/>
        </p:nvSpPr>
        <p:spPr>
          <a:xfrm>
            <a:off x="97790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FBE22DB-A188-13CF-3CF3-10CE89191B0A}"/>
              </a:ext>
            </a:extLst>
          </p:cNvPr>
          <p:cNvSpPr/>
          <p:nvPr/>
        </p:nvSpPr>
        <p:spPr>
          <a:xfrm>
            <a:off x="10236200" y="4140200"/>
            <a:ext cx="457200" cy="495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22</a:t>
            </a:r>
            <a:endParaRPr lang="en-US" dirty="0"/>
          </a:p>
        </p:txBody>
      </p:sp>
      <p:sp>
        <p:nvSpPr>
          <p:cNvPr id="69" name="Plus Sign 68">
            <a:extLst>
              <a:ext uri="{FF2B5EF4-FFF2-40B4-BE49-F238E27FC236}">
                <a16:creationId xmlns:a16="http://schemas.microsoft.com/office/drawing/2014/main" id="{88084AF8-2E19-E9FE-41F2-107547C33B0C}"/>
              </a:ext>
            </a:extLst>
          </p:cNvPr>
          <p:cNvSpPr/>
          <p:nvPr/>
        </p:nvSpPr>
        <p:spPr>
          <a:xfrm>
            <a:off x="5867400" y="2754310"/>
            <a:ext cx="406402" cy="406402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Equals 69">
            <a:extLst>
              <a:ext uri="{FF2B5EF4-FFF2-40B4-BE49-F238E27FC236}">
                <a16:creationId xmlns:a16="http://schemas.microsoft.com/office/drawing/2014/main" id="{C22B6C46-F5AC-116F-57B6-A6EFB9386A11}"/>
              </a:ext>
            </a:extLst>
          </p:cNvPr>
          <p:cNvSpPr/>
          <p:nvPr/>
        </p:nvSpPr>
        <p:spPr>
          <a:xfrm>
            <a:off x="5902327" y="3733800"/>
            <a:ext cx="371475" cy="37147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3780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7292-1F3A-F6E1-2512-899E16D5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шаги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8C5AB-9E10-28CC-FB23-279035C97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Получить список доступных платформ и устройств и выбрать нужное устройство</a:t>
            </a:r>
          </a:p>
          <a:p>
            <a:r>
              <a:rPr lang="ru-RU" dirty="0"/>
              <a:t>Создать контекст и очередь команд</a:t>
            </a:r>
          </a:p>
          <a:p>
            <a:r>
              <a:rPr lang="ru-RU" dirty="0"/>
              <a:t>Создать буферы и передать данные на устройство</a:t>
            </a:r>
          </a:p>
          <a:p>
            <a:r>
              <a:rPr lang="ru-RU" dirty="0"/>
              <a:t>Скомпилировать </a:t>
            </a:r>
            <a:r>
              <a:rPr lang="en-US" dirty="0"/>
              <a:t>OpenCL kernel</a:t>
            </a:r>
            <a:endParaRPr lang="ru-RU" dirty="0"/>
          </a:p>
          <a:p>
            <a:r>
              <a:rPr lang="ru-RU" dirty="0"/>
              <a:t>Передать аргументы программе</a:t>
            </a:r>
          </a:p>
          <a:p>
            <a:r>
              <a:rPr lang="ru-RU" dirty="0"/>
              <a:t>Запустить ядро на устройстве</a:t>
            </a:r>
          </a:p>
          <a:p>
            <a:r>
              <a:rPr lang="ru-RU" dirty="0"/>
              <a:t>Скопировать результаты на хост</a:t>
            </a:r>
          </a:p>
          <a:p>
            <a:r>
              <a:rPr lang="ru-RU" b="1" dirty="0"/>
              <a:t>Host управляет вычислениями, а Device выполняет </a:t>
            </a:r>
            <a:r>
              <a:rPr lang="ru-RU" b="1" dirty="0" err="1"/>
              <a:t>kernel</a:t>
            </a:r>
            <a:r>
              <a:rPr lang="ru-RU" b="1" dirty="0"/>
              <a:t> параллельно.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14351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21D2-A009-7AE3-C41F-889C72CFF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первого </a:t>
            </a:r>
            <a:r>
              <a:rPr lang="en-US" dirty="0"/>
              <a:t>GPU </a:t>
            </a:r>
            <a:r>
              <a:rPr lang="ru-RU" dirty="0"/>
              <a:t>устройства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CD6A85-33E0-36C3-7F32-622958C5D249}"/>
              </a:ext>
            </a:extLst>
          </p:cNvPr>
          <p:cNvSpPr txBox="1"/>
          <p:nvPr/>
        </p:nvSpPr>
        <p:spPr>
          <a:xfrm>
            <a:off x="838200" y="1968500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SelectDevice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&lt;cl::Platform&gt;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cl::Platform::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OpenCL platforms found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&lt;cl::Device&gt;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platform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(CL_DEVICE_TYPE_GPU,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Return the first device found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GPU devices found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4459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A5D61-FD89-8325-06F1-CA134B441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устройства и создание очереди команд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DE191-3A4E-53D4-F45C-B5124CB008EE}"/>
              </a:ext>
            </a:extLst>
          </p:cNvPr>
          <p:cNvSpPr txBox="1"/>
          <p:nvPr/>
        </p:nvSpPr>
        <p:spPr>
          <a:xfrm>
            <a:off x="838200" y="2489200"/>
            <a:ext cx="10515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SelectDevice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Selected device: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&lt;CL_DEVICE_NAME&gt;()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cl::Context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(device);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CommandQueue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device);</a:t>
            </a:r>
          </a:p>
        </p:txBody>
      </p:sp>
    </p:spTree>
    <p:extLst>
      <p:ext uri="{BB962C8B-B14F-4D97-AF65-F5344CB8AC3E}">
        <p14:creationId xmlns:p14="http://schemas.microsoft.com/office/powerpoint/2010/main" val="34295494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BF99-4B67-30E1-1640-7A453A5D6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Подготовка данных для вычислений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82D6DE-026E-DB6C-821A-97F3C4CCC4D4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 из 1.0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2.0f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 из 2.0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выходной вектор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CL_MEM_READ_ONLY 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память только для чтения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CL_MEM_COPY_HOST_PTR 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скопировать данные из хоста в устройство.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Иначе буфер будет пустым, и придётся создавать отдельную команду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bufferA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 | CL_MEM_COPY_HOST_PTR,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bufferB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 | CL_MEM_COPY_HOST_PTR,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этот буфер будет записан результат, поэтому не инициализируем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мего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данными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bufferC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CL_MEM_WRITE_ONLY,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68931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5284E-BAB3-E016-D285-A1D1782A0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Ядро программы для сложения векторов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2CA58E-7943-AEAD-A416-98D294F8FB6B}"/>
              </a:ext>
            </a:extLst>
          </p:cNvPr>
          <p:cNvSpPr txBox="1"/>
          <p:nvPr/>
        </p:nvSpPr>
        <p:spPr>
          <a:xfrm>
            <a:off x="838200" y="1690687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KernelSource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R"CLC(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__kernel void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vector_add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(__global const float* a, // input vector 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 __global const float* b, 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// input vector b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 __global float* c,    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 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// output vector 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 const unsigned int count 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// number of elements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           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 {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int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(0); // get the global thread ID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 c[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] = a[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] + b[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];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)CLC"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489007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5B661-D6AA-B35F-7717-1EF4CA67E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Компиляция ядра и передача аргументов</a:t>
            </a:r>
            <a:r>
              <a:rPr lang="en-US" dirty="0"/>
              <a:t> </a:t>
            </a:r>
            <a:r>
              <a:rPr lang="ru-RU" dirty="0"/>
              <a:t>от хоста к устройству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DEAF30-E632-B3FA-CC0B-3B42940C33C5}"/>
              </a:ext>
            </a:extLst>
          </p:cNvPr>
          <p:cNvSpPr txBox="1"/>
          <p:nvPr/>
        </p:nvSpPr>
        <p:spPr>
          <a:xfrm>
            <a:off x="838200" y="220980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cl::Program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program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KernelSource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build 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cl::Kernel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(program,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vector_add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Устанавливаем аргументы ядра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cl_uint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2E2966-2EBA-7783-B509-4CAB1739C5BD}"/>
              </a:ext>
            </a:extLst>
          </p:cNvPr>
          <p:cNvSpPr txBox="1"/>
          <p:nvPr/>
        </p:nvSpPr>
        <p:spPr>
          <a:xfrm>
            <a:off x="736600" y="4776276"/>
            <a:ext cx="110744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a,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input vector 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b,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input vector b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c,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  // output vector 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number of elements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 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</a:t>
            </a:r>
          </a:p>
        </p:txBody>
      </p:sp>
    </p:spTree>
    <p:extLst>
      <p:ext uri="{BB962C8B-B14F-4D97-AF65-F5344CB8AC3E}">
        <p14:creationId xmlns:p14="http://schemas.microsoft.com/office/powerpoint/2010/main" val="42942473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2B0AF-8036-0897-B51D-6154D8F1C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 вычислений и получение результатов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F87C9F-F78E-FA2E-454E-8333FFFED31F}"/>
              </a:ext>
            </a:extLst>
          </p:cNvPr>
          <p:cNvSpPr txBox="1"/>
          <p:nvPr/>
        </p:nvSpPr>
        <p:spPr>
          <a:xfrm>
            <a:off x="838200" y="2197100"/>
            <a:ext cx="109855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Запускаем ядро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Создаём одномерный диапазон с количеством элементов, равным размеру вектора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NDRange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Общее число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work item-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enqueueNDRangeKernel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(kernel,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/*offset*/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global, 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finish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завершения всех команд в очереди</a:t>
            </a:r>
          </a:p>
          <a:p>
            <a:endParaRPr lang="ru-RU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Читаем результат из устройства в хост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enqueueReadBuffer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CL_TRUE,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vectorSize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25955822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3DF568-E59F-C49C-6014-97EEED635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Наивное умножение матриц на </a:t>
            </a:r>
            <a:r>
              <a:rPr lang="en-US" dirty="0"/>
              <a:t>GPU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8E7E28-E390-5D16-D694-0279C47F2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97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19B55-847B-2F1A-4019-70273B0B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Умножение матриц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1D487-3F22-9401-CDDA-A285CDF33308}"/>
              </a:ext>
            </a:extLst>
          </p:cNvPr>
          <p:cNvSpPr/>
          <p:nvPr/>
        </p:nvSpPr>
        <p:spPr>
          <a:xfrm>
            <a:off x="538651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609506-2BA3-F37A-D97A-6BFA1D1717B7}"/>
              </a:ext>
            </a:extLst>
          </p:cNvPr>
          <p:cNvSpPr/>
          <p:nvPr/>
        </p:nvSpPr>
        <p:spPr>
          <a:xfrm>
            <a:off x="1126579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0FAABC-4691-0FC8-6EFD-5A136400CAA8}"/>
              </a:ext>
            </a:extLst>
          </p:cNvPr>
          <p:cNvSpPr/>
          <p:nvPr/>
        </p:nvSpPr>
        <p:spPr>
          <a:xfrm>
            <a:off x="1714507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BADF053-9FFB-DA5F-4725-A2C4F7545C12}"/>
                  </a:ext>
                </a:extLst>
              </p:cNvPr>
              <p:cNvSpPr/>
              <p:nvPr/>
            </p:nvSpPr>
            <p:spPr>
              <a:xfrm>
                <a:off x="538651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BADF053-9FFB-DA5F-4725-A2C4F7545C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651" y="4636080"/>
                <a:ext cx="504056" cy="504056"/>
              </a:xfrm>
              <a:prstGeom prst="rect">
                <a:avLst/>
              </a:prstGeom>
              <a:blipFill>
                <a:blip r:embed="rId3"/>
                <a:stretch>
                  <a:fillRect l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44604C-3D2B-95F8-5D12-847F19ACA8D6}"/>
                  </a:ext>
                </a:extLst>
              </p:cNvPr>
              <p:cNvSpPr/>
              <p:nvPr/>
            </p:nvSpPr>
            <p:spPr>
              <a:xfrm>
                <a:off x="1126579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44604C-3D2B-95F8-5D12-847F19ACA8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579" y="4636080"/>
                <a:ext cx="504056" cy="504056"/>
              </a:xfrm>
              <a:prstGeom prst="rect">
                <a:avLst/>
              </a:prstGeom>
              <a:blipFill>
                <a:blip r:embed="rId4"/>
                <a:stretch>
                  <a:fillRect l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8922E4D-E05F-9041-CC34-839ED84EC2A8}"/>
                  </a:ext>
                </a:extLst>
              </p:cNvPr>
              <p:cNvSpPr/>
              <p:nvPr/>
            </p:nvSpPr>
            <p:spPr>
              <a:xfrm>
                <a:off x="1714507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8922E4D-E05F-9041-CC34-839ED84EC2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4507" y="4636080"/>
                <a:ext cx="504056" cy="504056"/>
              </a:xfrm>
              <a:prstGeom prst="rect">
                <a:avLst/>
              </a:prstGeom>
              <a:blipFill>
                <a:blip r:embed="rId5"/>
                <a:stretch>
                  <a:fillRect l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FFF12C31-0BD5-FB87-F6C9-0671D9DBDC29}"/>
              </a:ext>
            </a:extLst>
          </p:cNvPr>
          <p:cNvSpPr/>
          <p:nvPr/>
        </p:nvSpPr>
        <p:spPr>
          <a:xfrm>
            <a:off x="538651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2949EC-B163-F24E-1107-8D42564E5E8F}"/>
              </a:ext>
            </a:extLst>
          </p:cNvPr>
          <p:cNvSpPr/>
          <p:nvPr/>
        </p:nvSpPr>
        <p:spPr>
          <a:xfrm>
            <a:off x="1126579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350CA8-3FD5-DF73-1F0B-2F4ADF326DB1}"/>
              </a:ext>
            </a:extLst>
          </p:cNvPr>
          <p:cNvSpPr/>
          <p:nvPr/>
        </p:nvSpPr>
        <p:spPr>
          <a:xfrm>
            <a:off x="1714507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829BA6-DCF4-CD20-BC97-B0F00B43DD82}"/>
              </a:ext>
            </a:extLst>
          </p:cNvPr>
          <p:cNvSpPr/>
          <p:nvPr/>
        </p:nvSpPr>
        <p:spPr>
          <a:xfrm>
            <a:off x="538651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27106B-CD65-5328-85E4-587FCA9588B9}"/>
              </a:ext>
            </a:extLst>
          </p:cNvPr>
          <p:cNvSpPr/>
          <p:nvPr/>
        </p:nvSpPr>
        <p:spPr>
          <a:xfrm>
            <a:off x="1126579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636188-D3AA-7745-E119-EF2BAAC15FBF}"/>
              </a:ext>
            </a:extLst>
          </p:cNvPr>
          <p:cNvSpPr/>
          <p:nvPr/>
        </p:nvSpPr>
        <p:spPr>
          <a:xfrm>
            <a:off x="1714507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727A19-3791-3C74-D621-E7A589374BF0}"/>
              </a:ext>
            </a:extLst>
          </p:cNvPr>
          <p:cNvSpPr/>
          <p:nvPr/>
        </p:nvSpPr>
        <p:spPr>
          <a:xfrm>
            <a:off x="2892057" y="1702072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FCD15F-F8DB-5B15-4BC5-62298DCD1A11}"/>
              </a:ext>
            </a:extLst>
          </p:cNvPr>
          <p:cNvSpPr/>
          <p:nvPr/>
        </p:nvSpPr>
        <p:spPr>
          <a:xfrm>
            <a:off x="3479985" y="1702072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92EDE8E-FCB2-2B39-B40C-B8D3EEDAB27B}"/>
                  </a:ext>
                </a:extLst>
              </p:cNvPr>
              <p:cNvSpPr/>
              <p:nvPr/>
            </p:nvSpPr>
            <p:spPr>
              <a:xfrm>
                <a:off x="4067913" y="1702072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92EDE8E-FCB2-2B39-B40C-B8D3EEDAB2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1702072"/>
                <a:ext cx="504056" cy="504056"/>
              </a:xfrm>
              <a:prstGeom prst="rect">
                <a:avLst/>
              </a:prstGeom>
              <a:blipFill>
                <a:blip r:embed="rId6"/>
                <a:stretch>
                  <a:fillRect l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9531F4C7-2ECB-54AE-08D1-679C51FF5036}"/>
              </a:ext>
            </a:extLst>
          </p:cNvPr>
          <p:cNvSpPr/>
          <p:nvPr/>
        </p:nvSpPr>
        <p:spPr>
          <a:xfrm>
            <a:off x="2892057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4BAC1F-BFA2-0BAB-0D9E-887D98621614}"/>
              </a:ext>
            </a:extLst>
          </p:cNvPr>
          <p:cNvSpPr/>
          <p:nvPr/>
        </p:nvSpPr>
        <p:spPr>
          <a:xfrm>
            <a:off x="3479985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4E2DA2-88EC-80A6-1BC2-473009505E69}"/>
                  </a:ext>
                </a:extLst>
              </p:cNvPr>
              <p:cNvSpPr/>
              <p:nvPr/>
            </p:nvSpPr>
            <p:spPr>
              <a:xfrm>
                <a:off x="4067913" y="2288256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4E2DA2-88EC-80A6-1BC2-473009505E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2288256"/>
                <a:ext cx="504056" cy="504056"/>
              </a:xfrm>
              <a:prstGeom prst="rect">
                <a:avLst/>
              </a:prstGeom>
              <a:blipFill>
                <a:blip r:embed="rId7"/>
                <a:stretch>
                  <a:fillRect l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D0FEF115-CDFD-BF50-862F-75490CA99CD9}"/>
              </a:ext>
            </a:extLst>
          </p:cNvPr>
          <p:cNvSpPr/>
          <p:nvPr/>
        </p:nvSpPr>
        <p:spPr>
          <a:xfrm>
            <a:off x="2892057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25FF24-4E3B-AAD9-CB27-388AACC5D408}"/>
              </a:ext>
            </a:extLst>
          </p:cNvPr>
          <p:cNvSpPr/>
          <p:nvPr/>
        </p:nvSpPr>
        <p:spPr>
          <a:xfrm>
            <a:off x="3479985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3BF2A22-D3FF-F32C-2FF2-E4F675DC6A2A}"/>
                  </a:ext>
                </a:extLst>
              </p:cNvPr>
              <p:cNvSpPr/>
              <p:nvPr/>
            </p:nvSpPr>
            <p:spPr>
              <a:xfrm>
                <a:off x="4067913" y="2874440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3BF2A22-D3FF-F32C-2FF2-E4F675DC6A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2874440"/>
                <a:ext cx="504056" cy="504056"/>
              </a:xfrm>
              <a:prstGeom prst="rect">
                <a:avLst/>
              </a:prstGeom>
              <a:blipFill>
                <a:blip r:embed="rId8"/>
                <a:stretch>
                  <a:fillRect l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C6D2B29B-6C0C-5BD2-182D-4E73A713F705}"/>
              </a:ext>
            </a:extLst>
          </p:cNvPr>
          <p:cNvSpPr/>
          <p:nvPr/>
        </p:nvSpPr>
        <p:spPr>
          <a:xfrm>
            <a:off x="4655841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FA1CB0-AC1F-BA77-FE6B-BC118909467A}"/>
              </a:ext>
            </a:extLst>
          </p:cNvPr>
          <p:cNvSpPr/>
          <p:nvPr/>
        </p:nvSpPr>
        <p:spPr>
          <a:xfrm>
            <a:off x="4655841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290E80-F775-FA1D-B5ED-13D4BC8E46D9}"/>
              </a:ext>
            </a:extLst>
          </p:cNvPr>
          <p:cNvSpPr/>
          <p:nvPr/>
        </p:nvSpPr>
        <p:spPr>
          <a:xfrm>
            <a:off x="4655841" y="170434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7AF4D5-1AF2-8C27-6576-D2AE2AC35894}"/>
              </a:ext>
            </a:extLst>
          </p:cNvPr>
          <p:cNvSpPr/>
          <p:nvPr/>
        </p:nvSpPr>
        <p:spPr>
          <a:xfrm>
            <a:off x="2894377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467AAE9-185E-5D25-24FE-B7811ACD6B0C}"/>
              </a:ext>
            </a:extLst>
          </p:cNvPr>
          <p:cNvSpPr/>
          <p:nvPr/>
        </p:nvSpPr>
        <p:spPr>
          <a:xfrm>
            <a:off x="3482305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91DD32-58DE-5D8B-4E0F-F4352C106200}"/>
              </a:ext>
            </a:extLst>
          </p:cNvPr>
          <p:cNvSpPr/>
          <p:nvPr/>
        </p:nvSpPr>
        <p:spPr>
          <a:xfrm>
            <a:off x="4070233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897D8-ED6F-5513-2348-EBF66C007093}"/>
              </a:ext>
            </a:extLst>
          </p:cNvPr>
          <p:cNvSpPr/>
          <p:nvPr/>
        </p:nvSpPr>
        <p:spPr>
          <a:xfrm>
            <a:off x="2894377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1C2CA7-B96B-830E-930E-1785B4DA9F80}"/>
              </a:ext>
            </a:extLst>
          </p:cNvPr>
          <p:cNvSpPr/>
          <p:nvPr/>
        </p:nvSpPr>
        <p:spPr>
          <a:xfrm>
            <a:off x="3482305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82D7F66-6A50-0A17-664A-B71CC63793F5}"/>
                  </a:ext>
                </a:extLst>
              </p:cNvPr>
              <p:cNvSpPr/>
              <p:nvPr/>
            </p:nvSpPr>
            <p:spPr>
              <a:xfrm>
                <a:off x="4070233" y="4636080"/>
                <a:ext cx="504056" cy="504056"/>
              </a:xfrm>
              <a:prstGeom prst="rect">
                <a:avLst/>
              </a:prstGeom>
              <a:solidFill>
                <a:srgbClr val="FF00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82D7F66-6A50-0A17-664A-B71CC63793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233" y="4636080"/>
                <a:ext cx="504056" cy="50405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9BC26A34-1290-BD8A-2731-2FC75A6FA69D}"/>
              </a:ext>
            </a:extLst>
          </p:cNvPr>
          <p:cNvSpPr/>
          <p:nvPr/>
        </p:nvSpPr>
        <p:spPr>
          <a:xfrm>
            <a:off x="2894377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F25CFCC-B6BA-FAF7-A775-B8A6F9AD582D}"/>
              </a:ext>
            </a:extLst>
          </p:cNvPr>
          <p:cNvSpPr/>
          <p:nvPr/>
        </p:nvSpPr>
        <p:spPr>
          <a:xfrm>
            <a:off x="3482305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71ED2BF-1990-A00E-9157-97B01842657E}"/>
              </a:ext>
            </a:extLst>
          </p:cNvPr>
          <p:cNvSpPr/>
          <p:nvPr/>
        </p:nvSpPr>
        <p:spPr>
          <a:xfrm>
            <a:off x="4070233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E0B1DA-6270-29B6-5D88-7BC3F8C5B76C}"/>
              </a:ext>
            </a:extLst>
          </p:cNvPr>
          <p:cNvSpPr/>
          <p:nvPr/>
        </p:nvSpPr>
        <p:spPr>
          <a:xfrm>
            <a:off x="2894377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079D6C-8317-9A40-9F69-2FB13A234368}"/>
              </a:ext>
            </a:extLst>
          </p:cNvPr>
          <p:cNvSpPr/>
          <p:nvPr/>
        </p:nvSpPr>
        <p:spPr>
          <a:xfrm>
            <a:off x="3482305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67501BF-DE1D-C3C4-4B9B-3694D8411A5E}"/>
              </a:ext>
            </a:extLst>
          </p:cNvPr>
          <p:cNvSpPr/>
          <p:nvPr/>
        </p:nvSpPr>
        <p:spPr>
          <a:xfrm>
            <a:off x="4070233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93E5E7-33CE-75D8-3AE1-6DFE39774115}"/>
              </a:ext>
            </a:extLst>
          </p:cNvPr>
          <p:cNvSpPr/>
          <p:nvPr/>
        </p:nvSpPr>
        <p:spPr>
          <a:xfrm>
            <a:off x="4655841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388ACF-AFDD-37BD-8DE4-386A36B168EF}"/>
              </a:ext>
            </a:extLst>
          </p:cNvPr>
          <p:cNvSpPr/>
          <p:nvPr/>
        </p:nvSpPr>
        <p:spPr>
          <a:xfrm>
            <a:off x="4655841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124A9E9-89E4-2F59-567B-9996F0EBCFD8}"/>
              </a:ext>
            </a:extLst>
          </p:cNvPr>
          <p:cNvSpPr/>
          <p:nvPr/>
        </p:nvSpPr>
        <p:spPr>
          <a:xfrm>
            <a:off x="4655841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E9CD91F-7961-17FA-F918-486A7BFE49D5}"/>
              </a:ext>
            </a:extLst>
          </p:cNvPr>
          <p:cNvSpPr/>
          <p:nvPr/>
        </p:nvSpPr>
        <p:spPr>
          <a:xfrm>
            <a:off x="4655841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4B1ED598-1A9F-5845-F947-4E71700F0362}"/>
              </a:ext>
            </a:extLst>
          </p:cNvPr>
          <p:cNvSpPr/>
          <p:nvPr/>
        </p:nvSpPr>
        <p:spPr>
          <a:xfrm>
            <a:off x="4128057" y="3614017"/>
            <a:ext cx="382317" cy="9119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9E50CE7A-E0BF-A3E2-197B-39F001A123AE}"/>
              </a:ext>
            </a:extLst>
          </p:cNvPr>
          <p:cNvSpPr/>
          <p:nvPr/>
        </p:nvSpPr>
        <p:spPr>
          <a:xfrm>
            <a:off x="2604121" y="4718208"/>
            <a:ext cx="1379920" cy="3161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C5B5-959C-4E3E-FEB0-2ED6998A6D3B}"/>
                  </a:ext>
                </a:extLst>
              </p:cNvPr>
              <p:cNvSpPr txBox="1"/>
              <p:nvPr/>
            </p:nvSpPr>
            <p:spPr>
              <a:xfrm>
                <a:off x="6250664" y="3531889"/>
                <a:ext cx="5137511" cy="754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,3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C5B5-959C-4E3E-FEB0-2ED6998A6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664" y="3531889"/>
                <a:ext cx="5137511" cy="754887"/>
              </a:xfrm>
              <a:prstGeom prst="rect">
                <a:avLst/>
              </a:prstGeom>
              <a:blipFill>
                <a:blip r:embed="rId10"/>
                <a:stretch>
                  <a:fillRect b="-2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Double Bracket 45">
            <a:extLst>
              <a:ext uri="{FF2B5EF4-FFF2-40B4-BE49-F238E27FC236}">
                <a16:creationId xmlns:a16="http://schemas.microsoft.com/office/drawing/2014/main" id="{5DCB5010-4E95-006B-B537-B95FADF14728}"/>
              </a:ext>
            </a:extLst>
          </p:cNvPr>
          <p:cNvSpPr/>
          <p:nvPr/>
        </p:nvSpPr>
        <p:spPr>
          <a:xfrm>
            <a:off x="2711624" y="1556792"/>
            <a:ext cx="2664296" cy="1975097"/>
          </a:xfrm>
          <a:prstGeom prst="bracketPair">
            <a:avLst>
              <a:gd name="adj" fmla="val 12346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Double Bracket 46">
            <a:extLst>
              <a:ext uri="{FF2B5EF4-FFF2-40B4-BE49-F238E27FC236}">
                <a16:creationId xmlns:a16="http://schemas.microsoft.com/office/drawing/2014/main" id="{06593EDD-FA5D-5C81-F268-F827A1963918}"/>
              </a:ext>
            </a:extLst>
          </p:cNvPr>
          <p:cNvSpPr/>
          <p:nvPr/>
        </p:nvSpPr>
        <p:spPr>
          <a:xfrm>
            <a:off x="407368" y="3888736"/>
            <a:ext cx="1944217" cy="2564600"/>
          </a:xfrm>
          <a:prstGeom prst="bracketPair">
            <a:avLst>
              <a:gd name="adj" fmla="val 9838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ouble Bracket 47">
            <a:extLst>
              <a:ext uri="{FF2B5EF4-FFF2-40B4-BE49-F238E27FC236}">
                <a16:creationId xmlns:a16="http://schemas.microsoft.com/office/drawing/2014/main" id="{AAD8A436-2343-C636-7930-097FCE94E7AE}"/>
              </a:ext>
            </a:extLst>
          </p:cNvPr>
          <p:cNvSpPr/>
          <p:nvPr/>
        </p:nvSpPr>
        <p:spPr>
          <a:xfrm>
            <a:off x="2711624" y="3888736"/>
            <a:ext cx="2664296" cy="2564600"/>
          </a:xfrm>
          <a:prstGeom prst="bracketPair">
            <a:avLst>
              <a:gd name="adj" fmla="val 4609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0C8B84-308B-9CB0-694E-2C40CAEFAEB0}"/>
              </a:ext>
            </a:extLst>
          </p:cNvPr>
          <p:cNvSpPr txBox="1"/>
          <p:nvPr/>
        </p:nvSpPr>
        <p:spPr>
          <a:xfrm>
            <a:off x="7342464" y="2142728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C=AB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BDF8F5-F79E-09F7-7438-77A9942C5E3C}"/>
              </a:ext>
            </a:extLst>
          </p:cNvPr>
          <p:cNvSpPr txBox="1"/>
          <p:nvPr/>
        </p:nvSpPr>
        <p:spPr>
          <a:xfrm>
            <a:off x="2305731" y="2288256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B1D7D-D87F-0B03-443D-1D1EA494C69A}"/>
              </a:ext>
            </a:extLst>
          </p:cNvPr>
          <p:cNvSpPr txBox="1"/>
          <p:nvPr/>
        </p:nvSpPr>
        <p:spPr>
          <a:xfrm>
            <a:off x="1209054" y="3402764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780717-8C74-8BEA-B9C8-DD026F04C9C5}"/>
              </a:ext>
            </a:extLst>
          </p:cNvPr>
          <p:cNvSpPr txBox="1"/>
          <p:nvPr/>
        </p:nvSpPr>
        <p:spPr>
          <a:xfrm>
            <a:off x="3903750" y="6401962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</a:t>
            </a:r>
            <a:endParaRPr lang="en-US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7387C77-E6FF-1D63-E221-5613DD29796C}"/>
              </a:ext>
            </a:extLst>
          </p:cNvPr>
          <p:cNvCxnSpPr>
            <a:cxnSpLocks/>
          </p:cNvCxnSpPr>
          <p:nvPr/>
        </p:nvCxnSpPr>
        <p:spPr>
          <a:xfrm flipH="1" flipV="1">
            <a:off x="5499100" y="5034362"/>
            <a:ext cx="2095500" cy="187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4C33468-9768-95FF-A1B0-A285484BF990}"/>
              </a:ext>
            </a:extLst>
          </p:cNvPr>
          <p:cNvSpPr txBox="1"/>
          <p:nvPr/>
        </p:nvSpPr>
        <p:spPr>
          <a:xfrm>
            <a:off x="7810500" y="4914900"/>
            <a:ext cx="397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Итерационное пространство задачи перемножения матриц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4947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31E59-2B10-DADB-3C97-29E515A68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Ядро перемножения матриц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ACFA7-A316-4DB4-76D4-E0469C76DFD6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mult_matrices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rows1,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columns1,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columns2,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m1,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m2,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result)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row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m1Index = row * columns1;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m2Index = col;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columns1;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sum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[m1Index++]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[m2Index];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m2Index += columns2;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[row * columns2 + col] = sum;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39881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43584-12BE-2DEA-CC55-AB9F7E283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Перемножение матриц (1024*1024) и получение результата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06608-6A29-2CD0-452F-C7F87FE67837}"/>
              </a:ext>
            </a:extLst>
          </p:cNvPr>
          <p:cNvSpPr txBox="1"/>
          <p:nvPr/>
        </p:nvSpPr>
        <p:spPr>
          <a:xfrm>
            <a:off x="749300" y="1687354"/>
            <a:ext cx="106045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 | CL_MEM_COPY_HOST_PTR,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 | CL_MEM_COPY_HOST_PTR,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CL_MEM_WRITE_ONLY,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result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rows1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columns1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columns2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buf1);</a:t>
            </a: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buf2);</a:t>
            </a: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kernel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setArg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buf3);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Итерационное пространство задачи равно размеру итоговой матрицы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NDRange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globalSize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(rows1, columns2);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enqueueNDRangeKernel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(kernel,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/*offset*/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globalSize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cl::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queue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finish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enqueueReadBuffer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(buf3,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CL_TRUE,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982BE-0B48-8186-8C19-979C0B8A0F6F}"/>
              </a:ext>
            </a:extLst>
          </p:cNvPr>
          <p:cNvSpPr txBox="1"/>
          <p:nvPr/>
        </p:nvSpPr>
        <p:spPr>
          <a:xfrm>
            <a:off x="4927600" y="3536950"/>
            <a:ext cx="695960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Selected device: NVIDIA GeForce RTX 4060 Laptop GPU</a:t>
            </a:r>
          </a:p>
          <a:p>
            <a:r>
              <a:rPr lang="en-US" dirty="0">
                <a:latin typeface="Consolas" panose="020B0609020204030204" pitchFamily="49" charset="0"/>
              </a:rPr>
              <a:t>GPU Multiplication time: 0.025592 seconds</a:t>
            </a:r>
          </a:p>
          <a:p>
            <a:r>
              <a:rPr lang="en-US" dirty="0">
                <a:latin typeface="Consolas" panose="020B0609020204030204" pitchFamily="49" charset="0"/>
              </a:rPr>
              <a:t>CPU Multiplication time: 2.48989 seconds</a:t>
            </a:r>
          </a:p>
        </p:txBody>
      </p:sp>
    </p:spTree>
    <p:extLst>
      <p:ext uri="{BB962C8B-B14F-4D97-AF65-F5344CB8AC3E}">
        <p14:creationId xmlns:p14="http://schemas.microsoft.com/office/powerpoint/2010/main" val="414749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932C65-CE4E-D408-14C8-DC777906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классическое умножение матриц работает неэффективно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E4260-4198-F5C5-24B5-055E7502F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Проблема классического алгоритма</a:t>
            </a:r>
          </a:p>
          <a:p>
            <a:pPr lvl="1"/>
            <a:r>
              <a:rPr lang="ru-RU" dirty="0"/>
              <a:t>Для вычисления одного элемента поток многократно читает данные из глобальной памяти</a:t>
            </a:r>
          </a:p>
          <a:p>
            <a:r>
              <a:rPr lang="ru-RU" dirty="0"/>
              <a:t>Потоки плохо переиспользуют данные</a:t>
            </a:r>
          </a:p>
          <a:p>
            <a:pPr lvl="1"/>
            <a:r>
              <a:rPr lang="ru-RU" dirty="0"/>
              <a:t>A </a:t>
            </a:r>
            <a:r>
              <a:rPr lang="ru-RU" dirty="0" err="1"/>
              <a:t>row</a:t>
            </a:r>
            <a:r>
              <a:rPr lang="ru-RU" dirty="0"/>
              <a:t> → читается повторно</a:t>
            </a:r>
            <a:br>
              <a:rPr lang="ru-RU" dirty="0"/>
            </a:br>
            <a:r>
              <a:rPr lang="ru-RU" dirty="0"/>
              <a:t>B </a:t>
            </a:r>
            <a:r>
              <a:rPr lang="ru-RU" dirty="0" err="1"/>
              <a:t>column</a:t>
            </a:r>
            <a:r>
              <a:rPr lang="ru-RU" dirty="0"/>
              <a:t> → читается повторно</a:t>
            </a:r>
          </a:p>
          <a:p>
            <a:r>
              <a:rPr lang="ru-RU" dirty="0"/>
              <a:t>Следствие</a:t>
            </a:r>
          </a:p>
          <a:p>
            <a:pPr lvl="1"/>
            <a:r>
              <a:rPr lang="ru-RU" dirty="0"/>
              <a:t>много обращений к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, </a:t>
            </a:r>
          </a:p>
          <a:p>
            <a:pPr lvl="1"/>
            <a:r>
              <a:rPr lang="ru-RU" dirty="0"/>
              <a:t>высокая </a:t>
            </a:r>
            <a:r>
              <a:rPr lang="ru-RU" dirty="0" err="1"/>
              <a:t>latency</a:t>
            </a:r>
            <a:r>
              <a:rPr lang="ru-RU" dirty="0"/>
              <a:t>, </a:t>
            </a:r>
          </a:p>
          <a:p>
            <a:pPr lvl="1"/>
            <a:r>
              <a:rPr lang="ru-RU" dirty="0"/>
              <a:t>низкая эффективность GPU. </a:t>
            </a:r>
          </a:p>
          <a:p>
            <a:r>
              <a:rPr lang="ru-RU" dirty="0"/>
              <a:t>На помощь приходят</a:t>
            </a:r>
          </a:p>
          <a:p>
            <a:pPr lvl="1"/>
            <a:r>
              <a:rPr lang="ru-RU" dirty="0"/>
              <a:t>Work </a:t>
            </a:r>
            <a:r>
              <a:rPr lang="ru-RU" dirty="0" err="1"/>
              <a:t>Groups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Local Memory </a:t>
            </a:r>
          </a:p>
          <a:p>
            <a:pPr lvl="1"/>
            <a:r>
              <a:rPr lang="ru-RU" dirty="0" err="1"/>
              <a:t>Tiling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8731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5B613-ECE8-1864-1498-DD30E70CB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Классическое умножение матриц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96D651-0C27-82AA-D2B1-6BD4CEE40064}"/>
              </a:ext>
            </a:extLst>
          </p:cNvPr>
          <p:cNvSpPr/>
          <p:nvPr/>
        </p:nvSpPr>
        <p:spPr>
          <a:xfrm>
            <a:off x="355487" y="3692142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A3F096A-2EE6-AD53-B704-A839E15A76D8}"/>
              </a:ext>
            </a:extLst>
          </p:cNvPr>
          <p:cNvSpPr/>
          <p:nvPr/>
        </p:nvSpPr>
        <p:spPr>
          <a:xfrm>
            <a:off x="774587" y="3692142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926383A-9606-6B79-181B-AC33642FAE99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E43E3FA-D098-C37C-5C4A-7178848C91EC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2C6E9EA-7899-0450-E94F-E84A90DC2FDB}"/>
              </a:ext>
            </a:extLst>
          </p:cNvPr>
          <p:cNvSpPr/>
          <p:nvPr/>
        </p:nvSpPr>
        <p:spPr>
          <a:xfrm>
            <a:off x="355487" y="4103622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1261AF3-C61F-89FF-D139-4334E99ED812}"/>
              </a:ext>
            </a:extLst>
          </p:cNvPr>
          <p:cNvSpPr/>
          <p:nvPr/>
        </p:nvSpPr>
        <p:spPr>
          <a:xfrm>
            <a:off x="774587" y="4103622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DE0AD8-79C3-C66D-064E-1EB7C2BEBB13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D374776-901F-70E7-E75C-628A0D450E0C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8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B9507A4-E9A0-FF7C-3FA3-5CF2458CB5A0}"/>
              </a:ext>
            </a:extLst>
          </p:cNvPr>
          <p:cNvGrpSpPr/>
          <p:nvPr/>
        </p:nvGrpSpPr>
        <p:grpSpPr>
          <a:xfrm>
            <a:off x="355487" y="4515100"/>
            <a:ext cx="1608931" cy="1586073"/>
            <a:chOff x="355487" y="4515100"/>
            <a:chExt cx="1608931" cy="1586073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B2AC2DA-77CC-3412-4517-50E59B08749F}"/>
                </a:ext>
              </a:extLst>
            </p:cNvPr>
            <p:cNvSpPr/>
            <p:nvPr/>
          </p:nvSpPr>
          <p:spPr>
            <a:xfrm>
              <a:off x="355487" y="451510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F57A9534-3BC1-D2E1-256B-80D9D58E933E}"/>
                </a:ext>
              </a:extLst>
            </p:cNvPr>
            <p:cNvSpPr/>
            <p:nvPr/>
          </p:nvSpPr>
          <p:spPr>
            <a:xfrm>
              <a:off x="774587" y="451510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AE7C658-6DD9-28CC-A812-8DA99727A6FC}"/>
                </a:ext>
              </a:extLst>
            </p:cNvPr>
            <p:cNvSpPr/>
            <p:nvPr/>
          </p:nvSpPr>
          <p:spPr>
            <a:xfrm>
              <a:off x="1193687" y="451510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8C47367-CC01-6D93-3837-6A7A8B977D33}"/>
                </a:ext>
              </a:extLst>
            </p:cNvPr>
            <p:cNvSpPr/>
            <p:nvPr/>
          </p:nvSpPr>
          <p:spPr>
            <a:xfrm>
              <a:off x="1612787" y="451510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5D25D024-2E0A-3B36-A6CE-004686ECF369}"/>
                </a:ext>
              </a:extLst>
            </p:cNvPr>
            <p:cNvSpPr/>
            <p:nvPr/>
          </p:nvSpPr>
          <p:spPr>
            <a:xfrm>
              <a:off x="355487" y="492658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9EFC45AD-7316-8FDB-B2E2-3794B68E5F0F}"/>
                </a:ext>
              </a:extLst>
            </p:cNvPr>
            <p:cNvSpPr/>
            <p:nvPr/>
          </p:nvSpPr>
          <p:spPr>
            <a:xfrm>
              <a:off x="774587" y="492658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5BEBBA9-0607-5F82-3BD2-25D3FDCE8FE9}"/>
                </a:ext>
              </a:extLst>
            </p:cNvPr>
            <p:cNvSpPr/>
            <p:nvPr/>
          </p:nvSpPr>
          <p:spPr>
            <a:xfrm>
              <a:off x="1193687" y="492658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420D932A-F11E-2426-B4D6-484674C06032}"/>
                </a:ext>
              </a:extLst>
            </p:cNvPr>
            <p:cNvSpPr/>
            <p:nvPr/>
          </p:nvSpPr>
          <p:spPr>
            <a:xfrm>
              <a:off x="1612787" y="492658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5A6E5D3-2903-4C01-60FF-DFE4BB0F1B67}"/>
                </a:ext>
              </a:extLst>
            </p:cNvPr>
            <p:cNvSpPr/>
            <p:nvPr/>
          </p:nvSpPr>
          <p:spPr>
            <a:xfrm>
              <a:off x="355487" y="533806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EC1B4D8-02B1-C395-EB24-91665E8D70FD}"/>
                </a:ext>
              </a:extLst>
            </p:cNvPr>
            <p:cNvSpPr/>
            <p:nvPr/>
          </p:nvSpPr>
          <p:spPr>
            <a:xfrm>
              <a:off x="774587" y="533806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372863C-9787-DCCA-4219-293E5ACC1188}"/>
                </a:ext>
              </a:extLst>
            </p:cNvPr>
            <p:cNvSpPr/>
            <p:nvPr/>
          </p:nvSpPr>
          <p:spPr>
            <a:xfrm>
              <a:off x="1193687" y="533806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F57662E-5461-3AF0-FF85-4B7198F54CB0}"/>
                </a:ext>
              </a:extLst>
            </p:cNvPr>
            <p:cNvSpPr/>
            <p:nvPr/>
          </p:nvSpPr>
          <p:spPr>
            <a:xfrm>
              <a:off x="1612787" y="533806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AD48B78-A05A-8CD1-CB1D-CCEFB8C45E31}"/>
                </a:ext>
              </a:extLst>
            </p:cNvPr>
            <p:cNvSpPr/>
            <p:nvPr/>
          </p:nvSpPr>
          <p:spPr>
            <a:xfrm>
              <a:off x="355487" y="57495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A326BF7-0FDE-EA4E-46F6-8494E190CC2E}"/>
                </a:ext>
              </a:extLst>
            </p:cNvPr>
            <p:cNvSpPr/>
            <p:nvPr/>
          </p:nvSpPr>
          <p:spPr>
            <a:xfrm>
              <a:off x="774587" y="57495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D9CCEE2-22C6-62F4-805D-BAD0813F5E47}"/>
                </a:ext>
              </a:extLst>
            </p:cNvPr>
            <p:cNvSpPr/>
            <p:nvPr/>
          </p:nvSpPr>
          <p:spPr>
            <a:xfrm>
              <a:off x="1193687" y="574954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6C795770-943C-BEE6-FF41-E2FA01B6C25D}"/>
                </a:ext>
              </a:extLst>
            </p:cNvPr>
            <p:cNvSpPr/>
            <p:nvPr/>
          </p:nvSpPr>
          <p:spPr>
            <a:xfrm>
              <a:off x="1612787" y="574954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90" name="Rectangle 89">
            <a:extLst>
              <a:ext uri="{FF2B5EF4-FFF2-40B4-BE49-F238E27FC236}">
                <a16:creationId xmlns:a16="http://schemas.microsoft.com/office/drawing/2014/main" id="{543A3DFC-E6CA-E7B1-FE49-B376421C642C}"/>
              </a:ext>
            </a:extLst>
          </p:cNvPr>
          <p:cNvSpPr/>
          <p:nvPr/>
        </p:nvSpPr>
        <p:spPr>
          <a:xfrm>
            <a:off x="2316049" y="2988882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5BA8F08-40F9-E989-A28D-37BAAECA4519}"/>
              </a:ext>
            </a:extLst>
          </p:cNvPr>
          <p:cNvSpPr/>
          <p:nvPr/>
        </p:nvSpPr>
        <p:spPr>
          <a:xfrm>
            <a:off x="2735149" y="2988882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B70E27-0AE0-1557-5B92-4E8B86FD72D8}"/>
              </a:ext>
            </a:extLst>
          </p:cNvPr>
          <p:cNvSpPr/>
          <p:nvPr/>
        </p:nvSpPr>
        <p:spPr>
          <a:xfrm>
            <a:off x="2316049" y="2570968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6C8C2F4-23F2-BF57-54F4-616B8AABE1EF}"/>
              </a:ext>
            </a:extLst>
          </p:cNvPr>
          <p:cNvSpPr/>
          <p:nvPr/>
        </p:nvSpPr>
        <p:spPr>
          <a:xfrm>
            <a:off x="2735149" y="2570968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69A80FB-9CBF-0DB2-A136-E2A0ED3C2194}"/>
              </a:ext>
            </a:extLst>
          </p:cNvPr>
          <p:cNvSpPr/>
          <p:nvPr/>
        </p:nvSpPr>
        <p:spPr>
          <a:xfrm>
            <a:off x="2316049" y="2153054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6B15F0E-46A9-50CD-F9C8-A3B39087AD52}"/>
              </a:ext>
            </a:extLst>
          </p:cNvPr>
          <p:cNvSpPr/>
          <p:nvPr/>
        </p:nvSpPr>
        <p:spPr>
          <a:xfrm>
            <a:off x="2735149" y="2153054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3BAC0B-8DB3-B055-CC15-91BD4C6C885A}"/>
              </a:ext>
            </a:extLst>
          </p:cNvPr>
          <p:cNvSpPr/>
          <p:nvPr/>
        </p:nvSpPr>
        <p:spPr>
          <a:xfrm>
            <a:off x="2316049" y="1735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BD1C1F4-D1B2-5744-D013-5E5B33C54179}"/>
              </a:ext>
            </a:extLst>
          </p:cNvPr>
          <p:cNvSpPr/>
          <p:nvPr/>
        </p:nvSpPr>
        <p:spPr>
          <a:xfrm>
            <a:off x="2735149" y="173514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10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4176BD-7CB1-1430-2E5B-250DEA4B9B22}"/>
              </a:ext>
            </a:extLst>
          </p:cNvPr>
          <p:cNvGrpSpPr/>
          <p:nvPr/>
        </p:nvGrpSpPr>
        <p:grpSpPr>
          <a:xfrm>
            <a:off x="3154249" y="1735136"/>
            <a:ext cx="2447131" cy="1605376"/>
            <a:chOff x="3154249" y="1735136"/>
            <a:chExt cx="2447131" cy="1605376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2CD55D9-2F43-A514-1D62-90AA412DC072}"/>
                </a:ext>
              </a:extLst>
            </p:cNvPr>
            <p:cNvSpPr/>
            <p:nvPr/>
          </p:nvSpPr>
          <p:spPr>
            <a:xfrm>
              <a:off x="3154249" y="298888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6E43001-7B47-B29A-5BFB-0CCFCE02FD09}"/>
                </a:ext>
              </a:extLst>
            </p:cNvPr>
            <p:cNvSpPr/>
            <p:nvPr/>
          </p:nvSpPr>
          <p:spPr>
            <a:xfrm>
              <a:off x="3573349" y="298888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7975378-66F5-2C2C-B5E6-F4D0DEEB4CE4}"/>
                </a:ext>
              </a:extLst>
            </p:cNvPr>
            <p:cNvSpPr/>
            <p:nvPr/>
          </p:nvSpPr>
          <p:spPr>
            <a:xfrm>
              <a:off x="3154249" y="2570967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880F59F9-D869-04E0-3A3A-61084CA620D1}"/>
                </a:ext>
              </a:extLst>
            </p:cNvPr>
            <p:cNvSpPr/>
            <p:nvPr/>
          </p:nvSpPr>
          <p:spPr>
            <a:xfrm>
              <a:off x="3573349" y="2570966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2067339C-4332-ACAD-768B-F4D1DEA86CCA}"/>
                </a:ext>
              </a:extLst>
            </p:cNvPr>
            <p:cNvSpPr/>
            <p:nvPr/>
          </p:nvSpPr>
          <p:spPr>
            <a:xfrm>
              <a:off x="3154249" y="215305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9E3B966-D5B3-C0F1-AC47-64ED61CD2879}"/>
                </a:ext>
              </a:extLst>
            </p:cNvPr>
            <p:cNvSpPr/>
            <p:nvPr/>
          </p:nvSpPr>
          <p:spPr>
            <a:xfrm>
              <a:off x="3573349" y="215305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BEB61D6B-270E-84F2-A698-640C7ECBFFB9}"/>
                </a:ext>
              </a:extLst>
            </p:cNvPr>
            <p:cNvSpPr/>
            <p:nvPr/>
          </p:nvSpPr>
          <p:spPr>
            <a:xfrm>
              <a:off x="3154249" y="1735139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F3168638-C71A-3655-DB20-AD3B505E7DBD}"/>
                </a:ext>
              </a:extLst>
            </p:cNvPr>
            <p:cNvSpPr/>
            <p:nvPr/>
          </p:nvSpPr>
          <p:spPr>
            <a:xfrm>
              <a:off x="3573349" y="1735138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700C7778-32F5-E9B3-F10D-2B65D4B0235A}"/>
                </a:ext>
              </a:extLst>
            </p:cNvPr>
            <p:cNvSpPr/>
            <p:nvPr/>
          </p:nvSpPr>
          <p:spPr>
            <a:xfrm>
              <a:off x="3992449" y="298888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40FB966-B70B-1338-C36C-0F441BF068D1}"/>
                </a:ext>
              </a:extLst>
            </p:cNvPr>
            <p:cNvSpPr/>
            <p:nvPr/>
          </p:nvSpPr>
          <p:spPr>
            <a:xfrm>
              <a:off x="4411549" y="298888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A2D4968-DFBD-E9B3-AE0C-93EA8F993960}"/>
                </a:ext>
              </a:extLst>
            </p:cNvPr>
            <p:cNvSpPr/>
            <p:nvPr/>
          </p:nvSpPr>
          <p:spPr>
            <a:xfrm>
              <a:off x="4830649" y="2988879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FA6F7A9E-EFC4-FA6B-DDE9-69D01C58CFE1}"/>
                </a:ext>
              </a:extLst>
            </p:cNvPr>
            <p:cNvSpPr/>
            <p:nvPr/>
          </p:nvSpPr>
          <p:spPr>
            <a:xfrm>
              <a:off x="5249749" y="2988878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AFD482C9-0556-EBC9-F8EE-191797E0299B}"/>
                </a:ext>
              </a:extLst>
            </p:cNvPr>
            <p:cNvSpPr/>
            <p:nvPr/>
          </p:nvSpPr>
          <p:spPr>
            <a:xfrm>
              <a:off x="3992449" y="2570966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23D2BA9-0A3C-24A8-052A-DC71E7CE5C4C}"/>
                </a:ext>
              </a:extLst>
            </p:cNvPr>
            <p:cNvSpPr/>
            <p:nvPr/>
          </p:nvSpPr>
          <p:spPr>
            <a:xfrm>
              <a:off x="4411549" y="2570966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3E447935-0046-7F58-4625-BCEDCAEF1C1D}"/>
                </a:ext>
              </a:extLst>
            </p:cNvPr>
            <p:cNvSpPr/>
            <p:nvPr/>
          </p:nvSpPr>
          <p:spPr>
            <a:xfrm>
              <a:off x="4830649" y="2570965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E3EDF78-2B33-0A3C-9465-065225863EAB}"/>
                </a:ext>
              </a:extLst>
            </p:cNvPr>
            <p:cNvSpPr/>
            <p:nvPr/>
          </p:nvSpPr>
          <p:spPr>
            <a:xfrm>
              <a:off x="5249749" y="257096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DD186B73-277A-A863-EBEE-1724F668FB2E}"/>
                </a:ext>
              </a:extLst>
            </p:cNvPr>
            <p:cNvSpPr/>
            <p:nvPr/>
          </p:nvSpPr>
          <p:spPr>
            <a:xfrm>
              <a:off x="3992449" y="215305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BE6D95A-FC06-A79E-C15D-E94C6AF76722}"/>
                </a:ext>
              </a:extLst>
            </p:cNvPr>
            <p:cNvSpPr/>
            <p:nvPr/>
          </p:nvSpPr>
          <p:spPr>
            <a:xfrm>
              <a:off x="4411549" y="215305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D47A22D8-28FE-0D4E-3A1E-81503AFF7EAD}"/>
                </a:ext>
              </a:extLst>
            </p:cNvPr>
            <p:cNvSpPr/>
            <p:nvPr/>
          </p:nvSpPr>
          <p:spPr>
            <a:xfrm>
              <a:off x="4830649" y="215305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5833D92-99EC-3562-73EA-202C96025973}"/>
                </a:ext>
              </a:extLst>
            </p:cNvPr>
            <p:cNvSpPr/>
            <p:nvPr/>
          </p:nvSpPr>
          <p:spPr>
            <a:xfrm>
              <a:off x="5249749" y="215305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4BB7891-A6F2-2FD2-D383-50034676529C}"/>
                </a:ext>
              </a:extLst>
            </p:cNvPr>
            <p:cNvSpPr/>
            <p:nvPr/>
          </p:nvSpPr>
          <p:spPr>
            <a:xfrm>
              <a:off x="3992449" y="1735138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24753946-6D46-A3B3-5DCF-324B38149260}"/>
                </a:ext>
              </a:extLst>
            </p:cNvPr>
            <p:cNvSpPr/>
            <p:nvPr/>
          </p:nvSpPr>
          <p:spPr>
            <a:xfrm>
              <a:off x="4411549" y="1735138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69A3E786-884E-FBEE-F2BC-B1448449511A}"/>
                </a:ext>
              </a:extLst>
            </p:cNvPr>
            <p:cNvSpPr/>
            <p:nvPr/>
          </p:nvSpPr>
          <p:spPr>
            <a:xfrm>
              <a:off x="4830649" y="1735137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3DC0F487-EFFA-88ED-CD0D-6ED5BB2500D5}"/>
                </a:ext>
              </a:extLst>
            </p:cNvPr>
            <p:cNvSpPr/>
            <p:nvPr/>
          </p:nvSpPr>
          <p:spPr>
            <a:xfrm>
              <a:off x="5249749" y="1735136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541ED2E-02A6-95F3-EFE8-825B1508061E}"/>
              </a:ext>
            </a:extLst>
          </p:cNvPr>
          <p:cNvSpPr/>
          <p:nvPr/>
        </p:nvSpPr>
        <p:spPr>
          <a:xfrm>
            <a:off x="2316049" y="3692144"/>
            <a:ext cx="351631" cy="351631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BDEF4E5B-4F06-5DF4-DBCA-15DFE1CE3B78}"/>
              </a:ext>
            </a:extLst>
          </p:cNvPr>
          <p:cNvSpPr/>
          <p:nvPr/>
        </p:nvSpPr>
        <p:spPr>
          <a:xfrm>
            <a:off x="2735149" y="3692144"/>
            <a:ext cx="351631" cy="351631"/>
          </a:xfrm>
          <a:prstGeom prst="rect">
            <a:avLst/>
          </a:prstGeom>
          <a:solidFill>
            <a:srgbClr val="FF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5E3E866-215B-3CE7-599F-621C500F1611}"/>
              </a:ext>
            </a:extLst>
          </p:cNvPr>
          <p:cNvSpPr/>
          <p:nvPr/>
        </p:nvSpPr>
        <p:spPr>
          <a:xfrm>
            <a:off x="2316049" y="4103624"/>
            <a:ext cx="351631" cy="35163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667F05F1-34AB-A22B-427D-D070DE5C0794}"/>
              </a:ext>
            </a:extLst>
          </p:cNvPr>
          <p:cNvSpPr/>
          <p:nvPr/>
        </p:nvSpPr>
        <p:spPr>
          <a:xfrm>
            <a:off x="2735149" y="4103624"/>
            <a:ext cx="351631" cy="35163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76A13D-5EB5-5A6C-335A-38093C8D8724}"/>
              </a:ext>
            </a:extLst>
          </p:cNvPr>
          <p:cNvGrpSpPr/>
          <p:nvPr/>
        </p:nvGrpSpPr>
        <p:grpSpPr>
          <a:xfrm>
            <a:off x="2316049" y="3692140"/>
            <a:ext cx="3285331" cy="2409035"/>
            <a:chOff x="2316049" y="3692140"/>
            <a:chExt cx="3285331" cy="2409035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9E263B22-3249-38D6-818B-5AC76544BC48}"/>
                </a:ext>
              </a:extLst>
            </p:cNvPr>
            <p:cNvSpPr/>
            <p:nvPr/>
          </p:nvSpPr>
          <p:spPr>
            <a:xfrm>
              <a:off x="3154249" y="369214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A2B98103-878D-B239-85DE-C403890EE5C5}"/>
                </a:ext>
              </a:extLst>
            </p:cNvPr>
            <p:cNvSpPr/>
            <p:nvPr/>
          </p:nvSpPr>
          <p:spPr>
            <a:xfrm>
              <a:off x="3573349" y="36921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F6DA201A-528F-783E-EFAE-6205612AE040}"/>
                </a:ext>
              </a:extLst>
            </p:cNvPr>
            <p:cNvSpPr/>
            <p:nvPr/>
          </p:nvSpPr>
          <p:spPr>
            <a:xfrm>
              <a:off x="3992449" y="36921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5ECF219-02FD-54BF-5E62-5DBCC13F416B}"/>
                </a:ext>
              </a:extLst>
            </p:cNvPr>
            <p:cNvSpPr/>
            <p:nvPr/>
          </p:nvSpPr>
          <p:spPr>
            <a:xfrm>
              <a:off x="4411549" y="36921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C820D11B-3482-B93C-5A28-B6280426ED1F}"/>
                </a:ext>
              </a:extLst>
            </p:cNvPr>
            <p:cNvSpPr/>
            <p:nvPr/>
          </p:nvSpPr>
          <p:spPr>
            <a:xfrm>
              <a:off x="4830649" y="369214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2BC2B4A9-E489-363F-C19D-EF79D8320136}"/>
                </a:ext>
              </a:extLst>
            </p:cNvPr>
            <p:cNvSpPr/>
            <p:nvPr/>
          </p:nvSpPr>
          <p:spPr>
            <a:xfrm>
              <a:off x="5249749" y="369214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250BC8D8-C466-83A9-7625-D5E996FAD195}"/>
                </a:ext>
              </a:extLst>
            </p:cNvPr>
            <p:cNvSpPr/>
            <p:nvPr/>
          </p:nvSpPr>
          <p:spPr>
            <a:xfrm>
              <a:off x="3154249" y="410362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0999CD10-EFAA-8A85-9133-66509FF95C95}"/>
                </a:ext>
              </a:extLst>
            </p:cNvPr>
            <p:cNvSpPr/>
            <p:nvPr/>
          </p:nvSpPr>
          <p:spPr>
            <a:xfrm>
              <a:off x="3573349" y="410362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84BA8C2B-1978-3792-E538-7A30D0013996}"/>
                </a:ext>
              </a:extLst>
            </p:cNvPr>
            <p:cNvSpPr/>
            <p:nvPr/>
          </p:nvSpPr>
          <p:spPr>
            <a:xfrm>
              <a:off x="3992449" y="410362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BF7D938-A877-7877-8C53-8BC56A3E6A70}"/>
                </a:ext>
              </a:extLst>
            </p:cNvPr>
            <p:cNvSpPr/>
            <p:nvPr/>
          </p:nvSpPr>
          <p:spPr>
            <a:xfrm>
              <a:off x="4411549" y="410362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4C2F8FC6-0FF9-F21A-789B-39D1CD5ED4D8}"/>
                </a:ext>
              </a:extLst>
            </p:cNvPr>
            <p:cNvSpPr/>
            <p:nvPr/>
          </p:nvSpPr>
          <p:spPr>
            <a:xfrm>
              <a:off x="4830649" y="410362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C6CBA4F-63E7-8F74-2507-DB6495E425A1}"/>
                </a:ext>
              </a:extLst>
            </p:cNvPr>
            <p:cNvSpPr/>
            <p:nvPr/>
          </p:nvSpPr>
          <p:spPr>
            <a:xfrm>
              <a:off x="5249749" y="410362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65B45A8-0794-A604-8A26-D5AABD2FE4DB}"/>
                </a:ext>
              </a:extLst>
            </p:cNvPr>
            <p:cNvSpPr/>
            <p:nvPr/>
          </p:nvSpPr>
          <p:spPr>
            <a:xfrm>
              <a:off x="2316049" y="451510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8794755-1BD5-527C-442F-A2594C1019FF}"/>
                </a:ext>
              </a:extLst>
            </p:cNvPr>
            <p:cNvSpPr/>
            <p:nvPr/>
          </p:nvSpPr>
          <p:spPr>
            <a:xfrm>
              <a:off x="2735149" y="451510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CB2317CE-1B16-A093-6BAA-5C53FF50A871}"/>
                </a:ext>
              </a:extLst>
            </p:cNvPr>
            <p:cNvSpPr/>
            <p:nvPr/>
          </p:nvSpPr>
          <p:spPr>
            <a:xfrm>
              <a:off x="3154249" y="451510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A29991E1-DC3F-9B81-29E9-92D6CDCD55D9}"/>
                </a:ext>
              </a:extLst>
            </p:cNvPr>
            <p:cNvSpPr/>
            <p:nvPr/>
          </p:nvSpPr>
          <p:spPr>
            <a:xfrm>
              <a:off x="3573349" y="451510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B8C2D97F-F5A3-4EC6-ADDA-EBED16D5AF7A}"/>
                </a:ext>
              </a:extLst>
            </p:cNvPr>
            <p:cNvSpPr/>
            <p:nvPr/>
          </p:nvSpPr>
          <p:spPr>
            <a:xfrm>
              <a:off x="3992449" y="451510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1F23DBE-BA64-47EA-59D2-F9A8A8AD3E40}"/>
                </a:ext>
              </a:extLst>
            </p:cNvPr>
            <p:cNvSpPr/>
            <p:nvPr/>
          </p:nvSpPr>
          <p:spPr>
            <a:xfrm>
              <a:off x="4411549" y="451510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E3A5988-2F9D-3B2F-EBE4-F211FFC11E6C}"/>
                </a:ext>
              </a:extLst>
            </p:cNvPr>
            <p:cNvSpPr/>
            <p:nvPr/>
          </p:nvSpPr>
          <p:spPr>
            <a:xfrm>
              <a:off x="4830649" y="451510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0F89701D-FE9E-8C91-65FF-DFE9C4D71158}"/>
                </a:ext>
              </a:extLst>
            </p:cNvPr>
            <p:cNvSpPr/>
            <p:nvPr/>
          </p:nvSpPr>
          <p:spPr>
            <a:xfrm>
              <a:off x="5249749" y="451510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ED5E4D13-F9CE-CA50-1145-DE84117D1581}"/>
                </a:ext>
              </a:extLst>
            </p:cNvPr>
            <p:cNvSpPr/>
            <p:nvPr/>
          </p:nvSpPr>
          <p:spPr>
            <a:xfrm>
              <a:off x="2316049" y="492658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68E71D91-511C-797E-EC6A-C79CF52180F2}"/>
                </a:ext>
              </a:extLst>
            </p:cNvPr>
            <p:cNvSpPr/>
            <p:nvPr/>
          </p:nvSpPr>
          <p:spPr>
            <a:xfrm>
              <a:off x="2735149" y="492658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60F6476A-73E7-3042-4881-C34C59157A85}"/>
                </a:ext>
              </a:extLst>
            </p:cNvPr>
            <p:cNvSpPr/>
            <p:nvPr/>
          </p:nvSpPr>
          <p:spPr>
            <a:xfrm>
              <a:off x="3154249" y="492658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60455F08-7EE6-7705-47AB-6775DB90C042}"/>
                </a:ext>
              </a:extLst>
            </p:cNvPr>
            <p:cNvSpPr/>
            <p:nvPr/>
          </p:nvSpPr>
          <p:spPr>
            <a:xfrm>
              <a:off x="3573349" y="492658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21C83FC6-E36A-C498-AD4D-0F8BD9B63A9C}"/>
                </a:ext>
              </a:extLst>
            </p:cNvPr>
            <p:cNvSpPr/>
            <p:nvPr/>
          </p:nvSpPr>
          <p:spPr>
            <a:xfrm>
              <a:off x="3992449" y="492658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0F143090-D590-0FD8-A9CA-6A7AAEA39E45}"/>
                </a:ext>
              </a:extLst>
            </p:cNvPr>
            <p:cNvSpPr/>
            <p:nvPr/>
          </p:nvSpPr>
          <p:spPr>
            <a:xfrm>
              <a:off x="4411549" y="492658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CBCD8F64-99A5-8991-DA56-AAFA6F013135}"/>
                </a:ext>
              </a:extLst>
            </p:cNvPr>
            <p:cNvSpPr/>
            <p:nvPr/>
          </p:nvSpPr>
          <p:spPr>
            <a:xfrm>
              <a:off x="4830649" y="492658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8684905-A9DE-28F0-1884-C9AB0E225B34}"/>
                </a:ext>
              </a:extLst>
            </p:cNvPr>
            <p:cNvSpPr/>
            <p:nvPr/>
          </p:nvSpPr>
          <p:spPr>
            <a:xfrm>
              <a:off x="5249749" y="492658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7139AF74-DDAE-EE31-0F60-F4262F6F104F}"/>
                </a:ext>
              </a:extLst>
            </p:cNvPr>
            <p:cNvSpPr/>
            <p:nvPr/>
          </p:nvSpPr>
          <p:spPr>
            <a:xfrm>
              <a:off x="2316049" y="533806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FB552E84-727C-C5B8-C651-8431B11BBA71}"/>
                </a:ext>
              </a:extLst>
            </p:cNvPr>
            <p:cNvSpPr/>
            <p:nvPr/>
          </p:nvSpPr>
          <p:spPr>
            <a:xfrm>
              <a:off x="2735149" y="533806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257E2EE4-B2EC-AB70-F213-21568EB66DFE}"/>
                </a:ext>
              </a:extLst>
            </p:cNvPr>
            <p:cNvSpPr/>
            <p:nvPr/>
          </p:nvSpPr>
          <p:spPr>
            <a:xfrm>
              <a:off x="3154249" y="533806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7F566870-2927-0528-51A0-6986A4B516D4}"/>
                </a:ext>
              </a:extLst>
            </p:cNvPr>
            <p:cNvSpPr/>
            <p:nvPr/>
          </p:nvSpPr>
          <p:spPr>
            <a:xfrm>
              <a:off x="3573349" y="533806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B47D03CC-61F5-F020-65D0-C4A30448A8BC}"/>
                </a:ext>
              </a:extLst>
            </p:cNvPr>
            <p:cNvSpPr/>
            <p:nvPr/>
          </p:nvSpPr>
          <p:spPr>
            <a:xfrm>
              <a:off x="3992449" y="533806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FDF5F278-12CE-3658-9545-6E7213A7F742}"/>
                </a:ext>
              </a:extLst>
            </p:cNvPr>
            <p:cNvSpPr/>
            <p:nvPr/>
          </p:nvSpPr>
          <p:spPr>
            <a:xfrm>
              <a:off x="4411549" y="533806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C0E02B2F-657E-5A00-088A-A62882A8023E}"/>
                </a:ext>
              </a:extLst>
            </p:cNvPr>
            <p:cNvSpPr/>
            <p:nvPr/>
          </p:nvSpPr>
          <p:spPr>
            <a:xfrm>
              <a:off x="4830649" y="533806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2DBDB401-6EE3-253A-0504-ABAFB2668AFC}"/>
                </a:ext>
              </a:extLst>
            </p:cNvPr>
            <p:cNvSpPr/>
            <p:nvPr/>
          </p:nvSpPr>
          <p:spPr>
            <a:xfrm>
              <a:off x="5249749" y="533806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1FF68BD5-E2D6-D2BC-ED2A-0CE0BB6FBD9B}"/>
                </a:ext>
              </a:extLst>
            </p:cNvPr>
            <p:cNvSpPr/>
            <p:nvPr/>
          </p:nvSpPr>
          <p:spPr>
            <a:xfrm>
              <a:off x="2316049" y="574954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990900AD-E0E0-DFD4-D83D-2026271FA580}"/>
                </a:ext>
              </a:extLst>
            </p:cNvPr>
            <p:cNvSpPr/>
            <p:nvPr/>
          </p:nvSpPr>
          <p:spPr>
            <a:xfrm>
              <a:off x="2735149" y="5749544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DC653A31-9093-46C2-E1BD-E73B1D0E4026}"/>
                </a:ext>
              </a:extLst>
            </p:cNvPr>
            <p:cNvSpPr/>
            <p:nvPr/>
          </p:nvSpPr>
          <p:spPr>
            <a:xfrm>
              <a:off x="3154249" y="5749543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54FD57D-9F46-2C7B-00E6-5F78755F5A16}"/>
                </a:ext>
              </a:extLst>
            </p:cNvPr>
            <p:cNvSpPr/>
            <p:nvPr/>
          </p:nvSpPr>
          <p:spPr>
            <a:xfrm>
              <a:off x="3573349" y="57495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E1183DE1-4294-43FD-2D4C-E81C3F448223}"/>
                </a:ext>
              </a:extLst>
            </p:cNvPr>
            <p:cNvSpPr/>
            <p:nvPr/>
          </p:nvSpPr>
          <p:spPr>
            <a:xfrm>
              <a:off x="3992449" y="57495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24693A20-B755-698E-988C-790F368DA02A}"/>
                </a:ext>
              </a:extLst>
            </p:cNvPr>
            <p:cNvSpPr/>
            <p:nvPr/>
          </p:nvSpPr>
          <p:spPr>
            <a:xfrm>
              <a:off x="4411549" y="5749542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3023D857-0C65-B61C-2D3C-E1FC3D0B0674}"/>
                </a:ext>
              </a:extLst>
            </p:cNvPr>
            <p:cNvSpPr/>
            <p:nvPr/>
          </p:nvSpPr>
          <p:spPr>
            <a:xfrm>
              <a:off x="4830649" y="5749541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41DE789A-7C9B-D1BE-4A47-6607A75B762D}"/>
                </a:ext>
              </a:extLst>
            </p:cNvPr>
            <p:cNvSpPr/>
            <p:nvPr/>
          </p:nvSpPr>
          <p:spPr>
            <a:xfrm>
              <a:off x="5249749" y="5749540"/>
              <a:ext cx="351631" cy="3516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9A5AA8D-2F33-3F2B-375A-B4C450ABDF7D}"/>
              </a:ext>
            </a:extLst>
          </p:cNvPr>
          <p:cNvSpPr/>
          <p:nvPr/>
        </p:nvSpPr>
        <p:spPr>
          <a:xfrm>
            <a:off x="6024563" y="4926580"/>
            <a:ext cx="351631" cy="35163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348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4706DF-AD77-C4D7-DC9E-BFB77609C02F}"/>
              </a:ext>
            </a:extLst>
          </p:cNvPr>
          <p:cNvSpPr txBox="1"/>
          <p:nvPr/>
        </p:nvSpPr>
        <p:spPr>
          <a:xfrm>
            <a:off x="6389803" y="492658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=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73CDF9FF-30EA-8C62-472D-1C7AE3D787C7}"/>
              </a:ext>
            </a:extLst>
          </p:cNvPr>
          <p:cNvSpPr/>
          <p:nvPr/>
        </p:nvSpPr>
        <p:spPr>
          <a:xfrm>
            <a:off x="6961107" y="492658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DBD636E0-4E42-3AB3-480C-229EBE089AB5}"/>
              </a:ext>
            </a:extLst>
          </p:cNvPr>
          <p:cNvSpPr/>
          <p:nvPr/>
        </p:nvSpPr>
        <p:spPr>
          <a:xfrm>
            <a:off x="6621859" y="4926580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786461E-4708-26A0-66DC-1DF1E5BF55AB}"/>
              </a:ext>
            </a:extLst>
          </p:cNvPr>
          <p:cNvSpPr txBox="1"/>
          <p:nvPr/>
        </p:nvSpPr>
        <p:spPr>
          <a:xfrm>
            <a:off x="7316372" y="492658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59B4215-3A13-5945-1742-46A810B0FE58}"/>
              </a:ext>
            </a:extLst>
          </p:cNvPr>
          <p:cNvSpPr/>
          <p:nvPr/>
        </p:nvSpPr>
        <p:spPr>
          <a:xfrm>
            <a:off x="7919473" y="4926580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47CEB96-5429-A626-AB0D-D595E97B1D6B}"/>
              </a:ext>
            </a:extLst>
          </p:cNvPr>
          <p:cNvSpPr/>
          <p:nvPr/>
        </p:nvSpPr>
        <p:spPr>
          <a:xfrm>
            <a:off x="7563009" y="4926579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8070276D-BCC0-980D-3415-B0F03062F457}"/>
              </a:ext>
            </a:extLst>
          </p:cNvPr>
          <p:cNvSpPr txBox="1"/>
          <p:nvPr/>
        </p:nvSpPr>
        <p:spPr>
          <a:xfrm>
            <a:off x="8273936" y="492426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49E8C8F8-8764-2371-0E07-2B04212AC6D0}"/>
              </a:ext>
            </a:extLst>
          </p:cNvPr>
          <p:cNvSpPr/>
          <p:nvPr/>
        </p:nvSpPr>
        <p:spPr>
          <a:xfrm>
            <a:off x="8522018" y="4926579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DE0179EA-786B-5C83-669F-8D8206478377}"/>
              </a:ext>
            </a:extLst>
          </p:cNvPr>
          <p:cNvSpPr/>
          <p:nvPr/>
        </p:nvSpPr>
        <p:spPr>
          <a:xfrm>
            <a:off x="8869045" y="4926579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40029E0-A043-9841-57E0-A1724115447E}"/>
              </a:ext>
            </a:extLst>
          </p:cNvPr>
          <p:cNvSpPr txBox="1"/>
          <p:nvPr/>
        </p:nvSpPr>
        <p:spPr>
          <a:xfrm>
            <a:off x="9219520" y="492426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BBE10CBB-8590-547B-7B68-7CB17FC5F94F}"/>
              </a:ext>
            </a:extLst>
          </p:cNvPr>
          <p:cNvSpPr/>
          <p:nvPr/>
        </p:nvSpPr>
        <p:spPr>
          <a:xfrm>
            <a:off x="9432608" y="492658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5F2C85C-603F-C11D-D5DE-A126ACF797FC}"/>
              </a:ext>
            </a:extLst>
          </p:cNvPr>
          <p:cNvSpPr/>
          <p:nvPr/>
        </p:nvSpPr>
        <p:spPr>
          <a:xfrm>
            <a:off x="9779000" y="4926580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8AE060EA-0E4E-A9FD-4913-30EDB424BAB9}"/>
              </a:ext>
            </a:extLst>
          </p:cNvPr>
          <p:cNvSpPr/>
          <p:nvPr/>
        </p:nvSpPr>
        <p:spPr>
          <a:xfrm>
            <a:off x="6024563" y="4515100"/>
            <a:ext cx="351631" cy="35163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322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5178809-3CF0-FAC9-7F62-01951A731A03}"/>
              </a:ext>
            </a:extLst>
          </p:cNvPr>
          <p:cNvSpPr txBox="1"/>
          <p:nvPr/>
        </p:nvSpPr>
        <p:spPr>
          <a:xfrm>
            <a:off x="6375514" y="451510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=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CFAEC18-F548-1ABF-8897-2EAD5024E245}"/>
              </a:ext>
            </a:extLst>
          </p:cNvPr>
          <p:cNvSpPr/>
          <p:nvPr/>
        </p:nvSpPr>
        <p:spPr>
          <a:xfrm>
            <a:off x="6617889" y="4515099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B25665AC-EAB5-46BE-4955-1715E3BA82B7}"/>
              </a:ext>
            </a:extLst>
          </p:cNvPr>
          <p:cNvSpPr txBox="1"/>
          <p:nvPr/>
        </p:nvSpPr>
        <p:spPr>
          <a:xfrm>
            <a:off x="7310022" y="451510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3088F33D-571C-C276-2CD7-39530017A5FF}"/>
              </a:ext>
            </a:extLst>
          </p:cNvPr>
          <p:cNvSpPr/>
          <p:nvPr/>
        </p:nvSpPr>
        <p:spPr>
          <a:xfrm>
            <a:off x="7549357" y="4515100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9B4ED70-FE0B-6C95-0C2B-5A8A52925E90}"/>
              </a:ext>
            </a:extLst>
          </p:cNvPr>
          <p:cNvSpPr txBox="1"/>
          <p:nvPr/>
        </p:nvSpPr>
        <p:spPr>
          <a:xfrm>
            <a:off x="8267022" y="451510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3CB47817-E545-306F-1C73-6E3905CE49AD}"/>
              </a:ext>
            </a:extLst>
          </p:cNvPr>
          <p:cNvSpPr/>
          <p:nvPr/>
        </p:nvSpPr>
        <p:spPr>
          <a:xfrm>
            <a:off x="8510306" y="4515100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38AB7CC-4AE7-856C-BFD0-B58D583BDE47}"/>
              </a:ext>
            </a:extLst>
          </p:cNvPr>
          <p:cNvSpPr txBox="1"/>
          <p:nvPr/>
        </p:nvSpPr>
        <p:spPr>
          <a:xfrm>
            <a:off x="9219251" y="451278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4EA1ED2-2901-A868-FEAC-47A576F07DDB}"/>
              </a:ext>
            </a:extLst>
          </p:cNvPr>
          <p:cNvSpPr/>
          <p:nvPr/>
        </p:nvSpPr>
        <p:spPr>
          <a:xfrm>
            <a:off x="9431451" y="4515099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A7891F02-31F3-C3CD-F53D-251FB4FA94A0}"/>
              </a:ext>
            </a:extLst>
          </p:cNvPr>
          <p:cNvSpPr/>
          <p:nvPr/>
        </p:nvSpPr>
        <p:spPr>
          <a:xfrm>
            <a:off x="6970988" y="451510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E7BE0E5-E9E5-2FF8-4531-51D6B4069BF6}"/>
              </a:ext>
            </a:extLst>
          </p:cNvPr>
          <p:cNvSpPr/>
          <p:nvPr/>
        </p:nvSpPr>
        <p:spPr>
          <a:xfrm>
            <a:off x="7915391" y="4515100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BE5D0D0-1A06-18D3-4EFE-4BDE15B4964F}"/>
              </a:ext>
            </a:extLst>
          </p:cNvPr>
          <p:cNvSpPr/>
          <p:nvPr/>
        </p:nvSpPr>
        <p:spPr>
          <a:xfrm>
            <a:off x="8861935" y="4515099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015317EB-DC95-2F4C-5492-75F60898E063}"/>
              </a:ext>
            </a:extLst>
          </p:cNvPr>
          <p:cNvSpPr/>
          <p:nvPr/>
        </p:nvSpPr>
        <p:spPr>
          <a:xfrm>
            <a:off x="9786812" y="4515100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CC6B6998-EF55-2AEE-CD4B-CD350B1EF744}"/>
              </a:ext>
            </a:extLst>
          </p:cNvPr>
          <p:cNvSpPr/>
          <p:nvPr/>
        </p:nvSpPr>
        <p:spPr>
          <a:xfrm>
            <a:off x="6024563" y="4103620"/>
            <a:ext cx="351631" cy="351631"/>
          </a:xfrm>
          <a:prstGeom prst="rect">
            <a:avLst/>
          </a:prstGeom>
          <a:solidFill>
            <a:srgbClr val="FF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140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50B0BFDF-302E-D508-94EA-B317A9435C96}"/>
              </a:ext>
            </a:extLst>
          </p:cNvPr>
          <p:cNvSpPr/>
          <p:nvPr/>
        </p:nvSpPr>
        <p:spPr>
          <a:xfrm>
            <a:off x="6024563" y="3692140"/>
            <a:ext cx="351631" cy="351631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130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AC9A5D4E-D665-A17B-B17E-1EE5E2FEC19C}"/>
              </a:ext>
            </a:extLst>
          </p:cNvPr>
          <p:cNvSpPr txBox="1"/>
          <p:nvPr/>
        </p:nvSpPr>
        <p:spPr>
          <a:xfrm>
            <a:off x="6370753" y="4108105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=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F21522DB-3597-403E-13AD-62446088380A}"/>
              </a:ext>
            </a:extLst>
          </p:cNvPr>
          <p:cNvSpPr txBox="1"/>
          <p:nvPr/>
        </p:nvSpPr>
        <p:spPr>
          <a:xfrm>
            <a:off x="6372111" y="369214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=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283CE9FE-0AF3-B7B5-616B-41EBE7056551}"/>
              </a:ext>
            </a:extLst>
          </p:cNvPr>
          <p:cNvSpPr/>
          <p:nvPr/>
        </p:nvSpPr>
        <p:spPr>
          <a:xfrm>
            <a:off x="6615395" y="3692140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15EDD03F-3635-5906-54B6-434F47511FC1}"/>
              </a:ext>
            </a:extLst>
          </p:cNvPr>
          <p:cNvSpPr/>
          <p:nvPr/>
        </p:nvSpPr>
        <p:spPr>
          <a:xfrm>
            <a:off x="6972416" y="3692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7AF93E52-D335-88DE-6963-3CD0391FEF46}"/>
              </a:ext>
            </a:extLst>
          </p:cNvPr>
          <p:cNvSpPr txBox="1"/>
          <p:nvPr/>
        </p:nvSpPr>
        <p:spPr>
          <a:xfrm>
            <a:off x="7310022" y="369214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D362803D-C87A-73D8-DE28-FF3F01CAE4AC}"/>
              </a:ext>
            </a:extLst>
          </p:cNvPr>
          <p:cNvSpPr/>
          <p:nvPr/>
        </p:nvSpPr>
        <p:spPr>
          <a:xfrm>
            <a:off x="7550830" y="3692139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0E9B602-F3FA-7488-B99B-42BB4D6AE176}"/>
              </a:ext>
            </a:extLst>
          </p:cNvPr>
          <p:cNvSpPr/>
          <p:nvPr/>
        </p:nvSpPr>
        <p:spPr>
          <a:xfrm>
            <a:off x="7915391" y="3692140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9E0EFB17-7758-3329-DA23-BC822DB92A48}"/>
              </a:ext>
            </a:extLst>
          </p:cNvPr>
          <p:cNvSpPr/>
          <p:nvPr/>
        </p:nvSpPr>
        <p:spPr>
          <a:xfrm>
            <a:off x="8510306" y="3692139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AE123AB-2F67-E50A-7582-A7EE01322A7D}"/>
              </a:ext>
            </a:extLst>
          </p:cNvPr>
          <p:cNvSpPr txBox="1"/>
          <p:nvPr/>
        </p:nvSpPr>
        <p:spPr>
          <a:xfrm>
            <a:off x="8267022" y="368982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AC3F1B7E-C39C-1B4F-18DE-60FBF749C77D}"/>
              </a:ext>
            </a:extLst>
          </p:cNvPr>
          <p:cNvSpPr/>
          <p:nvPr/>
        </p:nvSpPr>
        <p:spPr>
          <a:xfrm>
            <a:off x="8858966" y="3692140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F018EA8E-39BA-DD31-888B-5D1488051A54}"/>
              </a:ext>
            </a:extLst>
          </p:cNvPr>
          <p:cNvSpPr/>
          <p:nvPr/>
        </p:nvSpPr>
        <p:spPr>
          <a:xfrm>
            <a:off x="9431893" y="3692139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18373EAC-B778-38AB-8282-A004A3439E64}"/>
              </a:ext>
            </a:extLst>
          </p:cNvPr>
          <p:cNvSpPr txBox="1"/>
          <p:nvPr/>
        </p:nvSpPr>
        <p:spPr>
          <a:xfrm>
            <a:off x="9194120" y="368982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B341785-7CE3-D66C-7318-C85A8E6501A1}"/>
              </a:ext>
            </a:extLst>
          </p:cNvPr>
          <p:cNvSpPr/>
          <p:nvPr/>
        </p:nvSpPr>
        <p:spPr>
          <a:xfrm>
            <a:off x="9787459" y="3692139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AAA15E06-C48E-44BD-6DC1-EAC9ABB4C74C}"/>
              </a:ext>
            </a:extLst>
          </p:cNvPr>
          <p:cNvSpPr/>
          <p:nvPr/>
        </p:nvSpPr>
        <p:spPr>
          <a:xfrm>
            <a:off x="6615395" y="4103619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04D8A76F-B24F-8015-3E37-F0EAA64B9986}"/>
              </a:ext>
            </a:extLst>
          </p:cNvPr>
          <p:cNvSpPr txBox="1"/>
          <p:nvPr/>
        </p:nvSpPr>
        <p:spPr>
          <a:xfrm>
            <a:off x="7310022" y="410130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7CD7273D-C906-1736-EC29-13CA72FFE2AD}"/>
              </a:ext>
            </a:extLst>
          </p:cNvPr>
          <p:cNvSpPr/>
          <p:nvPr/>
        </p:nvSpPr>
        <p:spPr>
          <a:xfrm>
            <a:off x="7557180" y="4103620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155583BB-5A36-3B9E-D600-7642FA289648}"/>
              </a:ext>
            </a:extLst>
          </p:cNvPr>
          <p:cNvSpPr/>
          <p:nvPr/>
        </p:nvSpPr>
        <p:spPr>
          <a:xfrm>
            <a:off x="8510306" y="4103619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F078160E-5F53-82A8-79C2-6B3443DACE7C}"/>
              </a:ext>
            </a:extLst>
          </p:cNvPr>
          <p:cNvSpPr txBox="1"/>
          <p:nvPr/>
        </p:nvSpPr>
        <p:spPr>
          <a:xfrm>
            <a:off x="8267022" y="4103620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192550D-717D-4383-B76A-A81CB6AFCB04}"/>
              </a:ext>
            </a:extLst>
          </p:cNvPr>
          <p:cNvSpPr/>
          <p:nvPr/>
        </p:nvSpPr>
        <p:spPr>
          <a:xfrm>
            <a:off x="9428276" y="410362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466CCB50-E045-FC82-89BC-5E0D4C4C4CCA}"/>
              </a:ext>
            </a:extLst>
          </p:cNvPr>
          <p:cNvSpPr txBox="1"/>
          <p:nvPr/>
        </p:nvSpPr>
        <p:spPr>
          <a:xfrm>
            <a:off x="9219251" y="4101308"/>
            <a:ext cx="237600" cy="3539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/>
              <a:t>+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DFA00A46-79C7-B50F-9E82-32E14B4F2F76}"/>
              </a:ext>
            </a:extLst>
          </p:cNvPr>
          <p:cNvSpPr/>
          <p:nvPr/>
        </p:nvSpPr>
        <p:spPr>
          <a:xfrm>
            <a:off x="6967424" y="410362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3749ADA-0A94-064D-6F8A-B4534B1CA313}"/>
              </a:ext>
            </a:extLst>
          </p:cNvPr>
          <p:cNvSpPr/>
          <p:nvPr/>
        </p:nvSpPr>
        <p:spPr>
          <a:xfrm>
            <a:off x="7915391" y="4103619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9133A881-FD63-6F1A-DE42-0CB6BCA2D244}"/>
              </a:ext>
            </a:extLst>
          </p:cNvPr>
          <p:cNvSpPr/>
          <p:nvPr/>
        </p:nvSpPr>
        <p:spPr>
          <a:xfrm>
            <a:off x="8864169" y="4103620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11732980-0748-F575-88F9-A8FCEA5FFD85}"/>
              </a:ext>
            </a:extLst>
          </p:cNvPr>
          <p:cNvSpPr/>
          <p:nvPr/>
        </p:nvSpPr>
        <p:spPr>
          <a:xfrm>
            <a:off x="9784919" y="4103619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248" name="Double Bracket 247">
            <a:extLst>
              <a:ext uri="{FF2B5EF4-FFF2-40B4-BE49-F238E27FC236}">
                <a16:creationId xmlns:a16="http://schemas.microsoft.com/office/drawing/2014/main" id="{1B978371-066A-3437-72DE-5E7F40D01FF6}"/>
              </a:ext>
            </a:extLst>
          </p:cNvPr>
          <p:cNvSpPr/>
          <p:nvPr/>
        </p:nvSpPr>
        <p:spPr>
          <a:xfrm>
            <a:off x="6569868" y="3590925"/>
            <a:ext cx="1738313" cy="1769270"/>
          </a:xfrm>
          <a:prstGeom prst="bracketPair">
            <a:avLst>
              <a:gd name="adj" fmla="val 381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Double Bracket 248">
            <a:extLst>
              <a:ext uri="{FF2B5EF4-FFF2-40B4-BE49-F238E27FC236}">
                <a16:creationId xmlns:a16="http://schemas.microsoft.com/office/drawing/2014/main" id="{926BF27D-4C1C-6DC5-4164-404FB1C5BEF6}"/>
              </a:ext>
            </a:extLst>
          </p:cNvPr>
          <p:cNvSpPr/>
          <p:nvPr/>
        </p:nvSpPr>
        <p:spPr>
          <a:xfrm>
            <a:off x="8467611" y="3570616"/>
            <a:ext cx="1738313" cy="1769270"/>
          </a:xfrm>
          <a:prstGeom prst="bracketPair">
            <a:avLst>
              <a:gd name="adj" fmla="val 381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2633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5ABB90-87DB-89ED-065F-225367400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Tiled Matrix Multiplication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CD2BC9-FF81-8E42-628F-E3C096371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классического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endParaRPr lang="en-US" dirty="0"/>
          </a:p>
          <a:p>
            <a:pPr lvl="1"/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читают</a:t>
            </a:r>
            <a:r>
              <a:rPr lang="en-US" dirty="0"/>
              <a:t> </a:t>
            </a:r>
            <a:r>
              <a:rPr lang="en-US" dirty="0" err="1"/>
              <a:t>одни</a:t>
            </a:r>
            <a:r>
              <a:rPr lang="en-US" dirty="0"/>
              <a:t> и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global memory.</a:t>
            </a:r>
          </a:p>
          <a:p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endParaRPr lang="en-US" dirty="0"/>
          </a:p>
          <a:p>
            <a:pPr lvl="1"/>
            <a:r>
              <a:rPr lang="en-US" dirty="0" err="1"/>
              <a:t>Матрицы</a:t>
            </a:r>
            <a:r>
              <a:rPr lang="en-US" dirty="0"/>
              <a:t> </a:t>
            </a:r>
            <a:r>
              <a:rPr lang="en-US" dirty="0" err="1"/>
              <a:t>разбиваются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небольшие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— </a:t>
            </a:r>
            <a:r>
              <a:rPr lang="en-US" dirty="0" err="1"/>
              <a:t>тайлы</a:t>
            </a:r>
            <a:r>
              <a:rPr lang="en-US" dirty="0"/>
              <a:t>.</a:t>
            </a:r>
          </a:p>
          <a:p>
            <a:r>
              <a:rPr lang="en-US" dirty="0" err="1"/>
              <a:t>Алгоритм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endParaRPr lang="en-US" dirty="0"/>
          </a:p>
          <a:p>
            <a:pPr lvl="1"/>
            <a:r>
              <a:rPr lang="en-US" dirty="0"/>
              <a:t>Work Group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в local memory </a:t>
            </a:r>
          </a:p>
          <a:p>
            <a:pPr lvl="1"/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local memory </a:t>
            </a:r>
          </a:p>
          <a:p>
            <a:pPr lvl="1"/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накапливаются</a:t>
            </a:r>
            <a:r>
              <a:rPr lang="en-US" dirty="0"/>
              <a:t> в private memory </a:t>
            </a:r>
          </a:p>
          <a:p>
            <a:pPr lvl="1"/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тайлов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в global memory 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r>
              <a:rPr lang="en-US" dirty="0"/>
              <a:t> к global memory, </a:t>
            </a:r>
          </a:p>
          <a:p>
            <a:pPr lvl="1"/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переиспользование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выше</a:t>
            </a:r>
            <a:r>
              <a:rPr lang="en-US" dirty="0"/>
              <a:t> </a:t>
            </a:r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 GPU.</a:t>
            </a:r>
          </a:p>
        </p:txBody>
      </p:sp>
    </p:spTree>
    <p:extLst>
      <p:ext uri="{BB962C8B-B14F-4D97-AF65-F5344CB8AC3E}">
        <p14:creationId xmlns:p14="http://schemas.microsoft.com/office/powerpoint/2010/main" val="1129518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607E5-586B-2033-21C6-0AED93DB2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3">
            <a:extLst>
              <a:ext uri="{FF2B5EF4-FFF2-40B4-BE49-F238E27FC236}">
                <a16:creationId xmlns:a16="http://schemas.microsoft.com/office/drawing/2014/main" id="{8A50C924-3EB5-FA18-557F-2D1E9CFE6597}"/>
              </a:ext>
            </a:extLst>
          </p:cNvPr>
          <p:cNvSpPr/>
          <p:nvPr/>
        </p:nvSpPr>
        <p:spPr>
          <a:xfrm>
            <a:off x="2282315" y="1698086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999F537-AA22-7A09-BC81-D594F18EF84A}"/>
              </a:ext>
            </a:extLst>
          </p:cNvPr>
          <p:cNvSpPr/>
          <p:nvPr/>
        </p:nvSpPr>
        <p:spPr>
          <a:xfrm>
            <a:off x="319088" y="3645694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86AEA1-B4C4-7603-B144-A8DA225EE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Каждый поток рабочей группы хранит результат в приватной памяти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91D93B-9CA5-F90C-D356-91BF01B851E6}"/>
              </a:ext>
            </a:extLst>
          </p:cNvPr>
          <p:cNvSpPr/>
          <p:nvPr/>
        </p:nvSpPr>
        <p:spPr>
          <a:xfrm>
            <a:off x="355487" y="3692142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51F7BF5-70C7-AB19-D876-7E45D8FDAF37}"/>
              </a:ext>
            </a:extLst>
          </p:cNvPr>
          <p:cNvSpPr/>
          <p:nvPr/>
        </p:nvSpPr>
        <p:spPr>
          <a:xfrm>
            <a:off x="774587" y="3692142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37A1E30-2B15-5588-072B-87A02CAE8356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90EB932-338E-E4F3-C5EC-246D36064DB8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4081D7-8DC5-CD29-1E8F-4D34D8A2AE1E}"/>
              </a:ext>
            </a:extLst>
          </p:cNvPr>
          <p:cNvSpPr/>
          <p:nvPr/>
        </p:nvSpPr>
        <p:spPr>
          <a:xfrm>
            <a:off x="355487" y="4103622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4C7F22E-5F7E-D0D2-D557-45DA6A182696}"/>
              </a:ext>
            </a:extLst>
          </p:cNvPr>
          <p:cNvSpPr/>
          <p:nvPr/>
        </p:nvSpPr>
        <p:spPr>
          <a:xfrm>
            <a:off x="774587" y="4103622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D0C489C-E4C3-FFE6-86BC-576689885038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62672CC-7A19-D629-194F-5BB51BD24736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76E4BBA-BF44-9094-7DCF-9F872135487C}"/>
              </a:ext>
            </a:extLst>
          </p:cNvPr>
          <p:cNvSpPr/>
          <p:nvPr/>
        </p:nvSpPr>
        <p:spPr>
          <a:xfrm>
            <a:off x="3554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77EDFF-0658-DE33-A265-BEB558C0F3B6}"/>
              </a:ext>
            </a:extLst>
          </p:cNvPr>
          <p:cNvSpPr/>
          <p:nvPr/>
        </p:nvSpPr>
        <p:spPr>
          <a:xfrm>
            <a:off x="7745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6044B42-0124-4CC4-08AB-F2AACD907CB3}"/>
              </a:ext>
            </a:extLst>
          </p:cNvPr>
          <p:cNvSpPr/>
          <p:nvPr/>
        </p:nvSpPr>
        <p:spPr>
          <a:xfrm>
            <a:off x="1193687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D49EA9E-F2DA-0D17-4759-D4C81D5CF444}"/>
              </a:ext>
            </a:extLst>
          </p:cNvPr>
          <p:cNvSpPr/>
          <p:nvPr/>
        </p:nvSpPr>
        <p:spPr>
          <a:xfrm>
            <a:off x="1612787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9B82040-E921-61ED-C547-578813869B6C}"/>
              </a:ext>
            </a:extLst>
          </p:cNvPr>
          <p:cNvSpPr/>
          <p:nvPr/>
        </p:nvSpPr>
        <p:spPr>
          <a:xfrm>
            <a:off x="3554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8007B6-1E2A-D3D0-B93B-D61F58126CFC}"/>
              </a:ext>
            </a:extLst>
          </p:cNvPr>
          <p:cNvSpPr/>
          <p:nvPr/>
        </p:nvSpPr>
        <p:spPr>
          <a:xfrm>
            <a:off x="7745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59BA65D-5A3E-EF23-DFDB-2EF82C362527}"/>
              </a:ext>
            </a:extLst>
          </p:cNvPr>
          <p:cNvSpPr/>
          <p:nvPr/>
        </p:nvSpPr>
        <p:spPr>
          <a:xfrm>
            <a:off x="1193687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C292233-5C81-E7D3-64A5-CA8F7CA69624}"/>
              </a:ext>
            </a:extLst>
          </p:cNvPr>
          <p:cNvSpPr/>
          <p:nvPr/>
        </p:nvSpPr>
        <p:spPr>
          <a:xfrm>
            <a:off x="1612787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138EA78-C039-5220-9EDE-86E60D604C12}"/>
              </a:ext>
            </a:extLst>
          </p:cNvPr>
          <p:cNvSpPr/>
          <p:nvPr/>
        </p:nvSpPr>
        <p:spPr>
          <a:xfrm>
            <a:off x="3554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0847D2A-4488-7D4B-7F27-6023C7D95997}"/>
              </a:ext>
            </a:extLst>
          </p:cNvPr>
          <p:cNvSpPr/>
          <p:nvPr/>
        </p:nvSpPr>
        <p:spPr>
          <a:xfrm>
            <a:off x="7745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3D97A07-B89D-3F40-3795-939E305C0EE5}"/>
              </a:ext>
            </a:extLst>
          </p:cNvPr>
          <p:cNvSpPr/>
          <p:nvPr/>
        </p:nvSpPr>
        <p:spPr>
          <a:xfrm>
            <a:off x="1193687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94A36F-5E66-0125-F149-BEF0AB0D9132}"/>
              </a:ext>
            </a:extLst>
          </p:cNvPr>
          <p:cNvSpPr/>
          <p:nvPr/>
        </p:nvSpPr>
        <p:spPr>
          <a:xfrm>
            <a:off x="1612787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E8FE7ED2-E163-BAD6-49D3-479FAC6A5700}"/>
              </a:ext>
            </a:extLst>
          </p:cNvPr>
          <p:cNvSpPr/>
          <p:nvPr/>
        </p:nvSpPr>
        <p:spPr>
          <a:xfrm>
            <a:off x="3554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C28AD75-F540-401A-3F4B-0DD10BEFFBF7}"/>
              </a:ext>
            </a:extLst>
          </p:cNvPr>
          <p:cNvSpPr/>
          <p:nvPr/>
        </p:nvSpPr>
        <p:spPr>
          <a:xfrm>
            <a:off x="7745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DE00323-7DAB-ED76-3970-DAB745456618}"/>
              </a:ext>
            </a:extLst>
          </p:cNvPr>
          <p:cNvSpPr/>
          <p:nvPr/>
        </p:nvSpPr>
        <p:spPr>
          <a:xfrm>
            <a:off x="1193687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7F6CE1E-2841-4750-4ABE-100B7965E224}"/>
              </a:ext>
            </a:extLst>
          </p:cNvPr>
          <p:cNvSpPr/>
          <p:nvPr/>
        </p:nvSpPr>
        <p:spPr>
          <a:xfrm>
            <a:off x="1612787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8A8057C-6A25-43AF-6DFD-D8990BCBD932}"/>
              </a:ext>
            </a:extLst>
          </p:cNvPr>
          <p:cNvSpPr/>
          <p:nvPr/>
        </p:nvSpPr>
        <p:spPr>
          <a:xfrm>
            <a:off x="2316049" y="2988882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0AC5B3C-054A-F0A6-727A-B34805680F81}"/>
              </a:ext>
            </a:extLst>
          </p:cNvPr>
          <p:cNvSpPr/>
          <p:nvPr/>
        </p:nvSpPr>
        <p:spPr>
          <a:xfrm>
            <a:off x="2735149" y="2988882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01845F-62D5-98AA-8C0E-6A7162E627AA}"/>
              </a:ext>
            </a:extLst>
          </p:cNvPr>
          <p:cNvSpPr/>
          <p:nvPr/>
        </p:nvSpPr>
        <p:spPr>
          <a:xfrm>
            <a:off x="3154249" y="29888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EFF154B-10F7-74F5-F50B-0DFCD0420184}"/>
              </a:ext>
            </a:extLst>
          </p:cNvPr>
          <p:cNvSpPr/>
          <p:nvPr/>
        </p:nvSpPr>
        <p:spPr>
          <a:xfrm>
            <a:off x="35733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5E73457-5DF7-5C66-84CB-E14EDA384FF8}"/>
              </a:ext>
            </a:extLst>
          </p:cNvPr>
          <p:cNvSpPr/>
          <p:nvPr/>
        </p:nvSpPr>
        <p:spPr>
          <a:xfrm>
            <a:off x="2316049" y="2570968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17D8176-0F68-7D33-48F6-E76D2090427F}"/>
              </a:ext>
            </a:extLst>
          </p:cNvPr>
          <p:cNvSpPr/>
          <p:nvPr/>
        </p:nvSpPr>
        <p:spPr>
          <a:xfrm>
            <a:off x="2735149" y="2570968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AAC8F5-4D03-CAFF-0D60-4245A6F9170F}"/>
              </a:ext>
            </a:extLst>
          </p:cNvPr>
          <p:cNvSpPr/>
          <p:nvPr/>
        </p:nvSpPr>
        <p:spPr>
          <a:xfrm>
            <a:off x="3154249" y="257096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81F3479-732B-ABAC-33F2-D8A969643ED5}"/>
              </a:ext>
            </a:extLst>
          </p:cNvPr>
          <p:cNvSpPr/>
          <p:nvPr/>
        </p:nvSpPr>
        <p:spPr>
          <a:xfrm>
            <a:off x="35733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BE22857-12FB-DD6C-5AA2-D560B928DA17}"/>
              </a:ext>
            </a:extLst>
          </p:cNvPr>
          <p:cNvSpPr/>
          <p:nvPr/>
        </p:nvSpPr>
        <p:spPr>
          <a:xfrm>
            <a:off x="2316049" y="2153054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A333D35-FC4A-A85B-EA85-9DF03BFCE269}"/>
              </a:ext>
            </a:extLst>
          </p:cNvPr>
          <p:cNvSpPr/>
          <p:nvPr/>
        </p:nvSpPr>
        <p:spPr>
          <a:xfrm>
            <a:off x="2735149" y="2153054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EDDBD2C-32E9-1652-BDC7-1DD0B8663993}"/>
              </a:ext>
            </a:extLst>
          </p:cNvPr>
          <p:cNvSpPr/>
          <p:nvPr/>
        </p:nvSpPr>
        <p:spPr>
          <a:xfrm>
            <a:off x="3154249" y="215305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67009FF-E79D-62DA-D5FC-9C5DBEDCAEDC}"/>
              </a:ext>
            </a:extLst>
          </p:cNvPr>
          <p:cNvSpPr/>
          <p:nvPr/>
        </p:nvSpPr>
        <p:spPr>
          <a:xfrm>
            <a:off x="35733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78B592-2B3B-5BD8-25E6-AC1DE9E0233D}"/>
              </a:ext>
            </a:extLst>
          </p:cNvPr>
          <p:cNvSpPr/>
          <p:nvPr/>
        </p:nvSpPr>
        <p:spPr>
          <a:xfrm>
            <a:off x="2316049" y="1735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9776849-5A51-3D08-6F6B-13EA4280C477}"/>
              </a:ext>
            </a:extLst>
          </p:cNvPr>
          <p:cNvSpPr/>
          <p:nvPr/>
        </p:nvSpPr>
        <p:spPr>
          <a:xfrm>
            <a:off x="2735149" y="173514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EAF38F4-355B-1B9B-FA69-0646B9A592C5}"/>
              </a:ext>
            </a:extLst>
          </p:cNvPr>
          <p:cNvSpPr/>
          <p:nvPr/>
        </p:nvSpPr>
        <p:spPr>
          <a:xfrm>
            <a:off x="3154249" y="173513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C086690-97D6-29BE-EFBC-3E69E571806E}"/>
              </a:ext>
            </a:extLst>
          </p:cNvPr>
          <p:cNvSpPr/>
          <p:nvPr/>
        </p:nvSpPr>
        <p:spPr>
          <a:xfrm>
            <a:off x="35733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380C2F-9E64-8AA3-CD03-AAF159B75858}"/>
              </a:ext>
            </a:extLst>
          </p:cNvPr>
          <p:cNvSpPr/>
          <p:nvPr/>
        </p:nvSpPr>
        <p:spPr>
          <a:xfrm>
            <a:off x="39924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AA25958-8BD0-EA77-6622-E2B10EFC60EB}"/>
              </a:ext>
            </a:extLst>
          </p:cNvPr>
          <p:cNvSpPr/>
          <p:nvPr/>
        </p:nvSpPr>
        <p:spPr>
          <a:xfrm>
            <a:off x="44115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442FCD0-5781-D3A5-B65B-00348E8EC7A6}"/>
              </a:ext>
            </a:extLst>
          </p:cNvPr>
          <p:cNvSpPr/>
          <p:nvPr/>
        </p:nvSpPr>
        <p:spPr>
          <a:xfrm>
            <a:off x="4830649" y="298887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F530AB0-88C9-E42D-0063-C2F9F03948D6}"/>
              </a:ext>
            </a:extLst>
          </p:cNvPr>
          <p:cNvSpPr/>
          <p:nvPr/>
        </p:nvSpPr>
        <p:spPr>
          <a:xfrm>
            <a:off x="5249749" y="298887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D2BC168-81AA-156F-A45D-64DA867ACA9A}"/>
              </a:ext>
            </a:extLst>
          </p:cNvPr>
          <p:cNvSpPr/>
          <p:nvPr/>
        </p:nvSpPr>
        <p:spPr>
          <a:xfrm>
            <a:off x="39924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7992CC0-FF0E-22EB-0BFD-725DE21F4062}"/>
              </a:ext>
            </a:extLst>
          </p:cNvPr>
          <p:cNvSpPr/>
          <p:nvPr/>
        </p:nvSpPr>
        <p:spPr>
          <a:xfrm>
            <a:off x="44115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B3F7D72-89BA-7A46-0F9E-85195267C104}"/>
              </a:ext>
            </a:extLst>
          </p:cNvPr>
          <p:cNvSpPr/>
          <p:nvPr/>
        </p:nvSpPr>
        <p:spPr>
          <a:xfrm>
            <a:off x="4830649" y="2570965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12B84ADB-153B-5F16-CBD4-8EA54E31A463}"/>
              </a:ext>
            </a:extLst>
          </p:cNvPr>
          <p:cNvSpPr/>
          <p:nvPr/>
        </p:nvSpPr>
        <p:spPr>
          <a:xfrm>
            <a:off x="5249749" y="25709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A885A2A5-C968-DEA2-3068-12DD405B009E}"/>
              </a:ext>
            </a:extLst>
          </p:cNvPr>
          <p:cNvSpPr/>
          <p:nvPr/>
        </p:nvSpPr>
        <p:spPr>
          <a:xfrm>
            <a:off x="39924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AE61C84-F985-A757-A01D-B3C90BE757A8}"/>
              </a:ext>
            </a:extLst>
          </p:cNvPr>
          <p:cNvSpPr/>
          <p:nvPr/>
        </p:nvSpPr>
        <p:spPr>
          <a:xfrm>
            <a:off x="44115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23AB57A-2A1A-B79B-EB63-A0FD3315AF8B}"/>
              </a:ext>
            </a:extLst>
          </p:cNvPr>
          <p:cNvSpPr/>
          <p:nvPr/>
        </p:nvSpPr>
        <p:spPr>
          <a:xfrm>
            <a:off x="4830649" y="215305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42AA1C2-A10F-8D03-F007-723E8E6FC453}"/>
              </a:ext>
            </a:extLst>
          </p:cNvPr>
          <p:cNvSpPr/>
          <p:nvPr/>
        </p:nvSpPr>
        <p:spPr>
          <a:xfrm>
            <a:off x="5249749" y="215305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4670C974-45F4-8B7E-EB3D-32186BA47742}"/>
              </a:ext>
            </a:extLst>
          </p:cNvPr>
          <p:cNvSpPr/>
          <p:nvPr/>
        </p:nvSpPr>
        <p:spPr>
          <a:xfrm>
            <a:off x="39924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C667F155-B43E-E25F-E151-E00A616C02B3}"/>
              </a:ext>
            </a:extLst>
          </p:cNvPr>
          <p:cNvSpPr/>
          <p:nvPr/>
        </p:nvSpPr>
        <p:spPr>
          <a:xfrm>
            <a:off x="44115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AF1B185-F4D7-B0BB-E4BE-AE6FAD67B6FE}"/>
              </a:ext>
            </a:extLst>
          </p:cNvPr>
          <p:cNvSpPr/>
          <p:nvPr/>
        </p:nvSpPr>
        <p:spPr>
          <a:xfrm>
            <a:off x="4830649" y="173513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D2C12DA-D90B-90BE-9B49-D1C600996206}"/>
              </a:ext>
            </a:extLst>
          </p:cNvPr>
          <p:cNvSpPr/>
          <p:nvPr/>
        </p:nvSpPr>
        <p:spPr>
          <a:xfrm>
            <a:off x="5249749" y="173513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8EA2A71-407C-2C99-3FFB-036033537E31}"/>
              </a:ext>
            </a:extLst>
          </p:cNvPr>
          <p:cNvSpPr/>
          <p:nvPr/>
        </p:nvSpPr>
        <p:spPr>
          <a:xfrm>
            <a:off x="23160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139B695-9486-0358-A09D-B3B035ECD064}"/>
              </a:ext>
            </a:extLst>
          </p:cNvPr>
          <p:cNvSpPr/>
          <p:nvPr/>
        </p:nvSpPr>
        <p:spPr>
          <a:xfrm>
            <a:off x="27351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837E808-7D98-D9B0-AFD7-674D8C42F30D}"/>
              </a:ext>
            </a:extLst>
          </p:cNvPr>
          <p:cNvSpPr/>
          <p:nvPr/>
        </p:nvSpPr>
        <p:spPr>
          <a:xfrm>
            <a:off x="3154249" y="36921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0BDA5D2-77A2-A553-769F-5358AFE1EDDC}"/>
              </a:ext>
            </a:extLst>
          </p:cNvPr>
          <p:cNvSpPr/>
          <p:nvPr/>
        </p:nvSpPr>
        <p:spPr>
          <a:xfrm>
            <a:off x="35733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87F9E03-FE2D-3A14-2EAA-F74C1BA8968E}"/>
              </a:ext>
            </a:extLst>
          </p:cNvPr>
          <p:cNvSpPr/>
          <p:nvPr/>
        </p:nvSpPr>
        <p:spPr>
          <a:xfrm>
            <a:off x="39924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6EC97985-BD97-4296-4B46-72E4CAA2966F}"/>
              </a:ext>
            </a:extLst>
          </p:cNvPr>
          <p:cNvSpPr/>
          <p:nvPr/>
        </p:nvSpPr>
        <p:spPr>
          <a:xfrm>
            <a:off x="44115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C3B65BD-A285-516B-4397-3E253FA4F896}"/>
              </a:ext>
            </a:extLst>
          </p:cNvPr>
          <p:cNvSpPr/>
          <p:nvPr/>
        </p:nvSpPr>
        <p:spPr>
          <a:xfrm>
            <a:off x="4830649" y="36921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FF490BE-611E-1514-0EAD-34D6CD5EFDEE}"/>
              </a:ext>
            </a:extLst>
          </p:cNvPr>
          <p:cNvSpPr/>
          <p:nvPr/>
        </p:nvSpPr>
        <p:spPr>
          <a:xfrm>
            <a:off x="5249749" y="36921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2DD6527-8B6B-B290-4B2B-CFC71E19480C}"/>
              </a:ext>
            </a:extLst>
          </p:cNvPr>
          <p:cNvSpPr/>
          <p:nvPr/>
        </p:nvSpPr>
        <p:spPr>
          <a:xfrm>
            <a:off x="23160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6F27FF9D-1D1C-288A-BD49-1D635239AFC3}"/>
              </a:ext>
            </a:extLst>
          </p:cNvPr>
          <p:cNvSpPr/>
          <p:nvPr/>
        </p:nvSpPr>
        <p:spPr>
          <a:xfrm>
            <a:off x="27351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32D42516-A574-55FE-D17D-7B9BC8945D54}"/>
              </a:ext>
            </a:extLst>
          </p:cNvPr>
          <p:cNvSpPr/>
          <p:nvPr/>
        </p:nvSpPr>
        <p:spPr>
          <a:xfrm>
            <a:off x="3154249" y="410362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AD6FD807-BF6B-F226-B2A3-C15C3ED857DB}"/>
              </a:ext>
            </a:extLst>
          </p:cNvPr>
          <p:cNvSpPr/>
          <p:nvPr/>
        </p:nvSpPr>
        <p:spPr>
          <a:xfrm>
            <a:off x="35733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0D84A6-4C99-9E78-5E0F-5CFA7590EEE8}"/>
              </a:ext>
            </a:extLst>
          </p:cNvPr>
          <p:cNvSpPr/>
          <p:nvPr/>
        </p:nvSpPr>
        <p:spPr>
          <a:xfrm>
            <a:off x="39924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FB8C3EA-9DB2-339D-E94A-6057599E9D75}"/>
              </a:ext>
            </a:extLst>
          </p:cNvPr>
          <p:cNvSpPr/>
          <p:nvPr/>
        </p:nvSpPr>
        <p:spPr>
          <a:xfrm>
            <a:off x="44115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C1C37C6-E9CC-48BA-49C0-66B30D3E6A34}"/>
              </a:ext>
            </a:extLst>
          </p:cNvPr>
          <p:cNvSpPr/>
          <p:nvPr/>
        </p:nvSpPr>
        <p:spPr>
          <a:xfrm>
            <a:off x="4830649" y="410362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2B5D66B-E1BC-9762-DF78-1B4FC82E8BFC}"/>
              </a:ext>
            </a:extLst>
          </p:cNvPr>
          <p:cNvSpPr/>
          <p:nvPr/>
        </p:nvSpPr>
        <p:spPr>
          <a:xfrm>
            <a:off x="5249749" y="410362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C3B6647C-24A1-6C81-9A91-9CE772C7F251}"/>
              </a:ext>
            </a:extLst>
          </p:cNvPr>
          <p:cNvSpPr/>
          <p:nvPr/>
        </p:nvSpPr>
        <p:spPr>
          <a:xfrm>
            <a:off x="23160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684D07DE-1644-8D7C-70B6-0C6B645BFEF6}"/>
              </a:ext>
            </a:extLst>
          </p:cNvPr>
          <p:cNvSpPr/>
          <p:nvPr/>
        </p:nvSpPr>
        <p:spPr>
          <a:xfrm>
            <a:off x="27351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A626EAAC-4666-C0EE-D50D-8D08E7C834AC}"/>
              </a:ext>
            </a:extLst>
          </p:cNvPr>
          <p:cNvSpPr/>
          <p:nvPr/>
        </p:nvSpPr>
        <p:spPr>
          <a:xfrm>
            <a:off x="3154249" y="451510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2C6EB91B-82C3-3B41-86F0-3AFC26E3AA96}"/>
              </a:ext>
            </a:extLst>
          </p:cNvPr>
          <p:cNvSpPr/>
          <p:nvPr/>
        </p:nvSpPr>
        <p:spPr>
          <a:xfrm>
            <a:off x="35733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5797233-5D8A-608F-F97E-F2174C8950DC}"/>
              </a:ext>
            </a:extLst>
          </p:cNvPr>
          <p:cNvSpPr/>
          <p:nvPr/>
        </p:nvSpPr>
        <p:spPr>
          <a:xfrm>
            <a:off x="39924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86478DD-8AD3-89F2-9CEA-9E63979A0EFC}"/>
              </a:ext>
            </a:extLst>
          </p:cNvPr>
          <p:cNvSpPr/>
          <p:nvPr/>
        </p:nvSpPr>
        <p:spPr>
          <a:xfrm>
            <a:off x="44115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18647C64-21AA-344D-B5F3-2062EAE1417A}"/>
              </a:ext>
            </a:extLst>
          </p:cNvPr>
          <p:cNvSpPr/>
          <p:nvPr/>
        </p:nvSpPr>
        <p:spPr>
          <a:xfrm>
            <a:off x="4830649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4CCBCA2-ED53-BF68-A099-07D0FBB4DB70}"/>
              </a:ext>
            </a:extLst>
          </p:cNvPr>
          <p:cNvSpPr/>
          <p:nvPr/>
        </p:nvSpPr>
        <p:spPr>
          <a:xfrm>
            <a:off x="5249749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BEE65E44-2BC5-9ACC-B2A9-258DD316BB41}"/>
              </a:ext>
            </a:extLst>
          </p:cNvPr>
          <p:cNvSpPr/>
          <p:nvPr/>
        </p:nvSpPr>
        <p:spPr>
          <a:xfrm>
            <a:off x="23160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3941037-2C9D-2384-A4AB-DE228E68CB2E}"/>
              </a:ext>
            </a:extLst>
          </p:cNvPr>
          <p:cNvSpPr/>
          <p:nvPr/>
        </p:nvSpPr>
        <p:spPr>
          <a:xfrm>
            <a:off x="27351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ABE8F6F9-CDAC-25D3-F47E-D8709B1F76B6}"/>
              </a:ext>
            </a:extLst>
          </p:cNvPr>
          <p:cNvSpPr/>
          <p:nvPr/>
        </p:nvSpPr>
        <p:spPr>
          <a:xfrm>
            <a:off x="3154249" y="492658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6D0DDB4-0640-361D-DFD2-BA908D69C872}"/>
              </a:ext>
            </a:extLst>
          </p:cNvPr>
          <p:cNvSpPr/>
          <p:nvPr/>
        </p:nvSpPr>
        <p:spPr>
          <a:xfrm>
            <a:off x="35733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C1B8C083-52A6-E8DB-509C-B5615E3F3242}"/>
              </a:ext>
            </a:extLst>
          </p:cNvPr>
          <p:cNvSpPr/>
          <p:nvPr/>
        </p:nvSpPr>
        <p:spPr>
          <a:xfrm>
            <a:off x="39924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67E96B2-6F46-F30C-D853-02A185C97F3F}"/>
              </a:ext>
            </a:extLst>
          </p:cNvPr>
          <p:cNvSpPr/>
          <p:nvPr/>
        </p:nvSpPr>
        <p:spPr>
          <a:xfrm>
            <a:off x="44115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4FAC2460-3C0E-AF0E-D059-640A8C3988D7}"/>
              </a:ext>
            </a:extLst>
          </p:cNvPr>
          <p:cNvSpPr/>
          <p:nvPr/>
        </p:nvSpPr>
        <p:spPr>
          <a:xfrm>
            <a:off x="4830649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C9211BC-F336-F9A9-CD20-982BFDB7648E}"/>
              </a:ext>
            </a:extLst>
          </p:cNvPr>
          <p:cNvSpPr/>
          <p:nvPr/>
        </p:nvSpPr>
        <p:spPr>
          <a:xfrm>
            <a:off x="5249749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0879D73-9C76-4768-6C18-4D2D1AF00195}"/>
              </a:ext>
            </a:extLst>
          </p:cNvPr>
          <p:cNvSpPr/>
          <p:nvPr/>
        </p:nvSpPr>
        <p:spPr>
          <a:xfrm>
            <a:off x="23160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6B1F990-4D84-9521-4EA2-562C679540DA}"/>
              </a:ext>
            </a:extLst>
          </p:cNvPr>
          <p:cNvSpPr/>
          <p:nvPr/>
        </p:nvSpPr>
        <p:spPr>
          <a:xfrm>
            <a:off x="27351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FDD1A44-3CEA-D93B-A080-C9CAC7DDF16A}"/>
              </a:ext>
            </a:extLst>
          </p:cNvPr>
          <p:cNvSpPr/>
          <p:nvPr/>
        </p:nvSpPr>
        <p:spPr>
          <a:xfrm>
            <a:off x="3154249" y="533806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3D6DF53-79C5-660E-5A1B-C85E3B6606C8}"/>
              </a:ext>
            </a:extLst>
          </p:cNvPr>
          <p:cNvSpPr/>
          <p:nvPr/>
        </p:nvSpPr>
        <p:spPr>
          <a:xfrm>
            <a:off x="35733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24940E7-3598-EE4D-8CAF-89B12CC0FA01}"/>
              </a:ext>
            </a:extLst>
          </p:cNvPr>
          <p:cNvSpPr/>
          <p:nvPr/>
        </p:nvSpPr>
        <p:spPr>
          <a:xfrm>
            <a:off x="39924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D50627D-F0E1-37B8-A5D3-9D99F5E60A8A}"/>
              </a:ext>
            </a:extLst>
          </p:cNvPr>
          <p:cNvSpPr/>
          <p:nvPr/>
        </p:nvSpPr>
        <p:spPr>
          <a:xfrm>
            <a:off x="44115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CD948C-BF41-783D-3701-D80BA5F1E6B0}"/>
              </a:ext>
            </a:extLst>
          </p:cNvPr>
          <p:cNvSpPr/>
          <p:nvPr/>
        </p:nvSpPr>
        <p:spPr>
          <a:xfrm>
            <a:off x="4830649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86392ED-B834-1563-E56D-4C4072E6B360}"/>
              </a:ext>
            </a:extLst>
          </p:cNvPr>
          <p:cNvSpPr/>
          <p:nvPr/>
        </p:nvSpPr>
        <p:spPr>
          <a:xfrm>
            <a:off x="5249749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F71FB617-EF8E-9A41-8D7D-06873A615AD4}"/>
              </a:ext>
            </a:extLst>
          </p:cNvPr>
          <p:cNvSpPr/>
          <p:nvPr/>
        </p:nvSpPr>
        <p:spPr>
          <a:xfrm>
            <a:off x="23160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FDEC415A-4570-23C6-4E1F-D0D42756A53B}"/>
              </a:ext>
            </a:extLst>
          </p:cNvPr>
          <p:cNvSpPr/>
          <p:nvPr/>
        </p:nvSpPr>
        <p:spPr>
          <a:xfrm>
            <a:off x="27351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22D4EE1C-18A3-C58A-0022-CEE899FFC9A6}"/>
              </a:ext>
            </a:extLst>
          </p:cNvPr>
          <p:cNvSpPr/>
          <p:nvPr/>
        </p:nvSpPr>
        <p:spPr>
          <a:xfrm>
            <a:off x="3154249" y="57495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BFDE7370-3EFA-ABBA-C4C4-1CA866086D05}"/>
              </a:ext>
            </a:extLst>
          </p:cNvPr>
          <p:cNvSpPr/>
          <p:nvPr/>
        </p:nvSpPr>
        <p:spPr>
          <a:xfrm>
            <a:off x="35733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B819DECE-FF42-F18D-8E7B-A89EC6A1F7C3}"/>
              </a:ext>
            </a:extLst>
          </p:cNvPr>
          <p:cNvSpPr/>
          <p:nvPr/>
        </p:nvSpPr>
        <p:spPr>
          <a:xfrm>
            <a:off x="39924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63F5B04-06AB-7BAC-4CB0-AD54877960F3}"/>
              </a:ext>
            </a:extLst>
          </p:cNvPr>
          <p:cNvSpPr/>
          <p:nvPr/>
        </p:nvSpPr>
        <p:spPr>
          <a:xfrm>
            <a:off x="44115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D0BF7E1D-529B-47CC-761A-020A942E23C7}"/>
              </a:ext>
            </a:extLst>
          </p:cNvPr>
          <p:cNvSpPr/>
          <p:nvPr/>
        </p:nvSpPr>
        <p:spPr>
          <a:xfrm>
            <a:off x="4830649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047EC7D-2A30-346F-63A5-D8AB50A25558}"/>
              </a:ext>
            </a:extLst>
          </p:cNvPr>
          <p:cNvSpPr/>
          <p:nvPr/>
        </p:nvSpPr>
        <p:spPr>
          <a:xfrm>
            <a:off x="5249749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9151BF8E-D070-A407-0AC3-F6FD5055F8DB}"/>
              </a:ext>
            </a:extLst>
          </p:cNvPr>
          <p:cNvSpPr/>
          <p:nvPr/>
        </p:nvSpPr>
        <p:spPr>
          <a:xfrm>
            <a:off x="355487" y="3692140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5C1C8FA-8660-66F5-FF28-C882DEA78C4A}"/>
              </a:ext>
            </a:extLst>
          </p:cNvPr>
          <p:cNvSpPr/>
          <p:nvPr/>
        </p:nvSpPr>
        <p:spPr>
          <a:xfrm>
            <a:off x="774587" y="3692140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51670C60-03CC-5393-74FC-239D744A429D}"/>
              </a:ext>
            </a:extLst>
          </p:cNvPr>
          <p:cNvSpPr/>
          <p:nvPr/>
        </p:nvSpPr>
        <p:spPr>
          <a:xfrm>
            <a:off x="355487" y="4103620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59CA6D6C-8784-0227-15D4-AE7EB3B7F6F6}"/>
              </a:ext>
            </a:extLst>
          </p:cNvPr>
          <p:cNvSpPr/>
          <p:nvPr/>
        </p:nvSpPr>
        <p:spPr>
          <a:xfrm>
            <a:off x="774587" y="4103620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A6A7F648-B283-8CD9-BC37-11797A94468F}"/>
              </a:ext>
            </a:extLst>
          </p:cNvPr>
          <p:cNvSpPr/>
          <p:nvPr/>
        </p:nvSpPr>
        <p:spPr>
          <a:xfrm>
            <a:off x="2316049" y="2149837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A5303BF-3DC6-69BF-9D00-BC91BAFCE6FE}"/>
              </a:ext>
            </a:extLst>
          </p:cNvPr>
          <p:cNvSpPr/>
          <p:nvPr/>
        </p:nvSpPr>
        <p:spPr>
          <a:xfrm>
            <a:off x="2735149" y="2149837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678F3B-37AF-ACEB-8469-4E2E1E8259F0}"/>
              </a:ext>
            </a:extLst>
          </p:cNvPr>
          <p:cNvSpPr/>
          <p:nvPr/>
        </p:nvSpPr>
        <p:spPr>
          <a:xfrm>
            <a:off x="2316049" y="1731923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98EB19DF-0054-3628-0152-1E314E21F4E7}"/>
              </a:ext>
            </a:extLst>
          </p:cNvPr>
          <p:cNvSpPr/>
          <p:nvPr/>
        </p:nvSpPr>
        <p:spPr>
          <a:xfrm>
            <a:off x="2735149" y="1731923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2C89B2D5-B6C9-5F5F-1B6F-E92805781EAC}"/>
              </a:ext>
            </a:extLst>
          </p:cNvPr>
          <p:cNvSpPr/>
          <p:nvPr/>
        </p:nvSpPr>
        <p:spPr>
          <a:xfrm>
            <a:off x="72530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9E023EFA-09EB-59EA-7FAE-A3E0812A7EF9}"/>
              </a:ext>
            </a:extLst>
          </p:cNvPr>
          <p:cNvSpPr/>
          <p:nvPr/>
        </p:nvSpPr>
        <p:spPr>
          <a:xfrm>
            <a:off x="76721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9F1FD0EE-E525-940C-7FA4-B7E52F4EAB4B}"/>
              </a:ext>
            </a:extLst>
          </p:cNvPr>
          <p:cNvSpPr/>
          <p:nvPr/>
        </p:nvSpPr>
        <p:spPr>
          <a:xfrm>
            <a:off x="72530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44463D96-3771-C938-D1AA-0AFD9823B695}"/>
              </a:ext>
            </a:extLst>
          </p:cNvPr>
          <p:cNvSpPr/>
          <p:nvPr/>
        </p:nvSpPr>
        <p:spPr>
          <a:xfrm>
            <a:off x="76721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5170B63-5DC8-615F-8659-56D453E5FA5E}"/>
              </a:ext>
            </a:extLst>
          </p:cNvPr>
          <p:cNvGrpSpPr/>
          <p:nvPr/>
        </p:nvGrpSpPr>
        <p:grpSpPr>
          <a:xfrm>
            <a:off x="8183449" y="4515100"/>
            <a:ext cx="3653064" cy="910460"/>
            <a:chOff x="8183449" y="4515100"/>
            <a:chExt cx="3653064" cy="91046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E35B892-E21A-CD1F-F5F2-AA3318FCD1C0}"/>
                </a:ext>
              </a:extLst>
            </p:cNvPr>
            <p:cNvSpPr txBox="1"/>
            <p:nvPr/>
          </p:nvSpPr>
          <p:spPr>
            <a:xfrm>
              <a:off x="8270353" y="4779229"/>
              <a:ext cx="35661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Результирующий тайл (приватная память)</a:t>
              </a:r>
              <a:endParaRPr lang="en-US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A86BB04-B5FE-CDBA-5EC6-AA359B3F8D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3449" y="4515100"/>
              <a:ext cx="284162" cy="1758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7947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4" grpId="0" animBg="1"/>
      <p:bldP spid="21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016A1-7233-3E77-DE3F-D6A7CA606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8601D1C-4C18-49F7-658D-9963DAB5E49E}"/>
              </a:ext>
            </a:extLst>
          </p:cNvPr>
          <p:cNvSpPr/>
          <p:nvPr/>
        </p:nvSpPr>
        <p:spPr>
          <a:xfrm>
            <a:off x="2282315" y="1698086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C19697-AE48-8A43-8877-4E0CD90DA7C9}"/>
              </a:ext>
            </a:extLst>
          </p:cNvPr>
          <p:cNvSpPr/>
          <p:nvPr/>
        </p:nvSpPr>
        <p:spPr>
          <a:xfrm>
            <a:off x="319088" y="3645694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D96EE3-1C33-B662-C7FD-B8AC1529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Копируем в локальную память тайлы матриц и перемножаем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2C0BC2-2D85-0FC5-D533-6B1D3D5813ED}"/>
              </a:ext>
            </a:extLst>
          </p:cNvPr>
          <p:cNvSpPr/>
          <p:nvPr/>
        </p:nvSpPr>
        <p:spPr>
          <a:xfrm>
            <a:off x="355487" y="3692142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F5CD095-8297-0A24-9EA7-2288459590F8}"/>
              </a:ext>
            </a:extLst>
          </p:cNvPr>
          <p:cNvSpPr/>
          <p:nvPr/>
        </p:nvSpPr>
        <p:spPr>
          <a:xfrm>
            <a:off x="774587" y="3692142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84B49FF-A2B4-DBCB-3331-B2CC883273D2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7901764-6242-DD85-F759-1BF9E76762EA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E51621-DD64-6D09-D855-D4148D02C6F5}"/>
              </a:ext>
            </a:extLst>
          </p:cNvPr>
          <p:cNvSpPr/>
          <p:nvPr/>
        </p:nvSpPr>
        <p:spPr>
          <a:xfrm>
            <a:off x="355487" y="4103622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57FBD0F-D005-D51F-FE5A-298A2236407C}"/>
              </a:ext>
            </a:extLst>
          </p:cNvPr>
          <p:cNvSpPr/>
          <p:nvPr/>
        </p:nvSpPr>
        <p:spPr>
          <a:xfrm>
            <a:off x="774587" y="4103622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4873391-33B6-F730-F548-26B9EF4F2670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43D927D-CC73-CA23-3160-0DFD28628D85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72DC8FA-2C03-4C18-E8D7-2B3F57727C99}"/>
              </a:ext>
            </a:extLst>
          </p:cNvPr>
          <p:cNvSpPr/>
          <p:nvPr/>
        </p:nvSpPr>
        <p:spPr>
          <a:xfrm>
            <a:off x="3554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B0ABEA2-E60F-6390-7C57-91BA32B6A3E7}"/>
              </a:ext>
            </a:extLst>
          </p:cNvPr>
          <p:cNvSpPr/>
          <p:nvPr/>
        </p:nvSpPr>
        <p:spPr>
          <a:xfrm>
            <a:off x="7745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0970373-8EC8-AA4F-CB87-EDB34F9F9CAD}"/>
              </a:ext>
            </a:extLst>
          </p:cNvPr>
          <p:cNvSpPr/>
          <p:nvPr/>
        </p:nvSpPr>
        <p:spPr>
          <a:xfrm>
            <a:off x="1193687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5051337-BE1B-FFBB-FE1E-6AC6CA3DE992}"/>
              </a:ext>
            </a:extLst>
          </p:cNvPr>
          <p:cNvSpPr/>
          <p:nvPr/>
        </p:nvSpPr>
        <p:spPr>
          <a:xfrm>
            <a:off x="1612787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D8A1FA7-2C7C-2AD4-8088-3E837B32863F}"/>
              </a:ext>
            </a:extLst>
          </p:cNvPr>
          <p:cNvSpPr/>
          <p:nvPr/>
        </p:nvSpPr>
        <p:spPr>
          <a:xfrm>
            <a:off x="3554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B531231-54EA-DA80-6BFF-7029E84DB0CC}"/>
              </a:ext>
            </a:extLst>
          </p:cNvPr>
          <p:cNvSpPr/>
          <p:nvPr/>
        </p:nvSpPr>
        <p:spPr>
          <a:xfrm>
            <a:off x="7745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7B5BE17-3806-218C-819E-E7C025F60F28}"/>
              </a:ext>
            </a:extLst>
          </p:cNvPr>
          <p:cNvSpPr/>
          <p:nvPr/>
        </p:nvSpPr>
        <p:spPr>
          <a:xfrm>
            <a:off x="1193687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78ED9E8-7D31-B180-31F0-8C588807749E}"/>
              </a:ext>
            </a:extLst>
          </p:cNvPr>
          <p:cNvSpPr/>
          <p:nvPr/>
        </p:nvSpPr>
        <p:spPr>
          <a:xfrm>
            <a:off x="1612787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E19A76D-CD81-044B-B444-901525BF04A4}"/>
              </a:ext>
            </a:extLst>
          </p:cNvPr>
          <p:cNvSpPr/>
          <p:nvPr/>
        </p:nvSpPr>
        <p:spPr>
          <a:xfrm>
            <a:off x="3554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8279E03-6220-4EE1-B95D-75D76C4415ED}"/>
              </a:ext>
            </a:extLst>
          </p:cNvPr>
          <p:cNvSpPr/>
          <p:nvPr/>
        </p:nvSpPr>
        <p:spPr>
          <a:xfrm>
            <a:off x="7745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6E86D03-B850-FC45-E050-CB1499717DCC}"/>
              </a:ext>
            </a:extLst>
          </p:cNvPr>
          <p:cNvSpPr/>
          <p:nvPr/>
        </p:nvSpPr>
        <p:spPr>
          <a:xfrm>
            <a:off x="1193687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5CA1667-E9D6-D904-7A9D-294DA8DCD66E}"/>
              </a:ext>
            </a:extLst>
          </p:cNvPr>
          <p:cNvSpPr/>
          <p:nvPr/>
        </p:nvSpPr>
        <p:spPr>
          <a:xfrm>
            <a:off x="1612787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D5BBC2-AFEF-EE3F-EB2F-CD52EAADE556}"/>
              </a:ext>
            </a:extLst>
          </p:cNvPr>
          <p:cNvSpPr/>
          <p:nvPr/>
        </p:nvSpPr>
        <p:spPr>
          <a:xfrm>
            <a:off x="3554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CBDBCED-B3CA-38A4-F8B5-02B8BD1136F9}"/>
              </a:ext>
            </a:extLst>
          </p:cNvPr>
          <p:cNvSpPr/>
          <p:nvPr/>
        </p:nvSpPr>
        <p:spPr>
          <a:xfrm>
            <a:off x="7745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B583251-BF82-12BF-421A-0C34F4232932}"/>
              </a:ext>
            </a:extLst>
          </p:cNvPr>
          <p:cNvSpPr/>
          <p:nvPr/>
        </p:nvSpPr>
        <p:spPr>
          <a:xfrm>
            <a:off x="1193687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4467CD-2471-6BB1-08D1-44E24B56B6B1}"/>
              </a:ext>
            </a:extLst>
          </p:cNvPr>
          <p:cNvSpPr/>
          <p:nvPr/>
        </p:nvSpPr>
        <p:spPr>
          <a:xfrm>
            <a:off x="1612787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DCF04A2-FCD3-98D8-5302-2BA9C5D0F7EC}"/>
              </a:ext>
            </a:extLst>
          </p:cNvPr>
          <p:cNvSpPr/>
          <p:nvPr/>
        </p:nvSpPr>
        <p:spPr>
          <a:xfrm>
            <a:off x="2316049" y="2988882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7DC9261-EFA0-9605-960B-34D22D5543F2}"/>
              </a:ext>
            </a:extLst>
          </p:cNvPr>
          <p:cNvSpPr/>
          <p:nvPr/>
        </p:nvSpPr>
        <p:spPr>
          <a:xfrm>
            <a:off x="2735149" y="2988882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FC8F2CE-106B-281B-7B5C-E24E08894670}"/>
              </a:ext>
            </a:extLst>
          </p:cNvPr>
          <p:cNvSpPr/>
          <p:nvPr/>
        </p:nvSpPr>
        <p:spPr>
          <a:xfrm>
            <a:off x="3154249" y="29888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806927-CE28-02BE-D1BE-A9CDC30AF086}"/>
              </a:ext>
            </a:extLst>
          </p:cNvPr>
          <p:cNvSpPr/>
          <p:nvPr/>
        </p:nvSpPr>
        <p:spPr>
          <a:xfrm>
            <a:off x="35733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6DDCF64-43F3-D134-329D-B80B6E43DC06}"/>
              </a:ext>
            </a:extLst>
          </p:cNvPr>
          <p:cNvSpPr/>
          <p:nvPr/>
        </p:nvSpPr>
        <p:spPr>
          <a:xfrm>
            <a:off x="2316049" y="2570968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C758F838-47F0-0EE2-2839-31C4E614775D}"/>
              </a:ext>
            </a:extLst>
          </p:cNvPr>
          <p:cNvSpPr/>
          <p:nvPr/>
        </p:nvSpPr>
        <p:spPr>
          <a:xfrm>
            <a:off x="2735149" y="2570968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41F6B2F-C93D-83AC-2E04-D0902CD19141}"/>
              </a:ext>
            </a:extLst>
          </p:cNvPr>
          <p:cNvSpPr/>
          <p:nvPr/>
        </p:nvSpPr>
        <p:spPr>
          <a:xfrm>
            <a:off x="3154249" y="257096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DA8F7B9-1823-681B-58E6-52F77B7A5BBA}"/>
              </a:ext>
            </a:extLst>
          </p:cNvPr>
          <p:cNvSpPr/>
          <p:nvPr/>
        </p:nvSpPr>
        <p:spPr>
          <a:xfrm>
            <a:off x="35733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4B92F18-81A3-CE4C-0439-75BA931A3F94}"/>
              </a:ext>
            </a:extLst>
          </p:cNvPr>
          <p:cNvSpPr/>
          <p:nvPr/>
        </p:nvSpPr>
        <p:spPr>
          <a:xfrm>
            <a:off x="2316049" y="2153054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56B81AD-CF95-5C1E-8BD2-F00500DB8EE7}"/>
              </a:ext>
            </a:extLst>
          </p:cNvPr>
          <p:cNvSpPr/>
          <p:nvPr/>
        </p:nvSpPr>
        <p:spPr>
          <a:xfrm>
            <a:off x="2735149" y="2153054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C63251-604E-E34D-F640-1665AB3687A1}"/>
              </a:ext>
            </a:extLst>
          </p:cNvPr>
          <p:cNvSpPr/>
          <p:nvPr/>
        </p:nvSpPr>
        <p:spPr>
          <a:xfrm>
            <a:off x="3154249" y="215305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4F5A068-61DC-8055-465F-1112D4EE95E4}"/>
              </a:ext>
            </a:extLst>
          </p:cNvPr>
          <p:cNvSpPr/>
          <p:nvPr/>
        </p:nvSpPr>
        <p:spPr>
          <a:xfrm>
            <a:off x="35733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E5EC02F-4C16-A8F6-0E6A-82896942E77D}"/>
              </a:ext>
            </a:extLst>
          </p:cNvPr>
          <p:cNvSpPr/>
          <p:nvPr/>
        </p:nvSpPr>
        <p:spPr>
          <a:xfrm>
            <a:off x="2316049" y="1735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59F9B04-9F4E-122B-67CC-F786F723973C}"/>
              </a:ext>
            </a:extLst>
          </p:cNvPr>
          <p:cNvSpPr/>
          <p:nvPr/>
        </p:nvSpPr>
        <p:spPr>
          <a:xfrm>
            <a:off x="2735149" y="173514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1FB79E0-9E1C-2EB2-16DD-907661ECF1BD}"/>
              </a:ext>
            </a:extLst>
          </p:cNvPr>
          <p:cNvSpPr/>
          <p:nvPr/>
        </p:nvSpPr>
        <p:spPr>
          <a:xfrm>
            <a:off x="3154249" y="173513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2B6CF3C-B51B-DD3F-2FCF-F37B6CD624D6}"/>
              </a:ext>
            </a:extLst>
          </p:cNvPr>
          <p:cNvSpPr/>
          <p:nvPr/>
        </p:nvSpPr>
        <p:spPr>
          <a:xfrm>
            <a:off x="35733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C9E7170-B792-EF5C-5981-F1972BE647C1}"/>
              </a:ext>
            </a:extLst>
          </p:cNvPr>
          <p:cNvSpPr/>
          <p:nvPr/>
        </p:nvSpPr>
        <p:spPr>
          <a:xfrm>
            <a:off x="39924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A042E74-B3E5-BA19-753E-650F62CADA62}"/>
              </a:ext>
            </a:extLst>
          </p:cNvPr>
          <p:cNvSpPr/>
          <p:nvPr/>
        </p:nvSpPr>
        <p:spPr>
          <a:xfrm>
            <a:off x="44115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2966A00-B865-6842-028A-E2B79438D425}"/>
              </a:ext>
            </a:extLst>
          </p:cNvPr>
          <p:cNvSpPr/>
          <p:nvPr/>
        </p:nvSpPr>
        <p:spPr>
          <a:xfrm>
            <a:off x="4830649" y="298887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E29532-CC12-A7B9-D1A4-2B6CA9479CB9}"/>
              </a:ext>
            </a:extLst>
          </p:cNvPr>
          <p:cNvSpPr/>
          <p:nvPr/>
        </p:nvSpPr>
        <p:spPr>
          <a:xfrm>
            <a:off x="5249749" y="298887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DBE7083-0EAE-267E-9C51-D1AFBBB3BB6B}"/>
              </a:ext>
            </a:extLst>
          </p:cNvPr>
          <p:cNvSpPr/>
          <p:nvPr/>
        </p:nvSpPr>
        <p:spPr>
          <a:xfrm>
            <a:off x="39924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8CE787D-06B2-FFEB-6DA9-B90676E70193}"/>
              </a:ext>
            </a:extLst>
          </p:cNvPr>
          <p:cNvSpPr/>
          <p:nvPr/>
        </p:nvSpPr>
        <p:spPr>
          <a:xfrm>
            <a:off x="44115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D1044898-EF9E-7537-F8C5-39B130449512}"/>
              </a:ext>
            </a:extLst>
          </p:cNvPr>
          <p:cNvSpPr/>
          <p:nvPr/>
        </p:nvSpPr>
        <p:spPr>
          <a:xfrm>
            <a:off x="4830649" y="2570965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ED663E1-B626-8F59-9AF1-649CD3FA285D}"/>
              </a:ext>
            </a:extLst>
          </p:cNvPr>
          <p:cNvSpPr/>
          <p:nvPr/>
        </p:nvSpPr>
        <p:spPr>
          <a:xfrm>
            <a:off x="5249749" y="25709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109FEBC-5CEF-7EDE-1A2D-64970916AB55}"/>
              </a:ext>
            </a:extLst>
          </p:cNvPr>
          <p:cNvSpPr/>
          <p:nvPr/>
        </p:nvSpPr>
        <p:spPr>
          <a:xfrm>
            <a:off x="39924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BB6BD5F-1DAE-2320-9043-DEA7CC54C116}"/>
              </a:ext>
            </a:extLst>
          </p:cNvPr>
          <p:cNvSpPr/>
          <p:nvPr/>
        </p:nvSpPr>
        <p:spPr>
          <a:xfrm>
            <a:off x="44115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4F4E3D8-759E-B54F-D4C5-243D0A455380}"/>
              </a:ext>
            </a:extLst>
          </p:cNvPr>
          <p:cNvSpPr/>
          <p:nvPr/>
        </p:nvSpPr>
        <p:spPr>
          <a:xfrm>
            <a:off x="4830649" y="215305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F9F53FE-15B5-0539-E7D9-095827C0219E}"/>
              </a:ext>
            </a:extLst>
          </p:cNvPr>
          <p:cNvSpPr/>
          <p:nvPr/>
        </p:nvSpPr>
        <p:spPr>
          <a:xfrm>
            <a:off x="5249749" y="215305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1809EC5-7EF0-4C11-7751-28E2D4820B77}"/>
              </a:ext>
            </a:extLst>
          </p:cNvPr>
          <p:cNvSpPr/>
          <p:nvPr/>
        </p:nvSpPr>
        <p:spPr>
          <a:xfrm>
            <a:off x="39924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9C6C08A-4774-468F-F9D4-3BF117807EA8}"/>
              </a:ext>
            </a:extLst>
          </p:cNvPr>
          <p:cNvSpPr/>
          <p:nvPr/>
        </p:nvSpPr>
        <p:spPr>
          <a:xfrm>
            <a:off x="44115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C045FF75-AB24-B20C-D58B-05BAF3F199DC}"/>
              </a:ext>
            </a:extLst>
          </p:cNvPr>
          <p:cNvSpPr/>
          <p:nvPr/>
        </p:nvSpPr>
        <p:spPr>
          <a:xfrm>
            <a:off x="4830649" y="173513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A5DC335-FBAF-7C03-6288-A0295D9FCFD0}"/>
              </a:ext>
            </a:extLst>
          </p:cNvPr>
          <p:cNvSpPr/>
          <p:nvPr/>
        </p:nvSpPr>
        <p:spPr>
          <a:xfrm>
            <a:off x="5249749" y="173513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B3C04383-FCE4-1DF2-8DFE-0B1E96572E83}"/>
              </a:ext>
            </a:extLst>
          </p:cNvPr>
          <p:cNvSpPr/>
          <p:nvPr/>
        </p:nvSpPr>
        <p:spPr>
          <a:xfrm>
            <a:off x="23160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15E27C7E-CB02-D204-CF1F-0E8244DD3A58}"/>
              </a:ext>
            </a:extLst>
          </p:cNvPr>
          <p:cNvSpPr/>
          <p:nvPr/>
        </p:nvSpPr>
        <p:spPr>
          <a:xfrm>
            <a:off x="27351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8B10D58B-32DA-4E34-FBAC-6B326A9A2AEB}"/>
              </a:ext>
            </a:extLst>
          </p:cNvPr>
          <p:cNvSpPr/>
          <p:nvPr/>
        </p:nvSpPr>
        <p:spPr>
          <a:xfrm>
            <a:off x="3154249" y="36921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6AFBE22-C403-4BE0-4AFB-5740544087D9}"/>
              </a:ext>
            </a:extLst>
          </p:cNvPr>
          <p:cNvSpPr/>
          <p:nvPr/>
        </p:nvSpPr>
        <p:spPr>
          <a:xfrm>
            <a:off x="35733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6B6609C-CC68-E7CB-FE3C-017E777CB154}"/>
              </a:ext>
            </a:extLst>
          </p:cNvPr>
          <p:cNvSpPr/>
          <p:nvPr/>
        </p:nvSpPr>
        <p:spPr>
          <a:xfrm>
            <a:off x="39924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4012740-3A6A-A992-2A65-32A5786FE81F}"/>
              </a:ext>
            </a:extLst>
          </p:cNvPr>
          <p:cNvSpPr/>
          <p:nvPr/>
        </p:nvSpPr>
        <p:spPr>
          <a:xfrm>
            <a:off x="44115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BCE5893-F37E-AE2F-47CD-4548E88097A1}"/>
              </a:ext>
            </a:extLst>
          </p:cNvPr>
          <p:cNvSpPr/>
          <p:nvPr/>
        </p:nvSpPr>
        <p:spPr>
          <a:xfrm>
            <a:off x="4830649" y="36921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49CD3E1D-F954-7FAB-8B7A-BB82B2FD6920}"/>
              </a:ext>
            </a:extLst>
          </p:cNvPr>
          <p:cNvSpPr/>
          <p:nvPr/>
        </p:nvSpPr>
        <p:spPr>
          <a:xfrm>
            <a:off x="5249749" y="36921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BCB301F3-B937-64B4-72D2-D657A9F87AB8}"/>
              </a:ext>
            </a:extLst>
          </p:cNvPr>
          <p:cNvSpPr/>
          <p:nvPr/>
        </p:nvSpPr>
        <p:spPr>
          <a:xfrm>
            <a:off x="23160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6255D69-FA25-3A47-D9DC-BE87662D4E3F}"/>
              </a:ext>
            </a:extLst>
          </p:cNvPr>
          <p:cNvSpPr/>
          <p:nvPr/>
        </p:nvSpPr>
        <p:spPr>
          <a:xfrm>
            <a:off x="27351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E4360C9-C0D1-B70D-3696-5BC9BB97F851}"/>
              </a:ext>
            </a:extLst>
          </p:cNvPr>
          <p:cNvSpPr/>
          <p:nvPr/>
        </p:nvSpPr>
        <p:spPr>
          <a:xfrm>
            <a:off x="3154249" y="410362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7B3C2DF-E47D-BB18-9C9D-456F5FA9750F}"/>
              </a:ext>
            </a:extLst>
          </p:cNvPr>
          <p:cNvSpPr/>
          <p:nvPr/>
        </p:nvSpPr>
        <p:spPr>
          <a:xfrm>
            <a:off x="35733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F671255-1F0A-C920-7565-979773348A82}"/>
              </a:ext>
            </a:extLst>
          </p:cNvPr>
          <p:cNvSpPr/>
          <p:nvPr/>
        </p:nvSpPr>
        <p:spPr>
          <a:xfrm>
            <a:off x="39924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1C361B1-609D-704B-F413-9F62D0C82E4B}"/>
              </a:ext>
            </a:extLst>
          </p:cNvPr>
          <p:cNvSpPr/>
          <p:nvPr/>
        </p:nvSpPr>
        <p:spPr>
          <a:xfrm>
            <a:off x="44115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0552904-7A92-2086-1E8B-D18C69ECF162}"/>
              </a:ext>
            </a:extLst>
          </p:cNvPr>
          <p:cNvSpPr/>
          <p:nvPr/>
        </p:nvSpPr>
        <p:spPr>
          <a:xfrm>
            <a:off x="4830649" y="410362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B08E21-F2CD-E114-B75B-03447AE1C890}"/>
              </a:ext>
            </a:extLst>
          </p:cNvPr>
          <p:cNvSpPr/>
          <p:nvPr/>
        </p:nvSpPr>
        <p:spPr>
          <a:xfrm>
            <a:off x="5249749" y="410362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0799766-245C-646C-8634-8AF0614B889B}"/>
              </a:ext>
            </a:extLst>
          </p:cNvPr>
          <p:cNvSpPr/>
          <p:nvPr/>
        </p:nvSpPr>
        <p:spPr>
          <a:xfrm>
            <a:off x="23160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478B37F0-7095-AD1E-7E16-C22B41F91FD0}"/>
              </a:ext>
            </a:extLst>
          </p:cNvPr>
          <p:cNvSpPr/>
          <p:nvPr/>
        </p:nvSpPr>
        <p:spPr>
          <a:xfrm>
            <a:off x="27351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0646FBEE-7C9A-CC41-4121-BD915FB4586E}"/>
              </a:ext>
            </a:extLst>
          </p:cNvPr>
          <p:cNvSpPr/>
          <p:nvPr/>
        </p:nvSpPr>
        <p:spPr>
          <a:xfrm>
            <a:off x="3154249" y="451510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5BF5B608-76C3-FD3B-329C-B58DBE4D54F7}"/>
              </a:ext>
            </a:extLst>
          </p:cNvPr>
          <p:cNvSpPr/>
          <p:nvPr/>
        </p:nvSpPr>
        <p:spPr>
          <a:xfrm>
            <a:off x="35733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9ED1DD00-ED0A-440D-B5C8-33D716D34AED}"/>
              </a:ext>
            </a:extLst>
          </p:cNvPr>
          <p:cNvSpPr/>
          <p:nvPr/>
        </p:nvSpPr>
        <p:spPr>
          <a:xfrm>
            <a:off x="39924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1F2555F-6867-EA63-2C85-0048B23F74AE}"/>
              </a:ext>
            </a:extLst>
          </p:cNvPr>
          <p:cNvSpPr/>
          <p:nvPr/>
        </p:nvSpPr>
        <p:spPr>
          <a:xfrm>
            <a:off x="44115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A0F9B8E-C67A-E4FC-EE48-0BB47017637B}"/>
              </a:ext>
            </a:extLst>
          </p:cNvPr>
          <p:cNvSpPr/>
          <p:nvPr/>
        </p:nvSpPr>
        <p:spPr>
          <a:xfrm>
            <a:off x="4830649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B3ED1D3E-08FA-E595-C419-38DBE605EF83}"/>
              </a:ext>
            </a:extLst>
          </p:cNvPr>
          <p:cNvSpPr/>
          <p:nvPr/>
        </p:nvSpPr>
        <p:spPr>
          <a:xfrm>
            <a:off x="5249749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DA720B94-8F2B-B076-FCBB-0E05A2637A93}"/>
              </a:ext>
            </a:extLst>
          </p:cNvPr>
          <p:cNvSpPr/>
          <p:nvPr/>
        </p:nvSpPr>
        <p:spPr>
          <a:xfrm>
            <a:off x="23160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2D61F57-E12A-D44C-6284-B141D38620A2}"/>
              </a:ext>
            </a:extLst>
          </p:cNvPr>
          <p:cNvSpPr/>
          <p:nvPr/>
        </p:nvSpPr>
        <p:spPr>
          <a:xfrm>
            <a:off x="27351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17DDA77E-775D-3495-164F-6A83B7EB8532}"/>
              </a:ext>
            </a:extLst>
          </p:cNvPr>
          <p:cNvSpPr/>
          <p:nvPr/>
        </p:nvSpPr>
        <p:spPr>
          <a:xfrm>
            <a:off x="3154249" y="492658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7A0EFC-F63E-8861-677F-7A9FED47BB78}"/>
              </a:ext>
            </a:extLst>
          </p:cNvPr>
          <p:cNvSpPr/>
          <p:nvPr/>
        </p:nvSpPr>
        <p:spPr>
          <a:xfrm>
            <a:off x="35733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406F322-BD54-5E84-2CD2-B1347CDFA7CA}"/>
              </a:ext>
            </a:extLst>
          </p:cNvPr>
          <p:cNvSpPr/>
          <p:nvPr/>
        </p:nvSpPr>
        <p:spPr>
          <a:xfrm>
            <a:off x="39924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7046D2D-1715-4696-4193-A867400929F1}"/>
              </a:ext>
            </a:extLst>
          </p:cNvPr>
          <p:cNvSpPr/>
          <p:nvPr/>
        </p:nvSpPr>
        <p:spPr>
          <a:xfrm>
            <a:off x="44115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8CD05219-E7C8-B4B4-9767-C0CBEC77EE6E}"/>
              </a:ext>
            </a:extLst>
          </p:cNvPr>
          <p:cNvSpPr/>
          <p:nvPr/>
        </p:nvSpPr>
        <p:spPr>
          <a:xfrm>
            <a:off x="4830649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FB18B07D-7B8F-CD9F-C152-4C3D4E89276C}"/>
              </a:ext>
            </a:extLst>
          </p:cNvPr>
          <p:cNvSpPr/>
          <p:nvPr/>
        </p:nvSpPr>
        <p:spPr>
          <a:xfrm>
            <a:off x="5249749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9DB4D8A-035A-F690-B909-733BBA24C517}"/>
              </a:ext>
            </a:extLst>
          </p:cNvPr>
          <p:cNvSpPr/>
          <p:nvPr/>
        </p:nvSpPr>
        <p:spPr>
          <a:xfrm>
            <a:off x="23160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95519DAB-9FC2-E65C-E8E8-D2673FAC7B1D}"/>
              </a:ext>
            </a:extLst>
          </p:cNvPr>
          <p:cNvSpPr/>
          <p:nvPr/>
        </p:nvSpPr>
        <p:spPr>
          <a:xfrm>
            <a:off x="27351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317A4E0-7CF1-26D2-9B68-6AC15F10C4F9}"/>
              </a:ext>
            </a:extLst>
          </p:cNvPr>
          <p:cNvSpPr/>
          <p:nvPr/>
        </p:nvSpPr>
        <p:spPr>
          <a:xfrm>
            <a:off x="3154249" y="533806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77A2A1-0436-9E35-98C0-71B008F6E8A1}"/>
              </a:ext>
            </a:extLst>
          </p:cNvPr>
          <p:cNvSpPr/>
          <p:nvPr/>
        </p:nvSpPr>
        <p:spPr>
          <a:xfrm>
            <a:off x="35733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09F0865-7086-42E7-30D2-FF9DD390D1FF}"/>
              </a:ext>
            </a:extLst>
          </p:cNvPr>
          <p:cNvSpPr/>
          <p:nvPr/>
        </p:nvSpPr>
        <p:spPr>
          <a:xfrm>
            <a:off x="39924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FCE94E3-1387-5718-6797-62F581347002}"/>
              </a:ext>
            </a:extLst>
          </p:cNvPr>
          <p:cNvSpPr/>
          <p:nvPr/>
        </p:nvSpPr>
        <p:spPr>
          <a:xfrm>
            <a:off x="44115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7A60DDC9-E185-3724-41B7-5E1BEDE8CAC7}"/>
              </a:ext>
            </a:extLst>
          </p:cNvPr>
          <p:cNvSpPr/>
          <p:nvPr/>
        </p:nvSpPr>
        <p:spPr>
          <a:xfrm>
            <a:off x="4830649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45E7F386-DFCB-0551-E92F-98EC7D39870E}"/>
              </a:ext>
            </a:extLst>
          </p:cNvPr>
          <p:cNvSpPr/>
          <p:nvPr/>
        </p:nvSpPr>
        <p:spPr>
          <a:xfrm>
            <a:off x="5249749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53DB9F7F-ED8B-475D-AC2E-5C97D6B017E2}"/>
              </a:ext>
            </a:extLst>
          </p:cNvPr>
          <p:cNvSpPr/>
          <p:nvPr/>
        </p:nvSpPr>
        <p:spPr>
          <a:xfrm>
            <a:off x="23160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4BF09FE4-722C-84FE-5759-704448DF334F}"/>
              </a:ext>
            </a:extLst>
          </p:cNvPr>
          <p:cNvSpPr/>
          <p:nvPr/>
        </p:nvSpPr>
        <p:spPr>
          <a:xfrm>
            <a:off x="27351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B56F344-F490-1C7E-A9B4-B750CD8B19FF}"/>
              </a:ext>
            </a:extLst>
          </p:cNvPr>
          <p:cNvSpPr/>
          <p:nvPr/>
        </p:nvSpPr>
        <p:spPr>
          <a:xfrm>
            <a:off x="3154249" y="57495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2FF0492C-1FBD-8058-88E2-C4632D20A971}"/>
              </a:ext>
            </a:extLst>
          </p:cNvPr>
          <p:cNvSpPr/>
          <p:nvPr/>
        </p:nvSpPr>
        <p:spPr>
          <a:xfrm>
            <a:off x="35733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C1F3049-3C0A-5F2D-93F5-05C9F722F994}"/>
              </a:ext>
            </a:extLst>
          </p:cNvPr>
          <p:cNvSpPr/>
          <p:nvPr/>
        </p:nvSpPr>
        <p:spPr>
          <a:xfrm>
            <a:off x="39924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8BF2A0-A3A6-D38F-2642-7657E8C5CB66}"/>
              </a:ext>
            </a:extLst>
          </p:cNvPr>
          <p:cNvSpPr/>
          <p:nvPr/>
        </p:nvSpPr>
        <p:spPr>
          <a:xfrm>
            <a:off x="44115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A3FF416-8E99-76F2-9BDA-DE6F8A6D109F}"/>
              </a:ext>
            </a:extLst>
          </p:cNvPr>
          <p:cNvSpPr/>
          <p:nvPr/>
        </p:nvSpPr>
        <p:spPr>
          <a:xfrm>
            <a:off x="4830649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087989D3-AE7D-5238-EEDA-79A16CAD167B}"/>
              </a:ext>
            </a:extLst>
          </p:cNvPr>
          <p:cNvSpPr/>
          <p:nvPr/>
        </p:nvSpPr>
        <p:spPr>
          <a:xfrm>
            <a:off x="5249749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20CF66C-831F-C893-5711-774AF944C046}"/>
              </a:ext>
            </a:extLst>
          </p:cNvPr>
          <p:cNvSpPr/>
          <p:nvPr/>
        </p:nvSpPr>
        <p:spPr>
          <a:xfrm>
            <a:off x="6238991" y="3692140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9CAD393-C5F6-8785-BE8B-076471F35465}"/>
              </a:ext>
            </a:extLst>
          </p:cNvPr>
          <p:cNvSpPr/>
          <p:nvPr/>
        </p:nvSpPr>
        <p:spPr>
          <a:xfrm>
            <a:off x="6658091" y="3692140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02BA3F2-DCA4-4008-B5E8-FE780ADCC237}"/>
              </a:ext>
            </a:extLst>
          </p:cNvPr>
          <p:cNvSpPr/>
          <p:nvPr/>
        </p:nvSpPr>
        <p:spPr>
          <a:xfrm>
            <a:off x="6238991" y="4103620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B0D1EE3-BDA8-F142-EF1C-B9B5D9469AB6}"/>
              </a:ext>
            </a:extLst>
          </p:cNvPr>
          <p:cNvSpPr/>
          <p:nvPr/>
        </p:nvSpPr>
        <p:spPr>
          <a:xfrm>
            <a:off x="6658091" y="4103620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2983900A-A0F1-C0D0-E9AC-B3F2DA1F1E49}"/>
              </a:ext>
            </a:extLst>
          </p:cNvPr>
          <p:cNvSpPr/>
          <p:nvPr/>
        </p:nvSpPr>
        <p:spPr>
          <a:xfrm>
            <a:off x="7253006" y="2988878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8A9A1EB-38E7-1D32-67A0-9FF65C11DF21}"/>
              </a:ext>
            </a:extLst>
          </p:cNvPr>
          <p:cNvSpPr/>
          <p:nvPr/>
        </p:nvSpPr>
        <p:spPr>
          <a:xfrm>
            <a:off x="7672106" y="2988878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D8910AD0-ADC4-615D-0E06-C5357BDF1E0B}"/>
              </a:ext>
            </a:extLst>
          </p:cNvPr>
          <p:cNvSpPr/>
          <p:nvPr/>
        </p:nvSpPr>
        <p:spPr>
          <a:xfrm>
            <a:off x="7253006" y="2570964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41975B98-5A9B-FE12-1203-7BF864F3159F}"/>
              </a:ext>
            </a:extLst>
          </p:cNvPr>
          <p:cNvSpPr/>
          <p:nvPr/>
        </p:nvSpPr>
        <p:spPr>
          <a:xfrm>
            <a:off x="7672106" y="2570964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B6FE8B9-6A04-8423-C66B-4E6B6AA6E87A}"/>
              </a:ext>
            </a:extLst>
          </p:cNvPr>
          <p:cNvSpPr/>
          <p:nvPr/>
        </p:nvSpPr>
        <p:spPr>
          <a:xfrm>
            <a:off x="72530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265D3D3-A2F4-0288-DD2A-3B91A71ED1C9}"/>
              </a:ext>
            </a:extLst>
          </p:cNvPr>
          <p:cNvSpPr/>
          <p:nvPr/>
        </p:nvSpPr>
        <p:spPr>
          <a:xfrm>
            <a:off x="76721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8C3ACA41-7C07-1CB5-482C-C6A4D8FC5A55}"/>
              </a:ext>
            </a:extLst>
          </p:cNvPr>
          <p:cNvSpPr/>
          <p:nvPr/>
        </p:nvSpPr>
        <p:spPr>
          <a:xfrm>
            <a:off x="72530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50302DB2-A0EF-CC39-9593-E7D6BCD38C46}"/>
              </a:ext>
            </a:extLst>
          </p:cNvPr>
          <p:cNvSpPr/>
          <p:nvPr/>
        </p:nvSpPr>
        <p:spPr>
          <a:xfrm>
            <a:off x="76721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0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BFFD5D-04C7-CA4A-8913-501272677DA4}"/>
              </a:ext>
            </a:extLst>
          </p:cNvPr>
          <p:cNvSpPr/>
          <p:nvPr/>
        </p:nvSpPr>
        <p:spPr>
          <a:xfrm>
            <a:off x="72530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31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936D77-3A32-36E3-62F3-8178B7D389E6}"/>
              </a:ext>
            </a:extLst>
          </p:cNvPr>
          <p:cNvSpPr/>
          <p:nvPr/>
        </p:nvSpPr>
        <p:spPr>
          <a:xfrm>
            <a:off x="76721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34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08E86-1D50-1EC6-1D94-9978FA39B52C}"/>
              </a:ext>
            </a:extLst>
          </p:cNvPr>
          <p:cNvSpPr/>
          <p:nvPr/>
        </p:nvSpPr>
        <p:spPr>
          <a:xfrm>
            <a:off x="72530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111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EA155C-1016-A506-C696-C7589909709D}"/>
              </a:ext>
            </a:extLst>
          </p:cNvPr>
          <p:cNvSpPr/>
          <p:nvPr/>
        </p:nvSpPr>
        <p:spPr>
          <a:xfrm>
            <a:off x="76721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122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D1EA49-0610-9AD5-EE3E-F9C6702D4E16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BE7948-C204-1718-8884-741526A1F98B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201725-912F-2A48-0234-A527067C3A86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01FC24-28F1-E876-A8C9-E5B4FC13BCC2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45357-EE37-E9A0-4A9D-45CD6005BA97}"/>
              </a:ext>
            </a:extLst>
          </p:cNvPr>
          <p:cNvSpPr/>
          <p:nvPr/>
        </p:nvSpPr>
        <p:spPr>
          <a:xfrm>
            <a:off x="2316049" y="2988878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FECBF4-68D3-5EE3-61B4-B6132F600084}"/>
              </a:ext>
            </a:extLst>
          </p:cNvPr>
          <p:cNvSpPr/>
          <p:nvPr/>
        </p:nvSpPr>
        <p:spPr>
          <a:xfrm>
            <a:off x="2735149" y="2988878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4D42B6-2B99-1FB4-FB57-03C864AA184B}"/>
              </a:ext>
            </a:extLst>
          </p:cNvPr>
          <p:cNvSpPr/>
          <p:nvPr/>
        </p:nvSpPr>
        <p:spPr>
          <a:xfrm>
            <a:off x="2316049" y="2570964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280FCE-3F79-1977-BE91-4858C7CB1C5A}"/>
              </a:ext>
            </a:extLst>
          </p:cNvPr>
          <p:cNvSpPr/>
          <p:nvPr/>
        </p:nvSpPr>
        <p:spPr>
          <a:xfrm>
            <a:off x="2735149" y="2570964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BC99829-C572-8FC8-86F3-7C6316B0C4F5}"/>
              </a:ext>
            </a:extLst>
          </p:cNvPr>
          <p:cNvGrpSpPr/>
          <p:nvPr/>
        </p:nvGrpSpPr>
        <p:grpSpPr>
          <a:xfrm>
            <a:off x="8183449" y="4515100"/>
            <a:ext cx="3653064" cy="910460"/>
            <a:chOff x="8183449" y="4515100"/>
            <a:chExt cx="3653064" cy="9104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D32BDEA-29A1-CAB8-41E6-B2868407FDA2}"/>
                </a:ext>
              </a:extLst>
            </p:cNvPr>
            <p:cNvSpPr txBox="1"/>
            <p:nvPr/>
          </p:nvSpPr>
          <p:spPr>
            <a:xfrm>
              <a:off x="8270353" y="4779229"/>
              <a:ext cx="35661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Результирующий тайл (приватная память)</a:t>
              </a:r>
              <a:endParaRPr lang="en-US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D46666F-985A-A2C4-00C2-5234287D641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3449" y="4515100"/>
              <a:ext cx="284162" cy="1758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412E8D6-F1D1-71FB-45D0-D07BA222C5FE}"/>
              </a:ext>
            </a:extLst>
          </p:cNvPr>
          <p:cNvGrpSpPr/>
          <p:nvPr/>
        </p:nvGrpSpPr>
        <p:grpSpPr>
          <a:xfrm>
            <a:off x="8267022" y="2620436"/>
            <a:ext cx="2862532" cy="646331"/>
            <a:chOff x="7827486" y="4779229"/>
            <a:chExt cx="2862532" cy="6463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EB54C4-A6B6-BC68-7BBA-176D9495EDEE}"/>
                </a:ext>
              </a:extLst>
            </p:cNvPr>
            <p:cNvSpPr txBox="1"/>
            <p:nvPr/>
          </p:nvSpPr>
          <p:spPr>
            <a:xfrm>
              <a:off x="8270353" y="4779229"/>
              <a:ext cx="24196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Тайл второй матрицы (локальная память)</a:t>
              </a:r>
              <a:endParaRPr lang="en-US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EBDBC33-10C1-7200-D7FE-4E733A3F4E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27486" y="4905572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EA12FAE-030F-FAA0-29D3-859DB4E093FE}"/>
              </a:ext>
            </a:extLst>
          </p:cNvPr>
          <p:cNvGrpSpPr/>
          <p:nvPr/>
        </p:nvGrpSpPr>
        <p:grpSpPr>
          <a:xfrm>
            <a:off x="6096000" y="4690915"/>
            <a:ext cx="2419665" cy="1645107"/>
            <a:chOff x="7898923" y="3780453"/>
            <a:chExt cx="2419665" cy="164510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49AE431-C79A-B2F8-E147-85BE4C6E6A0F}"/>
                </a:ext>
              </a:extLst>
            </p:cNvPr>
            <p:cNvSpPr txBox="1"/>
            <p:nvPr/>
          </p:nvSpPr>
          <p:spPr>
            <a:xfrm>
              <a:off x="7898923" y="4779229"/>
              <a:ext cx="24196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Тайл первой матрицы (локальная память)</a:t>
              </a:r>
              <a:endParaRPr lang="en-US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D7B6AF-5509-6F82-0309-CD324AFC7A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6586" y="3780453"/>
              <a:ext cx="0" cy="822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361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F1B26-BD4B-3F2A-1226-00545808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3437120-6DDB-802B-0912-A21D9284BB95}"/>
              </a:ext>
            </a:extLst>
          </p:cNvPr>
          <p:cNvSpPr/>
          <p:nvPr/>
        </p:nvSpPr>
        <p:spPr>
          <a:xfrm>
            <a:off x="2282315" y="2538667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3BCE0D-A2D8-560E-E4F6-9D3D3C505828}"/>
              </a:ext>
            </a:extLst>
          </p:cNvPr>
          <p:cNvSpPr/>
          <p:nvPr/>
        </p:nvSpPr>
        <p:spPr>
          <a:xfrm>
            <a:off x="1157571" y="3644594"/>
            <a:ext cx="838200" cy="8405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DBA180-3A4D-D9B7-D700-8AD4F239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Повторяем этот процесс для следующих тайлов матриц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1F3EB4-9164-4569-F998-47775DD1CA85}"/>
              </a:ext>
            </a:extLst>
          </p:cNvPr>
          <p:cNvSpPr/>
          <p:nvPr/>
        </p:nvSpPr>
        <p:spPr>
          <a:xfrm>
            <a:off x="355487" y="3692142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6DEE121-CEBE-9E33-C5A4-25DCCB9BD10A}"/>
              </a:ext>
            </a:extLst>
          </p:cNvPr>
          <p:cNvSpPr/>
          <p:nvPr/>
        </p:nvSpPr>
        <p:spPr>
          <a:xfrm>
            <a:off x="774587" y="3692142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7393B36-5B09-E91C-C3D5-E9FC372F9567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DF00536-509F-C0E0-2756-117A847D1537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EC39F6D-F411-1FC2-D29F-832637D97BCC}"/>
              </a:ext>
            </a:extLst>
          </p:cNvPr>
          <p:cNvSpPr/>
          <p:nvPr/>
        </p:nvSpPr>
        <p:spPr>
          <a:xfrm>
            <a:off x="355487" y="4103622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255E56-52D6-E0CE-9665-9E697D028258}"/>
              </a:ext>
            </a:extLst>
          </p:cNvPr>
          <p:cNvSpPr/>
          <p:nvPr/>
        </p:nvSpPr>
        <p:spPr>
          <a:xfrm>
            <a:off x="774587" y="4103622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422F5AD-A79A-AAD4-57EB-E57C1F62310C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ADEDC55-1B86-47CC-0410-ECBB01E3844D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1F07B3-3366-8097-A10A-F9431C1634E8}"/>
              </a:ext>
            </a:extLst>
          </p:cNvPr>
          <p:cNvSpPr/>
          <p:nvPr/>
        </p:nvSpPr>
        <p:spPr>
          <a:xfrm>
            <a:off x="3554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A42120A-B16D-3DEA-4D21-6273E978C7B8}"/>
              </a:ext>
            </a:extLst>
          </p:cNvPr>
          <p:cNvSpPr/>
          <p:nvPr/>
        </p:nvSpPr>
        <p:spPr>
          <a:xfrm>
            <a:off x="7745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517954F-AD63-E3EB-AC65-4998C099EC81}"/>
              </a:ext>
            </a:extLst>
          </p:cNvPr>
          <p:cNvSpPr/>
          <p:nvPr/>
        </p:nvSpPr>
        <p:spPr>
          <a:xfrm>
            <a:off x="1193687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563450D-03E4-3E8B-D33A-BF891713F8B7}"/>
              </a:ext>
            </a:extLst>
          </p:cNvPr>
          <p:cNvSpPr/>
          <p:nvPr/>
        </p:nvSpPr>
        <p:spPr>
          <a:xfrm>
            <a:off x="1612787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650730F-8CF7-2DBC-8D44-F3AA8C023694}"/>
              </a:ext>
            </a:extLst>
          </p:cNvPr>
          <p:cNvSpPr/>
          <p:nvPr/>
        </p:nvSpPr>
        <p:spPr>
          <a:xfrm>
            <a:off x="3554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6671548-BAB4-51E8-8F03-B1E0FBEC1539}"/>
              </a:ext>
            </a:extLst>
          </p:cNvPr>
          <p:cNvSpPr/>
          <p:nvPr/>
        </p:nvSpPr>
        <p:spPr>
          <a:xfrm>
            <a:off x="7745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7253601-2D6D-39F2-5976-7535FE4C91C3}"/>
              </a:ext>
            </a:extLst>
          </p:cNvPr>
          <p:cNvSpPr/>
          <p:nvPr/>
        </p:nvSpPr>
        <p:spPr>
          <a:xfrm>
            <a:off x="1193687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AD0AC15-DBC9-7A77-F510-F34838056FB6}"/>
              </a:ext>
            </a:extLst>
          </p:cNvPr>
          <p:cNvSpPr/>
          <p:nvPr/>
        </p:nvSpPr>
        <p:spPr>
          <a:xfrm>
            <a:off x="1612787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72E88D1-6C2F-02B0-C1B3-E658BA5DE4C2}"/>
              </a:ext>
            </a:extLst>
          </p:cNvPr>
          <p:cNvSpPr/>
          <p:nvPr/>
        </p:nvSpPr>
        <p:spPr>
          <a:xfrm>
            <a:off x="3554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F43CC3-FBF8-CECE-FDFC-F2D3A8B6F54A}"/>
              </a:ext>
            </a:extLst>
          </p:cNvPr>
          <p:cNvSpPr/>
          <p:nvPr/>
        </p:nvSpPr>
        <p:spPr>
          <a:xfrm>
            <a:off x="7745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6624CB2-042A-1013-BD63-DC2B27267557}"/>
              </a:ext>
            </a:extLst>
          </p:cNvPr>
          <p:cNvSpPr/>
          <p:nvPr/>
        </p:nvSpPr>
        <p:spPr>
          <a:xfrm>
            <a:off x="1193687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2926BF0-C205-F245-C57C-09AED3CAA0DA}"/>
              </a:ext>
            </a:extLst>
          </p:cNvPr>
          <p:cNvSpPr/>
          <p:nvPr/>
        </p:nvSpPr>
        <p:spPr>
          <a:xfrm>
            <a:off x="1612787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271893D-91AA-EAF4-0377-E88E61DC61B5}"/>
              </a:ext>
            </a:extLst>
          </p:cNvPr>
          <p:cNvSpPr/>
          <p:nvPr/>
        </p:nvSpPr>
        <p:spPr>
          <a:xfrm>
            <a:off x="3554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60FBBD0-B2E0-6ED6-1C2F-C54F5C4F33AD}"/>
              </a:ext>
            </a:extLst>
          </p:cNvPr>
          <p:cNvSpPr/>
          <p:nvPr/>
        </p:nvSpPr>
        <p:spPr>
          <a:xfrm>
            <a:off x="7745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E7C8F2C-6A8C-7AD8-064A-20ED05BE7FB0}"/>
              </a:ext>
            </a:extLst>
          </p:cNvPr>
          <p:cNvSpPr/>
          <p:nvPr/>
        </p:nvSpPr>
        <p:spPr>
          <a:xfrm>
            <a:off x="1193687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A714F7-A98B-BE17-586E-3E520FBD2C04}"/>
              </a:ext>
            </a:extLst>
          </p:cNvPr>
          <p:cNvSpPr/>
          <p:nvPr/>
        </p:nvSpPr>
        <p:spPr>
          <a:xfrm>
            <a:off x="1612787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F88CAFF-293E-01E1-8CED-987ABF7FEA0D}"/>
              </a:ext>
            </a:extLst>
          </p:cNvPr>
          <p:cNvSpPr/>
          <p:nvPr/>
        </p:nvSpPr>
        <p:spPr>
          <a:xfrm>
            <a:off x="2316049" y="2988882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D032A8D-E054-16FB-E400-74A74A0C8F20}"/>
              </a:ext>
            </a:extLst>
          </p:cNvPr>
          <p:cNvSpPr/>
          <p:nvPr/>
        </p:nvSpPr>
        <p:spPr>
          <a:xfrm>
            <a:off x="2735149" y="2988882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0567463-49FF-CFAD-3E33-BB8E15ECDADA}"/>
              </a:ext>
            </a:extLst>
          </p:cNvPr>
          <p:cNvSpPr/>
          <p:nvPr/>
        </p:nvSpPr>
        <p:spPr>
          <a:xfrm>
            <a:off x="3154249" y="29888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4AFF963-147A-38F7-6720-7ABF2CF4DF80}"/>
              </a:ext>
            </a:extLst>
          </p:cNvPr>
          <p:cNvSpPr/>
          <p:nvPr/>
        </p:nvSpPr>
        <p:spPr>
          <a:xfrm>
            <a:off x="35733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DF9FC2E-DAAF-8E99-51B5-6CA5C2FC109B}"/>
              </a:ext>
            </a:extLst>
          </p:cNvPr>
          <p:cNvSpPr/>
          <p:nvPr/>
        </p:nvSpPr>
        <p:spPr>
          <a:xfrm>
            <a:off x="2316049" y="2570968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E8C8E89-63BE-5533-0607-142D64F480D8}"/>
              </a:ext>
            </a:extLst>
          </p:cNvPr>
          <p:cNvSpPr/>
          <p:nvPr/>
        </p:nvSpPr>
        <p:spPr>
          <a:xfrm>
            <a:off x="2735149" y="2570968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FA586FC-0D3E-9FCE-620E-483342D9CD08}"/>
              </a:ext>
            </a:extLst>
          </p:cNvPr>
          <p:cNvSpPr/>
          <p:nvPr/>
        </p:nvSpPr>
        <p:spPr>
          <a:xfrm>
            <a:off x="3154249" y="257096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541A315-2420-D61D-7D30-B787361B4E02}"/>
              </a:ext>
            </a:extLst>
          </p:cNvPr>
          <p:cNvSpPr/>
          <p:nvPr/>
        </p:nvSpPr>
        <p:spPr>
          <a:xfrm>
            <a:off x="35733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503D84F-5552-2106-0DA8-69939C0B322F}"/>
              </a:ext>
            </a:extLst>
          </p:cNvPr>
          <p:cNvSpPr/>
          <p:nvPr/>
        </p:nvSpPr>
        <p:spPr>
          <a:xfrm>
            <a:off x="2316049" y="2153054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4496C97-025F-3937-EF27-CB19EBA15E16}"/>
              </a:ext>
            </a:extLst>
          </p:cNvPr>
          <p:cNvSpPr/>
          <p:nvPr/>
        </p:nvSpPr>
        <p:spPr>
          <a:xfrm>
            <a:off x="2735149" y="2153054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6522A7A-5D7A-FBDE-76DE-47C2CF4D1547}"/>
              </a:ext>
            </a:extLst>
          </p:cNvPr>
          <p:cNvSpPr/>
          <p:nvPr/>
        </p:nvSpPr>
        <p:spPr>
          <a:xfrm>
            <a:off x="3154249" y="215305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BFF1381-F8DD-ED73-480D-7834C8FDC8AA}"/>
              </a:ext>
            </a:extLst>
          </p:cNvPr>
          <p:cNvSpPr/>
          <p:nvPr/>
        </p:nvSpPr>
        <p:spPr>
          <a:xfrm>
            <a:off x="35733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A25C7F4-B437-C0A2-911B-193CCC1235E2}"/>
              </a:ext>
            </a:extLst>
          </p:cNvPr>
          <p:cNvSpPr/>
          <p:nvPr/>
        </p:nvSpPr>
        <p:spPr>
          <a:xfrm>
            <a:off x="2316049" y="1735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76A1E58-E02C-5D43-CD24-1BCEAB48272F}"/>
              </a:ext>
            </a:extLst>
          </p:cNvPr>
          <p:cNvSpPr/>
          <p:nvPr/>
        </p:nvSpPr>
        <p:spPr>
          <a:xfrm>
            <a:off x="2735149" y="173514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AC3B457-AC25-E145-E4E3-6AAFC9157633}"/>
              </a:ext>
            </a:extLst>
          </p:cNvPr>
          <p:cNvSpPr/>
          <p:nvPr/>
        </p:nvSpPr>
        <p:spPr>
          <a:xfrm>
            <a:off x="3154249" y="173513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E7BE87D-389B-1B87-AA15-C7C8E1CA3BBF}"/>
              </a:ext>
            </a:extLst>
          </p:cNvPr>
          <p:cNvSpPr/>
          <p:nvPr/>
        </p:nvSpPr>
        <p:spPr>
          <a:xfrm>
            <a:off x="35733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2D314CD-4016-46D4-73B6-72FFB83E8F83}"/>
              </a:ext>
            </a:extLst>
          </p:cNvPr>
          <p:cNvSpPr/>
          <p:nvPr/>
        </p:nvSpPr>
        <p:spPr>
          <a:xfrm>
            <a:off x="39924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8FCAFE7-4D7F-F37D-A14F-CADF279CE623}"/>
              </a:ext>
            </a:extLst>
          </p:cNvPr>
          <p:cNvSpPr/>
          <p:nvPr/>
        </p:nvSpPr>
        <p:spPr>
          <a:xfrm>
            <a:off x="44115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017F00E-5107-D4B7-DA1B-BDC5CBEB04B3}"/>
              </a:ext>
            </a:extLst>
          </p:cNvPr>
          <p:cNvSpPr/>
          <p:nvPr/>
        </p:nvSpPr>
        <p:spPr>
          <a:xfrm>
            <a:off x="4830649" y="298887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F8F23A4E-3912-AC27-DA59-749185B7BAF7}"/>
              </a:ext>
            </a:extLst>
          </p:cNvPr>
          <p:cNvSpPr/>
          <p:nvPr/>
        </p:nvSpPr>
        <p:spPr>
          <a:xfrm>
            <a:off x="5249749" y="298887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C56149-963A-D191-9085-3FCB811D4642}"/>
              </a:ext>
            </a:extLst>
          </p:cNvPr>
          <p:cNvSpPr/>
          <p:nvPr/>
        </p:nvSpPr>
        <p:spPr>
          <a:xfrm>
            <a:off x="39924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429955F-C5F9-1A3D-A4FC-F30C3CEE1A00}"/>
              </a:ext>
            </a:extLst>
          </p:cNvPr>
          <p:cNvSpPr/>
          <p:nvPr/>
        </p:nvSpPr>
        <p:spPr>
          <a:xfrm>
            <a:off x="44115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1100BA49-603A-9E9E-F7F9-1720C2C41165}"/>
              </a:ext>
            </a:extLst>
          </p:cNvPr>
          <p:cNvSpPr/>
          <p:nvPr/>
        </p:nvSpPr>
        <p:spPr>
          <a:xfrm>
            <a:off x="4830649" y="2570965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445F3A5-2B56-74F8-16DC-C9B6B87D8F9C}"/>
              </a:ext>
            </a:extLst>
          </p:cNvPr>
          <p:cNvSpPr/>
          <p:nvPr/>
        </p:nvSpPr>
        <p:spPr>
          <a:xfrm>
            <a:off x="5249749" y="25709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06D25C6A-3F9C-977E-02D3-E908B0ED3B3D}"/>
              </a:ext>
            </a:extLst>
          </p:cNvPr>
          <p:cNvSpPr/>
          <p:nvPr/>
        </p:nvSpPr>
        <p:spPr>
          <a:xfrm>
            <a:off x="39924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54123C4-3B45-DA43-4A1E-674DA49F6CC7}"/>
              </a:ext>
            </a:extLst>
          </p:cNvPr>
          <p:cNvSpPr/>
          <p:nvPr/>
        </p:nvSpPr>
        <p:spPr>
          <a:xfrm>
            <a:off x="44115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1FD0AE7-5BFC-76EB-A6EF-0D9ABA3EE796}"/>
              </a:ext>
            </a:extLst>
          </p:cNvPr>
          <p:cNvSpPr/>
          <p:nvPr/>
        </p:nvSpPr>
        <p:spPr>
          <a:xfrm>
            <a:off x="4830649" y="215305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555535F-E39A-23AC-DECE-8A8B238C21CD}"/>
              </a:ext>
            </a:extLst>
          </p:cNvPr>
          <p:cNvSpPr/>
          <p:nvPr/>
        </p:nvSpPr>
        <p:spPr>
          <a:xfrm>
            <a:off x="5249749" y="215305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74563A5-99D6-A85E-CFFE-06852EF0298A}"/>
              </a:ext>
            </a:extLst>
          </p:cNvPr>
          <p:cNvSpPr/>
          <p:nvPr/>
        </p:nvSpPr>
        <p:spPr>
          <a:xfrm>
            <a:off x="39924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8207984-5954-A23B-BD5D-1008F83E5498}"/>
              </a:ext>
            </a:extLst>
          </p:cNvPr>
          <p:cNvSpPr/>
          <p:nvPr/>
        </p:nvSpPr>
        <p:spPr>
          <a:xfrm>
            <a:off x="44115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FF9BD59-3D3C-2143-5A29-BB4E6CDAB2AA}"/>
              </a:ext>
            </a:extLst>
          </p:cNvPr>
          <p:cNvSpPr/>
          <p:nvPr/>
        </p:nvSpPr>
        <p:spPr>
          <a:xfrm>
            <a:off x="4830649" y="173513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1F12380-BE76-3F39-39A2-F57254C93B36}"/>
              </a:ext>
            </a:extLst>
          </p:cNvPr>
          <p:cNvSpPr/>
          <p:nvPr/>
        </p:nvSpPr>
        <p:spPr>
          <a:xfrm>
            <a:off x="5249749" y="173513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5A61F04-3656-1621-50FB-14F97EB7F89B}"/>
              </a:ext>
            </a:extLst>
          </p:cNvPr>
          <p:cNvSpPr/>
          <p:nvPr/>
        </p:nvSpPr>
        <p:spPr>
          <a:xfrm>
            <a:off x="23160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288408-EA8A-D5D3-1A6D-6FFD83A15BFE}"/>
              </a:ext>
            </a:extLst>
          </p:cNvPr>
          <p:cNvSpPr/>
          <p:nvPr/>
        </p:nvSpPr>
        <p:spPr>
          <a:xfrm>
            <a:off x="2735149" y="36921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7ECE3EDC-0E3C-AAB9-E438-B2C30E8CF986}"/>
              </a:ext>
            </a:extLst>
          </p:cNvPr>
          <p:cNvSpPr/>
          <p:nvPr/>
        </p:nvSpPr>
        <p:spPr>
          <a:xfrm>
            <a:off x="3154249" y="36921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6F659E-B538-3DA6-5102-2A86DBE32BA1}"/>
              </a:ext>
            </a:extLst>
          </p:cNvPr>
          <p:cNvSpPr/>
          <p:nvPr/>
        </p:nvSpPr>
        <p:spPr>
          <a:xfrm>
            <a:off x="35733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A56BBD6-ED3D-2EFA-48AB-818C0A6EC75A}"/>
              </a:ext>
            </a:extLst>
          </p:cNvPr>
          <p:cNvSpPr/>
          <p:nvPr/>
        </p:nvSpPr>
        <p:spPr>
          <a:xfrm>
            <a:off x="39924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3EFA9D-83C1-B4C7-7BE7-F4B7CED19F6A}"/>
              </a:ext>
            </a:extLst>
          </p:cNvPr>
          <p:cNvSpPr/>
          <p:nvPr/>
        </p:nvSpPr>
        <p:spPr>
          <a:xfrm>
            <a:off x="44115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63012C8-EF03-A4E5-1C41-A444498158D1}"/>
              </a:ext>
            </a:extLst>
          </p:cNvPr>
          <p:cNvSpPr/>
          <p:nvPr/>
        </p:nvSpPr>
        <p:spPr>
          <a:xfrm>
            <a:off x="4830649" y="36921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DE0F856-2C34-E395-289D-2CD309A16ECB}"/>
              </a:ext>
            </a:extLst>
          </p:cNvPr>
          <p:cNvSpPr/>
          <p:nvPr/>
        </p:nvSpPr>
        <p:spPr>
          <a:xfrm>
            <a:off x="5249749" y="36921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B088D2C-3AA8-D041-22D1-565A1D124588}"/>
              </a:ext>
            </a:extLst>
          </p:cNvPr>
          <p:cNvSpPr/>
          <p:nvPr/>
        </p:nvSpPr>
        <p:spPr>
          <a:xfrm>
            <a:off x="23160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A8494D1-B9FD-9F38-28DC-14930C401243}"/>
              </a:ext>
            </a:extLst>
          </p:cNvPr>
          <p:cNvSpPr/>
          <p:nvPr/>
        </p:nvSpPr>
        <p:spPr>
          <a:xfrm>
            <a:off x="2735149" y="410362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C204D346-FE6A-46B3-E01E-965DBB5C07C0}"/>
              </a:ext>
            </a:extLst>
          </p:cNvPr>
          <p:cNvSpPr/>
          <p:nvPr/>
        </p:nvSpPr>
        <p:spPr>
          <a:xfrm>
            <a:off x="3154249" y="410362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513A28D-E43D-1AB7-B79C-4E82DE62AA76}"/>
              </a:ext>
            </a:extLst>
          </p:cNvPr>
          <p:cNvSpPr/>
          <p:nvPr/>
        </p:nvSpPr>
        <p:spPr>
          <a:xfrm>
            <a:off x="35733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137433E-A997-BA1B-4F4E-716867E3A339}"/>
              </a:ext>
            </a:extLst>
          </p:cNvPr>
          <p:cNvSpPr/>
          <p:nvPr/>
        </p:nvSpPr>
        <p:spPr>
          <a:xfrm>
            <a:off x="39924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72B6D1E-CC7F-C3C3-A1DC-60E930701FA8}"/>
              </a:ext>
            </a:extLst>
          </p:cNvPr>
          <p:cNvSpPr/>
          <p:nvPr/>
        </p:nvSpPr>
        <p:spPr>
          <a:xfrm>
            <a:off x="44115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38696CDD-46EF-168D-FFB2-44F68D1ABA03}"/>
              </a:ext>
            </a:extLst>
          </p:cNvPr>
          <p:cNvSpPr/>
          <p:nvPr/>
        </p:nvSpPr>
        <p:spPr>
          <a:xfrm>
            <a:off x="4830649" y="410362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9228FFF-3441-939E-148C-D764DE3768B7}"/>
              </a:ext>
            </a:extLst>
          </p:cNvPr>
          <p:cNvSpPr/>
          <p:nvPr/>
        </p:nvSpPr>
        <p:spPr>
          <a:xfrm>
            <a:off x="5249749" y="410362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9AF6BB7-BD65-7221-9AEA-BB17958322AF}"/>
              </a:ext>
            </a:extLst>
          </p:cNvPr>
          <p:cNvSpPr/>
          <p:nvPr/>
        </p:nvSpPr>
        <p:spPr>
          <a:xfrm>
            <a:off x="23160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776A5A1-E8A5-8ADC-6EE6-967D7B8CE8EE}"/>
              </a:ext>
            </a:extLst>
          </p:cNvPr>
          <p:cNvSpPr/>
          <p:nvPr/>
        </p:nvSpPr>
        <p:spPr>
          <a:xfrm>
            <a:off x="27351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B60213B-612B-A350-A640-9AF2A583F363}"/>
              </a:ext>
            </a:extLst>
          </p:cNvPr>
          <p:cNvSpPr/>
          <p:nvPr/>
        </p:nvSpPr>
        <p:spPr>
          <a:xfrm>
            <a:off x="3154249" y="451510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CFE2E99-9409-B4E0-868E-B7E03DABF7E5}"/>
              </a:ext>
            </a:extLst>
          </p:cNvPr>
          <p:cNvSpPr/>
          <p:nvPr/>
        </p:nvSpPr>
        <p:spPr>
          <a:xfrm>
            <a:off x="35733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7E38A522-DEA7-0250-ABC1-8A06EA64E75A}"/>
              </a:ext>
            </a:extLst>
          </p:cNvPr>
          <p:cNvSpPr/>
          <p:nvPr/>
        </p:nvSpPr>
        <p:spPr>
          <a:xfrm>
            <a:off x="39924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E182D25-F929-AB30-755A-2566E3CA4B5E}"/>
              </a:ext>
            </a:extLst>
          </p:cNvPr>
          <p:cNvSpPr/>
          <p:nvPr/>
        </p:nvSpPr>
        <p:spPr>
          <a:xfrm>
            <a:off x="44115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B64ABC6E-2140-A41F-2F96-5AF229876B63}"/>
              </a:ext>
            </a:extLst>
          </p:cNvPr>
          <p:cNvSpPr/>
          <p:nvPr/>
        </p:nvSpPr>
        <p:spPr>
          <a:xfrm>
            <a:off x="4830649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B94BA93-EABC-AADB-3AED-0A7E689DF8FB}"/>
              </a:ext>
            </a:extLst>
          </p:cNvPr>
          <p:cNvSpPr/>
          <p:nvPr/>
        </p:nvSpPr>
        <p:spPr>
          <a:xfrm>
            <a:off x="5249749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5BB4EF41-8F91-2E80-6391-DC6784E47F74}"/>
              </a:ext>
            </a:extLst>
          </p:cNvPr>
          <p:cNvSpPr/>
          <p:nvPr/>
        </p:nvSpPr>
        <p:spPr>
          <a:xfrm>
            <a:off x="23160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8C817540-7B7B-AD4D-B61C-1C3CC52FD070}"/>
              </a:ext>
            </a:extLst>
          </p:cNvPr>
          <p:cNvSpPr/>
          <p:nvPr/>
        </p:nvSpPr>
        <p:spPr>
          <a:xfrm>
            <a:off x="27351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6BB3334B-36B0-A00B-7104-4BFFB73E8E84}"/>
              </a:ext>
            </a:extLst>
          </p:cNvPr>
          <p:cNvSpPr/>
          <p:nvPr/>
        </p:nvSpPr>
        <p:spPr>
          <a:xfrm>
            <a:off x="3154249" y="492658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8537093-B3BA-9724-F3B6-81D8F3B3CC0F}"/>
              </a:ext>
            </a:extLst>
          </p:cNvPr>
          <p:cNvSpPr/>
          <p:nvPr/>
        </p:nvSpPr>
        <p:spPr>
          <a:xfrm>
            <a:off x="35733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29C3486D-FF4F-C1CA-74F1-368E21E272E1}"/>
              </a:ext>
            </a:extLst>
          </p:cNvPr>
          <p:cNvSpPr/>
          <p:nvPr/>
        </p:nvSpPr>
        <p:spPr>
          <a:xfrm>
            <a:off x="39924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DC378F26-AA30-B94A-5329-0E3806C814E5}"/>
              </a:ext>
            </a:extLst>
          </p:cNvPr>
          <p:cNvSpPr/>
          <p:nvPr/>
        </p:nvSpPr>
        <p:spPr>
          <a:xfrm>
            <a:off x="44115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D6A199B-48E1-C1EB-837E-DC886884251B}"/>
              </a:ext>
            </a:extLst>
          </p:cNvPr>
          <p:cNvSpPr/>
          <p:nvPr/>
        </p:nvSpPr>
        <p:spPr>
          <a:xfrm>
            <a:off x="4830649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78E96A9-C689-24DA-F154-63748AF8D677}"/>
              </a:ext>
            </a:extLst>
          </p:cNvPr>
          <p:cNvSpPr/>
          <p:nvPr/>
        </p:nvSpPr>
        <p:spPr>
          <a:xfrm>
            <a:off x="5249749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918497A8-9B67-238D-AF08-5456E6D74433}"/>
              </a:ext>
            </a:extLst>
          </p:cNvPr>
          <p:cNvSpPr/>
          <p:nvPr/>
        </p:nvSpPr>
        <p:spPr>
          <a:xfrm>
            <a:off x="23160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9FADC4A9-ED0F-5C07-C8EB-33FA2EC773F3}"/>
              </a:ext>
            </a:extLst>
          </p:cNvPr>
          <p:cNvSpPr/>
          <p:nvPr/>
        </p:nvSpPr>
        <p:spPr>
          <a:xfrm>
            <a:off x="27351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8177AF4-8F7A-D724-8E0E-2AF46855EA6D}"/>
              </a:ext>
            </a:extLst>
          </p:cNvPr>
          <p:cNvSpPr/>
          <p:nvPr/>
        </p:nvSpPr>
        <p:spPr>
          <a:xfrm>
            <a:off x="3154249" y="533806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8C18C96-075C-251F-AE17-42A3E461399C}"/>
              </a:ext>
            </a:extLst>
          </p:cNvPr>
          <p:cNvSpPr/>
          <p:nvPr/>
        </p:nvSpPr>
        <p:spPr>
          <a:xfrm>
            <a:off x="35733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0863EE6-4447-33A8-616F-15798F1A1028}"/>
              </a:ext>
            </a:extLst>
          </p:cNvPr>
          <p:cNvSpPr/>
          <p:nvPr/>
        </p:nvSpPr>
        <p:spPr>
          <a:xfrm>
            <a:off x="39924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42F586D-B343-8511-9165-950CB00AED67}"/>
              </a:ext>
            </a:extLst>
          </p:cNvPr>
          <p:cNvSpPr/>
          <p:nvPr/>
        </p:nvSpPr>
        <p:spPr>
          <a:xfrm>
            <a:off x="44115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3A77350D-E77D-5698-C92A-F55EA606EF60}"/>
              </a:ext>
            </a:extLst>
          </p:cNvPr>
          <p:cNvSpPr/>
          <p:nvPr/>
        </p:nvSpPr>
        <p:spPr>
          <a:xfrm>
            <a:off x="4830649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783296E-6B1A-909B-7982-CC8A4AED55E7}"/>
              </a:ext>
            </a:extLst>
          </p:cNvPr>
          <p:cNvSpPr/>
          <p:nvPr/>
        </p:nvSpPr>
        <p:spPr>
          <a:xfrm>
            <a:off x="5249749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B6232C0F-EC2A-C120-5B6A-064F044792FF}"/>
              </a:ext>
            </a:extLst>
          </p:cNvPr>
          <p:cNvSpPr/>
          <p:nvPr/>
        </p:nvSpPr>
        <p:spPr>
          <a:xfrm>
            <a:off x="23160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5D1486F2-E4DD-23ED-9A8E-5C538E86F638}"/>
              </a:ext>
            </a:extLst>
          </p:cNvPr>
          <p:cNvSpPr/>
          <p:nvPr/>
        </p:nvSpPr>
        <p:spPr>
          <a:xfrm>
            <a:off x="27351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8A800484-7DC8-859C-2CA6-A9E2166A0E9F}"/>
              </a:ext>
            </a:extLst>
          </p:cNvPr>
          <p:cNvSpPr/>
          <p:nvPr/>
        </p:nvSpPr>
        <p:spPr>
          <a:xfrm>
            <a:off x="3154249" y="57495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8914CBF2-9A32-FFF2-37B0-2DDB16F73D9B}"/>
              </a:ext>
            </a:extLst>
          </p:cNvPr>
          <p:cNvSpPr/>
          <p:nvPr/>
        </p:nvSpPr>
        <p:spPr>
          <a:xfrm>
            <a:off x="35733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9282277A-820B-A91D-4BD9-E0891AFD3604}"/>
              </a:ext>
            </a:extLst>
          </p:cNvPr>
          <p:cNvSpPr/>
          <p:nvPr/>
        </p:nvSpPr>
        <p:spPr>
          <a:xfrm>
            <a:off x="39924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210C4A7-5832-4EBC-1F79-340950BAABE0}"/>
              </a:ext>
            </a:extLst>
          </p:cNvPr>
          <p:cNvSpPr/>
          <p:nvPr/>
        </p:nvSpPr>
        <p:spPr>
          <a:xfrm>
            <a:off x="44115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9389424-F558-2948-649F-9341EC64DFF3}"/>
              </a:ext>
            </a:extLst>
          </p:cNvPr>
          <p:cNvSpPr/>
          <p:nvPr/>
        </p:nvSpPr>
        <p:spPr>
          <a:xfrm>
            <a:off x="4830649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4DC337A6-D945-7D15-E92A-12C2F748FDCD}"/>
              </a:ext>
            </a:extLst>
          </p:cNvPr>
          <p:cNvSpPr/>
          <p:nvPr/>
        </p:nvSpPr>
        <p:spPr>
          <a:xfrm>
            <a:off x="5249749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48E04C62-2A33-A8A0-47A7-E357B48DB2BA}"/>
              </a:ext>
            </a:extLst>
          </p:cNvPr>
          <p:cNvSpPr/>
          <p:nvPr/>
        </p:nvSpPr>
        <p:spPr>
          <a:xfrm>
            <a:off x="72530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31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5342107-E89B-D587-D168-DE657B4DE504}"/>
              </a:ext>
            </a:extLst>
          </p:cNvPr>
          <p:cNvSpPr/>
          <p:nvPr/>
        </p:nvSpPr>
        <p:spPr>
          <a:xfrm>
            <a:off x="76721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34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F8D08702-C981-1EAC-ACCC-136598A330B8}"/>
              </a:ext>
            </a:extLst>
          </p:cNvPr>
          <p:cNvSpPr/>
          <p:nvPr/>
        </p:nvSpPr>
        <p:spPr>
          <a:xfrm>
            <a:off x="72530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111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75C6B2C9-72A8-632F-8E27-F4986C35B2DB}"/>
              </a:ext>
            </a:extLst>
          </p:cNvPr>
          <p:cNvSpPr/>
          <p:nvPr/>
        </p:nvSpPr>
        <p:spPr>
          <a:xfrm>
            <a:off x="76721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4F8A09-FC2F-3302-41EA-B951A6532318}"/>
              </a:ext>
            </a:extLst>
          </p:cNvPr>
          <p:cNvSpPr/>
          <p:nvPr/>
        </p:nvSpPr>
        <p:spPr>
          <a:xfrm>
            <a:off x="72530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130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AF12BD-6AAD-6F08-4699-4CDAC0FFE1DD}"/>
              </a:ext>
            </a:extLst>
          </p:cNvPr>
          <p:cNvSpPr/>
          <p:nvPr/>
        </p:nvSpPr>
        <p:spPr>
          <a:xfrm>
            <a:off x="7672106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140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0A8642-A261-FC70-AF01-F3B9C06E46CE}"/>
              </a:ext>
            </a:extLst>
          </p:cNvPr>
          <p:cNvSpPr/>
          <p:nvPr/>
        </p:nvSpPr>
        <p:spPr>
          <a:xfrm>
            <a:off x="72530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322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4F9A7C-6D0C-1BB4-1578-0509DEB06917}"/>
              </a:ext>
            </a:extLst>
          </p:cNvPr>
          <p:cNvSpPr/>
          <p:nvPr/>
        </p:nvSpPr>
        <p:spPr>
          <a:xfrm>
            <a:off x="7672106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348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4E798E-B3B6-6DDE-0BE3-5F47A4286226}"/>
              </a:ext>
            </a:extLst>
          </p:cNvPr>
          <p:cNvSpPr/>
          <p:nvPr/>
        </p:nvSpPr>
        <p:spPr>
          <a:xfrm>
            <a:off x="6238991" y="3697312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AC25C3-B75C-B6D7-6666-8CFBF150D8DF}"/>
              </a:ext>
            </a:extLst>
          </p:cNvPr>
          <p:cNvSpPr/>
          <p:nvPr/>
        </p:nvSpPr>
        <p:spPr>
          <a:xfrm>
            <a:off x="6658091" y="3697311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9B8AF-5DBF-41B0-5962-9B9F30D51A9B}"/>
              </a:ext>
            </a:extLst>
          </p:cNvPr>
          <p:cNvSpPr/>
          <p:nvPr/>
        </p:nvSpPr>
        <p:spPr>
          <a:xfrm>
            <a:off x="6238991" y="4108792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78E155-7E40-F49F-12AC-02B77AEF0DC1}"/>
              </a:ext>
            </a:extLst>
          </p:cNvPr>
          <p:cNvSpPr/>
          <p:nvPr/>
        </p:nvSpPr>
        <p:spPr>
          <a:xfrm>
            <a:off x="6658091" y="4108791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F036FD-8306-E4AC-5D95-1CB0A36E3C9F}"/>
              </a:ext>
            </a:extLst>
          </p:cNvPr>
          <p:cNvSpPr/>
          <p:nvPr/>
        </p:nvSpPr>
        <p:spPr>
          <a:xfrm>
            <a:off x="7253006" y="2988878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074744-F655-3002-BA86-C51766E1D777}"/>
              </a:ext>
            </a:extLst>
          </p:cNvPr>
          <p:cNvSpPr/>
          <p:nvPr/>
        </p:nvSpPr>
        <p:spPr>
          <a:xfrm>
            <a:off x="7672106" y="2988878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1540A4-26FC-BF40-DDF8-E2566A011508}"/>
              </a:ext>
            </a:extLst>
          </p:cNvPr>
          <p:cNvSpPr/>
          <p:nvPr/>
        </p:nvSpPr>
        <p:spPr>
          <a:xfrm>
            <a:off x="7253006" y="2570964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17DE2E-44B5-4BA8-76C5-3D6065338C69}"/>
              </a:ext>
            </a:extLst>
          </p:cNvPr>
          <p:cNvSpPr/>
          <p:nvPr/>
        </p:nvSpPr>
        <p:spPr>
          <a:xfrm>
            <a:off x="7672106" y="2570964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602F57-EFDF-81AF-E65F-6EDA3987DB8D}"/>
              </a:ext>
            </a:extLst>
          </p:cNvPr>
          <p:cNvGrpSpPr/>
          <p:nvPr/>
        </p:nvGrpSpPr>
        <p:grpSpPr>
          <a:xfrm>
            <a:off x="8183449" y="4515100"/>
            <a:ext cx="3653064" cy="910460"/>
            <a:chOff x="8183449" y="4515100"/>
            <a:chExt cx="3653064" cy="91046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B575A39-5074-0195-26E6-C548F8E66247}"/>
                </a:ext>
              </a:extLst>
            </p:cNvPr>
            <p:cNvSpPr txBox="1"/>
            <p:nvPr/>
          </p:nvSpPr>
          <p:spPr>
            <a:xfrm>
              <a:off x="8270353" y="4779229"/>
              <a:ext cx="35661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Результирующий тайл (приватная память)</a:t>
              </a:r>
              <a:endParaRPr lang="en-US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BA05B34-F474-198B-AB3C-50B440972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3449" y="4515100"/>
              <a:ext cx="284162" cy="1758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32E45A-08CA-D98E-7DB3-529334CBD09F}"/>
              </a:ext>
            </a:extLst>
          </p:cNvPr>
          <p:cNvGrpSpPr/>
          <p:nvPr/>
        </p:nvGrpSpPr>
        <p:grpSpPr>
          <a:xfrm>
            <a:off x="8267022" y="2620436"/>
            <a:ext cx="2862532" cy="646331"/>
            <a:chOff x="7827486" y="4779229"/>
            <a:chExt cx="2862532" cy="64633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53FEA38-C04E-BFE3-CF99-8A561522B1F4}"/>
                </a:ext>
              </a:extLst>
            </p:cNvPr>
            <p:cNvSpPr txBox="1"/>
            <p:nvPr/>
          </p:nvSpPr>
          <p:spPr>
            <a:xfrm>
              <a:off x="8270353" y="4779229"/>
              <a:ext cx="24196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Тайл второй матрицы (локальная память)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73AD62-0C21-2D11-2307-97E64465F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27486" y="4905572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DD7796-6FE7-1CCC-1D0B-232566BAA7AF}"/>
              </a:ext>
            </a:extLst>
          </p:cNvPr>
          <p:cNvGrpSpPr/>
          <p:nvPr/>
        </p:nvGrpSpPr>
        <p:grpSpPr>
          <a:xfrm>
            <a:off x="6096000" y="4690915"/>
            <a:ext cx="2419665" cy="1645107"/>
            <a:chOff x="7898923" y="3780453"/>
            <a:chExt cx="2419665" cy="164510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8CB364-B5E3-19A2-094B-4F3D2AFE4103}"/>
                </a:ext>
              </a:extLst>
            </p:cNvPr>
            <p:cNvSpPr txBox="1"/>
            <p:nvPr/>
          </p:nvSpPr>
          <p:spPr>
            <a:xfrm>
              <a:off x="7898923" y="4779229"/>
              <a:ext cx="24196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Тайл первой матрицы (локальная память)</a:t>
              </a:r>
              <a:endParaRPr lang="en-US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E1B5B66-204C-04D9-036C-E310EE5374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6586" y="3780453"/>
              <a:ext cx="0" cy="822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5251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0" grpId="0" animBg="1"/>
      <p:bldP spid="192" grpId="0" animBg="1"/>
      <p:bldP spid="193" grpId="0" animBg="1"/>
      <p:bldP spid="19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B248-8D7D-2F44-CACD-11B1ABA5C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D024-F1CE-B620-377F-6D245B2DA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Копируем значения из </a:t>
            </a:r>
            <a:r>
              <a:rPr lang="en-US" dirty="0"/>
              <a:t>local memory </a:t>
            </a:r>
            <a:r>
              <a:rPr lang="ru-RU" dirty="0"/>
              <a:t>в </a:t>
            </a:r>
            <a:r>
              <a:rPr lang="en-US" dirty="0"/>
              <a:t>global memory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8B3E1A-4966-1C85-C04F-A13EED92D744}"/>
              </a:ext>
            </a:extLst>
          </p:cNvPr>
          <p:cNvSpPr/>
          <p:nvPr/>
        </p:nvSpPr>
        <p:spPr>
          <a:xfrm>
            <a:off x="355487" y="3692142"/>
            <a:ext cx="351631" cy="35163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AC3ECF-3085-F72E-271D-EA8748BF184D}"/>
              </a:ext>
            </a:extLst>
          </p:cNvPr>
          <p:cNvSpPr/>
          <p:nvPr/>
        </p:nvSpPr>
        <p:spPr>
          <a:xfrm>
            <a:off x="774587" y="3692142"/>
            <a:ext cx="351631" cy="3516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90D075E-3619-3CFB-6D3A-6637D66868A7}"/>
              </a:ext>
            </a:extLst>
          </p:cNvPr>
          <p:cNvSpPr/>
          <p:nvPr/>
        </p:nvSpPr>
        <p:spPr>
          <a:xfrm>
            <a:off x="1193687" y="3692141"/>
            <a:ext cx="351631" cy="351631"/>
          </a:xfrm>
          <a:prstGeom prst="rect">
            <a:avLst/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FCDBFDB-99C2-14A9-AD4F-10F9A08E7370}"/>
              </a:ext>
            </a:extLst>
          </p:cNvPr>
          <p:cNvSpPr/>
          <p:nvPr/>
        </p:nvSpPr>
        <p:spPr>
          <a:xfrm>
            <a:off x="1612787" y="3692140"/>
            <a:ext cx="351631" cy="35163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BE032DB-B9F3-DA5A-14E3-31AB55232772}"/>
              </a:ext>
            </a:extLst>
          </p:cNvPr>
          <p:cNvSpPr/>
          <p:nvPr/>
        </p:nvSpPr>
        <p:spPr>
          <a:xfrm>
            <a:off x="355487" y="4103622"/>
            <a:ext cx="351631" cy="3516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5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E24541B-05AF-F5CE-7B85-7BB473087D41}"/>
              </a:ext>
            </a:extLst>
          </p:cNvPr>
          <p:cNvSpPr/>
          <p:nvPr/>
        </p:nvSpPr>
        <p:spPr>
          <a:xfrm>
            <a:off x="774587" y="4103622"/>
            <a:ext cx="351631" cy="3516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55C92AE-03B6-F395-4913-E4798170B8DE}"/>
              </a:ext>
            </a:extLst>
          </p:cNvPr>
          <p:cNvSpPr/>
          <p:nvPr/>
        </p:nvSpPr>
        <p:spPr>
          <a:xfrm>
            <a:off x="1193687" y="4103621"/>
            <a:ext cx="351631" cy="3516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7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FB11805-F1CB-DF3F-DDBE-EA839DF904D0}"/>
              </a:ext>
            </a:extLst>
          </p:cNvPr>
          <p:cNvSpPr/>
          <p:nvPr/>
        </p:nvSpPr>
        <p:spPr>
          <a:xfrm>
            <a:off x="1612787" y="4103620"/>
            <a:ext cx="351631" cy="3516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8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36A6283-62F5-110A-371E-70C751D25C77}"/>
              </a:ext>
            </a:extLst>
          </p:cNvPr>
          <p:cNvSpPr/>
          <p:nvPr/>
        </p:nvSpPr>
        <p:spPr>
          <a:xfrm>
            <a:off x="3554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1E5CD36-714D-34BC-7676-B8D3F0CF1A67}"/>
              </a:ext>
            </a:extLst>
          </p:cNvPr>
          <p:cNvSpPr/>
          <p:nvPr/>
        </p:nvSpPr>
        <p:spPr>
          <a:xfrm>
            <a:off x="774587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B6F0E68-898B-9E67-7BA4-B86C5EFEA469}"/>
              </a:ext>
            </a:extLst>
          </p:cNvPr>
          <p:cNvSpPr/>
          <p:nvPr/>
        </p:nvSpPr>
        <p:spPr>
          <a:xfrm>
            <a:off x="1193687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EFBA3BD-7236-F3AF-38C6-D359CFC5DCBC}"/>
              </a:ext>
            </a:extLst>
          </p:cNvPr>
          <p:cNvSpPr/>
          <p:nvPr/>
        </p:nvSpPr>
        <p:spPr>
          <a:xfrm>
            <a:off x="1612787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224CEAC-40B9-B4D6-AEDE-8164590711B3}"/>
              </a:ext>
            </a:extLst>
          </p:cNvPr>
          <p:cNvSpPr/>
          <p:nvPr/>
        </p:nvSpPr>
        <p:spPr>
          <a:xfrm>
            <a:off x="3554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F4D30F8-15B0-DF3C-CA14-2C62AC984F71}"/>
              </a:ext>
            </a:extLst>
          </p:cNvPr>
          <p:cNvSpPr/>
          <p:nvPr/>
        </p:nvSpPr>
        <p:spPr>
          <a:xfrm>
            <a:off x="774587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45FCB9F-53FD-EF3A-10BE-2CEA146ABB77}"/>
              </a:ext>
            </a:extLst>
          </p:cNvPr>
          <p:cNvSpPr/>
          <p:nvPr/>
        </p:nvSpPr>
        <p:spPr>
          <a:xfrm>
            <a:off x="1193687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9AE778A-995A-1472-1A6D-B4C9C446FF19}"/>
              </a:ext>
            </a:extLst>
          </p:cNvPr>
          <p:cNvSpPr/>
          <p:nvPr/>
        </p:nvSpPr>
        <p:spPr>
          <a:xfrm>
            <a:off x="1612787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1FAF9E7-D21E-5D7C-3122-11EA12F72CE0}"/>
              </a:ext>
            </a:extLst>
          </p:cNvPr>
          <p:cNvSpPr/>
          <p:nvPr/>
        </p:nvSpPr>
        <p:spPr>
          <a:xfrm>
            <a:off x="3554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512390C-1C22-96AC-CE00-8E9BC772A65B}"/>
              </a:ext>
            </a:extLst>
          </p:cNvPr>
          <p:cNvSpPr/>
          <p:nvPr/>
        </p:nvSpPr>
        <p:spPr>
          <a:xfrm>
            <a:off x="774587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C878810-7811-B155-B88B-2A500CA43E2B}"/>
              </a:ext>
            </a:extLst>
          </p:cNvPr>
          <p:cNvSpPr/>
          <p:nvPr/>
        </p:nvSpPr>
        <p:spPr>
          <a:xfrm>
            <a:off x="1193687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D2C8B0D-B055-2E93-026C-E2F146BD2343}"/>
              </a:ext>
            </a:extLst>
          </p:cNvPr>
          <p:cNvSpPr/>
          <p:nvPr/>
        </p:nvSpPr>
        <p:spPr>
          <a:xfrm>
            <a:off x="1612787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4654D72-8AD7-6176-FD5F-18B06D4854C3}"/>
              </a:ext>
            </a:extLst>
          </p:cNvPr>
          <p:cNvSpPr/>
          <p:nvPr/>
        </p:nvSpPr>
        <p:spPr>
          <a:xfrm>
            <a:off x="3554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2DC4300-261A-C4CE-3BED-C4657B19648F}"/>
              </a:ext>
            </a:extLst>
          </p:cNvPr>
          <p:cNvSpPr/>
          <p:nvPr/>
        </p:nvSpPr>
        <p:spPr>
          <a:xfrm>
            <a:off x="774587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4EDC0D0-F212-A745-38AB-3A0B22582775}"/>
              </a:ext>
            </a:extLst>
          </p:cNvPr>
          <p:cNvSpPr/>
          <p:nvPr/>
        </p:nvSpPr>
        <p:spPr>
          <a:xfrm>
            <a:off x="1193687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255004F-55E3-EF4A-9491-57C0AD80D108}"/>
              </a:ext>
            </a:extLst>
          </p:cNvPr>
          <p:cNvSpPr/>
          <p:nvPr/>
        </p:nvSpPr>
        <p:spPr>
          <a:xfrm>
            <a:off x="1612787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12E4926-15BA-F727-85F6-E1E0DAD75E79}"/>
              </a:ext>
            </a:extLst>
          </p:cNvPr>
          <p:cNvSpPr/>
          <p:nvPr/>
        </p:nvSpPr>
        <p:spPr>
          <a:xfrm>
            <a:off x="2316049" y="2988882"/>
            <a:ext cx="351631" cy="35163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15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63CEF60-0D89-9D9A-FC51-8E845499DE29}"/>
              </a:ext>
            </a:extLst>
          </p:cNvPr>
          <p:cNvSpPr/>
          <p:nvPr/>
        </p:nvSpPr>
        <p:spPr>
          <a:xfrm>
            <a:off x="2735149" y="2988882"/>
            <a:ext cx="351631" cy="351631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16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CD373F5-B94B-1FCE-4E40-1EBAED272AB6}"/>
              </a:ext>
            </a:extLst>
          </p:cNvPr>
          <p:cNvSpPr/>
          <p:nvPr/>
        </p:nvSpPr>
        <p:spPr>
          <a:xfrm>
            <a:off x="3154249" y="29888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8657D70-8466-83A1-1B87-A33E4F24FA4A}"/>
              </a:ext>
            </a:extLst>
          </p:cNvPr>
          <p:cNvSpPr/>
          <p:nvPr/>
        </p:nvSpPr>
        <p:spPr>
          <a:xfrm>
            <a:off x="35733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76C21DB-328F-CB72-1FF5-1035473D068F}"/>
              </a:ext>
            </a:extLst>
          </p:cNvPr>
          <p:cNvSpPr/>
          <p:nvPr/>
        </p:nvSpPr>
        <p:spPr>
          <a:xfrm>
            <a:off x="2316049" y="2570968"/>
            <a:ext cx="351631" cy="3516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13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FBF65F9-045E-F6E2-4BDC-7F9EE403C709}"/>
              </a:ext>
            </a:extLst>
          </p:cNvPr>
          <p:cNvSpPr/>
          <p:nvPr/>
        </p:nvSpPr>
        <p:spPr>
          <a:xfrm>
            <a:off x="2735149" y="2570968"/>
            <a:ext cx="351631" cy="35163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bg1"/>
                </a:solidFill>
              </a:rPr>
              <a:t>14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D4CC9E5-1B57-C518-E0D1-8B04880E2B9E}"/>
              </a:ext>
            </a:extLst>
          </p:cNvPr>
          <p:cNvSpPr/>
          <p:nvPr/>
        </p:nvSpPr>
        <p:spPr>
          <a:xfrm>
            <a:off x="3154249" y="257096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9FBFCD7-ABC8-2CC3-D3F4-94495CF9E5B9}"/>
              </a:ext>
            </a:extLst>
          </p:cNvPr>
          <p:cNvSpPr/>
          <p:nvPr/>
        </p:nvSpPr>
        <p:spPr>
          <a:xfrm>
            <a:off x="35733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73D355A-EBB9-E406-2328-17AA3A78C368}"/>
              </a:ext>
            </a:extLst>
          </p:cNvPr>
          <p:cNvSpPr/>
          <p:nvPr/>
        </p:nvSpPr>
        <p:spPr>
          <a:xfrm>
            <a:off x="2316049" y="2153054"/>
            <a:ext cx="351631" cy="3516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11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B4551C7-DBA3-FD4A-9107-14CC74737934}"/>
              </a:ext>
            </a:extLst>
          </p:cNvPr>
          <p:cNvSpPr/>
          <p:nvPr/>
        </p:nvSpPr>
        <p:spPr>
          <a:xfrm>
            <a:off x="2735149" y="2153054"/>
            <a:ext cx="351631" cy="35163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12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A41B8BA-A6D9-694F-DA9D-3E60FB0580EA}"/>
              </a:ext>
            </a:extLst>
          </p:cNvPr>
          <p:cNvSpPr/>
          <p:nvPr/>
        </p:nvSpPr>
        <p:spPr>
          <a:xfrm>
            <a:off x="3154249" y="215305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7AC856B-0AB7-32F5-866B-514FF49AF79F}"/>
              </a:ext>
            </a:extLst>
          </p:cNvPr>
          <p:cNvSpPr/>
          <p:nvPr/>
        </p:nvSpPr>
        <p:spPr>
          <a:xfrm>
            <a:off x="35733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A1B8419-4303-8E0A-7D87-103F4AF36051}"/>
              </a:ext>
            </a:extLst>
          </p:cNvPr>
          <p:cNvSpPr/>
          <p:nvPr/>
        </p:nvSpPr>
        <p:spPr>
          <a:xfrm>
            <a:off x="2316049" y="1735140"/>
            <a:ext cx="351631" cy="3516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818705F-7F34-0310-6FF3-5BEE27E47549}"/>
              </a:ext>
            </a:extLst>
          </p:cNvPr>
          <p:cNvSpPr/>
          <p:nvPr/>
        </p:nvSpPr>
        <p:spPr>
          <a:xfrm>
            <a:off x="2735149" y="1735140"/>
            <a:ext cx="351631" cy="35163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10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2AECC7A-903A-2C91-96D8-6B8758D0C916}"/>
              </a:ext>
            </a:extLst>
          </p:cNvPr>
          <p:cNvSpPr/>
          <p:nvPr/>
        </p:nvSpPr>
        <p:spPr>
          <a:xfrm>
            <a:off x="3154249" y="173513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B319F94-7719-F063-CFA1-553E1269ED08}"/>
              </a:ext>
            </a:extLst>
          </p:cNvPr>
          <p:cNvSpPr/>
          <p:nvPr/>
        </p:nvSpPr>
        <p:spPr>
          <a:xfrm>
            <a:off x="35733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D3DC4BC7-0431-2FA2-825E-029928DA99C8}"/>
              </a:ext>
            </a:extLst>
          </p:cNvPr>
          <p:cNvSpPr/>
          <p:nvPr/>
        </p:nvSpPr>
        <p:spPr>
          <a:xfrm>
            <a:off x="39924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5191F69-2B92-DAE1-5BD9-2FD98DBD91A8}"/>
              </a:ext>
            </a:extLst>
          </p:cNvPr>
          <p:cNvSpPr/>
          <p:nvPr/>
        </p:nvSpPr>
        <p:spPr>
          <a:xfrm>
            <a:off x="4411549" y="29888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3F1D4C1F-9DD3-F8E3-6AFC-685D9378906D}"/>
              </a:ext>
            </a:extLst>
          </p:cNvPr>
          <p:cNvSpPr/>
          <p:nvPr/>
        </p:nvSpPr>
        <p:spPr>
          <a:xfrm>
            <a:off x="4830649" y="2988879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DA58F8E-DA45-69AD-700A-4075C1D27F28}"/>
              </a:ext>
            </a:extLst>
          </p:cNvPr>
          <p:cNvSpPr/>
          <p:nvPr/>
        </p:nvSpPr>
        <p:spPr>
          <a:xfrm>
            <a:off x="5249749" y="298887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9828E6FC-1155-36CF-3647-829A28787893}"/>
              </a:ext>
            </a:extLst>
          </p:cNvPr>
          <p:cNvSpPr/>
          <p:nvPr/>
        </p:nvSpPr>
        <p:spPr>
          <a:xfrm>
            <a:off x="39924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C3C9CFE-11E2-EBED-0E69-1EE588D45405}"/>
              </a:ext>
            </a:extLst>
          </p:cNvPr>
          <p:cNvSpPr/>
          <p:nvPr/>
        </p:nvSpPr>
        <p:spPr>
          <a:xfrm>
            <a:off x="4411549" y="257096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901D749-4B52-3F0C-19AE-2D68CFD0226A}"/>
              </a:ext>
            </a:extLst>
          </p:cNvPr>
          <p:cNvSpPr/>
          <p:nvPr/>
        </p:nvSpPr>
        <p:spPr>
          <a:xfrm>
            <a:off x="4830649" y="2570965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3A17875-01F3-12D1-5AFA-801D4D0D3485}"/>
              </a:ext>
            </a:extLst>
          </p:cNvPr>
          <p:cNvSpPr/>
          <p:nvPr/>
        </p:nvSpPr>
        <p:spPr>
          <a:xfrm>
            <a:off x="5249749" y="25709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0E040B05-8018-2239-7FD5-AF20913E689A}"/>
              </a:ext>
            </a:extLst>
          </p:cNvPr>
          <p:cNvSpPr/>
          <p:nvPr/>
        </p:nvSpPr>
        <p:spPr>
          <a:xfrm>
            <a:off x="39924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7EA0F66-5353-2A1F-D219-2B74433F324E}"/>
              </a:ext>
            </a:extLst>
          </p:cNvPr>
          <p:cNvSpPr/>
          <p:nvPr/>
        </p:nvSpPr>
        <p:spPr>
          <a:xfrm>
            <a:off x="4411549" y="215305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6792C9B-8FA7-3574-F055-88BD101385D2}"/>
              </a:ext>
            </a:extLst>
          </p:cNvPr>
          <p:cNvSpPr/>
          <p:nvPr/>
        </p:nvSpPr>
        <p:spPr>
          <a:xfrm>
            <a:off x="4830649" y="215305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6BA2AF5-2A62-2863-D839-F2ED8E75469F}"/>
              </a:ext>
            </a:extLst>
          </p:cNvPr>
          <p:cNvSpPr/>
          <p:nvPr/>
        </p:nvSpPr>
        <p:spPr>
          <a:xfrm>
            <a:off x="5249749" y="215305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FE5E3CF-70F9-1CE5-4760-CFEF0C911BC1}"/>
              </a:ext>
            </a:extLst>
          </p:cNvPr>
          <p:cNvSpPr/>
          <p:nvPr/>
        </p:nvSpPr>
        <p:spPr>
          <a:xfrm>
            <a:off x="39924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57B30CC-2641-DEC1-6CAA-66A9039B61F9}"/>
              </a:ext>
            </a:extLst>
          </p:cNvPr>
          <p:cNvSpPr/>
          <p:nvPr/>
        </p:nvSpPr>
        <p:spPr>
          <a:xfrm>
            <a:off x="4411549" y="1735138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CE2B52D-7202-0E35-9DE2-460C22C44689}"/>
              </a:ext>
            </a:extLst>
          </p:cNvPr>
          <p:cNvSpPr/>
          <p:nvPr/>
        </p:nvSpPr>
        <p:spPr>
          <a:xfrm>
            <a:off x="4830649" y="1735137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8AAEFEC-BA12-3AE1-C213-95D0467EBB51}"/>
              </a:ext>
            </a:extLst>
          </p:cNvPr>
          <p:cNvSpPr/>
          <p:nvPr/>
        </p:nvSpPr>
        <p:spPr>
          <a:xfrm>
            <a:off x="5249749" y="1735136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375ABC4-611E-65CD-161F-238E5997A4E3}"/>
              </a:ext>
            </a:extLst>
          </p:cNvPr>
          <p:cNvSpPr/>
          <p:nvPr/>
        </p:nvSpPr>
        <p:spPr>
          <a:xfrm>
            <a:off x="2316049" y="3692144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6F47930C-E590-5A88-6512-9C6C7DB5095B}"/>
              </a:ext>
            </a:extLst>
          </p:cNvPr>
          <p:cNvSpPr/>
          <p:nvPr/>
        </p:nvSpPr>
        <p:spPr>
          <a:xfrm>
            <a:off x="2735149" y="3692144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CA0C036-CAE3-F885-E1DD-1A61AE925A0B}"/>
              </a:ext>
            </a:extLst>
          </p:cNvPr>
          <p:cNvSpPr/>
          <p:nvPr/>
        </p:nvSpPr>
        <p:spPr>
          <a:xfrm>
            <a:off x="3154249" y="36921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BDFC69A1-025A-42C7-2B79-F84D8DB11C45}"/>
              </a:ext>
            </a:extLst>
          </p:cNvPr>
          <p:cNvSpPr/>
          <p:nvPr/>
        </p:nvSpPr>
        <p:spPr>
          <a:xfrm>
            <a:off x="35733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DA4A23D-4A3F-391A-3C31-AC70F878469D}"/>
              </a:ext>
            </a:extLst>
          </p:cNvPr>
          <p:cNvSpPr/>
          <p:nvPr/>
        </p:nvSpPr>
        <p:spPr>
          <a:xfrm>
            <a:off x="39924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4B60423-22A2-D9A3-9D7F-D487DAE0B84C}"/>
              </a:ext>
            </a:extLst>
          </p:cNvPr>
          <p:cNvSpPr/>
          <p:nvPr/>
        </p:nvSpPr>
        <p:spPr>
          <a:xfrm>
            <a:off x="4411549" y="36921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4006F4BB-D357-1D20-6DF6-9FB3F5CFF983}"/>
              </a:ext>
            </a:extLst>
          </p:cNvPr>
          <p:cNvSpPr/>
          <p:nvPr/>
        </p:nvSpPr>
        <p:spPr>
          <a:xfrm>
            <a:off x="4830649" y="36921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D1660EC-430B-1D0C-D4C4-DC9E4A6B20E8}"/>
              </a:ext>
            </a:extLst>
          </p:cNvPr>
          <p:cNvSpPr/>
          <p:nvPr/>
        </p:nvSpPr>
        <p:spPr>
          <a:xfrm>
            <a:off x="5249749" y="36921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9A9DB55-1202-07FA-F43C-D4AB5485DC3F}"/>
              </a:ext>
            </a:extLst>
          </p:cNvPr>
          <p:cNvSpPr/>
          <p:nvPr/>
        </p:nvSpPr>
        <p:spPr>
          <a:xfrm>
            <a:off x="2316049" y="4103624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FBA2721-27EB-6096-83E9-C0AC78398E3E}"/>
              </a:ext>
            </a:extLst>
          </p:cNvPr>
          <p:cNvSpPr/>
          <p:nvPr/>
        </p:nvSpPr>
        <p:spPr>
          <a:xfrm>
            <a:off x="2735149" y="4103624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5ED71C0-756B-CDF7-5B77-F1E12025E0E7}"/>
              </a:ext>
            </a:extLst>
          </p:cNvPr>
          <p:cNvSpPr/>
          <p:nvPr/>
        </p:nvSpPr>
        <p:spPr>
          <a:xfrm>
            <a:off x="3154249" y="410362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6A1D2EB-58EE-0025-61D3-B902822A9210}"/>
              </a:ext>
            </a:extLst>
          </p:cNvPr>
          <p:cNvSpPr/>
          <p:nvPr/>
        </p:nvSpPr>
        <p:spPr>
          <a:xfrm>
            <a:off x="35733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5F9465AC-AD36-7556-B0F5-06E9DB951D21}"/>
              </a:ext>
            </a:extLst>
          </p:cNvPr>
          <p:cNvSpPr/>
          <p:nvPr/>
        </p:nvSpPr>
        <p:spPr>
          <a:xfrm>
            <a:off x="39924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C24ECD8-EBC7-0A71-A878-0559B15903AA}"/>
              </a:ext>
            </a:extLst>
          </p:cNvPr>
          <p:cNvSpPr/>
          <p:nvPr/>
        </p:nvSpPr>
        <p:spPr>
          <a:xfrm>
            <a:off x="4411549" y="410362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95EFB84-6A15-BD9A-EA2C-2FEF4970F007}"/>
              </a:ext>
            </a:extLst>
          </p:cNvPr>
          <p:cNvSpPr/>
          <p:nvPr/>
        </p:nvSpPr>
        <p:spPr>
          <a:xfrm>
            <a:off x="4830649" y="410362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BCEE10D-2B6D-E28D-0802-FE96921C722F}"/>
              </a:ext>
            </a:extLst>
          </p:cNvPr>
          <p:cNvSpPr/>
          <p:nvPr/>
        </p:nvSpPr>
        <p:spPr>
          <a:xfrm>
            <a:off x="5249749" y="410362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80836200-771F-5B1B-2A27-47A61A3D9B71}"/>
              </a:ext>
            </a:extLst>
          </p:cNvPr>
          <p:cNvSpPr/>
          <p:nvPr/>
        </p:nvSpPr>
        <p:spPr>
          <a:xfrm>
            <a:off x="23160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5A22FB2-22EC-EE66-8B5D-EDC8F16198EB}"/>
              </a:ext>
            </a:extLst>
          </p:cNvPr>
          <p:cNvSpPr/>
          <p:nvPr/>
        </p:nvSpPr>
        <p:spPr>
          <a:xfrm>
            <a:off x="2735149" y="451510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1F6C4F9-BD90-B224-6774-DB53AF5FE028}"/>
              </a:ext>
            </a:extLst>
          </p:cNvPr>
          <p:cNvSpPr/>
          <p:nvPr/>
        </p:nvSpPr>
        <p:spPr>
          <a:xfrm>
            <a:off x="3154249" y="451510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C98300F-E71B-B85F-6B4C-5231AA2C9B13}"/>
              </a:ext>
            </a:extLst>
          </p:cNvPr>
          <p:cNvSpPr/>
          <p:nvPr/>
        </p:nvSpPr>
        <p:spPr>
          <a:xfrm>
            <a:off x="35733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7870F0CD-E503-81F7-19F2-37DE32E6F803}"/>
              </a:ext>
            </a:extLst>
          </p:cNvPr>
          <p:cNvSpPr/>
          <p:nvPr/>
        </p:nvSpPr>
        <p:spPr>
          <a:xfrm>
            <a:off x="39924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529B7F4-7B2A-EA30-7516-E7A8E3965FAA}"/>
              </a:ext>
            </a:extLst>
          </p:cNvPr>
          <p:cNvSpPr/>
          <p:nvPr/>
        </p:nvSpPr>
        <p:spPr>
          <a:xfrm>
            <a:off x="4411549" y="451510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C92844A-97F6-125F-E891-8CAE9B597C78}"/>
              </a:ext>
            </a:extLst>
          </p:cNvPr>
          <p:cNvSpPr/>
          <p:nvPr/>
        </p:nvSpPr>
        <p:spPr>
          <a:xfrm>
            <a:off x="4830649" y="451510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4FC5E770-B697-95ED-A651-52B4A78AF7F7}"/>
              </a:ext>
            </a:extLst>
          </p:cNvPr>
          <p:cNvSpPr/>
          <p:nvPr/>
        </p:nvSpPr>
        <p:spPr>
          <a:xfrm>
            <a:off x="5249749" y="451510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E03C67A-11D6-41F1-377E-C506967CC796}"/>
              </a:ext>
            </a:extLst>
          </p:cNvPr>
          <p:cNvSpPr/>
          <p:nvPr/>
        </p:nvSpPr>
        <p:spPr>
          <a:xfrm>
            <a:off x="23160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827E2EDF-CD6D-D785-455B-E2F6124D0E1B}"/>
              </a:ext>
            </a:extLst>
          </p:cNvPr>
          <p:cNvSpPr/>
          <p:nvPr/>
        </p:nvSpPr>
        <p:spPr>
          <a:xfrm>
            <a:off x="2735149" y="492658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D4EB5EA6-A019-E143-3EC3-F7292A2A23A7}"/>
              </a:ext>
            </a:extLst>
          </p:cNvPr>
          <p:cNvSpPr/>
          <p:nvPr/>
        </p:nvSpPr>
        <p:spPr>
          <a:xfrm>
            <a:off x="3154249" y="492658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D1CBC47-E993-1DF7-33F5-3A099F8B23F3}"/>
              </a:ext>
            </a:extLst>
          </p:cNvPr>
          <p:cNvSpPr/>
          <p:nvPr/>
        </p:nvSpPr>
        <p:spPr>
          <a:xfrm>
            <a:off x="35733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BB4D1E5-64CB-382C-D789-D9B58DF3EF67}"/>
              </a:ext>
            </a:extLst>
          </p:cNvPr>
          <p:cNvSpPr/>
          <p:nvPr/>
        </p:nvSpPr>
        <p:spPr>
          <a:xfrm>
            <a:off x="39924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0F3464F-509A-ADF7-70B9-FE989E2B69EF}"/>
              </a:ext>
            </a:extLst>
          </p:cNvPr>
          <p:cNvSpPr/>
          <p:nvPr/>
        </p:nvSpPr>
        <p:spPr>
          <a:xfrm>
            <a:off x="4411549" y="492658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8FEBF1E6-2A15-8AB5-90AB-D8AD523B8259}"/>
              </a:ext>
            </a:extLst>
          </p:cNvPr>
          <p:cNvSpPr/>
          <p:nvPr/>
        </p:nvSpPr>
        <p:spPr>
          <a:xfrm>
            <a:off x="4830649" y="492658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FC50796-B2D9-5BC6-AC0B-1FDC013B8A3D}"/>
              </a:ext>
            </a:extLst>
          </p:cNvPr>
          <p:cNvSpPr/>
          <p:nvPr/>
        </p:nvSpPr>
        <p:spPr>
          <a:xfrm>
            <a:off x="5249749" y="492658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B87AD2C-95DF-AF41-A5E5-986DBDE88F79}"/>
              </a:ext>
            </a:extLst>
          </p:cNvPr>
          <p:cNvSpPr/>
          <p:nvPr/>
        </p:nvSpPr>
        <p:spPr>
          <a:xfrm>
            <a:off x="23160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0B1E741-6003-9A52-4D78-50197C2FBC38}"/>
              </a:ext>
            </a:extLst>
          </p:cNvPr>
          <p:cNvSpPr/>
          <p:nvPr/>
        </p:nvSpPr>
        <p:spPr>
          <a:xfrm>
            <a:off x="2735149" y="533806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5344FD6-2CD9-7B96-DF0C-D602B7CD8979}"/>
              </a:ext>
            </a:extLst>
          </p:cNvPr>
          <p:cNvSpPr/>
          <p:nvPr/>
        </p:nvSpPr>
        <p:spPr>
          <a:xfrm>
            <a:off x="3154249" y="533806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CCDEC96D-8984-55BD-A1A5-29BD1EFF5670}"/>
              </a:ext>
            </a:extLst>
          </p:cNvPr>
          <p:cNvSpPr/>
          <p:nvPr/>
        </p:nvSpPr>
        <p:spPr>
          <a:xfrm>
            <a:off x="35733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27E30A9-0723-5CD0-4D86-D84A40C566DB}"/>
              </a:ext>
            </a:extLst>
          </p:cNvPr>
          <p:cNvSpPr/>
          <p:nvPr/>
        </p:nvSpPr>
        <p:spPr>
          <a:xfrm>
            <a:off x="39924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22B511C5-D415-0EFB-4706-078B63E88A7B}"/>
              </a:ext>
            </a:extLst>
          </p:cNvPr>
          <p:cNvSpPr/>
          <p:nvPr/>
        </p:nvSpPr>
        <p:spPr>
          <a:xfrm>
            <a:off x="4411549" y="533806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D4D3DEC-0A25-1F5C-CD15-6D00E1E3AAB3}"/>
              </a:ext>
            </a:extLst>
          </p:cNvPr>
          <p:cNvSpPr/>
          <p:nvPr/>
        </p:nvSpPr>
        <p:spPr>
          <a:xfrm>
            <a:off x="4830649" y="533806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C9E8E35-B902-054D-0894-06486E673176}"/>
              </a:ext>
            </a:extLst>
          </p:cNvPr>
          <p:cNvSpPr/>
          <p:nvPr/>
        </p:nvSpPr>
        <p:spPr>
          <a:xfrm>
            <a:off x="5249749" y="533806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4C65D4B4-5D28-0DE4-0DB3-B5A37EE65121}"/>
              </a:ext>
            </a:extLst>
          </p:cNvPr>
          <p:cNvSpPr/>
          <p:nvPr/>
        </p:nvSpPr>
        <p:spPr>
          <a:xfrm>
            <a:off x="23160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6CC27E4-756C-95A7-C015-1C382401E97C}"/>
              </a:ext>
            </a:extLst>
          </p:cNvPr>
          <p:cNvSpPr/>
          <p:nvPr/>
        </p:nvSpPr>
        <p:spPr>
          <a:xfrm>
            <a:off x="2735149" y="5749544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E5652EE-71F7-4C89-8E65-A616A6856B7A}"/>
              </a:ext>
            </a:extLst>
          </p:cNvPr>
          <p:cNvSpPr/>
          <p:nvPr/>
        </p:nvSpPr>
        <p:spPr>
          <a:xfrm>
            <a:off x="3154249" y="5749543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E5B8D020-1302-5CEB-3F03-86081D6E2917}"/>
              </a:ext>
            </a:extLst>
          </p:cNvPr>
          <p:cNvSpPr/>
          <p:nvPr/>
        </p:nvSpPr>
        <p:spPr>
          <a:xfrm>
            <a:off x="35733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9F1BF89-421E-9341-CF9B-37AC69C419CF}"/>
              </a:ext>
            </a:extLst>
          </p:cNvPr>
          <p:cNvSpPr/>
          <p:nvPr/>
        </p:nvSpPr>
        <p:spPr>
          <a:xfrm>
            <a:off x="39924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B2458B68-AE21-CAD6-8A9B-5D157690DB5E}"/>
              </a:ext>
            </a:extLst>
          </p:cNvPr>
          <p:cNvSpPr/>
          <p:nvPr/>
        </p:nvSpPr>
        <p:spPr>
          <a:xfrm>
            <a:off x="4411549" y="5749542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709B3056-EFC4-0993-E4BF-0BE37BA4A0FA}"/>
              </a:ext>
            </a:extLst>
          </p:cNvPr>
          <p:cNvSpPr/>
          <p:nvPr/>
        </p:nvSpPr>
        <p:spPr>
          <a:xfrm>
            <a:off x="4830649" y="5749541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4C0D03D7-ABE1-63C6-5F79-E9CFEF55F677}"/>
              </a:ext>
            </a:extLst>
          </p:cNvPr>
          <p:cNvSpPr/>
          <p:nvPr/>
        </p:nvSpPr>
        <p:spPr>
          <a:xfrm>
            <a:off x="5249749" y="5749540"/>
            <a:ext cx="351631" cy="351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CC1C85-FDDA-EE68-7AEF-04B91F4FDFE5}"/>
              </a:ext>
            </a:extLst>
          </p:cNvPr>
          <p:cNvSpPr/>
          <p:nvPr/>
        </p:nvSpPr>
        <p:spPr>
          <a:xfrm>
            <a:off x="2316049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130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AC9AF7-EDC1-8DD6-7DDA-E7881D8973D5}"/>
              </a:ext>
            </a:extLst>
          </p:cNvPr>
          <p:cNvSpPr/>
          <p:nvPr/>
        </p:nvSpPr>
        <p:spPr>
          <a:xfrm>
            <a:off x="2735149" y="369214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140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A75FE-4A21-00FA-367C-6F959A2F0D94}"/>
              </a:ext>
            </a:extLst>
          </p:cNvPr>
          <p:cNvSpPr/>
          <p:nvPr/>
        </p:nvSpPr>
        <p:spPr>
          <a:xfrm>
            <a:off x="2316049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322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49C36F-8F00-B337-698B-BB2F45E5E669}"/>
              </a:ext>
            </a:extLst>
          </p:cNvPr>
          <p:cNvSpPr/>
          <p:nvPr/>
        </p:nvSpPr>
        <p:spPr>
          <a:xfrm>
            <a:off x="2735149" y="4103620"/>
            <a:ext cx="351631" cy="351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348</a:t>
            </a:r>
          </a:p>
        </p:txBody>
      </p:sp>
    </p:spTree>
    <p:extLst>
      <p:ext uri="{BB962C8B-B14F-4D97-AF65-F5344CB8AC3E}">
        <p14:creationId xmlns:p14="http://schemas.microsoft.com/office/powerpoint/2010/main" val="1671356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50B8F-186C-BA88-C06C-F2254A43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Tiled Matrix Multiplication – To be continued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1CE59E8-A8D2-A8EF-5034-5A8D14F37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5476" y="2027139"/>
            <a:ext cx="8258174" cy="4645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3273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6CE053-0806-A795-B370-5B5A737428CE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TILE_SIZE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mult_matrices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rows1,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columns1,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columns2,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m1,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m2,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__global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result) {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m1sub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[TILE_SIZE][TILE_SIZE];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Тайл первой матрицы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m2sub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[TILE_SIZE][TILE_SIZE];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Тайл второй матрицы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rows2 = columns1;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row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Номер строки результирующей матрицы для текущего потока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Номер столбца результирующей матрицы для текущего потока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get_local_id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Номер строки внутри тайла для текущего потока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localCol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get_local_id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Номер столбца внутри тайла для текущего потока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numTiles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(columns1 + TILE_SIZE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TILE_SIZE;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tile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tile 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numTiles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++tile)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(row &lt; rows1 &amp;&amp; col &lt; columns2) </a:t>
            </a:r>
            <a:r>
              <a:rPr lang="en-US" dirty="0">
                <a:solidFill>
                  <a:srgbClr val="1F377F"/>
                </a:solidFill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[row * columns2 + col] = sum;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4577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56F5B6-F88E-04CA-62F9-7DA76F19A51B}"/>
              </a:ext>
            </a:extLst>
          </p:cNvPr>
          <p:cNvSpPr txBox="1"/>
          <p:nvPr/>
        </p:nvSpPr>
        <p:spPr>
          <a:xfrm>
            <a:off x="0" y="-1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tile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tile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numTiles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++tile)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и столбец первой матрицы, относящиеся к текущему тайлу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row;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tile * TILE_SIZE +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Поток загружает свой элемент тайла первой матрицы из глобальной памяти в локальную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m1sub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rows1 &amp;&amp;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columns1)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?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columns1 +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Делаем то же самое для второй матрицы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tile * TILE_SIZE +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col;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m2sub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rows2 &amp;&amp;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columns2)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?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columns2 +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tiledCol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sz="17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Ждем пока все потоки загрузят свои данные в локальную память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(CLK_LOCAL_MEM_FENCE);</a:t>
            </a:r>
          </a:p>
          <a:p>
            <a:pPr>
              <a:buNone/>
            </a:pPr>
            <a:endParaRPr lang="ru-RU" sz="17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Перемножаем элементы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тайла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соответствующие текущему потоку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TILE_SIZE; ++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sum +=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m1sub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*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m2sub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localCol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(CLK_LOCAL_MEM_FENCE);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Ждём, пока все потоки внутри группы закончат перемножение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(row &lt; rows1 &amp;&amp; col &lt; columns2)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[row * columns2 + col] = sum;</a:t>
            </a:r>
          </a:p>
        </p:txBody>
      </p:sp>
    </p:spTree>
    <p:extLst>
      <p:ext uri="{BB962C8B-B14F-4D97-AF65-F5344CB8AC3E}">
        <p14:creationId xmlns:p14="http://schemas.microsoft.com/office/powerpoint/2010/main" val="704044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032A3-A9E8-0131-7397-740D5CAC9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Синхронизация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: barrier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8BA28-800D-3AB8-4131-7E27DA00C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barrier — </a:t>
            </a:r>
            <a:r>
              <a:rPr lang="en-US" dirty="0" err="1"/>
              <a:t>синхронизация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Work Group</a:t>
            </a:r>
          </a:p>
          <a:p>
            <a:pPr lvl="1"/>
            <a:r>
              <a:rPr lang="en-US" dirty="0"/>
              <a:t>barrier(flags);</a:t>
            </a:r>
          </a:p>
          <a:p>
            <a:pPr lvl="1"/>
            <a:r>
              <a:rPr lang="en-US" dirty="0" err="1"/>
              <a:t>Останавливает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Work Group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дойдут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barrier. 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флаги</a:t>
            </a:r>
            <a:endParaRPr lang="en-US" dirty="0"/>
          </a:p>
          <a:p>
            <a:pPr lvl="1"/>
            <a:r>
              <a:rPr lang="en-US" dirty="0"/>
              <a:t>CLK_LOCAL_MEM_FENCE</a:t>
            </a:r>
            <a:r>
              <a:rPr lang="ru-RU" dirty="0"/>
              <a:t> – г</a:t>
            </a:r>
            <a:r>
              <a:rPr lang="en-US" dirty="0" err="1"/>
              <a:t>арантирует</a:t>
            </a:r>
            <a:r>
              <a:rPr lang="ru-RU" dirty="0"/>
              <a:t> 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с local memory.</a:t>
            </a:r>
          </a:p>
          <a:p>
            <a:pPr lvl="1"/>
            <a:r>
              <a:rPr lang="en-US" dirty="0"/>
              <a:t>CLK_GLOBAL_MEM_FENCE</a:t>
            </a:r>
            <a:r>
              <a:rPr lang="ru-RU" dirty="0"/>
              <a:t> – г</a:t>
            </a:r>
            <a:r>
              <a:rPr lang="en-US" dirty="0" err="1"/>
              <a:t>арантирует</a:t>
            </a:r>
            <a:r>
              <a:rPr lang="ru-RU" dirty="0"/>
              <a:t> 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с global memory.</a:t>
            </a:r>
          </a:p>
          <a:p>
            <a:r>
              <a:rPr lang="en-US" dirty="0" err="1"/>
              <a:t>Без</a:t>
            </a:r>
            <a:r>
              <a:rPr lang="en-US" dirty="0"/>
              <a:t> barrier</a:t>
            </a:r>
            <a:r>
              <a:rPr lang="ru-RU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начать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завершили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</a:p>
          <a:p>
            <a:r>
              <a:rPr lang="en-US" dirty="0" err="1"/>
              <a:t>Важно</a:t>
            </a:r>
            <a:r>
              <a:rPr lang="ru-RU" dirty="0"/>
              <a:t>: </a:t>
            </a:r>
            <a:r>
              <a:rPr lang="en-US" dirty="0"/>
              <a:t>barrier </a:t>
            </a:r>
            <a:r>
              <a:rPr lang="en-US" dirty="0" err="1"/>
              <a:t>работает</a:t>
            </a:r>
            <a:r>
              <a:rPr lang="ru-RU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Work Group. </a:t>
            </a:r>
          </a:p>
          <a:p>
            <a:pPr lvl="1"/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разными</a:t>
            </a:r>
            <a:r>
              <a:rPr lang="en-US" dirty="0"/>
              <a:t> Work Groups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6190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EDD261-D888-C2C0-7AF1-A6F0B2768B9E}"/>
              </a:ext>
            </a:extLst>
          </p:cNvPr>
          <p:cNvSpPr txBox="1"/>
          <p:nvPr/>
        </p:nvSpPr>
        <p:spPr>
          <a:xfrm>
            <a:off x="838200" y="1752600"/>
            <a:ext cx="111125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Увеличиваем глобальный размер до кратного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tileSize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NDRange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globalSize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(rows1 +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/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(columns2 +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/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Локальный размер равен размеру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тайла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NDRange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localSize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tileSize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enqueueNDRangeKernel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(kernel,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/*offset*/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globalSize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localSize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enqueueReadBuffer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(buf3,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CL_TRUE,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finish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A21F40-0870-2AEE-7E0D-096CBFC49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Передаём </a:t>
            </a:r>
            <a:r>
              <a:rPr lang="en-US" dirty="0" err="1"/>
              <a:t>localSize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globalSize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6133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54995-5CEC-9A02-4E61-42A92612C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Замеры производительности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153EC-D9A8-F8DD-D3CA-6231BB8EC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Используемое железо</a:t>
            </a:r>
            <a:endParaRPr lang="en-US" dirty="0"/>
          </a:p>
          <a:p>
            <a:pPr lvl="1"/>
            <a:r>
              <a:rPr lang="en-US" dirty="0"/>
              <a:t>CPU: Intel Core i7-12650H</a:t>
            </a:r>
            <a:endParaRPr lang="ru-RU" dirty="0"/>
          </a:p>
          <a:p>
            <a:pPr lvl="1"/>
            <a:r>
              <a:rPr lang="en-US" dirty="0"/>
              <a:t>NVIDIA GeForce RTX 4060 Laptop GPU</a:t>
            </a:r>
          </a:p>
          <a:p>
            <a:r>
              <a:rPr lang="ru-RU" dirty="0"/>
              <a:t>Размеры матриц: 4096*4096</a:t>
            </a:r>
            <a:endParaRPr lang="en-US" dirty="0"/>
          </a:p>
          <a:p>
            <a:r>
              <a:rPr lang="ru-RU" dirty="0"/>
              <a:t>Классическое умножение</a:t>
            </a:r>
          </a:p>
          <a:p>
            <a:pPr lvl="1"/>
            <a:r>
              <a:rPr lang="ru-RU" dirty="0"/>
              <a:t>Однопоточное умножение на </a:t>
            </a:r>
            <a:r>
              <a:rPr lang="en-US" dirty="0"/>
              <a:t>CPU: 436c</a:t>
            </a:r>
            <a:endParaRPr lang="ru-RU" dirty="0"/>
          </a:p>
          <a:p>
            <a:pPr lvl="1"/>
            <a:r>
              <a:rPr lang="ru-RU" dirty="0"/>
              <a:t>Многопоточное умножение на </a:t>
            </a:r>
            <a:r>
              <a:rPr lang="en-US" dirty="0"/>
              <a:t>CPU (OpenCL): 137</a:t>
            </a:r>
            <a:r>
              <a:rPr lang="ru-RU" dirty="0"/>
              <a:t>с</a:t>
            </a:r>
            <a:r>
              <a:rPr lang="en-US" dirty="0"/>
              <a:t> (3.18x)</a:t>
            </a:r>
          </a:p>
          <a:p>
            <a:pPr lvl="1"/>
            <a:r>
              <a:rPr lang="ru-RU" dirty="0"/>
              <a:t>Умножение на </a:t>
            </a:r>
            <a:r>
              <a:rPr lang="en-US" dirty="0"/>
              <a:t>GPU: 2.34c (186x)</a:t>
            </a:r>
          </a:p>
          <a:p>
            <a:r>
              <a:rPr lang="ru-RU" dirty="0" err="1"/>
              <a:t>Тайловое</a:t>
            </a:r>
            <a:r>
              <a:rPr lang="ru-RU" dirty="0"/>
              <a:t> умножение</a:t>
            </a:r>
          </a:p>
          <a:p>
            <a:pPr lvl="1"/>
            <a:r>
              <a:rPr lang="ru-RU" dirty="0"/>
              <a:t>Многопоточное умножение на </a:t>
            </a:r>
            <a:r>
              <a:rPr lang="en-US" dirty="0"/>
              <a:t>CPU</a:t>
            </a:r>
            <a:r>
              <a:rPr lang="ru-RU" dirty="0"/>
              <a:t> (</a:t>
            </a:r>
            <a:r>
              <a:rPr lang="en-US" dirty="0"/>
              <a:t>OpenCL):</a:t>
            </a:r>
            <a:r>
              <a:rPr lang="ru-RU" dirty="0"/>
              <a:t> 24.3с</a:t>
            </a:r>
            <a:r>
              <a:rPr lang="en-US" dirty="0"/>
              <a:t> (17.95x)</a:t>
            </a:r>
          </a:p>
          <a:p>
            <a:pPr lvl="1"/>
            <a:r>
              <a:rPr lang="ru-RU" dirty="0"/>
              <a:t>Умножение на </a:t>
            </a:r>
            <a:r>
              <a:rPr lang="en-US" dirty="0"/>
              <a:t>GPU: </a:t>
            </a:r>
            <a:r>
              <a:rPr lang="ru-RU" dirty="0"/>
              <a:t>0.397</a:t>
            </a:r>
            <a:r>
              <a:rPr lang="en-US" dirty="0"/>
              <a:t>c</a:t>
            </a:r>
            <a:endParaRPr lang="ru-RU" dirty="0"/>
          </a:p>
          <a:p>
            <a:pPr lvl="2"/>
            <a:r>
              <a:rPr lang="en-US" dirty="0"/>
              <a:t>(1098x</a:t>
            </a:r>
            <a:r>
              <a:rPr lang="ru-RU" dirty="0"/>
              <a:t> по сравнению с </a:t>
            </a:r>
            <a:r>
              <a:rPr lang="en-US" dirty="0"/>
              <a:t>CPU, 5.89x</a:t>
            </a:r>
            <a:r>
              <a:rPr lang="ru-RU" dirty="0"/>
              <a:t> по сравнению с классической версией на </a:t>
            </a:r>
            <a:r>
              <a:rPr lang="en-US" dirty="0"/>
              <a:t>GPU)</a:t>
            </a:r>
          </a:p>
        </p:txBody>
      </p:sp>
    </p:spTree>
    <p:extLst>
      <p:ext uri="{BB962C8B-B14F-4D97-AF65-F5344CB8AC3E}">
        <p14:creationId xmlns:p14="http://schemas.microsoft.com/office/powerpoint/2010/main" val="1355765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390B38-090F-E27F-E689-D54F9543A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Неупорядоченное исполнение команд и </a:t>
            </a:r>
            <a:r>
              <a:rPr lang="ru-RU" dirty="0" err="1"/>
              <a:t>сихронизация</a:t>
            </a:r>
            <a:r>
              <a:rPr lang="ru-RU" dirty="0"/>
              <a:t> с использованием событий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A71A4-D581-6558-85E2-91BBFA3E3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800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BCEB6-DB72-02A1-712E-969DCA4AD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In-order </a:t>
            </a:r>
            <a:r>
              <a:rPr lang="ru-RU" dirty="0"/>
              <a:t>и </a:t>
            </a:r>
            <a:r>
              <a:rPr lang="en-US" dirty="0"/>
              <a:t>Out-of-order </a:t>
            </a:r>
            <a:r>
              <a:rPr lang="ru-RU" dirty="0"/>
              <a:t>очереди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49AF6-1BD2-3247-DB04-7C5F9A9B2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In-order queue</a:t>
            </a:r>
          </a:p>
          <a:p>
            <a:pPr lvl="1"/>
            <a:r>
              <a:rPr lang="en-US" dirty="0" err="1"/>
              <a:t>Команды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Write Buffer → Kernel → Read Buffer</a:t>
            </a:r>
          </a:p>
          <a:p>
            <a:pPr lvl="1"/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команда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предыдущей</a:t>
            </a:r>
            <a:r>
              <a:rPr lang="en-US" dirty="0"/>
              <a:t>.</a:t>
            </a:r>
          </a:p>
          <a:p>
            <a:r>
              <a:rPr lang="en-US" dirty="0"/>
              <a:t>Out-of-order queue</a:t>
            </a:r>
          </a:p>
          <a:p>
            <a:pPr lvl="1"/>
            <a:r>
              <a:rPr lang="en-US" dirty="0" err="1"/>
              <a:t>Команды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endParaRPr lang="en-US" dirty="0"/>
          </a:p>
          <a:p>
            <a:r>
              <a:rPr lang="en-US" dirty="0" err="1"/>
              <a:t>Преимущества</a:t>
            </a:r>
            <a:r>
              <a:rPr lang="en-US" dirty="0"/>
              <a:t> In-order</a:t>
            </a:r>
          </a:p>
          <a:p>
            <a:pPr lvl="1"/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прототипов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вероятность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. </a:t>
            </a:r>
          </a:p>
          <a:p>
            <a:r>
              <a:rPr lang="en-US" dirty="0" err="1"/>
              <a:t>Преимущества</a:t>
            </a:r>
            <a:r>
              <a:rPr lang="en-US" dirty="0"/>
              <a:t> Out-of-order</a:t>
            </a:r>
          </a:p>
          <a:p>
            <a:pPr lvl="1"/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загрузка</a:t>
            </a:r>
            <a:r>
              <a:rPr lang="en-US" dirty="0"/>
              <a:t> GPU, </a:t>
            </a:r>
          </a:p>
          <a:p>
            <a:pPr lvl="1"/>
            <a:r>
              <a:rPr lang="en-US" dirty="0" err="1"/>
              <a:t>перекрытие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и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простоев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выше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9301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E4E89-6393-B226-8BEE-9DCF50405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</a:t>
            </a:r>
            <a:r>
              <a:rPr lang="en-US" dirty="0"/>
              <a:t>out-of-order </a:t>
            </a:r>
            <a:r>
              <a:rPr lang="ru-RU" dirty="0"/>
              <a:t>очереди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B62DDB-3BFE-3E19-6297-A3A73A1E7D07}"/>
              </a:ext>
            </a:extLst>
          </p:cNvPr>
          <p:cNvSpPr txBox="1"/>
          <p:nvPr/>
        </p:nvSpPr>
        <p:spPr>
          <a:xfrm>
            <a:off x="838200" y="2279821"/>
            <a:ext cx="10515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Очередь команд с поддержкой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out-of-order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профилирования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cl_command_queue_properties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props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=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CL_QUEUE_OUT_OF_ORDER_EXEC_MODE_ENABLE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CL_QUEUE_PROFILING_ENABLE;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CommandQueue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device, props);</a:t>
            </a:r>
          </a:p>
        </p:txBody>
      </p:sp>
    </p:spTree>
    <p:extLst>
      <p:ext uri="{BB962C8B-B14F-4D97-AF65-F5344CB8AC3E}">
        <p14:creationId xmlns:p14="http://schemas.microsoft.com/office/powerpoint/2010/main" val="13576490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4B7D1-F20A-9E3B-FDE5-55970ADCE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в </a:t>
            </a:r>
            <a:r>
              <a:rPr lang="en-US" dirty="0"/>
              <a:t>OpenCL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9B843-8F89-8722-6917-4C16A9E08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cl</a:t>
            </a:r>
            <a:r>
              <a:rPr lang="ru-RU" dirty="0"/>
              <a:t>::Event — объект, представляющий состояние команды</a:t>
            </a:r>
            <a:endParaRPr lang="en-US" dirty="0"/>
          </a:p>
          <a:p>
            <a:pPr lvl="1"/>
            <a:r>
              <a:rPr lang="ru-RU" dirty="0"/>
              <a:t>копирование, вычисление и т. д.</a:t>
            </a:r>
            <a:endParaRPr lang="en-US" dirty="0"/>
          </a:p>
          <a:p>
            <a:r>
              <a:rPr lang="ru-RU" dirty="0"/>
              <a:t>Позволяет:</a:t>
            </a:r>
            <a:endParaRPr lang="en-US" dirty="0"/>
          </a:p>
          <a:p>
            <a:pPr lvl="1"/>
            <a:r>
              <a:rPr lang="ru-RU" dirty="0"/>
              <a:t>Отслеживать завершение операций</a:t>
            </a:r>
            <a:endParaRPr lang="en-US" dirty="0"/>
          </a:p>
          <a:p>
            <a:pPr lvl="1"/>
            <a:r>
              <a:rPr lang="ru-RU" dirty="0"/>
              <a:t>Создавать зависимости между командами</a:t>
            </a:r>
            <a:endParaRPr lang="en-US" dirty="0"/>
          </a:p>
          <a:p>
            <a:pPr lvl="1"/>
            <a:r>
              <a:rPr lang="ru-RU" dirty="0"/>
              <a:t>Выполнять команды асинхронно</a:t>
            </a:r>
            <a:endParaRPr lang="en-US" dirty="0"/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Перекрытие копирования и вычислений</a:t>
            </a:r>
          </a:p>
          <a:p>
            <a:pPr lvl="1"/>
            <a:r>
              <a:rPr lang="ru-RU" dirty="0"/>
              <a:t>Управление зависимостями между вычислениями</a:t>
            </a:r>
          </a:p>
          <a:p>
            <a:pPr lvl="1"/>
            <a:r>
              <a:rPr lang="ru-RU" dirty="0"/>
              <a:t>Снижение простоя между </a:t>
            </a:r>
            <a:r>
              <a:rPr lang="en-US" dirty="0"/>
              <a:t>CPU/GPU</a:t>
            </a:r>
          </a:p>
        </p:txBody>
      </p:sp>
    </p:spTree>
    <p:extLst>
      <p:ext uri="{BB962C8B-B14F-4D97-AF65-F5344CB8AC3E}">
        <p14:creationId xmlns:p14="http://schemas.microsoft.com/office/powerpoint/2010/main" val="442902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0D1426-3D4B-F77A-1AA3-391012B62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 зависимостей при умножении матриц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E1C972-6A95-AF1B-38F6-27FAF99B68C1}"/>
              </a:ext>
            </a:extLst>
          </p:cNvPr>
          <p:cNvSpPr/>
          <p:nvPr/>
        </p:nvSpPr>
        <p:spPr>
          <a:xfrm>
            <a:off x="838199" y="2365829"/>
            <a:ext cx="2333627" cy="841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Пересылаем 1 матрицу на</a:t>
            </a:r>
            <a:r>
              <a:rPr lang="en-US" dirty="0"/>
              <a:t> device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FE272-1D50-AF8C-D74D-D6659826F63E}"/>
              </a:ext>
            </a:extLst>
          </p:cNvPr>
          <p:cNvSpPr/>
          <p:nvPr/>
        </p:nvSpPr>
        <p:spPr>
          <a:xfrm>
            <a:off x="838200" y="3849914"/>
            <a:ext cx="2333626" cy="841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Пересылаем 2 матрицу на </a:t>
            </a:r>
            <a:r>
              <a:rPr lang="en-US" dirty="0"/>
              <a:t>device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671504-4D10-2D51-C038-EB4BC843F12E}"/>
              </a:ext>
            </a:extLst>
          </p:cNvPr>
          <p:cNvSpPr/>
          <p:nvPr/>
        </p:nvSpPr>
        <p:spPr>
          <a:xfrm>
            <a:off x="4880427" y="3008086"/>
            <a:ext cx="1861459" cy="841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Перемножаем матрицы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4DE75-3129-C442-1902-3780AECB793E}"/>
              </a:ext>
            </a:extLst>
          </p:cNvPr>
          <p:cNvSpPr/>
          <p:nvPr/>
        </p:nvSpPr>
        <p:spPr>
          <a:xfrm>
            <a:off x="8025268" y="3008085"/>
            <a:ext cx="2249032" cy="841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Считываем результат</a:t>
            </a:r>
            <a:r>
              <a:rPr lang="en-US" dirty="0"/>
              <a:t> </a:t>
            </a:r>
            <a:r>
              <a:rPr lang="ru-RU" dirty="0"/>
              <a:t>в системную  память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D3567BE-CF98-0E7C-83A4-974A80F8FE79}"/>
              </a:ext>
            </a:extLst>
          </p:cNvPr>
          <p:cNvSpPr/>
          <p:nvPr/>
        </p:nvSpPr>
        <p:spPr>
          <a:xfrm>
            <a:off x="3806598" y="2569029"/>
            <a:ext cx="439057" cy="439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7F0AEC-78F1-F809-B989-2F65A371762C}"/>
              </a:ext>
            </a:extLst>
          </p:cNvPr>
          <p:cNvSpPr/>
          <p:nvPr/>
        </p:nvSpPr>
        <p:spPr>
          <a:xfrm>
            <a:off x="3806598" y="4051299"/>
            <a:ext cx="439057" cy="439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6B67E5-7115-4E42-679A-C2E18B8454EB}"/>
              </a:ext>
            </a:extLst>
          </p:cNvPr>
          <p:cNvCxnSpPr>
            <a:cxnSpLocks/>
            <a:stCxn id="5" idx="3"/>
            <a:endCxn id="9" idx="2"/>
          </p:cNvCxnSpPr>
          <p:nvPr/>
        </p:nvCxnSpPr>
        <p:spPr>
          <a:xfrm>
            <a:off x="3171826" y="2786743"/>
            <a:ext cx="634772" cy="181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C13DDB-2113-96E3-0FA2-70D0923AF05D}"/>
              </a:ext>
            </a:extLst>
          </p:cNvPr>
          <p:cNvCxnSpPr>
            <a:cxnSpLocks/>
            <a:stCxn id="6" idx="3"/>
            <a:endCxn id="10" idx="2"/>
          </p:cNvCxnSpPr>
          <p:nvPr/>
        </p:nvCxnSpPr>
        <p:spPr>
          <a:xfrm>
            <a:off x="3171826" y="4270828"/>
            <a:ext cx="63477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8848244-2899-AAF5-A023-7A712E6109A0}"/>
              </a:ext>
            </a:extLst>
          </p:cNvPr>
          <p:cNvCxnSpPr>
            <a:cxnSpLocks/>
            <a:stCxn id="10" idx="6"/>
            <a:endCxn id="7" idx="1"/>
          </p:cNvCxnSpPr>
          <p:nvPr/>
        </p:nvCxnSpPr>
        <p:spPr>
          <a:xfrm flipV="1">
            <a:off x="4245655" y="3429000"/>
            <a:ext cx="634772" cy="84182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71A3995-350B-CD9F-1EC2-0274039C6525}"/>
              </a:ext>
            </a:extLst>
          </p:cNvPr>
          <p:cNvCxnSpPr>
            <a:cxnSpLocks/>
            <a:stCxn id="9" idx="6"/>
            <a:endCxn id="7" idx="1"/>
          </p:cNvCxnSpPr>
          <p:nvPr/>
        </p:nvCxnSpPr>
        <p:spPr>
          <a:xfrm>
            <a:off x="4245655" y="2788558"/>
            <a:ext cx="634772" cy="64044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01B5E7E-42CF-940E-04BB-08B7485A2550}"/>
              </a:ext>
            </a:extLst>
          </p:cNvPr>
          <p:cNvCxnSpPr>
            <a:cxnSpLocks/>
            <a:stCxn id="7" idx="3"/>
            <a:endCxn id="34" idx="2"/>
          </p:cNvCxnSpPr>
          <p:nvPr/>
        </p:nvCxnSpPr>
        <p:spPr>
          <a:xfrm>
            <a:off x="6741886" y="3429000"/>
            <a:ext cx="415243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AD07D1-511D-1479-4A94-99492024FF48}"/>
              </a:ext>
            </a:extLst>
          </p:cNvPr>
          <p:cNvCxnSpPr>
            <a:cxnSpLocks/>
            <a:stCxn id="34" idx="6"/>
            <a:endCxn id="8" idx="1"/>
          </p:cNvCxnSpPr>
          <p:nvPr/>
        </p:nvCxnSpPr>
        <p:spPr>
          <a:xfrm flipV="1">
            <a:off x="7596186" y="3428999"/>
            <a:ext cx="429082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56A482C-D71E-3B6D-8937-134A40FB2F5E}"/>
              </a:ext>
            </a:extLst>
          </p:cNvPr>
          <p:cNvSpPr/>
          <p:nvPr/>
        </p:nvSpPr>
        <p:spPr>
          <a:xfrm>
            <a:off x="7157129" y="3209471"/>
            <a:ext cx="439057" cy="439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C1BBF1B-9D8A-11EC-09E4-5203E4ED2171}"/>
              </a:ext>
            </a:extLst>
          </p:cNvPr>
          <p:cNvCxnSpPr>
            <a:cxnSpLocks/>
            <a:stCxn id="8" idx="3"/>
            <a:endCxn id="55" idx="2"/>
          </p:cNvCxnSpPr>
          <p:nvPr/>
        </p:nvCxnSpPr>
        <p:spPr>
          <a:xfrm>
            <a:off x="10274300" y="3428999"/>
            <a:ext cx="786500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DB2BA9C-54F2-55C7-6CBD-E20C3E3C69BA}"/>
              </a:ext>
            </a:extLst>
          </p:cNvPr>
          <p:cNvSpPr/>
          <p:nvPr/>
        </p:nvSpPr>
        <p:spPr>
          <a:xfrm>
            <a:off x="11060800" y="3209471"/>
            <a:ext cx="439057" cy="439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6A1912-DCA7-1848-9890-0647F29FFE19}"/>
              </a:ext>
            </a:extLst>
          </p:cNvPr>
          <p:cNvSpPr txBox="1"/>
          <p:nvPr/>
        </p:nvSpPr>
        <p:spPr>
          <a:xfrm>
            <a:off x="3546927" y="2117148"/>
            <a:ext cx="1333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buf1Ready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B92E55-A523-11D1-978D-B0B580E7BAFB}"/>
              </a:ext>
            </a:extLst>
          </p:cNvPr>
          <p:cNvSpPr txBox="1"/>
          <p:nvPr/>
        </p:nvSpPr>
        <p:spPr>
          <a:xfrm>
            <a:off x="3546927" y="4691742"/>
            <a:ext cx="1333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buf2Ready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1A7D763-C3AC-B74D-5404-514D9F92828D}"/>
              </a:ext>
            </a:extLst>
          </p:cNvPr>
          <p:cNvSpPr txBox="1"/>
          <p:nvPr/>
        </p:nvSpPr>
        <p:spPr>
          <a:xfrm>
            <a:off x="6709907" y="3691037"/>
            <a:ext cx="1333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multiplied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2146B6-7466-FDCC-B9F8-91326A240B9A}"/>
              </a:ext>
            </a:extLst>
          </p:cNvPr>
          <p:cNvSpPr txBox="1"/>
          <p:nvPr/>
        </p:nvSpPr>
        <p:spPr>
          <a:xfrm>
            <a:off x="10667550" y="4051299"/>
            <a:ext cx="1333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dataReady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1430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F26EDD1-1CEF-94D6-E722-0BE427BF3C76}"/>
              </a:ext>
            </a:extLst>
          </p:cNvPr>
          <p:cNvSpPr txBox="1"/>
          <p:nvPr/>
        </p:nvSpPr>
        <p:spPr>
          <a:xfrm>
            <a:off x="0" y="0"/>
            <a:ext cx="11268075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Создаём буферы, но не пересылаем данные сразу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CL_MEM_READ_ONLY,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cl::Buffer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buf3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(context, CL_MEM_WRITE_ONLY,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cl::Event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buf1Ready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buf2Ready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multiplied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highlight>
                  <a:srgbClr val="C0C0C0"/>
                </a:highlight>
                <a:latin typeface="Cascadia Mono" panose="020B0609020000020004" pitchFamily="49" charset="0"/>
              </a:rPr>
              <a:t>resultReady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enqueueWriteBuffer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(buf1,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CL_FALSE,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events=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buf1Ready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enqueueWriteBuffer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(buf2,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CL_FALSE,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events=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buf2Ready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Устанавливаем зависимости для ядра: оно должно выполниться после загрузки буферов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cl::vector&lt;cl::Event&gt;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kernelDeps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buf1Ready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buf2Ready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enqueueNDRangeKernel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(kernel,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/*offset*/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NullRange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globalSize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localSize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&amp;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kernelDeps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multiplied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cl::vector&lt;cl::Event&gt;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00FF"/>
                </a:highlight>
                <a:latin typeface="Consolas" panose="020B0609020204030204" pitchFamily="49" charset="0"/>
              </a:rPr>
              <a:t>readDeps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multiplied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Ставим в очередь чтение результата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buf3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связываем его с событием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sultReady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enqueueReadBuffer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(buf3,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blocking=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CL_FALSE,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offset=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&amp;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00FF"/>
                </a:highlight>
                <a:latin typeface="Consolas" panose="020B0609020204030204" pitchFamily="49" charset="0"/>
              </a:rPr>
              <a:t>readDeps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800" dirty="0" err="1">
                <a:solidFill>
                  <a:srgbClr val="000000"/>
                </a:solidFill>
                <a:highlight>
                  <a:srgbClr val="C0C0C0"/>
                </a:highlight>
                <a:latin typeface="Cascadia Mono" panose="020B0609020000020004" pitchFamily="49" charset="0"/>
              </a:rPr>
              <a:t>resultReady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1F377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highlight>
                  <a:srgbClr val="C0C0C0"/>
                </a:highlight>
                <a:latin typeface="Consolas" panose="020B0609020204030204" pitchFamily="49" charset="0"/>
              </a:rPr>
              <a:t>resultReady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Ждём завершения чтения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результата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BA6B57-7B59-465C-7C30-D60AFFF616CD}"/>
              </a:ext>
            </a:extLst>
          </p:cNvPr>
          <p:cNvSpPr/>
          <p:nvPr/>
        </p:nvSpPr>
        <p:spPr>
          <a:xfrm>
            <a:off x="8862825" y="1254562"/>
            <a:ext cx="223006" cy="2230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2B1884-F156-9FA1-70FA-D41615153FFB}"/>
              </a:ext>
            </a:extLst>
          </p:cNvPr>
          <p:cNvSpPr/>
          <p:nvPr/>
        </p:nvSpPr>
        <p:spPr>
          <a:xfrm>
            <a:off x="8862825" y="1721693"/>
            <a:ext cx="223006" cy="2230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8F050E-7506-5825-0E5C-5D8E9C2959A3}"/>
              </a:ext>
            </a:extLst>
          </p:cNvPr>
          <p:cNvSpPr/>
          <p:nvPr/>
        </p:nvSpPr>
        <p:spPr>
          <a:xfrm>
            <a:off x="9349102" y="1254562"/>
            <a:ext cx="223006" cy="2230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F7EC23A-2F35-02BD-0450-C7F18B225743}"/>
              </a:ext>
            </a:extLst>
          </p:cNvPr>
          <p:cNvSpPr/>
          <p:nvPr/>
        </p:nvSpPr>
        <p:spPr>
          <a:xfrm>
            <a:off x="9349102" y="1717729"/>
            <a:ext cx="223006" cy="2230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B75CF56-36DB-F05F-94AE-9FA674C47639}"/>
              </a:ext>
            </a:extLst>
          </p:cNvPr>
          <p:cNvSpPr/>
          <p:nvPr/>
        </p:nvSpPr>
        <p:spPr>
          <a:xfrm>
            <a:off x="11447006" y="1507650"/>
            <a:ext cx="223006" cy="2230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0027738-72E9-5617-B967-821A50FBE1D2}"/>
              </a:ext>
            </a:extLst>
          </p:cNvPr>
          <p:cNvSpPr/>
          <p:nvPr/>
        </p:nvSpPr>
        <p:spPr>
          <a:xfrm>
            <a:off x="11893833" y="1507650"/>
            <a:ext cx="223006" cy="223006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F8AF91-9489-9E5A-7ED4-B095F8D3F92F}"/>
              </a:ext>
            </a:extLst>
          </p:cNvPr>
          <p:cNvCxnSpPr>
            <a:stCxn id="13" idx="3"/>
            <a:endCxn id="18" idx="2"/>
          </p:cNvCxnSpPr>
          <p:nvPr/>
        </p:nvCxnSpPr>
        <p:spPr>
          <a:xfrm>
            <a:off x="9085831" y="1366065"/>
            <a:ext cx="263271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F152CA1-5264-128B-09A3-3070F10745BD}"/>
              </a:ext>
            </a:extLst>
          </p:cNvPr>
          <p:cNvCxnSpPr>
            <a:stCxn id="14" idx="3"/>
            <a:endCxn id="19" idx="2"/>
          </p:cNvCxnSpPr>
          <p:nvPr/>
        </p:nvCxnSpPr>
        <p:spPr>
          <a:xfrm flipV="1">
            <a:off x="9085831" y="1829232"/>
            <a:ext cx="263271" cy="396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CE13E24-3799-9794-1761-F47129602EEB}"/>
              </a:ext>
            </a:extLst>
          </p:cNvPr>
          <p:cNvCxnSpPr>
            <a:cxnSpLocks/>
            <a:stCxn id="18" idx="5"/>
            <a:endCxn id="54" idx="1"/>
          </p:cNvCxnSpPr>
          <p:nvPr/>
        </p:nvCxnSpPr>
        <p:spPr>
          <a:xfrm>
            <a:off x="9539450" y="1444910"/>
            <a:ext cx="269710" cy="17424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0B3A9E9-79A3-E4BD-2991-F7D7C8A0BAE8}"/>
              </a:ext>
            </a:extLst>
          </p:cNvPr>
          <p:cNvCxnSpPr>
            <a:cxnSpLocks/>
            <a:stCxn id="19" idx="7"/>
            <a:endCxn id="54" idx="1"/>
          </p:cNvCxnSpPr>
          <p:nvPr/>
        </p:nvCxnSpPr>
        <p:spPr>
          <a:xfrm flipV="1">
            <a:off x="9539450" y="1619153"/>
            <a:ext cx="269710" cy="13123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CCA4EA4-E6B5-7CD5-8DCF-1365A9AD6D30}"/>
              </a:ext>
            </a:extLst>
          </p:cNvPr>
          <p:cNvCxnSpPr>
            <a:cxnSpLocks/>
          </p:cNvCxnSpPr>
          <p:nvPr/>
        </p:nvCxnSpPr>
        <p:spPr>
          <a:xfrm>
            <a:off x="9955507" y="1617870"/>
            <a:ext cx="310226" cy="256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9921820-D09B-1084-88D3-2D026E778920}"/>
              </a:ext>
            </a:extLst>
          </p:cNvPr>
          <p:cNvCxnSpPr>
            <a:cxnSpLocks/>
          </p:cNvCxnSpPr>
          <p:nvPr/>
        </p:nvCxnSpPr>
        <p:spPr>
          <a:xfrm>
            <a:off x="11670012" y="1617125"/>
            <a:ext cx="223821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754AB6FC-0C84-5CD6-F9E9-BA9AB008ED49}"/>
              </a:ext>
            </a:extLst>
          </p:cNvPr>
          <p:cNvSpPr/>
          <p:nvPr/>
        </p:nvSpPr>
        <p:spPr>
          <a:xfrm>
            <a:off x="10265733" y="1507650"/>
            <a:ext cx="223006" cy="2230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ADC723E-3E80-CF6F-96DF-58EEF23B6CD6}"/>
              </a:ext>
            </a:extLst>
          </p:cNvPr>
          <p:cNvSpPr/>
          <p:nvPr/>
        </p:nvSpPr>
        <p:spPr>
          <a:xfrm>
            <a:off x="9809160" y="1528296"/>
            <a:ext cx="146347" cy="181714"/>
          </a:xfrm>
          <a:prstGeom prst="roundRect">
            <a:avLst>
              <a:gd name="adj" fmla="val 31854"/>
            </a:avLst>
          </a:prstGeom>
          <a:solidFill>
            <a:srgbClr val="00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25CBDF6-AB4D-BAF8-2DD1-BD7061ED08DF}"/>
              </a:ext>
            </a:extLst>
          </p:cNvPr>
          <p:cNvCxnSpPr>
            <a:cxnSpLocks/>
          </p:cNvCxnSpPr>
          <p:nvPr/>
        </p:nvCxnSpPr>
        <p:spPr>
          <a:xfrm>
            <a:off x="10488739" y="1616277"/>
            <a:ext cx="233567" cy="84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8462F98-3695-8F7A-BBA1-D634AA27EE69}"/>
              </a:ext>
            </a:extLst>
          </p:cNvPr>
          <p:cNvSpPr/>
          <p:nvPr/>
        </p:nvSpPr>
        <p:spPr>
          <a:xfrm>
            <a:off x="11125214" y="1528296"/>
            <a:ext cx="146347" cy="181714"/>
          </a:xfrm>
          <a:prstGeom prst="roundRect">
            <a:avLst>
              <a:gd name="adj" fmla="val 31854"/>
            </a:avLst>
          </a:prstGeom>
          <a:solidFill>
            <a:srgbClr val="FF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66A8BF6-E2F1-B5D5-2CCC-2E3A617FF329}"/>
              </a:ext>
            </a:extLst>
          </p:cNvPr>
          <p:cNvSpPr/>
          <p:nvPr/>
        </p:nvSpPr>
        <p:spPr>
          <a:xfrm>
            <a:off x="10722306" y="1507650"/>
            <a:ext cx="223006" cy="223006"/>
          </a:xfrm>
          <a:prstGeom prst="ellipse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0B15A71-C446-8FF5-F32F-1376BBF6E00C}"/>
              </a:ext>
            </a:extLst>
          </p:cNvPr>
          <p:cNvCxnSpPr>
            <a:cxnSpLocks/>
          </p:cNvCxnSpPr>
          <p:nvPr/>
        </p:nvCxnSpPr>
        <p:spPr>
          <a:xfrm>
            <a:off x="10945312" y="1615718"/>
            <a:ext cx="17990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0F779D2-93C5-6861-AC90-1C8D90A66F01}"/>
              </a:ext>
            </a:extLst>
          </p:cNvPr>
          <p:cNvCxnSpPr>
            <a:cxnSpLocks/>
          </p:cNvCxnSpPr>
          <p:nvPr/>
        </p:nvCxnSpPr>
        <p:spPr>
          <a:xfrm>
            <a:off x="11271561" y="1615718"/>
            <a:ext cx="17544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984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55F57-2213-8122-5E8C-14E388E5E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Профилирование событий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E6C18-3B50-47DC-612E-23692D056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Флаг </a:t>
            </a:r>
            <a:r>
              <a:rPr lang="en-US" dirty="0"/>
              <a:t>CL_QUEUE_PROFILING_ENABLE </a:t>
            </a:r>
            <a:r>
              <a:rPr lang="ru-RU" dirty="0"/>
              <a:t>очереди включает профилирование для команд</a:t>
            </a:r>
          </a:p>
          <a:p>
            <a:r>
              <a:rPr lang="ru-RU" dirty="0"/>
              <a:t>У события можно получить время при помощи метода </a:t>
            </a:r>
            <a:r>
              <a:rPr lang="en-US" b="1" dirty="0" err="1"/>
              <a:t>getProfilingInfo</a:t>
            </a:r>
            <a:endParaRPr lang="ru-RU" b="1" dirty="0"/>
          </a:p>
          <a:p>
            <a:r>
              <a:rPr lang="ru-RU" dirty="0"/>
              <a:t>Зачем это нужно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Для измерения времени выполнения ядра или операций копирования</a:t>
            </a:r>
            <a:endParaRPr lang="en-US" dirty="0"/>
          </a:p>
          <a:p>
            <a:pPr lvl="1"/>
            <a:r>
              <a:rPr lang="ru-RU" dirty="0"/>
              <a:t>Для отладки и оптимизации производительности</a:t>
            </a:r>
            <a:endParaRPr lang="en-US" dirty="0"/>
          </a:p>
          <a:p>
            <a:pPr lvl="1"/>
            <a:r>
              <a:rPr lang="ru-RU" dirty="0"/>
              <a:t>Для профилирования </a:t>
            </a:r>
            <a:r>
              <a:rPr lang="ru-RU" dirty="0" err="1"/>
              <a:t>OpenCL</a:t>
            </a:r>
            <a:r>
              <a:rPr lang="ru-RU" dirty="0"/>
              <a:t>-приложений вручную, без сторонних инструментов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439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0520AA-FF92-2707-3916-C8640713A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времени вычислений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C926E-0713-7DFD-F57B-C3A9F3AC5D74}"/>
              </a:ext>
            </a:extLst>
          </p:cNvPr>
          <p:cNvSpPr txBox="1"/>
          <p:nvPr/>
        </p:nvSpPr>
        <p:spPr>
          <a:xfrm>
            <a:off x="838200" y="1981200"/>
            <a:ext cx="113538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PrintEventDuration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cl_ulong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getProfilingInfo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(CL_PROFILING_COMMAND_START, 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getProfilingInfo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(CL_PROFILING_COMMAND_END, 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nanoseconds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durationNs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durationNs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seconds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MultMatrices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rows1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columns1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columns2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PrintEventDuration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(buf1Ready,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Buffer 1 write time: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PrintEventDuration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(buf2Ready,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Buffer 2 write time: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PrintEventDuration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(multiplied,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Kernel execution time: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PrintEventDuration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resultReady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Buffer 3 read time: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64359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3836-76CA-4D35-2030-3C715484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Достигнутое ускорение при использовании </a:t>
            </a:r>
            <a:r>
              <a:rPr lang="en-US" dirty="0"/>
              <a:t>out-of-order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E0C47-8CBC-FCED-B2A2-130EAC821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Тайловое</a:t>
            </a:r>
            <a:r>
              <a:rPr lang="ru-RU" dirty="0"/>
              <a:t> умножение матриц </a:t>
            </a:r>
            <a:r>
              <a:rPr lang="en-US" dirty="0"/>
              <a:t>4096*4096 </a:t>
            </a:r>
            <a:r>
              <a:rPr lang="ru-RU" dirty="0"/>
              <a:t>при использовании последовательной очереди</a:t>
            </a:r>
            <a:r>
              <a:rPr lang="en-US" dirty="0"/>
              <a:t>: 0.397</a:t>
            </a:r>
            <a:r>
              <a:rPr lang="ru-RU" dirty="0"/>
              <a:t>с</a:t>
            </a:r>
          </a:p>
          <a:p>
            <a:r>
              <a:rPr lang="ru-RU" dirty="0" err="1"/>
              <a:t>Тайловое</a:t>
            </a:r>
            <a:r>
              <a:rPr lang="ru-RU" dirty="0"/>
              <a:t> умножение матриц </a:t>
            </a:r>
            <a:r>
              <a:rPr lang="en-US" dirty="0"/>
              <a:t>4096*4096 </a:t>
            </a:r>
            <a:r>
              <a:rPr lang="ru-RU" dirty="0"/>
              <a:t>при использовании </a:t>
            </a:r>
            <a:r>
              <a:rPr lang="en-US" dirty="0"/>
              <a:t>out-of-order</a:t>
            </a:r>
            <a:r>
              <a:rPr lang="ru-RU" dirty="0"/>
              <a:t> очереди</a:t>
            </a:r>
            <a:r>
              <a:rPr lang="en-US" dirty="0"/>
              <a:t>: 0.368</a:t>
            </a:r>
            <a:r>
              <a:rPr lang="ru-RU" dirty="0"/>
              <a:t>с</a:t>
            </a:r>
            <a:r>
              <a:rPr lang="en-US" dirty="0"/>
              <a:t> (1.0788x)</a:t>
            </a:r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F93D9-E9FC-B624-A084-90BF50B080F2}"/>
              </a:ext>
            </a:extLst>
          </p:cNvPr>
          <p:cNvSpPr txBox="1"/>
          <p:nvPr/>
        </p:nvSpPr>
        <p:spPr>
          <a:xfrm>
            <a:off x="1485900" y="4557574"/>
            <a:ext cx="8001000" cy="17543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Selected device: NVIDIA GeForce RTX 4060 Laptop GPU</a:t>
            </a:r>
          </a:p>
          <a:p>
            <a:r>
              <a:rPr lang="en-US" dirty="0">
                <a:latin typeface="Consolas" panose="020B0609020204030204" pitchFamily="49" charset="0"/>
              </a:rPr>
              <a:t>Buffer 1 write time: 0.00585651 seconds</a:t>
            </a:r>
          </a:p>
          <a:p>
            <a:r>
              <a:rPr lang="en-US" dirty="0">
                <a:latin typeface="Consolas" panose="020B0609020204030204" pitchFamily="49" charset="0"/>
              </a:rPr>
              <a:t>Buffer 2 write time: 0.00546342 seconds</a:t>
            </a:r>
          </a:p>
          <a:p>
            <a:r>
              <a:rPr lang="en-US" dirty="0">
                <a:latin typeface="Consolas" panose="020B0609020204030204" pitchFamily="49" charset="0"/>
              </a:rPr>
              <a:t>Kernel execution time: 0.345232 seconds</a:t>
            </a:r>
          </a:p>
          <a:p>
            <a:r>
              <a:rPr lang="en-US" dirty="0">
                <a:latin typeface="Consolas" panose="020B0609020204030204" pitchFamily="49" charset="0"/>
              </a:rPr>
              <a:t>Buffer 3 read time: 0.00544061 seconds</a:t>
            </a:r>
          </a:p>
          <a:p>
            <a:r>
              <a:rPr lang="en-US" dirty="0">
                <a:latin typeface="Consolas" panose="020B0609020204030204" pitchFamily="49" charset="0"/>
              </a:rPr>
              <a:t>GPU Multiplication time: 0.368481 seconds</a:t>
            </a:r>
          </a:p>
        </p:txBody>
      </p:sp>
    </p:spTree>
    <p:extLst>
      <p:ext uri="{BB962C8B-B14F-4D97-AF65-F5344CB8AC3E}">
        <p14:creationId xmlns:p14="http://schemas.microsoft.com/office/powerpoint/2010/main" val="399976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F0F86E-FC5C-8E1D-8CB3-C6F633DE8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OpenCL</a:t>
            </a:r>
            <a:r>
              <a:rPr lang="ru-RU" dirty="0"/>
              <a:t> и вопросы производительности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1CFF6A-92BF-D920-B506-F216786BA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54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A708C6-889C-232F-47A0-5D880F333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 GPU и Integrated GPU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EF66F8-BD2C-9A5B-664E-E680A1150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Discrete GPU (</a:t>
            </a:r>
            <a:r>
              <a:rPr lang="en-US" b="1" dirty="0" err="1"/>
              <a:t>дискретная</a:t>
            </a:r>
            <a:r>
              <a:rPr lang="en-US" b="1" dirty="0"/>
              <a:t> </a:t>
            </a:r>
            <a:r>
              <a:rPr lang="en-US" b="1" dirty="0" err="1"/>
              <a:t>видеокарта</a:t>
            </a:r>
            <a:r>
              <a:rPr lang="en-US" b="1" dirty="0"/>
              <a:t>)</a:t>
            </a:r>
          </a:p>
          <a:p>
            <a:pPr lvl="1"/>
            <a:r>
              <a:rPr lang="en-US" dirty="0"/>
              <a:t>CPU RAM  ←PCIe→  GPU VRAM</a:t>
            </a:r>
          </a:p>
          <a:p>
            <a:pPr lvl="2"/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GPU, </a:t>
            </a:r>
          </a:p>
          <a:p>
            <a:pPr lvl="2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, </a:t>
            </a:r>
          </a:p>
          <a:p>
            <a:pPr lvl="2"/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копировать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 </a:t>
            </a:r>
          </a:p>
          <a:p>
            <a:r>
              <a:rPr lang="en-US" b="1" dirty="0"/>
              <a:t>Integrated GPU (</a:t>
            </a:r>
            <a:r>
              <a:rPr lang="en-US" b="1" dirty="0" err="1"/>
              <a:t>встроенная</a:t>
            </a:r>
            <a:r>
              <a:rPr lang="en-US" b="1" dirty="0"/>
              <a:t> </a:t>
            </a:r>
            <a:r>
              <a:rPr lang="en-US" b="1" dirty="0" err="1"/>
              <a:t>графика</a:t>
            </a:r>
            <a:r>
              <a:rPr lang="en-US" b="1" dirty="0"/>
              <a:t>)</a:t>
            </a:r>
          </a:p>
          <a:p>
            <a:pPr lvl="1"/>
            <a:r>
              <a:rPr lang="en-US" dirty="0"/>
              <a:t>CPU ↔ Shared RAM ↔ GPU</a:t>
            </a:r>
          </a:p>
          <a:p>
            <a:pPr lvl="2"/>
            <a:r>
              <a:rPr lang="en-US" dirty="0"/>
              <a:t>CPU и GPU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</a:p>
          <a:p>
            <a:pPr lvl="2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lvl="2"/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. </a:t>
            </a:r>
          </a:p>
          <a:p>
            <a:r>
              <a:rPr lang="en-US" b="1" dirty="0" err="1"/>
              <a:t>Примеры</a:t>
            </a:r>
            <a:endParaRPr lang="en-US" b="1" dirty="0"/>
          </a:p>
          <a:p>
            <a:pPr lvl="1"/>
            <a:r>
              <a:rPr lang="en-US" dirty="0"/>
              <a:t>Intel UHD / Iris </a:t>
            </a:r>
          </a:p>
          <a:p>
            <a:pPr lvl="1"/>
            <a:r>
              <a:rPr lang="en-US" dirty="0"/>
              <a:t>AMD APU </a:t>
            </a:r>
          </a:p>
          <a:p>
            <a:pPr lvl="1"/>
            <a:r>
              <a:rPr lang="en-US" dirty="0"/>
              <a:t>Apple Silicon M-series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8354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09D0F-A7EF-B72A-C963-1D7B7E290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Unified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5B423-EDC6-6D09-B8A5-815C4F24D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Идея</a:t>
            </a:r>
            <a:r>
              <a:rPr lang="en-US" dirty="0"/>
              <a:t> Unified Memory</a:t>
            </a:r>
          </a:p>
          <a:p>
            <a:pPr lvl="1"/>
            <a:r>
              <a:rPr lang="en-US" dirty="0"/>
              <a:t>CPU и GPU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единым</a:t>
            </a:r>
            <a:r>
              <a:rPr lang="en-US" dirty="0"/>
              <a:t> </a:t>
            </a:r>
            <a:r>
              <a:rPr lang="en-US" dirty="0" err="1"/>
              <a:t>адресным</a:t>
            </a:r>
            <a:r>
              <a:rPr lang="en-US" dirty="0"/>
              <a:t> </a:t>
            </a:r>
            <a:r>
              <a:rPr lang="en-US" dirty="0" err="1"/>
              <a:t>пространством</a:t>
            </a:r>
            <a:r>
              <a:rPr lang="en-US" dirty="0"/>
              <a:t>.</a:t>
            </a: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ручного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упрощение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автоматическая</a:t>
            </a:r>
            <a:r>
              <a:rPr lang="en-US" dirty="0"/>
              <a:t> </a:t>
            </a:r>
            <a:r>
              <a:rPr lang="en-US" dirty="0" err="1"/>
              <a:t>миграция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CPU и GPU. </a:t>
            </a:r>
          </a:p>
          <a:p>
            <a:r>
              <a:rPr lang="en-US" dirty="0"/>
              <a:t>Unified Memory</a:t>
            </a:r>
            <a:r>
              <a:rPr lang="ru-RU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отменяет</a:t>
            </a:r>
            <a:r>
              <a:rPr lang="en-US" dirty="0"/>
              <a:t> </a:t>
            </a:r>
            <a:r>
              <a:rPr lang="en-US" dirty="0" err="1"/>
              <a:t>физические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ru-RU" dirty="0"/>
              <a:t> </a:t>
            </a:r>
            <a:r>
              <a:rPr lang="en-US" dirty="0"/>
              <a:t>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бесплатной</a:t>
            </a:r>
            <a:r>
              <a:rPr lang="en-US" dirty="0"/>
              <a:t>. </a:t>
            </a:r>
          </a:p>
          <a:p>
            <a:r>
              <a:rPr lang="en-US" dirty="0"/>
              <a:t>Unified Memory ≠ infinite performance</a:t>
            </a:r>
          </a:p>
          <a:p>
            <a:r>
              <a:rPr lang="en-US" dirty="0" err="1"/>
              <a:t>Возможные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endParaRPr lang="en-US" dirty="0"/>
          </a:p>
          <a:p>
            <a:pPr lvl="1"/>
            <a:r>
              <a:rPr lang="en-US" dirty="0"/>
              <a:t>page migration, </a:t>
            </a:r>
          </a:p>
          <a:p>
            <a:pPr lvl="1"/>
            <a:r>
              <a:rPr lang="en-US" dirty="0"/>
              <a:t>page faults, </a:t>
            </a:r>
          </a:p>
          <a:p>
            <a:pPr lvl="1"/>
            <a:r>
              <a:rPr lang="en-US" dirty="0" err="1"/>
              <a:t>непредсказуемые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225097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F1FFE-3CAC-B5D2-B313-0B7508161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Влияние архитектуры на </a:t>
            </a:r>
            <a:r>
              <a:rPr lang="en-US" dirty="0" err="1"/>
              <a:t>производительност</a:t>
            </a:r>
            <a:r>
              <a:rPr lang="ru-RU" dirty="0"/>
              <a:t>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ADFC8-541A-6914-35F5-DCA2F987A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Discrete GPU</a:t>
            </a:r>
          </a:p>
          <a:p>
            <a:pPr lvl="1"/>
            <a:r>
              <a:rPr lang="en-US" dirty="0" err="1"/>
              <a:t>Плюсы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мощность</a:t>
            </a:r>
            <a:r>
              <a:rPr lang="en-US" dirty="0"/>
              <a:t>, </a:t>
            </a:r>
          </a:p>
          <a:p>
            <a:pPr lvl="2"/>
            <a:r>
              <a:rPr lang="en-US" dirty="0" err="1"/>
              <a:t>огромный</a:t>
            </a:r>
            <a:r>
              <a:rPr lang="en-US" dirty="0"/>
              <a:t> bandwidth VRAM. </a:t>
            </a:r>
          </a:p>
          <a:p>
            <a:pPr lvl="1"/>
            <a:r>
              <a:rPr lang="en-US" dirty="0" err="1"/>
              <a:t>Минусы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дорогая</a:t>
            </a:r>
            <a:r>
              <a:rPr lang="en-US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CPU ↔ GPU. </a:t>
            </a:r>
          </a:p>
          <a:p>
            <a:r>
              <a:rPr lang="en-US" dirty="0"/>
              <a:t>Integrated GPU</a:t>
            </a:r>
          </a:p>
          <a:p>
            <a:pPr lvl="1"/>
            <a:r>
              <a:rPr lang="en-US" dirty="0" err="1"/>
              <a:t>Плюсы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shared memory, </a:t>
            </a:r>
          </a:p>
          <a:p>
            <a:pPr lvl="2"/>
            <a:r>
              <a:rPr lang="en-US" dirty="0" err="1"/>
              <a:t>низкие</a:t>
            </a:r>
            <a:r>
              <a:rPr lang="en-US" dirty="0"/>
              <a:t> 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, </a:t>
            </a:r>
          </a:p>
          <a:p>
            <a:pPr lvl="2"/>
            <a:r>
              <a:rPr lang="en-US" dirty="0" err="1"/>
              <a:t>энергоэффективность</a:t>
            </a:r>
            <a:r>
              <a:rPr lang="en-US" dirty="0"/>
              <a:t>. </a:t>
            </a:r>
          </a:p>
          <a:p>
            <a:pPr lvl="1"/>
            <a:r>
              <a:rPr lang="en-US" dirty="0" err="1"/>
              <a:t>Минусы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, </a:t>
            </a:r>
          </a:p>
          <a:p>
            <a:pPr lvl="2"/>
            <a:r>
              <a:rPr lang="ru-RU" dirty="0"/>
              <a:t>Пропускная способность шины делится </a:t>
            </a:r>
            <a:r>
              <a:rPr lang="en-US" dirty="0"/>
              <a:t>с CPU. </a:t>
            </a:r>
          </a:p>
          <a:p>
            <a:r>
              <a:rPr lang="en-US" dirty="0" err="1"/>
              <a:t>Архитектура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влияет</a:t>
            </a:r>
            <a:r>
              <a:rPr lang="ru-RU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,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ru-RU" dirty="0"/>
              <a:t> </a:t>
            </a:r>
            <a:r>
              <a:rPr lang="en-US" dirty="0"/>
              <a:t>и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9194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D60971-7237-143B-BF19-4514D7B2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Occupancy — </a:t>
            </a:r>
            <a:r>
              <a:rPr lang="en-US" dirty="0" err="1"/>
              <a:t>загрузка</a:t>
            </a:r>
            <a:r>
              <a:rPr lang="en-US" dirty="0"/>
              <a:t> GPU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C4B6DB-38AF-CDB2-CA73-60A1A0A7C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GPU </a:t>
            </a:r>
            <a:r>
              <a:rPr lang="en-US" dirty="0" err="1"/>
              <a:t>скрывает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помощи</a:t>
            </a:r>
            <a:r>
              <a:rPr lang="en-US" dirty="0"/>
              <a:t> warp-</a:t>
            </a:r>
            <a:r>
              <a:rPr lang="en-US" dirty="0" err="1"/>
              <a:t>ов</a:t>
            </a:r>
            <a:endParaRPr lang="en-US" dirty="0"/>
          </a:p>
          <a:p>
            <a:pPr lvl="1"/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warp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GPU </a:t>
            </a:r>
            <a:r>
              <a:rPr lang="en-US" dirty="0" err="1"/>
              <a:t>переключается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warp. </a:t>
            </a:r>
          </a:p>
          <a:p>
            <a:r>
              <a:rPr lang="en-US" dirty="0"/>
              <a:t>Occupancy —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заполнения</a:t>
            </a:r>
            <a:r>
              <a:rPr lang="en-US" dirty="0"/>
              <a:t> Streaming Multiprocessor </a:t>
            </a:r>
            <a:r>
              <a:rPr lang="en-US" dirty="0" err="1"/>
              <a:t>активными</a:t>
            </a:r>
            <a:r>
              <a:rPr lang="en-US" dirty="0"/>
              <a:t> warp-</a:t>
            </a:r>
            <a:r>
              <a:rPr lang="en-US" dirty="0" err="1"/>
              <a:t>ами</a:t>
            </a:r>
            <a:r>
              <a:rPr lang="en-US" dirty="0"/>
              <a:t>.</a:t>
            </a:r>
          </a:p>
          <a:p>
            <a:r>
              <a:rPr lang="en-US" dirty="0" err="1"/>
              <a:t>Высокий</a:t>
            </a:r>
            <a:r>
              <a:rPr lang="en-US" dirty="0"/>
              <a:t> occupancy</a:t>
            </a:r>
          </a:p>
          <a:p>
            <a:pPr lvl="1"/>
            <a:r>
              <a:rPr lang="en-US" dirty="0"/>
              <a:t>SM:</a:t>
            </a:r>
            <a:br>
              <a:rPr lang="en-US" dirty="0"/>
            </a:br>
            <a:r>
              <a:rPr lang="en-US" dirty="0"/>
              <a:t>Warp 0 → executing</a:t>
            </a:r>
            <a:br>
              <a:rPr lang="en-US" dirty="0"/>
            </a:br>
            <a:r>
              <a:rPr lang="en-US" dirty="0"/>
              <a:t>Warp 1 → ready</a:t>
            </a:r>
            <a:br>
              <a:rPr lang="en-US" dirty="0"/>
            </a:br>
            <a:r>
              <a:rPr lang="en-US" dirty="0"/>
              <a:t>Warp 2 → waiting memory</a:t>
            </a:r>
            <a:br>
              <a:rPr lang="en-US" dirty="0"/>
            </a:br>
            <a:r>
              <a:rPr lang="en-US" dirty="0"/>
              <a:t>Warp 3 → executing</a:t>
            </a:r>
            <a:br>
              <a:rPr lang="en-US" dirty="0"/>
            </a:br>
            <a:r>
              <a:rPr lang="en-US" dirty="0"/>
              <a:t>Warp 4 → ready</a:t>
            </a:r>
            <a:br>
              <a:rPr lang="en-US" dirty="0"/>
            </a:br>
            <a:r>
              <a:rPr lang="en-US" dirty="0"/>
              <a:t>...</a:t>
            </a:r>
          </a:p>
          <a:p>
            <a:pPr lvl="1"/>
            <a:r>
              <a:rPr lang="en-US" dirty="0"/>
              <a:t>GPU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простаивает</a:t>
            </a:r>
            <a:r>
              <a:rPr lang="en-US" dirty="0"/>
              <a:t>.</a:t>
            </a:r>
          </a:p>
          <a:p>
            <a:r>
              <a:rPr lang="en-US" dirty="0" err="1"/>
              <a:t>Низкий</a:t>
            </a:r>
            <a:r>
              <a:rPr lang="en-US" dirty="0"/>
              <a:t> occupancy</a:t>
            </a:r>
          </a:p>
          <a:p>
            <a:pPr lvl="1"/>
            <a:r>
              <a:rPr lang="en-US" dirty="0"/>
              <a:t>SM:</a:t>
            </a:r>
            <a:br>
              <a:rPr lang="en-US" dirty="0"/>
            </a:br>
            <a:r>
              <a:rPr lang="en-US" dirty="0"/>
              <a:t>Warp 0 → waiting memory</a:t>
            </a:r>
            <a:br>
              <a:rPr lang="en-US" dirty="0"/>
            </a:br>
            <a:r>
              <a:rPr lang="en-US" dirty="0"/>
              <a:t>Warp 1 → waiting memory</a:t>
            </a:r>
          </a:p>
          <a:p>
            <a:pPr lvl="1"/>
            <a:r>
              <a:rPr lang="en-US" dirty="0"/>
              <a:t>GPU </a:t>
            </a:r>
            <a:r>
              <a:rPr lang="en-US" dirty="0" err="1"/>
              <a:t>простаивает</a:t>
            </a:r>
            <a:r>
              <a:rPr lang="en-US" dirty="0"/>
              <a:t> в </a:t>
            </a:r>
            <a:r>
              <a:rPr lang="en-US" dirty="0" err="1"/>
              <a:t>ожидании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активных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 </a:t>
            </a:r>
            <a:r>
              <a:rPr lang="en-US" dirty="0" err="1"/>
              <a:t>помогает</a:t>
            </a:r>
            <a:r>
              <a:rPr lang="en-US" dirty="0"/>
              <a:t> </a:t>
            </a:r>
            <a:r>
              <a:rPr lang="en-US" dirty="0" err="1"/>
              <a:t>скрывать</a:t>
            </a:r>
            <a:r>
              <a:rPr lang="en-US" dirty="0"/>
              <a:t> </a:t>
            </a:r>
            <a:r>
              <a:rPr lang="ru-RU" dirty="0"/>
              <a:t>задержки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972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FC52-5294-3B57-6033-316002B15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occupancy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снижаться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45170-B98E-DE9A-4991-C60CA67D7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Ресурсы</a:t>
            </a:r>
            <a:r>
              <a:rPr lang="en-US" dirty="0"/>
              <a:t> SM </a:t>
            </a:r>
            <a:r>
              <a:rPr lang="en-US" dirty="0" err="1"/>
              <a:t>ограничены</a:t>
            </a:r>
            <a:endParaRPr lang="en-US" dirty="0"/>
          </a:p>
          <a:p>
            <a:pPr lvl="1"/>
            <a:r>
              <a:rPr lang="en-US" dirty="0" err="1"/>
              <a:t>Каждый</a:t>
            </a:r>
            <a:r>
              <a:rPr lang="en-US" dirty="0"/>
              <a:t> warp </a:t>
            </a:r>
            <a:r>
              <a:rPr lang="en-US" dirty="0" err="1"/>
              <a:t>использует</a:t>
            </a:r>
            <a:r>
              <a:rPr lang="ru-RU" dirty="0"/>
              <a:t> </a:t>
            </a:r>
            <a:r>
              <a:rPr lang="en-US" dirty="0" err="1"/>
              <a:t>регистры</a:t>
            </a:r>
            <a:r>
              <a:rPr lang="en-US" dirty="0"/>
              <a:t>, local memory, </a:t>
            </a:r>
            <a:r>
              <a:rPr lang="en-US" dirty="0" err="1"/>
              <a:t>ресурсы</a:t>
            </a:r>
            <a:r>
              <a:rPr lang="en-US" dirty="0"/>
              <a:t> scheduler-а. </a:t>
            </a:r>
          </a:p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kernel</a:t>
            </a:r>
          </a:p>
          <a:p>
            <a:pPr lvl="1"/>
            <a:r>
              <a:rPr lang="en-US" dirty="0" err="1"/>
              <a:t>Если</a:t>
            </a:r>
            <a:r>
              <a:rPr lang="en-US" dirty="0"/>
              <a:t> kernel </a:t>
            </a:r>
            <a:r>
              <a:rPr lang="en-US" dirty="0" err="1"/>
              <a:t>использует</a:t>
            </a:r>
            <a:r>
              <a:rPr lang="ru-RU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</a:t>
            </a:r>
            <a:r>
              <a:rPr lang="en-US" dirty="0" err="1"/>
              <a:t>большие</a:t>
            </a:r>
            <a:r>
              <a:rPr lang="en-US" dirty="0"/>
              <a:t> </a:t>
            </a:r>
            <a:r>
              <a:rPr lang="en-US" dirty="0" err="1"/>
              <a:t>тайлы</a:t>
            </a:r>
            <a:r>
              <a:rPr lang="en-US" dirty="0"/>
              <a:t>, </a:t>
            </a:r>
            <a:r>
              <a:rPr lang="en-US" dirty="0" err="1"/>
              <a:t>много</a:t>
            </a:r>
            <a:r>
              <a:rPr lang="en-US" dirty="0"/>
              <a:t> local memory, </a:t>
            </a:r>
            <a:r>
              <a:rPr lang="en-US" dirty="0" err="1"/>
              <a:t>то</a:t>
            </a:r>
            <a:r>
              <a:rPr lang="en-US" dirty="0"/>
              <a:t> SM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меньше</a:t>
            </a:r>
            <a:r>
              <a:rPr lang="en-US" dirty="0"/>
              <a:t> warp-</a:t>
            </a:r>
            <a:r>
              <a:rPr lang="en-US" dirty="0" err="1"/>
              <a:t>ов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</a:p>
          <a:p>
            <a:r>
              <a:rPr lang="en-US" dirty="0" err="1"/>
              <a:t>Большой</a:t>
            </a:r>
            <a:r>
              <a:rPr lang="en-US" dirty="0"/>
              <a:t> TILE_SIZE</a:t>
            </a:r>
            <a:endParaRPr lang="ru-RU" dirty="0"/>
          </a:p>
          <a:p>
            <a:pPr lvl="1"/>
            <a:r>
              <a:rPr lang="ru-RU" dirty="0"/>
              <a:t>б</a:t>
            </a:r>
            <a:r>
              <a:rPr lang="en-US" dirty="0" err="1"/>
              <a:t>ольше</a:t>
            </a:r>
            <a:r>
              <a:rPr lang="en-US" dirty="0"/>
              <a:t> local memory </a:t>
            </a:r>
            <a:r>
              <a:rPr lang="en-US" dirty="0" err="1"/>
              <a:t>на</a:t>
            </a:r>
            <a:r>
              <a:rPr lang="en-US" dirty="0"/>
              <a:t> Work Group</a:t>
            </a:r>
            <a:endParaRPr lang="ru-RU" dirty="0"/>
          </a:p>
          <a:p>
            <a:pPr lvl="1"/>
            <a:r>
              <a:rPr lang="ru-RU" dirty="0"/>
              <a:t>м</a:t>
            </a:r>
            <a:r>
              <a:rPr lang="en-US" dirty="0" err="1"/>
              <a:t>еньше</a:t>
            </a:r>
            <a:r>
              <a:rPr lang="en-US" dirty="0"/>
              <a:t> Work Groups </a:t>
            </a:r>
            <a:r>
              <a:rPr lang="en-US" dirty="0" err="1"/>
              <a:t>на</a:t>
            </a:r>
            <a:r>
              <a:rPr lang="en-US" dirty="0"/>
              <a:t> SM</a:t>
            </a:r>
            <a:endParaRPr lang="ru-RU" dirty="0"/>
          </a:p>
          <a:p>
            <a:pPr lvl="1"/>
            <a:r>
              <a:rPr lang="en-US" dirty="0" err="1"/>
              <a:t>Ниже</a:t>
            </a:r>
            <a:r>
              <a:rPr lang="en-US" dirty="0"/>
              <a:t> occupancy</a:t>
            </a:r>
          </a:p>
          <a:p>
            <a:r>
              <a:rPr lang="en-US" dirty="0" err="1"/>
              <a:t>Больше</a:t>
            </a:r>
            <a:r>
              <a:rPr lang="en-US" dirty="0"/>
              <a:t> local memory </a:t>
            </a:r>
            <a:r>
              <a:rPr lang="ru-RU" dirty="0"/>
              <a:t>не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.</a:t>
            </a:r>
          </a:p>
          <a:p>
            <a:r>
              <a:rPr lang="en-US" dirty="0"/>
              <a:t>GPU-</a:t>
            </a:r>
            <a:r>
              <a:rPr lang="en-US" dirty="0" err="1"/>
              <a:t>оптимизация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баланс</a:t>
            </a:r>
            <a:r>
              <a:rPr lang="ru-RU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, </a:t>
            </a:r>
            <a:r>
              <a:rPr lang="en-US" dirty="0" err="1"/>
              <a:t>памяти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occupancy</a:t>
            </a:r>
          </a:p>
        </p:txBody>
      </p:sp>
    </p:spTree>
    <p:extLst>
      <p:ext uri="{BB962C8B-B14F-4D97-AF65-F5344CB8AC3E}">
        <p14:creationId xmlns:p14="http://schemas.microsoft.com/office/powerpoint/2010/main" val="36740515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17579-5B3B-BD7E-93D9-39172366E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данных между </a:t>
            </a:r>
            <a:r>
              <a:rPr lang="en-US" dirty="0"/>
              <a:t>CPU </a:t>
            </a:r>
            <a:r>
              <a:rPr lang="ru-RU" dirty="0"/>
              <a:t>и </a:t>
            </a:r>
            <a:r>
              <a:rPr lang="en-US" dirty="0"/>
              <a:t>GPU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38543-9393-A2FD-AEED-4BE188C6F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GPU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endParaRPr lang="en-US" dirty="0"/>
          </a:p>
          <a:p>
            <a:pPr lvl="1"/>
            <a:r>
              <a:rPr lang="en-US" dirty="0"/>
              <a:t>CPU RAM  ←→  PCIe  ←→  GPU VRAM</a:t>
            </a:r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вычислениями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Скопировать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RAM в VRAM </a:t>
            </a:r>
          </a:p>
          <a:p>
            <a:pPr lvl="1"/>
            <a:r>
              <a:rPr lang="en-US" dirty="0" err="1"/>
              <a:t>Выполнить</a:t>
            </a:r>
            <a:r>
              <a:rPr lang="en-US" dirty="0"/>
              <a:t> kernel </a:t>
            </a:r>
          </a:p>
          <a:p>
            <a:pPr lvl="1"/>
            <a:r>
              <a:rPr lang="en-US" dirty="0" err="1"/>
              <a:t>Скопировать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</a:t>
            </a:r>
          </a:p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занимать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. </a:t>
            </a:r>
          </a:p>
          <a:p>
            <a:r>
              <a:rPr lang="en-US" dirty="0"/>
              <a:t>GPU </a:t>
            </a:r>
            <a:r>
              <a:rPr lang="en-US" dirty="0" err="1"/>
              <a:t>ускоряет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бесплатен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633791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C3416-2847-4122-D5CC-A884D73F7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GPU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всегда</a:t>
            </a:r>
            <a:r>
              <a:rPr lang="en-US" dirty="0"/>
              <a:t> </a:t>
            </a:r>
            <a:r>
              <a:rPr lang="en-US" dirty="0" err="1"/>
              <a:t>ускоряет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D0AD-2123-FB39-1669-F55830EE1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Аналогия</a:t>
            </a:r>
            <a:r>
              <a:rPr lang="en-US" dirty="0"/>
              <a:t>: </a:t>
            </a:r>
            <a:r>
              <a:rPr lang="en-US" dirty="0" err="1"/>
              <a:t>самолёт</a:t>
            </a:r>
            <a:r>
              <a:rPr lang="en-US" dirty="0"/>
              <a:t> vs </a:t>
            </a:r>
            <a:r>
              <a:rPr lang="en-US" dirty="0" err="1"/>
              <a:t>машина</a:t>
            </a:r>
            <a:endParaRPr lang="en-US" dirty="0"/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маленьких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CPU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быстрее</a:t>
            </a:r>
            <a:r>
              <a:rPr lang="en-US" dirty="0"/>
              <a:t> GPU.</a:t>
            </a:r>
          </a:p>
          <a:p>
            <a:r>
              <a:rPr lang="en-US" dirty="0"/>
              <a:t>GPU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эффективен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, </a:t>
            </a:r>
          </a:p>
          <a:p>
            <a:pPr lvl="1"/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, </a:t>
            </a:r>
          </a:p>
          <a:p>
            <a:pPr lvl="1"/>
            <a:r>
              <a:rPr lang="en-US" dirty="0"/>
              <a:t>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9557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5C0423-E042-1899-51F8-6A368627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Алгоритмические примитивы </a:t>
            </a:r>
            <a:r>
              <a:rPr lang="en-US" dirty="0"/>
              <a:t>GPU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D29919-7006-440A-868F-DE739E5D9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791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220D53-E689-95F9-505A-1F6D8C9D6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Алгоритмические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GPU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140F68-F99E-2E7C-1CE9-1E8586461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Алгоритмический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(parallel primitive) — </a:t>
            </a:r>
            <a:r>
              <a:rPr lang="en-US" dirty="0" err="1"/>
              <a:t>типовой</a:t>
            </a:r>
            <a:r>
              <a:rPr lang="en-US" dirty="0"/>
              <a:t> </a:t>
            </a:r>
            <a:r>
              <a:rPr lang="en-US" dirty="0" err="1"/>
              <a:t>шаблон</a:t>
            </a:r>
            <a:r>
              <a:rPr lang="en-US" dirty="0"/>
              <a:t> </a:t>
            </a:r>
            <a:r>
              <a:rPr lang="en-US" dirty="0" err="1"/>
              <a:t>параллельных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endParaRPr lang="en-US" dirty="0"/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Map </a:t>
            </a:r>
          </a:p>
          <a:p>
            <a:pPr lvl="1"/>
            <a:r>
              <a:rPr lang="en-US" dirty="0"/>
              <a:t>Reduction </a:t>
            </a:r>
          </a:p>
          <a:p>
            <a:pPr lvl="1"/>
            <a:r>
              <a:rPr lang="en-US" dirty="0"/>
              <a:t>Scan (Prefix Sum) </a:t>
            </a:r>
          </a:p>
          <a:p>
            <a:pPr lvl="1"/>
            <a:r>
              <a:rPr lang="en-US" dirty="0"/>
              <a:t>Histogram </a:t>
            </a:r>
          </a:p>
          <a:p>
            <a:pPr lvl="1"/>
            <a:r>
              <a:rPr lang="en-US" dirty="0"/>
              <a:t>Gather / Scatter </a:t>
            </a:r>
          </a:p>
          <a:p>
            <a:pPr lvl="1"/>
            <a:r>
              <a:rPr lang="en-US" dirty="0"/>
              <a:t>Sort </a:t>
            </a:r>
          </a:p>
          <a:p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строительные</a:t>
            </a:r>
            <a:r>
              <a:rPr lang="en-US" dirty="0"/>
              <a:t> </a:t>
            </a:r>
            <a:r>
              <a:rPr lang="en-US" dirty="0" err="1"/>
              <a:t>блоки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910072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DCAB-1B79-D0A4-4F3B-850B0FC9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</a:t>
            </a:r>
            <a:r>
              <a:rPr lang="en-US" dirty="0" err="1"/>
              <a:t>важны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032BB-5722-E0BF-7BCA-CBC82CADF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Большинство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комбинацию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endParaRPr lang="en-US" dirty="0"/>
          </a:p>
          <a:p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Histogram </a:t>
            </a:r>
            <a:r>
              <a:rPr lang="ru-RU" dirty="0"/>
              <a:t>=</a:t>
            </a:r>
            <a:r>
              <a:rPr lang="en-US" dirty="0"/>
              <a:t> Reduction + Atomic Operations </a:t>
            </a:r>
          </a:p>
          <a:p>
            <a:pPr lvl="1"/>
            <a:r>
              <a:rPr lang="en-US" dirty="0"/>
              <a:t>Radix Sort </a:t>
            </a:r>
            <a:r>
              <a:rPr lang="ru-RU" dirty="0"/>
              <a:t>=</a:t>
            </a:r>
            <a:r>
              <a:rPr lang="en-US" dirty="0"/>
              <a:t> Histogram + Scan + Scatter </a:t>
            </a:r>
          </a:p>
          <a:p>
            <a:pPr lvl="1"/>
            <a:r>
              <a:rPr lang="en-US" dirty="0"/>
              <a:t>BFS </a:t>
            </a:r>
            <a:r>
              <a:rPr lang="ru-RU" dirty="0"/>
              <a:t>=</a:t>
            </a:r>
            <a:r>
              <a:rPr lang="en-US" dirty="0"/>
              <a:t> Scan + Compaction + Gather </a:t>
            </a:r>
          </a:p>
          <a:p>
            <a:pPr lvl="1"/>
            <a:r>
              <a:rPr lang="en-US" dirty="0"/>
              <a:t>Machine Learning </a:t>
            </a:r>
            <a:r>
              <a:rPr lang="ru-RU" dirty="0"/>
              <a:t>=</a:t>
            </a:r>
            <a:r>
              <a:rPr lang="en-US" dirty="0"/>
              <a:t> Map + Reduction </a:t>
            </a:r>
          </a:p>
          <a:p>
            <a:r>
              <a:rPr lang="en-US" dirty="0" err="1"/>
              <a:t>Повторное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готовых</a:t>
            </a:r>
            <a:r>
              <a:rPr lang="en-US" dirty="0"/>
              <a:t> </a:t>
            </a:r>
            <a:r>
              <a:rPr lang="en-US" dirty="0" err="1"/>
              <a:t>решений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разработку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6796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E9CED-4F6A-1044-7AA8-AE896BA59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Классификация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3F048-EFEA-6AEF-9E53-17F414668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pPr lvl="1"/>
            <a:r>
              <a:rPr lang="en-US" dirty="0"/>
              <a:t>Map </a:t>
            </a:r>
          </a:p>
          <a:p>
            <a:pPr lvl="1"/>
            <a:r>
              <a:rPr lang="en-US" dirty="0"/>
              <a:t>Gather </a:t>
            </a:r>
          </a:p>
          <a:p>
            <a:pPr lvl="1"/>
            <a:r>
              <a:rPr lang="en-US" dirty="0"/>
              <a:t>Scatter </a:t>
            </a:r>
          </a:p>
          <a:p>
            <a:r>
              <a:rPr lang="en-US" dirty="0" err="1"/>
              <a:t>Агрегация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pPr lvl="1"/>
            <a:r>
              <a:rPr lang="en-US" dirty="0"/>
              <a:t>Reduction </a:t>
            </a:r>
          </a:p>
          <a:p>
            <a:pPr lvl="1"/>
            <a:r>
              <a:rPr lang="en-US" dirty="0"/>
              <a:t>Histogram </a:t>
            </a:r>
          </a:p>
          <a:p>
            <a:r>
              <a:rPr lang="en-US" dirty="0" err="1"/>
              <a:t>Перестановка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pPr lvl="1"/>
            <a:r>
              <a:rPr lang="en-US" dirty="0"/>
              <a:t>Scan </a:t>
            </a:r>
          </a:p>
          <a:p>
            <a:pPr lvl="1"/>
            <a:r>
              <a:rPr lang="en-US" dirty="0"/>
              <a:t>Sort </a:t>
            </a:r>
          </a:p>
          <a:p>
            <a:pPr lvl="1"/>
            <a:r>
              <a:rPr lang="en-US" dirty="0"/>
              <a:t>Compaction 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предъявляет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синхронизации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62468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4A3F-5E82-CCF5-D321-600347EE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Примитивы и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GPU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7B005-C093-6EC9-A46E-9DFFB739E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Эффективная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массовый</a:t>
            </a:r>
            <a:r>
              <a:rPr lang="en-US" dirty="0"/>
              <a:t> </a:t>
            </a:r>
            <a:r>
              <a:rPr lang="en-US" dirty="0" err="1"/>
              <a:t>параллелизм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локальную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(local/shared memory) </a:t>
            </a:r>
          </a:p>
          <a:p>
            <a:pPr lvl="1"/>
            <a:r>
              <a:rPr lang="en-US" dirty="0" err="1"/>
              <a:t>кооперацию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work-group </a:t>
            </a:r>
          </a:p>
          <a:p>
            <a:pPr lvl="1"/>
            <a:r>
              <a:rPr lang="en-US" dirty="0" err="1"/>
              <a:t>синхронизацию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барьеры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coalesced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r>
              <a:rPr lang="en-US" dirty="0" err="1"/>
              <a:t>Цель</a:t>
            </a:r>
            <a:r>
              <a:rPr lang="en-US" dirty="0"/>
              <a:t> — </a:t>
            </a:r>
            <a:r>
              <a:rPr lang="en-US" dirty="0" err="1"/>
              <a:t>минимизировать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глобальной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26771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7BEA4-FA55-09F1-59CC-142A5ED09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F2DC1-1F79-7725-17E1-F0A0F64EC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5531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214E24-46B4-C50C-EB86-FDB108652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— </a:t>
            </a:r>
            <a:r>
              <a:rPr lang="en-US" dirty="0" err="1"/>
              <a:t>простейший</a:t>
            </a:r>
            <a:r>
              <a:rPr lang="en-US" dirty="0"/>
              <a:t> </a:t>
            </a:r>
            <a:r>
              <a:rPr lang="en-US" dirty="0" err="1"/>
              <a:t>параллельный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521D21-89B2-2649-CC91-0C5AFB16A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 — </a:t>
            </a:r>
            <a:r>
              <a:rPr lang="en-US" dirty="0" err="1"/>
              <a:t>применение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множеству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output[</a:t>
            </a:r>
            <a:r>
              <a:rPr lang="en-US" dirty="0" err="1"/>
              <a:t>i</a:t>
            </a:r>
            <a:r>
              <a:rPr lang="en-US" dirty="0"/>
              <a:t>] = f(input[</a:t>
            </a:r>
            <a:r>
              <a:rPr lang="en-US" dirty="0" err="1"/>
              <a:t>i</a:t>
            </a:r>
            <a:r>
              <a:rPr lang="en-US" dirty="0"/>
              <a:t>])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отсутствует</a:t>
            </a:r>
            <a:r>
              <a:rPr lang="en-US" dirty="0"/>
              <a:t> </a:t>
            </a:r>
            <a:r>
              <a:rPr lang="en-US" dirty="0" err="1"/>
              <a:t>обмен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параллелизма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1581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447F0-F42A-D879-D33F-4AFC79C6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и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OpenCL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3631B-B29A-1EA4-2EBB-1A009D6E1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/>
              <a:t>Каждый work-item обрабатывает свой элемент массива</a:t>
            </a:r>
          </a:p>
          <a:p>
            <a:pPr lvl="1"/>
            <a:r>
              <a:rPr lang="en-US"/>
              <a:t>int id = get_global_id(0);</a:t>
            </a:r>
            <a:br>
              <a:rPr lang="en-US"/>
            </a:br>
            <a:r>
              <a:rPr lang="en-US"/>
              <a:t>output[id] = f(input[id]);</a:t>
            </a:r>
          </a:p>
          <a:p>
            <a:r>
              <a:rPr lang="en-US"/>
              <a:t>Соответствие:</a:t>
            </a:r>
          </a:p>
          <a:p>
            <a:pPr lvl="1"/>
            <a:r>
              <a:rPr lang="en-US"/>
              <a:t>work-item 0 → element 0</a:t>
            </a:r>
            <a:br>
              <a:rPr lang="en-US"/>
            </a:br>
            <a:r>
              <a:rPr lang="en-US"/>
              <a:t>work-item 1 → element 1</a:t>
            </a:r>
            <a:br>
              <a:rPr lang="en-US"/>
            </a:br>
            <a:r>
              <a:rPr lang="en-US"/>
              <a:t>work-item 2 → element 2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49AF7F-153B-1FE2-7F22-2202A8681998}"/>
              </a:ext>
            </a:extLst>
          </p:cNvPr>
          <p:cNvSpPr txBox="1"/>
          <p:nvPr/>
        </p:nvSpPr>
        <p:spPr>
          <a:xfrm>
            <a:off x="6344728" y="1825625"/>
            <a:ext cx="50090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Последовательное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применение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функции</a:t>
            </a:r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каждому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элементу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массива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Параллельное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применение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функции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каждому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элементу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массива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id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get_global_id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[id] = f(input[id]);</a:t>
            </a:r>
          </a:p>
        </p:txBody>
      </p:sp>
    </p:spTree>
    <p:extLst>
      <p:ext uri="{BB962C8B-B14F-4D97-AF65-F5344CB8AC3E}">
        <p14:creationId xmlns:p14="http://schemas.microsoft.com/office/powerpoint/2010/main" val="22358760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35A04-B12A-7E8D-1378-55F270FD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FB626-3597-B0FF-0488-81B17AF45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endParaRPr lang="en-US" dirty="0"/>
          </a:p>
          <a:p>
            <a:pPr lvl="1"/>
            <a:r>
              <a:rPr lang="en-US" dirty="0" err="1"/>
              <a:t>инверсия</a:t>
            </a:r>
            <a:r>
              <a:rPr lang="en-US" dirty="0"/>
              <a:t> </a:t>
            </a:r>
            <a:r>
              <a:rPr lang="en-US" dirty="0" err="1"/>
              <a:t>цветов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преобразование</a:t>
            </a:r>
            <a:r>
              <a:rPr lang="en-US" dirty="0"/>
              <a:t> RGB → Grayscale </a:t>
            </a:r>
          </a:p>
          <a:p>
            <a:r>
              <a:rPr lang="en-US" dirty="0" err="1"/>
              <a:t>Научные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endParaRPr lang="en-US" dirty="0"/>
          </a:p>
          <a:p>
            <a:pPr lvl="1"/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тригонометрических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перевод</a:t>
            </a:r>
            <a:r>
              <a:rPr lang="en-US" dirty="0"/>
              <a:t> </a:t>
            </a:r>
            <a:r>
              <a:rPr lang="en-US" dirty="0" err="1"/>
              <a:t>градусов</a:t>
            </a:r>
            <a:r>
              <a:rPr lang="en-US" dirty="0"/>
              <a:t> в </a:t>
            </a:r>
            <a:r>
              <a:rPr lang="en-US" dirty="0" err="1"/>
              <a:t>радианы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нормализация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</a:p>
          <a:p>
            <a:r>
              <a:rPr lang="en-US" dirty="0" err="1"/>
              <a:t>Компьютерная</a:t>
            </a:r>
            <a:r>
              <a:rPr lang="en-US" dirty="0"/>
              <a:t> </a:t>
            </a:r>
            <a:r>
              <a:rPr lang="en-US" dirty="0" err="1"/>
              <a:t>графика</a:t>
            </a:r>
            <a:endParaRPr lang="en-US" dirty="0"/>
          </a:p>
          <a:p>
            <a:pPr lvl="1"/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координат</a:t>
            </a:r>
            <a:r>
              <a:rPr lang="en-US" dirty="0"/>
              <a:t> </a:t>
            </a:r>
            <a:r>
              <a:rPr lang="en-US" dirty="0" err="1"/>
              <a:t>вершин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освещения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анимация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1241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02D9-5FB0-3FA0-54A5-615710E6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Производительность</a:t>
            </a:r>
            <a:r>
              <a:rPr lang="en-US" dirty="0"/>
              <a:t>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6A5DE-D020-12B6-71C4-168EEB33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</a:t>
            </a:r>
          </a:p>
          <a:p>
            <a:pPr lvl="1"/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потоками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синхронизация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атомарных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достигается</a:t>
            </a:r>
            <a:r>
              <a:rPr lang="en-US" dirty="0"/>
              <a:t> </a:t>
            </a:r>
            <a:r>
              <a:rPr lang="en-US" dirty="0" err="1"/>
              <a:t>высокая</a:t>
            </a:r>
            <a:r>
              <a:rPr lang="en-US" dirty="0"/>
              <a:t> occupancy </a:t>
            </a:r>
          </a:p>
          <a:p>
            <a:r>
              <a:rPr lang="en-US" dirty="0" err="1"/>
              <a:t>Основное</a:t>
            </a:r>
            <a:r>
              <a:rPr lang="en-US" dirty="0"/>
              <a:t> </a:t>
            </a:r>
            <a:r>
              <a:rPr lang="en-US" dirty="0" err="1"/>
              <a:t>ограничение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пропускная</a:t>
            </a:r>
            <a:r>
              <a:rPr lang="en-US" dirty="0"/>
              <a:t> </a:t>
            </a:r>
            <a:r>
              <a:rPr lang="en-US" dirty="0" err="1"/>
              <a:t>способность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1689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ADED6-0EE2-D2BA-F6DF-428F2E12C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и </a:t>
            </a:r>
            <a:r>
              <a:rPr lang="en-US" dirty="0" err="1"/>
              <a:t>коалесцированный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»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9464A-A7BB-A0D8-FA67-418C1B311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Предпочтительный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Thread 0 → A[0]</a:t>
            </a:r>
            <a:br>
              <a:rPr lang="en-US" dirty="0"/>
            </a:br>
            <a:r>
              <a:rPr lang="en-US" dirty="0"/>
              <a:t>Thread 1 → A[1]</a:t>
            </a:r>
            <a:br>
              <a:rPr lang="en-US" dirty="0"/>
            </a:br>
            <a:r>
              <a:rPr lang="en-US" dirty="0"/>
              <a:t>Thread 2 → A[2]</a:t>
            </a:r>
            <a:br>
              <a:rPr lang="en-US" dirty="0"/>
            </a:br>
            <a:r>
              <a:rPr lang="en-US" dirty="0"/>
              <a:t>Thread 3 → A[3]</a:t>
            </a:r>
          </a:p>
          <a:p>
            <a:r>
              <a:rPr lang="en-US" dirty="0" err="1"/>
              <a:t>Нежелательный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Thread 0 → A[0]</a:t>
            </a:r>
            <a:br>
              <a:rPr lang="en-US" dirty="0"/>
            </a:br>
            <a:r>
              <a:rPr lang="en-US" dirty="0"/>
              <a:t>Thread 1 → A[1024]</a:t>
            </a:r>
            <a:br>
              <a:rPr lang="en-US" dirty="0"/>
            </a:br>
            <a:r>
              <a:rPr lang="en-US" dirty="0"/>
              <a:t>Thread 2 → A[2048]</a:t>
            </a:r>
            <a:br>
              <a:rPr lang="en-US" dirty="0"/>
            </a:br>
            <a:r>
              <a:rPr lang="en-US" dirty="0"/>
              <a:t>Thread 3 → A[3072]</a:t>
            </a:r>
          </a:p>
          <a:p>
            <a:r>
              <a:rPr lang="en-US" dirty="0" err="1"/>
              <a:t>Последовательные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максимальную</a:t>
            </a:r>
            <a:r>
              <a:rPr lang="en-US" dirty="0"/>
              <a:t> </a:t>
            </a:r>
            <a:r>
              <a:rPr lang="en-US" dirty="0" err="1"/>
              <a:t>пропускную</a:t>
            </a:r>
            <a:r>
              <a:rPr lang="en-US" dirty="0"/>
              <a:t> </a:t>
            </a:r>
            <a:r>
              <a:rPr lang="en-US" dirty="0" err="1"/>
              <a:t>способность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4940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EEBAA-3F90-9683-03DA-C5235B143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C1469-1542-5739-02C5-9616D3B47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</a:t>
            </a:r>
            <a:r>
              <a:rPr lang="en-US" dirty="0" err="1"/>
              <a:t>амый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параллельный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</a:p>
          <a:p>
            <a:r>
              <a:rPr lang="ru-RU" dirty="0"/>
              <a:t>Л</a:t>
            </a:r>
            <a:r>
              <a:rPr lang="en-US" dirty="0" err="1"/>
              <a:t>ежит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GPU-</a:t>
            </a:r>
            <a:r>
              <a:rPr lang="en-US" dirty="0" err="1"/>
              <a:t>программ</a:t>
            </a:r>
            <a:r>
              <a:rPr lang="en-US" dirty="0"/>
              <a:t> </a:t>
            </a:r>
          </a:p>
          <a:p>
            <a:r>
              <a:rPr lang="ru-RU" dirty="0"/>
              <a:t>Х</a:t>
            </a:r>
            <a:r>
              <a:rPr lang="en-US" dirty="0" err="1"/>
              <a:t>орошо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</a:p>
          <a:p>
            <a:r>
              <a:rPr lang="ru-RU" dirty="0"/>
              <a:t>П</a:t>
            </a:r>
            <a:r>
              <a:rPr lang="en-US" dirty="0" err="1"/>
              <a:t>рактически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синхронизации</a:t>
            </a:r>
            <a:r>
              <a:rPr lang="en-US" dirty="0"/>
              <a:t> </a:t>
            </a:r>
          </a:p>
          <a:p>
            <a:r>
              <a:rPr lang="ru-RU" dirty="0"/>
              <a:t>Ч</a:t>
            </a:r>
            <a:r>
              <a:rPr lang="en-US" dirty="0" err="1"/>
              <a:t>асто</a:t>
            </a:r>
            <a:r>
              <a:rPr lang="en-US" dirty="0"/>
              <a:t> </a:t>
            </a:r>
            <a:r>
              <a:rPr lang="en-US" dirty="0" err="1"/>
              <a:t>ограничен</a:t>
            </a:r>
            <a:r>
              <a:rPr lang="en-US" dirty="0"/>
              <a:t> </a:t>
            </a:r>
            <a:r>
              <a:rPr lang="en-US" dirty="0" err="1"/>
              <a:t>пропускной</a:t>
            </a:r>
            <a:r>
              <a:rPr lang="en-US" dirty="0"/>
              <a:t> </a:t>
            </a:r>
            <a:r>
              <a:rPr lang="en-US" dirty="0" err="1"/>
              <a:t>способностью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392794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06D107-8FD6-06F1-841B-699C31BC6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7B5B4-DD59-62A0-27E5-7C15BF41C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0397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42F68-3475-536B-3C3B-1175BAF44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— </a:t>
            </a:r>
            <a:r>
              <a:rPr lang="en-US" dirty="0" err="1"/>
              <a:t>агрегация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A1D91-DB50-3CB1-DDB5-6447A6A7C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Reduction —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в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endParaRPr lang="en-US" dirty="0"/>
          </a:p>
          <a:p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sum(A)</a:t>
            </a:r>
            <a:br>
              <a:rPr lang="en-US" dirty="0"/>
            </a:br>
            <a:r>
              <a:rPr lang="en-US" dirty="0"/>
              <a:t>max(A)</a:t>
            </a:r>
            <a:br>
              <a:rPr lang="en-US" dirty="0"/>
            </a:br>
            <a:r>
              <a:rPr lang="en-US" dirty="0"/>
              <a:t>min(A)</a:t>
            </a:r>
            <a:br>
              <a:rPr lang="en-US" dirty="0"/>
            </a:br>
            <a:r>
              <a:rPr lang="en-US" dirty="0"/>
              <a:t>average(A)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1 2 3 4 5 6 7 8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/>
              <a:t>36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27159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C152B-D04C-DB95-01A7-B101E5B0D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Наивное</a:t>
            </a:r>
            <a:r>
              <a:rPr lang="en-US" dirty="0"/>
              <a:t> </a:t>
            </a:r>
            <a:r>
              <a:rPr lang="en-US" dirty="0" err="1"/>
              <a:t>распараллеливани</a:t>
            </a:r>
            <a:r>
              <a:rPr lang="ru-RU" dirty="0"/>
              <a:t>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ED07B-4972-7BA5-4641-60E103EF0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в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int id = </a:t>
            </a:r>
            <a:r>
              <a:rPr lang="en-US" dirty="0" err="1"/>
              <a:t>get_global_id</a:t>
            </a:r>
            <a:r>
              <a:rPr lang="en-US" dirty="0"/>
              <a:t>(0);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sum += A[id];</a:t>
            </a:r>
          </a:p>
          <a:p>
            <a:r>
              <a:rPr lang="en-US" dirty="0" err="1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гонка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(data race) </a:t>
            </a:r>
          </a:p>
          <a:p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неопределённым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19545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07D8D-3D6B-80E8-261E-587C5B2B1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атомарных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6613D-E311-B086-B2CA-DF36F0172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Возможное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atomic_add</a:t>
            </a:r>
            <a:r>
              <a:rPr lang="en-US" dirty="0"/>
              <a:t>(&amp;sum, A[id]);</a:t>
            </a:r>
          </a:p>
          <a:p>
            <a:r>
              <a:rPr lang="en-US" dirty="0" err="1"/>
              <a:t>Преимущества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</a:p>
          <a:p>
            <a:r>
              <a:rPr lang="en-US" dirty="0" err="1"/>
              <a:t>Недостатки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конкуренция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сериализация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плохая</a:t>
            </a:r>
            <a:r>
              <a:rPr lang="en-US" dirty="0"/>
              <a:t> </a:t>
            </a:r>
            <a:r>
              <a:rPr lang="en-US" dirty="0" err="1"/>
              <a:t>масштабируемость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8359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A48B7-9B0C-A2BD-2DB7-B3339CE3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Параллельное редуцирование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4936-7F28-3BEC-C529-794AD00D4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общей</a:t>
            </a:r>
            <a:r>
              <a:rPr lang="en-US" dirty="0"/>
              <a:t> </a:t>
            </a:r>
            <a:r>
              <a:rPr lang="en-US" dirty="0" err="1"/>
              <a:t>суммы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обрабатывает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  <a:r>
              <a:rPr lang="en-US" dirty="0" err="1"/>
              <a:t>объединяются</a:t>
            </a:r>
            <a:r>
              <a:rPr lang="en-US" dirty="0"/>
              <a:t> </a:t>
            </a:r>
            <a:r>
              <a:rPr lang="en-US" dirty="0" err="1"/>
              <a:t>попарно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</a:p>
          <a:p>
            <a:r>
              <a:rPr lang="ru-RU" dirty="0"/>
              <a:t>Пример (вычисление суммы)</a:t>
            </a:r>
            <a:endParaRPr lang="en-US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1 2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3 4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5 6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7 8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3   7</a:t>
            </a:r>
            <a:r>
              <a:rPr lang="en-US" dirty="0"/>
              <a:t>   </a:t>
            </a:r>
            <a:r>
              <a:rPr lang="en-US" dirty="0">
                <a:solidFill>
                  <a:srgbClr val="00B050"/>
                </a:solidFill>
              </a:rPr>
              <a:t>11  15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10      26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36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dirty="0"/>
              <a:t>Дерево редукции имеет глубину </a:t>
            </a:r>
            <a:r>
              <a:rPr lang="en-US" dirty="0"/>
              <a:t>log₂(N)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36410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3B6B5-6520-F3D4-4DF6-8640E2C45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</a:t>
            </a:r>
            <a:r>
              <a:rPr lang="en-US" dirty="0" err="1"/>
              <a:t>внутри</a:t>
            </a:r>
            <a:r>
              <a:rPr lang="en-US" dirty="0"/>
              <a:t> work-group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F80A5-D93D-1095-F991-6D7CAF61D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Типичная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Global Memory</a:t>
            </a:r>
            <a:br>
              <a:rPr lang="en-US" dirty="0"/>
            </a:br>
            <a:r>
              <a:rPr lang="en-US" dirty="0"/>
              <a:t>      ↓</a:t>
            </a:r>
            <a:br>
              <a:rPr lang="en-US" dirty="0"/>
            </a:br>
            <a:r>
              <a:rPr lang="en-US" dirty="0"/>
              <a:t>Local Memory</a:t>
            </a:r>
            <a:br>
              <a:rPr lang="en-US" dirty="0"/>
            </a:br>
            <a:r>
              <a:rPr lang="en-US" dirty="0"/>
              <a:t>      ↓</a:t>
            </a:r>
            <a:br>
              <a:rPr lang="en-US" dirty="0"/>
            </a:br>
            <a:r>
              <a:rPr lang="en-US" dirty="0"/>
              <a:t>Reduction</a:t>
            </a:r>
            <a:br>
              <a:rPr lang="en-US" dirty="0"/>
            </a:br>
            <a:r>
              <a:rPr lang="en-US" dirty="0"/>
              <a:t>      ↓</a:t>
            </a:r>
            <a:br>
              <a:rPr lang="en-US" dirty="0"/>
            </a:br>
            <a:r>
              <a:rPr lang="en-US" dirty="0" err="1"/>
              <a:t>Частичный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endParaRPr lang="en-US" dirty="0"/>
          </a:p>
          <a:p>
            <a:r>
              <a:rPr lang="en-US" dirty="0" err="1"/>
              <a:t>Используются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local memory </a:t>
            </a:r>
          </a:p>
          <a:p>
            <a:pPr lvl="1"/>
            <a:r>
              <a:rPr lang="en-US" dirty="0"/>
              <a:t>barrier() </a:t>
            </a:r>
          </a:p>
          <a:p>
            <a:pPr lvl="1"/>
            <a:r>
              <a:rPr lang="en-US" dirty="0" err="1"/>
              <a:t>кооперация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8758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F5397-5A33-29D5-22DE-E84AC5BC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Многоэтапная</a:t>
            </a:r>
            <a:r>
              <a:rPr lang="en-US" dirty="0"/>
              <a:t>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C4CB-2F19-767F-3118-5E6EC2951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1 000 000 </a:t>
            </a:r>
            <a:r>
              <a:rPr lang="en-US" dirty="0" err="1"/>
              <a:t>элементов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1024 </a:t>
            </a:r>
            <a:r>
              <a:rPr lang="en-US" dirty="0" err="1"/>
              <a:t>частичных</a:t>
            </a:r>
            <a:r>
              <a:rPr lang="en-US" dirty="0"/>
              <a:t> </a:t>
            </a:r>
            <a:r>
              <a:rPr lang="en-US" dirty="0" err="1"/>
              <a:t>суммы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32 </a:t>
            </a:r>
            <a:r>
              <a:rPr lang="en-US" dirty="0" err="1"/>
              <a:t>частичных</a:t>
            </a:r>
            <a:r>
              <a:rPr lang="en-US" dirty="0"/>
              <a:t> </a:t>
            </a:r>
            <a:r>
              <a:rPr lang="en-US" dirty="0" err="1"/>
              <a:t>суммы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 </a:t>
            </a:r>
            <a:r>
              <a:rPr lang="en-US" dirty="0" err="1"/>
              <a:t>итоговая</a:t>
            </a:r>
            <a:r>
              <a:rPr lang="en-US" dirty="0"/>
              <a:t> </a:t>
            </a:r>
            <a:r>
              <a:rPr lang="en-US" dirty="0" err="1"/>
              <a:t>сумма</a:t>
            </a:r>
            <a:endParaRPr lang="en-US" dirty="0"/>
          </a:p>
          <a:p>
            <a:r>
              <a:rPr lang="en-US" dirty="0" err="1"/>
              <a:t>Возможны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запусков</a:t>
            </a:r>
            <a:r>
              <a:rPr lang="en-US" dirty="0"/>
              <a:t> kernel </a:t>
            </a:r>
          </a:p>
          <a:p>
            <a:pPr lvl="1"/>
            <a:r>
              <a:rPr lang="en-US" dirty="0" err="1"/>
              <a:t>завершающий</a:t>
            </a:r>
            <a:r>
              <a:rPr lang="en-US" dirty="0"/>
              <a:t> </a:t>
            </a:r>
            <a:r>
              <a:rPr lang="en-US" dirty="0" err="1"/>
              <a:t>этап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CPU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69660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F3898-8BB7-0727-134C-AA41F9FC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Применение</a:t>
            </a:r>
            <a:r>
              <a:rPr lang="en-US" dirty="0"/>
              <a:t>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00CED-9EF4-9996-0923-8CA259D78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вычисления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суммы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среднего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максимума</a:t>
            </a:r>
            <a:r>
              <a:rPr lang="en-US" dirty="0"/>
              <a:t> и </a:t>
            </a:r>
            <a:r>
              <a:rPr lang="en-US" dirty="0" err="1"/>
              <a:t>минимума</a:t>
            </a:r>
            <a:r>
              <a:rPr lang="en-US" dirty="0"/>
              <a:t> </a:t>
            </a:r>
          </a:p>
          <a:p>
            <a:pPr lvl="1"/>
            <a:r>
              <a:rPr lang="en-US" dirty="0" err="1">
                <a:hlinkClick r:id="rId3"/>
              </a:rPr>
              <a:t>нормы</a:t>
            </a:r>
            <a:r>
              <a:rPr lang="en-US" dirty="0"/>
              <a:t> </a:t>
            </a:r>
            <a:r>
              <a:rPr lang="en-US" dirty="0" err="1"/>
              <a:t>вектора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статистических</a:t>
            </a:r>
            <a:r>
              <a:rPr lang="en-US" dirty="0"/>
              <a:t> </a:t>
            </a:r>
            <a:r>
              <a:rPr lang="en-US" dirty="0" err="1"/>
              <a:t>характеристик</a:t>
            </a:r>
            <a:r>
              <a:rPr lang="en-US" dirty="0"/>
              <a:t> </a:t>
            </a:r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составная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1987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FAAC8-A04D-7257-686F-CDC9A62A5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4E09F-90FE-402B-A77B-2414BDEBC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en-US" dirty="0" err="1"/>
              <a:t>бъединяет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в </a:t>
            </a:r>
            <a:r>
              <a:rPr lang="en-US" dirty="0" err="1"/>
              <a:t>одно</a:t>
            </a:r>
            <a:r>
              <a:rPr lang="en-US" dirty="0"/>
              <a:t> </a:t>
            </a:r>
          </a:p>
          <a:p>
            <a:r>
              <a:rPr lang="ru-RU" dirty="0"/>
              <a:t>Т</a:t>
            </a:r>
            <a:r>
              <a:rPr lang="en-US" dirty="0" err="1"/>
              <a:t>ребует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</a:p>
          <a:p>
            <a:r>
              <a:rPr lang="ru-RU" dirty="0"/>
              <a:t>Н</a:t>
            </a:r>
            <a:r>
              <a:rPr lang="en-US" dirty="0" err="1"/>
              <a:t>аивная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масштабируется</a:t>
            </a:r>
            <a:r>
              <a:rPr lang="en-US" dirty="0"/>
              <a:t> </a:t>
            </a:r>
          </a:p>
          <a:p>
            <a:r>
              <a:rPr lang="ru-RU" dirty="0"/>
              <a:t>Э</a:t>
            </a:r>
            <a:r>
              <a:rPr lang="en-US" dirty="0" err="1"/>
              <a:t>ффективная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 Reduction </a:t>
            </a:r>
          </a:p>
          <a:p>
            <a:r>
              <a:rPr lang="ru-RU" dirty="0"/>
              <a:t>А</a:t>
            </a:r>
            <a:r>
              <a:rPr lang="en-US" dirty="0" err="1"/>
              <a:t>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local memory и </a:t>
            </a:r>
            <a:r>
              <a:rPr lang="en-US" dirty="0" err="1"/>
              <a:t>барьеры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871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3C5AEA-5DC7-200F-4F49-7C42E543E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Scan (Prefix Sum)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4C4C1-271D-77C2-A797-8676F9478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27831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CF5F57-D9BC-D19B-95FE-AC82422C9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BB4A9F-1E46-9478-8096-A0C4F0EF0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Scan (Prefix Sum) —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накопленных</a:t>
            </a:r>
            <a:r>
              <a:rPr lang="en-US" dirty="0"/>
              <a:t> </a:t>
            </a:r>
            <a:r>
              <a:rPr lang="en-US" dirty="0" err="1"/>
              <a:t>частичных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endParaRPr lang="en-US" dirty="0"/>
          </a:p>
          <a:p>
            <a:r>
              <a:rPr lang="en-US" dirty="0" err="1"/>
              <a:t>Вход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1 2 3 4 5</a:t>
            </a:r>
          </a:p>
          <a:p>
            <a:r>
              <a:rPr lang="en-US" dirty="0"/>
              <a:t>Inclusive Scan (</a:t>
            </a:r>
            <a:r>
              <a:rPr lang="ru-RU" dirty="0"/>
              <a:t>включает текущий элемент в сумму)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1 3 6 10 15</a:t>
            </a:r>
          </a:p>
          <a:p>
            <a:r>
              <a:rPr lang="en-US" dirty="0"/>
              <a:t>Exclusive Scan</a:t>
            </a:r>
            <a:r>
              <a:rPr lang="ru-RU" dirty="0"/>
              <a:t> (использует только элементы расположенные перед текущим)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0 1 3 6 10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33851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EC756-7B60-6C4C-A59A-60ED28C29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Scan?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D5E75-56F3-8EC7-903C-D226AC1B0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Scan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вычислять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Маска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1 0 1 1 0 1</a:t>
            </a:r>
          </a:p>
          <a:p>
            <a:pPr lvl="1"/>
            <a:r>
              <a:rPr lang="en-US" dirty="0"/>
              <a:t>Exclusive Scan:</a:t>
            </a:r>
          </a:p>
          <a:p>
            <a:pPr lvl="2"/>
            <a:r>
              <a:rPr lang="en-US" dirty="0"/>
              <a:t>0 1 1 2 3 3</a:t>
            </a:r>
          </a:p>
          <a:p>
            <a:pPr lvl="1"/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элемент</a:t>
            </a:r>
            <a:r>
              <a:rPr lang="en-US" dirty="0"/>
              <a:t> 0 → </a:t>
            </a:r>
            <a:r>
              <a:rPr lang="en-US" dirty="0" err="1"/>
              <a:t>позиция</a:t>
            </a:r>
            <a:r>
              <a:rPr lang="en-US" dirty="0"/>
              <a:t> 0</a:t>
            </a:r>
            <a:br>
              <a:rPr lang="en-US" dirty="0"/>
            </a:br>
            <a:r>
              <a:rPr lang="en-US" dirty="0" err="1"/>
              <a:t>элемент</a:t>
            </a:r>
            <a:r>
              <a:rPr lang="en-US" dirty="0"/>
              <a:t> 2 → </a:t>
            </a:r>
            <a:r>
              <a:rPr lang="en-US" dirty="0" err="1"/>
              <a:t>позиция</a:t>
            </a:r>
            <a:r>
              <a:rPr lang="en-US" dirty="0"/>
              <a:t> 1</a:t>
            </a:r>
            <a:br>
              <a:rPr lang="en-US" dirty="0"/>
            </a:br>
            <a:r>
              <a:rPr lang="en-US" dirty="0" err="1"/>
              <a:t>элемент</a:t>
            </a:r>
            <a:r>
              <a:rPr lang="en-US" dirty="0"/>
              <a:t> 3 → </a:t>
            </a:r>
            <a:r>
              <a:rPr lang="en-US" dirty="0" err="1"/>
              <a:t>позиция</a:t>
            </a:r>
            <a:r>
              <a:rPr lang="en-US" dirty="0"/>
              <a:t> 2</a:t>
            </a:r>
            <a:br>
              <a:rPr lang="en-US" dirty="0"/>
            </a:br>
            <a:r>
              <a:rPr lang="en-US" dirty="0" err="1"/>
              <a:t>элемент</a:t>
            </a:r>
            <a:r>
              <a:rPr lang="en-US" dirty="0"/>
              <a:t> 5 → </a:t>
            </a:r>
            <a:r>
              <a:rPr lang="en-US" dirty="0" err="1"/>
              <a:t>позиция</a:t>
            </a:r>
            <a:r>
              <a:rPr lang="en-US" dirty="0"/>
              <a:t>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4695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4BED8-56FC-1BDC-E338-8A323AE5B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Последовательная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6C046-184B-1187-F50C-4566C586D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95291"/>
            <a:ext cx="10515600" cy="2881672"/>
          </a:xfrm>
        </p:spPr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выраженная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итерациями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распараллеливается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7070B-621C-B93C-1D2E-4062F22C88DF}"/>
              </a:ext>
            </a:extLst>
          </p:cNvPr>
          <p:cNvSpPr txBox="1"/>
          <p:nvPr/>
        </p:nvSpPr>
        <p:spPr>
          <a:xfrm>
            <a:off x="838199" y="1690688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2162288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FEB1E-BD59-8A00-D56B-795DC4365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Параллельный</a:t>
            </a:r>
            <a:r>
              <a:rPr lang="en-US" dirty="0"/>
              <a:t> </a:t>
            </a:r>
            <a:r>
              <a:rPr lang="en-US" dirty="0" err="1"/>
              <a:t>алгоритм</a:t>
            </a:r>
            <a:r>
              <a:rPr lang="en-US" dirty="0"/>
              <a:t> Scan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05ED9-566F-DB2F-E8AB-DC8C05CBA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Типичная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Up-Sweep (Reduce Phase) </a:t>
            </a:r>
          </a:p>
          <a:p>
            <a:pPr lvl="1"/>
            <a:r>
              <a:rPr lang="en-US" dirty="0"/>
              <a:t>Down-Sweep (Scan Phase)</a:t>
            </a:r>
            <a:endParaRPr lang="ru-RU" dirty="0"/>
          </a:p>
          <a:p>
            <a:r>
              <a:rPr lang="ru-RU" dirty="0"/>
              <a:t>Алгоритм </a:t>
            </a:r>
            <a:r>
              <a:rPr lang="ru-RU" dirty="0" err="1"/>
              <a:t>Блеллока</a:t>
            </a:r>
            <a:endParaRPr lang="ru-RU" dirty="0"/>
          </a:p>
          <a:p>
            <a:pPr lvl="1"/>
            <a:r>
              <a:rPr lang="ru-RU" dirty="0"/>
              <a:t>Входные данные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/>
              <a:t>Построение дерева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/>
              <a:t>Распространение частичных сумм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/>
              <a:t>Результат </a:t>
            </a:r>
            <a:r>
              <a:rPr lang="ru-RU" dirty="0" err="1"/>
              <a:t>Scan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4301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AC252-69F2-6B5E-9CB6-89C95B08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Фаза</a:t>
            </a:r>
            <a:r>
              <a:rPr lang="en-US" dirty="0"/>
              <a:t> Up-Sweep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14927F-9B84-BEB2-ABEA-5C81200039A7}"/>
              </a:ext>
            </a:extLst>
          </p:cNvPr>
          <p:cNvSpPr/>
          <p:nvPr/>
        </p:nvSpPr>
        <p:spPr>
          <a:xfrm>
            <a:off x="3398808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EC070C-9898-1530-AF5D-1DF7AF8C4418}"/>
              </a:ext>
            </a:extLst>
          </p:cNvPr>
          <p:cNvSpPr/>
          <p:nvPr/>
        </p:nvSpPr>
        <p:spPr>
          <a:xfrm>
            <a:off x="4080294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766E96-CE95-5157-8831-8F63104036F4}"/>
              </a:ext>
            </a:extLst>
          </p:cNvPr>
          <p:cNvSpPr/>
          <p:nvPr/>
        </p:nvSpPr>
        <p:spPr>
          <a:xfrm>
            <a:off x="4761780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BF2DD8-EA4A-B65C-457C-F1E2BB279DA5}"/>
              </a:ext>
            </a:extLst>
          </p:cNvPr>
          <p:cNvSpPr/>
          <p:nvPr/>
        </p:nvSpPr>
        <p:spPr>
          <a:xfrm>
            <a:off x="5443266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42F606-7D93-7A3C-79B9-E8F5FE7ACB60}"/>
              </a:ext>
            </a:extLst>
          </p:cNvPr>
          <p:cNvSpPr/>
          <p:nvPr/>
        </p:nvSpPr>
        <p:spPr>
          <a:xfrm>
            <a:off x="6124752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BE422D-4D0E-E4CB-ECBB-039168AA43EB}"/>
              </a:ext>
            </a:extLst>
          </p:cNvPr>
          <p:cNvSpPr/>
          <p:nvPr/>
        </p:nvSpPr>
        <p:spPr>
          <a:xfrm>
            <a:off x="6806238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325F75-8372-006A-BBCD-4A4002FECF3A}"/>
              </a:ext>
            </a:extLst>
          </p:cNvPr>
          <p:cNvSpPr/>
          <p:nvPr/>
        </p:nvSpPr>
        <p:spPr>
          <a:xfrm>
            <a:off x="7487724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6ED6C0-26E1-7F59-30BA-61A6F2E0B6C2}"/>
              </a:ext>
            </a:extLst>
          </p:cNvPr>
          <p:cNvSpPr/>
          <p:nvPr/>
        </p:nvSpPr>
        <p:spPr>
          <a:xfrm>
            <a:off x="8169210" y="222552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F9CA21-63ED-B959-4797-AC324C08E201}"/>
              </a:ext>
            </a:extLst>
          </p:cNvPr>
          <p:cNvSpPr/>
          <p:nvPr/>
        </p:nvSpPr>
        <p:spPr>
          <a:xfrm>
            <a:off x="3674855" y="3574062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DCA4D3-FF52-498C-A262-2C0BCF990038}"/>
              </a:ext>
            </a:extLst>
          </p:cNvPr>
          <p:cNvSpPr/>
          <p:nvPr/>
        </p:nvSpPr>
        <p:spPr>
          <a:xfrm>
            <a:off x="5037827" y="3574062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40A736-DD5E-1B35-953B-3C3FE95F2CA0}"/>
              </a:ext>
            </a:extLst>
          </p:cNvPr>
          <p:cNvSpPr/>
          <p:nvPr/>
        </p:nvSpPr>
        <p:spPr>
          <a:xfrm>
            <a:off x="6400799" y="3574062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E0FA56E-1671-7D12-0A46-35A216731459}"/>
              </a:ext>
            </a:extLst>
          </p:cNvPr>
          <p:cNvSpPr/>
          <p:nvPr/>
        </p:nvSpPr>
        <p:spPr>
          <a:xfrm>
            <a:off x="7763771" y="3574062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C971B9-8EE2-D710-476C-20B777F93BA1}"/>
              </a:ext>
            </a:extLst>
          </p:cNvPr>
          <p:cNvCxnSpPr>
            <a:stCxn id="4" idx="2"/>
            <a:endCxn id="19" idx="0"/>
          </p:cNvCxnSpPr>
          <p:nvPr/>
        </p:nvCxnSpPr>
        <p:spPr>
          <a:xfrm>
            <a:off x="3640348" y="2691442"/>
            <a:ext cx="276047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589D3E0-8310-713B-1EF1-D03BC32BAE1A}"/>
              </a:ext>
            </a:extLst>
          </p:cNvPr>
          <p:cNvCxnSpPr>
            <a:stCxn id="6" idx="2"/>
            <a:endCxn id="19" idx="0"/>
          </p:cNvCxnSpPr>
          <p:nvPr/>
        </p:nvCxnSpPr>
        <p:spPr>
          <a:xfrm flipH="1">
            <a:off x="3916395" y="2691442"/>
            <a:ext cx="405439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F0BC61-7595-102F-E4C5-7AF338130123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>
            <a:off x="5003320" y="2691442"/>
            <a:ext cx="276047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B161FC7-86DF-1D92-8C28-E47B72F82C15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flipH="1">
            <a:off x="5279367" y="2691442"/>
            <a:ext cx="405439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A843992-F9A7-475E-3C9F-1ED30A49B3B2}"/>
              </a:ext>
            </a:extLst>
          </p:cNvPr>
          <p:cNvCxnSpPr>
            <a:cxnSpLocks/>
            <a:stCxn id="9" idx="2"/>
            <a:endCxn id="23" idx="0"/>
          </p:cNvCxnSpPr>
          <p:nvPr/>
        </p:nvCxnSpPr>
        <p:spPr>
          <a:xfrm>
            <a:off x="6366292" y="2691442"/>
            <a:ext cx="276047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8760D7E-77D2-04C0-5076-D71B021E253A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flipH="1">
            <a:off x="6642339" y="2691442"/>
            <a:ext cx="405439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A1E53EB-F360-F7DD-9DE4-D854375137D5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7729264" y="2691442"/>
            <a:ext cx="276047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37B205-10FE-9516-F22A-47284AE340FA}"/>
              </a:ext>
            </a:extLst>
          </p:cNvPr>
          <p:cNvCxnSpPr>
            <a:cxnSpLocks/>
            <a:stCxn id="12" idx="2"/>
            <a:endCxn id="25" idx="0"/>
          </p:cNvCxnSpPr>
          <p:nvPr/>
        </p:nvCxnSpPr>
        <p:spPr>
          <a:xfrm flipH="1">
            <a:off x="8005311" y="2691442"/>
            <a:ext cx="405439" cy="882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63D8D188-5837-3718-743A-EF7E8FA95AE6}"/>
              </a:ext>
            </a:extLst>
          </p:cNvPr>
          <p:cNvSpPr/>
          <p:nvPr/>
        </p:nvSpPr>
        <p:spPr>
          <a:xfrm>
            <a:off x="4321833" y="458326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9C7E7E-9EAD-1FE2-9701-AD7DA06DBBD8}"/>
              </a:ext>
            </a:extLst>
          </p:cNvPr>
          <p:cNvSpPr/>
          <p:nvPr/>
        </p:nvSpPr>
        <p:spPr>
          <a:xfrm>
            <a:off x="7047777" y="458326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26</a:t>
            </a:r>
            <a:endParaRPr lang="en-US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2EFEBE1-A3E9-9A8E-5F5E-64EBEA2BEB0A}"/>
              </a:ext>
            </a:extLst>
          </p:cNvPr>
          <p:cNvCxnSpPr>
            <a:cxnSpLocks/>
            <a:stCxn id="21" idx="2"/>
            <a:endCxn id="51" idx="0"/>
          </p:cNvCxnSpPr>
          <p:nvPr/>
        </p:nvCxnSpPr>
        <p:spPr>
          <a:xfrm flipH="1">
            <a:off x="4563373" y="4039978"/>
            <a:ext cx="715994" cy="543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9B150AE-FF2B-2DB0-38A5-C29093C54586}"/>
              </a:ext>
            </a:extLst>
          </p:cNvPr>
          <p:cNvCxnSpPr>
            <a:cxnSpLocks/>
            <a:stCxn id="19" idx="2"/>
            <a:endCxn id="51" idx="0"/>
          </p:cNvCxnSpPr>
          <p:nvPr/>
        </p:nvCxnSpPr>
        <p:spPr>
          <a:xfrm>
            <a:off x="3916395" y="4039978"/>
            <a:ext cx="646978" cy="543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6F225DE-DAA2-6691-6866-DEA134DFED32}"/>
              </a:ext>
            </a:extLst>
          </p:cNvPr>
          <p:cNvCxnSpPr>
            <a:cxnSpLocks/>
            <a:stCxn id="23" idx="2"/>
            <a:endCxn id="53" idx="0"/>
          </p:cNvCxnSpPr>
          <p:nvPr/>
        </p:nvCxnSpPr>
        <p:spPr>
          <a:xfrm>
            <a:off x="6642339" y="4039978"/>
            <a:ext cx="646978" cy="543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2730E5-7330-253A-9A78-D6418B91B6F0}"/>
              </a:ext>
            </a:extLst>
          </p:cNvPr>
          <p:cNvCxnSpPr>
            <a:cxnSpLocks/>
            <a:stCxn id="25" idx="2"/>
            <a:endCxn id="53" idx="0"/>
          </p:cNvCxnSpPr>
          <p:nvPr/>
        </p:nvCxnSpPr>
        <p:spPr>
          <a:xfrm flipH="1">
            <a:off x="7289317" y="4039978"/>
            <a:ext cx="715994" cy="543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057E970-51CA-9734-7951-B13E2160C0C3}"/>
              </a:ext>
            </a:extLst>
          </p:cNvPr>
          <p:cNvSpPr/>
          <p:nvPr/>
        </p:nvSpPr>
        <p:spPr>
          <a:xfrm>
            <a:off x="5783023" y="579400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36</a:t>
            </a:r>
            <a:endParaRPr lang="en-US" dirty="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0455D88-B068-A265-7885-BA4448EFD056}"/>
              </a:ext>
            </a:extLst>
          </p:cNvPr>
          <p:cNvCxnSpPr>
            <a:cxnSpLocks/>
            <a:stCxn id="51" idx="2"/>
            <a:endCxn id="67" idx="0"/>
          </p:cNvCxnSpPr>
          <p:nvPr/>
        </p:nvCxnSpPr>
        <p:spPr>
          <a:xfrm>
            <a:off x="4563373" y="5049179"/>
            <a:ext cx="1461190" cy="7448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6B8F8AF-2C11-DA89-5CC7-51294633CD99}"/>
              </a:ext>
            </a:extLst>
          </p:cNvPr>
          <p:cNvCxnSpPr>
            <a:cxnSpLocks/>
            <a:stCxn id="53" idx="2"/>
            <a:endCxn id="67" idx="0"/>
          </p:cNvCxnSpPr>
          <p:nvPr/>
        </p:nvCxnSpPr>
        <p:spPr>
          <a:xfrm flipH="1">
            <a:off x="6024563" y="5049179"/>
            <a:ext cx="1264754" cy="7448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922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1" grpId="0" animBg="1"/>
      <p:bldP spid="23" grpId="0" animBg="1"/>
      <p:bldP spid="25" grpId="0" animBg="1"/>
      <p:bldP spid="51" grpId="0" animBg="1"/>
      <p:bldP spid="53" grpId="0" animBg="1"/>
      <p:bldP spid="6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8CA4A-790F-D735-B293-BBFB22DC6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B26C9-46A6-0037-1476-BCCF396D1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</a:t>
            </a:r>
            <a:r>
              <a:rPr lang="en-US" dirty="0"/>
              <a:t>Up-Sweep </a:t>
            </a:r>
            <a:r>
              <a:rPr lang="ru-RU" dirty="0"/>
              <a:t>корень дерева заменяется на 0</a:t>
            </a:r>
          </a:p>
          <a:p>
            <a:r>
              <a:rPr lang="ru-RU" dirty="0"/>
              <a:t>Дальше происходит распространение вниз</a:t>
            </a:r>
          </a:p>
          <a:p>
            <a:pPr lvl="1"/>
            <a:r>
              <a:rPr lang="en-US" dirty="0" err="1"/>
              <a:t>right_child</a:t>
            </a:r>
            <a:r>
              <a:rPr lang="en-US" dirty="0"/>
              <a:t> = parent + </a:t>
            </a:r>
            <a:r>
              <a:rPr lang="en-US" dirty="0" err="1"/>
              <a:t>left_child</a:t>
            </a:r>
            <a:endParaRPr lang="en-US" dirty="0"/>
          </a:p>
          <a:p>
            <a:pPr lvl="1"/>
            <a:r>
              <a:rPr lang="en-US" dirty="0" err="1"/>
              <a:t>left_child</a:t>
            </a:r>
            <a:r>
              <a:rPr lang="en-US" dirty="0"/>
              <a:t> = parent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47103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B2CFE-8B29-45B3-7BB5-E53F4B3C7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 - 1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A700CD-4777-5DFC-2FF1-A7FD3AD9FA92}"/>
              </a:ext>
            </a:extLst>
          </p:cNvPr>
          <p:cNvSpPr/>
          <p:nvPr/>
        </p:nvSpPr>
        <p:spPr>
          <a:xfrm>
            <a:off x="362764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552F44-FB6F-1FEC-8392-016EFEC41D36}"/>
              </a:ext>
            </a:extLst>
          </p:cNvPr>
          <p:cNvSpPr/>
          <p:nvPr/>
        </p:nvSpPr>
        <p:spPr>
          <a:xfrm>
            <a:off x="430913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50740E-4BF1-9FD7-872D-2AA21C166A44}"/>
              </a:ext>
            </a:extLst>
          </p:cNvPr>
          <p:cNvSpPr/>
          <p:nvPr/>
        </p:nvSpPr>
        <p:spPr>
          <a:xfrm>
            <a:off x="499061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27A1A8-C9CF-346E-C94F-D0A76EFE78D7}"/>
              </a:ext>
            </a:extLst>
          </p:cNvPr>
          <p:cNvSpPr/>
          <p:nvPr/>
        </p:nvSpPr>
        <p:spPr>
          <a:xfrm>
            <a:off x="5672105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94012C-D021-13B8-FCCD-E2AA4BFAAE52}"/>
              </a:ext>
            </a:extLst>
          </p:cNvPr>
          <p:cNvSpPr/>
          <p:nvPr/>
        </p:nvSpPr>
        <p:spPr>
          <a:xfrm>
            <a:off x="6353591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5B15A7-91B6-001F-DD20-689F35A25A98}"/>
              </a:ext>
            </a:extLst>
          </p:cNvPr>
          <p:cNvSpPr/>
          <p:nvPr/>
        </p:nvSpPr>
        <p:spPr>
          <a:xfrm>
            <a:off x="703507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C5E42D-074F-B1C4-1F27-C09422BFACE6}"/>
              </a:ext>
            </a:extLst>
          </p:cNvPr>
          <p:cNvSpPr/>
          <p:nvPr/>
        </p:nvSpPr>
        <p:spPr>
          <a:xfrm>
            <a:off x="771656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21A703-10AF-6839-3E2B-3EEB450DAFBC}"/>
              </a:ext>
            </a:extLst>
          </p:cNvPr>
          <p:cNvSpPr/>
          <p:nvPr/>
        </p:nvSpPr>
        <p:spPr>
          <a:xfrm>
            <a:off x="839804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528B0B-547B-4033-9294-4D52DD152FB6}"/>
              </a:ext>
            </a:extLst>
          </p:cNvPr>
          <p:cNvSpPr/>
          <p:nvPr/>
        </p:nvSpPr>
        <p:spPr>
          <a:xfrm>
            <a:off x="3826054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E9A166-C866-B451-B9DA-6939596C0BDB}"/>
              </a:ext>
            </a:extLst>
          </p:cNvPr>
          <p:cNvSpPr/>
          <p:nvPr/>
        </p:nvSpPr>
        <p:spPr>
          <a:xfrm>
            <a:off x="5189026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BCC658-3237-550C-5231-39ADC0E3824C}"/>
              </a:ext>
            </a:extLst>
          </p:cNvPr>
          <p:cNvSpPr/>
          <p:nvPr/>
        </p:nvSpPr>
        <p:spPr>
          <a:xfrm>
            <a:off x="6551998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DF86BD-9088-E16E-B145-01CF8FE8A1B1}"/>
              </a:ext>
            </a:extLst>
          </p:cNvPr>
          <p:cNvSpPr/>
          <p:nvPr/>
        </p:nvSpPr>
        <p:spPr>
          <a:xfrm>
            <a:off x="7914970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45E3AE-7F75-664E-84CD-F08F0A74A145}"/>
              </a:ext>
            </a:extLst>
          </p:cNvPr>
          <p:cNvSpPr/>
          <p:nvPr/>
        </p:nvSpPr>
        <p:spPr>
          <a:xfrm>
            <a:off x="4266001" y="266837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CC48D1-A5AA-7C98-6B5E-1D332CAB1B60}"/>
              </a:ext>
            </a:extLst>
          </p:cNvPr>
          <p:cNvSpPr/>
          <p:nvPr/>
        </p:nvSpPr>
        <p:spPr>
          <a:xfrm>
            <a:off x="7000569" y="266837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26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9179EED-3C3A-C44B-35E1-FFEA162ED716}"/>
              </a:ext>
            </a:extLst>
          </p:cNvPr>
          <p:cNvSpPr/>
          <p:nvPr/>
        </p:nvSpPr>
        <p:spPr>
          <a:xfrm>
            <a:off x="5749743" y="1690688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9926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7616-6AFE-B832-54CA-4503D7CCC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F54E4-4791-771D-EF85-828E07272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 - 2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06D47-4994-F090-EE18-37AF6897E54F}"/>
              </a:ext>
            </a:extLst>
          </p:cNvPr>
          <p:cNvSpPr/>
          <p:nvPr/>
        </p:nvSpPr>
        <p:spPr>
          <a:xfrm>
            <a:off x="362764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9F582C-8DC4-A6EE-34B5-D938F8C82A0A}"/>
              </a:ext>
            </a:extLst>
          </p:cNvPr>
          <p:cNvSpPr/>
          <p:nvPr/>
        </p:nvSpPr>
        <p:spPr>
          <a:xfrm>
            <a:off x="430913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C959F1-6ED6-64D1-63D3-610331070A98}"/>
              </a:ext>
            </a:extLst>
          </p:cNvPr>
          <p:cNvSpPr/>
          <p:nvPr/>
        </p:nvSpPr>
        <p:spPr>
          <a:xfrm>
            <a:off x="499061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20CE17-07C4-45F7-F7A6-FF1A3EDC7C8F}"/>
              </a:ext>
            </a:extLst>
          </p:cNvPr>
          <p:cNvSpPr/>
          <p:nvPr/>
        </p:nvSpPr>
        <p:spPr>
          <a:xfrm>
            <a:off x="5672105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3A71FB-8631-3C31-48CD-2B7B4886710F}"/>
              </a:ext>
            </a:extLst>
          </p:cNvPr>
          <p:cNvSpPr/>
          <p:nvPr/>
        </p:nvSpPr>
        <p:spPr>
          <a:xfrm>
            <a:off x="6353591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6F94C3-D5AF-BFF4-321F-9BFB79EB4BF9}"/>
              </a:ext>
            </a:extLst>
          </p:cNvPr>
          <p:cNvSpPr/>
          <p:nvPr/>
        </p:nvSpPr>
        <p:spPr>
          <a:xfrm>
            <a:off x="703507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EB241-0012-B58C-BC74-8D16B92AB1A0}"/>
              </a:ext>
            </a:extLst>
          </p:cNvPr>
          <p:cNvSpPr/>
          <p:nvPr/>
        </p:nvSpPr>
        <p:spPr>
          <a:xfrm>
            <a:off x="771656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741F74-F62D-AFA7-8F70-6B935076CA9A}"/>
              </a:ext>
            </a:extLst>
          </p:cNvPr>
          <p:cNvSpPr/>
          <p:nvPr/>
        </p:nvSpPr>
        <p:spPr>
          <a:xfrm>
            <a:off x="839804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B7C520-F37F-52EB-181E-43F68BB6E191}"/>
              </a:ext>
            </a:extLst>
          </p:cNvPr>
          <p:cNvSpPr/>
          <p:nvPr/>
        </p:nvSpPr>
        <p:spPr>
          <a:xfrm>
            <a:off x="3826054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26850B-4082-0626-E9A7-01CD6A1D8517}"/>
              </a:ext>
            </a:extLst>
          </p:cNvPr>
          <p:cNvSpPr/>
          <p:nvPr/>
        </p:nvSpPr>
        <p:spPr>
          <a:xfrm>
            <a:off x="5189026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AA3E0B-98D2-7EDD-1C3D-33B44074805A}"/>
              </a:ext>
            </a:extLst>
          </p:cNvPr>
          <p:cNvSpPr/>
          <p:nvPr/>
        </p:nvSpPr>
        <p:spPr>
          <a:xfrm>
            <a:off x="6551998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E56897-410C-E8E8-6DE4-99D3F28121F4}"/>
              </a:ext>
            </a:extLst>
          </p:cNvPr>
          <p:cNvSpPr/>
          <p:nvPr/>
        </p:nvSpPr>
        <p:spPr>
          <a:xfrm>
            <a:off x="7914970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34FCB3B-9028-93C0-E46B-CDC48E55F00D}"/>
              </a:ext>
            </a:extLst>
          </p:cNvPr>
          <p:cNvSpPr/>
          <p:nvPr/>
        </p:nvSpPr>
        <p:spPr>
          <a:xfrm>
            <a:off x="4266001" y="266837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FCF050-02AA-85B7-2509-BF78F0807CF3}"/>
              </a:ext>
            </a:extLst>
          </p:cNvPr>
          <p:cNvSpPr/>
          <p:nvPr/>
        </p:nvSpPr>
        <p:spPr>
          <a:xfrm>
            <a:off x="7000569" y="266837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26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50B79D-F6D8-0871-3A29-5AA398B71B37}"/>
              </a:ext>
            </a:extLst>
          </p:cNvPr>
          <p:cNvSpPr/>
          <p:nvPr/>
        </p:nvSpPr>
        <p:spPr>
          <a:xfrm>
            <a:off x="5749743" y="1690688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79352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7666-F533-AA6A-BE2F-02B30916D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0B46-EB61-34E4-2BE5-563375344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 - 3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D3E9B1-62C1-074E-6461-9FFAB844DC9E}"/>
              </a:ext>
            </a:extLst>
          </p:cNvPr>
          <p:cNvSpPr/>
          <p:nvPr/>
        </p:nvSpPr>
        <p:spPr>
          <a:xfrm>
            <a:off x="362764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F544D6-D42A-D76C-8D64-3079BE9A39D7}"/>
              </a:ext>
            </a:extLst>
          </p:cNvPr>
          <p:cNvSpPr/>
          <p:nvPr/>
        </p:nvSpPr>
        <p:spPr>
          <a:xfrm>
            <a:off x="430913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FEED4B-8A3F-F1F3-3560-7EA3B730A4A5}"/>
              </a:ext>
            </a:extLst>
          </p:cNvPr>
          <p:cNvSpPr/>
          <p:nvPr/>
        </p:nvSpPr>
        <p:spPr>
          <a:xfrm>
            <a:off x="499061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C359C-B529-5AA8-A393-7A77AA5CE7D6}"/>
              </a:ext>
            </a:extLst>
          </p:cNvPr>
          <p:cNvSpPr/>
          <p:nvPr/>
        </p:nvSpPr>
        <p:spPr>
          <a:xfrm>
            <a:off x="5672105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854B7B-2322-4380-D2CE-90D5C5582B47}"/>
              </a:ext>
            </a:extLst>
          </p:cNvPr>
          <p:cNvSpPr/>
          <p:nvPr/>
        </p:nvSpPr>
        <p:spPr>
          <a:xfrm>
            <a:off x="6353591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A2818B-DA92-A909-C944-FE7D63E5839B}"/>
              </a:ext>
            </a:extLst>
          </p:cNvPr>
          <p:cNvSpPr/>
          <p:nvPr/>
        </p:nvSpPr>
        <p:spPr>
          <a:xfrm>
            <a:off x="703507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26A225-BE3E-B8F4-00FD-8136055DE673}"/>
              </a:ext>
            </a:extLst>
          </p:cNvPr>
          <p:cNvSpPr/>
          <p:nvPr/>
        </p:nvSpPr>
        <p:spPr>
          <a:xfrm>
            <a:off x="771656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016B75-85D6-8B32-90EA-99DA66037196}"/>
              </a:ext>
            </a:extLst>
          </p:cNvPr>
          <p:cNvSpPr/>
          <p:nvPr/>
        </p:nvSpPr>
        <p:spPr>
          <a:xfrm>
            <a:off x="839804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39D33D-351C-77DB-2B81-6C64242A1AF5}"/>
              </a:ext>
            </a:extLst>
          </p:cNvPr>
          <p:cNvSpPr/>
          <p:nvPr/>
        </p:nvSpPr>
        <p:spPr>
          <a:xfrm>
            <a:off x="3826054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C14F44-4EBF-AE91-5F8F-863F15A24261}"/>
              </a:ext>
            </a:extLst>
          </p:cNvPr>
          <p:cNvSpPr/>
          <p:nvPr/>
        </p:nvSpPr>
        <p:spPr>
          <a:xfrm>
            <a:off x="5189026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6C4367-C5C6-2C16-DFC9-1C000F184F97}"/>
              </a:ext>
            </a:extLst>
          </p:cNvPr>
          <p:cNvSpPr/>
          <p:nvPr/>
        </p:nvSpPr>
        <p:spPr>
          <a:xfrm>
            <a:off x="6551998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15B471-AF89-2772-1A2E-D2F9428A3B8D}"/>
              </a:ext>
            </a:extLst>
          </p:cNvPr>
          <p:cNvSpPr/>
          <p:nvPr/>
        </p:nvSpPr>
        <p:spPr>
          <a:xfrm>
            <a:off x="7914970" y="3646070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640E7C-7CD0-5FE0-37FF-32E7EEE67FFA}"/>
              </a:ext>
            </a:extLst>
          </p:cNvPr>
          <p:cNvSpPr/>
          <p:nvPr/>
        </p:nvSpPr>
        <p:spPr>
          <a:xfrm>
            <a:off x="4266001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D4E2897-8C3E-512D-1E59-2DA704FECFA2}"/>
              </a:ext>
            </a:extLst>
          </p:cNvPr>
          <p:cNvSpPr/>
          <p:nvPr/>
        </p:nvSpPr>
        <p:spPr>
          <a:xfrm>
            <a:off x="7000569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98A26D1-AE0B-C8CF-5A11-2DCE8C2E90A1}"/>
              </a:ext>
            </a:extLst>
          </p:cNvPr>
          <p:cNvSpPr/>
          <p:nvPr/>
        </p:nvSpPr>
        <p:spPr>
          <a:xfrm>
            <a:off x="5749743" y="1690688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619301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CA3C0-ECEC-30DB-AAEF-3324BA324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C9D85-CEE8-81C2-1E7C-D2777D178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 - 4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2F4ABE-D8C8-B2B0-87F2-B7BECE739EAC}"/>
              </a:ext>
            </a:extLst>
          </p:cNvPr>
          <p:cNvSpPr/>
          <p:nvPr/>
        </p:nvSpPr>
        <p:spPr>
          <a:xfrm>
            <a:off x="362764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67E6F1-F376-15C7-6F52-774FE923D5AE}"/>
              </a:ext>
            </a:extLst>
          </p:cNvPr>
          <p:cNvSpPr/>
          <p:nvPr/>
        </p:nvSpPr>
        <p:spPr>
          <a:xfrm>
            <a:off x="430913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C23AE3-D5A5-4FC8-6BF4-CA30E0BBF7E3}"/>
              </a:ext>
            </a:extLst>
          </p:cNvPr>
          <p:cNvSpPr/>
          <p:nvPr/>
        </p:nvSpPr>
        <p:spPr>
          <a:xfrm>
            <a:off x="499061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EF3C9A-2B62-4B71-5C32-29428D8869FF}"/>
              </a:ext>
            </a:extLst>
          </p:cNvPr>
          <p:cNvSpPr/>
          <p:nvPr/>
        </p:nvSpPr>
        <p:spPr>
          <a:xfrm>
            <a:off x="5672105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28282C-28AF-8AE2-0CDA-09F4739D173D}"/>
              </a:ext>
            </a:extLst>
          </p:cNvPr>
          <p:cNvSpPr/>
          <p:nvPr/>
        </p:nvSpPr>
        <p:spPr>
          <a:xfrm>
            <a:off x="6353591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8BF274-51B0-0107-7CCA-BEA188615A24}"/>
              </a:ext>
            </a:extLst>
          </p:cNvPr>
          <p:cNvSpPr/>
          <p:nvPr/>
        </p:nvSpPr>
        <p:spPr>
          <a:xfrm>
            <a:off x="7035077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2EFF3C-90C3-868C-BF8D-4E07CB2B8950}"/>
              </a:ext>
            </a:extLst>
          </p:cNvPr>
          <p:cNvSpPr/>
          <p:nvPr/>
        </p:nvSpPr>
        <p:spPr>
          <a:xfrm>
            <a:off x="7716563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E0B4B6-08DF-2845-5158-63A73311350E}"/>
              </a:ext>
            </a:extLst>
          </p:cNvPr>
          <p:cNvSpPr/>
          <p:nvPr/>
        </p:nvSpPr>
        <p:spPr>
          <a:xfrm>
            <a:off x="8398049" y="4399606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60715-0127-C512-0FF0-95B175370332}"/>
              </a:ext>
            </a:extLst>
          </p:cNvPr>
          <p:cNvSpPr/>
          <p:nvPr/>
        </p:nvSpPr>
        <p:spPr>
          <a:xfrm>
            <a:off x="3826054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47CDE5-56CC-4F7B-12D6-4DAF034066EE}"/>
              </a:ext>
            </a:extLst>
          </p:cNvPr>
          <p:cNvSpPr/>
          <p:nvPr/>
        </p:nvSpPr>
        <p:spPr>
          <a:xfrm>
            <a:off x="5189026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EF20D5-8B14-15F0-F00E-3106E277FCC5}"/>
              </a:ext>
            </a:extLst>
          </p:cNvPr>
          <p:cNvSpPr/>
          <p:nvPr/>
        </p:nvSpPr>
        <p:spPr>
          <a:xfrm>
            <a:off x="6551998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5BBAAC-E05C-7478-F856-BD75DB0CAA1E}"/>
              </a:ext>
            </a:extLst>
          </p:cNvPr>
          <p:cNvSpPr/>
          <p:nvPr/>
        </p:nvSpPr>
        <p:spPr>
          <a:xfrm>
            <a:off x="7914970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B9A7C9-4917-617D-B482-8A1789F25B92}"/>
              </a:ext>
            </a:extLst>
          </p:cNvPr>
          <p:cNvSpPr/>
          <p:nvPr/>
        </p:nvSpPr>
        <p:spPr>
          <a:xfrm>
            <a:off x="4266001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5DA40E-9A18-43D7-E7D8-0A382F7484BE}"/>
              </a:ext>
            </a:extLst>
          </p:cNvPr>
          <p:cNvSpPr/>
          <p:nvPr/>
        </p:nvSpPr>
        <p:spPr>
          <a:xfrm>
            <a:off x="7000569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B1D14B-FB56-65DB-46A8-9AE516305AF1}"/>
              </a:ext>
            </a:extLst>
          </p:cNvPr>
          <p:cNvSpPr/>
          <p:nvPr/>
        </p:nvSpPr>
        <p:spPr>
          <a:xfrm>
            <a:off x="5749743" y="1690688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443385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7A3F1-E0C1-184F-9C0C-2D927E173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6B815-34E7-5C2B-3DDF-8CC34B197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Фаза </a:t>
            </a:r>
            <a:r>
              <a:rPr lang="en-US" dirty="0"/>
              <a:t>Down-Sweep - 5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0DE792-2317-E3F3-2057-A7059B4BC55F}"/>
              </a:ext>
            </a:extLst>
          </p:cNvPr>
          <p:cNvSpPr/>
          <p:nvPr/>
        </p:nvSpPr>
        <p:spPr>
          <a:xfrm>
            <a:off x="3627647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23A993-198B-F69F-69EE-A74BCBC929A0}"/>
              </a:ext>
            </a:extLst>
          </p:cNvPr>
          <p:cNvSpPr/>
          <p:nvPr/>
        </p:nvSpPr>
        <p:spPr>
          <a:xfrm>
            <a:off x="4309133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4D0111-B527-24FB-B467-5CCD56AE87A7}"/>
              </a:ext>
            </a:extLst>
          </p:cNvPr>
          <p:cNvSpPr/>
          <p:nvPr/>
        </p:nvSpPr>
        <p:spPr>
          <a:xfrm>
            <a:off x="4990619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312331-2950-A880-B21A-33710ABECD02}"/>
              </a:ext>
            </a:extLst>
          </p:cNvPr>
          <p:cNvSpPr/>
          <p:nvPr/>
        </p:nvSpPr>
        <p:spPr>
          <a:xfrm>
            <a:off x="5672105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BABD13-9742-2752-3973-1BA862510245}"/>
              </a:ext>
            </a:extLst>
          </p:cNvPr>
          <p:cNvSpPr/>
          <p:nvPr/>
        </p:nvSpPr>
        <p:spPr>
          <a:xfrm>
            <a:off x="6353591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6AD968-1161-68CC-6157-E3C80806DB8D}"/>
              </a:ext>
            </a:extLst>
          </p:cNvPr>
          <p:cNvSpPr/>
          <p:nvPr/>
        </p:nvSpPr>
        <p:spPr>
          <a:xfrm>
            <a:off x="7035077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C7BFA-E7FC-38B6-F0A9-9719BC528C11}"/>
              </a:ext>
            </a:extLst>
          </p:cNvPr>
          <p:cNvSpPr/>
          <p:nvPr/>
        </p:nvSpPr>
        <p:spPr>
          <a:xfrm>
            <a:off x="7716563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6BF8C5-DDFB-AF11-40B0-83D18CA355A2}"/>
              </a:ext>
            </a:extLst>
          </p:cNvPr>
          <p:cNvSpPr/>
          <p:nvPr/>
        </p:nvSpPr>
        <p:spPr>
          <a:xfrm>
            <a:off x="8398049" y="4399606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30E5F9-BEB0-16FE-20C8-4DEA9CA6E115}"/>
              </a:ext>
            </a:extLst>
          </p:cNvPr>
          <p:cNvSpPr/>
          <p:nvPr/>
        </p:nvSpPr>
        <p:spPr>
          <a:xfrm>
            <a:off x="3826054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6E4B05-9D47-00F8-2A78-E0F92744501B}"/>
              </a:ext>
            </a:extLst>
          </p:cNvPr>
          <p:cNvSpPr/>
          <p:nvPr/>
        </p:nvSpPr>
        <p:spPr>
          <a:xfrm>
            <a:off x="5189026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EC781-C98A-E6FA-CDB1-BB7AEFFAC939}"/>
              </a:ext>
            </a:extLst>
          </p:cNvPr>
          <p:cNvSpPr/>
          <p:nvPr/>
        </p:nvSpPr>
        <p:spPr>
          <a:xfrm>
            <a:off x="6551998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D2EAE0-2082-DD5D-1735-415175270821}"/>
              </a:ext>
            </a:extLst>
          </p:cNvPr>
          <p:cNvSpPr/>
          <p:nvPr/>
        </p:nvSpPr>
        <p:spPr>
          <a:xfrm>
            <a:off x="7914970" y="3646070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56319C-1EFE-E4B6-EBC8-A3A42A2D136B}"/>
              </a:ext>
            </a:extLst>
          </p:cNvPr>
          <p:cNvSpPr/>
          <p:nvPr/>
        </p:nvSpPr>
        <p:spPr>
          <a:xfrm>
            <a:off x="4266001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94DF838-6C3F-906B-5DA0-5DF5B9E79F26}"/>
              </a:ext>
            </a:extLst>
          </p:cNvPr>
          <p:cNvSpPr/>
          <p:nvPr/>
        </p:nvSpPr>
        <p:spPr>
          <a:xfrm>
            <a:off x="7000569" y="2668379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495DE73-4C0C-1A72-0766-6E638756DD9C}"/>
              </a:ext>
            </a:extLst>
          </p:cNvPr>
          <p:cNvSpPr/>
          <p:nvPr/>
        </p:nvSpPr>
        <p:spPr>
          <a:xfrm>
            <a:off x="5749743" y="1690688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749806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8FE84-FBD5-9BC8-F373-C51A5706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In-Place </a:t>
            </a:r>
            <a:r>
              <a:rPr lang="en-US" dirty="0" err="1"/>
              <a:t>реализация</a:t>
            </a:r>
            <a:r>
              <a:rPr lang="en-US" dirty="0"/>
              <a:t> Up-Sweep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62443E-750F-B5BD-3BA8-8BE197F9B628}"/>
              </a:ext>
            </a:extLst>
          </p:cNvPr>
          <p:cNvSpPr/>
          <p:nvPr/>
        </p:nvSpPr>
        <p:spPr>
          <a:xfrm>
            <a:off x="3378183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D85565-8882-4C52-B6CF-DC6CE2E2B68A}"/>
              </a:ext>
            </a:extLst>
          </p:cNvPr>
          <p:cNvSpPr/>
          <p:nvPr/>
        </p:nvSpPr>
        <p:spPr>
          <a:xfrm>
            <a:off x="4059669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B890C-59A4-FB46-7923-1F740CEDE841}"/>
              </a:ext>
            </a:extLst>
          </p:cNvPr>
          <p:cNvSpPr/>
          <p:nvPr/>
        </p:nvSpPr>
        <p:spPr>
          <a:xfrm>
            <a:off x="4741155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E0B5E0-7F7A-BF51-9E8F-4C1A67EE6839}"/>
              </a:ext>
            </a:extLst>
          </p:cNvPr>
          <p:cNvSpPr/>
          <p:nvPr/>
        </p:nvSpPr>
        <p:spPr>
          <a:xfrm>
            <a:off x="5422641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BEDA79-74E8-437D-88DD-7D625343A113}"/>
              </a:ext>
            </a:extLst>
          </p:cNvPr>
          <p:cNvSpPr/>
          <p:nvPr/>
        </p:nvSpPr>
        <p:spPr>
          <a:xfrm>
            <a:off x="6104127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E8C693-9C99-F0F2-A2A7-29471F736C24}"/>
              </a:ext>
            </a:extLst>
          </p:cNvPr>
          <p:cNvSpPr/>
          <p:nvPr/>
        </p:nvSpPr>
        <p:spPr>
          <a:xfrm>
            <a:off x="6785613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5B68E3-A406-9BD6-8078-43A7B7EAF8ED}"/>
              </a:ext>
            </a:extLst>
          </p:cNvPr>
          <p:cNvSpPr/>
          <p:nvPr/>
        </p:nvSpPr>
        <p:spPr>
          <a:xfrm>
            <a:off x="7467099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722B64-3B98-8D9E-845D-70F75EFCF93C}"/>
              </a:ext>
            </a:extLst>
          </p:cNvPr>
          <p:cNvSpPr/>
          <p:nvPr/>
        </p:nvSpPr>
        <p:spPr>
          <a:xfrm>
            <a:off x="8148585" y="1886821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A0EFC9-3D23-A59F-AA07-F117133A54D8}"/>
              </a:ext>
            </a:extLst>
          </p:cNvPr>
          <p:cNvSpPr/>
          <p:nvPr/>
        </p:nvSpPr>
        <p:spPr>
          <a:xfrm>
            <a:off x="3378183" y="288123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D7C523-75AB-2B4A-E4EA-30E555D6222A}"/>
              </a:ext>
            </a:extLst>
          </p:cNvPr>
          <p:cNvSpPr/>
          <p:nvPr/>
        </p:nvSpPr>
        <p:spPr>
          <a:xfrm>
            <a:off x="4059669" y="2881239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9EE816-DA28-4A28-4C79-C85B6475E7F9}"/>
              </a:ext>
            </a:extLst>
          </p:cNvPr>
          <p:cNvSpPr/>
          <p:nvPr/>
        </p:nvSpPr>
        <p:spPr>
          <a:xfrm>
            <a:off x="4741155" y="288123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7273FD-5F3E-BD69-EC7D-B766B2076145}"/>
              </a:ext>
            </a:extLst>
          </p:cNvPr>
          <p:cNvSpPr/>
          <p:nvPr/>
        </p:nvSpPr>
        <p:spPr>
          <a:xfrm>
            <a:off x="5422641" y="2881239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53026FB-4E03-4CD8-84C7-8117F74BFF0F}"/>
              </a:ext>
            </a:extLst>
          </p:cNvPr>
          <p:cNvSpPr/>
          <p:nvPr/>
        </p:nvSpPr>
        <p:spPr>
          <a:xfrm>
            <a:off x="6104127" y="288123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1C2E889-F2C3-1290-9E9C-34D9A487258A}"/>
              </a:ext>
            </a:extLst>
          </p:cNvPr>
          <p:cNvSpPr/>
          <p:nvPr/>
        </p:nvSpPr>
        <p:spPr>
          <a:xfrm>
            <a:off x="6785613" y="2881239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615C8C9-3F6F-30B2-0F62-AA54937F6B3F}"/>
              </a:ext>
            </a:extLst>
          </p:cNvPr>
          <p:cNvSpPr/>
          <p:nvPr/>
        </p:nvSpPr>
        <p:spPr>
          <a:xfrm>
            <a:off x="7467099" y="2881239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65CFCC-F30B-D447-D522-85C475D8F0EE}"/>
              </a:ext>
            </a:extLst>
          </p:cNvPr>
          <p:cNvSpPr/>
          <p:nvPr/>
        </p:nvSpPr>
        <p:spPr>
          <a:xfrm>
            <a:off x="8148585" y="2881239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15</a:t>
            </a:r>
            <a:endParaRPr lang="en-US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6A7B095-B1E6-7966-F2DA-B9F607C155B2}"/>
              </a:ext>
            </a:extLst>
          </p:cNvPr>
          <p:cNvCxnSpPr>
            <a:stCxn id="4" idx="2"/>
            <a:endCxn id="29" idx="0"/>
          </p:cNvCxnSpPr>
          <p:nvPr/>
        </p:nvCxnSpPr>
        <p:spPr>
          <a:xfrm>
            <a:off x="3619723" y="2352737"/>
            <a:ext cx="681486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2045C3E-D46F-8A02-EB77-FA3EDD023595}"/>
              </a:ext>
            </a:extLst>
          </p:cNvPr>
          <p:cNvCxnSpPr>
            <a:stCxn id="5" idx="2"/>
            <a:endCxn id="29" idx="0"/>
          </p:cNvCxnSpPr>
          <p:nvPr/>
        </p:nvCxnSpPr>
        <p:spPr>
          <a:xfrm>
            <a:off x="4301209" y="2352737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87E140-0F1A-087E-9915-A990E260D7C0}"/>
              </a:ext>
            </a:extLst>
          </p:cNvPr>
          <p:cNvCxnSpPr>
            <a:stCxn id="6" idx="2"/>
            <a:endCxn id="31" idx="0"/>
          </p:cNvCxnSpPr>
          <p:nvPr/>
        </p:nvCxnSpPr>
        <p:spPr>
          <a:xfrm>
            <a:off x="4982695" y="2352737"/>
            <a:ext cx="681486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B75B74E-E6C6-D8E4-947F-C21B84514CF4}"/>
              </a:ext>
            </a:extLst>
          </p:cNvPr>
          <p:cNvCxnSpPr>
            <a:stCxn id="7" idx="2"/>
            <a:endCxn id="31" idx="0"/>
          </p:cNvCxnSpPr>
          <p:nvPr/>
        </p:nvCxnSpPr>
        <p:spPr>
          <a:xfrm>
            <a:off x="5664181" y="2352737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06B353-3CCF-1960-F286-6DEA61D654EF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6345667" y="2352737"/>
            <a:ext cx="681486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2D8C6D3-1DF2-4851-32BC-1511EE5F493D}"/>
              </a:ext>
            </a:extLst>
          </p:cNvPr>
          <p:cNvCxnSpPr>
            <a:stCxn id="9" idx="2"/>
            <a:endCxn id="33" idx="0"/>
          </p:cNvCxnSpPr>
          <p:nvPr/>
        </p:nvCxnSpPr>
        <p:spPr>
          <a:xfrm>
            <a:off x="7027153" y="2352737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B3BEE00C-A2AF-08DD-77D9-27B7FC512F0A}"/>
              </a:ext>
            </a:extLst>
          </p:cNvPr>
          <p:cNvSpPr/>
          <p:nvPr/>
        </p:nvSpPr>
        <p:spPr>
          <a:xfrm>
            <a:off x="3378183" y="3875657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BA9D88-FE60-25A3-A903-A46C926C9C81}"/>
              </a:ext>
            </a:extLst>
          </p:cNvPr>
          <p:cNvSpPr/>
          <p:nvPr/>
        </p:nvSpPr>
        <p:spPr>
          <a:xfrm>
            <a:off x="4059669" y="3875657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451CB8-B456-BD8F-5A7B-54CB85B4B404}"/>
              </a:ext>
            </a:extLst>
          </p:cNvPr>
          <p:cNvSpPr/>
          <p:nvPr/>
        </p:nvSpPr>
        <p:spPr>
          <a:xfrm>
            <a:off x="4741155" y="3875657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4635C69-6D82-40A9-4C3B-0372D6FC372A}"/>
              </a:ext>
            </a:extLst>
          </p:cNvPr>
          <p:cNvSpPr/>
          <p:nvPr/>
        </p:nvSpPr>
        <p:spPr>
          <a:xfrm>
            <a:off x="5422641" y="3875657"/>
            <a:ext cx="483079" cy="465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A8E8EAD-7756-7E58-A52D-5B91ED9AD7E8}"/>
              </a:ext>
            </a:extLst>
          </p:cNvPr>
          <p:cNvSpPr/>
          <p:nvPr/>
        </p:nvSpPr>
        <p:spPr>
          <a:xfrm>
            <a:off x="6104127" y="3875657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BFA6091-64F3-38E6-2057-3D35B74CDC6E}"/>
              </a:ext>
            </a:extLst>
          </p:cNvPr>
          <p:cNvSpPr/>
          <p:nvPr/>
        </p:nvSpPr>
        <p:spPr>
          <a:xfrm>
            <a:off x="6785613" y="3875657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FCEF35B-F06B-2602-AC8F-4C33D35242D9}"/>
              </a:ext>
            </a:extLst>
          </p:cNvPr>
          <p:cNvSpPr/>
          <p:nvPr/>
        </p:nvSpPr>
        <p:spPr>
          <a:xfrm>
            <a:off x="7467099" y="3875657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6E1E187-030F-054C-524A-105C1705A654}"/>
              </a:ext>
            </a:extLst>
          </p:cNvPr>
          <p:cNvSpPr/>
          <p:nvPr/>
        </p:nvSpPr>
        <p:spPr>
          <a:xfrm>
            <a:off x="8148585" y="3875657"/>
            <a:ext cx="483079" cy="465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26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BDB6730-EA00-49FE-180C-CF4AED000058}"/>
              </a:ext>
            </a:extLst>
          </p:cNvPr>
          <p:cNvCxnSpPr>
            <a:cxnSpLocks/>
            <a:stCxn id="29" idx="2"/>
            <a:endCxn id="52" idx="0"/>
          </p:cNvCxnSpPr>
          <p:nvPr/>
        </p:nvCxnSpPr>
        <p:spPr>
          <a:xfrm>
            <a:off x="4301209" y="3347155"/>
            <a:ext cx="1362972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60E0496-9455-3268-C9B7-D1433D6EB0C3}"/>
              </a:ext>
            </a:extLst>
          </p:cNvPr>
          <p:cNvCxnSpPr>
            <a:stCxn id="31" idx="2"/>
            <a:endCxn id="52" idx="0"/>
          </p:cNvCxnSpPr>
          <p:nvPr/>
        </p:nvCxnSpPr>
        <p:spPr>
          <a:xfrm>
            <a:off x="5664181" y="3347155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58EAF9D-D06E-0F6E-6046-8FAD79B8F027}"/>
              </a:ext>
            </a:extLst>
          </p:cNvPr>
          <p:cNvCxnSpPr>
            <a:cxnSpLocks/>
            <a:stCxn id="33" idx="2"/>
            <a:endCxn id="56" idx="0"/>
          </p:cNvCxnSpPr>
          <p:nvPr/>
        </p:nvCxnSpPr>
        <p:spPr>
          <a:xfrm>
            <a:off x="7027153" y="3347155"/>
            <a:ext cx="1362972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34223D3-0E4E-8019-102E-A1DE803DB9B8}"/>
              </a:ext>
            </a:extLst>
          </p:cNvPr>
          <p:cNvCxnSpPr>
            <a:stCxn id="35" idx="2"/>
            <a:endCxn id="56" idx="0"/>
          </p:cNvCxnSpPr>
          <p:nvPr/>
        </p:nvCxnSpPr>
        <p:spPr>
          <a:xfrm>
            <a:off x="8390125" y="3347155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0B2578CC-FDCF-DC7E-418D-C5866F311F04}"/>
              </a:ext>
            </a:extLst>
          </p:cNvPr>
          <p:cNvSpPr/>
          <p:nvPr/>
        </p:nvSpPr>
        <p:spPr>
          <a:xfrm>
            <a:off x="3378183" y="48700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41ABA8A-A2A1-D66A-5477-972DCBCFD461}"/>
              </a:ext>
            </a:extLst>
          </p:cNvPr>
          <p:cNvSpPr/>
          <p:nvPr/>
        </p:nvSpPr>
        <p:spPr>
          <a:xfrm>
            <a:off x="4059669" y="4870075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BACA777-F51A-2903-D788-F2B0A6016186}"/>
              </a:ext>
            </a:extLst>
          </p:cNvPr>
          <p:cNvSpPr/>
          <p:nvPr/>
        </p:nvSpPr>
        <p:spPr>
          <a:xfrm>
            <a:off x="4741155" y="48700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895A3E5-A9BC-20B1-F296-846093C02FF8}"/>
              </a:ext>
            </a:extLst>
          </p:cNvPr>
          <p:cNvSpPr/>
          <p:nvPr/>
        </p:nvSpPr>
        <p:spPr>
          <a:xfrm>
            <a:off x="5422641" y="4870075"/>
            <a:ext cx="483079" cy="465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135286C-BE5F-8696-ADD7-B98728ABC86B}"/>
              </a:ext>
            </a:extLst>
          </p:cNvPr>
          <p:cNvSpPr/>
          <p:nvPr/>
        </p:nvSpPr>
        <p:spPr>
          <a:xfrm>
            <a:off x="6104127" y="48700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99C0701-66BB-1279-B8DE-7F5C18B48023}"/>
              </a:ext>
            </a:extLst>
          </p:cNvPr>
          <p:cNvSpPr/>
          <p:nvPr/>
        </p:nvSpPr>
        <p:spPr>
          <a:xfrm>
            <a:off x="6785613" y="4870075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0ED9A2B-6BA7-F458-A274-388B8BDF2884}"/>
              </a:ext>
            </a:extLst>
          </p:cNvPr>
          <p:cNvSpPr/>
          <p:nvPr/>
        </p:nvSpPr>
        <p:spPr>
          <a:xfrm>
            <a:off x="7467099" y="48700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BB65748-0D8C-22BA-2453-F98FCBC8DB5D}"/>
              </a:ext>
            </a:extLst>
          </p:cNvPr>
          <p:cNvSpPr/>
          <p:nvPr/>
        </p:nvSpPr>
        <p:spPr>
          <a:xfrm>
            <a:off x="8148585" y="4870075"/>
            <a:ext cx="483079" cy="46591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36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5217B0E1-A380-8475-856B-6E23660D85D2}"/>
              </a:ext>
            </a:extLst>
          </p:cNvPr>
          <p:cNvCxnSpPr>
            <a:cxnSpLocks/>
            <a:stCxn id="52" idx="2"/>
            <a:endCxn id="77" idx="0"/>
          </p:cNvCxnSpPr>
          <p:nvPr/>
        </p:nvCxnSpPr>
        <p:spPr>
          <a:xfrm>
            <a:off x="5664181" y="4341573"/>
            <a:ext cx="2725944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544DA33-33E3-6B7F-5F7A-2508621DD583}"/>
              </a:ext>
            </a:extLst>
          </p:cNvPr>
          <p:cNvCxnSpPr>
            <a:stCxn id="56" idx="2"/>
            <a:endCxn id="77" idx="0"/>
          </p:cNvCxnSpPr>
          <p:nvPr/>
        </p:nvCxnSpPr>
        <p:spPr>
          <a:xfrm>
            <a:off x="8390125" y="4341573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CF8031F-7E8F-A406-163A-0A5DDB5AEB55}"/>
              </a:ext>
            </a:extLst>
          </p:cNvPr>
          <p:cNvCxnSpPr>
            <a:stCxn id="10" idx="2"/>
            <a:endCxn id="35" idx="0"/>
          </p:cNvCxnSpPr>
          <p:nvPr/>
        </p:nvCxnSpPr>
        <p:spPr>
          <a:xfrm>
            <a:off x="7708639" y="2352737"/>
            <a:ext cx="681486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96B988F-3B7A-2E3E-2E56-D4B04058FAD3}"/>
              </a:ext>
            </a:extLst>
          </p:cNvPr>
          <p:cNvCxnSpPr>
            <a:cxnSpLocks/>
            <a:stCxn id="11" idx="2"/>
            <a:endCxn id="35" idx="0"/>
          </p:cNvCxnSpPr>
          <p:nvPr/>
        </p:nvCxnSpPr>
        <p:spPr>
          <a:xfrm>
            <a:off x="8390125" y="2352737"/>
            <a:ext cx="0" cy="528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524446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0855-5147-1E86-261E-A6EEA6B81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In-place Up-Sweep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92EAEC-E546-35E4-9D83-92AE33E3360E}"/>
              </a:ext>
            </a:extLst>
          </p:cNvPr>
          <p:cNvSpPr txBox="1"/>
          <p:nvPr/>
        </p:nvSpPr>
        <p:spPr>
          <a:xfrm>
            <a:off x="838199" y="1843314"/>
            <a:ext cx="105155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 -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размер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work-group,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который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обычно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степень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двойки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__local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[N];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lid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get_local_id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offset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offset &lt; N; offset *=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index = (lid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offset *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(index &lt; N)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 - offset];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(CLK_LOCAL_MEM_FENCE);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4148103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879D1-B395-3C44-3F8E-8B36E2942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In-Place </a:t>
            </a:r>
            <a:r>
              <a:rPr lang="ru-RU" dirty="0"/>
              <a:t>реализация </a:t>
            </a:r>
            <a:r>
              <a:rPr lang="en-US" dirty="0"/>
              <a:t>Down-Sweep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5543FD-40C4-E435-BC08-8965F534BA86}"/>
              </a:ext>
            </a:extLst>
          </p:cNvPr>
          <p:cNvSpPr/>
          <p:nvPr/>
        </p:nvSpPr>
        <p:spPr>
          <a:xfrm>
            <a:off x="3407211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21AD64-C5E9-068E-A2D3-D6E20B6FF3C0}"/>
              </a:ext>
            </a:extLst>
          </p:cNvPr>
          <p:cNvSpPr/>
          <p:nvPr/>
        </p:nvSpPr>
        <p:spPr>
          <a:xfrm>
            <a:off x="4088697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1D6297-701C-23A2-ADB9-6417931499B3}"/>
              </a:ext>
            </a:extLst>
          </p:cNvPr>
          <p:cNvSpPr/>
          <p:nvPr/>
        </p:nvSpPr>
        <p:spPr>
          <a:xfrm>
            <a:off x="4770183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D39666-A0A0-47EE-F37F-1E42A28665D5}"/>
              </a:ext>
            </a:extLst>
          </p:cNvPr>
          <p:cNvSpPr/>
          <p:nvPr/>
        </p:nvSpPr>
        <p:spPr>
          <a:xfrm>
            <a:off x="5451669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BBF254-6240-5722-A392-2A3850F6FDDC}"/>
              </a:ext>
            </a:extLst>
          </p:cNvPr>
          <p:cNvSpPr/>
          <p:nvPr/>
        </p:nvSpPr>
        <p:spPr>
          <a:xfrm>
            <a:off x="6133155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736BCD-05F2-6329-EAF0-C57435C1ED6E}"/>
              </a:ext>
            </a:extLst>
          </p:cNvPr>
          <p:cNvSpPr/>
          <p:nvPr/>
        </p:nvSpPr>
        <p:spPr>
          <a:xfrm>
            <a:off x="6814641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282672-B2CE-A09B-DCDC-84704116AD29}"/>
              </a:ext>
            </a:extLst>
          </p:cNvPr>
          <p:cNvSpPr/>
          <p:nvPr/>
        </p:nvSpPr>
        <p:spPr>
          <a:xfrm>
            <a:off x="7496127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5E8AE4-D178-7929-ABB5-22505F57AB0F}"/>
              </a:ext>
            </a:extLst>
          </p:cNvPr>
          <p:cNvSpPr/>
          <p:nvPr/>
        </p:nvSpPr>
        <p:spPr>
          <a:xfrm>
            <a:off x="8177613" y="2025275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9000B9-1E9D-B609-2FFA-07B59FD030B2}"/>
              </a:ext>
            </a:extLst>
          </p:cNvPr>
          <p:cNvSpPr/>
          <p:nvPr/>
        </p:nvSpPr>
        <p:spPr>
          <a:xfrm>
            <a:off x="3407211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09B4E7-6CD7-C10D-1C84-430096A1F6EE}"/>
              </a:ext>
            </a:extLst>
          </p:cNvPr>
          <p:cNvSpPr/>
          <p:nvPr/>
        </p:nvSpPr>
        <p:spPr>
          <a:xfrm>
            <a:off x="4088697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B0DB29A-91E1-BDFC-DAE8-43C65CF9D853}"/>
              </a:ext>
            </a:extLst>
          </p:cNvPr>
          <p:cNvSpPr/>
          <p:nvPr/>
        </p:nvSpPr>
        <p:spPr>
          <a:xfrm>
            <a:off x="4770183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732C72-9C73-3CCF-8272-25AD1DC7AEEE}"/>
              </a:ext>
            </a:extLst>
          </p:cNvPr>
          <p:cNvSpPr/>
          <p:nvPr/>
        </p:nvSpPr>
        <p:spPr>
          <a:xfrm>
            <a:off x="5451669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9B92CF-0CDF-D711-BFBD-A413539C7836}"/>
              </a:ext>
            </a:extLst>
          </p:cNvPr>
          <p:cNvSpPr/>
          <p:nvPr/>
        </p:nvSpPr>
        <p:spPr>
          <a:xfrm>
            <a:off x="6133155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CABB4D-8728-577D-CAE8-DEAA7B251189}"/>
              </a:ext>
            </a:extLst>
          </p:cNvPr>
          <p:cNvSpPr/>
          <p:nvPr/>
        </p:nvSpPr>
        <p:spPr>
          <a:xfrm>
            <a:off x="6814641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F17F73-6F22-30DD-7C50-DC7A9EC52057}"/>
              </a:ext>
            </a:extLst>
          </p:cNvPr>
          <p:cNvSpPr/>
          <p:nvPr/>
        </p:nvSpPr>
        <p:spPr>
          <a:xfrm>
            <a:off x="7496127" y="296308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0CFA65-F203-A7AE-D10D-9842CFF66114}"/>
              </a:ext>
            </a:extLst>
          </p:cNvPr>
          <p:cNvSpPr/>
          <p:nvPr/>
        </p:nvSpPr>
        <p:spPr>
          <a:xfrm>
            <a:off x="8177613" y="2963084"/>
            <a:ext cx="483079" cy="46591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7E6EC9-BA27-4618-C720-73A4244350F9}"/>
              </a:ext>
            </a:extLst>
          </p:cNvPr>
          <p:cNvSpPr/>
          <p:nvPr/>
        </p:nvSpPr>
        <p:spPr>
          <a:xfrm>
            <a:off x="3407211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AEC4AD-BE60-DCC4-3737-E95E65E628BB}"/>
              </a:ext>
            </a:extLst>
          </p:cNvPr>
          <p:cNvSpPr/>
          <p:nvPr/>
        </p:nvSpPr>
        <p:spPr>
          <a:xfrm>
            <a:off x="4088697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5171660-E6C3-B513-A631-D3A2FC42EE89}"/>
              </a:ext>
            </a:extLst>
          </p:cNvPr>
          <p:cNvSpPr/>
          <p:nvPr/>
        </p:nvSpPr>
        <p:spPr>
          <a:xfrm>
            <a:off x="4770183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642DDC-269D-AA08-5E8A-B6C71185DD41}"/>
              </a:ext>
            </a:extLst>
          </p:cNvPr>
          <p:cNvSpPr/>
          <p:nvPr/>
        </p:nvSpPr>
        <p:spPr>
          <a:xfrm>
            <a:off x="5451669" y="3900894"/>
            <a:ext cx="483079" cy="465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35F63FB-C479-2F68-1C83-832DF1C3E58F}"/>
              </a:ext>
            </a:extLst>
          </p:cNvPr>
          <p:cNvSpPr/>
          <p:nvPr/>
        </p:nvSpPr>
        <p:spPr>
          <a:xfrm>
            <a:off x="6133155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BC4BEB-DEE6-31C1-DE43-2EF2B02ECB7F}"/>
              </a:ext>
            </a:extLst>
          </p:cNvPr>
          <p:cNvSpPr/>
          <p:nvPr/>
        </p:nvSpPr>
        <p:spPr>
          <a:xfrm>
            <a:off x="6814641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11</a:t>
            </a:r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F64D7A-C67C-F2FD-105E-1F2809131C72}"/>
              </a:ext>
            </a:extLst>
          </p:cNvPr>
          <p:cNvSpPr/>
          <p:nvPr/>
        </p:nvSpPr>
        <p:spPr>
          <a:xfrm>
            <a:off x="7496127" y="3900894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0B960AE-2782-39F1-0B50-EA0FF2FE564D}"/>
              </a:ext>
            </a:extLst>
          </p:cNvPr>
          <p:cNvSpPr/>
          <p:nvPr/>
        </p:nvSpPr>
        <p:spPr>
          <a:xfrm>
            <a:off x="8177613" y="3900894"/>
            <a:ext cx="483079" cy="465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BB40345-E674-D854-5BC0-E83CED9D2C23}"/>
              </a:ext>
            </a:extLst>
          </p:cNvPr>
          <p:cNvCxnSpPr>
            <a:stCxn id="19" idx="2"/>
            <a:endCxn id="35" idx="0"/>
          </p:cNvCxnSpPr>
          <p:nvPr/>
        </p:nvCxnSpPr>
        <p:spPr>
          <a:xfrm>
            <a:off x="8419153" y="3429000"/>
            <a:ext cx="0" cy="471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64CA147-A873-E6F0-F9D1-EE7BBBDAED72}"/>
              </a:ext>
            </a:extLst>
          </p:cNvPr>
          <p:cNvCxnSpPr>
            <a:stCxn id="19" idx="2"/>
            <a:endCxn id="31" idx="0"/>
          </p:cNvCxnSpPr>
          <p:nvPr/>
        </p:nvCxnSpPr>
        <p:spPr>
          <a:xfrm flipH="1">
            <a:off x="5693209" y="3429000"/>
            <a:ext cx="2725944" cy="471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E33B4B3-D06A-11AA-F333-3B4ADC194325}"/>
              </a:ext>
            </a:extLst>
          </p:cNvPr>
          <p:cNvCxnSpPr>
            <a:stCxn id="15" idx="2"/>
            <a:endCxn id="35" idx="0"/>
          </p:cNvCxnSpPr>
          <p:nvPr/>
        </p:nvCxnSpPr>
        <p:spPr>
          <a:xfrm>
            <a:off x="5693209" y="3429000"/>
            <a:ext cx="2725944" cy="471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75C751E0-A8E6-2DD3-7D59-9D747A248F8F}"/>
              </a:ext>
            </a:extLst>
          </p:cNvPr>
          <p:cNvSpPr/>
          <p:nvPr/>
        </p:nvSpPr>
        <p:spPr>
          <a:xfrm>
            <a:off x="3407211" y="483870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A7EF16-EEB8-FAFD-0BE6-C14D05D2C618}"/>
              </a:ext>
            </a:extLst>
          </p:cNvPr>
          <p:cNvSpPr/>
          <p:nvPr/>
        </p:nvSpPr>
        <p:spPr>
          <a:xfrm>
            <a:off x="4088697" y="4838703"/>
            <a:ext cx="483079" cy="46591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E5A4E73-213A-961B-C2B9-52BCDDACBF0F}"/>
              </a:ext>
            </a:extLst>
          </p:cNvPr>
          <p:cNvSpPr/>
          <p:nvPr/>
        </p:nvSpPr>
        <p:spPr>
          <a:xfrm>
            <a:off x="4770183" y="483870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BFE87EF-23E2-D052-9FF7-54206F04A8B3}"/>
              </a:ext>
            </a:extLst>
          </p:cNvPr>
          <p:cNvSpPr/>
          <p:nvPr/>
        </p:nvSpPr>
        <p:spPr>
          <a:xfrm>
            <a:off x="5451669" y="4838703"/>
            <a:ext cx="483079" cy="46591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2662FEE-7977-5338-911B-3C3211CE29CE}"/>
              </a:ext>
            </a:extLst>
          </p:cNvPr>
          <p:cNvSpPr/>
          <p:nvPr/>
        </p:nvSpPr>
        <p:spPr>
          <a:xfrm>
            <a:off x="6133155" y="483870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A304CE9-48C4-F6D8-B36F-2C02F2B561F0}"/>
              </a:ext>
            </a:extLst>
          </p:cNvPr>
          <p:cNvSpPr/>
          <p:nvPr/>
        </p:nvSpPr>
        <p:spPr>
          <a:xfrm>
            <a:off x="6814641" y="4838703"/>
            <a:ext cx="483079" cy="46591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DD3FFA-88FB-29C0-9002-74384F0FBFF4}"/>
              </a:ext>
            </a:extLst>
          </p:cNvPr>
          <p:cNvSpPr/>
          <p:nvPr/>
        </p:nvSpPr>
        <p:spPr>
          <a:xfrm>
            <a:off x="7496127" y="4838703"/>
            <a:ext cx="483079" cy="4659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91D2F9A-4099-3D2E-39F6-1708457EE74C}"/>
              </a:ext>
            </a:extLst>
          </p:cNvPr>
          <p:cNvSpPr/>
          <p:nvPr/>
        </p:nvSpPr>
        <p:spPr>
          <a:xfrm>
            <a:off x="8177613" y="4838703"/>
            <a:ext cx="483079" cy="46591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73FBBD3-8ED8-6A92-EAD1-DDF993FAF751}"/>
              </a:ext>
            </a:extLst>
          </p:cNvPr>
          <p:cNvCxnSpPr>
            <a:stCxn id="35" idx="2"/>
            <a:endCxn id="49" idx="0"/>
          </p:cNvCxnSpPr>
          <p:nvPr/>
        </p:nvCxnSpPr>
        <p:spPr>
          <a:xfrm>
            <a:off x="8419153" y="4366810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2D775E7-7498-EE9F-A241-B2FA68910273}"/>
              </a:ext>
            </a:extLst>
          </p:cNvPr>
          <p:cNvCxnSpPr>
            <a:stCxn id="33" idx="2"/>
            <a:endCxn id="49" idx="0"/>
          </p:cNvCxnSpPr>
          <p:nvPr/>
        </p:nvCxnSpPr>
        <p:spPr>
          <a:xfrm>
            <a:off x="7056181" y="4366810"/>
            <a:ext cx="1362972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59AFD32-D20E-B755-BD8F-4A85FB16E744}"/>
              </a:ext>
            </a:extLst>
          </p:cNvPr>
          <p:cNvCxnSpPr>
            <a:stCxn id="35" idx="2"/>
            <a:endCxn id="47" idx="0"/>
          </p:cNvCxnSpPr>
          <p:nvPr/>
        </p:nvCxnSpPr>
        <p:spPr>
          <a:xfrm flipH="1">
            <a:off x="7056181" y="4366810"/>
            <a:ext cx="1362972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DE6D21E-7271-D631-DF4D-8D9855A06430}"/>
              </a:ext>
            </a:extLst>
          </p:cNvPr>
          <p:cNvCxnSpPr>
            <a:stCxn id="31" idx="2"/>
            <a:endCxn id="45" idx="0"/>
          </p:cNvCxnSpPr>
          <p:nvPr/>
        </p:nvCxnSpPr>
        <p:spPr>
          <a:xfrm>
            <a:off x="5693209" y="4366810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0AAF8A8-A6C0-5358-3490-47154F628EF2}"/>
              </a:ext>
            </a:extLst>
          </p:cNvPr>
          <p:cNvCxnSpPr>
            <a:stCxn id="31" idx="2"/>
            <a:endCxn id="43" idx="0"/>
          </p:cNvCxnSpPr>
          <p:nvPr/>
        </p:nvCxnSpPr>
        <p:spPr>
          <a:xfrm flipH="1">
            <a:off x="4209143" y="4366810"/>
            <a:ext cx="148406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01B4F0B-3514-C3ED-859D-3E00028B57FD}"/>
              </a:ext>
            </a:extLst>
          </p:cNvPr>
          <p:cNvCxnSpPr>
            <a:stCxn id="29" idx="2"/>
            <a:endCxn id="45" idx="0"/>
          </p:cNvCxnSpPr>
          <p:nvPr/>
        </p:nvCxnSpPr>
        <p:spPr>
          <a:xfrm>
            <a:off x="4330237" y="4366810"/>
            <a:ext cx="1362972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0C50CE2B-2114-BFDB-C5C9-69793A8FF038}"/>
              </a:ext>
            </a:extLst>
          </p:cNvPr>
          <p:cNvSpPr/>
          <p:nvPr/>
        </p:nvSpPr>
        <p:spPr>
          <a:xfrm>
            <a:off x="3407211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872E70-0767-B9C9-F9E9-A11522628A38}"/>
              </a:ext>
            </a:extLst>
          </p:cNvPr>
          <p:cNvSpPr/>
          <p:nvPr/>
        </p:nvSpPr>
        <p:spPr>
          <a:xfrm>
            <a:off x="4088697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18FEDD4-695C-56EE-D34C-B1FEFAEBE66A}"/>
              </a:ext>
            </a:extLst>
          </p:cNvPr>
          <p:cNvSpPr/>
          <p:nvPr/>
        </p:nvSpPr>
        <p:spPr>
          <a:xfrm>
            <a:off x="4770183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22D8F12-A104-12B9-F416-07CBF9FEC601}"/>
              </a:ext>
            </a:extLst>
          </p:cNvPr>
          <p:cNvSpPr/>
          <p:nvPr/>
        </p:nvSpPr>
        <p:spPr>
          <a:xfrm>
            <a:off x="5451669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1E2319B-E0A0-CAB4-C11C-5930D4CBB449}"/>
              </a:ext>
            </a:extLst>
          </p:cNvPr>
          <p:cNvSpPr/>
          <p:nvPr/>
        </p:nvSpPr>
        <p:spPr>
          <a:xfrm>
            <a:off x="6133155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5D4E33-71B2-12B0-5E33-E634770364EA}"/>
              </a:ext>
            </a:extLst>
          </p:cNvPr>
          <p:cNvSpPr/>
          <p:nvPr/>
        </p:nvSpPr>
        <p:spPr>
          <a:xfrm>
            <a:off x="6814641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9CF8D46-86F7-5780-9A1E-B00171D65A62}"/>
              </a:ext>
            </a:extLst>
          </p:cNvPr>
          <p:cNvSpPr/>
          <p:nvPr/>
        </p:nvSpPr>
        <p:spPr>
          <a:xfrm>
            <a:off x="7496127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FDF3E37-DC6F-9DB7-0D59-95EF60BAD0B9}"/>
              </a:ext>
            </a:extLst>
          </p:cNvPr>
          <p:cNvSpPr/>
          <p:nvPr/>
        </p:nvSpPr>
        <p:spPr>
          <a:xfrm>
            <a:off x="8177613" y="5776512"/>
            <a:ext cx="483079" cy="46591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9B4DEA8-FC70-15C2-5836-4CE9AD4B41B3}"/>
              </a:ext>
            </a:extLst>
          </p:cNvPr>
          <p:cNvCxnSpPr>
            <a:stCxn id="49" idx="2"/>
            <a:endCxn id="69" idx="0"/>
          </p:cNvCxnSpPr>
          <p:nvPr/>
        </p:nvCxnSpPr>
        <p:spPr>
          <a:xfrm>
            <a:off x="8419153" y="5304619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62F0F25-FE9A-F513-1CDB-880FC929711D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7737667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BB82CA-33FF-FD5B-AB6E-E4737C517109}"/>
              </a:ext>
            </a:extLst>
          </p:cNvPr>
          <p:cNvCxnSpPr>
            <a:stCxn id="49" idx="2"/>
            <a:endCxn id="68" idx="0"/>
          </p:cNvCxnSpPr>
          <p:nvPr/>
        </p:nvCxnSpPr>
        <p:spPr>
          <a:xfrm flipH="1">
            <a:off x="7737667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771BFE1-CB05-C5B0-7C71-C98ADCF624EE}"/>
              </a:ext>
            </a:extLst>
          </p:cNvPr>
          <p:cNvCxnSpPr>
            <a:stCxn id="47" idx="2"/>
            <a:endCxn id="67" idx="0"/>
          </p:cNvCxnSpPr>
          <p:nvPr/>
        </p:nvCxnSpPr>
        <p:spPr>
          <a:xfrm>
            <a:off x="7056181" y="5304619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EE615E6-B260-E627-752E-6201E9CCBF4D}"/>
              </a:ext>
            </a:extLst>
          </p:cNvPr>
          <p:cNvCxnSpPr>
            <a:stCxn id="47" idx="2"/>
            <a:endCxn id="66" idx="0"/>
          </p:cNvCxnSpPr>
          <p:nvPr/>
        </p:nvCxnSpPr>
        <p:spPr>
          <a:xfrm flipH="1">
            <a:off x="6374695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ED768FD-9703-9B98-41DE-EEA3A02D3C7F}"/>
              </a:ext>
            </a:extLst>
          </p:cNvPr>
          <p:cNvCxnSpPr>
            <a:stCxn id="46" idx="2"/>
            <a:endCxn id="67" idx="0"/>
          </p:cNvCxnSpPr>
          <p:nvPr/>
        </p:nvCxnSpPr>
        <p:spPr>
          <a:xfrm>
            <a:off x="6374695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C0FD4A0-BC25-C66D-0FDF-4CDEFF22DBE5}"/>
              </a:ext>
            </a:extLst>
          </p:cNvPr>
          <p:cNvCxnSpPr>
            <a:stCxn id="45" idx="2"/>
            <a:endCxn id="65" idx="0"/>
          </p:cNvCxnSpPr>
          <p:nvPr/>
        </p:nvCxnSpPr>
        <p:spPr>
          <a:xfrm>
            <a:off x="5693209" y="5304619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AB24188-8179-E5D7-4928-77CFC97124E2}"/>
              </a:ext>
            </a:extLst>
          </p:cNvPr>
          <p:cNvCxnSpPr>
            <a:stCxn id="45" idx="2"/>
            <a:endCxn id="64" idx="0"/>
          </p:cNvCxnSpPr>
          <p:nvPr/>
        </p:nvCxnSpPr>
        <p:spPr>
          <a:xfrm flipH="1">
            <a:off x="5011723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247C098-FEAC-962A-6AE4-4B25AAD4D0C6}"/>
              </a:ext>
            </a:extLst>
          </p:cNvPr>
          <p:cNvCxnSpPr>
            <a:stCxn id="44" idx="2"/>
            <a:endCxn id="65" idx="0"/>
          </p:cNvCxnSpPr>
          <p:nvPr/>
        </p:nvCxnSpPr>
        <p:spPr>
          <a:xfrm>
            <a:off x="5011723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5381185-47CD-015F-D766-59C29375E398}"/>
              </a:ext>
            </a:extLst>
          </p:cNvPr>
          <p:cNvCxnSpPr>
            <a:stCxn id="43" idx="2"/>
            <a:endCxn id="63" idx="0"/>
          </p:cNvCxnSpPr>
          <p:nvPr/>
        </p:nvCxnSpPr>
        <p:spPr>
          <a:xfrm>
            <a:off x="4330237" y="5304619"/>
            <a:ext cx="0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03D5583-B486-7D60-C061-B1F0842AC4F7}"/>
              </a:ext>
            </a:extLst>
          </p:cNvPr>
          <p:cNvCxnSpPr>
            <a:stCxn id="42" idx="2"/>
            <a:endCxn id="63" idx="0"/>
          </p:cNvCxnSpPr>
          <p:nvPr/>
        </p:nvCxnSpPr>
        <p:spPr>
          <a:xfrm>
            <a:off x="3648751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E0D1809-91A4-286F-B0BA-287263321ADD}"/>
              </a:ext>
            </a:extLst>
          </p:cNvPr>
          <p:cNvCxnSpPr>
            <a:stCxn id="43" idx="2"/>
            <a:endCxn id="62" idx="0"/>
          </p:cNvCxnSpPr>
          <p:nvPr/>
        </p:nvCxnSpPr>
        <p:spPr>
          <a:xfrm flipH="1">
            <a:off x="3648751" y="5304619"/>
            <a:ext cx="681486" cy="471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1497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AB1C4-7451-3E6B-5EF0-625C8E140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In-place Down-Sweep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2F7DBA-F16D-228A-A1F3-23FD8869AEC7}"/>
              </a:ext>
            </a:extLst>
          </p:cNvPr>
          <p:cNvSpPr txBox="1"/>
          <p:nvPr/>
        </p:nvSpPr>
        <p:spPr>
          <a:xfrm>
            <a:off x="838200" y="1828800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 -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размер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work-group,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который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обычно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степень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двойки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 -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массив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 local memory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фазы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Up-Sweep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(lid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Инициализация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последнего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элемента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массива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A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нулем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Синхронизация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потоки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увидели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обновление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A[N - 1]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(CLK_LOCAL_MEM_FENCE);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offset = N /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offset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offset /=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index = (lid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offset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(index &lt; N)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 - offset];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 - offset]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 += 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Синхронизация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потоки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увидели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обновление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barrier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(CLK_LOCAL_MEM_FENCE);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07603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D2C1-361C-B451-1E95-B42C8CFF4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Scan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массивов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9DC3-DA9F-8C5E-A00A-4D83BF338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рабочая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ограниченный</a:t>
            </a:r>
            <a:r>
              <a:rPr lang="en-US" dirty="0"/>
              <a:t> </a:t>
            </a:r>
            <a:r>
              <a:rPr lang="en-US" dirty="0" err="1"/>
              <a:t>блок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pPr lvl="1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вычисляются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локальный</a:t>
            </a:r>
            <a:r>
              <a:rPr lang="en-US" dirty="0"/>
              <a:t> Scan </a:t>
            </a:r>
          </a:p>
          <a:p>
            <a:pPr lvl="2"/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Получаем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N → N/B → N/B² → ...</a:t>
            </a:r>
            <a:endParaRPr lang="ru-RU" dirty="0"/>
          </a:p>
          <a:p>
            <a:pPr lvl="2"/>
            <a:r>
              <a:rPr lang="en-US" dirty="0" err="1"/>
              <a:t>где</a:t>
            </a:r>
            <a:r>
              <a:rPr lang="ru-RU" dirty="0"/>
              <a:t> </a:t>
            </a:r>
            <a:r>
              <a:rPr lang="en-US" dirty="0"/>
              <a:t>N —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ru-RU" dirty="0"/>
              <a:t>, </a:t>
            </a:r>
            <a:r>
              <a:rPr lang="en-US" dirty="0"/>
              <a:t>B —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блока</a:t>
            </a:r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en-US" dirty="0" err="1"/>
              <a:t>сумм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Scan</a:t>
            </a:r>
          </a:p>
          <a:p>
            <a:pPr lvl="1"/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очередной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поместится</a:t>
            </a:r>
            <a:r>
              <a:rPr lang="en-US" dirty="0"/>
              <a:t> в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рабочую</a:t>
            </a:r>
            <a:r>
              <a:rPr lang="en-US" dirty="0"/>
              <a:t> </a:t>
            </a:r>
            <a:r>
              <a:rPr lang="en-US" dirty="0" err="1"/>
              <a:t>группу</a:t>
            </a:r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коррекция</a:t>
            </a:r>
            <a:r>
              <a:rPr lang="en-US" dirty="0"/>
              <a:t> </a:t>
            </a:r>
            <a:r>
              <a:rPr lang="en-US" dirty="0" err="1"/>
              <a:t>результатов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Глобальный</a:t>
            </a:r>
            <a:r>
              <a:rPr lang="en-US" dirty="0"/>
              <a:t> Scan =</a:t>
            </a:r>
            <a:r>
              <a:rPr lang="ru-RU" dirty="0"/>
              <a:t> </a:t>
            </a:r>
            <a:r>
              <a:rPr lang="en-US" dirty="0" err="1"/>
              <a:t>Локальный</a:t>
            </a:r>
            <a:r>
              <a:rPr lang="en-US" dirty="0"/>
              <a:t> Scan +</a:t>
            </a:r>
            <a:r>
              <a:rPr lang="ru-RU" dirty="0"/>
              <a:t> </a:t>
            </a:r>
            <a:r>
              <a:rPr lang="en-US" dirty="0" err="1"/>
              <a:t>Сумма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блоков</a:t>
            </a:r>
            <a:endParaRPr lang="en-US" dirty="0"/>
          </a:p>
          <a:p>
            <a:pPr lvl="1"/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N/B + N/B² + ...</a:t>
            </a:r>
          </a:p>
          <a:p>
            <a:pPr lvl="2"/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менее</a:t>
            </a:r>
            <a:r>
              <a:rPr lang="en-US" dirty="0"/>
              <a:t> 1%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исходного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endParaRPr lang="en-US" dirty="0"/>
          </a:p>
          <a:p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46173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554AF-A656-1CFA-3696-DAA01345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Scan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запусков</a:t>
            </a:r>
            <a:r>
              <a:rPr lang="en-US" dirty="0"/>
              <a:t> kernel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C57318-7455-65A2-7145-6BF1DA79B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В OpenCL </a:t>
                </a:r>
                <a:r>
                  <a:rPr lang="en-US" dirty="0" err="1"/>
                  <a:t>барьер</a:t>
                </a:r>
                <a:r>
                  <a:rPr lang="en-US" dirty="0"/>
                  <a:t> </a:t>
                </a:r>
                <a:r>
                  <a:rPr lang="en-US" dirty="0" err="1"/>
                  <a:t>работает</a:t>
                </a:r>
                <a:r>
                  <a:rPr lang="en-US" dirty="0"/>
                  <a:t> </a:t>
                </a:r>
                <a:r>
                  <a:rPr lang="en-US" dirty="0" err="1"/>
                  <a:t>только</a:t>
                </a:r>
                <a:r>
                  <a:rPr lang="en-US" dirty="0"/>
                  <a:t> </a:t>
                </a:r>
                <a:r>
                  <a:rPr lang="en-US" dirty="0" err="1"/>
                  <a:t>внутри</a:t>
                </a:r>
                <a:r>
                  <a:rPr lang="en-US" dirty="0"/>
                  <a:t> </a:t>
                </a:r>
                <a:r>
                  <a:rPr lang="en-US" dirty="0" err="1"/>
                  <a:t>одной</a:t>
                </a:r>
                <a:r>
                  <a:rPr lang="en-US" dirty="0"/>
                  <a:t> work-group:</a:t>
                </a:r>
              </a:p>
              <a:p>
                <a:pPr lvl="1"/>
                <a:r>
                  <a:rPr lang="en-US" dirty="0"/>
                  <a:t>barrier(CLK_LOCAL_MEM_FENCE);</a:t>
                </a:r>
              </a:p>
              <a:p>
                <a:pPr lvl="1"/>
                <a:r>
                  <a:rPr lang="en-US" dirty="0" err="1"/>
                  <a:t>Синхронизация</a:t>
                </a:r>
                <a:r>
                  <a:rPr lang="en-US" dirty="0"/>
                  <a:t> </a:t>
                </a:r>
                <a:r>
                  <a:rPr lang="en-US" dirty="0" err="1"/>
                  <a:t>всех</a:t>
                </a:r>
                <a:r>
                  <a:rPr lang="en-US" dirty="0"/>
                  <a:t> work-group </a:t>
                </a:r>
                <a:r>
                  <a:rPr lang="en-US" dirty="0" err="1"/>
                  <a:t>невозможна</a:t>
                </a:r>
                <a:r>
                  <a:rPr lang="en-US" dirty="0"/>
                  <a:t> </a:t>
                </a:r>
                <a:r>
                  <a:rPr lang="en-US" dirty="0" err="1"/>
                  <a:t>внутри</a:t>
                </a:r>
                <a:r>
                  <a:rPr lang="en-US" dirty="0"/>
                  <a:t> </a:t>
                </a:r>
                <a:r>
                  <a:rPr lang="en-US" dirty="0" err="1"/>
                  <a:t>одного</a:t>
                </a:r>
                <a:r>
                  <a:rPr lang="en-US" dirty="0"/>
                  <a:t> kernel</a:t>
                </a:r>
              </a:p>
              <a:p>
                <a:pPr lvl="1"/>
                <a:r>
                  <a:rPr lang="en-US" dirty="0" err="1"/>
                  <a:t>Поэтому</a:t>
                </a:r>
                <a:r>
                  <a:rPr lang="en-US" dirty="0"/>
                  <a:t> </a:t>
                </a:r>
                <a:r>
                  <a:rPr lang="en-US" dirty="0" err="1"/>
                  <a:t>каждый</a:t>
                </a:r>
                <a:r>
                  <a:rPr lang="en-US" dirty="0"/>
                  <a:t> </a:t>
                </a:r>
                <a:r>
                  <a:rPr lang="en-US" dirty="0" err="1"/>
                  <a:t>уровень</a:t>
                </a:r>
                <a:r>
                  <a:rPr lang="en-US" dirty="0"/>
                  <a:t> </a:t>
                </a:r>
                <a:r>
                  <a:rPr lang="en-US" dirty="0" err="1"/>
                  <a:t>иерархического</a:t>
                </a:r>
                <a:r>
                  <a:rPr lang="en-US" dirty="0"/>
                  <a:t> Scan </a:t>
                </a:r>
                <a:r>
                  <a:rPr lang="en-US" dirty="0" err="1"/>
                  <a:t>выполняется</a:t>
                </a:r>
                <a:r>
                  <a:rPr lang="en-US" dirty="0"/>
                  <a:t> </a:t>
                </a:r>
                <a:r>
                  <a:rPr lang="en-US" dirty="0" err="1"/>
                  <a:t>отдельным</a:t>
                </a:r>
                <a:r>
                  <a:rPr lang="en-US" dirty="0"/>
                  <a:t> kernel</a:t>
                </a:r>
              </a:p>
              <a:p>
                <a:r>
                  <a:rPr lang="en-US" dirty="0" err="1"/>
                  <a:t>Пример</a:t>
                </a:r>
                <a:r>
                  <a:rPr lang="en-US" dirty="0"/>
                  <a:t> </a:t>
                </a:r>
                <a:r>
                  <a:rPr lang="en-US" dirty="0" err="1"/>
                  <a:t>для</a:t>
                </a:r>
                <a:r>
                  <a:rPr lang="en-US" dirty="0"/>
                  <a:t> </a:t>
                </a:r>
                <a:r>
                  <a:rPr lang="en-US" dirty="0" err="1"/>
                  <a:t>массива</a:t>
                </a:r>
                <a:r>
                  <a:rPr lang="en-US" dirty="0"/>
                  <a:t> </a:t>
                </a:r>
                <a:r>
                  <a:rPr lang="en-US" dirty="0" err="1"/>
                  <a:t>размером</a:t>
                </a:r>
                <a:r>
                  <a:rPr lang="en-US" dirty="0"/>
                  <a:t> 256³ и </a:t>
                </a:r>
                <a:r>
                  <a:rPr lang="en-US" dirty="0" err="1"/>
                  <a:t>блока</a:t>
                </a:r>
                <a:r>
                  <a:rPr lang="en-US" dirty="0"/>
                  <a:t> 256:</a:t>
                </a:r>
              </a:p>
              <a:p>
                <a:pPr lvl="1"/>
                <a:r>
                  <a:rPr lang="en-US" dirty="0"/>
                  <a:t>Kernel 1: Scan(256³)</a:t>
                </a:r>
                <a:endParaRPr lang="ru-RU" dirty="0"/>
              </a:p>
              <a:p>
                <a:pPr lvl="1"/>
                <a:r>
                  <a:rPr lang="en-US" dirty="0"/>
                  <a:t>Kernel 2: Scan(256²)</a:t>
                </a:r>
                <a:endParaRPr lang="ru-RU" dirty="0"/>
              </a:p>
              <a:p>
                <a:pPr lvl="1"/>
                <a:r>
                  <a:rPr lang="en-US" dirty="0"/>
                  <a:t>Kernel 3: Scan(256)</a:t>
                </a:r>
                <a:endParaRPr lang="ru-RU" dirty="0"/>
              </a:p>
              <a:p>
                <a:pPr lvl="1"/>
                <a:r>
                  <a:rPr lang="en-US" dirty="0"/>
                  <a:t>Kernel 4: </a:t>
                </a:r>
                <a:r>
                  <a:rPr lang="en-US" dirty="0" err="1"/>
                  <a:t>Коррекция</a:t>
                </a:r>
                <a:r>
                  <a:rPr lang="en-US" dirty="0"/>
                  <a:t>(256²)</a:t>
                </a:r>
                <a:endParaRPr lang="ru-RU" dirty="0"/>
              </a:p>
              <a:p>
                <a:pPr lvl="1"/>
                <a:r>
                  <a:rPr lang="en-US" dirty="0"/>
                  <a:t>Kernel 5: </a:t>
                </a:r>
                <a:r>
                  <a:rPr lang="en-US" dirty="0" err="1"/>
                  <a:t>Коррекция</a:t>
                </a:r>
                <a:r>
                  <a:rPr lang="en-US" dirty="0"/>
                  <a:t>(256³)</a:t>
                </a:r>
              </a:p>
              <a:p>
                <a:r>
                  <a:rPr lang="en-US" dirty="0" err="1"/>
                  <a:t>Для</a:t>
                </a:r>
                <a:r>
                  <a:rPr lang="en-US" dirty="0"/>
                  <a:t> </a:t>
                </a:r>
                <a:r>
                  <a:rPr lang="en-US" dirty="0" err="1"/>
                  <a:t>массива</a:t>
                </a:r>
                <a:r>
                  <a:rPr lang="en-US" dirty="0"/>
                  <a:t> </a:t>
                </a:r>
                <a:r>
                  <a:rPr lang="en-US" dirty="0" err="1"/>
                  <a:t>размера</a:t>
                </a:r>
                <a:r>
                  <a:rPr lang="en-US" dirty="0"/>
                  <a:t> N и </a:t>
                </a:r>
                <a:r>
                  <a:rPr lang="en-US" dirty="0" err="1"/>
                  <a:t>блока</a:t>
                </a:r>
                <a:r>
                  <a:rPr lang="en-US" dirty="0"/>
                  <a:t> </a:t>
                </a:r>
                <a:r>
                  <a:rPr lang="en-US" dirty="0" err="1"/>
                  <a:t>размера</a:t>
                </a:r>
                <a:r>
                  <a:rPr lang="en-US" dirty="0"/>
                  <a:t> B:</a:t>
                </a:r>
              </a:p>
              <a:p>
                <a:pPr lvl="1"/>
                <a:r>
                  <a:rPr lang="en-US" dirty="0" err="1"/>
                  <a:t>Число</a:t>
                </a:r>
                <a:r>
                  <a:rPr lang="en-US" dirty="0"/>
                  <a:t> </a:t>
                </a:r>
                <a:r>
                  <a:rPr lang="en-US" dirty="0" err="1"/>
                  <a:t>уровней</a:t>
                </a:r>
                <a:r>
                  <a:rPr lang="en-US" dirty="0"/>
                  <a:t> ≈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dirty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 err="1"/>
                  <a:t>Число</a:t>
                </a:r>
                <a:r>
                  <a:rPr lang="en-US" dirty="0"/>
                  <a:t> </a:t>
                </a:r>
                <a:r>
                  <a:rPr lang="en-US" dirty="0" err="1"/>
                  <a:t>запусков</a:t>
                </a:r>
                <a:r>
                  <a:rPr lang="en-US" dirty="0"/>
                  <a:t> kernel ≈ 2·logB(N) − 1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C57318-7455-65A2-7145-6BF1DA79B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37878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59FF-98FB-E0E0-1844-A3236375D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Scan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0EAA4-F25F-A189-2683-DBB0F91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Основа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Stream Compaction </a:t>
            </a:r>
          </a:p>
          <a:p>
            <a:pPr lvl="1"/>
            <a:r>
              <a:rPr lang="en-US" dirty="0"/>
              <a:t>Radix Sort </a:t>
            </a:r>
          </a:p>
          <a:p>
            <a:pPr lvl="1"/>
            <a:r>
              <a:rPr lang="en-US" dirty="0" err="1"/>
              <a:t>Построение</a:t>
            </a:r>
            <a:r>
              <a:rPr lang="en-US" dirty="0"/>
              <a:t> </a:t>
            </a:r>
            <a:r>
              <a:rPr lang="en-US" dirty="0" err="1"/>
              <a:t>гистограмм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Выделение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</a:p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параллельных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6817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82685-6BB3-C473-C9B0-8CAC2E4BC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Scan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84B44-0F90-6A32-8649-9096A73C8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</a:t>
            </a:r>
            <a:r>
              <a:rPr lang="en-US" dirty="0" err="1"/>
              <a:t>ычисляет</a:t>
            </a:r>
            <a:r>
              <a:rPr lang="en-US" dirty="0"/>
              <a:t> </a:t>
            </a:r>
            <a:r>
              <a:rPr lang="en-US" dirty="0" err="1"/>
              <a:t>накопленные</a:t>
            </a:r>
            <a:r>
              <a:rPr lang="en-US" dirty="0"/>
              <a:t> </a:t>
            </a:r>
            <a:r>
              <a:rPr lang="en-US" dirty="0" err="1"/>
              <a:t>частичные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r>
              <a:rPr lang="en-US" dirty="0"/>
              <a:t> </a:t>
            </a:r>
          </a:p>
          <a:p>
            <a:r>
              <a:rPr lang="ru-RU" dirty="0"/>
              <a:t>С</a:t>
            </a:r>
            <a:r>
              <a:rPr lang="en-US" dirty="0" err="1"/>
              <a:t>охраняет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</a:p>
          <a:p>
            <a:r>
              <a:rPr lang="ru-RU" dirty="0"/>
              <a:t>Р</a:t>
            </a:r>
            <a:r>
              <a:rPr lang="en-US" dirty="0" err="1"/>
              <a:t>еализуется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дерево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</a:p>
          <a:p>
            <a:r>
              <a:rPr lang="ru-RU" dirty="0"/>
              <a:t>Я</a:t>
            </a:r>
            <a:r>
              <a:rPr lang="en-US" dirty="0" err="1"/>
              <a:t>вляется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GPU-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78075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CE3F4D-EA3D-C1F5-2E6B-12458A22D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Compaction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06BF1C-C3E0-C5B3-FD5B-9C92A773B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34039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4B022B-590E-D3D2-E098-B2934983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Compaction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ECFE44-6F33-6F04-A931-C4FEE7B08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87219" cy="4351338"/>
          </a:xfrm>
        </p:spPr>
        <p:txBody>
          <a:bodyPr>
            <a:normAutofit/>
          </a:bodyPr>
          <a:lstStyle/>
          <a:p>
            <a:r>
              <a:rPr lang="en-US" dirty="0"/>
              <a:t>Stream Compaction — </a:t>
            </a:r>
            <a:r>
              <a:rPr lang="en-US" dirty="0" err="1"/>
              <a:t>удаление</a:t>
            </a:r>
            <a:r>
              <a:rPr lang="en-US" dirty="0"/>
              <a:t> </a:t>
            </a:r>
            <a:r>
              <a:rPr lang="en-US" dirty="0" err="1"/>
              <a:t>ненужных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массива</a:t>
            </a:r>
            <a:r>
              <a:rPr lang="en-US" dirty="0"/>
              <a:t> </a:t>
            </a:r>
            <a:r>
              <a:rPr lang="ru-RU" dirty="0"/>
              <a:t>с сохранением порядка элементов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[1 0 7 0 5 0 9] →[1 7 5 9]</a:t>
            </a:r>
            <a:endParaRPr lang="ru-RU" dirty="0"/>
          </a:p>
          <a:p>
            <a:r>
              <a:rPr lang="en-US" dirty="0" err="1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br>
              <a:rPr lang="en-US" dirty="0"/>
            </a:b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сохранённых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endParaRPr lang="en-US" dirty="0"/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2D3DB-C73C-8DDC-9076-DEAF91B60A99}"/>
              </a:ext>
            </a:extLst>
          </p:cNvPr>
          <p:cNvSpPr txBox="1"/>
          <p:nvPr/>
        </p:nvSpPr>
        <p:spPr>
          <a:xfrm>
            <a:off x="7522233" y="1825625"/>
            <a:ext cx="46012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Последовательное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удаление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нулей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[out++]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465072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F2C3-A746-F8AB-452C-B1EFDB3BC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сложна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AC27C-FA3C-C9B4-36F7-DE44AF1B7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обрабатывает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Thread 0 → A[0]</a:t>
            </a:r>
            <a:br>
              <a:rPr lang="en-US" dirty="0"/>
            </a:br>
            <a:r>
              <a:rPr lang="en-US" dirty="0"/>
              <a:t>Thread 1 → A[1]</a:t>
            </a:r>
            <a:br>
              <a:rPr lang="en-US" dirty="0"/>
            </a:br>
            <a:r>
              <a:rPr lang="en-US" dirty="0"/>
              <a:t>Thread 2 → A[2]</a:t>
            </a:r>
            <a:br>
              <a:rPr lang="en-US" dirty="0"/>
            </a:br>
            <a:r>
              <a:rPr lang="en-US" dirty="0"/>
              <a:t>...</a:t>
            </a:r>
          </a:p>
          <a:p>
            <a:r>
              <a:rPr lang="en-US" dirty="0" err="1"/>
              <a:t>Вопрос</a:t>
            </a:r>
            <a:r>
              <a:rPr lang="en-US" dirty="0"/>
              <a:t>:</a:t>
            </a:r>
            <a:r>
              <a:rPr lang="ru-RU" dirty="0"/>
              <a:t> к</a:t>
            </a:r>
            <a:r>
              <a:rPr lang="en-US" dirty="0" err="1"/>
              <a:t>уда</a:t>
            </a:r>
            <a:r>
              <a:rPr lang="en-US" dirty="0"/>
              <a:t> </a:t>
            </a:r>
            <a:r>
              <a:rPr lang="ru-RU" dirty="0"/>
              <a:t>поток должен </a:t>
            </a:r>
            <a:r>
              <a:rPr lang="en-US" dirty="0" err="1"/>
              <a:t>запис</a:t>
            </a:r>
            <a:r>
              <a:rPr lang="ru-RU" dirty="0" err="1"/>
              <a:t>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[1 0 7 0 5 0 9]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/>
              <a:t>[? ? ? ?]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64274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24F4E-25F3-62BB-A1E6-3788835B8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Шаг</a:t>
            </a:r>
            <a:r>
              <a:rPr lang="en-US" dirty="0"/>
              <a:t> 1. </a:t>
            </a:r>
            <a:r>
              <a:rPr lang="en-US" dirty="0" err="1"/>
              <a:t>Построение</a:t>
            </a:r>
            <a:r>
              <a:rPr lang="en-US" dirty="0"/>
              <a:t> </a:t>
            </a:r>
            <a:r>
              <a:rPr lang="en-US" dirty="0" err="1"/>
              <a:t>маски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733B4-239B-3857-CC7C-E3CF0BD81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[1 0 7 0 5 0 9]</a:t>
            </a:r>
          </a:p>
          <a:p>
            <a:r>
              <a:rPr lang="en-US" dirty="0" err="1"/>
              <a:t>Строим</a:t>
            </a:r>
            <a:r>
              <a:rPr lang="en-US" dirty="0"/>
              <a:t> </a:t>
            </a:r>
            <a:r>
              <a:rPr lang="en-US" dirty="0" err="1"/>
              <a:t>маску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[1 0 1 0 1 0 1]</a:t>
            </a:r>
          </a:p>
          <a:p>
            <a:r>
              <a:rPr lang="en-US" dirty="0" err="1"/>
              <a:t>Правило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—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br>
              <a:rPr lang="en-US" dirty="0"/>
            </a:br>
            <a:r>
              <a:rPr lang="en-US" dirty="0"/>
              <a:t>0 —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удаляется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49983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06252-10B0-7150-8CE3-BED2D998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Шаг</a:t>
            </a:r>
            <a:r>
              <a:rPr lang="en-US" dirty="0"/>
              <a:t> 2. </a:t>
            </a:r>
            <a:r>
              <a:rPr lang="en-US" dirty="0" err="1"/>
              <a:t>Выполнение</a:t>
            </a:r>
            <a:r>
              <a:rPr lang="en-US" dirty="0"/>
              <a:t> Scan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F5EC2-323B-6009-83A8-0D09F2903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Маска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[1 0 1 0 1 0 1]</a:t>
            </a:r>
          </a:p>
          <a:p>
            <a:r>
              <a:rPr lang="en-US" dirty="0"/>
              <a:t>Exclusive Scan:</a:t>
            </a:r>
          </a:p>
          <a:p>
            <a:pPr lvl="1"/>
            <a:r>
              <a:rPr lang="en-US" dirty="0"/>
              <a:t>[0 1 1 2 2 3 3]</a:t>
            </a:r>
          </a:p>
          <a:p>
            <a:r>
              <a:rPr lang="en-US" dirty="0" err="1"/>
              <a:t>Полученные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определяют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910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EE35D-CBD6-CF76-D892-E0B6F0E8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Шаг</a:t>
            </a:r>
            <a:r>
              <a:rPr lang="en-US" dirty="0"/>
              <a:t> 3. Scatter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911EF-6454-8C01-C661-00C655CC3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Исходные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 = [1 0 7 0 5 0 9]</a:t>
            </a:r>
          </a:p>
          <a:p>
            <a:r>
              <a:rPr lang="en-US" dirty="0"/>
              <a:t>Scan:</a:t>
            </a:r>
          </a:p>
          <a:p>
            <a:pPr lvl="1"/>
            <a:r>
              <a:rPr lang="en-US" dirty="0"/>
              <a:t>S = [0 1 1 2 2 3 3]</a:t>
            </a:r>
          </a:p>
          <a:p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B[S[</a:t>
            </a:r>
            <a:r>
              <a:rPr lang="en-US" dirty="0" err="1"/>
              <a:t>i</a:t>
            </a:r>
            <a:r>
              <a:rPr lang="en-US" dirty="0"/>
              <a:t>]] = 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pPr lvl="2"/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с </a:t>
            </a:r>
            <a:r>
              <a:rPr lang="en-US" dirty="0" err="1"/>
              <a:t>маской</a:t>
            </a:r>
            <a:r>
              <a:rPr lang="en-US" dirty="0"/>
              <a:t> 1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[1 7 5 9]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51587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34043-59CE-B1B9-B680-5F316D660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Алгоритм</a:t>
            </a:r>
            <a:r>
              <a:rPr lang="en-US" dirty="0"/>
              <a:t> Stream Compaction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92FAA-AAA2-FEC8-25EC-CCA725E8E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Выполняем </a:t>
            </a:r>
            <a:r>
              <a:rPr lang="en-US" b="1" dirty="0"/>
              <a:t>Map</a:t>
            </a:r>
            <a:r>
              <a:rPr lang="ru-RU" dirty="0"/>
              <a:t> для построения маски</a:t>
            </a:r>
          </a:p>
          <a:p>
            <a:r>
              <a:rPr lang="ru-RU" dirty="0"/>
              <a:t>Выполняем</a:t>
            </a:r>
            <a:r>
              <a:rPr lang="en-US" dirty="0"/>
              <a:t> </a:t>
            </a:r>
            <a:r>
              <a:rPr lang="en-US" b="1" dirty="0"/>
              <a:t>Scan</a:t>
            </a:r>
            <a:r>
              <a:rPr lang="en-US" dirty="0"/>
              <a:t> </a:t>
            </a:r>
            <a:r>
              <a:rPr lang="ru-RU" dirty="0"/>
              <a:t>для вычисления позиций</a:t>
            </a:r>
          </a:p>
          <a:p>
            <a:r>
              <a:rPr lang="ru-RU" dirty="0"/>
              <a:t>Выполнить </a:t>
            </a:r>
            <a:r>
              <a:rPr lang="en-US" b="1" dirty="0"/>
              <a:t>Scatter</a:t>
            </a:r>
            <a:r>
              <a:rPr lang="en-US" dirty="0"/>
              <a:t> </a:t>
            </a:r>
            <a:r>
              <a:rPr lang="ru-RU" dirty="0"/>
              <a:t>для записи результата</a:t>
            </a:r>
          </a:p>
          <a:p>
            <a:r>
              <a:rPr lang="ru-RU" dirty="0"/>
              <a:t>Результат: массив без лишних элементов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1574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15400-19EB-BA54-4E43-FA5717224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Применение</a:t>
            </a:r>
            <a:r>
              <a:rPr lang="en-US" dirty="0"/>
              <a:t> Stream Compaction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4F0D1-407F-D771-9B41-9F7AD220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Удаление неактивных объектов</a:t>
            </a:r>
          </a:p>
          <a:p>
            <a:pPr lvl="1"/>
            <a:r>
              <a:rPr lang="ru-RU" dirty="0"/>
              <a:t>Удалить частицы физической симуляции, завершившие свой жизненный цикл</a:t>
            </a:r>
          </a:p>
          <a:p>
            <a:r>
              <a:rPr lang="ru-RU" dirty="0"/>
              <a:t>Обход графов (</a:t>
            </a:r>
            <a:r>
              <a:rPr lang="en-US" dirty="0"/>
              <a:t>BFS)</a:t>
            </a:r>
            <a:endParaRPr lang="ru-RU" dirty="0"/>
          </a:p>
          <a:p>
            <a:pPr lvl="1"/>
            <a:r>
              <a:rPr lang="ru-RU" dirty="0"/>
              <a:t>Удалить дубликаты и уже обработанные вершины</a:t>
            </a:r>
          </a:p>
          <a:p>
            <a:r>
              <a:rPr lang="ru-RU" dirty="0"/>
              <a:t>Трассировка лучей</a:t>
            </a:r>
          </a:p>
          <a:p>
            <a:pPr lvl="1"/>
            <a:r>
              <a:rPr lang="ru-RU" dirty="0"/>
              <a:t>Удалить лучи ,покинувшие сцену из дальнейших вычислений</a:t>
            </a:r>
          </a:p>
          <a:p>
            <a:r>
              <a:rPr lang="ru-RU" dirty="0"/>
              <a:t>Подготовка данных для </a:t>
            </a:r>
            <a:r>
              <a:rPr lang="en-US" dirty="0"/>
              <a:t>GPU-</a:t>
            </a:r>
            <a:r>
              <a:rPr lang="ru-RU" dirty="0"/>
              <a:t>алгоритмов</a:t>
            </a:r>
          </a:p>
          <a:p>
            <a:pPr lvl="1"/>
            <a:r>
              <a:rPr lang="ru-RU" dirty="0"/>
              <a:t>Фильтрация данных для уменьшения объема последующих вычислений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6820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6D488-B7EE-D6E5-3DE0-DCB80DF74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Stream Compaction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15013-89A0-C10F-0F2E-F808561EE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</a:t>
            </a:r>
            <a:r>
              <a:rPr lang="en-US" dirty="0" err="1"/>
              <a:t>даляет</a:t>
            </a:r>
            <a:r>
              <a:rPr lang="en-US" dirty="0"/>
              <a:t> </a:t>
            </a:r>
            <a:r>
              <a:rPr lang="en-US" dirty="0" err="1"/>
              <a:t>ненужные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</a:p>
          <a:p>
            <a:r>
              <a:rPr lang="ru-RU" dirty="0"/>
              <a:t>С</a:t>
            </a:r>
            <a:r>
              <a:rPr lang="en-US" dirty="0" err="1"/>
              <a:t>охраняет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r>
              <a:rPr lang="ru-RU" dirty="0"/>
              <a:t>В</a:t>
            </a:r>
            <a:r>
              <a:rPr lang="en-US" dirty="0" err="1"/>
              <a:t>ычисляет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Scan </a:t>
            </a:r>
          </a:p>
          <a:p>
            <a:r>
              <a:rPr lang="ru-RU" dirty="0"/>
              <a:t>С</a:t>
            </a:r>
            <a:r>
              <a:rPr lang="en-US" dirty="0" err="1"/>
              <a:t>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Map + Scan + Scatter </a:t>
            </a:r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алгоритма</a:t>
            </a:r>
            <a:r>
              <a:rPr lang="en-US" dirty="0"/>
              <a:t>, </a:t>
            </a:r>
            <a:r>
              <a:rPr lang="en-US" dirty="0" err="1"/>
              <a:t>построенного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1144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42F9F6-2206-CA38-5ED0-1E7BAC13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24B1C0-DF3E-88FF-DD13-7D905C179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7671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C6E01-1637-5243-4895-FD3139068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6FB6A-802E-152D-E8D4-CBD61A5C2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встречаемости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Данные</a:t>
            </a:r>
            <a:r>
              <a:rPr lang="en-US" dirty="0"/>
              <a:t>: [1 2 1 3 2 1 4 2]</a:t>
            </a:r>
          </a:p>
          <a:p>
            <a:pPr lvl="1"/>
            <a:r>
              <a:rPr lang="en-US" dirty="0" err="1"/>
              <a:t>Гистограмма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1 → 3</a:t>
            </a:r>
            <a:br>
              <a:rPr lang="en-US" dirty="0"/>
            </a:br>
            <a:r>
              <a:rPr lang="en-US" dirty="0"/>
              <a:t>2 → 3</a:t>
            </a:r>
            <a:br>
              <a:rPr lang="en-US" dirty="0"/>
            </a:br>
            <a:r>
              <a:rPr lang="en-US" dirty="0"/>
              <a:t>3 → 1</a:t>
            </a:r>
            <a:br>
              <a:rPr lang="en-US" dirty="0"/>
            </a:br>
            <a:r>
              <a:rPr lang="en-US" dirty="0"/>
              <a:t>4 → 1</a:t>
            </a:r>
          </a:p>
          <a:p>
            <a:r>
              <a:rPr lang="en-US" dirty="0" err="1"/>
              <a:t>Типичная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: histogram[value]++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9117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593C9-7CE0-4C6A-E385-F5BD9405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: </a:t>
            </a:r>
            <a:r>
              <a:rPr lang="en-US" dirty="0" err="1"/>
              <a:t>гистограмма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4A88C4-D7E7-1189-36F4-94FAA2A6D8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895637"/>
            <a:ext cx="10515600" cy="421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664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226D-B319-A1BD-4F92-BBFBB5D0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наивного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A8A65-9B4C-E104-EFAD-D509BA4F2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Каждый поток обрабатывает свой элемент</a:t>
            </a:r>
          </a:p>
          <a:p>
            <a:pPr lvl="1"/>
            <a:r>
              <a:rPr lang="en-US" dirty="0"/>
              <a:t>int value = input[id];</a:t>
            </a:r>
            <a:br>
              <a:rPr lang="en-US" dirty="0"/>
            </a:br>
            <a:r>
              <a:rPr lang="en-US" dirty="0"/>
              <a:t>histogram[value]++;</a:t>
            </a:r>
            <a:endParaRPr lang="ru-RU" dirty="0"/>
          </a:p>
          <a:p>
            <a:r>
              <a:rPr lang="ru-RU" dirty="0"/>
              <a:t>Проблема: несколько потоков могут обновлять один и тот же счётчик</a:t>
            </a:r>
          </a:p>
          <a:p>
            <a:pPr lvl="1"/>
            <a:r>
              <a:rPr lang="ru-RU" dirty="0"/>
              <a:t>Это состояние гонки</a:t>
            </a:r>
          </a:p>
          <a:p>
            <a:r>
              <a:rPr lang="ru-RU" dirty="0"/>
              <a:t>Корректное решение:</a:t>
            </a:r>
          </a:p>
          <a:p>
            <a:pPr lvl="1"/>
            <a:r>
              <a:rPr lang="en-US" dirty="0" err="1"/>
              <a:t>atomic_inc</a:t>
            </a:r>
            <a:r>
              <a:rPr lang="en-US" dirty="0"/>
              <a:t>(&amp;histogram[value]);</a:t>
            </a:r>
            <a:endParaRPr lang="ru-RU" dirty="0"/>
          </a:p>
          <a:p>
            <a:pPr lvl="1"/>
            <a:r>
              <a:rPr lang="en-US" dirty="0" err="1"/>
              <a:t>Преимущества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правильный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Недостатки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конкуренция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сериализация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снижение</a:t>
            </a:r>
            <a:r>
              <a:rPr lang="en-US" dirty="0"/>
              <a:t> </a:t>
            </a:r>
            <a:r>
              <a:rPr lang="en-US" dirty="0" err="1"/>
              <a:t>производительности</a:t>
            </a:r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185464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D6195-52CC-6E58-FDB2-2A8077A7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локальных гистограмм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900DD-4A8D-558D-0628-5F4269D92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Строим локальные гистограммы изображения</a:t>
            </a:r>
            <a:endParaRPr lang="en-US" dirty="0"/>
          </a:p>
          <a:p>
            <a:pPr lvl="1"/>
            <a:r>
              <a:rPr lang="en-US" dirty="0"/>
              <a:t>Work-group 0 → Histogram 0</a:t>
            </a:r>
            <a:br>
              <a:rPr lang="en-US" dirty="0"/>
            </a:br>
            <a:r>
              <a:rPr lang="en-US" dirty="0"/>
              <a:t>Work-group 1 → Histogram 1</a:t>
            </a:r>
            <a:br>
              <a:rPr lang="en-US" dirty="0"/>
            </a:br>
            <a:r>
              <a:rPr lang="en-US" dirty="0"/>
              <a:t>Work-group 2 → Histogram 2</a:t>
            </a:r>
            <a:br>
              <a:rPr lang="en-US" dirty="0"/>
            </a:br>
            <a:r>
              <a:rPr lang="en-US" dirty="0"/>
              <a:t>...</a:t>
            </a:r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строит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гистограмму</a:t>
            </a:r>
            <a:r>
              <a:rPr lang="en-US" dirty="0"/>
              <a:t> </a:t>
            </a:r>
            <a:r>
              <a:rPr lang="ru-RU" dirty="0"/>
              <a:t>в локальной памяти</a:t>
            </a:r>
          </a:p>
          <a:p>
            <a:r>
              <a:rPr lang="ru-RU" dirty="0"/>
              <a:t>Затем строим глобальную гистограмму, суммируя локальные гистограммы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1021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1E0C5-B77C-FAC9-962B-B2C7DB39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гистограмм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D9065-582C-263B-3BAE-13C485AB9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</a:t>
            </a:r>
            <a:r>
              <a:rPr lang="en-US" dirty="0" err="1"/>
              <a:t>нализ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</a:p>
          <a:p>
            <a:r>
              <a:rPr lang="ru-RU" dirty="0"/>
              <a:t>С</a:t>
            </a:r>
            <a:r>
              <a:rPr lang="en-US" dirty="0" err="1"/>
              <a:t>татистическ</a:t>
            </a:r>
            <a:r>
              <a:rPr lang="ru-RU" dirty="0" err="1"/>
              <a:t>ая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r>
              <a:rPr lang="ru-RU" dirty="0"/>
              <a:t>П</a:t>
            </a:r>
            <a:r>
              <a:rPr lang="en-US" dirty="0" err="1"/>
              <a:t>остроени</a:t>
            </a:r>
            <a:r>
              <a:rPr lang="ru-RU" dirty="0"/>
              <a:t>е</a:t>
            </a:r>
            <a:r>
              <a:rPr lang="en-US" dirty="0"/>
              <a:t> </a:t>
            </a:r>
            <a:r>
              <a:rPr lang="en-US" dirty="0" err="1"/>
              <a:t>распределений</a:t>
            </a:r>
            <a:r>
              <a:rPr lang="en-US" dirty="0"/>
              <a:t> </a:t>
            </a:r>
          </a:p>
          <a:p>
            <a:r>
              <a:rPr lang="en-US" dirty="0"/>
              <a:t>Radix Sort </a:t>
            </a:r>
          </a:p>
          <a:p>
            <a:r>
              <a:rPr lang="ru-RU" dirty="0"/>
              <a:t>М</a:t>
            </a:r>
            <a:r>
              <a:rPr lang="en-US" dirty="0" err="1"/>
              <a:t>ашинного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 </a:t>
            </a:r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первым</a:t>
            </a:r>
            <a:r>
              <a:rPr lang="en-US" dirty="0"/>
              <a:t> </a:t>
            </a:r>
            <a:r>
              <a:rPr lang="en-US" dirty="0" err="1"/>
              <a:t>этапом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76501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C877-4AA9-A27A-6383-5D1DE262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</a:t>
            </a:r>
            <a:r>
              <a:rPr lang="en-US" dirty="0"/>
              <a:t>Histogram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A609-08EB-00D4-4DF1-06F624069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</a:t>
            </a:r>
            <a:r>
              <a:rPr lang="en-US" dirty="0" err="1"/>
              <a:t>одсчитывает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встречаемости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</a:p>
          <a:p>
            <a:r>
              <a:rPr lang="ru-RU" dirty="0"/>
              <a:t>П</a:t>
            </a:r>
            <a:r>
              <a:rPr lang="en-US" dirty="0" err="1"/>
              <a:t>одвержена</a:t>
            </a:r>
            <a:r>
              <a:rPr lang="en-US" dirty="0"/>
              <a:t> </a:t>
            </a:r>
            <a:r>
              <a:rPr lang="en-US" dirty="0" err="1"/>
              <a:t>конфликтам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r>
              <a:rPr lang="ru-RU" dirty="0"/>
              <a:t>Т</a:t>
            </a:r>
            <a:r>
              <a:rPr lang="en-US" dirty="0" err="1"/>
              <a:t>ребует</a:t>
            </a:r>
            <a:r>
              <a:rPr lang="en-US" dirty="0"/>
              <a:t> </a:t>
            </a:r>
            <a:r>
              <a:rPr lang="en-US" dirty="0" err="1"/>
              <a:t>атомарных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</a:p>
          <a:p>
            <a:r>
              <a:rPr lang="ru-RU" dirty="0"/>
              <a:t>Э</a:t>
            </a:r>
            <a:r>
              <a:rPr lang="en-US" dirty="0" err="1"/>
              <a:t>ффективно</a:t>
            </a:r>
            <a:r>
              <a:rPr lang="en-US" dirty="0"/>
              <a:t> </a:t>
            </a:r>
            <a:r>
              <a:rPr lang="en-US" dirty="0" err="1"/>
              <a:t>реализуется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локальные</a:t>
            </a:r>
            <a:r>
              <a:rPr lang="en-US" dirty="0"/>
              <a:t> </a:t>
            </a:r>
            <a:r>
              <a:rPr lang="en-US" dirty="0" err="1"/>
              <a:t>гистограммы</a:t>
            </a:r>
            <a:r>
              <a:rPr lang="en-US" dirty="0"/>
              <a:t> </a:t>
            </a:r>
          </a:p>
          <a:p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важность</a:t>
            </a:r>
            <a:r>
              <a:rPr lang="en-US" dirty="0"/>
              <a:t> local memory </a:t>
            </a:r>
            <a:r>
              <a:rPr lang="en-US" dirty="0" err="1"/>
              <a:t>на</a:t>
            </a:r>
            <a:r>
              <a:rPr lang="en-US" dirty="0"/>
              <a:t> GPU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3271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D0A92-5986-9D29-8D2F-0F61FF2A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Gather </a:t>
            </a:r>
            <a:r>
              <a:rPr lang="ru-RU" dirty="0"/>
              <a:t>и </a:t>
            </a:r>
            <a:r>
              <a:rPr lang="en-US" dirty="0"/>
              <a:t>Scatter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76AC2B-D8F5-5C39-61E3-86409F83E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4758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7A402-570A-E491-5AA2-1CB316612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260E62-0B93-3933-588D-887EC81B7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Gather </a:t>
            </a:r>
            <a:r>
              <a:rPr lang="ru-RU" dirty="0"/>
              <a:t>и </a:t>
            </a:r>
            <a:r>
              <a:rPr lang="en-US" dirty="0"/>
              <a:t>Scatter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4C2CFE-7198-25A4-91A2-3ED7B2A8D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непрямого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данным</a:t>
            </a:r>
            <a:endParaRPr lang="en-US" dirty="0"/>
          </a:p>
          <a:p>
            <a:pPr lvl="1"/>
            <a:r>
              <a:rPr lang="en-US" dirty="0"/>
              <a:t>Gather</a:t>
            </a:r>
          </a:p>
          <a:p>
            <a:pPr lvl="2"/>
            <a:r>
              <a:rPr lang="en-US" dirty="0"/>
              <a:t>out[</a:t>
            </a:r>
            <a:r>
              <a:rPr lang="en-US" dirty="0" err="1"/>
              <a:t>i</a:t>
            </a:r>
            <a:r>
              <a:rPr lang="en-US" dirty="0"/>
              <a:t>] = in[index[</a:t>
            </a:r>
            <a:r>
              <a:rPr lang="en-US" dirty="0" err="1"/>
              <a:t>i</a:t>
            </a:r>
            <a:r>
              <a:rPr lang="en-US" dirty="0"/>
              <a:t>]];</a:t>
            </a:r>
          </a:p>
          <a:p>
            <a:pPr lvl="1"/>
            <a:r>
              <a:rPr lang="en-US" dirty="0"/>
              <a:t>Scatter</a:t>
            </a:r>
          </a:p>
          <a:p>
            <a:pPr lvl="2"/>
            <a:r>
              <a:rPr lang="en-US" dirty="0"/>
              <a:t>out[index[</a:t>
            </a:r>
            <a:r>
              <a:rPr lang="en-US" dirty="0" err="1"/>
              <a:t>i</a:t>
            </a:r>
            <a:r>
              <a:rPr lang="en-US" dirty="0"/>
              <a:t>]] = in[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перестановки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0678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822C0-AA15-3405-42AA-6D2F097F8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Gather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4BD7F7-CF06-CF8A-CC35-4ED863FCF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63019-6CD2-A144-22FF-AECDA68C92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 = [10 20 30 40]</a:t>
            </a:r>
          </a:p>
          <a:p>
            <a:r>
              <a:rPr lang="en-US" dirty="0" err="1"/>
              <a:t>Индексы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 = [2 0 3 1]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 = [30 10 40 20]</a:t>
            </a:r>
          </a:p>
          <a:p>
            <a:r>
              <a:rPr lang="ru-RU" dirty="0"/>
              <a:t>Алгоритм</a:t>
            </a:r>
          </a:p>
          <a:p>
            <a:pPr lvl="1"/>
            <a:r>
              <a:rPr lang="en-US" dirty="0"/>
              <a:t>B[</a:t>
            </a:r>
            <a:r>
              <a:rPr lang="en-US" dirty="0" err="1"/>
              <a:t>i</a:t>
            </a:r>
            <a:r>
              <a:rPr lang="en-US" dirty="0"/>
              <a:t>] = A[I[</a:t>
            </a:r>
            <a:r>
              <a:rPr lang="en-US" dirty="0" err="1"/>
              <a:t>i</a:t>
            </a:r>
            <a:r>
              <a:rPr lang="en-US" dirty="0"/>
              <a:t>]];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82E9FD-9655-1360-A9A0-C92970D91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Scatter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C42C1-F12A-BD05-6B4F-F2C6A96706F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 = [10 20 30 40]</a:t>
            </a:r>
          </a:p>
          <a:p>
            <a:r>
              <a:rPr lang="en-US" dirty="0" err="1"/>
              <a:t>Индексы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 = [2 0 3 1]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 = [20 40 10 30]</a:t>
            </a:r>
          </a:p>
          <a:p>
            <a:r>
              <a:rPr lang="ru-RU" dirty="0"/>
              <a:t>Алгоритм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B[I[</a:t>
            </a:r>
            <a:r>
              <a:rPr lang="en-US" dirty="0" err="1"/>
              <a:t>i</a:t>
            </a:r>
            <a:r>
              <a:rPr lang="en-US" dirty="0"/>
              <a:t>]]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72814046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3A2AB01-224F-89A7-A16F-7B5DDF20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Gather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2866938-CA71-FE3B-3687-22F0B0701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Преимущества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отсутствуют</a:t>
            </a:r>
            <a:r>
              <a:rPr lang="en-US" dirty="0"/>
              <a:t> </a:t>
            </a:r>
            <a:r>
              <a:rPr lang="en-US" dirty="0" err="1"/>
              <a:t>конфликты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 </a:t>
            </a:r>
          </a:p>
          <a:p>
            <a:r>
              <a:rPr lang="en-US" dirty="0" err="1"/>
              <a:t>Недостаток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возможны</a:t>
            </a:r>
            <a:r>
              <a:rPr lang="en-US" dirty="0"/>
              <a:t> </a:t>
            </a:r>
            <a:r>
              <a:rPr lang="en-US" dirty="0" err="1"/>
              <a:t>случайные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B[</a:t>
            </a:r>
            <a:r>
              <a:rPr lang="en-US" dirty="0" err="1"/>
              <a:t>i</a:t>
            </a:r>
            <a:r>
              <a:rPr lang="en-US" dirty="0"/>
              <a:t>] = A[index[</a:t>
            </a:r>
            <a:r>
              <a:rPr lang="en-US" dirty="0" err="1"/>
              <a:t>i</a:t>
            </a:r>
            <a:r>
              <a:rPr lang="en-US" dirty="0"/>
              <a:t>]];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07411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D3-2EFC-4E31-74A2-3D1C56867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</a:t>
            </a:r>
            <a:r>
              <a:rPr lang="en-US" dirty="0"/>
              <a:t>Scatter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86AC1-D591-0F6E-EC8E-318F59F7A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конфликтам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index = [5 5 5 5]</a:t>
            </a:r>
          </a:p>
          <a:p>
            <a:pPr lvl="1"/>
            <a:r>
              <a:rPr lang="en-US" dirty="0"/>
              <a:t>out[index[</a:t>
            </a:r>
            <a:r>
              <a:rPr lang="en-US" dirty="0" err="1"/>
              <a:t>i</a:t>
            </a:r>
            <a:r>
              <a:rPr lang="en-US" dirty="0"/>
              <a:t>]] = value;</a:t>
            </a:r>
          </a:p>
          <a:p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в out[5]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84073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DBBB4-AC65-6349-B03E-1CBE2B2DC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 в Stream Compaction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C59CC-756D-6CB1-CD78-171F5332E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 = [1 0 7 0 5 0 9]</a:t>
            </a:r>
          </a:p>
          <a:p>
            <a:r>
              <a:rPr lang="en-US" dirty="0" err="1"/>
              <a:t>Маска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 = [1 0 1 0 1 0 1]</a:t>
            </a:r>
          </a:p>
          <a:p>
            <a:r>
              <a:rPr lang="en-US" dirty="0"/>
              <a:t>Exclusive Scan:</a:t>
            </a:r>
          </a:p>
          <a:p>
            <a:pPr lvl="1"/>
            <a:r>
              <a:rPr lang="en-US" dirty="0"/>
              <a:t>S = [0 1 1 2 2 3 3]</a:t>
            </a:r>
          </a:p>
          <a:p>
            <a:r>
              <a:rPr lang="en-US" dirty="0" err="1"/>
              <a:t>Элементы</a:t>
            </a:r>
            <a:r>
              <a:rPr lang="en-US" dirty="0"/>
              <a:t> с </a:t>
            </a:r>
            <a:r>
              <a:rPr lang="en-US" dirty="0" err="1"/>
              <a:t>маской</a:t>
            </a:r>
            <a:r>
              <a:rPr lang="en-US" dirty="0"/>
              <a:t> 1 </a:t>
            </a:r>
            <a:r>
              <a:rPr lang="en-US" dirty="0" err="1"/>
              <a:t>выполняют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→ B[0]</a:t>
            </a:r>
            <a:br>
              <a:rPr lang="en-US" dirty="0"/>
            </a:br>
            <a:r>
              <a:rPr lang="en-US" dirty="0"/>
              <a:t>7 → B[1]</a:t>
            </a:r>
            <a:br>
              <a:rPr lang="en-US" dirty="0"/>
            </a:br>
            <a:r>
              <a:rPr lang="en-US" dirty="0"/>
              <a:t>5 → B[2]</a:t>
            </a:r>
            <a:br>
              <a:rPr lang="en-US" dirty="0"/>
            </a:br>
            <a:r>
              <a:rPr lang="en-US" dirty="0"/>
              <a:t>9 → B[3]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 = [1 7 5 9]</a:t>
            </a:r>
          </a:p>
        </p:txBody>
      </p:sp>
    </p:spTree>
    <p:extLst>
      <p:ext uri="{BB962C8B-B14F-4D97-AF65-F5344CB8AC3E}">
        <p14:creationId xmlns:p14="http://schemas.microsoft.com/office/powerpoint/2010/main" val="26250030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766BC-E789-9452-E30F-D13CE2253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Применение</a:t>
            </a:r>
            <a:r>
              <a:rPr lang="en-US" dirty="0"/>
              <a:t> Gather и Scatter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94F3-E408-ED43-9175-297959ECB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Stream Compaction </a:t>
            </a:r>
          </a:p>
          <a:p>
            <a:r>
              <a:rPr lang="en-US" dirty="0"/>
              <a:t>Radix Sort </a:t>
            </a:r>
          </a:p>
          <a:p>
            <a:r>
              <a:rPr lang="en-US" dirty="0" err="1"/>
              <a:t>Перестановк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матриц</a:t>
            </a:r>
            <a:r>
              <a:rPr lang="en-US" dirty="0"/>
              <a:t> </a:t>
            </a:r>
          </a:p>
          <a:p>
            <a:r>
              <a:rPr lang="en-US" dirty="0" err="1"/>
              <a:t>Обработк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графов</a:t>
            </a:r>
            <a:r>
              <a:rPr lang="en-US" dirty="0"/>
              <a:t> </a:t>
            </a:r>
          </a:p>
          <a:p>
            <a:r>
              <a:rPr lang="en-US" dirty="0" err="1"/>
              <a:t>Подготовк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GPU-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</a:p>
          <a:p>
            <a:r>
              <a:rPr lang="en-US" dirty="0" err="1"/>
              <a:t>Основа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перестановки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12034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6C31-8015-A722-FE38-CD2857239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Gather и Scatter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86897-E0C1-3D7F-5A68-CF274FC32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Gather:</a:t>
            </a:r>
          </a:p>
          <a:p>
            <a:pPr lvl="1"/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произвольным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</a:p>
          <a:p>
            <a:r>
              <a:rPr lang="en-US" dirty="0"/>
              <a:t>Scatter:</a:t>
            </a:r>
          </a:p>
          <a:p>
            <a:pPr lvl="1"/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произвольным</a:t>
            </a:r>
            <a:r>
              <a:rPr lang="en-US" dirty="0"/>
              <a:t> </a:t>
            </a:r>
            <a:r>
              <a:rPr lang="en-US" dirty="0" err="1"/>
              <a:t>адресам</a:t>
            </a:r>
            <a:r>
              <a:rPr lang="en-US" dirty="0"/>
              <a:t> </a:t>
            </a:r>
          </a:p>
          <a:p>
            <a:r>
              <a:rPr lang="en-US" dirty="0"/>
              <a:t>Scatter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 и </a:t>
            </a:r>
            <a:r>
              <a:rPr lang="en-US" dirty="0" err="1"/>
              <a:t>медленнее</a:t>
            </a:r>
            <a:r>
              <a:rPr lang="en-US" dirty="0"/>
              <a:t> Gather</a:t>
            </a:r>
          </a:p>
        </p:txBody>
      </p:sp>
    </p:spTree>
    <p:extLst>
      <p:ext uri="{BB962C8B-B14F-4D97-AF65-F5344CB8AC3E}">
        <p14:creationId xmlns:p14="http://schemas.microsoft.com/office/powerpoint/2010/main" val="242132883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8D8701-C2FD-D053-C49F-A08A2ABBE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Stencil Computations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AD990E-11DA-A250-916F-69A998A0B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554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023B97-FEDB-7A80-2E15-37C0054D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Stencil Computations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5E5AB2-5292-D6DD-5A35-E7BD70A1C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74380" cy="4351338"/>
          </a:xfrm>
        </p:spPr>
        <p:txBody>
          <a:bodyPr/>
          <a:lstStyle/>
          <a:p>
            <a:r>
              <a:rPr lang="en-US" dirty="0"/>
              <a:t>Stencil — </a:t>
            </a:r>
            <a:r>
              <a:rPr lang="en-US" dirty="0" err="1"/>
              <a:t>вычисление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окрестности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A[i-1]  A[</a:t>
            </a:r>
            <a:r>
              <a:rPr lang="en-US" dirty="0" err="1"/>
              <a:t>i</a:t>
            </a:r>
            <a:r>
              <a:rPr lang="en-US" dirty="0"/>
              <a:t>]  A[i+1]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B[</a:t>
            </a:r>
            <a:r>
              <a:rPr lang="en-US" dirty="0" err="1"/>
              <a:t>i</a:t>
            </a:r>
            <a:r>
              <a:rPr lang="en-US" dirty="0"/>
              <a:t>] = f(A[i-1], A[</a:t>
            </a:r>
            <a:r>
              <a:rPr lang="en-US" dirty="0" err="1"/>
              <a:t>i</a:t>
            </a:r>
            <a:r>
              <a:rPr lang="en-US" dirty="0"/>
              <a:t>], A[i+1]);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элемент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соседних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B2555E-8A97-EB3F-8C14-65E7F97C3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080" y="1373863"/>
            <a:ext cx="2226746" cy="22267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ADA5A11-3F9C-3441-C8CB-32BFD53E75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2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080" y="3950217"/>
            <a:ext cx="2226746" cy="22267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240092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AACEB-C7D1-373B-3657-07712F4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Одномерный</a:t>
            </a:r>
            <a:r>
              <a:rPr lang="en-US" dirty="0"/>
              <a:t> Stencil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C0298-1175-BA46-AC3C-96E9A4AA4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1 2 3 4 5 6 7</a:t>
            </a:r>
          </a:p>
          <a:p>
            <a:r>
              <a:rPr lang="en-US" dirty="0" err="1"/>
              <a:t>Шаблон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B[</a:t>
            </a:r>
            <a:r>
              <a:rPr lang="en-US" dirty="0" err="1"/>
              <a:t>i</a:t>
            </a:r>
            <a:r>
              <a:rPr lang="en-US" dirty="0"/>
              <a:t>] = A[i-1] + A[</a:t>
            </a:r>
            <a:r>
              <a:rPr lang="en-US" dirty="0" err="1"/>
              <a:t>i</a:t>
            </a:r>
            <a:r>
              <a:rPr lang="en-US" dirty="0"/>
              <a:t>] + A[i+1];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B[3] = 3 + 4 + 5 = 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5499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60A02-D731-1AA1-FCFE-2C8F7BD6B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повторных</a:t>
            </a:r>
            <a:r>
              <a:rPr lang="en-US" dirty="0"/>
              <a:t> </a:t>
            </a:r>
            <a:r>
              <a:rPr lang="en-US" dirty="0" err="1"/>
              <a:t>чтений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28DC-1EA3-D294-39B8-0D41A9A1A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Поток</a:t>
            </a:r>
            <a:r>
              <a:rPr lang="en-US" dirty="0"/>
              <a:t> 3 </a:t>
            </a:r>
            <a:r>
              <a:rPr lang="en-US" dirty="0" err="1"/>
              <a:t>читает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A[2] A[3] A[4]</a:t>
            </a:r>
          </a:p>
          <a:p>
            <a:r>
              <a:rPr lang="en-US" dirty="0" err="1"/>
              <a:t>Поток</a:t>
            </a:r>
            <a:r>
              <a:rPr lang="en-US" dirty="0"/>
              <a:t> 4 </a:t>
            </a:r>
            <a:r>
              <a:rPr lang="en-US" dirty="0" err="1"/>
              <a:t>читает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A[3] A[4] A[5]</a:t>
            </a:r>
          </a:p>
          <a:p>
            <a:r>
              <a:rPr lang="en-US" dirty="0" err="1"/>
              <a:t>Поток</a:t>
            </a:r>
            <a:r>
              <a:rPr lang="en-US" dirty="0"/>
              <a:t> 5 </a:t>
            </a:r>
            <a:r>
              <a:rPr lang="en-US" dirty="0" err="1"/>
              <a:t>читает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A[4] A[5] A[6]</a:t>
            </a:r>
          </a:p>
          <a:p>
            <a:r>
              <a:rPr lang="en-US" dirty="0" err="1"/>
              <a:t>Одни</a:t>
            </a:r>
            <a:r>
              <a:rPr lang="en-US" dirty="0"/>
              <a:t> и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считываются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295846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653E-F560-C979-B647-281DB7E8D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Использование</a:t>
            </a:r>
            <a:r>
              <a:rPr lang="en-US" dirty="0"/>
              <a:t> Local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73432-9605-415C-9CCB-9F5254378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множества</a:t>
            </a:r>
            <a:r>
              <a:rPr lang="en-US" dirty="0"/>
              <a:t> </a:t>
            </a:r>
            <a:r>
              <a:rPr lang="en-US" dirty="0" err="1"/>
              <a:t>чтений</a:t>
            </a:r>
            <a:r>
              <a:rPr lang="en-US" dirty="0"/>
              <a:t> </a:t>
            </a:r>
            <a:r>
              <a:rPr lang="ru-RU" dirty="0"/>
              <a:t>из глобальной памяти рабочая группа загружает необходимый участок в локальную память</a:t>
            </a:r>
          </a:p>
          <a:p>
            <a:r>
              <a:rPr lang="ru-RU" dirty="0"/>
              <a:t>Затем потоки читают данные из локальной памяти</a:t>
            </a:r>
          </a:p>
          <a:p>
            <a:r>
              <a:rPr lang="ru-RU" dirty="0"/>
              <a:t>Результат: уменьшается количество обращений к глобальной памяти и повышается производительность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86924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8321F-B48D-AA2B-737E-81AFE8FD7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Cells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F50E9-2A2E-89DF-2626-3962333D6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блока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окрестность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| H | 0 1 2 3 | H |</a:t>
            </a:r>
          </a:p>
          <a:p>
            <a:r>
              <a:rPr lang="en-US" dirty="0" err="1"/>
              <a:t>Где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 = Halo Cell</a:t>
            </a:r>
            <a:r>
              <a:rPr lang="ru-RU" dirty="0"/>
              <a:t> или </a:t>
            </a:r>
            <a:r>
              <a:rPr lang="en-US" dirty="0" err="1"/>
              <a:t>или</a:t>
            </a:r>
            <a:r>
              <a:rPr lang="ru-RU" dirty="0"/>
              <a:t> </a:t>
            </a:r>
            <a:r>
              <a:rPr lang="en-US" dirty="0"/>
              <a:t>Ghost Cell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0378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C0B92-0AF3-93E9-BFCA-E3E332DD6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Применение</a:t>
            </a:r>
            <a:r>
              <a:rPr lang="en-US" dirty="0"/>
              <a:t> Stencil Computations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BDD29-17A5-8AE6-70FB-C426CC529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Используются</a:t>
            </a:r>
            <a:r>
              <a:rPr lang="en-US" dirty="0"/>
              <a:t> в:</a:t>
            </a:r>
          </a:p>
          <a:p>
            <a:pPr lvl="1"/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компьютерном</a:t>
            </a:r>
            <a:r>
              <a:rPr lang="en-US" dirty="0"/>
              <a:t> </a:t>
            </a:r>
            <a:r>
              <a:rPr lang="en-US" dirty="0" err="1"/>
              <a:t>зрении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моделировании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численном</a:t>
            </a:r>
            <a:r>
              <a:rPr lang="en-US" dirty="0"/>
              <a:t> </a:t>
            </a:r>
            <a:r>
              <a:rPr lang="en-US" dirty="0" err="1"/>
              <a:t>решении</a:t>
            </a:r>
            <a:r>
              <a:rPr lang="en-US" dirty="0"/>
              <a:t> </a:t>
            </a:r>
            <a:r>
              <a:rPr lang="en-US" dirty="0" err="1"/>
              <a:t>дифференциальных</a:t>
            </a:r>
            <a:r>
              <a:rPr lang="en-US" dirty="0"/>
              <a:t> </a:t>
            </a:r>
            <a:r>
              <a:rPr lang="en-US" dirty="0" err="1"/>
              <a:t>уравнений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клеточных</a:t>
            </a:r>
            <a:r>
              <a:rPr lang="en-US" dirty="0"/>
              <a:t> </a:t>
            </a:r>
            <a:r>
              <a:rPr lang="en-US" dirty="0" err="1"/>
              <a:t>автоматах</a:t>
            </a:r>
            <a:r>
              <a:rPr lang="en-US" dirty="0"/>
              <a:t> </a:t>
            </a:r>
          </a:p>
          <a:p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Blur</a:t>
            </a:r>
            <a:endParaRPr lang="ru-RU" dirty="0"/>
          </a:p>
          <a:p>
            <a:pPr lvl="1"/>
            <a:r>
              <a:rPr lang="en-US" dirty="0"/>
              <a:t>Sharpen</a:t>
            </a:r>
            <a:endParaRPr lang="ru-RU" dirty="0"/>
          </a:p>
          <a:p>
            <a:pPr lvl="1"/>
            <a:r>
              <a:rPr lang="en-US" dirty="0"/>
              <a:t>Edge Detection</a:t>
            </a:r>
            <a:endParaRPr lang="ru-RU" dirty="0"/>
          </a:p>
          <a:p>
            <a:pPr lvl="1"/>
            <a:r>
              <a:rPr lang="en-US" dirty="0"/>
              <a:t>Game of Life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602037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4AA1C-04B6-E22C-118F-94983E2E5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Итоги</a:t>
            </a:r>
            <a:r>
              <a:rPr lang="en-US" dirty="0"/>
              <a:t>: Stencil Computations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77F51-4F7A-F27F-F733-ACCD9772A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Stencil: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фиксированную</a:t>
            </a:r>
            <a:r>
              <a:rPr lang="en-US" dirty="0"/>
              <a:t> </a:t>
            </a:r>
            <a:r>
              <a:rPr lang="en-US" dirty="0" err="1"/>
              <a:t>окрестность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повторным</a:t>
            </a:r>
            <a:r>
              <a:rPr lang="en-US" dirty="0"/>
              <a:t> </a:t>
            </a:r>
            <a:r>
              <a:rPr lang="en-US" dirty="0" err="1"/>
              <a:t>обращениям</a:t>
            </a:r>
            <a:r>
              <a:rPr lang="en-US" dirty="0"/>
              <a:t> к </a:t>
            </a:r>
            <a:r>
              <a:rPr lang="en-US" dirty="0" err="1"/>
              <a:t>данным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local memory </a:t>
            </a:r>
          </a:p>
          <a:p>
            <a:pPr lvl="1"/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применяется</a:t>
            </a:r>
            <a:r>
              <a:rPr lang="en-US" dirty="0"/>
              <a:t> в </a:t>
            </a:r>
            <a:r>
              <a:rPr lang="en-US" dirty="0" err="1"/>
              <a:t>научных</a:t>
            </a:r>
            <a:r>
              <a:rPr lang="en-US" dirty="0"/>
              <a:t> </a:t>
            </a:r>
            <a:r>
              <a:rPr lang="en-US" dirty="0" err="1"/>
              <a:t>вычислениях</a:t>
            </a:r>
            <a:r>
              <a:rPr lang="en-US" dirty="0"/>
              <a:t> и </a:t>
            </a:r>
            <a:r>
              <a:rPr lang="en-US" dirty="0" err="1"/>
              <a:t>обработке</a:t>
            </a:r>
            <a:r>
              <a:rPr lang="en-US" dirty="0"/>
              <a:t> </a:t>
            </a:r>
            <a:r>
              <a:rPr lang="en-US" dirty="0" err="1"/>
              <a:t>изображений</a:t>
            </a:r>
            <a:r>
              <a:rPr lang="en-US" dirty="0"/>
              <a:t> </a:t>
            </a:r>
          </a:p>
          <a:p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повторного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79931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2A5EEF-C118-B018-5BB2-4619301DB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на </a:t>
            </a:r>
            <a:r>
              <a:rPr lang="en-US" dirty="0"/>
              <a:t>GPU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598ABE-3706-A5F0-4A92-952721769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71085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CAB29-5EA9-A53F-5659-A9D66AAE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на </a:t>
            </a:r>
            <a:r>
              <a:rPr lang="en-US" dirty="0"/>
              <a:t>GPU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73EC75-C335-DC13-F993-85FBD5DB6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Сортировка</a:t>
            </a:r>
            <a:r>
              <a:rPr lang="en-US" dirty="0"/>
              <a:t> —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алгоритмов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r>
              <a:rPr lang="en-US" dirty="0" err="1"/>
              <a:t>Классические</a:t>
            </a:r>
            <a:r>
              <a:rPr lang="en-US" dirty="0"/>
              <a:t> 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плохо</a:t>
            </a:r>
            <a:r>
              <a:rPr lang="en-US" dirty="0"/>
              <a:t> </a:t>
            </a:r>
            <a:r>
              <a:rPr lang="en-US" dirty="0" err="1"/>
              <a:t>подходят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GPU:</a:t>
            </a:r>
          </a:p>
          <a:p>
            <a:pPr lvl="1"/>
            <a:r>
              <a:rPr lang="en-US" dirty="0"/>
              <a:t>Quick Sort </a:t>
            </a:r>
          </a:p>
          <a:p>
            <a:pPr lvl="1"/>
            <a:r>
              <a:rPr lang="en-US" dirty="0"/>
              <a:t>Merge Sort </a:t>
            </a:r>
          </a:p>
          <a:p>
            <a:pPr lvl="1"/>
            <a:r>
              <a:rPr lang="en-US" dirty="0"/>
              <a:t>Heap Sort </a:t>
            </a:r>
          </a:p>
          <a:p>
            <a:r>
              <a:rPr lang="en-US" dirty="0" err="1"/>
              <a:t>Причины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сложное</a:t>
            </a:r>
            <a:r>
              <a:rPr lang="en-US" dirty="0"/>
              <a:t> </a:t>
            </a:r>
            <a:r>
              <a:rPr lang="en-US" dirty="0" err="1"/>
              <a:t>ветвление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неравномерная</a:t>
            </a:r>
            <a:r>
              <a:rPr lang="en-US" dirty="0"/>
              <a:t> </a:t>
            </a:r>
            <a:r>
              <a:rPr lang="en-US" dirty="0" err="1"/>
              <a:t>нагрузка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непредсказуемый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r>
              <a:rPr lang="en-US" dirty="0" err="1"/>
              <a:t>На</a:t>
            </a:r>
            <a:r>
              <a:rPr lang="en-US" dirty="0"/>
              <a:t> GPU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Bitonic</a:t>
            </a:r>
            <a:r>
              <a:rPr lang="en-US" dirty="0"/>
              <a:t> Sort </a:t>
            </a:r>
          </a:p>
          <a:p>
            <a:pPr lvl="1"/>
            <a:r>
              <a:rPr lang="en-US" dirty="0"/>
              <a:t>Radix Sort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87127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D51E-E79D-CBA5-261A-708C5C46F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Bitonic</a:t>
            </a:r>
            <a:r>
              <a:rPr lang="en-US" dirty="0"/>
              <a:t>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19E3-4510-E115-47FB-0EBD297D6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Основан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Compare-Exchange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5 2</a:t>
            </a:r>
            <a:br>
              <a:rPr lang="en-US" dirty="0"/>
            </a:br>
            <a:r>
              <a:rPr lang="en-US" dirty="0"/>
              <a:t>↓</a:t>
            </a:r>
            <a:br>
              <a:rPr lang="en-US" dirty="0"/>
            </a:br>
            <a:r>
              <a:rPr lang="en-US" dirty="0"/>
              <a:t>2 5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фиксированная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рекурсии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47796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000B4-616F-FC8A-71FF-247060043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Bitonic</a:t>
            </a:r>
            <a:r>
              <a:rPr lang="en-US" dirty="0"/>
              <a:t>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BD3CA-58FC-FE60-4D2D-91E63BA0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Битоническая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1 3 7 9 8 6 4 2</a:t>
            </a:r>
          </a:p>
          <a:p>
            <a:pPr lvl="1"/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возрастает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1 3 7 9</a:t>
            </a:r>
          </a:p>
          <a:p>
            <a:pPr lvl="1"/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убывает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9 8 6 4 2</a:t>
            </a:r>
          </a:p>
          <a:p>
            <a:r>
              <a:rPr lang="en-US" dirty="0" err="1"/>
              <a:t>Bitonic</a:t>
            </a:r>
            <a:r>
              <a:rPr lang="en-US" dirty="0"/>
              <a:t> Sort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в </a:t>
            </a:r>
            <a:r>
              <a:rPr lang="en-US" dirty="0" err="1"/>
              <a:t>отсортированные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17881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AF74-2B65-3BCE-056A-A3B87092D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Сеть сравнений </a:t>
            </a:r>
            <a:r>
              <a:rPr lang="ru-RU" dirty="0" err="1"/>
              <a:t>битонической</a:t>
            </a:r>
            <a:r>
              <a:rPr lang="ru-RU" dirty="0"/>
              <a:t> сортировки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6053C1-9CC7-68C0-E7EE-DBE310340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297804"/>
            <a:ext cx="10515600" cy="3406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8788B5-EEC3-F186-732F-14CC195C704A}"/>
              </a:ext>
            </a:extLst>
          </p:cNvPr>
          <p:cNvSpPr txBox="1"/>
          <p:nvPr/>
        </p:nvSpPr>
        <p:spPr>
          <a:xfrm>
            <a:off x="685800" y="59425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Сложность: </a:t>
            </a:r>
            <a:r>
              <a:rPr lang="en-US" dirty="0"/>
              <a:t>O(N log² N)</a:t>
            </a:r>
          </a:p>
        </p:txBody>
      </p:sp>
    </p:spTree>
    <p:extLst>
      <p:ext uri="{BB962C8B-B14F-4D97-AF65-F5344CB8AC3E}">
        <p14:creationId xmlns:p14="http://schemas.microsoft.com/office/powerpoint/2010/main" val="3186475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4ED52-C75E-D813-D566-E6AED574E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Radix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A7F3F-4174-457A-73A3-E91052FBA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разрядам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329</a:t>
            </a:r>
            <a:br>
              <a:rPr lang="en-US" dirty="0"/>
            </a:br>
            <a:r>
              <a:rPr lang="en-US" dirty="0"/>
              <a:t>457</a:t>
            </a:r>
            <a:br>
              <a:rPr lang="en-US" dirty="0"/>
            </a:br>
            <a:r>
              <a:rPr lang="en-US" dirty="0"/>
              <a:t>657</a:t>
            </a:r>
            <a:br>
              <a:rPr lang="en-US" dirty="0"/>
            </a:br>
            <a:r>
              <a:rPr lang="en-US" dirty="0"/>
              <a:t>839</a:t>
            </a:r>
            <a:br>
              <a:rPr lang="en-US" dirty="0"/>
            </a:br>
            <a:r>
              <a:rPr lang="en-US" dirty="0"/>
              <a:t>436</a:t>
            </a:r>
            <a:br>
              <a:rPr lang="en-US" dirty="0"/>
            </a:br>
            <a:r>
              <a:rPr lang="en-US" dirty="0"/>
              <a:t>720</a:t>
            </a:r>
            <a:br>
              <a:rPr lang="en-US" dirty="0"/>
            </a:br>
            <a:r>
              <a:rPr lang="en-US" dirty="0"/>
              <a:t>355</a:t>
            </a:r>
          </a:p>
          <a:p>
            <a:r>
              <a:rPr lang="en-US" dirty="0" err="1"/>
              <a:t>Сначала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единицы</a:t>
            </a:r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десятки</a:t>
            </a:r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сотни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85088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5E29-40E0-D4D8-BD67-EBB1CB1F2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 Radix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AA8F7-0FB6-5576-240B-50EB90D35F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младшему</a:t>
            </a:r>
            <a:r>
              <a:rPr lang="en-US" dirty="0"/>
              <a:t> </a:t>
            </a:r>
            <a:r>
              <a:rPr lang="en-US" dirty="0" err="1"/>
              <a:t>биту</a:t>
            </a:r>
            <a:endParaRPr lang="en-US" dirty="0"/>
          </a:p>
          <a:p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массив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[6 5 2 7 3 4 1 9]</a:t>
            </a:r>
          </a:p>
          <a:p>
            <a:r>
              <a:rPr lang="en-US" dirty="0" err="1"/>
              <a:t>Двоичное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0</a:t>
            </a:r>
            <a:r>
              <a:rPr lang="en-US" dirty="0"/>
              <a:t>11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10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01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11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01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10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 </a:t>
            </a:r>
            <a:r>
              <a:rPr lang="ru-RU" dirty="0"/>
              <a:t>0</a:t>
            </a:r>
            <a:r>
              <a:rPr lang="en-US" dirty="0"/>
              <a:t>00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 100</a:t>
            </a:r>
            <a:r>
              <a:rPr lang="en-US" dirty="0">
                <a:solidFill>
                  <a:srgbClr val="FF0000"/>
                </a:solidFill>
              </a:rPr>
              <a:t>1</a:t>
            </a:r>
          </a:p>
          <a:p>
            <a:r>
              <a:rPr lang="en-US" dirty="0" err="1"/>
              <a:t>Младший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[0 1 0 1 1 0 1 1]</a:t>
            </a:r>
          </a:p>
          <a:p>
            <a:r>
              <a:rPr lang="ru-RU" dirty="0"/>
              <a:t>Маска нулей</a:t>
            </a:r>
          </a:p>
          <a:p>
            <a:pPr lvl="1"/>
            <a:r>
              <a:rPr lang="en-US" dirty="0"/>
              <a:t>[1 0 1 0 0 1 0 0]</a:t>
            </a:r>
          </a:p>
          <a:p>
            <a:r>
              <a:rPr lang="en-US" dirty="0"/>
              <a:t>Exclusive Scan:</a:t>
            </a:r>
            <a:endParaRPr lang="ru-RU" dirty="0"/>
          </a:p>
          <a:p>
            <a:pPr lvl="1"/>
            <a:r>
              <a:rPr lang="en-US" dirty="0"/>
              <a:t>[0 1 1 2 2 2 3 3]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D49D-A33F-34B4-A5A1-70CA6072AA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Scatter:</a:t>
            </a:r>
          </a:p>
          <a:p>
            <a:pPr lvl="1"/>
            <a:r>
              <a:rPr lang="en-US" dirty="0"/>
              <a:t>6 → B[0]</a:t>
            </a:r>
            <a:br>
              <a:rPr lang="en-US" dirty="0"/>
            </a:br>
            <a:r>
              <a:rPr lang="en-US" dirty="0"/>
              <a:t>2 → B[1]</a:t>
            </a:r>
            <a:br>
              <a:rPr lang="en-US" dirty="0"/>
            </a:br>
            <a:r>
              <a:rPr lang="en-US" dirty="0"/>
              <a:t>4 → B[2]</a:t>
            </a:r>
            <a:br>
              <a:rPr lang="en-US" dirty="0"/>
            </a:br>
            <a:br>
              <a:rPr lang="en-US" dirty="0"/>
            </a:br>
            <a:r>
              <a:rPr lang="en-US" dirty="0"/>
              <a:t>5 → B[3]</a:t>
            </a:r>
            <a:br>
              <a:rPr lang="en-US" dirty="0"/>
            </a:br>
            <a:r>
              <a:rPr lang="en-US" dirty="0"/>
              <a:t>7 → B[4]</a:t>
            </a:r>
            <a:br>
              <a:rPr lang="en-US" dirty="0"/>
            </a:br>
            <a:r>
              <a:rPr lang="en-US" dirty="0"/>
              <a:t>3 → B[5]</a:t>
            </a:r>
            <a:br>
              <a:rPr lang="en-US" dirty="0"/>
            </a:br>
            <a:r>
              <a:rPr lang="en-US" dirty="0"/>
              <a:t>1 → B[6]</a:t>
            </a:r>
            <a:br>
              <a:rPr lang="en-US" dirty="0"/>
            </a:br>
            <a:r>
              <a:rPr lang="en-US" dirty="0"/>
              <a:t>9 → B[7]</a:t>
            </a:r>
          </a:p>
          <a:p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[6 2 4 5 7 3 1 9]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26782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5864-EDA9-59C4-7A8F-4F4CA6305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Реальные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Radix Sort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83F100-9E16-C970-DF6F-AD686D0D58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</a:t>
            </a:r>
            <a:r>
              <a:rPr lang="en-US" dirty="0" err="1"/>
              <a:t>биту</a:t>
            </a:r>
            <a:endParaRPr lang="en-US" dirty="0"/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проход</a:t>
            </a:r>
            <a:r>
              <a:rPr lang="en-US" dirty="0"/>
              <a:t> </a:t>
            </a:r>
            <a:r>
              <a:rPr lang="en-US" dirty="0" err="1"/>
              <a:t>обрабатывается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4 </a:t>
            </a:r>
            <a:r>
              <a:rPr lang="en-US" dirty="0" err="1"/>
              <a:t>бита</a:t>
            </a:r>
            <a:r>
              <a:rPr lang="en-US" dirty="0"/>
              <a:t>  → 16 </a:t>
            </a:r>
            <a:r>
              <a:rPr lang="en-US" dirty="0" err="1"/>
              <a:t>групп</a:t>
            </a:r>
            <a:br>
              <a:rPr lang="en-US" dirty="0"/>
            </a:br>
            <a:r>
              <a:rPr lang="en-US" dirty="0"/>
              <a:t>8 </a:t>
            </a:r>
            <a:r>
              <a:rPr lang="en-US" dirty="0" err="1"/>
              <a:t>бит</a:t>
            </a:r>
            <a:r>
              <a:rPr lang="en-US" dirty="0"/>
              <a:t>   → 256 </a:t>
            </a:r>
            <a:r>
              <a:rPr lang="en-US" dirty="0" err="1"/>
              <a:t>групп</a:t>
            </a:r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прохода</a:t>
            </a:r>
            <a:r>
              <a:rPr lang="en-US" dirty="0"/>
              <a:t> </a:t>
            </a:r>
            <a:r>
              <a:rPr lang="en-US" dirty="0" err="1"/>
              <a:t>вычисляется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Histogram -&gt; Scan -&gt; Group Offsets -&gt; Scatter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4FC2D6-5514-F223-E2DE-AC7A642203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2 </a:t>
            </a:r>
            <a:r>
              <a:rPr lang="en-US" dirty="0" err="1"/>
              <a:t>бит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00 → 3 </a:t>
            </a:r>
            <a:r>
              <a:rPr lang="en-US" dirty="0" err="1"/>
              <a:t>элемента</a:t>
            </a:r>
            <a:br>
              <a:rPr lang="en-US" dirty="0"/>
            </a:br>
            <a:r>
              <a:rPr lang="en-US" dirty="0"/>
              <a:t>01 → 2 </a:t>
            </a:r>
            <a:r>
              <a:rPr lang="en-US" dirty="0" err="1"/>
              <a:t>элемента</a:t>
            </a:r>
            <a:br>
              <a:rPr lang="en-US" dirty="0"/>
            </a:br>
            <a:r>
              <a:rPr lang="en-US" dirty="0"/>
              <a:t>10 → 1 </a:t>
            </a:r>
            <a:r>
              <a:rPr lang="en-US" dirty="0" err="1"/>
              <a:t>элемент</a:t>
            </a:r>
            <a:br>
              <a:rPr lang="en-US" dirty="0"/>
            </a:br>
            <a:r>
              <a:rPr lang="en-US" dirty="0"/>
              <a:t>11 → 2 </a:t>
            </a:r>
            <a:r>
              <a:rPr lang="en-US" dirty="0" err="1"/>
              <a:t>элемента</a:t>
            </a:r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Scan:</a:t>
            </a:r>
          </a:p>
          <a:p>
            <a:pPr lvl="1"/>
            <a:r>
              <a:rPr lang="en-US" dirty="0"/>
              <a:t>00 </a:t>
            </a:r>
            <a:r>
              <a:rPr lang="en-US" dirty="0" err="1"/>
              <a:t>начинается</a:t>
            </a:r>
            <a:r>
              <a:rPr lang="en-US" dirty="0"/>
              <a:t> с </a:t>
            </a:r>
            <a:r>
              <a:rPr lang="en-US" dirty="0" err="1"/>
              <a:t>позиции</a:t>
            </a:r>
            <a:r>
              <a:rPr lang="en-US" dirty="0"/>
              <a:t> 0</a:t>
            </a:r>
            <a:br>
              <a:rPr lang="en-US" dirty="0"/>
            </a:br>
            <a:r>
              <a:rPr lang="en-US" dirty="0"/>
              <a:t>01 </a:t>
            </a:r>
            <a:r>
              <a:rPr lang="en-US" dirty="0" err="1"/>
              <a:t>начинается</a:t>
            </a:r>
            <a:r>
              <a:rPr lang="en-US" dirty="0"/>
              <a:t> с </a:t>
            </a:r>
            <a:r>
              <a:rPr lang="en-US" dirty="0" err="1"/>
              <a:t>позиции</a:t>
            </a:r>
            <a:r>
              <a:rPr lang="en-US" dirty="0"/>
              <a:t> 3</a:t>
            </a:r>
            <a:br>
              <a:rPr lang="en-US" dirty="0"/>
            </a:br>
            <a:r>
              <a:rPr lang="en-US" dirty="0"/>
              <a:t>10 </a:t>
            </a:r>
            <a:r>
              <a:rPr lang="en-US" dirty="0" err="1"/>
              <a:t>начинается</a:t>
            </a:r>
            <a:r>
              <a:rPr lang="en-US" dirty="0"/>
              <a:t> с </a:t>
            </a:r>
            <a:r>
              <a:rPr lang="en-US" dirty="0" err="1"/>
              <a:t>позиции</a:t>
            </a:r>
            <a:r>
              <a:rPr lang="en-US" dirty="0"/>
              <a:t> 5</a:t>
            </a:r>
            <a:br>
              <a:rPr lang="en-US" dirty="0"/>
            </a:br>
            <a:r>
              <a:rPr lang="en-US" dirty="0"/>
              <a:t>11 </a:t>
            </a:r>
            <a:r>
              <a:rPr lang="en-US" dirty="0" err="1"/>
              <a:t>начинается</a:t>
            </a:r>
            <a:r>
              <a:rPr lang="en-US" dirty="0"/>
              <a:t> с </a:t>
            </a:r>
            <a:r>
              <a:rPr lang="en-US" dirty="0" err="1"/>
              <a:t>позиции</a:t>
            </a:r>
            <a:r>
              <a:rPr lang="en-US" dirty="0"/>
              <a:t> 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15764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DB4A5D-9288-0C29-F551-30AFE17C5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</a:t>
            </a:r>
            <a:r>
              <a:rPr lang="en-US" dirty="0"/>
              <a:t>GPU Sorting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F8438C-C51B-9616-8FF5-FE8C906F7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Сортировка</a:t>
            </a:r>
            <a:r>
              <a:rPr lang="en-US" dirty="0"/>
              <a:t> —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r>
              <a:rPr lang="en-US" dirty="0" err="1"/>
              <a:t>Bitonic</a:t>
            </a:r>
            <a:r>
              <a:rPr lang="en-US" dirty="0"/>
              <a:t> Sort</a:t>
            </a:r>
          </a:p>
          <a:p>
            <a:pPr lvl="1"/>
            <a:r>
              <a:rPr lang="en-US" dirty="0" err="1"/>
              <a:t>сеть</a:t>
            </a:r>
            <a:r>
              <a:rPr lang="en-US" dirty="0"/>
              <a:t> </a:t>
            </a:r>
            <a:r>
              <a:rPr lang="en-US" dirty="0" err="1"/>
              <a:t>сравнений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фиксированная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удобен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GPU </a:t>
            </a:r>
          </a:p>
          <a:p>
            <a:pPr lvl="1"/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подходит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обучения</a:t>
            </a:r>
            <a:r>
              <a:rPr lang="en-US" dirty="0"/>
              <a:t> </a:t>
            </a:r>
          </a:p>
          <a:p>
            <a:r>
              <a:rPr lang="en-US" dirty="0"/>
              <a:t>Radix Sort</a:t>
            </a:r>
          </a:p>
          <a:p>
            <a:pPr lvl="1"/>
            <a:r>
              <a:rPr lang="en-US" dirty="0" err="1"/>
              <a:t>сортировка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разрядам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Radix Sort </a:t>
            </a:r>
            <a:r>
              <a:rPr lang="en-US" dirty="0" err="1"/>
              <a:t>строится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: Histogram, Scan, Scatter</a:t>
            </a:r>
          </a:p>
          <a:p>
            <a:r>
              <a:rPr lang="en-US" dirty="0" err="1"/>
              <a:t>Сложные</a:t>
            </a:r>
            <a:r>
              <a:rPr lang="en-US" dirty="0"/>
              <a:t> GPU-</a:t>
            </a:r>
            <a:r>
              <a:rPr lang="en-US" dirty="0" err="1"/>
              <a:t>алгоритмы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комбинацией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99032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26850</TotalTime>
  <Words>23378</Words>
  <Application>Microsoft Office PowerPoint</Application>
  <PresentationFormat>Widescreen</PresentationFormat>
  <Paragraphs>3644</Paragraphs>
  <Slides>156</Slides>
  <Notes>136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156</vt:i4>
      </vt:variant>
    </vt:vector>
  </HeadingPairs>
  <TitlesOfParts>
    <vt:vector size="163" baseType="lpstr">
      <vt:lpstr>Aptos</vt:lpstr>
      <vt:lpstr>Aptos Display</vt:lpstr>
      <vt:lpstr>Arial</vt:lpstr>
      <vt:lpstr>Cambria Math</vt:lpstr>
      <vt:lpstr>Cascadia Mono</vt:lpstr>
      <vt:lpstr>Consolas</vt:lpstr>
      <vt:lpstr>Office Theme</vt:lpstr>
      <vt:lpstr>Вычисления на CPU и GPU с использованием OpenCL</vt:lpstr>
      <vt:lpstr>Гетерогенные платформы</vt:lpstr>
      <vt:lpstr>Для чего нужны гетерогенные платформы?</vt:lpstr>
      <vt:lpstr>Архитектурные различия CPU и GPU</vt:lpstr>
      <vt:lpstr>Выполнение потоков на CPU</vt:lpstr>
      <vt:lpstr>CPU vs GPU</vt:lpstr>
      <vt:lpstr>Выполнение потоков на GPU</vt:lpstr>
      <vt:lpstr>PowerPoint Presentation</vt:lpstr>
      <vt:lpstr>Ветвления и divergence</vt:lpstr>
      <vt:lpstr>PowerPoint Presentation</vt:lpstr>
      <vt:lpstr>API для гетерогенных вычислений</vt:lpstr>
      <vt:lpstr>OpenCL</vt:lpstr>
      <vt:lpstr>Что такое OpenCL?</vt:lpstr>
      <vt:lpstr>Хост, устройство, контекст</vt:lpstr>
      <vt:lpstr>PowerPoint Presentation</vt:lpstr>
      <vt:lpstr>Хост и устройства</vt:lpstr>
      <vt:lpstr>Сборка и установка OpenCL</vt:lpstr>
      <vt:lpstr>Пример CMakeLists.txt</vt:lpstr>
      <vt:lpstr>Ключевые компоненты OpenCL</vt:lpstr>
      <vt:lpstr>Вывод имеющихся платформ</vt:lpstr>
      <vt:lpstr>Вывод информации об устройствах</vt:lpstr>
      <vt:lpstr>Вывод типа устройства</vt:lpstr>
      <vt:lpstr>Модель вычислений OpenCL</vt:lpstr>
      <vt:lpstr>Модель вычислений OpenCL</vt:lpstr>
      <vt:lpstr>Рабочие элементы и NDRange</vt:lpstr>
      <vt:lpstr>Рабочие группы (Work Groups)</vt:lpstr>
      <vt:lpstr>Модель памяти OpenCL</vt:lpstr>
      <vt:lpstr>Доступ потоков к памяти GPU</vt:lpstr>
      <vt:lpstr>PowerPoint Presentation</vt:lpstr>
      <vt:lpstr>Скрытие задержек памяти на GPU</vt:lpstr>
      <vt:lpstr>Суммирование элементов массивов</vt:lpstr>
      <vt:lpstr>Суммирование элементов массивов</vt:lpstr>
      <vt:lpstr>Основные шаги</vt:lpstr>
      <vt:lpstr>Выбор первого GPU устройства</vt:lpstr>
      <vt:lpstr>Выбор устройства и создание очереди команд</vt:lpstr>
      <vt:lpstr>Подготовка данных для вычислений</vt:lpstr>
      <vt:lpstr>Ядро программы для сложения векторов</vt:lpstr>
      <vt:lpstr>Компиляция ядра и передача аргументов от хоста к устройству</vt:lpstr>
      <vt:lpstr>Запуск вычислений и получение результатов</vt:lpstr>
      <vt:lpstr>Наивное умножение матриц на GPU</vt:lpstr>
      <vt:lpstr>Умножение матриц</vt:lpstr>
      <vt:lpstr>Ядро перемножения матриц</vt:lpstr>
      <vt:lpstr>Перемножение матриц (1024*1024) и получение результата</vt:lpstr>
      <vt:lpstr>Почему классическое умножение матриц работает неэффективно</vt:lpstr>
      <vt:lpstr>Классическое умножение матриц</vt:lpstr>
      <vt:lpstr>Идея Tiled Matrix Multiplication</vt:lpstr>
      <vt:lpstr>Каждый поток рабочей группы хранит результат в приватной памяти</vt:lpstr>
      <vt:lpstr>Копируем в локальную память тайлы матриц и перемножаем</vt:lpstr>
      <vt:lpstr>Повторяем этот процесс для следующих тайлов матриц</vt:lpstr>
      <vt:lpstr>Копируем значения из local memory в global memory</vt:lpstr>
      <vt:lpstr>Tiled Matrix Multiplication – To be continued</vt:lpstr>
      <vt:lpstr>PowerPoint Presentation</vt:lpstr>
      <vt:lpstr>PowerPoint Presentation</vt:lpstr>
      <vt:lpstr>Синхронизация потоков: barrier</vt:lpstr>
      <vt:lpstr>Передаём localSize и globalSize</vt:lpstr>
      <vt:lpstr>Замеры производительности</vt:lpstr>
      <vt:lpstr>Неупорядоченное исполнение команд и сихронизация с использованием событий</vt:lpstr>
      <vt:lpstr>In-order и Out-of-order очереди</vt:lpstr>
      <vt:lpstr>Создание out-of-order очереди</vt:lpstr>
      <vt:lpstr>События в OpenCL</vt:lpstr>
      <vt:lpstr>Граф зависимостей при умножении матриц</vt:lpstr>
      <vt:lpstr>PowerPoint Presentation</vt:lpstr>
      <vt:lpstr>Профилирование событий</vt:lpstr>
      <vt:lpstr>Вывод времени вычислений</vt:lpstr>
      <vt:lpstr>Достигнутое ускорение при использовании out-of-order queue</vt:lpstr>
      <vt:lpstr>OpenCL и вопросы производительности</vt:lpstr>
      <vt:lpstr>Discrete GPU и Integrated GPU</vt:lpstr>
      <vt:lpstr>Unified Memory</vt:lpstr>
      <vt:lpstr>Влияние архитектуры на производительность</vt:lpstr>
      <vt:lpstr>Occupancy — загрузка GPU</vt:lpstr>
      <vt:lpstr>Почему occupancy может снижаться?</vt:lpstr>
      <vt:lpstr>Передача данных между CPU и GPU</vt:lpstr>
      <vt:lpstr>Почему GPU не всегда ускоряет программу?</vt:lpstr>
      <vt:lpstr>Алгоритмические примитивы GPU</vt:lpstr>
      <vt:lpstr>Алгоритмические примитивы GPU</vt:lpstr>
      <vt:lpstr>Почему примитивы важны</vt:lpstr>
      <vt:lpstr>Классификация примитивов</vt:lpstr>
      <vt:lpstr>Примитивы и аппаратные особенности GPU</vt:lpstr>
      <vt:lpstr>Map</vt:lpstr>
      <vt:lpstr>Map — простейший параллельный примитив</vt:lpstr>
      <vt:lpstr>Map и модель выполнения OpenCL</vt:lpstr>
      <vt:lpstr>Примеры задач типа Map</vt:lpstr>
      <vt:lpstr>Производительность Map</vt:lpstr>
      <vt:lpstr>Map и коалесцированный доступ к памяти»</vt:lpstr>
      <vt:lpstr>Итоги: Map</vt:lpstr>
      <vt:lpstr>Reduction</vt:lpstr>
      <vt:lpstr>Reduction — агрегация результатов</vt:lpstr>
      <vt:lpstr>Наивное распараллеливание</vt:lpstr>
      <vt:lpstr>Использование атомарных операций</vt:lpstr>
      <vt:lpstr>Параллельное редуцирование</vt:lpstr>
      <vt:lpstr>Reduction внутри work-group</vt:lpstr>
      <vt:lpstr>Многоэтапная Reduction</vt:lpstr>
      <vt:lpstr>Применение Reduction</vt:lpstr>
      <vt:lpstr>Итоги: Reduction</vt:lpstr>
      <vt:lpstr>Scan (Prefix Sum)</vt:lpstr>
      <vt:lpstr>Scan</vt:lpstr>
      <vt:lpstr>Зачем нужен Scan?</vt:lpstr>
      <vt:lpstr>Последовательная реализация</vt:lpstr>
      <vt:lpstr>Параллельный алгоритм Scan</vt:lpstr>
      <vt:lpstr>Фаза Up-Sweep</vt:lpstr>
      <vt:lpstr>Фаза Down-Sweep</vt:lpstr>
      <vt:lpstr>Фаза Down-Sweep - 1</vt:lpstr>
      <vt:lpstr>Фаза Down-Sweep - 2</vt:lpstr>
      <vt:lpstr>Фаза Down-Sweep - 3</vt:lpstr>
      <vt:lpstr>Фаза Down-Sweep - 4</vt:lpstr>
      <vt:lpstr>Фаза Down-Sweep - 5</vt:lpstr>
      <vt:lpstr>In-Place реализация Up-Sweep</vt:lpstr>
      <vt:lpstr>Пример In-place Up-Sweep</vt:lpstr>
      <vt:lpstr>In-Place реализация Down-Sweep</vt:lpstr>
      <vt:lpstr>Пример In-place Down-Sweep</vt:lpstr>
      <vt:lpstr>Scan для больших массивов</vt:lpstr>
      <vt:lpstr>Почему Scan требует нескольких запусков kernel</vt:lpstr>
      <vt:lpstr>Где используется Scan</vt:lpstr>
      <vt:lpstr>Итоги: Scan</vt:lpstr>
      <vt:lpstr>Stream Compaction</vt:lpstr>
      <vt:lpstr>Stream Compaction</vt:lpstr>
      <vt:lpstr>Почему задача сложна для GPU?</vt:lpstr>
      <vt:lpstr>Шаг 1. Построение маски</vt:lpstr>
      <vt:lpstr>Шаг 2. Выполнение Scan</vt:lpstr>
      <vt:lpstr>Шаг 3. Scatter</vt:lpstr>
      <vt:lpstr>Алгоритм Stream Compaction</vt:lpstr>
      <vt:lpstr>Применение Stream Compaction</vt:lpstr>
      <vt:lpstr>Итоги: Stream Compaction</vt:lpstr>
      <vt:lpstr>Histogram</vt:lpstr>
      <vt:lpstr>Histogram</vt:lpstr>
      <vt:lpstr>Пример: гистограмма изображения</vt:lpstr>
      <vt:lpstr>Проблемы наивного подхода</vt:lpstr>
      <vt:lpstr>Алгоритм локальных гистограмм</vt:lpstr>
      <vt:lpstr>Применение гистограмм</vt:lpstr>
      <vt:lpstr>Итоги: Histogram</vt:lpstr>
      <vt:lpstr>Gather и Scatter</vt:lpstr>
      <vt:lpstr>Gather и Scatter</vt:lpstr>
      <vt:lpstr>Gather</vt:lpstr>
      <vt:lpstr>Производительность Gather</vt:lpstr>
      <vt:lpstr>Проблемы Scatter</vt:lpstr>
      <vt:lpstr>Scatter в Stream Compaction</vt:lpstr>
      <vt:lpstr>Применение Gather и Scatter</vt:lpstr>
      <vt:lpstr>Итоги: Gather и Scatter</vt:lpstr>
      <vt:lpstr>Stencil Computations</vt:lpstr>
      <vt:lpstr>Stencil Computations</vt:lpstr>
      <vt:lpstr>Одномерный Stencil</vt:lpstr>
      <vt:lpstr>Проблема повторных чтений</vt:lpstr>
      <vt:lpstr>Использование Local Memory</vt:lpstr>
      <vt:lpstr>Halo Cells</vt:lpstr>
      <vt:lpstr>Применение Stencil Computations</vt:lpstr>
      <vt:lpstr>Итоги: Stencil Computations</vt:lpstr>
      <vt:lpstr>Сортировка на GPU</vt:lpstr>
      <vt:lpstr>Сортировка на GPU</vt:lpstr>
      <vt:lpstr>Bitonic Sort</vt:lpstr>
      <vt:lpstr>Bitonic Sequence</vt:lpstr>
      <vt:lpstr>Сеть сравнений битонической сортировки</vt:lpstr>
      <vt:lpstr>Radix Sort</vt:lpstr>
      <vt:lpstr>Один проход Radix Sort</vt:lpstr>
      <vt:lpstr>Реальные реализации Radix Sort</vt:lpstr>
      <vt:lpstr>Итоги: GPU Sorting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342</cp:revision>
  <dcterms:created xsi:type="dcterms:W3CDTF">2025-02-03T14:52:05Z</dcterms:created>
  <dcterms:modified xsi:type="dcterms:W3CDTF">2026-05-29T18:29:42Z</dcterms:modified>
</cp:coreProperties>
</file>