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296" r:id="rId3"/>
    <p:sldId id="288" r:id="rId4"/>
    <p:sldId id="290" r:id="rId5"/>
    <p:sldId id="295" r:id="rId6"/>
    <p:sldId id="289" r:id="rId7"/>
    <p:sldId id="291" r:id="rId8"/>
    <p:sldId id="292" r:id="rId9"/>
    <p:sldId id="293" r:id="rId10"/>
    <p:sldId id="294" r:id="rId11"/>
    <p:sldId id="297" r:id="rId12"/>
    <p:sldId id="298" r:id="rId13"/>
    <p:sldId id="299" r:id="rId14"/>
    <p:sldId id="300" r:id="rId15"/>
    <p:sldId id="301" r:id="rId16"/>
    <p:sldId id="302" r:id="rId17"/>
    <p:sldId id="304" r:id="rId18"/>
    <p:sldId id="303" r:id="rId19"/>
    <p:sldId id="311" r:id="rId20"/>
    <p:sldId id="307" r:id="rId21"/>
    <p:sldId id="312" r:id="rId22"/>
    <p:sldId id="305" r:id="rId23"/>
    <p:sldId id="306" r:id="rId24"/>
    <p:sldId id="308" r:id="rId25"/>
    <p:sldId id="309" r:id="rId26"/>
    <p:sldId id="310" r:id="rId27"/>
    <p:sldId id="313" r:id="rId28"/>
    <p:sldId id="315" r:id="rId29"/>
    <p:sldId id="314" r:id="rId30"/>
    <p:sldId id="316" r:id="rId31"/>
    <p:sldId id="317" r:id="rId32"/>
    <p:sldId id="318" r:id="rId33"/>
    <p:sldId id="319" r:id="rId34"/>
    <p:sldId id="320" r:id="rId35"/>
    <p:sldId id="321" r:id="rId36"/>
    <p:sldId id="322" r:id="rId37"/>
    <p:sldId id="323" r:id="rId38"/>
    <p:sldId id="324" r:id="rId39"/>
    <p:sldId id="325" r:id="rId40"/>
    <p:sldId id="326" r:id="rId41"/>
    <p:sldId id="327" r:id="rId42"/>
    <p:sldId id="328" r:id="rId43"/>
    <p:sldId id="329" r:id="rId44"/>
    <p:sldId id="286" r:id="rId45"/>
    <p:sldId id="28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F21D366-7321-4E9E-B471-1AF82A17AE44}">
          <p14:sldIdLst>
            <p14:sldId id="257"/>
            <p14:sldId id="296"/>
            <p14:sldId id="288"/>
            <p14:sldId id="290"/>
            <p14:sldId id="295"/>
            <p14:sldId id="289"/>
            <p14:sldId id="291"/>
            <p14:sldId id="292"/>
            <p14:sldId id="293"/>
            <p14:sldId id="294"/>
            <p14:sldId id="297"/>
            <p14:sldId id="298"/>
            <p14:sldId id="299"/>
            <p14:sldId id="300"/>
            <p14:sldId id="301"/>
            <p14:sldId id="302"/>
            <p14:sldId id="304"/>
            <p14:sldId id="303"/>
            <p14:sldId id="311"/>
            <p14:sldId id="307"/>
            <p14:sldId id="312"/>
            <p14:sldId id="305"/>
            <p14:sldId id="306"/>
            <p14:sldId id="308"/>
            <p14:sldId id="309"/>
            <p14:sldId id="310"/>
            <p14:sldId id="313"/>
            <p14:sldId id="315"/>
            <p14:sldId id="314"/>
            <p14:sldId id="316"/>
            <p14:sldId id="317"/>
            <p14:sldId id="318"/>
            <p14:sldId id="319"/>
            <p14:sldId id="320"/>
            <p14:sldId id="321"/>
            <p14:sldId id="322"/>
            <p14:sldId id="323"/>
            <p14:sldId id="324"/>
            <p14:sldId id="325"/>
            <p14:sldId id="326"/>
            <p14:sldId id="327"/>
            <p14:sldId id="328"/>
            <p14:sldId id="329"/>
            <p14:sldId id="286"/>
            <p14:sldId id="285"/>
          </p14:sldIdLst>
        </p14:section>
      </p14:sectionLst>
    </p:ex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70460" autoAdjust="0"/>
  </p:normalViewPr>
  <p:slideViewPr>
    <p:cSldViewPr snapToGrid="0" showGuides="1">
      <p:cViewPr varScale="1">
        <p:scale>
          <a:sx n="66" d="100"/>
          <a:sy n="66" d="100"/>
        </p:scale>
        <p:origin x="2292" y="288"/>
      </p:cViewPr>
      <p:guideLst>
        <p:guide orient="horz" pos="2228"/>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ru-RU"/>
              <a:t>Время</a:t>
            </a:r>
            <a:r>
              <a:rPr lang="ru-RU" baseline="0"/>
              <a:t> работы программы</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size=1K</c:v>
          </c:tx>
          <c:spPr>
            <a:ln w="28575" cap="rnd">
              <a:solidFill>
                <a:schemeClr val="accent1"/>
              </a:solidFill>
              <a:round/>
            </a:ln>
            <a:effectLst/>
          </c:spPr>
          <c:marker>
            <c:symbol val="none"/>
          </c:marker>
          <c:val>
            <c:numRef>
              <c:f>Sheet1!$B$2:$B$9</c:f>
              <c:numCache>
                <c:formatCode>General</c:formatCode>
                <c:ptCount val="8"/>
                <c:pt idx="0">
                  <c:v>0.96394999999999997</c:v>
                </c:pt>
                <c:pt idx="1">
                  <c:v>0.97770000000000001</c:v>
                </c:pt>
                <c:pt idx="2">
                  <c:v>0.98063</c:v>
                </c:pt>
                <c:pt idx="3">
                  <c:v>1.02576</c:v>
                </c:pt>
                <c:pt idx="4">
                  <c:v>1.08453</c:v>
                </c:pt>
                <c:pt idx="5">
                  <c:v>1.13629</c:v>
                </c:pt>
                <c:pt idx="6">
                  <c:v>1.2207600000000001</c:v>
                </c:pt>
                <c:pt idx="7">
                  <c:v>1.2396499999999999</c:v>
                </c:pt>
              </c:numCache>
            </c:numRef>
          </c:val>
          <c:smooth val="0"/>
          <c:extLst>
            <c:ext xmlns:c16="http://schemas.microsoft.com/office/drawing/2014/chart" uri="{C3380CC4-5D6E-409C-BE32-E72D297353CC}">
              <c16:uniqueId val="{00000000-7C36-4E01-8A33-333098CE1B06}"/>
            </c:ext>
          </c:extLst>
        </c:ser>
        <c:ser>
          <c:idx val="1"/>
          <c:order val="1"/>
          <c:tx>
            <c:v>size=4M</c:v>
          </c:tx>
          <c:spPr>
            <a:ln w="28575" cap="rnd">
              <a:solidFill>
                <a:schemeClr val="accent2"/>
              </a:solidFill>
              <a:round/>
            </a:ln>
            <a:effectLst/>
          </c:spPr>
          <c:marker>
            <c:symbol val="none"/>
          </c:marker>
          <c:val>
            <c:numRef>
              <c:f>Sheet1!$C$2:$C$9</c:f>
              <c:numCache>
                <c:formatCode>General</c:formatCode>
                <c:ptCount val="8"/>
                <c:pt idx="0">
                  <c:v>0.99982000000000004</c:v>
                </c:pt>
                <c:pt idx="1">
                  <c:v>1.7492099999999999</c:v>
                </c:pt>
                <c:pt idx="2">
                  <c:v>2.0509599999999999</c:v>
                </c:pt>
                <c:pt idx="3">
                  <c:v>2.4045999999999998</c:v>
                </c:pt>
                <c:pt idx="4">
                  <c:v>2.8822199999999998</c:v>
                </c:pt>
                <c:pt idx="5">
                  <c:v>3.3029299999999999</c:v>
                </c:pt>
                <c:pt idx="6">
                  <c:v>3.6603699999999999</c:v>
                </c:pt>
                <c:pt idx="7">
                  <c:v>4.3798700000000004</c:v>
                </c:pt>
              </c:numCache>
            </c:numRef>
          </c:val>
          <c:smooth val="0"/>
          <c:extLst>
            <c:ext xmlns:c16="http://schemas.microsoft.com/office/drawing/2014/chart" uri="{C3380CC4-5D6E-409C-BE32-E72D297353CC}">
              <c16:uniqueId val="{00000001-7C36-4E01-8A33-333098CE1B06}"/>
            </c:ext>
          </c:extLst>
        </c:ser>
        <c:dLbls>
          <c:showLegendKey val="0"/>
          <c:showVal val="0"/>
          <c:showCatName val="0"/>
          <c:showSerName val="0"/>
          <c:showPercent val="0"/>
          <c:showBubbleSize val="0"/>
        </c:dLbls>
        <c:smooth val="0"/>
        <c:axId val="1340033728"/>
        <c:axId val="1340034208"/>
      </c:lineChart>
      <c:catAx>
        <c:axId val="134003372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0034208"/>
        <c:crosses val="autoZero"/>
        <c:auto val="1"/>
        <c:lblAlgn val="ctr"/>
        <c:lblOffset val="100"/>
        <c:noMultiLvlLbl val="0"/>
      </c:catAx>
      <c:valAx>
        <c:axId val="1340034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00337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ru-RU"/>
              <a:t>Ускорение</a:t>
            </a:r>
            <a:r>
              <a:rPr lang="ru-RU" baseline="0"/>
              <a:t> в зависимости от количества потоков</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none"/>
          </c:marker>
          <c:val>
            <c:numRef>
              <c:f>Sheet1!$C$20:$C$51</c:f>
              <c:numCache>
                <c:formatCode>General</c:formatCode>
                <c:ptCount val="32"/>
                <c:pt idx="0">
                  <c:v>1</c:v>
                </c:pt>
                <c:pt idx="1">
                  <c:v>1.7714747566457527</c:v>
                </c:pt>
                <c:pt idx="2">
                  <c:v>2.5078216087002776</c:v>
                </c:pt>
                <c:pt idx="3">
                  <c:v>3.3911412138774142</c:v>
                </c:pt>
                <c:pt idx="4">
                  <c:v>3.7398495072073352</c:v>
                </c:pt>
                <c:pt idx="5">
                  <c:v>4.6893611838499476</c:v>
                </c:pt>
                <c:pt idx="6">
                  <c:v>4.9155882014988572</c:v>
                </c:pt>
                <c:pt idx="7">
                  <c:v>5.4882638030979756</c:v>
                </c:pt>
                <c:pt idx="8">
                  <c:v>5.6094564209156292</c:v>
                </c:pt>
                <c:pt idx="9">
                  <c:v>5.9395279477554377</c:v>
                </c:pt>
                <c:pt idx="10">
                  <c:v>6.3452981311183621</c:v>
                </c:pt>
                <c:pt idx="11">
                  <c:v>6.3804894216428218</c:v>
                </c:pt>
                <c:pt idx="12">
                  <c:v>6.705134531100339</c:v>
                </c:pt>
                <c:pt idx="13">
                  <c:v>7.209482317400477</c:v>
                </c:pt>
                <c:pt idx="14">
                  <c:v>7.2328221569597417</c:v>
                </c:pt>
                <c:pt idx="15">
                  <c:v>7.6573656052982235</c:v>
                </c:pt>
                <c:pt idx="16">
                  <c:v>7.6900440739803733</c:v>
                </c:pt>
                <c:pt idx="17">
                  <c:v>7.6311095255083838</c:v>
                </c:pt>
                <c:pt idx="18">
                  <c:v>8.0216956497583194</c:v>
                </c:pt>
                <c:pt idx="19">
                  <c:v>7.7448035402977071</c:v>
                </c:pt>
                <c:pt idx="20">
                  <c:v>7.6019296709950446</c:v>
                </c:pt>
                <c:pt idx="21">
                  <c:v>7.4181636021501918</c:v>
                </c:pt>
                <c:pt idx="22">
                  <c:v>6.9194273048583241</c:v>
                </c:pt>
                <c:pt idx="23">
                  <c:v>7.6249636925351849</c:v>
                </c:pt>
                <c:pt idx="24">
                  <c:v>6.8807634570019305</c:v>
                </c:pt>
                <c:pt idx="25">
                  <c:v>7.5287936956961001</c:v>
                </c:pt>
                <c:pt idx="26">
                  <c:v>7.4947928494955063</c:v>
                </c:pt>
                <c:pt idx="27">
                  <c:v>7.3623690936788897</c:v>
                </c:pt>
                <c:pt idx="28">
                  <c:v>7.733292269787496</c:v>
                </c:pt>
                <c:pt idx="29">
                  <c:v>7.8925035360678919</c:v>
                </c:pt>
                <c:pt idx="30">
                  <c:v>7.8121132190321605</c:v>
                </c:pt>
                <c:pt idx="31">
                  <c:v>7.5210480736047716</c:v>
                </c:pt>
              </c:numCache>
            </c:numRef>
          </c:val>
          <c:smooth val="0"/>
          <c:extLst>
            <c:ext xmlns:c16="http://schemas.microsoft.com/office/drawing/2014/chart" uri="{C3380CC4-5D6E-409C-BE32-E72D297353CC}">
              <c16:uniqueId val="{00000000-636E-446D-B549-2DC25C6A6A1C}"/>
            </c:ext>
          </c:extLst>
        </c:ser>
        <c:dLbls>
          <c:showLegendKey val="0"/>
          <c:showVal val="0"/>
          <c:showCatName val="0"/>
          <c:showSerName val="0"/>
          <c:showPercent val="0"/>
          <c:showBubbleSize val="0"/>
        </c:dLbls>
        <c:smooth val="0"/>
        <c:axId val="1424912928"/>
        <c:axId val="1424917248"/>
      </c:lineChart>
      <c:catAx>
        <c:axId val="142491292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917248"/>
        <c:crosses val="autoZero"/>
        <c:auto val="1"/>
        <c:lblAlgn val="ctr"/>
        <c:lblOffset val="100"/>
        <c:noMultiLvlLbl val="0"/>
      </c:catAx>
      <c:valAx>
        <c:axId val="1424917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9129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D81A67-A27B-4083-940C-241E42A8E894}"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0D86D-1409-43B0-8811-9A559436DAB5}" type="slidenum">
              <a:rPr lang="en-US" smtClean="0"/>
              <a:t>‹#›</a:t>
            </a:fld>
            <a:endParaRPr lang="en-US"/>
          </a:p>
        </p:txBody>
      </p:sp>
    </p:spTree>
    <p:extLst>
      <p:ext uri="{BB962C8B-B14F-4D97-AF65-F5344CB8AC3E}">
        <p14:creationId xmlns:p14="http://schemas.microsoft.com/office/powerpoint/2010/main" val="3991755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a:t>
            </a:fld>
            <a:endParaRPr lang="en-US"/>
          </a:p>
        </p:txBody>
      </p:sp>
    </p:spTree>
    <p:extLst>
      <p:ext uri="{BB962C8B-B14F-4D97-AF65-F5344CB8AC3E}">
        <p14:creationId xmlns:p14="http://schemas.microsoft.com/office/powerpoint/2010/main" val="669653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Современные процессоры увеличивают производительность не за счёт роста частоты, а за счёт </a:t>
            </a:r>
            <a:r>
              <a:rPr lang="ru-RU" b="1" dirty="0" err="1"/>
              <a:t>многоядерности</a:t>
            </a:r>
            <a:r>
              <a:rPr lang="ru-RU" b="1" dirty="0"/>
              <a:t> и векторных инструкций</a:t>
            </a:r>
            <a:r>
              <a:rPr lang="ru-RU" dirty="0"/>
              <a:t>. Поэтому для эффективного использования аппаратных ресурсов программы должны уметь </a:t>
            </a:r>
            <a:r>
              <a:rPr lang="ru-RU" b="1" dirty="0"/>
              <a:t>выполнять вычисления параллельно</a:t>
            </a:r>
            <a:r>
              <a:rPr lang="ru-RU" dirty="0"/>
              <a:t>.</a:t>
            </a:r>
          </a:p>
          <a:p>
            <a:r>
              <a:rPr lang="ru-RU" dirty="0"/>
              <a:t>Начиная с </a:t>
            </a:r>
            <a:r>
              <a:rPr lang="ru-RU" b="1" dirty="0"/>
              <a:t>C++17</a:t>
            </a:r>
            <a:r>
              <a:rPr lang="ru-RU" dirty="0"/>
              <a:t>, стандартная библиотека предоставляет </a:t>
            </a:r>
            <a:r>
              <a:rPr lang="ru-RU" b="1" dirty="0"/>
              <a:t>параллельные версии многих алгоритмов</a:t>
            </a:r>
            <a:r>
              <a:rPr lang="ru-RU" dirty="0"/>
              <a:t>, которые позволяют относительно легко распараллеливать вычисления.</a:t>
            </a:r>
          </a:p>
          <a:p>
            <a:endParaRPr lang="ru-RU" dirty="0"/>
          </a:p>
          <a:p>
            <a:r>
              <a:rPr lang="ru-RU" dirty="0"/>
              <a:t>Однако важно помнить, что </a:t>
            </a:r>
            <a:r>
              <a:rPr lang="ru-RU" b="1" dirty="0"/>
              <a:t>параллельность сама по себе не гарантирует ускорение</a:t>
            </a:r>
            <a:r>
              <a:rPr lang="ru-RU" dirty="0"/>
              <a:t>. Производительность зависит от множества факторов: структуры алгоритма, распределения работы между потоками, а также особенностей работы памяти и кешей.</a:t>
            </a:r>
          </a:p>
          <a:p>
            <a:endParaRPr lang="ru-RU" dirty="0"/>
          </a:p>
          <a:p>
            <a:r>
              <a:rPr lang="ru-RU" dirty="0"/>
              <a:t>В этом разделе мы рассмотрим, </a:t>
            </a:r>
            <a:r>
              <a:rPr lang="ru-RU" b="1" dirty="0"/>
              <a:t>как использовать параллельные алгоритмы</a:t>
            </a:r>
            <a:r>
              <a:rPr lang="ru-RU" dirty="0"/>
              <a:t>, а также обсудим </a:t>
            </a:r>
            <a:r>
              <a:rPr lang="ru-RU" b="1" dirty="0"/>
              <a:t>какие проблемы могут возникать и как оптимизировать параллельные программы</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2</a:t>
            </a:fld>
            <a:endParaRPr lang="en-US"/>
          </a:p>
        </p:txBody>
      </p:sp>
    </p:spTree>
    <p:extLst>
      <p:ext uri="{BB962C8B-B14F-4D97-AF65-F5344CB8AC3E}">
        <p14:creationId xmlns:p14="http://schemas.microsoft.com/office/powerpoint/2010/main" val="1742395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показана последовательная функция, которая генерирует матрицу случайных чисел.</a:t>
            </a:r>
            <a:br>
              <a:rPr lang="ru-RU" dirty="0"/>
            </a:br>
            <a:r>
              <a:rPr lang="ru-RU" dirty="0"/>
              <a:t>Сначала создаётся матрица нужного размера, затем инициализируется генератор случайных чисел и распределение.</a:t>
            </a:r>
          </a:p>
          <a:p>
            <a:endParaRPr lang="ru-RU" dirty="0"/>
          </a:p>
          <a:p>
            <a:r>
              <a:rPr lang="ru-RU" dirty="0"/>
              <a:t>После этого программа проходит по всем строкам матрицы и по всем элементам в строке, заполняя их случайными значениями.</a:t>
            </a:r>
          </a:p>
          <a:p>
            <a:endParaRPr lang="ru-RU" dirty="0"/>
          </a:p>
          <a:p>
            <a:r>
              <a:rPr lang="ru-RU" dirty="0"/>
              <a:t>Обратите внимание, что каждая итерация внешнего цикла работает </a:t>
            </a:r>
            <a:r>
              <a:rPr lang="ru-RU" b="1" dirty="0"/>
              <a:t>независимо от остальных</a:t>
            </a:r>
            <a:r>
              <a:rPr lang="ru-RU" dirty="0"/>
              <a:t>: строки матрицы не зависят друг от друга. Это означает, что такую задачу </a:t>
            </a:r>
            <a:r>
              <a:rPr lang="ru-RU" b="1" dirty="0"/>
              <a:t>потенциально можно распараллелить</a:t>
            </a:r>
            <a:r>
              <a:rPr lang="ru-RU" dirty="0"/>
              <a:t>, выполняя обработку разных строк одновременно.</a:t>
            </a:r>
          </a:p>
          <a:p>
            <a:endParaRPr lang="ru-RU" dirty="0"/>
          </a:p>
          <a:p>
            <a:r>
              <a:rPr lang="ru-RU" dirty="0"/>
              <a:t>На следующем слайде мы посмотрим, как можно изменить этот код, чтобы использовать </a:t>
            </a:r>
            <a:r>
              <a:rPr lang="ru-RU" b="1" dirty="0"/>
              <a:t>параллельные алгоритмы стандартной библиотеки C++</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a:t>
            </a:fld>
            <a:endParaRPr lang="en-US"/>
          </a:p>
        </p:txBody>
      </p:sp>
    </p:spTree>
    <p:extLst>
      <p:ext uri="{BB962C8B-B14F-4D97-AF65-F5344CB8AC3E}">
        <p14:creationId xmlns:p14="http://schemas.microsoft.com/office/powerpoint/2010/main" val="520121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вводится понятие </a:t>
            </a:r>
            <a:r>
              <a:rPr lang="ru-RU" b="1" dirty="0" err="1"/>
              <a:t>execution</a:t>
            </a:r>
            <a:r>
              <a:rPr lang="ru-RU" b="1" dirty="0"/>
              <a:t> </a:t>
            </a:r>
            <a:r>
              <a:rPr lang="ru-RU" b="1" dirty="0" err="1"/>
              <a:t>policy</a:t>
            </a:r>
            <a:r>
              <a:rPr lang="ru-RU" b="1" dirty="0"/>
              <a:t> — политики исполнения</a:t>
            </a:r>
            <a:r>
              <a:rPr lang="ru-RU" dirty="0"/>
              <a:t>.</a:t>
            </a:r>
          </a:p>
          <a:p>
            <a:r>
              <a:rPr lang="ru-RU" dirty="0"/>
              <a:t>Начиная с </a:t>
            </a:r>
            <a:r>
              <a:rPr lang="ru-RU" b="1" dirty="0"/>
              <a:t>C++17</a:t>
            </a:r>
            <a:r>
              <a:rPr lang="ru-RU" dirty="0"/>
              <a:t>, многие алгоритмы стандартной библиотеки получили возможность выполнять операции </a:t>
            </a:r>
            <a:r>
              <a:rPr lang="ru-RU" b="1" dirty="0"/>
              <a:t>не только последовательно</a:t>
            </a:r>
            <a:r>
              <a:rPr lang="ru-RU" dirty="0"/>
              <a:t>, но и </a:t>
            </a:r>
            <a:r>
              <a:rPr lang="ru-RU" b="1" dirty="0"/>
              <a:t>параллельно или с использованием SIMD-векторизации</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4</a:t>
            </a:fld>
            <a:endParaRPr lang="en-US"/>
          </a:p>
        </p:txBody>
      </p:sp>
    </p:spTree>
    <p:extLst>
      <p:ext uri="{BB962C8B-B14F-4D97-AF65-F5344CB8AC3E}">
        <p14:creationId xmlns:p14="http://schemas.microsoft.com/office/powerpoint/2010/main" val="156667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Чтобы разрешить алгоритму использовать такие оптимизации, программист передаёт </a:t>
            </a:r>
            <a:r>
              <a:rPr lang="ru-RU" b="1" dirty="0"/>
              <a:t>политику исполнения первым параметром</a:t>
            </a:r>
            <a:r>
              <a:rPr lang="ru-RU" dirty="0"/>
              <a:t>.</a:t>
            </a:r>
          </a:p>
          <a:p>
            <a:r>
              <a:rPr lang="ru-RU" dirty="0"/>
              <a:t>Например, если мы используем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dirty="0"/>
              <a:t>, мы сообщаем библиотеке, что итерации алгоритма можно выполнять </a:t>
            </a:r>
            <a:r>
              <a:rPr lang="ru-RU" b="1" dirty="0"/>
              <a:t>параллельно в нескольких потоках</a:t>
            </a:r>
            <a:r>
              <a:rPr lang="ru-RU" dirty="0"/>
              <a:t>.</a:t>
            </a:r>
          </a:p>
          <a:p>
            <a:r>
              <a:rPr lang="ru-RU" dirty="0"/>
              <a:t>Важно понимать, что политика исполнения </a:t>
            </a:r>
            <a:r>
              <a:rPr lang="ru-RU" b="1" dirty="0"/>
              <a:t>не гарантирует</a:t>
            </a:r>
            <a:r>
              <a:rPr lang="ru-RU" dirty="0"/>
              <a:t> параллельное выполнение.</a:t>
            </a:r>
            <a:r>
              <a:rPr lang="en-US" dirty="0"/>
              <a:t> </a:t>
            </a:r>
            <a:r>
              <a:rPr lang="ru-RU" dirty="0"/>
              <a:t>Она лишь </a:t>
            </a:r>
            <a:r>
              <a:rPr lang="ru-RU" b="1" dirty="0"/>
              <a:t>разрешает библиотеке</a:t>
            </a:r>
            <a:r>
              <a:rPr lang="ru-RU" dirty="0"/>
              <a:t> использовать соответствующую стратегию, если это возможно.</a:t>
            </a:r>
            <a:endParaRPr lang="en-US" dirty="0"/>
          </a:p>
          <a:p>
            <a:endParaRPr lang="ru-RU" dirty="0"/>
          </a:p>
          <a:p>
            <a:r>
              <a:rPr lang="ru-RU" dirty="0"/>
              <a:t>Это позволяет использовать знакомые алгоритмы стандартной библиотеки, но потенциально получать </a:t>
            </a:r>
            <a:r>
              <a:rPr lang="ru-RU" b="1" dirty="0"/>
              <a:t>значительное ускорение на многоядерных процессорах</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5</a:t>
            </a:fld>
            <a:endParaRPr lang="en-US"/>
          </a:p>
        </p:txBody>
      </p:sp>
    </p:spTree>
    <p:extLst>
      <p:ext uri="{BB962C8B-B14F-4D97-AF65-F5344CB8AC3E}">
        <p14:creationId xmlns:p14="http://schemas.microsoft.com/office/powerpoint/2010/main" val="4177056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показана параллельная версия той же функции генерации матрицы.</a:t>
            </a:r>
          </a:p>
          <a:p>
            <a:r>
              <a:rPr lang="ru-RU" dirty="0"/>
              <a:t>Вместо обычного цикла мы используем алгоритм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for_each</a:t>
            </a:r>
            <a:r>
              <a:rPr lang="ru-RU" dirty="0"/>
              <a:t> с политикой исполнения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dirty="0"/>
              <a:t>. Это означает, что библиотека может выполнять обработку элементов контейнера </a:t>
            </a:r>
            <a:r>
              <a:rPr lang="ru-RU" b="1" dirty="0"/>
              <a:t>в нескольких потоках одновременно</a:t>
            </a:r>
            <a:r>
              <a:rPr lang="ru-RU" dirty="0"/>
              <a:t>. В нашем случае параллельно обрабатываются строки матрицы.</a:t>
            </a:r>
          </a:p>
          <a:p>
            <a:endParaRPr lang="ru-RU" dirty="0"/>
          </a:p>
          <a:p>
            <a:r>
              <a:rPr lang="ru-RU" dirty="0"/>
              <a:t>Каждая итерация лямбда-функции генерирует одну строку. Генератор случайных чисел объявлен как </a:t>
            </a:r>
            <a:r>
              <a:rPr lang="ru-RU" sz="1200" kern="1200" dirty="0" err="1">
                <a:solidFill>
                  <a:schemeClr val="tx1"/>
                </a:solidFill>
                <a:latin typeface="+mn-lt"/>
                <a:ea typeface="+mn-ea"/>
                <a:cs typeface="+mn-cs"/>
              </a:rPr>
              <a:t>thread_local</a:t>
            </a:r>
            <a:r>
              <a:rPr lang="ru-RU" dirty="0"/>
              <a:t>, чтобы </a:t>
            </a:r>
            <a:r>
              <a:rPr lang="ru-RU" b="1" dirty="0"/>
              <a:t>у каждого потока был собственный генератор</a:t>
            </a:r>
            <a:r>
              <a:rPr lang="ru-RU" dirty="0"/>
              <a:t> и не возникало гонок данных.</a:t>
            </a:r>
          </a:p>
          <a:p>
            <a:endParaRPr lang="ru-RU" dirty="0"/>
          </a:p>
          <a:p>
            <a:r>
              <a:rPr lang="ru-RU" dirty="0"/>
              <a:t>Внизу приведён результат измерения времени выполнения. В данном эксперименте последовательная версия выполняется примерно за </a:t>
            </a:r>
            <a:r>
              <a:rPr lang="ru-RU" b="1" dirty="0"/>
              <a:t>3.4 секунды</a:t>
            </a:r>
            <a:r>
              <a:rPr lang="ru-RU" dirty="0"/>
              <a:t>, а параллельная — примерно за </a:t>
            </a:r>
            <a:r>
              <a:rPr lang="ru-RU" b="1" dirty="0"/>
              <a:t>0.48 секунды</a:t>
            </a:r>
            <a:r>
              <a:rPr lang="ru-RU" dirty="0"/>
              <a:t>.</a:t>
            </a:r>
          </a:p>
          <a:p>
            <a:endParaRPr lang="ru-RU" dirty="0"/>
          </a:p>
          <a:p>
            <a:r>
              <a:rPr lang="ru-RU" dirty="0"/>
              <a:t>Таким образом, благодаря тому, что строки матрицы генерируются независимо друг от друга, задача хорошо распараллеливается и мы получаем </a:t>
            </a:r>
            <a:r>
              <a:rPr lang="ru-RU" b="1" dirty="0"/>
              <a:t>значительное ускорение</a:t>
            </a:r>
            <a:r>
              <a:rPr lang="ru-RU" dirty="0"/>
              <a:t>. При этом изменения в коде минимальны — мы фактически просто добавили политику исполнения к стандартному алгоритму.</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6</a:t>
            </a:fld>
            <a:endParaRPr lang="en-US"/>
          </a:p>
        </p:txBody>
      </p:sp>
    </p:spTree>
    <p:extLst>
      <p:ext uri="{BB962C8B-B14F-4D97-AF65-F5344CB8AC3E}">
        <p14:creationId xmlns:p14="http://schemas.microsoft.com/office/powerpoint/2010/main" val="178608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стандартной библиотеке C++ определены четыре политики исполнения.</a:t>
            </a:r>
            <a:endParaRPr lang="en-US" dirty="0"/>
          </a:p>
          <a:p>
            <a:endParaRPr lang="ru-RU" dirty="0"/>
          </a:p>
          <a:p>
            <a:r>
              <a:rPr lang="ru-RU" dirty="0"/>
              <a:t>Политика </a:t>
            </a:r>
            <a:r>
              <a:rPr lang="ru-RU" sz="1200" kern="1200" dirty="0" err="1">
                <a:solidFill>
                  <a:schemeClr val="tx1"/>
                </a:solidFill>
                <a:latin typeface="+mn-lt"/>
                <a:ea typeface="+mn-ea"/>
                <a:cs typeface="+mn-cs"/>
              </a:rPr>
              <a:t>seq</a:t>
            </a:r>
            <a:r>
              <a:rPr lang="ru-RU" dirty="0"/>
              <a:t> означает обычное </a:t>
            </a:r>
            <a:r>
              <a:rPr lang="ru-RU" b="1" dirty="0"/>
              <a:t>последовательное выполнение</a:t>
            </a:r>
            <a:r>
              <a:rPr lang="ru-RU" dirty="0"/>
              <a:t> алгоритма в одном потоке.</a:t>
            </a:r>
            <a:endParaRPr lang="en-US" dirty="0"/>
          </a:p>
          <a:p>
            <a:endParaRPr lang="ru-RU" dirty="0"/>
          </a:p>
          <a:p>
            <a:r>
              <a:rPr lang="ru-RU" dirty="0"/>
              <a:t>Политика </a:t>
            </a:r>
            <a:r>
              <a:rPr lang="ru-RU" sz="1200" kern="1200" dirty="0" err="1">
                <a:solidFill>
                  <a:schemeClr val="tx1"/>
                </a:solidFill>
                <a:latin typeface="+mn-lt"/>
                <a:ea typeface="+mn-ea"/>
                <a:cs typeface="+mn-cs"/>
              </a:rPr>
              <a:t>par</a:t>
            </a:r>
            <a:r>
              <a:rPr lang="ru-RU" dirty="0"/>
              <a:t> разрешает библиотеке выполнять итерации </a:t>
            </a:r>
            <a:r>
              <a:rPr lang="ru-RU" b="1" dirty="0"/>
              <a:t>параллельно в нескольких потоках</a:t>
            </a:r>
            <a:r>
              <a:rPr lang="ru-RU" dirty="0"/>
              <a:t>. Это самый часто используемый вариант, когда мы хотим задействовать несколько ядер процессора.</a:t>
            </a:r>
            <a:endParaRPr lang="en-US" dirty="0"/>
          </a:p>
          <a:p>
            <a:endParaRPr lang="ru-RU" dirty="0"/>
          </a:p>
          <a:p>
            <a:r>
              <a:rPr lang="ru-RU" dirty="0"/>
              <a:t>Политика </a:t>
            </a:r>
            <a:r>
              <a:rPr lang="ru-RU" sz="1200" kern="1200" dirty="0" err="1">
                <a:solidFill>
                  <a:schemeClr val="tx1"/>
                </a:solidFill>
                <a:latin typeface="+mn-lt"/>
                <a:ea typeface="+mn-ea"/>
                <a:cs typeface="+mn-cs"/>
              </a:rPr>
              <a:t>unseq</a:t>
            </a:r>
            <a:r>
              <a:rPr lang="ru-RU" dirty="0"/>
              <a:t> разрешает </a:t>
            </a:r>
            <a:r>
              <a:rPr lang="ru-RU" b="1" dirty="0"/>
              <a:t>неупорядоченное выполнение</a:t>
            </a:r>
            <a:r>
              <a:rPr lang="ru-RU" dirty="0"/>
              <a:t>, что позволяет компилятору применять </a:t>
            </a:r>
            <a:r>
              <a:rPr lang="ru-RU" b="1" dirty="0"/>
              <a:t>SIMD-векторизацию</a:t>
            </a:r>
            <a:r>
              <a:rPr lang="ru-RU" dirty="0"/>
              <a:t>, то есть выполнять несколько операций одной инструкцией процессора.</a:t>
            </a:r>
          </a:p>
          <a:p>
            <a:endParaRPr lang="en-US" dirty="0"/>
          </a:p>
          <a:p>
            <a:r>
              <a:rPr lang="ru-RU" dirty="0"/>
              <a:t>Наконец, </a:t>
            </a:r>
            <a:r>
              <a:rPr lang="ru-RU" sz="1200" kern="1200" dirty="0" err="1">
                <a:solidFill>
                  <a:schemeClr val="tx1"/>
                </a:solidFill>
                <a:latin typeface="+mn-lt"/>
                <a:ea typeface="+mn-ea"/>
                <a:cs typeface="+mn-cs"/>
              </a:rPr>
              <a:t>par_unseq</a:t>
            </a:r>
            <a:r>
              <a:rPr lang="ru-RU" dirty="0"/>
              <a:t> объединяет оба подхода — алгоритм может быть </a:t>
            </a:r>
            <a:r>
              <a:rPr lang="ru-RU" b="1" dirty="0"/>
              <a:t>и распараллелен между потоками, и векторизован внутри потоков</a:t>
            </a:r>
            <a:r>
              <a:rPr lang="ru-RU" dirty="0"/>
              <a:t>.</a:t>
            </a:r>
            <a:endParaRPr lang="en-US" dirty="0"/>
          </a:p>
          <a:p>
            <a:endParaRPr lang="ru-RU" dirty="0"/>
          </a:p>
          <a:p>
            <a:r>
              <a:rPr lang="ru-RU" dirty="0"/>
              <a:t>Важно помнить, что политика исполнения </a:t>
            </a:r>
            <a:r>
              <a:rPr lang="ru-RU" b="1" dirty="0"/>
              <a:t>не заставляет библиотеку использовать параллелизм или SIMD</a:t>
            </a:r>
            <a:r>
              <a:rPr lang="ru-RU" dirty="0"/>
              <a:t>, а лишь </a:t>
            </a:r>
            <a:r>
              <a:rPr lang="ru-RU" b="1" dirty="0"/>
              <a:t>разрешает ей это делать</a:t>
            </a:r>
            <a:r>
              <a:rPr lang="ru-RU" dirty="0"/>
              <a:t>, если реализация считает это выгодным.</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7</a:t>
            </a:fld>
            <a:endParaRPr lang="en-US"/>
          </a:p>
        </p:txBody>
      </p:sp>
    </p:spTree>
    <p:extLst>
      <p:ext uri="{BB962C8B-B14F-4D97-AF65-F5344CB8AC3E}">
        <p14:creationId xmlns:p14="http://schemas.microsoft.com/office/powerpoint/2010/main" val="1484214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При использовании параллельных политик исполнения важно учитывать несколько ограничений.</a:t>
            </a:r>
            <a:endParaRPr lang="en-US" dirty="0"/>
          </a:p>
          <a:p>
            <a:endParaRPr lang="ru-RU" dirty="0"/>
          </a:p>
          <a:p>
            <a:r>
              <a:rPr lang="ru-RU" dirty="0"/>
              <a:t>Во-первых, </a:t>
            </a:r>
            <a:r>
              <a:rPr lang="ru-RU" b="1" dirty="0"/>
              <a:t>порядок выполнения итераций не определён</a:t>
            </a:r>
            <a:r>
              <a:rPr lang="ru-RU" dirty="0"/>
              <a:t>. Разные элементы контейнера могут обрабатываться в любом порядке и этот порядок может меняться от запуска к запуску.</a:t>
            </a:r>
            <a:endParaRPr lang="en-US" dirty="0"/>
          </a:p>
          <a:p>
            <a:endParaRPr lang="ru-RU" dirty="0"/>
          </a:p>
          <a:p>
            <a:r>
              <a:rPr lang="ru-RU" dirty="0"/>
              <a:t>Во-вторых, стандарт накладывает ограничения на </a:t>
            </a:r>
            <a:r>
              <a:rPr lang="ru-RU" b="1" dirty="0"/>
              <a:t>обработку исключений</a:t>
            </a:r>
            <a:r>
              <a:rPr lang="ru-RU" dirty="0"/>
              <a:t>. Если в функции, переданной алгоритму, возникает исключение, реализация может завершить программу через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terminate</a:t>
            </a:r>
            <a:r>
              <a:rPr lang="ru-RU" dirty="0"/>
              <a:t>.</a:t>
            </a:r>
            <a:endParaRPr lang="en-US" dirty="0"/>
          </a:p>
          <a:p>
            <a:endParaRPr lang="ru-RU" dirty="0"/>
          </a:p>
          <a:p>
            <a:r>
              <a:rPr lang="ru-RU" dirty="0"/>
              <a:t>Также нужно помнить, что функция может выполняться </a:t>
            </a:r>
            <a:r>
              <a:rPr lang="ru-RU" b="1" dirty="0"/>
              <a:t>одновременно в нескольких потоках</a:t>
            </a:r>
            <a:r>
              <a:rPr lang="ru-RU" dirty="0"/>
              <a:t>, поэтому доступ к общим данным должен быть корректно синхронизирован, иначе возникает </a:t>
            </a:r>
            <a:r>
              <a:rPr lang="ru-RU" b="1" dirty="0" err="1"/>
              <a:t>data</a:t>
            </a:r>
            <a:r>
              <a:rPr lang="ru-RU" b="1" dirty="0"/>
              <a:t> </a:t>
            </a:r>
            <a:r>
              <a:rPr lang="ru-RU" b="1" dirty="0" err="1"/>
              <a:t>race</a:t>
            </a:r>
            <a:r>
              <a:rPr lang="ru-RU" dirty="0"/>
              <a:t>.</a:t>
            </a:r>
            <a:endParaRPr lang="en-US" dirty="0"/>
          </a:p>
          <a:p>
            <a:endParaRPr lang="ru-RU" dirty="0"/>
          </a:p>
          <a:p>
            <a:r>
              <a:rPr lang="ru-RU" dirty="0"/>
              <a:t>При необходимости можно использовать </a:t>
            </a:r>
            <a:r>
              <a:rPr lang="ru-RU" b="1" dirty="0"/>
              <a:t>мьютексы или атомарные операции</a:t>
            </a:r>
            <a:r>
              <a:rPr lang="ru-RU" dirty="0"/>
              <a:t>, но важно, чтобы блокировка и её освобождение происходили внутри одного вызова функции.</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8</a:t>
            </a:fld>
            <a:endParaRPr lang="en-US"/>
          </a:p>
        </p:txBody>
      </p:sp>
    </p:spTree>
    <p:extLst>
      <p:ext uri="{BB962C8B-B14F-4D97-AF65-F5344CB8AC3E}">
        <p14:creationId xmlns:p14="http://schemas.microsoft.com/office/powerpoint/2010/main" val="384648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Политики </a:t>
            </a:r>
            <a:r>
              <a:rPr lang="ru-RU" sz="1200" kern="1200" dirty="0" err="1">
                <a:solidFill>
                  <a:schemeClr val="tx1"/>
                </a:solidFill>
                <a:latin typeface="+mn-lt"/>
                <a:ea typeface="+mn-ea"/>
                <a:cs typeface="+mn-cs"/>
              </a:rPr>
              <a:t>unseq</a:t>
            </a:r>
            <a:r>
              <a:rPr lang="ru-RU" dirty="0"/>
              <a:t> и </a:t>
            </a:r>
            <a:r>
              <a:rPr lang="ru-RU" sz="1200" kern="1200" dirty="0" err="1">
                <a:solidFill>
                  <a:schemeClr val="tx1"/>
                </a:solidFill>
                <a:latin typeface="+mn-lt"/>
                <a:ea typeface="+mn-ea"/>
                <a:cs typeface="+mn-cs"/>
              </a:rPr>
              <a:t>par_unseq</a:t>
            </a:r>
            <a:r>
              <a:rPr lang="ru-RU" dirty="0"/>
              <a:t> имеют дополнительные ограничения по сравнению с обычной параллельной политикой.</a:t>
            </a:r>
            <a:endParaRPr lang="en-US" dirty="0"/>
          </a:p>
          <a:p>
            <a:endParaRPr lang="ru-RU" dirty="0"/>
          </a:p>
          <a:p>
            <a:r>
              <a:rPr lang="ru-RU" dirty="0"/>
              <a:t>Основная идея здесь — разрешить </a:t>
            </a:r>
            <a:r>
              <a:rPr lang="ru-RU" b="1" dirty="0"/>
              <a:t>агрессивную оптимизацию, в первую очередь SIMD-векторизацию</a:t>
            </a:r>
            <a:r>
              <a:rPr lang="ru-RU" dirty="0"/>
              <a:t>. Это означает, что несколько операций могут выполняться одной инструкцией процессора.</a:t>
            </a:r>
          </a:p>
          <a:p>
            <a:r>
              <a:rPr lang="ru-RU" dirty="0"/>
              <a:t>Из-за этого порядок выполнения операций </a:t>
            </a:r>
            <a:r>
              <a:rPr lang="ru-RU" b="1" dirty="0"/>
              <a:t>не определён</a:t>
            </a:r>
            <a:r>
              <a:rPr lang="ru-RU" dirty="0"/>
              <a:t>, и на него нельзя полагаться. Каждая итерация должна быть </a:t>
            </a:r>
            <a:r>
              <a:rPr lang="ru-RU" b="1" dirty="0"/>
              <a:t>полностью независимой</a:t>
            </a:r>
            <a:r>
              <a:rPr lang="ru-RU" dirty="0"/>
              <a:t> от остальных.</a:t>
            </a:r>
          </a:p>
          <a:p>
            <a:r>
              <a:rPr lang="ru-RU" dirty="0"/>
              <a:t>Также здесь запрещены операции, которые могут блокировать поток или ожидать ресурс — например использование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mutex</a:t>
            </a:r>
            <a:r>
              <a:rPr lang="ru-RU" dirty="0"/>
              <a:t>, </a:t>
            </a:r>
            <a:r>
              <a:rPr lang="ru-RU" sz="1200" kern="1200" dirty="0" err="1">
                <a:solidFill>
                  <a:schemeClr val="tx1"/>
                </a:solidFill>
                <a:latin typeface="+mn-lt"/>
                <a:ea typeface="+mn-ea"/>
                <a:cs typeface="+mn-cs"/>
              </a:rPr>
              <a:t>condition_variable</a:t>
            </a:r>
            <a:r>
              <a:rPr lang="ru-RU" dirty="0"/>
              <a:t> или других механизмов синхронизации. Такие операции несовместимы с векторизацией.</a:t>
            </a:r>
            <a:endParaRPr lang="en-US" dirty="0"/>
          </a:p>
          <a:p>
            <a:endParaRPr lang="ru-RU" dirty="0"/>
          </a:p>
          <a:p>
            <a:r>
              <a:rPr lang="ru-RU" dirty="0"/>
              <a:t>Поэтому функции, используемые с </a:t>
            </a:r>
            <a:r>
              <a:rPr lang="ru-RU" sz="1200" kern="1200" dirty="0" err="1">
                <a:solidFill>
                  <a:schemeClr val="tx1"/>
                </a:solidFill>
                <a:latin typeface="+mn-lt"/>
                <a:ea typeface="+mn-ea"/>
                <a:cs typeface="+mn-cs"/>
              </a:rPr>
              <a:t>unseq</a:t>
            </a:r>
            <a:r>
              <a:rPr lang="ru-RU" dirty="0"/>
              <a:t>-политиками, должны быть </a:t>
            </a:r>
            <a:r>
              <a:rPr lang="ru-RU" b="1" dirty="0"/>
              <a:t>простыми, независимыми и без побочных эффектов</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9</a:t>
            </a:fld>
            <a:endParaRPr lang="en-US"/>
          </a:p>
        </p:txBody>
      </p:sp>
    </p:spTree>
    <p:extLst>
      <p:ext uri="{BB962C8B-B14F-4D97-AF65-F5344CB8AC3E}">
        <p14:creationId xmlns:p14="http://schemas.microsoft.com/office/powerpoint/2010/main" val="442690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10</a:t>
            </a:fld>
            <a:endParaRPr lang="en-US"/>
          </a:p>
        </p:txBody>
      </p:sp>
    </p:spTree>
    <p:extLst>
      <p:ext uri="{BB962C8B-B14F-4D97-AF65-F5344CB8AC3E}">
        <p14:creationId xmlns:p14="http://schemas.microsoft.com/office/powerpoint/2010/main" val="3527445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предыдущих слайдах мы увидели пример, где параллельная версия программы работает значительно быстрее. Однако важно понимать, что так происходит далеко не всегда.</a:t>
            </a:r>
            <a:endParaRPr lang="en-US" dirty="0"/>
          </a:p>
          <a:p>
            <a:endParaRPr lang="ru-RU" dirty="0"/>
          </a:p>
          <a:p>
            <a:r>
              <a:rPr lang="ru-RU" dirty="0"/>
              <a:t>Параллельность сама по себе </a:t>
            </a:r>
            <a:r>
              <a:rPr lang="ru-RU" b="1" dirty="0"/>
              <a:t>не гарантирует ускорение</a:t>
            </a:r>
            <a:r>
              <a:rPr lang="ru-RU" dirty="0"/>
              <a:t>. У распараллеливания есть собственные накладные расходы — например создание задач, распределение работы между потоками и синхронизация.</a:t>
            </a:r>
            <a:endParaRPr lang="en-US" dirty="0"/>
          </a:p>
          <a:p>
            <a:endParaRPr lang="ru-RU" dirty="0"/>
          </a:p>
          <a:p>
            <a:r>
              <a:rPr lang="ru-RU" dirty="0"/>
              <a:t>Кроме того, производительность часто ограничена не вычислениями, а </a:t>
            </a:r>
            <a:r>
              <a:rPr lang="ru-RU" b="1" dirty="0"/>
              <a:t>скоростью доступа к памяти</a:t>
            </a:r>
            <a:r>
              <a:rPr lang="ru-RU" dirty="0"/>
              <a:t>. Если несколько потоков активно обращаются к памяти, они могут начать конкурировать за пропускную способность.</a:t>
            </a:r>
            <a:endParaRPr lang="en-US" dirty="0"/>
          </a:p>
          <a:p>
            <a:endParaRPr lang="ru-RU" dirty="0"/>
          </a:p>
          <a:p>
            <a:r>
              <a:rPr lang="ru-RU" dirty="0"/>
              <a:t>Также проблемы могут возникать из-за </a:t>
            </a:r>
            <a:r>
              <a:rPr lang="ru-RU" b="1" dirty="0"/>
              <a:t>неравномерного распределения работы между потоками</a:t>
            </a:r>
            <a:r>
              <a:rPr lang="ru-RU" dirty="0"/>
              <a:t> или из-за неэффективного использования кешей процессора.</a:t>
            </a:r>
            <a:endParaRPr lang="en-US" dirty="0"/>
          </a:p>
          <a:p>
            <a:endParaRPr lang="ru-RU" dirty="0"/>
          </a:p>
          <a:p>
            <a:r>
              <a:rPr lang="ru-RU" dirty="0"/>
              <a:t>Поэтому при разработке параллельных программ важно не только распараллелить вычисления, но и понимать </a:t>
            </a:r>
            <a:r>
              <a:rPr lang="ru-RU" b="1" dirty="0"/>
              <a:t>какие факторы могут ограничивать производительность</a:t>
            </a:r>
            <a:r>
              <a:rPr lang="ru-RU" dirty="0"/>
              <a:t>. Именно о таких проблемах мы поговорим дальше.</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11</a:t>
            </a:fld>
            <a:endParaRPr lang="en-US"/>
          </a:p>
        </p:txBody>
      </p:sp>
    </p:spTree>
    <p:extLst>
      <p:ext uri="{BB962C8B-B14F-4D97-AF65-F5344CB8AC3E}">
        <p14:creationId xmlns:p14="http://schemas.microsoft.com/office/powerpoint/2010/main" val="522707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Существует несколько причин, по которым параллельная программа может не дать ожидаемого ускорения.</a:t>
            </a:r>
            <a:endParaRPr lang="en-US" dirty="0"/>
          </a:p>
          <a:p>
            <a:endParaRPr lang="ru-RU" dirty="0"/>
          </a:p>
          <a:p>
            <a:r>
              <a:rPr lang="ru-RU" dirty="0"/>
              <a:t>Во-первых, задача может быть </a:t>
            </a:r>
            <a:r>
              <a:rPr lang="ru-RU" b="1" dirty="0"/>
              <a:t>слишком маленькой</a:t>
            </a:r>
            <a:r>
              <a:rPr lang="ru-RU" dirty="0"/>
              <a:t>, и накладные расходы на распараллеливание окажутся больше, чем выигрыш от использования нескольких потоков.</a:t>
            </a:r>
            <a:endParaRPr lang="en-US" dirty="0"/>
          </a:p>
          <a:p>
            <a:endParaRPr lang="ru-RU" dirty="0"/>
          </a:p>
          <a:p>
            <a:r>
              <a:rPr lang="ru-RU" dirty="0"/>
              <a:t>Во-вторых, потоки могут </a:t>
            </a:r>
            <a:r>
              <a:rPr lang="ru-RU" b="1" dirty="0"/>
              <a:t>конкурировать за общий ресурс</a:t>
            </a:r>
            <a:r>
              <a:rPr lang="ru-RU" dirty="0"/>
              <a:t> — например за мьютекс, атомарную переменную или структуру данных. В этом случае значительная часть времени тратится на ожидание.</a:t>
            </a:r>
            <a:endParaRPr lang="en-US" dirty="0"/>
          </a:p>
          <a:p>
            <a:endParaRPr lang="ru-RU" dirty="0"/>
          </a:p>
          <a:p>
            <a:r>
              <a:rPr lang="ru-RU" dirty="0"/>
              <a:t>Также производительность может ограничиваться </a:t>
            </a:r>
            <a:r>
              <a:rPr lang="ru-RU" b="1" dirty="0"/>
              <a:t>пропускной способностью памяти</a:t>
            </a:r>
            <a:r>
              <a:rPr lang="ru-RU" dirty="0"/>
              <a:t>. Если программа активно читает и записывает данные, несколько потоков могут начать конкурировать за доступ к памяти.</a:t>
            </a:r>
            <a:endParaRPr lang="en-US" dirty="0"/>
          </a:p>
          <a:p>
            <a:endParaRPr lang="ru-RU" dirty="0"/>
          </a:p>
          <a:p>
            <a:r>
              <a:rPr lang="ru-RU" dirty="0"/>
              <a:t>Ещё одна важная причина — </a:t>
            </a:r>
            <a:r>
              <a:rPr lang="ru-RU" b="1" dirty="0"/>
              <a:t>плохая локальность данных</a:t>
            </a:r>
            <a:r>
              <a:rPr lang="ru-RU" dirty="0"/>
              <a:t> и проблемы с кешами, например </a:t>
            </a:r>
            <a:r>
              <a:rPr lang="ru-RU" b="1" dirty="0" err="1"/>
              <a:t>false</a:t>
            </a:r>
            <a:r>
              <a:rPr lang="ru-RU" b="1" dirty="0"/>
              <a:t> </a:t>
            </a:r>
            <a:r>
              <a:rPr lang="ru-RU" b="1" dirty="0" err="1"/>
              <a:t>sharing</a:t>
            </a:r>
            <a:r>
              <a:rPr lang="ru-RU" dirty="0"/>
              <a:t>.</a:t>
            </a:r>
            <a:endParaRPr lang="en-US" dirty="0"/>
          </a:p>
          <a:p>
            <a:endParaRPr lang="ru-RU" dirty="0"/>
          </a:p>
          <a:p>
            <a:r>
              <a:rPr lang="ru-RU" dirty="0"/>
              <a:t>Кроме того, ускорение может снижаться из-за </a:t>
            </a:r>
            <a:r>
              <a:rPr lang="ru-RU" b="1" dirty="0"/>
              <a:t>неравномерного распределения работы между потоками</a:t>
            </a:r>
            <a:r>
              <a:rPr lang="ru-RU" dirty="0"/>
              <a:t>, особенностей архитектуры памяти, например </a:t>
            </a:r>
            <a:r>
              <a:rPr lang="ru-RU" b="1" dirty="0"/>
              <a:t>NUMA</a:t>
            </a:r>
            <a:r>
              <a:rPr lang="ru-RU" dirty="0"/>
              <a:t>, или из-за создания слишком большого числа потоков, что приводит к </a:t>
            </a:r>
            <a:r>
              <a:rPr lang="ru-RU" b="1" dirty="0" err="1"/>
              <a:t>oversubscription</a:t>
            </a:r>
            <a:r>
              <a:rPr lang="ru-RU" dirty="0"/>
              <a:t>.</a:t>
            </a:r>
            <a:endParaRPr lang="en-US" dirty="0"/>
          </a:p>
          <a:p>
            <a:endParaRPr lang="ru-RU" dirty="0"/>
          </a:p>
          <a:p>
            <a:r>
              <a:rPr lang="ru-RU" dirty="0"/>
              <a:t>Далее мы подробнее рассмотрим некоторые из этих проблем.</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12</a:t>
            </a:fld>
            <a:endParaRPr lang="en-US"/>
          </a:p>
        </p:txBody>
      </p:sp>
    </p:spTree>
    <p:extLst>
      <p:ext uri="{BB962C8B-B14F-4D97-AF65-F5344CB8AC3E}">
        <p14:creationId xmlns:p14="http://schemas.microsoft.com/office/powerpoint/2010/main" val="3562499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примере видно, что параллельная версия может работать </a:t>
            </a:r>
            <a:r>
              <a:rPr lang="ru-RU" b="1" dirty="0"/>
              <a:t>значительно медленнее</a:t>
            </a:r>
            <a:r>
              <a:rPr lang="ru-RU" dirty="0"/>
              <a:t>, если задача слишком маленькая.</a:t>
            </a:r>
          </a:p>
          <a:p>
            <a:endParaRPr lang="ru-RU" dirty="0"/>
          </a:p>
          <a:p>
            <a:r>
              <a:rPr lang="ru-RU" dirty="0"/>
              <a:t>Внутри каждой итерации выполняется очень простая операция — умножение элементов массива на 2. Само вычисление занимает очень мало времени. Но при использовании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dirty="0"/>
              <a:t> библиотека должна разбить работу на задачи, распределить их между потоками и синхронизировать завершение. Эти накладные расходы оказываются больше самой полезной работы.</a:t>
            </a:r>
          </a:p>
          <a:p>
            <a:endParaRPr lang="ru-RU" dirty="0"/>
          </a:p>
          <a:p>
            <a:r>
              <a:rPr lang="ru-RU" dirty="0"/>
              <a:t>Это можно сравнить с бытовой ситуацией. Представьте, что нужно </a:t>
            </a:r>
            <a:r>
              <a:rPr lang="ru-RU" b="1" dirty="0"/>
              <a:t>покрасить одну скамейку</a:t>
            </a:r>
            <a:r>
              <a:rPr lang="ru-RU" dirty="0"/>
              <a:t>. Можно просто найти одного маляра по объявлению, и он быстро выполнит работу.</a:t>
            </a:r>
          </a:p>
          <a:p>
            <a:endParaRPr lang="ru-RU" dirty="0"/>
          </a:p>
          <a:p>
            <a:r>
              <a:rPr lang="ru-RU" dirty="0"/>
              <a:t>Но если вместо этого обратиться в </a:t>
            </a:r>
            <a:r>
              <a:rPr lang="ru-RU" b="1" dirty="0"/>
              <a:t>крупную строительную компанию</a:t>
            </a:r>
            <a:r>
              <a:rPr lang="ru-RU" dirty="0"/>
              <a:t>, там могут выделить целую бригаду из десяти маляров. Однако прежде чем они начнут работать, нужно оформить договор, согласовать сроки, провести инструктаж, распределить задачи. В итоге на всю эту организацию уйдёт больше времени, чем на саму покраску.</a:t>
            </a:r>
          </a:p>
          <a:p>
            <a:endParaRPr lang="ru-RU" dirty="0"/>
          </a:p>
          <a:p>
            <a:r>
              <a:rPr lang="ru-RU" dirty="0"/>
              <a:t>То же самое происходит и в параллельных программах: </a:t>
            </a:r>
            <a:r>
              <a:rPr lang="ru-RU" b="1" dirty="0"/>
              <a:t>если работа слишком маленькая, накладные расходы на распараллеливание могут полностью съесть выигрыш</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13</a:t>
            </a:fld>
            <a:endParaRPr lang="en-US"/>
          </a:p>
        </p:txBody>
      </p:sp>
    </p:spTree>
    <p:extLst>
      <p:ext uri="{BB962C8B-B14F-4D97-AF65-F5344CB8AC3E}">
        <p14:creationId xmlns:p14="http://schemas.microsoft.com/office/powerpoint/2010/main" val="2695748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примере показана другая распространённая проблема — </a:t>
            </a:r>
            <a:r>
              <a:rPr lang="ru-RU" b="1" dirty="0"/>
              <a:t>накладные расходы на распараллеливание</a:t>
            </a:r>
            <a:r>
              <a:rPr lang="ru-RU" dirty="0"/>
              <a:t>.</a:t>
            </a:r>
          </a:p>
          <a:p>
            <a:endParaRPr lang="ru-RU" dirty="0"/>
          </a:p>
          <a:p>
            <a:r>
              <a:rPr lang="ru-RU" dirty="0"/>
              <a:t>Последовательная версия просто проходит по массиву и вычисляет сумму квадратов элементов. Это очень простая и быстрая операция.</a:t>
            </a:r>
          </a:p>
          <a:p>
            <a:endParaRPr lang="ru-RU" dirty="0"/>
          </a:p>
          <a:p>
            <a:r>
              <a:rPr lang="ru-RU" dirty="0"/>
              <a:t>В параллельной версии мы создаём </a:t>
            </a:r>
            <a:r>
              <a:rPr lang="ru-RU" b="1" dirty="0"/>
              <a:t>отдельную асинхронную задачу для каждого элемента массива</a:t>
            </a:r>
            <a:r>
              <a:rPr lang="ru-RU" dirty="0"/>
              <a:t> с помощью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async</a:t>
            </a:r>
            <a:r>
              <a:rPr lang="ru-RU" dirty="0"/>
              <a:t>. Каждая задача выполняет ту же самую операцию — вычисляет </a:t>
            </a:r>
            <a:r>
              <a:rPr lang="ru-RU" sz="1200" kern="1200" dirty="0">
                <a:solidFill>
                  <a:schemeClr val="tx1"/>
                </a:solidFill>
                <a:latin typeface="+mn-lt"/>
                <a:ea typeface="+mn-ea"/>
                <a:cs typeface="+mn-cs"/>
              </a:rPr>
              <a:t>x * x</a:t>
            </a:r>
            <a:r>
              <a:rPr lang="ru-RU" dirty="0"/>
              <a:t>.</a:t>
            </a:r>
          </a:p>
          <a:p>
            <a:r>
              <a:rPr lang="ru-RU" dirty="0"/>
              <a:t>Проблема в том, что сама операция крайне дешёвая, а создание асинхронной задачи — наоборот достаточно дорогая операция. Для каждой задачи нужно создать объект </a:t>
            </a:r>
            <a:r>
              <a:rPr lang="ru-RU" sz="1200" kern="1200" dirty="0" err="1">
                <a:solidFill>
                  <a:schemeClr val="tx1"/>
                </a:solidFill>
                <a:latin typeface="+mn-lt"/>
                <a:ea typeface="+mn-ea"/>
                <a:cs typeface="+mn-cs"/>
              </a:rPr>
              <a:t>future</a:t>
            </a:r>
            <a:r>
              <a:rPr lang="ru-RU" dirty="0"/>
              <a:t>, спланировать выполнение задачи, а затем синхронизироваться при вызове </a:t>
            </a:r>
            <a:r>
              <a:rPr lang="ru-RU" sz="1200" kern="1200" dirty="0" err="1">
                <a:solidFill>
                  <a:schemeClr val="tx1"/>
                </a:solidFill>
                <a:latin typeface="+mn-lt"/>
                <a:ea typeface="+mn-ea"/>
                <a:cs typeface="+mn-cs"/>
              </a:rPr>
              <a:t>get</a:t>
            </a:r>
            <a:r>
              <a:rPr lang="ru-RU" sz="1200" kern="1200" dirty="0">
                <a:solidFill>
                  <a:schemeClr val="tx1"/>
                </a:solidFill>
                <a:latin typeface="+mn-lt"/>
                <a:ea typeface="+mn-ea"/>
                <a:cs typeface="+mn-cs"/>
              </a:rPr>
              <a:t>()</a:t>
            </a:r>
            <a:r>
              <a:rPr lang="ru-RU" dirty="0"/>
              <a:t>.</a:t>
            </a:r>
          </a:p>
          <a:p>
            <a:endParaRPr lang="ru-RU" dirty="0"/>
          </a:p>
          <a:p>
            <a:r>
              <a:rPr lang="ru-RU" dirty="0"/>
              <a:t>В результате большая часть времени тратится </a:t>
            </a:r>
            <a:r>
              <a:rPr lang="ru-RU" b="1" dirty="0"/>
              <a:t>не на вычисления, а на организацию параллельного выполнения</a:t>
            </a:r>
            <a:r>
              <a:rPr lang="ru-RU" dirty="0"/>
              <a:t>. Поэтому параллельная версия здесь оказывается примерно </a:t>
            </a:r>
            <a:r>
              <a:rPr lang="ru-RU" b="1" dirty="0"/>
              <a:t>в несколько тысяч раз медленнее</a:t>
            </a:r>
            <a:r>
              <a:rPr lang="ru-RU" dirty="0"/>
              <a:t>, чем последовательная.</a:t>
            </a:r>
          </a:p>
          <a:p>
            <a:endParaRPr lang="ru-RU" dirty="0"/>
          </a:p>
          <a:p>
            <a:r>
              <a:rPr lang="ru-RU" dirty="0"/>
              <a:t>Этот пример показывает важный принцип: </a:t>
            </a:r>
            <a:r>
              <a:rPr lang="ru-RU" b="1" dirty="0"/>
              <a:t>распараллеливать нужно достаточно крупные задачи</a:t>
            </a:r>
            <a:r>
              <a:rPr lang="ru-RU" dirty="0"/>
              <a:t>, иначе накладные расходы могут полностью перекрыть потенциальный выигрыш.</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14</a:t>
            </a:fld>
            <a:endParaRPr lang="en-US"/>
          </a:p>
        </p:txBody>
      </p:sp>
    </p:spTree>
    <p:extLst>
      <p:ext uri="{BB962C8B-B14F-4D97-AF65-F5344CB8AC3E}">
        <p14:creationId xmlns:p14="http://schemas.microsoft.com/office/powerpoint/2010/main" val="3580384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пример проблемы </a:t>
            </a:r>
            <a:r>
              <a:rPr lang="ru-RU" b="1" dirty="0" err="1"/>
              <a:t>contention</a:t>
            </a:r>
            <a:r>
              <a:rPr lang="ru-RU" dirty="0"/>
              <a:t>, то есть конкуренции потоков за общий ресурс.</a:t>
            </a:r>
          </a:p>
          <a:p>
            <a:r>
              <a:rPr lang="ru-RU" dirty="0"/>
              <a:t>Последовательная версия просто проходит по массиву и суммирует элементы. Это очень простая и быстрая операция.</a:t>
            </a:r>
          </a:p>
          <a:p>
            <a:endParaRPr lang="ru-RU" dirty="0"/>
          </a:p>
          <a:p>
            <a:r>
              <a:rPr lang="ru-RU" dirty="0"/>
              <a:t>В параллельной версии мы используем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for_each</a:t>
            </a:r>
            <a:r>
              <a:rPr lang="ru-RU" dirty="0"/>
              <a:t> с политикой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dirty="0"/>
              <a:t>, чтобы обрабатывать элементы массива в нескольких потоках. Но переменная </a:t>
            </a:r>
            <a:r>
              <a:rPr lang="ru-RU" sz="1200" kern="1200" dirty="0" err="1">
                <a:solidFill>
                  <a:schemeClr val="tx1"/>
                </a:solidFill>
                <a:latin typeface="+mn-lt"/>
                <a:ea typeface="+mn-ea"/>
                <a:cs typeface="+mn-cs"/>
              </a:rPr>
              <a:t>sum</a:t>
            </a:r>
            <a:r>
              <a:rPr lang="ru-RU" dirty="0"/>
              <a:t> общая для всех потоков, поэтому доступ к ней защищён с помощью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mutex</a:t>
            </a:r>
            <a:r>
              <a:rPr lang="ru-RU" dirty="0"/>
              <a:t>.</a:t>
            </a:r>
          </a:p>
          <a:p>
            <a:endParaRPr lang="ru-RU" dirty="0"/>
          </a:p>
          <a:p>
            <a:r>
              <a:rPr lang="ru-RU" dirty="0"/>
              <a:t>С точки зрения корректности код написан правильно. Несмотря на использование </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dirty="0"/>
              <a:t>, применять мьютекс здесь </a:t>
            </a:r>
            <a:r>
              <a:rPr lang="ru-RU" b="1" dirty="0"/>
              <a:t>безопасно</a:t>
            </a:r>
            <a:r>
              <a:rPr lang="ru-RU" dirty="0"/>
              <a:t>, потому что захват и освобождение блокировки происходят внутри одного вызова лямбда-функции — мы не выходим из функции, оставив мьютекс захваченным.</a:t>
            </a:r>
          </a:p>
          <a:p>
            <a:endParaRPr lang="ru-RU" dirty="0"/>
          </a:p>
          <a:p>
            <a:r>
              <a:rPr lang="ru-RU" dirty="0"/>
              <a:t>Кроме того, мы соблюдаем распространённую рекомендацию: </a:t>
            </a:r>
            <a:r>
              <a:rPr lang="ru-RU" b="1" dirty="0"/>
              <a:t>критическая секция должна быть как можно короче</a:t>
            </a:r>
            <a:r>
              <a:rPr lang="ru-RU" dirty="0"/>
              <a:t>. Внутри неё всего одна операция — </a:t>
            </a:r>
            <a:r>
              <a:rPr lang="ru-RU" sz="1200" kern="1200" dirty="0" err="1">
                <a:solidFill>
                  <a:schemeClr val="tx1"/>
                </a:solidFill>
                <a:latin typeface="+mn-lt"/>
                <a:ea typeface="+mn-ea"/>
                <a:cs typeface="+mn-cs"/>
              </a:rPr>
              <a:t>sum</a:t>
            </a:r>
            <a:r>
              <a:rPr lang="ru-RU" sz="1200" kern="1200" dirty="0">
                <a:solidFill>
                  <a:schemeClr val="tx1"/>
                </a:solidFill>
                <a:latin typeface="+mn-lt"/>
                <a:ea typeface="+mn-ea"/>
                <a:cs typeface="+mn-cs"/>
              </a:rPr>
              <a:t> += x</a:t>
            </a:r>
            <a:r>
              <a:rPr lang="ru-RU" dirty="0"/>
              <a:t>.</a:t>
            </a:r>
          </a:p>
          <a:p>
            <a:endParaRPr lang="ru-RU" dirty="0"/>
          </a:p>
          <a:p>
            <a:r>
              <a:rPr lang="ru-RU" dirty="0"/>
              <a:t>Однако даже в этом случае производительность оказывается очень плохой. Каждый поток на каждой итерации пытается захватить один и тот же мьютекс. В итоге потоки фактически выстраиваются в очередь, а большая часть времени тратится на операции </a:t>
            </a:r>
            <a:r>
              <a:rPr lang="ru-RU" sz="1200" kern="1200" dirty="0" err="1">
                <a:solidFill>
                  <a:schemeClr val="tx1"/>
                </a:solidFill>
                <a:latin typeface="+mn-lt"/>
                <a:ea typeface="+mn-ea"/>
                <a:cs typeface="+mn-cs"/>
              </a:rPr>
              <a:t>lock</a:t>
            </a:r>
            <a:r>
              <a:rPr lang="ru-RU" dirty="0"/>
              <a:t> и </a:t>
            </a:r>
            <a:r>
              <a:rPr lang="ru-RU" sz="1200" kern="1200" dirty="0" err="1">
                <a:solidFill>
                  <a:schemeClr val="tx1"/>
                </a:solidFill>
                <a:latin typeface="+mn-lt"/>
                <a:ea typeface="+mn-ea"/>
                <a:cs typeface="+mn-cs"/>
              </a:rPr>
              <a:t>unlock</a:t>
            </a:r>
            <a:r>
              <a:rPr lang="ru-RU" dirty="0"/>
              <a:t>.</a:t>
            </a:r>
          </a:p>
          <a:p>
            <a:endParaRPr lang="ru-RU" dirty="0"/>
          </a:p>
          <a:p>
            <a:r>
              <a:rPr lang="ru-RU" dirty="0"/>
              <a:t>В результате параллельная версия здесь работает примерно </a:t>
            </a:r>
            <a:r>
              <a:rPr lang="ru-RU" b="1" dirty="0"/>
              <a:t>в сотни раз медленнее</a:t>
            </a:r>
            <a:r>
              <a:rPr lang="ru-RU" dirty="0"/>
              <a:t>, чем последовательная. Это хороший пример того, что даже корректная синхронизация может стать серьёзным </a:t>
            </a:r>
            <a:r>
              <a:rPr lang="ru-RU" b="1" dirty="0"/>
              <a:t>узким местом</a:t>
            </a:r>
            <a:r>
              <a:rPr lang="ru-RU" dirty="0"/>
              <a:t> параллельной программы.</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15</a:t>
            </a:fld>
            <a:endParaRPr lang="en-US"/>
          </a:p>
        </p:txBody>
      </p:sp>
    </p:spTree>
    <p:extLst>
      <p:ext uri="{BB962C8B-B14F-4D97-AF65-F5344CB8AC3E}">
        <p14:creationId xmlns:p14="http://schemas.microsoft.com/office/powerpoint/2010/main" val="4018045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похожий пример, но вместо мьютекса используется </a:t>
            </a:r>
            <a:r>
              <a:rPr lang="ru-RU" b="1" dirty="0"/>
              <a:t>атомарная переменная</a:t>
            </a:r>
            <a:r>
              <a:rPr lang="ru-RU" dirty="0"/>
              <a:t>.</a:t>
            </a:r>
          </a:p>
          <a:p>
            <a:endParaRPr lang="ru-RU" dirty="0"/>
          </a:p>
          <a:p>
            <a:r>
              <a:rPr lang="ru-RU" dirty="0"/>
              <a:t>Последовательная версия просто суммирует элементы массива. В параллельной версии мы используем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for_each</a:t>
            </a:r>
            <a:r>
              <a:rPr lang="ru-RU" dirty="0"/>
              <a:t> с политикой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dirty="0"/>
              <a:t>, а переменная </a:t>
            </a:r>
            <a:r>
              <a:rPr lang="ru-RU" sz="1200" kern="1200" dirty="0" err="1">
                <a:solidFill>
                  <a:schemeClr val="tx1"/>
                </a:solidFill>
                <a:latin typeface="+mn-lt"/>
                <a:ea typeface="+mn-ea"/>
                <a:cs typeface="+mn-cs"/>
              </a:rPr>
              <a:t>sum</a:t>
            </a:r>
            <a:r>
              <a:rPr lang="ru-RU" dirty="0"/>
              <a:t> объявлена как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atomic</a:t>
            </a:r>
            <a:r>
              <a:rPr lang="ru-RU" sz="1200" kern="1200" dirty="0">
                <a:solidFill>
                  <a:schemeClr val="tx1"/>
                </a:solidFill>
                <a:latin typeface="+mn-lt"/>
                <a:ea typeface="+mn-ea"/>
                <a:cs typeface="+mn-cs"/>
              </a:rPr>
              <a:t>&lt;</a:t>
            </a:r>
            <a:r>
              <a:rPr lang="ru-RU" sz="1200" kern="1200" dirty="0" err="1">
                <a:solidFill>
                  <a:schemeClr val="tx1"/>
                </a:solidFill>
                <a:latin typeface="+mn-lt"/>
                <a:ea typeface="+mn-ea"/>
                <a:cs typeface="+mn-cs"/>
              </a:rPr>
              <a:t>long</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long</a:t>
            </a:r>
            <a:r>
              <a:rPr lang="ru-RU" sz="1200" kern="1200" dirty="0">
                <a:solidFill>
                  <a:schemeClr val="tx1"/>
                </a:solidFill>
                <a:latin typeface="+mn-lt"/>
                <a:ea typeface="+mn-ea"/>
                <a:cs typeface="+mn-cs"/>
              </a:rPr>
              <a:t>&gt;</a:t>
            </a:r>
            <a:r>
              <a:rPr lang="ru-RU" dirty="0"/>
              <a:t>. Для обновления суммы используется атомарная операция </a:t>
            </a:r>
            <a:r>
              <a:rPr lang="ru-RU" sz="1200" kern="1200" dirty="0" err="1">
                <a:solidFill>
                  <a:schemeClr val="tx1"/>
                </a:solidFill>
                <a:latin typeface="+mn-lt"/>
                <a:ea typeface="+mn-ea"/>
                <a:cs typeface="+mn-cs"/>
              </a:rPr>
              <a:t>fetch_add</a:t>
            </a:r>
            <a:r>
              <a:rPr lang="ru-RU" dirty="0"/>
              <a:t>.</a:t>
            </a:r>
          </a:p>
          <a:p>
            <a:endParaRPr lang="ru-RU" dirty="0"/>
          </a:p>
          <a:p>
            <a:r>
              <a:rPr lang="ru-RU" dirty="0"/>
              <a:t>С точки зрения корректности это решение правильное: атомарные операции гарантируют, что несколько потоков могут безопасно изменять одну переменную без гонок данных. Мы даже используем более лёгкий режим памяти — </a:t>
            </a:r>
            <a:r>
              <a:rPr lang="ru-RU" sz="1200" kern="1200" dirty="0" err="1">
                <a:solidFill>
                  <a:schemeClr val="tx1"/>
                </a:solidFill>
                <a:latin typeface="+mn-lt"/>
                <a:ea typeface="+mn-ea"/>
                <a:cs typeface="+mn-cs"/>
              </a:rPr>
              <a:t>memory_order_relaxed</a:t>
            </a:r>
            <a:r>
              <a:rPr lang="ru-RU" dirty="0"/>
              <a:t>, потому что здесь нам важна только атомарность операции.</a:t>
            </a:r>
          </a:p>
          <a:p>
            <a:endParaRPr lang="ru-RU" dirty="0"/>
          </a:p>
          <a:p>
            <a:r>
              <a:rPr lang="ru-RU" dirty="0"/>
              <a:t>Однако проблема остаётся. Все потоки по-прежнему пытаются обновлять </a:t>
            </a:r>
            <a:r>
              <a:rPr lang="ru-RU" b="1" dirty="0"/>
              <a:t>одну и ту же переменную </a:t>
            </a:r>
            <a:r>
              <a:rPr lang="ru-RU" sz="1200" b="1" kern="1200" dirty="0" err="1">
                <a:solidFill>
                  <a:schemeClr val="tx1"/>
                </a:solidFill>
                <a:latin typeface="+mn-lt"/>
                <a:ea typeface="+mn-ea"/>
                <a:cs typeface="+mn-cs"/>
              </a:rPr>
              <a:t>sum</a:t>
            </a:r>
            <a:r>
              <a:rPr lang="ru-RU" dirty="0"/>
              <a:t>. Из-за этого возникает сильная конкуренция за один и тот же ресурс, и процессору приходится постоянно синхронизировать доступ между ядрами.</a:t>
            </a:r>
          </a:p>
          <a:p>
            <a:endParaRPr lang="ru-RU" dirty="0"/>
          </a:p>
          <a:p>
            <a:r>
              <a:rPr lang="ru-RU" dirty="0"/>
              <a:t>Поэтому, хотя атомарные операции дешевле мьютексов, параллельная версия всё равно работает </a:t>
            </a:r>
            <a:r>
              <a:rPr lang="ru-RU" b="1" dirty="0"/>
              <a:t>намного медленнее последовательной</a:t>
            </a:r>
            <a:r>
              <a:rPr lang="ru-RU" dirty="0"/>
              <a:t>. Это ещё один пример того, как </a:t>
            </a:r>
            <a:r>
              <a:rPr lang="ru-RU" b="0" dirty="0" err="1"/>
              <a:t>contention</a:t>
            </a:r>
            <a:r>
              <a:rPr lang="ru-RU" b="0" dirty="0"/>
              <a:t> — конкуренция потоков за общий ресурс — может сильно ухудшить производительность параллельной программы.</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16</a:t>
            </a:fld>
            <a:endParaRPr lang="en-US"/>
          </a:p>
        </p:txBody>
      </p:sp>
    </p:spTree>
    <p:extLst>
      <p:ext uri="{BB962C8B-B14F-4D97-AF65-F5344CB8AC3E}">
        <p14:creationId xmlns:p14="http://schemas.microsoft.com/office/powerpoint/2010/main" val="2709994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Алгоритм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reduce</a:t>
            </a:r>
            <a:r>
              <a:rPr lang="ru-RU" dirty="0"/>
              <a:t> предназначен для </a:t>
            </a:r>
            <a:r>
              <a:rPr lang="ru-RU" b="1" dirty="0"/>
              <a:t>агрегации элементов диапазона</a:t>
            </a:r>
            <a:r>
              <a:rPr lang="ru-RU" dirty="0"/>
              <a:t> с помощью некоторой бинарной операции — например, сложения.</a:t>
            </a:r>
            <a:endParaRPr lang="en-US" dirty="0"/>
          </a:p>
          <a:p>
            <a:endParaRPr lang="ru-RU" dirty="0"/>
          </a:p>
          <a:p>
            <a:r>
              <a:rPr lang="ru-RU" dirty="0"/>
              <a:t>В отличие от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accumulate</a:t>
            </a:r>
            <a:r>
              <a:rPr lang="ru-RU" dirty="0"/>
              <a:t>, алгоритм </a:t>
            </a:r>
            <a:r>
              <a:rPr lang="ru-RU" sz="1200" kern="1200" dirty="0" err="1">
                <a:solidFill>
                  <a:schemeClr val="tx1"/>
                </a:solidFill>
                <a:latin typeface="+mn-lt"/>
                <a:ea typeface="+mn-ea"/>
                <a:cs typeface="+mn-cs"/>
              </a:rPr>
              <a:t>reduce</a:t>
            </a:r>
            <a:r>
              <a:rPr lang="ru-RU" dirty="0"/>
              <a:t> был специально разработан для </a:t>
            </a:r>
            <a:r>
              <a:rPr lang="ru-RU" b="1" dirty="0"/>
              <a:t>параллельного выполнения</a:t>
            </a:r>
            <a:r>
              <a:rPr lang="ru-RU" dirty="0"/>
              <a:t>. Он может разбивать диапазон на части, обрабатывать их независимо в разных потоках, а затем объединять частичные результаты.</a:t>
            </a:r>
            <a:endParaRPr lang="en-US" dirty="0"/>
          </a:p>
          <a:p>
            <a:endParaRPr lang="ru-RU" dirty="0"/>
          </a:p>
          <a:p>
            <a:r>
              <a:rPr lang="ru-RU" dirty="0"/>
              <a:t>На слайде показаны основные перегрузки функции.</a:t>
            </a:r>
            <a:br>
              <a:rPr lang="ru-RU" dirty="0"/>
            </a:br>
            <a:r>
              <a:rPr lang="ru-RU" dirty="0"/>
              <a:t>В простейшем варианте </a:t>
            </a:r>
            <a:r>
              <a:rPr lang="ru-RU" sz="1200" kern="1200" dirty="0" err="1">
                <a:solidFill>
                  <a:schemeClr val="tx1"/>
                </a:solidFill>
                <a:latin typeface="+mn-lt"/>
                <a:ea typeface="+mn-ea"/>
                <a:cs typeface="+mn-cs"/>
              </a:rPr>
              <a:t>reduce</a:t>
            </a:r>
            <a:r>
              <a:rPr lang="ru-RU" dirty="0"/>
              <a:t> использует операцию сложения и значение по умолчанию в качестве начального. Также можно явно задать </a:t>
            </a:r>
            <a:r>
              <a:rPr lang="ru-RU" b="1" dirty="0"/>
              <a:t>начальное значение</a:t>
            </a:r>
            <a:r>
              <a:rPr lang="ru-RU" dirty="0"/>
              <a:t> и </a:t>
            </a:r>
            <a:r>
              <a:rPr lang="ru-RU" b="1" dirty="0"/>
              <a:t>свою бинарную операцию</a:t>
            </a:r>
            <a:r>
              <a:rPr lang="ru-RU" dirty="0"/>
              <a:t>.</a:t>
            </a:r>
            <a:endParaRPr lang="en-US" dirty="0"/>
          </a:p>
          <a:p>
            <a:endParaRPr lang="ru-RU" dirty="0"/>
          </a:p>
          <a:p>
            <a:r>
              <a:rPr lang="ru-RU" dirty="0"/>
              <a:t>Важно понимать, что при параллельном выполнении порядок объединения элементов </a:t>
            </a:r>
            <a:r>
              <a:rPr lang="ru-RU" b="1" dirty="0"/>
              <a:t>не определён</a:t>
            </a:r>
            <a:r>
              <a:rPr lang="ru-RU" dirty="0"/>
              <a:t>, поэтому операция должна быть </a:t>
            </a:r>
            <a:r>
              <a:rPr lang="ru-RU" b="1" dirty="0"/>
              <a:t>ассоциативной</a:t>
            </a:r>
            <a:r>
              <a:rPr lang="ru-RU" dirty="0"/>
              <a:t> и не должна зависеть от порядка вычислений. Классический пример такой операции — сложение чисел.</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17</a:t>
            </a:fld>
            <a:endParaRPr lang="en-US"/>
          </a:p>
        </p:txBody>
      </p:sp>
    </p:spTree>
    <p:extLst>
      <p:ext uri="{BB962C8B-B14F-4D97-AF65-F5344CB8AC3E}">
        <p14:creationId xmlns:p14="http://schemas.microsoft.com/office/powerpoint/2010/main" val="1725929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правильный способ решения той же задачи — с помощью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reduce</a:t>
            </a:r>
            <a:r>
              <a:rPr lang="ru-RU" dirty="0"/>
              <a:t> и параллельной политики исполнения.</a:t>
            </a:r>
          </a:p>
          <a:p>
            <a:endParaRPr lang="ru-RU" dirty="0"/>
          </a:p>
          <a:p>
            <a:r>
              <a:rPr lang="ru-RU" dirty="0"/>
              <a:t>В предыдущих примерах проблема была в том, что все потоки пытались обновлять одну общую переменную </a:t>
            </a:r>
            <a:r>
              <a:rPr lang="ru-RU" sz="1200" kern="1200" dirty="0" err="1">
                <a:solidFill>
                  <a:schemeClr val="tx1"/>
                </a:solidFill>
                <a:latin typeface="+mn-lt"/>
                <a:ea typeface="+mn-ea"/>
                <a:cs typeface="+mn-cs"/>
              </a:rPr>
              <a:t>sum</a:t>
            </a:r>
            <a:r>
              <a:rPr lang="ru-RU" dirty="0"/>
              <a:t>. Из-за этого возникала конкуренция за общий ресурс, и производительность резко ухудшалась.</a:t>
            </a:r>
          </a:p>
          <a:p>
            <a:endParaRPr lang="ru-RU" dirty="0"/>
          </a:p>
          <a:p>
            <a:r>
              <a:rPr lang="ru-RU" dirty="0"/>
              <a:t>Здесь мы используем </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reduce</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execution</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par</a:t>
            </a:r>
            <a:r>
              <a:rPr lang="ru-RU" sz="1200" kern="1200" dirty="0">
                <a:solidFill>
                  <a:schemeClr val="tx1"/>
                </a:solidFill>
                <a:latin typeface="+mn-lt"/>
                <a:ea typeface="+mn-ea"/>
                <a:cs typeface="+mn-cs"/>
              </a:rPr>
              <a:t>, ...)</a:t>
            </a:r>
            <a:r>
              <a:rPr lang="ru-RU" dirty="0"/>
              <a:t>. Идея этого алгоритма в том, что библиотека разбивает диапазон на части, каждый поток вычисляет </a:t>
            </a:r>
            <a:r>
              <a:rPr lang="ru-RU" b="1" dirty="0"/>
              <a:t>свой локальный частичный результат</a:t>
            </a:r>
            <a:r>
              <a:rPr lang="ru-RU" dirty="0"/>
              <a:t>, а затем эти частичные суммы объединяются.</a:t>
            </a:r>
          </a:p>
          <a:p>
            <a:endParaRPr lang="ru-RU" dirty="0"/>
          </a:p>
          <a:p>
            <a:r>
              <a:rPr lang="ru-RU" dirty="0"/>
              <a:t>Такой подход намного лучше масштабируется, потому что во время основной части вычислений потокам </a:t>
            </a:r>
            <a:r>
              <a:rPr lang="ru-RU" b="1" dirty="0"/>
              <a:t>не нужно постоянно синхронизироваться</a:t>
            </a:r>
            <a:r>
              <a:rPr lang="ru-RU" dirty="0"/>
              <a:t> друг с другом.</a:t>
            </a:r>
          </a:p>
          <a:p>
            <a:endParaRPr lang="ru-RU" dirty="0"/>
          </a:p>
          <a:p>
            <a:r>
              <a:rPr lang="ru-RU" dirty="0"/>
              <a:t>Это хорошо видно по результатам измерений. Последовательная версия выполняется примерно за </a:t>
            </a:r>
            <a:r>
              <a:rPr lang="ru-RU" b="1" dirty="0"/>
              <a:t>0.027 секунды</a:t>
            </a:r>
            <a:r>
              <a:rPr lang="ru-RU" dirty="0"/>
              <a:t>, а параллельная версия с </a:t>
            </a:r>
            <a:r>
              <a:rPr lang="ru-RU" sz="1200" kern="1200" dirty="0" err="1">
                <a:solidFill>
                  <a:schemeClr val="tx1"/>
                </a:solidFill>
                <a:latin typeface="+mn-lt"/>
                <a:ea typeface="+mn-ea"/>
                <a:cs typeface="+mn-cs"/>
              </a:rPr>
              <a:t>reduce</a:t>
            </a:r>
            <a:r>
              <a:rPr lang="ru-RU" dirty="0"/>
              <a:t> — примерно за </a:t>
            </a:r>
            <a:r>
              <a:rPr lang="ru-RU" b="1" dirty="0"/>
              <a:t>0.0076 секунды</a:t>
            </a:r>
            <a:r>
              <a:rPr lang="ru-RU" dirty="0"/>
              <a:t>. То есть в этом случае мы действительно получаем </a:t>
            </a:r>
            <a:r>
              <a:rPr lang="ru-RU" b="1" dirty="0"/>
              <a:t>заметное ускорение</a:t>
            </a:r>
            <a:r>
              <a:rPr lang="ru-RU" dirty="0"/>
              <a:t>.</a:t>
            </a:r>
          </a:p>
          <a:p>
            <a:endParaRPr lang="ru-RU" dirty="0"/>
          </a:p>
          <a:p>
            <a:r>
              <a:rPr lang="ru-RU" dirty="0"/>
              <a:t>Это хороший пример важного принципа: в параллельных программах лучше не делить между потоками одну изменяемую переменную, а организовывать вычисления так, чтобы у каждого потока были </a:t>
            </a:r>
            <a:r>
              <a:rPr lang="ru-RU" b="1" dirty="0"/>
              <a:t>свои локальные данные</a:t>
            </a:r>
            <a:r>
              <a:rPr lang="ru-RU" dirty="0"/>
              <a:t>, а объединение результатов происходило только в конце.</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18</a:t>
            </a:fld>
            <a:endParaRPr lang="en-US"/>
          </a:p>
        </p:txBody>
      </p:sp>
    </p:spTree>
    <p:extLst>
      <p:ext uri="{BB962C8B-B14F-4D97-AF65-F5344CB8AC3E}">
        <p14:creationId xmlns:p14="http://schemas.microsoft.com/office/powerpoint/2010/main" val="2523207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19</a:t>
            </a:fld>
            <a:endParaRPr lang="en-US"/>
          </a:p>
        </p:txBody>
      </p:sp>
    </p:spTree>
    <p:extLst>
      <p:ext uri="{BB962C8B-B14F-4D97-AF65-F5344CB8AC3E}">
        <p14:creationId xmlns:p14="http://schemas.microsoft.com/office/powerpoint/2010/main" val="488352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Алгоритм </a:t>
            </a:r>
            <a:r>
              <a:rPr lang="ru-RU" sz="1200" kern="1200" dirty="0" err="1">
                <a:solidFill>
                  <a:schemeClr val="tx1"/>
                </a:solidFill>
                <a:latin typeface="+mn-lt"/>
                <a:ea typeface="+mn-ea"/>
                <a:cs typeface="+mn-cs"/>
              </a:rPr>
              <a:t>transform_reduce</a:t>
            </a:r>
            <a:r>
              <a:rPr lang="ru-RU" dirty="0"/>
              <a:t> объединяет две операции: </a:t>
            </a:r>
            <a:r>
              <a:rPr lang="ru-RU" b="1" dirty="0"/>
              <a:t>преобразование элементов</a:t>
            </a:r>
            <a:r>
              <a:rPr lang="ru-RU" dirty="0"/>
              <a:t> и </a:t>
            </a:r>
            <a:r>
              <a:rPr lang="ru-RU" b="1" dirty="0"/>
              <a:t>редукцию результата</a:t>
            </a:r>
            <a:r>
              <a:rPr lang="ru-RU" dirty="0"/>
              <a:t>.</a:t>
            </a:r>
          </a:p>
          <a:p>
            <a:r>
              <a:rPr lang="ru-RU" dirty="0"/>
              <a:t>Сначала к каждому элементу применяется операция преобразования — например умножение или другая функция. После этого полученные значения объединяются с помощью операции редукции, чаще всего сложения.</a:t>
            </a:r>
          </a:p>
          <a:p>
            <a:endParaRPr lang="ru-RU" dirty="0"/>
          </a:p>
          <a:p>
            <a:r>
              <a:rPr lang="ru-RU" dirty="0"/>
              <a:t>На слайде показаны основные перегрузки функции. Первая версия предполагает стандартную схему: элементы двух диапазонов перемножаются, а затем результаты суммируются. Вторая версия позволяет явно задать операции трансформации и редукции. Третья версия используется, когда преобразование применяется к одному диапазону.</a:t>
            </a:r>
          </a:p>
          <a:p>
            <a:endParaRPr lang="ru-RU" dirty="0"/>
          </a:p>
          <a:p>
            <a:r>
              <a:rPr lang="ru-RU" dirty="0"/>
              <a:t>Такой алгоритм особенно удобен для задач, где нужно </a:t>
            </a:r>
            <a:r>
              <a:rPr lang="ru-RU" b="1" dirty="0"/>
              <a:t>сначала вычислить некоторое значение для каждого элемента, а затем агрегировать результат</a:t>
            </a:r>
            <a:r>
              <a:rPr lang="ru-RU" dirty="0"/>
              <a:t>. На следующем слайде мы посмотрим классический пример — вычисление скалярного произведения векторов.</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20</a:t>
            </a:fld>
            <a:endParaRPr lang="en-US"/>
          </a:p>
        </p:txBody>
      </p:sp>
    </p:spTree>
    <p:extLst>
      <p:ext uri="{BB962C8B-B14F-4D97-AF65-F5344CB8AC3E}">
        <p14:creationId xmlns:p14="http://schemas.microsoft.com/office/powerpoint/2010/main" val="2569722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21B30-1136-6FCC-7885-ABCE762E0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E5B48-483A-ACC0-B3FB-D02FB059C1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D8663-002B-D3FD-2A6F-5FE3497DAE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473A6C-B4FD-7DE2-BA37-994D5616EC09}"/>
              </a:ext>
            </a:extLst>
          </p:cNvPr>
          <p:cNvSpPr>
            <a:spLocks noGrp="1"/>
          </p:cNvSpPr>
          <p:nvPr>
            <p:ph type="sldNum" sz="quarter" idx="5"/>
          </p:nvPr>
        </p:nvSpPr>
        <p:spPr/>
        <p:txBody>
          <a:bodyPr/>
          <a:lstStyle/>
          <a:p>
            <a:fld id="{8740D86D-1409-43B0-8811-9A559436DAB5}" type="slidenum">
              <a:rPr lang="en-US" smtClean="0"/>
              <a:t>21</a:t>
            </a:fld>
            <a:endParaRPr lang="en-US"/>
          </a:p>
        </p:txBody>
      </p:sp>
    </p:spTree>
    <p:extLst>
      <p:ext uri="{BB962C8B-B14F-4D97-AF65-F5344CB8AC3E}">
        <p14:creationId xmlns:p14="http://schemas.microsoft.com/office/powerpoint/2010/main" val="2395014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ru-RU" dirty="0"/>
                  <a:t>На этом слайде показан пример вычисления </a:t>
                </a:r>
                <a:r>
                  <a:rPr lang="ru-RU" b="1" dirty="0"/>
                  <a:t>скалярного произведения двух векторов</a:t>
                </a:r>
                <a:r>
                  <a:rPr lang="ru-RU" dirty="0"/>
                  <a:t>. Напомню, что оно вычисляется как сумма произведений соответствующих элементов: </a:t>
                </a:r>
                <a14:m>
                  <m:oMath xmlns:m="http://schemas.openxmlformats.org/officeDocument/2006/math">
                    <m:r>
                      <a:rPr lang="ru-RU" sz="1200" i="1" kern="1200">
                        <a:solidFill>
                          <a:schemeClr val="tx1"/>
                        </a:solidFill>
                        <a:latin typeface="Cambria Math" panose="02040503050406030204" pitchFamily="18" charset="0"/>
                        <a:ea typeface="+mn-ea"/>
                        <a:cs typeface="+mn-cs"/>
                      </a:rPr>
                      <m:t>𝑎</m:t>
                    </m:r>
                    <m:d>
                      <m:dPr>
                        <m:begChr m:val="["/>
                        <m:end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𝑖</m:t>
                        </m:r>
                      </m:e>
                    </m:d>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𝑏</m:t>
                    </m:r>
                    <m:d>
                      <m:dPr>
                        <m:begChr m:val="["/>
                        <m:end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𝑖</m:t>
                        </m:r>
                      </m:e>
                    </m:d>
                  </m:oMath>
                </a14:m>
                <a:r>
                  <a:rPr lang="ar-AE" dirty="0"/>
                  <a:t>.</a:t>
                </a:r>
                <a:endParaRPr lang="ru-RU" dirty="0"/>
              </a:p>
              <a:p>
                <a:endParaRPr lang="ar-AE" dirty="0"/>
              </a:p>
              <a:p>
                <a:r>
                  <a:rPr lang="ru-RU" dirty="0"/>
                  <a:t>Сначала показана обычная реализация с помощью цикла </a:t>
                </a:r>
                <a:r>
                  <a:rPr lang="en-US" sz="1200" kern="1200" dirty="0">
                    <a:solidFill>
                      <a:schemeClr val="tx1"/>
                    </a:solidFill>
                    <a:latin typeface="+mn-lt"/>
                    <a:ea typeface="+mn-ea"/>
                    <a:cs typeface="+mn-cs"/>
                  </a:rPr>
                  <a:t>for</a:t>
                </a:r>
                <a:r>
                  <a:rPr lang="en-US" dirty="0"/>
                  <a:t>. </a:t>
                </a:r>
                <a:r>
                  <a:rPr lang="ru-RU" dirty="0"/>
                  <a:t>Затем используется алгоритм </a:t>
                </a:r>
                <a:r>
                  <a:rPr lang="en-US" sz="1200" kern="1200" dirty="0">
                    <a:solidFill>
                      <a:schemeClr val="tx1"/>
                    </a:solidFill>
                    <a:latin typeface="+mn-lt"/>
                    <a:ea typeface="+mn-ea"/>
                    <a:cs typeface="+mn-cs"/>
                  </a:rPr>
                  <a:t>std::</a:t>
                </a:r>
                <a:r>
                  <a:rPr lang="en-US" sz="1200" kern="1200" dirty="0" err="1">
                    <a:solidFill>
                      <a:schemeClr val="tx1"/>
                    </a:solidFill>
                    <a:latin typeface="+mn-lt"/>
                    <a:ea typeface="+mn-ea"/>
                    <a:cs typeface="+mn-cs"/>
                  </a:rPr>
                  <a:t>transform_reduce</a:t>
                </a:r>
                <a:r>
                  <a:rPr lang="en-US" dirty="0"/>
                  <a:t>, </a:t>
                </a:r>
                <a:r>
                  <a:rPr lang="ru-RU" dirty="0"/>
                  <a:t>который объединяет две операции: сначала выполняется </a:t>
                </a:r>
                <a:r>
                  <a:rPr lang="ru-RU" b="1" dirty="0"/>
                  <a:t>преобразование элементов</a:t>
                </a:r>
                <a:r>
                  <a:rPr lang="ru-RU" dirty="0"/>
                  <a:t> — умножение </a:t>
                </a:r>
                <a:r>
                  <a:rPr lang="en-US" sz="1200" kern="1200" dirty="0">
                    <a:solidFill>
                      <a:schemeClr val="tx1"/>
                    </a:solidFill>
                    <a:latin typeface="+mn-lt"/>
                    <a:ea typeface="+mn-ea"/>
                    <a:cs typeface="+mn-cs"/>
                  </a:rPr>
                  <a: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b[</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r>
                  <a:rPr lang="en-US" dirty="0"/>
                  <a:t>, </a:t>
                </a:r>
                <a:r>
                  <a:rPr lang="ru-RU" dirty="0"/>
                  <a:t>а затем выполняется </a:t>
                </a:r>
                <a:r>
                  <a:rPr lang="ru-RU" b="1" dirty="0"/>
                  <a:t>редукция</a:t>
                </a:r>
                <a:r>
                  <a:rPr lang="ru-RU" dirty="0"/>
                  <a:t>, то есть суммирование результатов.</a:t>
                </a:r>
              </a:p>
              <a:p>
                <a:endParaRPr lang="ru-RU" dirty="0"/>
              </a:p>
              <a:p>
                <a:r>
                  <a:rPr lang="ru-RU" dirty="0"/>
                  <a:t>Чтобы не дублировать код, основная логика вынесена в шаблонную функцию </a:t>
                </a:r>
                <a:r>
                  <a:rPr lang="en-US" sz="1200" kern="1200" dirty="0" err="1">
                    <a:solidFill>
                      <a:schemeClr val="tx1"/>
                    </a:solidFill>
                    <a:latin typeface="+mn-lt"/>
                    <a:ea typeface="+mn-ea"/>
                    <a:cs typeface="+mn-cs"/>
                  </a:rPr>
                  <a:t>DotProductImpl</a:t>
                </a:r>
                <a:r>
                  <a:rPr lang="en-US" dirty="0"/>
                  <a:t>, </a:t>
                </a:r>
                <a:r>
                  <a:rPr lang="ru-RU" dirty="0"/>
                  <a:t>которая принимает политику исполнения. Далее разные функции просто вызывают её с различными политиками: </a:t>
                </a:r>
                <a:r>
                  <a:rPr lang="en-US" sz="1200" kern="1200" dirty="0">
                    <a:solidFill>
                      <a:schemeClr val="tx1"/>
                    </a:solidFill>
                    <a:latin typeface="+mn-lt"/>
                    <a:ea typeface="+mn-ea"/>
                    <a:cs typeface="+mn-cs"/>
                  </a:rPr>
                  <a:t>seq</a:t>
                </a:r>
                <a:r>
                  <a:rPr lang="en-US" dirty="0"/>
                  <a:t>, </a:t>
                </a:r>
                <a:r>
                  <a:rPr lang="en-US" sz="1200" kern="1200" dirty="0">
                    <a:solidFill>
                      <a:schemeClr val="tx1"/>
                    </a:solidFill>
                    <a:latin typeface="+mn-lt"/>
                    <a:ea typeface="+mn-ea"/>
                    <a:cs typeface="+mn-cs"/>
                  </a:rPr>
                  <a:t>par</a:t>
                </a:r>
                <a:r>
                  <a:rPr lang="en-US" dirty="0"/>
                  <a:t>, </a:t>
                </a:r>
                <a:r>
                  <a:rPr lang="en-US" sz="1200" kern="1200" dirty="0" err="1">
                    <a:solidFill>
                      <a:schemeClr val="tx1"/>
                    </a:solidFill>
                    <a:latin typeface="+mn-lt"/>
                    <a:ea typeface="+mn-ea"/>
                    <a:cs typeface="+mn-cs"/>
                  </a:rPr>
                  <a:t>unseq</a:t>
                </a:r>
                <a:r>
                  <a:rPr lang="en-US" dirty="0"/>
                  <a:t> </a:t>
                </a:r>
                <a:r>
                  <a:rPr lang="ru-RU" dirty="0"/>
                  <a:t>и </a:t>
                </a:r>
                <a:r>
                  <a:rPr lang="en-US" sz="1200" kern="1200" dirty="0" err="1">
                    <a:solidFill>
                      <a:schemeClr val="tx1"/>
                    </a:solidFill>
                    <a:latin typeface="+mn-lt"/>
                    <a:ea typeface="+mn-ea"/>
                    <a:cs typeface="+mn-cs"/>
                  </a:rPr>
                  <a:t>par_unseq</a:t>
                </a:r>
                <a:r>
                  <a:rPr lang="en-US" dirty="0"/>
                  <a:t>.</a:t>
                </a:r>
                <a:endParaRPr lang="ru-RU" dirty="0"/>
              </a:p>
              <a:p>
                <a:endParaRPr lang="en-US" dirty="0"/>
              </a:p>
              <a:p>
                <a:r>
                  <a:rPr lang="ru-RU" dirty="0"/>
                  <a:t>Интересно, что даже </a:t>
                </a:r>
                <a:r>
                  <a:rPr lang="ru-RU" b="1" dirty="0"/>
                  <a:t>последовательная версия </a:t>
                </a:r>
                <a:r>
                  <a:rPr lang="en-US" sz="1200" b="1" kern="1200" dirty="0" err="1">
                    <a:solidFill>
                      <a:schemeClr val="tx1"/>
                    </a:solidFill>
                    <a:latin typeface="+mn-lt"/>
                    <a:ea typeface="+mn-ea"/>
                    <a:cs typeface="+mn-cs"/>
                  </a:rPr>
                  <a:t>transform_reduce</a:t>
                </a:r>
                <a:r>
                  <a:rPr lang="en-US" b="1" dirty="0"/>
                  <a:t> </a:t>
                </a:r>
                <a:r>
                  <a:rPr lang="ru-RU" b="1" dirty="0"/>
                  <a:t>работает заметно быстрее обычного цикла </a:t>
                </a:r>
                <a:r>
                  <a:rPr lang="en-US" sz="1200" b="1" kern="1200" dirty="0">
                    <a:solidFill>
                      <a:schemeClr val="tx1"/>
                    </a:solidFill>
                    <a:latin typeface="+mn-lt"/>
                    <a:ea typeface="+mn-ea"/>
                    <a:cs typeface="+mn-cs"/>
                  </a:rPr>
                  <a:t>for</a:t>
                </a:r>
                <a:r>
                  <a:rPr lang="en-US" dirty="0"/>
                  <a:t>. </a:t>
                </a:r>
                <a:r>
                  <a:rPr lang="ru-RU" dirty="0"/>
                  <a:t>Это связано с правилами вычислений для чисел с плавающей точкой. Компилятор должен строго сохранять порядок операций сложения в обычном цикле, потому что сложение </a:t>
                </a:r>
                <a:r>
                  <a:rPr lang="en-US" sz="1200" kern="1200" dirty="0">
                    <a:solidFill>
                      <a:schemeClr val="tx1"/>
                    </a:solidFill>
                    <a:latin typeface="+mn-lt"/>
                    <a:ea typeface="+mn-ea"/>
                    <a:cs typeface="+mn-cs"/>
                  </a:rPr>
                  <a:t>double</a:t>
                </a:r>
                <a:r>
                  <a:rPr lang="en-US" dirty="0"/>
                  <a:t> </a:t>
                </a:r>
                <a:r>
                  <a:rPr lang="ru-RU" dirty="0"/>
                  <a:t>не является строго ассоциативным.</a:t>
                </a:r>
              </a:p>
              <a:p>
                <a:endParaRPr lang="ru-RU" dirty="0"/>
              </a:p>
              <a:p>
                <a:r>
                  <a:rPr lang="ru-RU" dirty="0"/>
                  <a:t>Алгоритм </a:t>
                </a:r>
                <a:r>
                  <a:rPr lang="en-US" sz="1200" kern="1200" dirty="0" err="1">
                    <a:solidFill>
                      <a:schemeClr val="tx1"/>
                    </a:solidFill>
                    <a:latin typeface="+mn-lt"/>
                    <a:ea typeface="+mn-ea"/>
                    <a:cs typeface="+mn-cs"/>
                  </a:rPr>
                  <a:t>transform_reduce</a:t>
                </a:r>
                <a:r>
                  <a:rPr lang="en-US" dirty="0"/>
                  <a:t>, </a:t>
                </a:r>
                <a:r>
                  <a:rPr lang="ru-RU" dirty="0"/>
                  <a:t>даже с политикой </a:t>
                </a:r>
                <a:r>
                  <a:rPr lang="en-US" sz="1200" kern="1200" dirty="0">
                    <a:solidFill>
                      <a:schemeClr val="tx1"/>
                    </a:solidFill>
                    <a:latin typeface="+mn-lt"/>
                    <a:ea typeface="+mn-ea"/>
                    <a:cs typeface="+mn-cs"/>
                  </a:rPr>
                  <a:t>seq</a:t>
                </a:r>
                <a:r>
                  <a:rPr lang="en-US" dirty="0"/>
                  <a:t>, </a:t>
                </a:r>
                <a:r>
                  <a:rPr lang="ru-RU" b="1" dirty="0"/>
                  <a:t>не гарантирует строгий порядок объединения элементов</a:t>
                </a:r>
                <a:r>
                  <a:rPr lang="ru-RU" dirty="0"/>
                  <a:t>. Благодаря этому компилятор получает больше свободы для оптимизаций — например, может переупорядочить операции, лучше использовать конвейеризацию процессора или векторизацию.</a:t>
                </a:r>
              </a:p>
              <a:p>
                <a:endParaRPr lang="ru-RU" dirty="0"/>
              </a:p>
              <a:p>
                <a:r>
                  <a:rPr lang="ru-RU" dirty="0"/>
                  <a:t>По результатам измерений также видно, что версии с </a:t>
                </a:r>
                <a:r>
                  <a:rPr lang="en-US" sz="1200" kern="1200" dirty="0">
                    <a:solidFill>
                      <a:schemeClr val="tx1"/>
                    </a:solidFill>
                    <a:latin typeface="+mn-lt"/>
                    <a:ea typeface="+mn-ea"/>
                    <a:cs typeface="+mn-cs"/>
                  </a:rPr>
                  <a:t>par</a:t>
                </a:r>
                <a:r>
                  <a:rPr lang="en-US" dirty="0"/>
                  <a:t> </a:t>
                </a:r>
                <a:r>
                  <a:rPr lang="ru-RU" dirty="0"/>
                  <a:t>и </a:t>
                </a:r>
                <a:r>
                  <a:rPr lang="en-US" sz="1200" kern="1200" dirty="0" err="1">
                    <a:solidFill>
                      <a:schemeClr val="tx1"/>
                    </a:solidFill>
                    <a:latin typeface="+mn-lt"/>
                    <a:ea typeface="+mn-ea"/>
                    <a:cs typeface="+mn-cs"/>
                  </a:rPr>
                  <a:t>par_unseq</a:t>
                </a:r>
                <a:r>
                  <a:rPr lang="en-US" dirty="0"/>
                  <a:t> </a:t>
                </a:r>
                <a:r>
                  <a:rPr lang="ru-RU" dirty="0"/>
                  <a:t>дают примерно двукратное ускорение, потому что вычисление хорошо распараллеливается между ядрами процессора.</a:t>
                </a:r>
              </a:p>
              <a:p>
                <a:endParaRPr lang="en-US" dirty="0"/>
              </a:p>
            </p:txBody>
          </p:sp>
        </mc:Choice>
        <mc:Fallback xmlns="">
          <p:sp>
            <p:nvSpPr>
              <p:cNvPr id="3" name="Notes Placeholder 2"/>
              <p:cNvSpPr>
                <a:spLocks noGrp="1"/>
              </p:cNvSpPr>
              <p:nvPr>
                <p:ph type="body" idx="1"/>
              </p:nvPr>
            </p:nvSpPr>
            <p:spPr/>
            <p:txBody>
              <a:bodyPr/>
              <a:lstStyle/>
              <a:p>
                <a:r>
                  <a:rPr lang="ru-RU" dirty="0"/>
                  <a:t>На этом слайде показан пример вычисления </a:t>
                </a:r>
                <a:r>
                  <a:rPr lang="ru-RU" b="1" dirty="0"/>
                  <a:t>скалярного произведения двух векторов</a:t>
                </a:r>
                <a:r>
                  <a:rPr lang="ru-RU" dirty="0"/>
                  <a:t>. Напомню, что оно вычисляется как сумма произведений соответствующих элементов: </a:t>
                </a:r>
                <a:r>
                  <a:rPr lang="ru-RU" sz="1200" i="0" kern="1200">
                    <a:solidFill>
                      <a:schemeClr val="tx1"/>
                    </a:solidFill>
                    <a:latin typeface="+mn-lt"/>
                    <a:ea typeface="+mn-ea"/>
                    <a:cs typeface="+mn-cs"/>
                  </a:rPr>
                  <a:t>𝑎</a:t>
                </a:r>
                <a:r>
                  <a:rPr lang="ar-AE" sz="1200" i="0" kern="1200">
                    <a:solidFill>
                      <a:schemeClr val="tx1"/>
                    </a:solidFill>
                    <a:latin typeface="+mn-lt"/>
                    <a:ea typeface="+mn-ea"/>
                    <a:cs typeface="+mn-cs"/>
                  </a:rPr>
                  <a:t>[𝑖]∗𝑏[𝑖]</a:t>
                </a:r>
                <a:r>
                  <a:rPr lang="ar-AE" dirty="0"/>
                  <a:t>.</a:t>
                </a:r>
                <a:endParaRPr lang="ru-RU" dirty="0"/>
              </a:p>
              <a:p>
                <a:endParaRPr lang="ar-AE" dirty="0"/>
              </a:p>
              <a:p>
                <a:r>
                  <a:rPr lang="ru-RU" dirty="0"/>
                  <a:t>Сначала показана обычная реализация с помощью цикла </a:t>
                </a:r>
                <a:r>
                  <a:rPr lang="en-US" sz="1200" kern="1200" dirty="0">
                    <a:solidFill>
                      <a:schemeClr val="tx1"/>
                    </a:solidFill>
                    <a:latin typeface="+mn-lt"/>
                    <a:ea typeface="+mn-ea"/>
                    <a:cs typeface="+mn-cs"/>
                  </a:rPr>
                  <a:t>for</a:t>
                </a:r>
                <a:r>
                  <a:rPr lang="en-US" dirty="0"/>
                  <a:t>. </a:t>
                </a:r>
                <a:r>
                  <a:rPr lang="ru-RU" dirty="0"/>
                  <a:t>Затем используется алгоритм </a:t>
                </a:r>
                <a:r>
                  <a:rPr lang="en-US" sz="1200" kern="1200" dirty="0">
                    <a:solidFill>
                      <a:schemeClr val="tx1"/>
                    </a:solidFill>
                    <a:latin typeface="+mn-lt"/>
                    <a:ea typeface="+mn-ea"/>
                    <a:cs typeface="+mn-cs"/>
                  </a:rPr>
                  <a:t>std::</a:t>
                </a:r>
                <a:r>
                  <a:rPr lang="en-US" sz="1200" kern="1200" dirty="0" err="1">
                    <a:solidFill>
                      <a:schemeClr val="tx1"/>
                    </a:solidFill>
                    <a:latin typeface="+mn-lt"/>
                    <a:ea typeface="+mn-ea"/>
                    <a:cs typeface="+mn-cs"/>
                  </a:rPr>
                  <a:t>transform_reduce</a:t>
                </a:r>
                <a:r>
                  <a:rPr lang="en-US" dirty="0"/>
                  <a:t>, </a:t>
                </a:r>
                <a:r>
                  <a:rPr lang="ru-RU" dirty="0"/>
                  <a:t>который объединяет две операции: сначала выполняется </a:t>
                </a:r>
                <a:r>
                  <a:rPr lang="ru-RU" b="1" dirty="0"/>
                  <a:t>преобразование элементов</a:t>
                </a:r>
                <a:r>
                  <a:rPr lang="ru-RU" dirty="0"/>
                  <a:t> — умножение </a:t>
                </a:r>
                <a:r>
                  <a:rPr lang="en-US" sz="1200" kern="1200" dirty="0">
                    <a:solidFill>
                      <a:schemeClr val="tx1"/>
                    </a:solidFill>
                    <a:latin typeface="+mn-lt"/>
                    <a:ea typeface="+mn-ea"/>
                    <a:cs typeface="+mn-cs"/>
                  </a:rPr>
                  <a:t>a[</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b[</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a:t>
                </a:r>
                <a:r>
                  <a:rPr lang="en-US" dirty="0"/>
                  <a:t>, </a:t>
                </a:r>
                <a:r>
                  <a:rPr lang="ru-RU" dirty="0"/>
                  <a:t>а затем выполняется </a:t>
                </a:r>
                <a:r>
                  <a:rPr lang="ru-RU" b="1" dirty="0"/>
                  <a:t>редукция</a:t>
                </a:r>
                <a:r>
                  <a:rPr lang="ru-RU" dirty="0"/>
                  <a:t>, то есть суммирование результатов.</a:t>
                </a:r>
              </a:p>
              <a:p>
                <a:endParaRPr lang="ru-RU" dirty="0"/>
              </a:p>
              <a:p>
                <a:r>
                  <a:rPr lang="ru-RU" dirty="0"/>
                  <a:t>Чтобы не дублировать код, основная логика вынесена в шаблонную функцию </a:t>
                </a:r>
                <a:r>
                  <a:rPr lang="en-US" sz="1200" kern="1200" dirty="0" err="1">
                    <a:solidFill>
                      <a:schemeClr val="tx1"/>
                    </a:solidFill>
                    <a:latin typeface="+mn-lt"/>
                    <a:ea typeface="+mn-ea"/>
                    <a:cs typeface="+mn-cs"/>
                  </a:rPr>
                  <a:t>DotProductImpl</a:t>
                </a:r>
                <a:r>
                  <a:rPr lang="en-US" dirty="0"/>
                  <a:t>, </a:t>
                </a:r>
                <a:r>
                  <a:rPr lang="ru-RU" dirty="0"/>
                  <a:t>которая принимает политику исполнения. Далее разные функции просто вызывают её с различными политиками: </a:t>
                </a:r>
                <a:r>
                  <a:rPr lang="en-US" sz="1200" kern="1200" dirty="0">
                    <a:solidFill>
                      <a:schemeClr val="tx1"/>
                    </a:solidFill>
                    <a:latin typeface="+mn-lt"/>
                    <a:ea typeface="+mn-ea"/>
                    <a:cs typeface="+mn-cs"/>
                  </a:rPr>
                  <a:t>seq</a:t>
                </a:r>
                <a:r>
                  <a:rPr lang="en-US" dirty="0"/>
                  <a:t>, </a:t>
                </a:r>
                <a:r>
                  <a:rPr lang="en-US" sz="1200" kern="1200" dirty="0">
                    <a:solidFill>
                      <a:schemeClr val="tx1"/>
                    </a:solidFill>
                    <a:latin typeface="+mn-lt"/>
                    <a:ea typeface="+mn-ea"/>
                    <a:cs typeface="+mn-cs"/>
                  </a:rPr>
                  <a:t>par</a:t>
                </a:r>
                <a:r>
                  <a:rPr lang="en-US" dirty="0"/>
                  <a:t>, </a:t>
                </a:r>
                <a:r>
                  <a:rPr lang="en-US" sz="1200" kern="1200" dirty="0" err="1">
                    <a:solidFill>
                      <a:schemeClr val="tx1"/>
                    </a:solidFill>
                    <a:latin typeface="+mn-lt"/>
                    <a:ea typeface="+mn-ea"/>
                    <a:cs typeface="+mn-cs"/>
                  </a:rPr>
                  <a:t>unseq</a:t>
                </a:r>
                <a:r>
                  <a:rPr lang="en-US" dirty="0"/>
                  <a:t> </a:t>
                </a:r>
                <a:r>
                  <a:rPr lang="ru-RU" dirty="0"/>
                  <a:t>и </a:t>
                </a:r>
                <a:r>
                  <a:rPr lang="en-US" sz="1200" kern="1200" dirty="0" err="1">
                    <a:solidFill>
                      <a:schemeClr val="tx1"/>
                    </a:solidFill>
                    <a:latin typeface="+mn-lt"/>
                    <a:ea typeface="+mn-ea"/>
                    <a:cs typeface="+mn-cs"/>
                  </a:rPr>
                  <a:t>par_unseq</a:t>
                </a:r>
                <a:r>
                  <a:rPr lang="en-US" dirty="0"/>
                  <a:t>.</a:t>
                </a:r>
                <a:endParaRPr lang="ru-RU" dirty="0"/>
              </a:p>
              <a:p>
                <a:endParaRPr lang="en-US" dirty="0"/>
              </a:p>
              <a:p>
                <a:r>
                  <a:rPr lang="ru-RU" dirty="0"/>
                  <a:t>Интересно, что даже </a:t>
                </a:r>
                <a:r>
                  <a:rPr lang="ru-RU" b="1" dirty="0"/>
                  <a:t>последовательная версия </a:t>
                </a:r>
                <a:r>
                  <a:rPr lang="en-US" sz="1200" b="1" kern="1200" dirty="0" err="1">
                    <a:solidFill>
                      <a:schemeClr val="tx1"/>
                    </a:solidFill>
                    <a:latin typeface="+mn-lt"/>
                    <a:ea typeface="+mn-ea"/>
                    <a:cs typeface="+mn-cs"/>
                  </a:rPr>
                  <a:t>transform_reduce</a:t>
                </a:r>
                <a:r>
                  <a:rPr lang="en-US" b="1" dirty="0"/>
                  <a:t> </a:t>
                </a:r>
                <a:r>
                  <a:rPr lang="ru-RU" b="1" dirty="0"/>
                  <a:t>работает заметно быстрее обычного цикла </a:t>
                </a:r>
                <a:r>
                  <a:rPr lang="en-US" sz="1200" b="1" kern="1200" dirty="0">
                    <a:solidFill>
                      <a:schemeClr val="tx1"/>
                    </a:solidFill>
                    <a:latin typeface="+mn-lt"/>
                    <a:ea typeface="+mn-ea"/>
                    <a:cs typeface="+mn-cs"/>
                  </a:rPr>
                  <a:t>for</a:t>
                </a:r>
                <a:r>
                  <a:rPr lang="en-US" dirty="0"/>
                  <a:t>. </a:t>
                </a:r>
                <a:r>
                  <a:rPr lang="ru-RU" dirty="0"/>
                  <a:t>Это связано с правилами вычислений для чисел с плавающей точкой. Компилятор должен строго сохранять порядок операций сложения в обычном цикле, потому что сложение </a:t>
                </a:r>
                <a:r>
                  <a:rPr lang="en-US" sz="1200" kern="1200" dirty="0">
                    <a:solidFill>
                      <a:schemeClr val="tx1"/>
                    </a:solidFill>
                    <a:latin typeface="+mn-lt"/>
                    <a:ea typeface="+mn-ea"/>
                    <a:cs typeface="+mn-cs"/>
                  </a:rPr>
                  <a:t>double</a:t>
                </a:r>
                <a:r>
                  <a:rPr lang="en-US" dirty="0"/>
                  <a:t> </a:t>
                </a:r>
                <a:r>
                  <a:rPr lang="ru-RU" dirty="0"/>
                  <a:t>не является строго ассоциативным.</a:t>
                </a:r>
              </a:p>
              <a:p>
                <a:endParaRPr lang="ru-RU" dirty="0"/>
              </a:p>
              <a:p>
                <a:r>
                  <a:rPr lang="ru-RU" dirty="0"/>
                  <a:t>Алгоритм </a:t>
                </a:r>
                <a:r>
                  <a:rPr lang="en-US" sz="1200" kern="1200" dirty="0" err="1">
                    <a:solidFill>
                      <a:schemeClr val="tx1"/>
                    </a:solidFill>
                    <a:latin typeface="+mn-lt"/>
                    <a:ea typeface="+mn-ea"/>
                    <a:cs typeface="+mn-cs"/>
                  </a:rPr>
                  <a:t>transform_reduce</a:t>
                </a:r>
                <a:r>
                  <a:rPr lang="en-US" dirty="0"/>
                  <a:t>, </a:t>
                </a:r>
                <a:r>
                  <a:rPr lang="ru-RU" dirty="0"/>
                  <a:t>даже с политикой </a:t>
                </a:r>
                <a:r>
                  <a:rPr lang="en-US" sz="1200" kern="1200" dirty="0">
                    <a:solidFill>
                      <a:schemeClr val="tx1"/>
                    </a:solidFill>
                    <a:latin typeface="+mn-lt"/>
                    <a:ea typeface="+mn-ea"/>
                    <a:cs typeface="+mn-cs"/>
                  </a:rPr>
                  <a:t>seq</a:t>
                </a:r>
                <a:r>
                  <a:rPr lang="en-US" dirty="0"/>
                  <a:t>, </a:t>
                </a:r>
                <a:r>
                  <a:rPr lang="ru-RU" b="1" dirty="0"/>
                  <a:t>не гарантирует строгий порядок объединения элементов</a:t>
                </a:r>
                <a:r>
                  <a:rPr lang="ru-RU" dirty="0"/>
                  <a:t>. Благодаря этому компилятор получает больше свободы для оптимизаций — например, может переупорядочить операции, лучше использовать конвейеризацию процессора или векторизацию.</a:t>
                </a:r>
              </a:p>
              <a:p>
                <a:endParaRPr lang="ru-RU" dirty="0"/>
              </a:p>
              <a:p>
                <a:r>
                  <a:rPr lang="ru-RU" dirty="0"/>
                  <a:t>По результатам измерений также видно, что версии с </a:t>
                </a:r>
                <a:r>
                  <a:rPr lang="en-US" sz="1200" kern="1200" dirty="0">
                    <a:solidFill>
                      <a:schemeClr val="tx1"/>
                    </a:solidFill>
                    <a:latin typeface="+mn-lt"/>
                    <a:ea typeface="+mn-ea"/>
                    <a:cs typeface="+mn-cs"/>
                  </a:rPr>
                  <a:t>par</a:t>
                </a:r>
                <a:r>
                  <a:rPr lang="en-US" dirty="0"/>
                  <a:t> </a:t>
                </a:r>
                <a:r>
                  <a:rPr lang="ru-RU" dirty="0"/>
                  <a:t>и </a:t>
                </a:r>
                <a:r>
                  <a:rPr lang="en-US" sz="1200" kern="1200" dirty="0" err="1">
                    <a:solidFill>
                      <a:schemeClr val="tx1"/>
                    </a:solidFill>
                    <a:latin typeface="+mn-lt"/>
                    <a:ea typeface="+mn-ea"/>
                    <a:cs typeface="+mn-cs"/>
                  </a:rPr>
                  <a:t>par_unseq</a:t>
                </a:r>
                <a:r>
                  <a:rPr lang="en-US" dirty="0"/>
                  <a:t> </a:t>
                </a:r>
                <a:r>
                  <a:rPr lang="ru-RU" dirty="0"/>
                  <a:t>дают примерно двукратное ускорение, потому что вычисление хорошо распараллеливается между ядрами процессора.</a:t>
                </a:r>
              </a:p>
              <a:p>
                <a:endParaRPr lang="en-US" dirty="0"/>
              </a:p>
            </p:txBody>
          </p:sp>
        </mc:Fallback>
      </mc:AlternateContent>
      <p:sp>
        <p:nvSpPr>
          <p:cNvPr id="4" name="Slide Number Placeholder 3"/>
          <p:cNvSpPr>
            <a:spLocks noGrp="1"/>
          </p:cNvSpPr>
          <p:nvPr>
            <p:ph type="sldNum" sz="quarter" idx="5"/>
          </p:nvPr>
        </p:nvSpPr>
        <p:spPr/>
        <p:txBody>
          <a:bodyPr/>
          <a:lstStyle/>
          <a:p>
            <a:fld id="{8740D86D-1409-43B0-8811-9A559436DAB5}" type="slidenum">
              <a:rPr lang="en-US" smtClean="0"/>
              <a:t>22</a:t>
            </a:fld>
            <a:endParaRPr lang="en-US"/>
          </a:p>
        </p:txBody>
      </p:sp>
    </p:spTree>
    <p:extLst>
      <p:ext uri="{BB962C8B-B14F-4D97-AF65-F5344CB8AC3E}">
        <p14:creationId xmlns:p14="http://schemas.microsoft.com/office/powerpoint/2010/main" val="16820444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826DD-AA0F-9125-B1FC-1D8335D01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ECCB1-8308-AC67-4E44-20DCCCA78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8F371-E872-E6FA-78B6-020E1BF174D7}"/>
              </a:ext>
            </a:extLst>
          </p:cNvPr>
          <p:cNvSpPr>
            <a:spLocks noGrp="1"/>
          </p:cNvSpPr>
          <p:nvPr>
            <p:ph type="body" idx="1"/>
          </p:nvPr>
        </p:nvSpPr>
        <p:spPr/>
        <p:txBody>
          <a:bodyPr/>
          <a:lstStyle/>
          <a:p>
            <a:r>
              <a:rPr lang="ru-RU" dirty="0"/>
              <a:t>На этом слайде показан тот же эксперимент, но теперь скалярное произведение вычисляется для векторов типа </a:t>
            </a:r>
            <a:r>
              <a:rPr lang="ru-RU" sz="1200" kern="1200" dirty="0">
                <a:solidFill>
                  <a:schemeClr val="tx1"/>
                </a:solidFill>
                <a:latin typeface="+mn-lt"/>
                <a:ea typeface="+mn-ea"/>
                <a:cs typeface="+mn-cs"/>
              </a:rPr>
              <a:t>uint32_t</a:t>
            </a:r>
            <a:r>
              <a:rPr lang="ru-RU" dirty="0"/>
              <a:t>.</a:t>
            </a:r>
          </a:p>
          <a:p>
            <a:r>
              <a:rPr lang="ru-RU" dirty="0"/>
              <a:t>Код почти такой же, как и в предыдущем примере. Единственное отличие — элементы векторов имеют целочисленный тип, а произведение мы приводим к </a:t>
            </a:r>
            <a:r>
              <a:rPr lang="ru-RU" sz="1200" kern="1200" dirty="0">
                <a:solidFill>
                  <a:schemeClr val="tx1"/>
                </a:solidFill>
                <a:latin typeface="+mn-lt"/>
                <a:ea typeface="+mn-ea"/>
                <a:cs typeface="+mn-cs"/>
              </a:rPr>
              <a:t>uint64_t</a:t>
            </a:r>
            <a:r>
              <a:rPr lang="ru-RU" dirty="0"/>
              <a:t>, чтобы избежать переполнения при суммировании.</a:t>
            </a:r>
          </a:p>
          <a:p>
            <a:endParaRPr lang="ru-RU" dirty="0"/>
          </a:p>
          <a:p>
            <a:r>
              <a:rPr lang="ru-RU" dirty="0"/>
              <a:t>Здесь можно заметить важную разницу в результатах. Обычный цикл </a:t>
            </a:r>
            <a:r>
              <a:rPr lang="ru-RU" sz="1200" kern="1200" dirty="0" err="1">
                <a:solidFill>
                  <a:schemeClr val="tx1"/>
                </a:solidFill>
                <a:latin typeface="+mn-lt"/>
                <a:ea typeface="+mn-ea"/>
                <a:cs typeface="+mn-cs"/>
              </a:rPr>
              <a:t>for</a:t>
            </a:r>
            <a:r>
              <a:rPr lang="ru-RU" dirty="0"/>
              <a:t> и последовательный </a:t>
            </a:r>
            <a:r>
              <a:rPr lang="ru-RU" sz="1200" kern="1200" dirty="0" err="1">
                <a:solidFill>
                  <a:schemeClr val="tx1"/>
                </a:solidFill>
                <a:latin typeface="+mn-lt"/>
                <a:ea typeface="+mn-ea"/>
                <a:cs typeface="+mn-cs"/>
              </a:rPr>
              <a:t>transform_reduce</a:t>
            </a:r>
            <a:r>
              <a:rPr lang="ru-RU" dirty="0"/>
              <a:t> работают практически </a:t>
            </a:r>
            <a:r>
              <a:rPr lang="ru-RU" b="1" dirty="0"/>
              <a:t>с одинаковой скоростью</a:t>
            </a:r>
            <a:r>
              <a:rPr lang="ru-RU" dirty="0"/>
              <a:t>.</a:t>
            </a:r>
          </a:p>
          <a:p>
            <a:endParaRPr lang="ru-RU" dirty="0"/>
          </a:p>
          <a:p>
            <a:r>
              <a:rPr lang="ru-RU" dirty="0"/>
              <a:t>Это связано с тем, что для целых чисел операция сложения </a:t>
            </a:r>
            <a:r>
              <a:rPr lang="ru-RU" b="1" dirty="0"/>
              <a:t>строго ассоциативна</a:t>
            </a:r>
            <a:r>
              <a:rPr lang="ru-RU" dirty="0"/>
              <a:t>. Поэтому компилятор может свободно переупорядочивать вычисления и оптимизировать код даже в обычном цикле </a:t>
            </a:r>
            <a:r>
              <a:rPr lang="ru-RU" sz="1200" kern="1200" dirty="0" err="1">
                <a:solidFill>
                  <a:schemeClr val="tx1"/>
                </a:solidFill>
                <a:latin typeface="+mn-lt"/>
                <a:ea typeface="+mn-ea"/>
                <a:cs typeface="+mn-cs"/>
              </a:rPr>
              <a:t>for</a:t>
            </a:r>
            <a:r>
              <a:rPr lang="ru-RU" dirty="0"/>
              <a:t>. В отличие от чисел с плавающей точкой, здесь нет ограничения на строгий порядок выполнения операций.</a:t>
            </a:r>
          </a:p>
          <a:p>
            <a:endParaRPr lang="ru-RU" dirty="0"/>
          </a:p>
          <a:p>
            <a:r>
              <a:rPr lang="ru-RU" dirty="0"/>
              <a:t>Параллельные версии </a:t>
            </a:r>
            <a:r>
              <a:rPr lang="ru-RU" sz="1200" kern="1200" dirty="0" err="1">
                <a:solidFill>
                  <a:schemeClr val="tx1"/>
                </a:solidFill>
                <a:latin typeface="+mn-lt"/>
                <a:ea typeface="+mn-ea"/>
                <a:cs typeface="+mn-cs"/>
              </a:rPr>
              <a:t>par</a:t>
            </a:r>
            <a:r>
              <a:rPr lang="ru-RU" dirty="0"/>
              <a:t> и </a:t>
            </a:r>
            <a:r>
              <a:rPr lang="ru-RU" sz="1200" kern="1200" dirty="0" err="1">
                <a:solidFill>
                  <a:schemeClr val="tx1"/>
                </a:solidFill>
                <a:latin typeface="+mn-lt"/>
                <a:ea typeface="+mn-ea"/>
                <a:cs typeface="+mn-cs"/>
              </a:rPr>
              <a:t>par_unseq</a:t>
            </a:r>
            <a:r>
              <a:rPr lang="ru-RU" dirty="0"/>
              <a:t> снова дают заметное ускорение, потому что вычисление легко разбивается на независимые части и хорошо масштабируется на несколько ядер.</a:t>
            </a:r>
          </a:p>
          <a:p>
            <a:endParaRPr lang="ru-RU" dirty="0"/>
          </a:p>
          <a:p>
            <a:r>
              <a:rPr lang="ru-RU" dirty="0"/>
              <a:t>Версия </a:t>
            </a:r>
            <a:r>
              <a:rPr lang="ru-RU" sz="1200" kern="1200" dirty="0" err="1">
                <a:solidFill>
                  <a:schemeClr val="tx1"/>
                </a:solidFill>
                <a:latin typeface="+mn-lt"/>
                <a:ea typeface="+mn-ea"/>
                <a:cs typeface="+mn-cs"/>
              </a:rPr>
              <a:t>unseq</a:t>
            </a:r>
            <a:r>
              <a:rPr lang="ru-RU" dirty="0"/>
              <a:t> здесь почти не отличается от последовательной, потому что она ориентирована в первую очередь на </a:t>
            </a:r>
            <a:r>
              <a:rPr lang="ru-RU" b="1" dirty="0"/>
              <a:t>векторизацию</a:t>
            </a:r>
            <a:r>
              <a:rPr lang="ru-RU" dirty="0"/>
              <a:t>, а основной выигрыш в этой задаче достигается именно за счёт </a:t>
            </a:r>
            <a:r>
              <a:rPr lang="ru-RU" b="1" dirty="0"/>
              <a:t>параллельного выполнения</a:t>
            </a:r>
            <a:r>
              <a:rPr lang="ru-RU" dirty="0"/>
              <a:t>.</a:t>
            </a:r>
          </a:p>
          <a:p>
            <a:endParaRPr lang="en-US" dirty="0"/>
          </a:p>
        </p:txBody>
      </p:sp>
      <p:sp>
        <p:nvSpPr>
          <p:cNvPr id="4" name="Slide Number Placeholder 3">
            <a:extLst>
              <a:ext uri="{FF2B5EF4-FFF2-40B4-BE49-F238E27FC236}">
                <a16:creationId xmlns:a16="http://schemas.microsoft.com/office/drawing/2014/main" id="{02880993-CBCC-3EDE-8CB8-6ABB51196B97}"/>
              </a:ext>
            </a:extLst>
          </p:cNvPr>
          <p:cNvSpPr>
            <a:spLocks noGrp="1"/>
          </p:cNvSpPr>
          <p:nvPr>
            <p:ph type="sldNum" sz="quarter" idx="5"/>
          </p:nvPr>
        </p:nvSpPr>
        <p:spPr/>
        <p:txBody>
          <a:bodyPr/>
          <a:lstStyle/>
          <a:p>
            <a:fld id="{8740D86D-1409-43B0-8811-9A559436DAB5}" type="slidenum">
              <a:rPr lang="en-US" smtClean="0"/>
              <a:t>23</a:t>
            </a:fld>
            <a:endParaRPr lang="en-US"/>
          </a:p>
        </p:txBody>
      </p:sp>
    </p:spTree>
    <p:extLst>
      <p:ext uri="{BB962C8B-B14F-4D97-AF65-F5344CB8AC3E}">
        <p14:creationId xmlns:p14="http://schemas.microsoft.com/office/powerpoint/2010/main" val="2985783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740D86D-1409-43B0-8811-9A559436DAB5}" type="slidenum">
              <a:rPr lang="en-US" smtClean="0"/>
              <a:t>24</a:t>
            </a:fld>
            <a:endParaRPr lang="en-US"/>
          </a:p>
        </p:txBody>
      </p:sp>
    </p:spTree>
    <p:extLst>
      <p:ext uri="{BB962C8B-B14F-4D97-AF65-F5344CB8AC3E}">
        <p14:creationId xmlns:p14="http://schemas.microsoft.com/office/powerpoint/2010/main" val="2866275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Современные процессоры работают значительно быстрее, чем оперативная память. Разница в скорости может составлять десятки и даже сотни раз.</a:t>
            </a:r>
          </a:p>
          <a:p>
            <a:r>
              <a:rPr lang="ru-RU" dirty="0"/>
              <a:t>Это означает, что если бы процессор при каждом обращении к данным ждал ответ от оперативной памяти, большая часть времени уходила бы на ожидание, а не на выполнение инструкций.</a:t>
            </a:r>
          </a:p>
          <a:p>
            <a:endParaRPr lang="ru-RU" dirty="0"/>
          </a:p>
          <a:p>
            <a:r>
              <a:rPr lang="ru-RU" dirty="0"/>
              <a:t>Чтобы уменьшить эту разницу, используется иерархия памяти.</a:t>
            </a:r>
          </a:p>
          <a:p>
            <a:endParaRPr lang="ru-RU" dirty="0"/>
          </a:p>
          <a:p>
            <a:r>
              <a:rPr lang="ru-RU" dirty="0"/>
              <a:t>Суть этой идеи заключается в том, что между процессором и оперативной памятью добавляются промежуточные уровни памяти, которые работают быстрее, но имеют меньший объём.</a:t>
            </a:r>
          </a:p>
          <a:p>
            <a:r>
              <a:rPr lang="ru-RU" dirty="0"/>
              <a:t>Самый быстрый уровень — это регистры процессора. Они находятся непосредственно внутри процессора и используются для хранения текущих данных и промежуточных результатов.</a:t>
            </a:r>
          </a:p>
          <a:p>
            <a:r>
              <a:rPr lang="ru-RU" dirty="0"/>
              <a:t>Далее идут уровни кеш-памяти: L1, L2 и L3. Кеши расположены ближе к процессору, чем оперативная память, и обеспечивают значительно более быстрый доступ к данным.</a:t>
            </a:r>
          </a:p>
          <a:p>
            <a:endParaRPr lang="ru-RU" dirty="0"/>
          </a:p>
          <a:p>
            <a:r>
              <a:rPr lang="ru-RU" dirty="0"/>
              <a:t>Однако за эту скорость приходится платить размером. Чем быстрее память, тем она меньше. Например, объём регистров измеряется десятками или сотнями байт, кеш L1 — десятками килобайт, тогда как оперативная память — гигабайтами.</a:t>
            </a:r>
          </a:p>
          <a:p>
            <a:endParaRPr lang="ru-RU" dirty="0"/>
          </a:p>
          <a:p>
            <a:r>
              <a:rPr lang="ru-RU" dirty="0"/>
              <a:t>Ключевая идея заключается в следующем: если нужные данные уже находятся в кеше, процессор может получить к ним доступ очень быстро, практически без задержек.</a:t>
            </a:r>
          </a:p>
          <a:p>
            <a:r>
              <a:rPr lang="ru-RU" dirty="0"/>
              <a:t>Если же данных в кеше нет, происходит так называемый </a:t>
            </a:r>
            <a:r>
              <a:rPr lang="ru-RU" dirty="0" err="1"/>
              <a:t>cache</a:t>
            </a:r>
            <a:r>
              <a:rPr lang="ru-RU" dirty="0"/>
              <a:t> </a:t>
            </a:r>
            <a:r>
              <a:rPr lang="ru-RU" dirty="0" err="1"/>
              <a:t>miss</a:t>
            </a:r>
            <a:r>
              <a:rPr lang="ru-RU" dirty="0"/>
              <a:t>, и процессор вынужден обращаться к более медленной памяти, вплоть до оперативной. В этом случае задержка доступа может увеличиться в десятки или сотни раз.</a:t>
            </a:r>
          </a:p>
          <a:p>
            <a:endParaRPr lang="ru-RU" dirty="0"/>
          </a:p>
          <a:p>
            <a:r>
              <a:rPr lang="ru-RU" dirty="0"/>
              <a:t>Важно понимать, что вся эта иерархия полностью прозрачна для программиста на уровне языка </a:t>
            </a:r>
            <a:r>
              <a:rPr lang="en-US" dirty="0"/>
              <a:t>C++</a:t>
            </a:r>
            <a:r>
              <a:rPr lang="ru-RU" dirty="0"/>
              <a:t>. Мы не управляем кешами напрямую, но структура наших данных и характер доступа к ним напрямую влияют на то, насколько эффективно используется кеш.</a:t>
            </a:r>
          </a:p>
          <a:p>
            <a:r>
              <a:rPr lang="ru-RU" dirty="0"/>
              <a:t>Таким образом, производительность программы во многом определяется не только алгоритмами, но и тем, насколько эффективно программа взаимодействует с иерархией памяти.</a:t>
            </a:r>
          </a:p>
        </p:txBody>
      </p:sp>
      <p:sp>
        <p:nvSpPr>
          <p:cNvPr id="4" name="Slide Number Placeholder 3"/>
          <p:cNvSpPr>
            <a:spLocks noGrp="1"/>
          </p:cNvSpPr>
          <p:nvPr>
            <p:ph type="sldNum" sz="quarter" idx="5"/>
          </p:nvPr>
        </p:nvSpPr>
        <p:spPr/>
        <p:txBody>
          <a:bodyPr/>
          <a:lstStyle/>
          <a:p>
            <a:fld id="{8740D86D-1409-43B0-8811-9A559436DAB5}" type="slidenum">
              <a:rPr lang="en-US" smtClean="0"/>
              <a:t>25</a:t>
            </a:fld>
            <a:endParaRPr lang="en-US"/>
          </a:p>
        </p:txBody>
      </p:sp>
    </p:spTree>
    <p:extLst>
      <p:ext uri="{BB962C8B-B14F-4D97-AF65-F5344CB8AC3E}">
        <p14:creationId xmlns:p14="http://schemas.microsoft.com/office/powerpoint/2010/main" val="14637267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процессор обращается к данным в памяти, он не сразу идёт в оперативную память. Сначала проверяется, находятся ли нужные данные в кеше.</a:t>
            </a:r>
          </a:p>
          <a:p>
            <a:endParaRPr lang="ru-RU" dirty="0"/>
          </a:p>
          <a:p>
            <a:r>
              <a:rPr lang="ru-RU" dirty="0"/>
              <a:t>Если данные уже есть в кеше, происходит так называемый </a:t>
            </a:r>
            <a:r>
              <a:rPr lang="ru-RU" dirty="0" err="1"/>
              <a:t>cache</a:t>
            </a:r>
            <a:r>
              <a:rPr lang="ru-RU" dirty="0"/>
              <a:t> </a:t>
            </a:r>
            <a:r>
              <a:rPr lang="ru-RU" dirty="0" err="1"/>
              <a:t>hit</a:t>
            </a:r>
            <a:r>
              <a:rPr lang="ru-RU" dirty="0"/>
              <a:t>. В этом случае доступ выполняется очень быстро, так как кеш находится близко к процессору и имеет малую задержку.</a:t>
            </a:r>
          </a:p>
          <a:p>
            <a:r>
              <a:rPr lang="ru-RU" dirty="0"/>
              <a:t>Если же данных в кеше нет, происходит </a:t>
            </a:r>
            <a:r>
              <a:rPr lang="ru-RU" dirty="0" err="1"/>
              <a:t>cache</a:t>
            </a:r>
            <a:r>
              <a:rPr lang="ru-RU" dirty="0"/>
              <a:t> </a:t>
            </a:r>
            <a:r>
              <a:rPr lang="ru-RU" dirty="0" err="1"/>
              <a:t>miss</a:t>
            </a:r>
            <a:r>
              <a:rPr lang="ru-RU" dirty="0"/>
              <a:t>. Это означает, что процессору необходимо загрузить данные из следующего уровня памяти, например из L2, L3 кеша или даже из оперативной памяти.</a:t>
            </a:r>
          </a:p>
          <a:p>
            <a:endParaRPr lang="ru-RU" dirty="0"/>
          </a:p>
          <a:p>
            <a:r>
              <a:rPr lang="ru-RU" dirty="0"/>
              <a:t>Такая загрузка занимает значительно больше времени. Процессору приходится ждать, пока данные будут доставлены, и в этот момент выполнение может замедляться.</a:t>
            </a:r>
          </a:p>
          <a:p>
            <a:endParaRPr lang="ru-RU" dirty="0"/>
          </a:p>
          <a:p>
            <a:r>
              <a:rPr lang="ru-RU" dirty="0"/>
              <a:t>Важно понимать, что при </a:t>
            </a:r>
            <a:r>
              <a:rPr lang="ru-RU" dirty="0" err="1"/>
              <a:t>cache</a:t>
            </a:r>
            <a:r>
              <a:rPr lang="ru-RU" dirty="0"/>
              <a:t> </a:t>
            </a:r>
            <a:r>
              <a:rPr lang="ru-RU" dirty="0" err="1"/>
              <a:t>miss</a:t>
            </a:r>
            <a:r>
              <a:rPr lang="ru-RU" dirty="0"/>
              <a:t> загружается не только один конкретный байт или переменная, а целый блок памяти, который называется </a:t>
            </a:r>
            <a:r>
              <a:rPr lang="ru-RU" dirty="0" err="1"/>
              <a:t>cache</a:t>
            </a:r>
            <a:r>
              <a:rPr lang="ru-RU" dirty="0"/>
              <a:t> </a:t>
            </a:r>
            <a:r>
              <a:rPr lang="ru-RU" dirty="0" err="1"/>
              <a:t>line</a:t>
            </a:r>
            <a:r>
              <a:rPr lang="ru-RU" dirty="0"/>
              <a:t>. Это делается для повышения вероятности того, что последующие обращения к памяти окажутся успешными.</a:t>
            </a:r>
          </a:p>
          <a:p>
            <a:endParaRPr lang="ru-RU" dirty="0"/>
          </a:p>
          <a:p>
            <a:r>
              <a:rPr lang="ru-RU" dirty="0"/>
              <a:t>Стоимость </a:t>
            </a:r>
            <a:r>
              <a:rPr lang="ru-RU" dirty="0" err="1"/>
              <a:t>cache</a:t>
            </a:r>
            <a:r>
              <a:rPr lang="ru-RU" dirty="0"/>
              <a:t> </a:t>
            </a:r>
            <a:r>
              <a:rPr lang="ru-RU" dirty="0" err="1"/>
              <a:t>miss</a:t>
            </a:r>
            <a:r>
              <a:rPr lang="ru-RU" dirty="0"/>
              <a:t> может составлять десятки, а в случае обращения к оперативной памяти — даже сотни тактов процессора. В то время как </a:t>
            </a:r>
            <a:r>
              <a:rPr lang="ru-RU" dirty="0" err="1"/>
              <a:t>cache</a:t>
            </a:r>
            <a:r>
              <a:rPr lang="ru-RU" dirty="0"/>
              <a:t> </a:t>
            </a:r>
            <a:r>
              <a:rPr lang="ru-RU" dirty="0" err="1"/>
              <a:t>hit</a:t>
            </a:r>
            <a:r>
              <a:rPr lang="ru-RU" dirty="0"/>
              <a:t> может занимать всего несколько тактов.</a:t>
            </a:r>
          </a:p>
          <a:p>
            <a:r>
              <a:rPr lang="ru-RU" dirty="0"/>
              <a:t>Таким образом, разница между </a:t>
            </a:r>
            <a:r>
              <a:rPr lang="ru-RU" dirty="0" err="1"/>
              <a:t>cache</a:t>
            </a:r>
            <a:r>
              <a:rPr lang="ru-RU" dirty="0"/>
              <a:t> </a:t>
            </a:r>
            <a:r>
              <a:rPr lang="ru-RU" dirty="0" err="1"/>
              <a:t>hit</a:t>
            </a:r>
            <a:r>
              <a:rPr lang="ru-RU" dirty="0"/>
              <a:t> и </a:t>
            </a:r>
            <a:r>
              <a:rPr lang="ru-RU" dirty="0" err="1"/>
              <a:t>cache</a:t>
            </a:r>
            <a:r>
              <a:rPr lang="ru-RU" dirty="0"/>
              <a:t> </a:t>
            </a:r>
            <a:r>
              <a:rPr lang="ru-RU" dirty="0" err="1"/>
              <a:t>miss</a:t>
            </a:r>
            <a:r>
              <a:rPr lang="ru-RU" dirty="0"/>
              <a:t> может быть на порядок и более.</a:t>
            </a:r>
          </a:p>
          <a:p>
            <a:endParaRPr lang="ru-RU" dirty="0"/>
          </a:p>
          <a:p>
            <a:r>
              <a:rPr lang="ru-RU" dirty="0"/>
              <a:t>Именно поэтому количество промахов кеша является одним из ключевых факторов, влияющих на производительность программы. Даже при хорошем алгоритме неэффективный доступ к памяти может существенно замедлить выполнение.</a:t>
            </a:r>
          </a:p>
        </p:txBody>
      </p:sp>
      <p:sp>
        <p:nvSpPr>
          <p:cNvPr id="4" name="Slide Number Placeholder 3"/>
          <p:cNvSpPr>
            <a:spLocks noGrp="1"/>
          </p:cNvSpPr>
          <p:nvPr>
            <p:ph type="sldNum" sz="quarter" idx="5"/>
          </p:nvPr>
        </p:nvSpPr>
        <p:spPr/>
        <p:txBody>
          <a:bodyPr/>
          <a:lstStyle/>
          <a:p>
            <a:fld id="{8740D86D-1409-43B0-8811-9A559436DAB5}" type="slidenum">
              <a:rPr lang="en-US" smtClean="0"/>
              <a:t>26</a:t>
            </a:fld>
            <a:endParaRPr lang="en-US"/>
          </a:p>
        </p:txBody>
      </p:sp>
    </p:spTree>
    <p:extLst>
      <p:ext uri="{BB962C8B-B14F-4D97-AF65-F5344CB8AC3E}">
        <p14:creationId xmlns:p14="http://schemas.microsoft.com/office/powerpoint/2010/main" val="3675253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Производительность программ во многом зависит не только от того, какие операции выполняются, но и от того, как именно происходит доступ к данным в памяти.</a:t>
            </a:r>
          </a:p>
          <a:p>
            <a:r>
              <a:rPr lang="ru-RU" dirty="0"/>
              <a:t>Кеш-память работает эффективно только в том случае, если программа обладает так называемой локальностью доступа к данным.</a:t>
            </a:r>
          </a:p>
          <a:p>
            <a:endParaRPr lang="ru-RU" dirty="0"/>
          </a:p>
          <a:p>
            <a:r>
              <a:rPr lang="ru-RU" dirty="0"/>
              <a:t>Существует два основных типа локальности: пространственная и временная.</a:t>
            </a:r>
          </a:p>
          <a:p>
            <a:endParaRPr lang="ru-RU" dirty="0"/>
          </a:p>
          <a:p>
            <a:r>
              <a:rPr lang="ru-RU" dirty="0"/>
              <a:t>Пространственная локальность означает, что если программа обратилась к некоторому элементу памяти, то с высокой вероятностью в ближайшее время ей понадобятся соседние элементы. Это связано с тем, что данные часто располагаются последовательно, например, элементы массива.</a:t>
            </a:r>
          </a:p>
          <a:p>
            <a:endParaRPr lang="ru-RU" dirty="0"/>
          </a:p>
          <a:p>
            <a:r>
              <a:rPr lang="ru-RU" dirty="0"/>
              <a:t>Именно поэтому последовательный обход массива работает эффективно. Когда процессор загружает один элемент, он фактически загружает в кеш целую </a:t>
            </a:r>
            <a:r>
              <a:rPr lang="ru-RU" dirty="0" err="1"/>
              <a:t>cache</a:t>
            </a:r>
            <a:r>
              <a:rPr lang="ru-RU" dirty="0"/>
              <a:t> </a:t>
            </a:r>
            <a:r>
              <a:rPr lang="ru-RU" dirty="0" err="1"/>
              <a:t>line</a:t>
            </a:r>
            <a:r>
              <a:rPr lang="ru-RU" dirty="0"/>
              <a:t>, содержащую соседние элементы. Следующие обращения к этим данным будут происходить уже из кеша, то есть значительно быстрее.</a:t>
            </a:r>
          </a:p>
          <a:p>
            <a:endParaRPr lang="ru-RU" dirty="0"/>
          </a:p>
          <a:p>
            <a:r>
              <a:rPr lang="ru-RU" dirty="0"/>
              <a:t>Временная локальность означает, что если данные были использованы недавно, то, скорее всего, они будут использованы снова. Это характерно для переменных, которые участвуют в вычислениях внутри циклов или часто используемых структур данных.</a:t>
            </a:r>
          </a:p>
          <a:p>
            <a:endParaRPr lang="ru-RU" dirty="0"/>
          </a:p>
          <a:p>
            <a:r>
              <a:rPr lang="ru-RU" dirty="0"/>
              <a:t>Кеш старается удерживать недавно использованные данные, предполагая, что к ним скоро снова обратятся.</a:t>
            </a:r>
          </a:p>
          <a:p>
            <a:endParaRPr lang="ru-RU" dirty="0"/>
          </a:p>
          <a:p>
            <a:r>
              <a:rPr lang="ru-RU" dirty="0"/>
              <a:t>Если программа обладает хорошей пространственной и временной локальностью, то большинство обращений к памяти будет приводить к </a:t>
            </a:r>
            <a:r>
              <a:rPr lang="ru-RU" dirty="0" err="1"/>
              <a:t>cache</a:t>
            </a:r>
            <a:r>
              <a:rPr lang="ru-RU" dirty="0"/>
              <a:t> </a:t>
            </a:r>
            <a:r>
              <a:rPr lang="ru-RU" dirty="0" err="1"/>
              <a:t>hit</a:t>
            </a:r>
            <a:r>
              <a:rPr lang="ru-RU" dirty="0"/>
              <a:t>, и программа будет выполняться быстро.</a:t>
            </a:r>
          </a:p>
          <a:p>
            <a:endParaRPr lang="ru-RU" dirty="0"/>
          </a:p>
          <a:p>
            <a:r>
              <a:rPr lang="ru-RU" dirty="0"/>
              <a:t>Если же доступ к данным происходит хаотично, без локальности, кеш становится менее эффективным, увеличивается количество </a:t>
            </a:r>
            <a:r>
              <a:rPr lang="ru-RU" dirty="0" err="1"/>
              <a:t>cache</a:t>
            </a:r>
            <a:r>
              <a:rPr lang="ru-RU" dirty="0"/>
              <a:t> </a:t>
            </a:r>
            <a:r>
              <a:rPr lang="ru-RU" dirty="0" err="1"/>
              <a:t>miss</a:t>
            </a:r>
            <a:r>
              <a:rPr lang="ru-RU" dirty="0"/>
              <a:t>, и производительность резко падает.</a:t>
            </a:r>
          </a:p>
          <a:p>
            <a:endParaRPr lang="ru-RU" dirty="0"/>
          </a:p>
          <a:p>
            <a:r>
              <a:rPr lang="ru-RU" dirty="0"/>
              <a:t>Таким образом, организация доступа к данным может быть не менее важной, чем выбор самого алгоритма.</a:t>
            </a:r>
          </a:p>
        </p:txBody>
      </p:sp>
      <p:sp>
        <p:nvSpPr>
          <p:cNvPr id="4" name="Slide Number Placeholder 3"/>
          <p:cNvSpPr>
            <a:spLocks noGrp="1"/>
          </p:cNvSpPr>
          <p:nvPr>
            <p:ph type="sldNum" sz="quarter" idx="5"/>
          </p:nvPr>
        </p:nvSpPr>
        <p:spPr/>
        <p:txBody>
          <a:bodyPr/>
          <a:lstStyle/>
          <a:p>
            <a:fld id="{8740D86D-1409-43B0-8811-9A559436DAB5}" type="slidenum">
              <a:rPr lang="en-US" smtClean="0"/>
              <a:t>27</a:t>
            </a:fld>
            <a:endParaRPr lang="en-US"/>
          </a:p>
        </p:txBody>
      </p:sp>
    </p:spTree>
    <p:extLst>
      <p:ext uri="{BB962C8B-B14F-4D97-AF65-F5344CB8AC3E}">
        <p14:creationId xmlns:p14="http://schemas.microsoft.com/office/powerpoint/2010/main" val="3793401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пример того, как порядок обхода данных может сильно влиять на производительность из-за работы кеша.</a:t>
            </a:r>
          </a:p>
          <a:p>
            <a:r>
              <a:rPr lang="ru-RU" dirty="0"/>
              <a:t>В языке C++ двумерные структуры данных обычно хранятся </a:t>
            </a:r>
            <a:r>
              <a:rPr lang="ru-RU" b="1" dirty="0"/>
              <a:t>по строкам</a:t>
            </a:r>
            <a:r>
              <a:rPr lang="ru-RU" dirty="0"/>
              <a:t>. То есть элементы одной строки расположены рядом в памяти.</a:t>
            </a:r>
            <a:endParaRPr lang="en-US" dirty="0"/>
          </a:p>
          <a:p>
            <a:endParaRPr lang="ru-RU" dirty="0"/>
          </a:p>
          <a:p>
            <a:r>
              <a:rPr lang="ru-RU" dirty="0"/>
              <a:t>В функции </a:t>
            </a:r>
            <a:r>
              <a:rPr lang="ru-RU" sz="1200" kern="1200" dirty="0" err="1">
                <a:solidFill>
                  <a:schemeClr val="tx1"/>
                </a:solidFill>
                <a:latin typeface="+mn-lt"/>
                <a:ea typeface="+mn-ea"/>
                <a:cs typeface="+mn-cs"/>
              </a:rPr>
              <a:t>RowMajor</a:t>
            </a:r>
            <a:r>
              <a:rPr lang="ru-RU" dirty="0"/>
              <a:t> мы сначала фиксируем номер строки и последовательно идём по элементам этой строки. В результате обращения к памяти идут подряд, что хорошо использует </a:t>
            </a:r>
            <a:r>
              <a:rPr lang="ru-RU" b="1" dirty="0"/>
              <a:t>пространственную локальность</a:t>
            </a:r>
            <a:r>
              <a:rPr lang="ru-RU" dirty="0"/>
              <a:t> и кеш процессора.</a:t>
            </a:r>
            <a:endParaRPr lang="en-US" dirty="0"/>
          </a:p>
          <a:p>
            <a:endParaRPr lang="ru-RU" dirty="0"/>
          </a:p>
          <a:p>
            <a:r>
              <a:rPr lang="ru-RU" dirty="0"/>
              <a:t>В функции </a:t>
            </a:r>
            <a:r>
              <a:rPr lang="ru-RU" sz="1200" kern="1200" dirty="0" err="1">
                <a:solidFill>
                  <a:schemeClr val="tx1"/>
                </a:solidFill>
                <a:latin typeface="+mn-lt"/>
                <a:ea typeface="+mn-ea"/>
                <a:cs typeface="+mn-cs"/>
              </a:rPr>
              <a:t>ColumnMajor</a:t>
            </a:r>
            <a:r>
              <a:rPr lang="ru-RU" dirty="0"/>
              <a:t> порядок обхода другой: сначала выбирается столбец, а затем перебираются строки. В этом случае обращения к памяти происходят с большим шагом, и процессору приходится постоянно загружать новые </a:t>
            </a:r>
            <a:r>
              <a:rPr lang="ru-RU" dirty="0" err="1"/>
              <a:t>cache</a:t>
            </a:r>
            <a:r>
              <a:rPr lang="ru-RU" dirty="0"/>
              <a:t> </a:t>
            </a:r>
            <a:r>
              <a:rPr lang="ru-RU" dirty="0" err="1"/>
              <a:t>line</a:t>
            </a:r>
            <a:r>
              <a:rPr lang="ru-RU" dirty="0"/>
              <a:t> из памяти.</a:t>
            </a:r>
            <a:endParaRPr lang="en-US" dirty="0"/>
          </a:p>
          <a:p>
            <a:endParaRPr lang="ru-RU" dirty="0"/>
          </a:p>
          <a:p>
            <a:r>
              <a:rPr lang="ru-RU" dirty="0"/>
              <a:t>Хотя обе функции выполняют одинаковое количество операций, разница во времени выполнения получается более чем </a:t>
            </a:r>
            <a:r>
              <a:rPr lang="ru-RU" b="1" dirty="0"/>
              <a:t>в десять раз</a:t>
            </a:r>
            <a:r>
              <a:rPr lang="ru-RU" dirty="0"/>
              <a:t>. Этот пример показывает, что производительность программы может сильно зависеть не только от алгоритма, но и от </a:t>
            </a:r>
            <a:r>
              <a:rPr lang="ru-RU" b="1" dirty="0"/>
              <a:t>порядка доступа к данным в памяти</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28</a:t>
            </a:fld>
            <a:endParaRPr lang="en-US"/>
          </a:p>
        </p:txBody>
      </p:sp>
    </p:spTree>
    <p:extLst>
      <p:ext uri="{BB962C8B-B14F-4D97-AF65-F5344CB8AC3E}">
        <p14:creationId xmlns:p14="http://schemas.microsoft.com/office/powerpoint/2010/main" val="27524480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Важно понимать, что процессор работает с памятью не на уровне отдельных байтов или переменных, а на уровне блоков.</a:t>
            </a:r>
          </a:p>
          <a:p>
            <a:r>
              <a:rPr lang="ru-RU" dirty="0"/>
              <a:t>Когда происходит обращение к памяти, в кеш загружается не один конкретный элемент, а целый блок данных, который называется </a:t>
            </a:r>
            <a:r>
              <a:rPr lang="ru-RU" dirty="0" err="1"/>
              <a:t>cache</a:t>
            </a:r>
            <a:r>
              <a:rPr lang="ru-RU" dirty="0"/>
              <a:t> </a:t>
            </a:r>
            <a:r>
              <a:rPr lang="ru-RU" dirty="0" err="1"/>
              <a:t>line</a:t>
            </a:r>
            <a:r>
              <a:rPr lang="ru-RU" dirty="0"/>
              <a:t> (кеш-линия).</a:t>
            </a:r>
          </a:p>
          <a:p>
            <a:r>
              <a:rPr lang="ru-RU" dirty="0"/>
              <a:t>Типичный размер </a:t>
            </a:r>
            <a:r>
              <a:rPr lang="ru-RU" dirty="0" err="1"/>
              <a:t>cache</a:t>
            </a:r>
            <a:r>
              <a:rPr lang="ru-RU" dirty="0"/>
              <a:t> </a:t>
            </a:r>
            <a:r>
              <a:rPr lang="ru-RU" dirty="0" err="1"/>
              <a:t>line</a:t>
            </a:r>
            <a:r>
              <a:rPr lang="ru-RU" dirty="0"/>
              <a:t> составляет 64 байт, хотя он может отличаться в зависимости от архитектуры процессора. Это означает, что при обращении, например, к одному элементу массива, процессор фактически загружает в кеш сразу несколько соседних элементов.</a:t>
            </a:r>
          </a:p>
          <a:p>
            <a:endParaRPr lang="ru-RU" dirty="0"/>
          </a:p>
          <a:p>
            <a:r>
              <a:rPr lang="ru-RU" dirty="0"/>
              <a:t>На иллюстрации это показано следующим образом. Справа изображена оперативная память, а слева — кеш. Цветные полосы соответствуют отдельным </a:t>
            </a:r>
            <a:r>
              <a:rPr lang="ru-RU" dirty="0" err="1"/>
              <a:t>cache</a:t>
            </a:r>
            <a:r>
              <a:rPr lang="ru-RU" dirty="0"/>
              <a:t> </a:t>
            </a:r>
            <a:r>
              <a:rPr lang="ru-RU" dirty="0" err="1"/>
              <a:t>line</a:t>
            </a:r>
            <a:r>
              <a:rPr lang="ru-RU" dirty="0"/>
              <a:t>, которые были загружены из памяти в кеш.</a:t>
            </a:r>
          </a:p>
          <a:p>
            <a:r>
              <a:rPr lang="ru-RU" dirty="0"/>
              <a:t>Обратите внимание, что при загрузке одного блока из оперативной памяти в кеш переносится целая непрерывная область адресов. Это делается не случайно, а исходя из предположения о пространственной локальности.</a:t>
            </a:r>
          </a:p>
          <a:p>
            <a:endParaRPr lang="ru-RU" dirty="0"/>
          </a:p>
          <a:p>
            <a:r>
              <a:rPr lang="ru-RU" dirty="0"/>
              <a:t>Процессор предполагает, что если программа обратилась к некоторому адресу, то с высокой вероятностью она скоро обратится к соседним адресам. Поэтому выгоднее сразу загрузить их все.</a:t>
            </a:r>
          </a:p>
          <a:p>
            <a:endParaRPr lang="ru-RU" dirty="0"/>
          </a:p>
          <a:p>
            <a:r>
              <a:rPr lang="ru-RU" dirty="0"/>
              <a:t>Именно поэтому последовательный обход массива работает очень эффективно. Когда мы читаем первый элемент, в кеш загружается вся </a:t>
            </a:r>
            <a:r>
              <a:rPr lang="ru-RU" dirty="0" err="1"/>
              <a:t>cache</a:t>
            </a:r>
            <a:r>
              <a:rPr lang="ru-RU" dirty="0"/>
              <a:t> </a:t>
            </a:r>
            <a:r>
              <a:rPr lang="ru-RU" dirty="0" err="1"/>
              <a:t>line</a:t>
            </a:r>
            <a:r>
              <a:rPr lang="ru-RU" dirty="0"/>
              <a:t>, содержащая и следующие элементы. Последующие обращения к этим данным происходят уже без дополнительных обращений к оперативной памяти.</a:t>
            </a:r>
          </a:p>
          <a:p>
            <a:endParaRPr lang="ru-RU" dirty="0"/>
          </a:p>
          <a:p>
            <a:r>
              <a:rPr lang="ru-RU" dirty="0"/>
              <a:t>Если же доступ к данным происходит с большим шагом, например при обходе матрицы по столбцам, то каждый раз загружается новая </a:t>
            </a:r>
            <a:r>
              <a:rPr lang="ru-RU" dirty="0" err="1"/>
              <a:t>cache</a:t>
            </a:r>
            <a:r>
              <a:rPr lang="ru-RU" dirty="0"/>
              <a:t> </a:t>
            </a:r>
            <a:r>
              <a:rPr lang="ru-RU" dirty="0" err="1"/>
              <a:t>line</a:t>
            </a:r>
            <a:r>
              <a:rPr lang="ru-RU" dirty="0"/>
              <a:t>, а данные из предыдущих линий могут не использоваться. Это приводит к большому количеству </a:t>
            </a:r>
            <a:r>
              <a:rPr lang="ru-RU" dirty="0" err="1"/>
              <a:t>cache</a:t>
            </a:r>
            <a:r>
              <a:rPr lang="ru-RU" dirty="0"/>
              <a:t> </a:t>
            </a:r>
            <a:r>
              <a:rPr lang="ru-RU" dirty="0" err="1"/>
              <a:t>miss</a:t>
            </a:r>
            <a:r>
              <a:rPr lang="ru-RU" dirty="0"/>
              <a:t> и снижению производительности.</a:t>
            </a:r>
          </a:p>
          <a:p>
            <a:endParaRPr lang="ru-RU" dirty="0"/>
          </a:p>
          <a:p>
            <a:r>
              <a:rPr lang="ru-RU" dirty="0"/>
              <a:t>Таким образом, </a:t>
            </a:r>
            <a:r>
              <a:rPr lang="ru-RU" dirty="0" err="1"/>
              <a:t>cache</a:t>
            </a:r>
            <a:r>
              <a:rPr lang="ru-RU" dirty="0"/>
              <a:t> </a:t>
            </a:r>
            <a:r>
              <a:rPr lang="ru-RU" dirty="0" err="1"/>
              <a:t>line</a:t>
            </a:r>
            <a:r>
              <a:rPr lang="ru-RU" dirty="0"/>
              <a:t> является ключевым элементом, объясняющим, почему последовательный доступ к памяти работает значительно быстрее, чем случайный или разреженный доступ.</a:t>
            </a:r>
          </a:p>
        </p:txBody>
      </p:sp>
      <p:sp>
        <p:nvSpPr>
          <p:cNvPr id="4" name="Slide Number Placeholder 3"/>
          <p:cNvSpPr>
            <a:spLocks noGrp="1"/>
          </p:cNvSpPr>
          <p:nvPr>
            <p:ph type="sldNum" sz="quarter" idx="5"/>
          </p:nvPr>
        </p:nvSpPr>
        <p:spPr/>
        <p:txBody>
          <a:bodyPr/>
          <a:lstStyle/>
          <a:p>
            <a:fld id="{8740D86D-1409-43B0-8811-9A559436DAB5}" type="slidenum">
              <a:rPr lang="en-US" smtClean="0"/>
              <a:t>29</a:t>
            </a:fld>
            <a:endParaRPr lang="en-US"/>
          </a:p>
        </p:txBody>
      </p:sp>
    </p:spTree>
    <p:extLst>
      <p:ext uri="{BB962C8B-B14F-4D97-AF65-F5344CB8AC3E}">
        <p14:creationId xmlns:p14="http://schemas.microsoft.com/office/powerpoint/2010/main" val="17381477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небольшой эксперимент, который демонстрирует поведение кеш-линии.</a:t>
            </a:r>
            <a:endParaRPr lang="en-US" dirty="0"/>
          </a:p>
          <a:p>
            <a:endParaRPr lang="ru-RU" dirty="0"/>
          </a:p>
          <a:p>
            <a:r>
              <a:rPr lang="ru-RU" dirty="0"/>
              <a:t>Мы создаём массив байтов размером ровно </a:t>
            </a:r>
            <a:r>
              <a:rPr lang="ru-RU" b="1" dirty="0"/>
              <a:t>одну кеш-линию </a:t>
            </a:r>
            <a:r>
              <a:rPr lang="ru-RU" dirty="0"/>
              <a:t>и выравниваем его по границе кеш-линии с помощью </a:t>
            </a:r>
            <a:r>
              <a:rPr lang="ru-RU" sz="1200" kern="1200" dirty="0" err="1">
                <a:solidFill>
                  <a:schemeClr val="tx1"/>
                </a:solidFill>
                <a:latin typeface="+mn-lt"/>
                <a:ea typeface="+mn-ea"/>
                <a:cs typeface="+mn-cs"/>
              </a:rPr>
              <a:t>alignas</a:t>
            </a:r>
            <a:r>
              <a:rPr lang="ru-RU" dirty="0"/>
              <a:t>. Затем в цикле очень много раз читаем элементы этого массива.</a:t>
            </a:r>
          </a:p>
          <a:p>
            <a:r>
              <a:rPr lang="ru-RU" dirty="0"/>
              <a:t>В первом случае доступ выполняется </a:t>
            </a:r>
            <a:r>
              <a:rPr lang="ru-RU" b="1" dirty="0"/>
              <a:t>последовательно</a:t>
            </a:r>
            <a:r>
              <a:rPr lang="ru-RU" dirty="0"/>
              <a:t> — просто переходим к следующему элементу.</a:t>
            </a:r>
            <a:br>
              <a:rPr lang="ru-RU" dirty="0"/>
            </a:br>
            <a:r>
              <a:rPr lang="ru-RU" dirty="0"/>
              <a:t>Во втором случае адрес следующего элемента вычисляется по формуле, которая даёт </a:t>
            </a:r>
            <a:r>
              <a:rPr lang="ru-RU" b="1" dirty="0"/>
              <a:t>псевдослучайный порядок обхода</a:t>
            </a:r>
            <a:r>
              <a:rPr lang="ru-RU" dirty="0"/>
              <a:t> внутри той же кеш-линии.</a:t>
            </a:r>
          </a:p>
          <a:p>
            <a:r>
              <a:rPr lang="ru-RU" dirty="0"/>
              <a:t>Важно, что в обоих случаях мы обращаемся </a:t>
            </a:r>
            <a:r>
              <a:rPr lang="ru-RU" b="1" dirty="0"/>
              <a:t>только к данным внутри одной кеш-линии</a:t>
            </a:r>
            <a:r>
              <a:rPr lang="ru-RU" dirty="0"/>
              <a:t>. Поэтому после первого обращения вся линия уже находится в кеше процессора.</a:t>
            </a:r>
            <a:endParaRPr lang="en-US" dirty="0"/>
          </a:p>
          <a:p>
            <a:endParaRPr lang="ru-RU" dirty="0"/>
          </a:p>
          <a:p>
            <a:r>
              <a:rPr lang="ru-RU" dirty="0"/>
              <a:t>Как видно из результатов измерений, время выполнения практически одинаковое. Это показывает, что </a:t>
            </a:r>
            <a:r>
              <a:rPr lang="ru-RU" b="1" dirty="0"/>
              <a:t>порядок доступа внутри одной кеш-линии почти не влияет на производительность</a:t>
            </a:r>
            <a:r>
              <a:rPr lang="ru-RU" dirty="0"/>
              <a:t>, потому что данные уже находятся в быстром кеше.</a:t>
            </a:r>
            <a:endParaRPr lang="en-US" dirty="0"/>
          </a:p>
          <a:p>
            <a:endParaRPr lang="ru-RU" dirty="0"/>
          </a:p>
          <a:p>
            <a:r>
              <a:rPr lang="ru-RU" dirty="0"/>
              <a:t>Проблемы начинают возникать тогда, когда программе приходится постоянно загружать </a:t>
            </a:r>
            <a:r>
              <a:rPr lang="ru-RU" b="1" dirty="0"/>
              <a:t>новые кеш линии из памяти</a:t>
            </a:r>
            <a:r>
              <a:rPr lang="ru-RU" dirty="0"/>
              <a:t>, и именно это мы рассмотрим дальше.</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30</a:t>
            </a:fld>
            <a:endParaRPr lang="en-US"/>
          </a:p>
        </p:txBody>
      </p:sp>
    </p:spTree>
    <p:extLst>
      <p:ext uri="{BB962C8B-B14F-4D97-AF65-F5344CB8AC3E}">
        <p14:creationId xmlns:p14="http://schemas.microsoft.com/office/powerpoint/2010/main" val="1114189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6367-7975-6A19-765B-4C19AC05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AEBB0-640E-E111-B8A2-E12346321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0F9A9-CFB1-5225-D651-318CC454E1BF}"/>
              </a:ext>
            </a:extLst>
          </p:cNvPr>
          <p:cNvSpPr>
            <a:spLocks noGrp="1"/>
          </p:cNvSpPr>
          <p:nvPr>
            <p:ph type="body" idx="1"/>
          </p:nvPr>
        </p:nvSpPr>
        <p:spPr/>
        <p:txBody>
          <a:bodyPr/>
          <a:lstStyle/>
          <a:p>
            <a:r>
              <a:rPr lang="ru-RU" dirty="0"/>
              <a:t>На этом слайде показан тот же эксперимент, но теперь массив значительно больше — около </a:t>
            </a:r>
            <a:r>
              <a:rPr lang="ru-RU" b="1" dirty="0"/>
              <a:t>64 мегабайт</a:t>
            </a:r>
            <a:r>
              <a:rPr lang="ru-RU" dirty="0"/>
              <a:t>. Такой объём данных уже </a:t>
            </a:r>
            <a:r>
              <a:rPr lang="ru-RU" b="1" dirty="0"/>
              <a:t>не помещается в кеш процессора</a:t>
            </a:r>
            <a:r>
              <a:rPr lang="ru-RU" dirty="0"/>
              <a:t>, поэтому программе постоянно приходится загружать новые </a:t>
            </a:r>
            <a:r>
              <a:rPr lang="ru-RU" dirty="0" err="1"/>
              <a:t>cache</a:t>
            </a:r>
            <a:r>
              <a:rPr lang="ru-RU" dirty="0"/>
              <a:t> </a:t>
            </a:r>
            <a:r>
              <a:rPr lang="ru-RU" dirty="0" err="1"/>
              <a:t>line</a:t>
            </a:r>
            <a:r>
              <a:rPr lang="ru-RU" dirty="0"/>
              <a:t> из памяти.</a:t>
            </a:r>
          </a:p>
          <a:p>
            <a:endParaRPr lang="ru-RU" dirty="0"/>
          </a:p>
          <a:p>
            <a:r>
              <a:rPr lang="ru-RU" dirty="0"/>
              <a:t>Обратите внимание на важный момент. В предыдущем эксперименте мы перебирали </a:t>
            </a:r>
            <a:r>
              <a:rPr lang="ru-RU" b="1" dirty="0"/>
              <a:t>одну </a:t>
            </a:r>
            <a:r>
              <a:rPr lang="ru-RU" b="1" dirty="0" err="1"/>
              <a:t>cache</a:t>
            </a:r>
            <a:r>
              <a:rPr lang="ru-RU" b="1" dirty="0"/>
              <a:t> </a:t>
            </a:r>
            <a:r>
              <a:rPr lang="ru-RU" b="1" dirty="0" err="1"/>
              <a:t>line</a:t>
            </a:r>
            <a:r>
              <a:rPr lang="ru-RU" b="1" dirty="0"/>
              <a:t> размером 64 байта</a:t>
            </a:r>
            <a:r>
              <a:rPr lang="ru-RU" dirty="0"/>
              <a:t>, а здесь перебираем </a:t>
            </a:r>
            <a:r>
              <a:rPr lang="ru-RU" b="1" dirty="0"/>
              <a:t>массив размером 64 мегабайта</a:t>
            </a:r>
            <a:r>
              <a:rPr lang="ru-RU" dirty="0"/>
              <a:t>.</a:t>
            </a:r>
            <a:endParaRPr lang="en-US" dirty="0"/>
          </a:p>
          <a:p>
            <a:endParaRPr lang="en-US" dirty="0"/>
          </a:p>
          <a:p>
            <a:r>
              <a:rPr lang="ru-RU" dirty="0"/>
              <a:t>Однако время </a:t>
            </a:r>
            <a:r>
              <a:rPr lang="ru-RU" b="1" dirty="0"/>
              <a:t>последовательного обхода</a:t>
            </a:r>
            <a:r>
              <a:rPr lang="ru-RU" dirty="0"/>
              <a:t> почти не изменилось, хотя объём данных увеличился в миллион раз. Это происходит потому, что при последовательном доступе процессор может эффективно использовать </a:t>
            </a:r>
            <a:r>
              <a:rPr lang="ru-RU" b="1" dirty="0"/>
              <a:t>аппаратную предвыборку данных — </a:t>
            </a:r>
            <a:r>
              <a:rPr lang="ru-RU" b="1" dirty="0" err="1"/>
              <a:t>hardware</a:t>
            </a:r>
            <a:r>
              <a:rPr lang="ru-RU" b="1" dirty="0"/>
              <a:t> </a:t>
            </a:r>
            <a:r>
              <a:rPr lang="ru-RU" b="1" dirty="0" err="1"/>
              <a:t>prefetcher</a:t>
            </a:r>
            <a:r>
              <a:rPr lang="ru-RU" dirty="0"/>
              <a:t>. Процессор заранее подгружает следующие </a:t>
            </a:r>
            <a:r>
              <a:rPr lang="ru-RU" dirty="0" err="1"/>
              <a:t>cache</a:t>
            </a:r>
            <a:r>
              <a:rPr lang="ru-RU" dirty="0"/>
              <a:t> </a:t>
            </a:r>
            <a:r>
              <a:rPr lang="ru-RU" dirty="0" err="1"/>
              <a:t>line</a:t>
            </a:r>
            <a:r>
              <a:rPr lang="ru-RU" dirty="0"/>
              <a:t> в кеш, и ожидание памяти почти не возникает.</a:t>
            </a:r>
          </a:p>
          <a:p>
            <a:endParaRPr lang="ru-RU" dirty="0"/>
          </a:p>
          <a:p>
            <a:r>
              <a:rPr lang="ru-RU" dirty="0"/>
              <a:t>Во втором случае используется </a:t>
            </a:r>
            <a:r>
              <a:rPr lang="ru-RU" b="1" dirty="0"/>
              <a:t>псевдослучайный порядок обращения к элементам</a:t>
            </a:r>
            <a:r>
              <a:rPr lang="ru-RU" dirty="0"/>
              <a:t> массива. Теперь процессор не может предсказать, какие данные понадобятся дальше, поэтому предвыборка не работает. Каждое обращение часто приводит к загрузке новой </a:t>
            </a:r>
            <a:r>
              <a:rPr lang="ru-RU" dirty="0" err="1"/>
              <a:t>cache</a:t>
            </a:r>
            <a:r>
              <a:rPr lang="ru-RU" dirty="0"/>
              <a:t> </a:t>
            </a:r>
            <a:r>
              <a:rPr lang="ru-RU" dirty="0" err="1"/>
              <a:t>line</a:t>
            </a:r>
            <a:r>
              <a:rPr lang="ru-RU" dirty="0"/>
              <a:t> из более медленной памяти.</a:t>
            </a:r>
          </a:p>
          <a:p>
            <a:endParaRPr lang="ru-RU" dirty="0"/>
          </a:p>
          <a:p>
            <a:r>
              <a:rPr lang="ru-RU" dirty="0"/>
              <a:t>В результате время выполнения увеличивается примерно </a:t>
            </a:r>
            <a:r>
              <a:rPr lang="ru-RU" b="1" dirty="0"/>
              <a:t>в пять раз</a:t>
            </a:r>
            <a:r>
              <a:rPr lang="ru-RU" dirty="0"/>
              <a:t>, хотя программа выполняет те же самые операции. Этот пример хорошо показывает, насколько сильно производительность может зависеть от </a:t>
            </a:r>
            <a:r>
              <a:rPr lang="ru-RU" b="1" dirty="0"/>
              <a:t>характера доступа к памяти</a:t>
            </a:r>
            <a:r>
              <a:rPr lang="ru-RU" dirty="0"/>
              <a:t>, а не только от количества вычислений.</a:t>
            </a:r>
          </a:p>
          <a:p>
            <a:endParaRPr lang="en-US" dirty="0"/>
          </a:p>
        </p:txBody>
      </p:sp>
      <p:sp>
        <p:nvSpPr>
          <p:cNvPr id="4" name="Slide Number Placeholder 3">
            <a:extLst>
              <a:ext uri="{FF2B5EF4-FFF2-40B4-BE49-F238E27FC236}">
                <a16:creationId xmlns:a16="http://schemas.microsoft.com/office/drawing/2014/main" id="{95FD839B-CF62-87B1-F064-084F0101AA33}"/>
              </a:ext>
            </a:extLst>
          </p:cNvPr>
          <p:cNvSpPr>
            <a:spLocks noGrp="1"/>
          </p:cNvSpPr>
          <p:nvPr>
            <p:ph type="sldNum" sz="quarter" idx="5"/>
          </p:nvPr>
        </p:nvSpPr>
        <p:spPr/>
        <p:txBody>
          <a:bodyPr/>
          <a:lstStyle/>
          <a:p>
            <a:fld id="{8740D86D-1409-43B0-8811-9A559436DAB5}" type="slidenum">
              <a:rPr lang="en-US" smtClean="0"/>
              <a:t>31</a:t>
            </a:fld>
            <a:endParaRPr lang="en-US"/>
          </a:p>
        </p:txBody>
      </p:sp>
    </p:spTree>
    <p:extLst>
      <p:ext uri="{BB962C8B-B14F-4D97-AF65-F5344CB8AC3E}">
        <p14:creationId xmlns:p14="http://schemas.microsoft.com/office/powerpoint/2010/main" val="28284419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этого мы обсуждали влияние кеша на производительность последовательных программ. Однако кеш-память играет очень важную роль и в параллельных программах.</a:t>
            </a:r>
          </a:p>
          <a:p>
            <a:endParaRPr lang="ru-RU" dirty="0"/>
          </a:p>
          <a:p>
            <a:r>
              <a:rPr lang="ru-RU" dirty="0"/>
              <a:t>Когда несколько потоков одновременно работают с данными, они могут </a:t>
            </a:r>
            <a:r>
              <a:rPr lang="ru-RU" b="1" dirty="0"/>
              <a:t>конкурировать за ресурсы кеша и памяти</a:t>
            </a:r>
            <a:r>
              <a:rPr lang="ru-RU" dirty="0"/>
              <a:t>. Например, разные потоки могут активно использовать один и тот же уровень кеша процессора.</a:t>
            </a:r>
          </a:p>
          <a:p>
            <a:endParaRPr lang="ru-RU" dirty="0"/>
          </a:p>
          <a:p>
            <a:r>
              <a:rPr lang="ru-RU" dirty="0"/>
              <a:t>Кроме того, возникают специфические проблемы параллельных программ. Один из примеров — </a:t>
            </a:r>
            <a:r>
              <a:rPr lang="ru-RU" b="1" dirty="0" err="1"/>
              <a:t>false</a:t>
            </a:r>
            <a:r>
              <a:rPr lang="ru-RU" b="1" dirty="0"/>
              <a:t> </a:t>
            </a:r>
            <a:r>
              <a:rPr lang="ru-RU" b="1" dirty="0" err="1"/>
              <a:t>sharing</a:t>
            </a:r>
            <a:r>
              <a:rPr lang="ru-RU" dirty="0"/>
              <a:t>, когда разные потоки изменяют разные переменные, но они находятся в одной </a:t>
            </a:r>
            <a:r>
              <a:rPr lang="ru-RU" dirty="0" err="1"/>
              <a:t>cache</a:t>
            </a:r>
            <a:r>
              <a:rPr lang="ru-RU" dirty="0"/>
              <a:t> </a:t>
            </a:r>
            <a:r>
              <a:rPr lang="ru-RU" dirty="0" err="1"/>
              <a:t>line</a:t>
            </a:r>
            <a:r>
              <a:rPr lang="ru-RU" dirty="0"/>
              <a:t>. В результате процессор вынужден постоянно синхронизировать кеши разных ядер.</a:t>
            </a:r>
          </a:p>
          <a:p>
            <a:endParaRPr lang="ru-RU" dirty="0"/>
          </a:p>
          <a:p>
            <a:r>
              <a:rPr lang="ru-RU" dirty="0"/>
              <a:t>Ещё одна проблема — </a:t>
            </a:r>
            <a:r>
              <a:rPr lang="ru-RU" b="1" dirty="0"/>
              <a:t>ограничение пропускной способности памяти</a:t>
            </a:r>
            <a:r>
              <a:rPr lang="ru-RU" dirty="0"/>
              <a:t>. Если много потоков одновременно читают данные из памяти, то узким местом может стать не процессор, а сама подсистема памяти.</a:t>
            </a:r>
          </a:p>
          <a:p>
            <a:endParaRPr lang="ru-RU" dirty="0"/>
          </a:p>
          <a:p>
            <a:r>
              <a:rPr lang="ru-RU" dirty="0"/>
              <a:t>Поэтому при разработке параллельных алгоритмов важно учитывать не только количество потоков, но и </a:t>
            </a:r>
            <a:r>
              <a:rPr lang="ru-RU" b="1" dirty="0"/>
              <a:t>то, как программа обращается к памяти</a:t>
            </a:r>
            <a:r>
              <a:rPr lang="ru-RU" dirty="0"/>
              <a:t>. Именно эти проблемы мы сейчас рассмотрим подробнее.</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32</a:t>
            </a:fld>
            <a:endParaRPr lang="en-US"/>
          </a:p>
        </p:txBody>
      </p:sp>
    </p:spTree>
    <p:extLst>
      <p:ext uri="{BB962C8B-B14F-4D97-AF65-F5344CB8AC3E}">
        <p14:creationId xmlns:p14="http://schemas.microsoft.com/office/powerpoint/2010/main" val="21504506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эксперимент, иллюстрирующий </a:t>
            </a:r>
            <a:r>
              <a:rPr lang="ru-RU" b="1" dirty="0"/>
              <a:t>конкуренцию потоков за общий L3 кеш</a:t>
            </a:r>
            <a:r>
              <a:rPr lang="ru-RU" dirty="0"/>
              <a:t>.</a:t>
            </a:r>
            <a:endParaRPr lang="en-US" dirty="0"/>
          </a:p>
          <a:p>
            <a:endParaRPr lang="ru-RU" dirty="0"/>
          </a:p>
          <a:p>
            <a:r>
              <a:rPr lang="ru-RU" dirty="0"/>
              <a:t>Каждый поток выполняет одну и ту же задачу: много раз суммирует элементы своего собственного массива. Обратите внимание, что у каждого потока </a:t>
            </a:r>
            <a:r>
              <a:rPr lang="ru-RU" b="1" dirty="0"/>
              <a:t>свой массив</a:t>
            </a:r>
            <a:r>
              <a:rPr lang="ru-RU" dirty="0"/>
              <a:t>, поэтому здесь нет ни </a:t>
            </a:r>
            <a:r>
              <a:rPr lang="ru-RU" b="1" dirty="0" err="1"/>
              <a:t>false</a:t>
            </a:r>
            <a:r>
              <a:rPr lang="ru-RU" b="1" dirty="0"/>
              <a:t> </a:t>
            </a:r>
            <a:r>
              <a:rPr lang="ru-RU" b="1" dirty="0" err="1"/>
              <a:t>sharing</a:t>
            </a:r>
            <a:r>
              <a:rPr lang="ru-RU" dirty="0"/>
              <a:t>, ни синхронизации между потоками. Потоки работают полностью независимо.</a:t>
            </a:r>
          </a:p>
          <a:p>
            <a:r>
              <a:rPr lang="ru-RU" dirty="0"/>
              <a:t>Мы запускаем эксперимент в двух режимах.</a:t>
            </a:r>
            <a:br>
              <a:rPr lang="ru-RU" dirty="0"/>
            </a:br>
            <a:r>
              <a:rPr lang="ru-RU" dirty="0"/>
              <a:t>В первом случае каждый поток обрабатывает массив из </a:t>
            </a:r>
            <a:r>
              <a:rPr lang="ru-RU" b="1" dirty="0"/>
              <a:t>1024 элементов</a:t>
            </a:r>
            <a:r>
              <a:rPr lang="ru-RU" dirty="0"/>
              <a:t>. Поскольку </a:t>
            </a:r>
            <a:r>
              <a:rPr lang="ru-RU" sz="1200" kern="1200" dirty="0" err="1">
                <a:solidFill>
                  <a:schemeClr val="tx1"/>
                </a:solidFill>
                <a:latin typeface="+mn-lt"/>
                <a:ea typeface="+mn-ea"/>
                <a:cs typeface="+mn-cs"/>
              </a:rPr>
              <a:t>int</a:t>
            </a:r>
            <a:r>
              <a:rPr lang="ru-RU" dirty="0"/>
              <a:t> занимает 4 байта, это всего </a:t>
            </a:r>
            <a:r>
              <a:rPr lang="ru-RU" b="1" dirty="0"/>
              <a:t>4 килобайта данных на поток</a:t>
            </a:r>
            <a:r>
              <a:rPr lang="ru-RU" dirty="0"/>
              <a:t>, которые легко помещаются в кеш.</a:t>
            </a:r>
          </a:p>
          <a:p>
            <a:r>
              <a:rPr lang="ru-RU" dirty="0"/>
              <a:t>Во втором случае каждый поток обрабатывает массив из </a:t>
            </a:r>
            <a:r>
              <a:rPr lang="ru-RU" b="1" dirty="0"/>
              <a:t>4 миллионов элементов</a:t>
            </a:r>
            <a:r>
              <a:rPr lang="ru-RU" dirty="0"/>
              <a:t>, то есть примерно </a:t>
            </a:r>
            <a:r>
              <a:rPr lang="ru-RU" b="1" dirty="0"/>
              <a:t>16 мегабайт данных на поток</a:t>
            </a:r>
            <a:r>
              <a:rPr lang="ru-RU" dirty="0"/>
              <a:t>.</a:t>
            </a:r>
          </a:p>
          <a:p>
            <a:r>
              <a:rPr lang="ru-RU" dirty="0"/>
              <a:t>Для ориентира на слайде приведены характеристики кешей конкретного процессора. В частности, общий </a:t>
            </a:r>
            <a:r>
              <a:rPr lang="ru-RU" b="1" dirty="0"/>
              <a:t>L3 кеш составляет 24 мегабайта</a:t>
            </a:r>
            <a:r>
              <a:rPr lang="ru-RU" dirty="0"/>
              <a:t> и он </a:t>
            </a:r>
            <a:r>
              <a:rPr lang="ru-RU" b="1" dirty="0"/>
              <a:t>разделяется между всеми ядрами</a:t>
            </a:r>
            <a:r>
              <a:rPr lang="ru-RU" dirty="0"/>
              <a:t>.</a:t>
            </a:r>
          </a:p>
          <a:p>
            <a:r>
              <a:rPr lang="ru-RU" dirty="0"/>
              <a:t>На следующем слайде мы посмотрим результаты измерений и увидим, как поведение программы меняется в зависимости от того, </a:t>
            </a:r>
            <a:r>
              <a:rPr lang="ru-RU" b="1" dirty="0"/>
              <a:t>помещается ли рабочий набор потоков в L3 кеш или нет</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33</a:t>
            </a:fld>
            <a:endParaRPr lang="en-US"/>
          </a:p>
        </p:txBody>
      </p:sp>
    </p:spTree>
    <p:extLst>
      <p:ext uri="{BB962C8B-B14F-4D97-AF65-F5344CB8AC3E}">
        <p14:creationId xmlns:p14="http://schemas.microsoft.com/office/powerpoint/2010/main" val="13768834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посмотрим на результаты эксперимента.</a:t>
            </a:r>
          </a:p>
          <a:p>
            <a:endParaRPr lang="ru-RU" dirty="0"/>
          </a:p>
          <a:p>
            <a:r>
              <a:rPr lang="ru-RU" dirty="0"/>
              <a:t>В первой группе измерений каждый поток работает с массивом из </a:t>
            </a:r>
            <a:r>
              <a:rPr lang="ru-RU" b="1" dirty="0"/>
              <a:t>1024 элементов</a:t>
            </a:r>
            <a:r>
              <a:rPr lang="ru-RU" dirty="0"/>
              <a:t>, то есть примерно </a:t>
            </a:r>
            <a:r>
              <a:rPr lang="ru-RU" b="1" dirty="0"/>
              <a:t>4 килобайта данных</a:t>
            </a:r>
            <a:r>
              <a:rPr lang="ru-RU" dirty="0"/>
              <a:t>. Даже при восьми потоках общий рабочий набор составляет около </a:t>
            </a:r>
            <a:r>
              <a:rPr lang="ru-RU" b="1" dirty="0"/>
              <a:t>32 килобайт</a:t>
            </a:r>
            <a:r>
              <a:rPr lang="ru-RU" dirty="0"/>
              <a:t>, что легко помещается в кеши процессора. Поэтому время выполнения почти не зависит от числа потоков — оно остаётся около одной секунды.</a:t>
            </a:r>
          </a:p>
          <a:p>
            <a:endParaRPr lang="ru-RU" dirty="0"/>
          </a:p>
          <a:p>
            <a:r>
              <a:rPr lang="ru-RU" dirty="0"/>
              <a:t>Во второй группе измерений каждый поток обрабатывает массив из </a:t>
            </a:r>
            <a:r>
              <a:rPr lang="ru-RU" b="1" dirty="0"/>
              <a:t>4 миллионов элементов</a:t>
            </a:r>
            <a:r>
              <a:rPr lang="ru-RU" dirty="0"/>
              <a:t>. Поскольку </a:t>
            </a:r>
            <a:r>
              <a:rPr lang="ru-RU" sz="1200" kern="1200" dirty="0" err="1">
                <a:solidFill>
                  <a:schemeClr val="tx1"/>
                </a:solidFill>
                <a:latin typeface="+mn-lt"/>
                <a:ea typeface="+mn-ea"/>
                <a:cs typeface="+mn-cs"/>
              </a:rPr>
              <a:t>int</a:t>
            </a:r>
            <a:r>
              <a:rPr lang="ru-RU" dirty="0"/>
              <a:t> занимает 4 байта, это примерно </a:t>
            </a:r>
            <a:r>
              <a:rPr lang="ru-RU" b="1" dirty="0"/>
              <a:t>16 мегабайт данных на поток</a:t>
            </a:r>
            <a:r>
              <a:rPr lang="ru-RU" dirty="0"/>
              <a:t>. Уже два потока используют около </a:t>
            </a:r>
            <a:r>
              <a:rPr lang="ru-RU" b="1" dirty="0"/>
              <a:t>32 мегабайт данных</a:t>
            </a:r>
            <a:r>
              <a:rPr lang="ru-RU" dirty="0"/>
              <a:t>, что больше размера L3 кеша на этой машине, который составляет </a:t>
            </a:r>
            <a:r>
              <a:rPr lang="ru-RU" b="1" dirty="0"/>
              <a:t>24 мегабайта</a:t>
            </a:r>
            <a:r>
              <a:rPr lang="ru-RU" dirty="0"/>
              <a:t>.</a:t>
            </a:r>
          </a:p>
          <a:p>
            <a:endParaRPr lang="ru-RU" dirty="0"/>
          </a:p>
          <a:p>
            <a:r>
              <a:rPr lang="ru-RU" dirty="0"/>
              <a:t>В результате данные потоков начинают </a:t>
            </a:r>
            <a:r>
              <a:rPr lang="ru-RU" b="1" dirty="0"/>
              <a:t>вытеснять друг друга из L3 кеша</a:t>
            </a:r>
            <a:r>
              <a:rPr lang="ru-RU" dirty="0"/>
              <a:t>, и процессору приходится всё чаще обращаться к оперативной памяти. Мы видим, что с увеличением числа потоков программа не заметно </a:t>
            </a:r>
            <a:r>
              <a:rPr lang="ru-RU" b="1" dirty="0"/>
              <a:t>становится медленнее</a:t>
            </a:r>
            <a:r>
              <a:rPr lang="ru-RU" dirty="0"/>
              <a:t>.</a:t>
            </a:r>
          </a:p>
          <a:p>
            <a:endParaRPr lang="ru-RU" dirty="0"/>
          </a:p>
          <a:p>
            <a:r>
              <a:rPr lang="ru-RU" dirty="0"/>
              <a:t>Этот пример показывает важный эффект: даже если потоки работают независимо, они могут </a:t>
            </a:r>
            <a:r>
              <a:rPr lang="ru-RU" b="1" dirty="0"/>
              <a:t>конкурировать за общий кеш</a:t>
            </a:r>
            <a:r>
              <a:rPr lang="ru-RU" dirty="0"/>
              <a:t>, и это может серьёзно ухудшать производительность параллельной программы.</a:t>
            </a:r>
          </a:p>
        </p:txBody>
      </p:sp>
      <p:sp>
        <p:nvSpPr>
          <p:cNvPr id="4" name="Slide Number Placeholder 3"/>
          <p:cNvSpPr>
            <a:spLocks noGrp="1"/>
          </p:cNvSpPr>
          <p:nvPr>
            <p:ph type="sldNum" sz="quarter" idx="5"/>
          </p:nvPr>
        </p:nvSpPr>
        <p:spPr/>
        <p:txBody>
          <a:bodyPr/>
          <a:lstStyle/>
          <a:p>
            <a:fld id="{8740D86D-1409-43B0-8811-9A559436DAB5}" type="slidenum">
              <a:rPr lang="en-US" smtClean="0"/>
              <a:t>34</a:t>
            </a:fld>
            <a:endParaRPr lang="en-US"/>
          </a:p>
        </p:txBody>
      </p:sp>
    </p:spTree>
    <p:extLst>
      <p:ext uri="{BB962C8B-B14F-4D97-AF65-F5344CB8AC3E}">
        <p14:creationId xmlns:p14="http://schemas.microsoft.com/office/powerpoint/2010/main" val="3891852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False</a:t>
            </a:r>
            <a:r>
              <a:rPr lang="ru-RU" dirty="0"/>
              <a:t> </a:t>
            </a:r>
            <a:r>
              <a:rPr lang="ru-RU" dirty="0" err="1"/>
              <a:t>sharing</a:t>
            </a:r>
            <a:r>
              <a:rPr lang="ru-RU" dirty="0"/>
              <a:t> — это распространённая проблема параллельных программ, связанная с устройством кеш-памяти.</a:t>
            </a:r>
            <a:endParaRPr lang="en-US" dirty="0"/>
          </a:p>
          <a:p>
            <a:endParaRPr lang="ru-RU" dirty="0"/>
          </a:p>
          <a:p>
            <a:r>
              <a:rPr lang="ru-RU" dirty="0"/>
              <a:t>Она возникает в ситуации, когда разные потоки изменяют разные переменные, но эти переменные расположены в одной и той же </a:t>
            </a:r>
            <a:r>
              <a:rPr lang="ru-RU" dirty="0" err="1"/>
              <a:t>cache</a:t>
            </a:r>
            <a:r>
              <a:rPr lang="ru-RU" dirty="0"/>
              <a:t> </a:t>
            </a:r>
            <a:r>
              <a:rPr lang="ru-RU" dirty="0" err="1"/>
              <a:t>line</a:t>
            </a:r>
            <a:r>
              <a:rPr lang="ru-RU" dirty="0"/>
              <a:t>. Напомню, что </a:t>
            </a:r>
            <a:r>
              <a:rPr lang="ru-RU" dirty="0" err="1"/>
              <a:t>cache</a:t>
            </a:r>
            <a:r>
              <a:rPr lang="ru-RU" dirty="0"/>
              <a:t> </a:t>
            </a:r>
            <a:r>
              <a:rPr lang="ru-RU" dirty="0" err="1"/>
              <a:t>line</a:t>
            </a:r>
            <a:r>
              <a:rPr lang="ru-RU" dirty="0"/>
              <a:t> обычно имеет размер около 64 байт.</a:t>
            </a:r>
            <a:endParaRPr lang="en-US" dirty="0"/>
          </a:p>
          <a:p>
            <a:endParaRPr lang="ru-RU" dirty="0"/>
          </a:p>
          <a:p>
            <a:r>
              <a:rPr lang="ru-RU" dirty="0"/>
              <a:t>Хотя потоки логически работают с разными данными, процессор вынужден синхронизировать целую кеш-линию между ядрами. Каждый раз, когда один поток изменяет значение, соответствующая кеш-линия </a:t>
            </a:r>
            <a:r>
              <a:rPr lang="ru-RU" dirty="0" err="1"/>
              <a:t>инвалидируется</a:t>
            </a:r>
            <a:r>
              <a:rPr lang="ru-RU" dirty="0"/>
              <a:t> в кешах других ядер.</a:t>
            </a:r>
            <a:endParaRPr lang="en-US" dirty="0"/>
          </a:p>
          <a:p>
            <a:endParaRPr lang="ru-RU" dirty="0"/>
          </a:p>
          <a:p>
            <a:r>
              <a:rPr lang="ru-RU" dirty="0"/>
              <a:t>В результате кеш-линия начинает постоянно перемещаться между ядрами, что может резко ухудшить производительность программы.</a:t>
            </a:r>
          </a:p>
          <a:p>
            <a:r>
              <a:rPr lang="ru-RU" dirty="0"/>
              <a:t>На следующем слайде мы рассмотрим пример, который демонстрирует эту проблему.</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35</a:t>
            </a:fld>
            <a:endParaRPr lang="en-US"/>
          </a:p>
        </p:txBody>
      </p:sp>
    </p:spTree>
    <p:extLst>
      <p:ext uri="{BB962C8B-B14F-4D97-AF65-F5344CB8AC3E}">
        <p14:creationId xmlns:p14="http://schemas.microsoft.com/office/powerpoint/2010/main" val="7027239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пример </a:t>
            </a:r>
            <a:r>
              <a:rPr lang="ru-RU" b="1" dirty="0" err="1"/>
              <a:t>false</a:t>
            </a:r>
            <a:r>
              <a:rPr lang="ru-RU" b="1" dirty="0"/>
              <a:t> </a:t>
            </a:r>
            <a:r>
              <a:rPr lang="ru-RU" b="1" dirty="0" err="1"/>
              <a:t>sharing</a:t>
            </a:r>
            <a:r>
              <a:rPr lang="ru-RU" dirty="0"/>
              <a:t>.</a:t>
            </a:r>
          </a:p>
          <a:p>
            <a:endParaRPr lang="ru-RU" dirty="0"/>
          </a:p>
          <a:p>
            <a:r>
              <a:rPr lang="ru-RU" dirty="0"/>
              <a:t>У нас есть массив из восьми элементов </a:t>
            </a:r>
            <a:r>
              <a:rPr lang="ru-RU" sz="1200" kern="1200" dirty="0">
                <a:solidFill>
                  <a:schemeClr val="tx1"/>
                </a:solidFill>
                <a:latin typeface="+mn-lt"/>
                <a:ea typeface="+mn-ea"/>
                <a:cs typeface="+mn-cs"/>
              </a:rPr>
              <a:t>uint32_t</a:t>
            </a:r>
            <a:r>
              <a:rPr lang="ru-RU" dirty="0"/>
              <a:t>, выровненный по границе </a:t>
            </a:r>
            <a:r>
              <a:rPr lang="ru-RU" dirty="0" err="1"/>
              <a:t>cache</a:t>
            </a:r>
            <a:r>
              <a:rPr lang="ru-RU" dirty="0"/>
              <a:t> </a:t>
            </a:r>
            <a:r>
              <a:rPr lang="ru-RU" dirty="0" err="1"/>
              <a:t>line</a:t>
            </a:r>
            <a:r>
              <a:rPr lang="ru-RU" dirty="0"/>
              <a:t>. Каждый поток увеличивает </a:t>
            </a:r>
            <a:r>
              <a:rPr lang="ru-RU" b="1" dirty="0"/>
              <a:t>свой элемент массива</a:t>
            </a:r>
            <a:r>
              <a:rPr lang="ru-RU" dirty="0"/>
              <a:t>, поэтому на уровне программы потоки работают с разными переменными и между ними нет ни синхронизации, ни гонок данных.</a:t>
            </a:r>
          </a:p>
          <a:p>
            <a:endParaRPr lang="ru-RU" dirty="0"/>
          </a:p>
          <a:p>
            <a:r>
              <a:rPr lang="ru-RU" dirty="0"/>
              <a:t>Однако элементы массива расположены </a:t>
            </a:r>
            <a:r>
              <a:rPr lang="ru-RU" b="1" dirty="0"/>
              <a:t>рядом в памяти</a:t>
            </a:r>
            <a:r>
              <a:rPr lang="ru-RU" dirty="0"/>
              <a:t>, и несколько из них попадают в </a:t>
            </a:r>
            <a:r>
              <a:rPr lang="ru-RU" b="1" dirty="0"/>
              <a:t>одну </a:t>
            </a:r>
            <a:r>
              <a:rPr lang="ru-RU" b="1" dirty="0" err="1"/>
              <a:t>cache</a:t>
            </a:r>
            <a:r>
              <a:rPr lang="ru-RU" b="1" dirty="0"/>
              <a:t> </a:t>
            </a:r>
            <a:r>
              <a:rPr lang="ru-RU" b="1" dirty="0" err="1"/>
              <a:t>line</a:t>
            </a:r>
            <a:r>
              <a:rPr lang="ru-RU" dirty="0"/>
              <a:t>. Когда разные потоки начинают изменять свои элементы, процессор вынужден постоянно синхронизировать эту </a:t>
            </a:r>
            <a:r>
              <a:rPr lang="ru-RU" dirty="0" err="1"/>
              <a:t>cache</a:t>
            </a:r>
            <a:r>
              <a:rPr lang="ru-RU" dirty="0"/>
              <a:t> </a:t>
            </a:r>
            <a:r>
              <a:rPr lang="ru-RU" dirty="0" err="1"/>
              <a:t>line</a:t>
            </a:r>
            <a:r>
              <a:rPr lang="ru-RU" dirty="0"/>
              <a:t> между ядрами.</a:t>
            </a:r>
          </a:p>
          <a:p>
            <a:endParaRPr lang="ru-RU" dirty="0"/>
          </a:p>
          <a:p>
            <a:r>
              <a:rPr lang="ru-RU" dirty="0"/>
              <a:t>В результате кеш-линия начинает “путешествовать” между кешами разных ядер, что увеличивает накладные расходы. Мы видим, что с увеличением числа потоков программа не ускоряется, а наоборот постепенно </a:t>
            </a:r>
            <a:r>
              <a:rPr lang="ru-RU" b="1" dirty="0"/>
              <a:t>замедляется</a:t>
            </a:r>
            <a:r>
              <a:rPr lang="ru-RU" dirty="0"/>
              <a:t>.</a:t>
            </a:r>
          </a:p>
          <a:p>
            <a:endParaRPr lang="ru-RU" dirty="0"/>
          </a:p>
          <a:p>
            <a:r>
              <a:rPr lang="ru-RU" dirty="0"/>
              <a:t>Это и есть эффект </a:t>
            </a:r>
            <a:r>
              <a:rPr lang="ru-RU" b="1" dirty="0" err="1"/>
              <a:t>false</a:t>
            </a:r>
            <a:r>
              <a:rPr lang="ru-RU" b="1" dirty="0"/>
              <a:t> </a:t>
            </a:r>
            <a:r>
              <a:rPr lang="ru-RU" b="1" dirty="0" err="1"/>
              <a:t>sharing</a:t>
            </a:r>
            <a:r>
              <a:rPr lang="ru-RU" dirty="0"/>
              <a:t> — логически данные независимы, но из-за их расположения в памяти потоки начинают мешать друг другу.</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36</a:t>
            </a:fld>
            <a:endParaRPr lang="en-US"/>
          </a:p>
        </p:txBody>
      </p:sp>
    </p:spTree>
    <p:extLst>
      <p:ext uri="{BB962C8B-B14F-4D97-AF65-F5344CB8AC3E}">
        <p14:creationId xmlns:p14="http://schemas.microsoft.com/office/powerpoint/2010/main" val="41919014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B62D-0E88-8B5A-9F7B-30D26BFAA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92032-2B0B-2E6C-D238-15730EAA4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E0C67-5F53-8309-5609-3A23C8869368}"/>
              </a:ext>
            </a:extLst>
          </p:cNvPr>
          <p:cNvSpPr>
            <a:spLocks noGrp="1"/>
          </p:cNvSpPr>
          <p:nvPr>
            <p:ph type="body" idx="1"/>
          </p:nvPr>
        </p:nvSpPr>
        <p:spPr/>
        <p:txBody>
          <a:bodyPr/>
          <a:lstStyle/>
          <a:p>
            <a:r>
              <a:rPr lang="ru-RU" dirty="0"/>
              <a:t>В этом варианте мы устраняем проблему </a:t>
            </a:r>
            <a:r>
              <a:rPr lang="ru-RU" b="1" dirty="0" err="1"/>
              <a:t>false</a:t>
            </a:r>
            <a:r>
              <a:rPr lang="ru-RU" b="1" dirty="0"/>
              <a:t> </a:t>
            </a:r>
            <a:r>
              <a:rPr lang="ru-RU" b="1" dirty="0" err="1"/>
              <a:t>sharing</a:t>
            </a:r>
            <a:r>
              <a:rPr lang="ru-RU" dirty="0"/>
              <a:t>.</a:t>
            </a:r>
          </a:p>
          <a:p>
            <a:endParaRPr lang="ru-RU" dirty="0"/>
          </a:p>
          <a:p>
            <a:r>
              <a:rPr lang="ru-RU" dirty="0"/>
              <a:t>Главная идея — сделать так, чтобы каждый счётчик находился </a:t>
            </a:r>
            <a:r>
              <a:rPr lang="ru-RU" b="1" dirty="0"/>
              <a:t>в своей собственной </a:t>
            </a:r>
            <a:r>
              <a:rPr lang="ru-RU" b="1" dirty="0" err="1"/>
              <a:t>cache</a:t>
            </a:r>
            <a:r>
              <a:rPr lang="ru-RU" b="1" dirty="0"/>
              <a:t> </a:t>
            </a:r>
            <a:r>
              <a:rPr lang="ru-RU" b="1" dirty="0" err="1"/>
              <a:t>line</a:t>
            </a:r>
            <a:r>
              <a:rPr lang="ru-RU" dirty="0"/>
              <a:t>. Для этого мы объявляем структуру </a:t>
            </a:r>
            <a:r>
              <a:rPr lang="ru-RU" sz="1200" kern="1200" dirty="0">
                <a:solidFill>
                  <a:schemeClr val="tx1"/>
                </a:solidFill>
                <a:latin typeface="+mn-lt"/>
                <a:ea typeface="+mn-ea"/>
                <a:cs typeface="+mn-cs"/>
              </a:rPr>
              <a:t>Counter</a:t>
            </a:r>
            <a:r>
              <a:rPr lang="ru-RU" dirty="0"/>
              <a:t> и выравниваем её по размеру кеш-линии с помощью </a:t>
            </a:r>
            <a:r>
              <a:rPr lang="ru-RU" sz="1200" kern="1200" dirty="0" err="1">
                <a:solidFill>
                  <a:schemeClr val="tx1"/>
                </a:solidFill>
                <a:latin typeface="+mn-lt"/>
                <a:ea typeface="+mn-ea"/>
                <a:cs typeface="+mn-cs"/>
              </a:rPr>
              <a:t>alignas</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std</a:t>
            </a:r>
            <a:r>
              <a:rPr lang="ru-RU" sz="1200" kern="1200" dirty="0">
                <a:solidFill>
                  <a:schemeClr val="tx1"/>
                </a:solidFill>
                <a:latin typeface="+mn-lt"/>
                <a:ea typeface="+mn-ea"/>
                <a:cs typeface="+mn-cs"/>
              </a:rPr>
              <a:t>::</a:t>
            </a:r>
            <a:r>
              <a:rPr lang="ru-RU" sz="1200" kern="1200" dirty="0" err="1">
                <a:solidFill>
                  <a:schemeClr val="tx1"/>
                </a:solidFill>
                <a:latin typeface="+mn-lt"/>
                <a:ea typeface="+mn-ea"/>
                <a:cs typeface="+mn-cs"/>
              </a:rPr>
              <a:t>hardware_destructive_interference_size</a:t>
            </a:r>
            <a:r>
              <a:rPr lang="ru-RU" sz="1200" kern="1200" dirty="0">
                <a:solidFill>
                  <a:schemeClr val="tx1"/>
                </a:solidFill>
                <a:latin typeface="+mn-lt"/>
                <a:ea typeface="+mn-ea"/>
                <a:cs typeface="+mn-cs"/>
              </a:rPr>
              <a:t>)</a:t>
            </a:r>
            <a:r>
              <a:rPr lang="ru-RU" dirty="0"/>
              <a:t>.</a:t>
            </a:r>
          </a:p>
          <a:p>
            <a:endParaRPr lang="ru-RU" dirty="0"/>
          </a:p>
          <a:p>
            <a:r>
              <a:rPr lang="ru-RU" dirty="0"/>
              <a:t>Теперь каждый элемент массива </a:t>
            </a:r>
            <a:r>
              <a:rPr lang="ru-RU" sz="1200" kern="1200" dirty="0" err="1">
                <a:solidFill>
                  <a:schemeClr val="tx1"/>
                </a:solidFill>
                <a:latin typeface="+mn-lt"/>
                <a:ea typeface="+mn-ea"/>
                <a:cs typeface="+mn-cs"/>
              </a:rPr>
              <a:t>gCounters</a:t>
            </a:r>
            <a:r>
              <a:rPr lang="ru-RU" dirty="0"/>
              <a:t> начинается с новой </a:t>
            </a:r>
            <a:r>
              <a:rPr lang="ru-RU" dirty="0" err="1"/>
              <a:t>cache</a:t>
            </a:r>
            <a:r>
              <a:rPr lang="ru-RU" dirty="0"/>
              <a:t> </a:t>
            </a:r>
            <a:r>
              <a:rPr lang="ru-RU" dirty="0" err="1"/>
              <a:t>line</a:t>
            </a:r>
            <a:r>
              <a:rPr lang="ru-RU" dirty="0"/>
              <a:t>. Это означает, что разные потоки больше </a:t>
            </a:r>
            <a:r>
              <a:rPr lang="ru-RU" b="1" dirty="0"/>
              <a:t>не разделяют одну и ту же кеш-линию</a:t>
            </a:r>
            <a:r>
              <a:rPr lang="ru-RU" dirty="0"/>
              <a:t>, даже если работают с соседними элементами массива.</a:t>
            </a:r>
          </a:p>
          <a:p>
            <a:endParaRPr lang="ru-RU" dirty="0"/>
          </a:p>
          <a:p>
            <a:r>
              <a:rPr lang="ru-RU" dirty="0"/>
              <a:t>В результате кеш-линия больше не “путешествует” между ядрами процессора. Каждый поток изменяет данные, которые находятся в его собственной кеш-линии.</a:t>
            </a:r>
          </a:p>
          <a:p>
            <a:endParaRPr lang="ru-RU" dirty="0"/>
          </a:p>
          <a:p>
            <a:r>
              <a:rPr lang="ru-RU" dirty="0"/>
              <a:t>По результатам измерений видно, что время выполнения теперь </a:t>
            </a:r>
            <a:r>
              <a:rPr lang="ru-RU" b="1" dirty="0"/>
              <a:t>почти не зависит от числа потоков</a:t>
            </a:r>
            <a:r>
              <a:rPr lang="ru-RU" dirty="0"/>
              <a:t>. Это показывает, что устранение </a:t>
            </a:r>
            <a:r>
              <a:rPr lang="ru-RU" dirty="0" err="1"/>
              <a:t>false</a:t>
            </a:r>
            <a:r>
              <a:rPr lang="ru-RU" dirty="0"/>
              <a:t> </a:t>
            </a:r>
            <a:r>
              <a:rPr lang="ru-RU" dirty="0" err="1"/>
              <a:t>sharing</a:t>
            </a:r>
            <a:r>
              <a:rPr lang="ru-RU" dirty="0"/>
              <a:t> может существенно улучшить производительность параллельной программы.</a:t>
            </a:r>
          </a:p>
          <a:p>
            <a:endParaRPr lang="en-US" dirty="0"/>
          </a:p>
        </p:txBody>
      </p:sp>
      <p:sp>
        <p:nvSpPr>
          <p:cNvPr id="4" name="Slide Number Placeholder 3">
            <a:extLst>
              <a:ext uri="{FF2B5EF4-FFF2-40B4-BE49-F238E27FC236}">
                <a16:creationId xmlns:a16="http://schemas.microsoft.com/office/drawing/2014/main" id="{792FE63E-C9DE-2BCB-A4C1-C4C9EFAA2959}"/>
              </a:ext>
            </a:extLst>
          </p:cNvPr>
          <p:cNvSpPr>
            <a:spLocks noGrp="1"/>
          </p:cNvSpPr>
          <p:nvPr>
            <p:ph type="sldNum" sz="quarter" idx="5"/>
          </p:nvPr>
        </p:nvSpPr>
        <p:spPr/>
        <p:txBody>
          <a:bodyPr/>
          <a:lstStyle/>
          <a:p>
            <a:fld id="{8740D86D-1409-43B0-8811-9A559436DAB5}" type="slidenum">
              <a:rPr lang="en-US" smtClean="0"/>
              <a:t>37</a:t>
            </a:fld>
            <a:endParaRPr lang="en-US"/>
          </a:p>
        </p:txBody>
      </p:sp>
    </p:spTree>
    <p:extLst>
      <p:ext uri="{BB962C8B-B14F-4D97-AF65-F5344CB8AC3E}">
        <p14:creationId xmlns:p14="http://schemas.microsoft.com/office/powerpoint/2010/main" val="24970532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Дисбаланс нагрузки возникает в ситуации, когда разные потоки получают разное количество работы.</a:t>
            </a:r>
          </a:p>
          <a:p>
            <a:endParaRPr lang="ru-RU" dirty="0"/>
          </a:p>
          <a:p>
            <a:r>
              <a:rPr lang="ru-RU" dirty="0"/>
              <a:t>Если один поток заканчивает свою часть вычислений раньше, он начинает простаивать, ожидая завершения других потоков. В это время ядро процессора фактически не используется.</a:t>
            </a:r>
          </a:p>
          <a:p>
            <a:endParaRPr lang="ru-RU" dirty="0"/>
          </a:p>
          <a:p>
            <a:r>
              <a:rPr lang="ru-RU" dirty="0"/>
              <a:t>Причины такого поведения могут быть разными. Например, входные данные могут быть распределены неравномерно, или разные элементы могут требовать разного времени обработки. Ещё одна распространённая причина — статическое распределение задач между потоками.</a:t>
            </a:r>
          </a:p>
          <a:p>
            <a:endParaRPr lang="ru-RU" dirty="0"/>
          </a:p>
          <a:p>
            <a:r>
              <a:rPr lang="ru-RU" dirty="0"/>
              <a:t>В результате общая производительность программы определяется тем потоком, который работает дольше всех. Поэтому при проектировании параллельных алгоритмов важно стараться распределять работу между потоками </a:t>
            </a:r>
            <a:r>
              <a:rPr lang="ru-RU" b="1" dirty="0"/>
              <a:t>как можно более равномерно</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38</a:t>
            </a:fld>
            <a:endParaRPr lang="en-US"/>
          </a:p>
        </p:txBody>
      </p:sp>
    </p:spTree>
    <p:extLst>
      <p:ext uri="{BB962C8B-B14F-4D97-AF65-F5344CB8AC3E}">
        <p14:creationId xmlns:p14="http://schemas.microsoft.com/office/powerpoint/2010/main" val="9686510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этом примере мы считаем количество простых чисел методом перебора.</a:t>
            </a:r>
            <a:endParaRPr lang="en-US" dirty="0"/>
          </a:p>
          <a:p>
            <a:br>
              <a:rPr lang="ru-RU" dirty="0"/>
            </a:br>
            <a:r>
              <a:rPr lang="ru-RU" dirty="0"/>
              <a:t>Функция </a:t>
            </a:r>
            <a:r>
              <a:rPr lang="ru-RU" sz="1200" kern="1200" dirty="0" err="1">
                <a:solidFill>
                  <a:schemeClr val="tx1"/>
                </a:solidFill>
                <a:latin typeface="+mn-lt"/>
                <a:ea typeface="+mn-ea"/>
                <a:cs typeface="+mn-cs"/>
              </a:rPr>
              <a:t>IsPrime</a:t>
            </a:r>
            <a:r>
              <a:rPr lang="ru-RU" dirty="0"/>
              <a:t> проверяет число на простоту очень простым способом — перебирая все возможные делители от 2 до </a:t>
            </a:r>
            <a:r>
              <a:rPr lang="ru-RU" sz="1200" kern="1200" dirty="0">
                <a:solidFill>
                  <a:schemeClr val="tx1"/>
                </a:solidFill>
                <a:latin typeface="+mn-lt"/>
                <a:ea typeface="+mn-ea"/>
                <a:cs typeface="+mn-cs"/>
              </a:rPr>
              <a:t>n-1</a:t>
            </a:r>
            <a:r>
              <a:rPr lang="ru-RU" dirty="0"/>
              <a:t>. Это специально сделано без оптимизаций, чтобы код был максимально простым и понятным.</a:t>
            </a:r>
            <a:endParaRPr lang="en-US" dirty="0"/>
          </a:p>
          <a:p>
            <a:endParaRPr lang="ru-RU" dirty="0"/>
          </a:p>
          <a:p>
            <a:r>
              <a:rPr lang="ru-RU" dirty="0"/>
              <a:t>Функция </a:t>
            </a:r>
            <a:r>
              <a:rPr lang="ru-RU" sz="1200" kern="1200" dirty="0" err="1">
                <a:solidFill>
                  <a:schemeClr val="tx1"/>
                </a:solidFill>
                <a:latin typeface="+mn-lt"/>
                <a:ea typeface="+mn-ea"/>
                <a:cs typeface="+mn-cs"/>
              </a:rPr>
              <a:t>CountPrimesInRange</a:t>
            </a:r>
            <a:r>
              <a:rPr lang="ru-RU" dirty="0"/>
              <a:t> просто проходит по диапазону чисел и увеличивает счётчик, если число оказывается простым.</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39</a:t>
            </a:fld>
            <a:endParaRPr lang="en-US"/>
          </a:p>
        </p:txBody>
      </p:sp>
    </p:spTree>
    <p:extLst>
      <p:ext uri="{BB962C8B-B14F-4D97-AF65-F5344CB8AC3E}">
        <p14:creationId xmlns:p14="http://schemas.microsoft.com/office/powerpoint/2010/main" val="30343704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мы распараллеливаем эту задачу. Диапазон чисел от 0 до </a:t>
            </a:r>
            <a:r>
              <a:rPr lang="ru-RU" sz="1200" kern="1200" dirty="0">
                <a:solidFill>
                  <a:schemeClr val="tx1"/>
                </a:solidFill>
                <a:latin typeface="+mn-lt"/>
                <a:ea typeface="+mn-ea"/>
                <a:cs typeface="+mn-cs"/>
              </a:rPr>
              <a:t>N</a:t>
            </a:r>
            <a:r>
              <a:rPr lang="ru-RU" dirty="0"/>
              <a:t> разбивается на равные по длине части, и каждая часть обрабатывается отдельным потоком.</a:t>
            </a:r>
          </a:p>
          <a:p>
            <a:endParaRPr lang="ru-RU" dirty="0"/>
          </a:p>
          <a:p>
            <a:r>
              <a:rPr lang="ru-RU" dirty="0"/>
              <a:t>Важно отметить несколько вещей.</a:t>
            </a:r>
            <a:br>
              <a:rPr lang="ru-RU" dirty="0"/>
            </a:br>
            <a:r>
              <a:rPr lang="ru-RU" dirty="0"/>
              <a:t>Во-первых, здесь </a:t>
            </a:r>
            <a:r>
              <a:rPr lang="ru-RU" b="1" dirty="0"/>
              <a:t>нет </a:t>
            </a:r>
            <a:r>
              <a:rPr lang="ru-RU" b="1" dirty="0" err="1"/>
              <a:t>false</a:t>
            </a:r>
            <a:r>
              <a:rPr lang="ru-RU" b="1" dirty="0"/>
              <a:t> </a:t>
            </a:r>
            <a:r>
              <a:rPr lang="ru-RU" b="1" dirty="0" err="1"/>
              <a:t>sharing</a:t>
            </a:r>
            <a:r>
              <a:rPr lang="ru-RU" dirty="0"/>
              <a:t>: каждый поток работает со своими локальными переменными, которые находятся в разных областях памяти.</a:t>
            </a:r>
          </a:p>
          <a:p>
            <a:endParaRPr lang="ru-RU" dirty="0"/>
          </a:p>
          <a:p>
            <a:r>
              <a:rPr lang="ru-RU" dirty="0"/>
              <a:t>Во-вторых, потоки действительно выполняются параллельно и почти не взаимодействуют между собой. Общая атомарная переменная </a:t>
            </a:r>
            <a:r>
              <a:rPr lang="ru-RU" sz="1200" kern="1200" dirty="0" err="1">
                <a:solidFill>
                  <a:schemeClr val="tx1"/>
                </a:solidFill>
                <a:latin typeface="+mn-lt"/>
                <a:ea typeface="+mn-ea"/>
                <a:cs typeface="+mn-cs"/>
              </a:rPr>
              <a:t>total</a:t>
            </a:r>
            <a:r>
              <a:rPr lang="ru-RU" dirty="0"/>
              <a:t> обновляется редко — только когда найдено простое число.</a:t>
            </a:r>
          </a:p>
          <a:p>
            <a:endParaRPr lang="ru-RU" dirty="0"/>
          </a:p>
          <a:p>
            <a:r>
              <a:rPr lang="ru-RU" dirty="0"/>
              <a:t>Тем не менее мы видим, что ускорение </a:t>
            </a:r>
            <a:r>
              <a:rPr lang="ru-RU" b="1" dirty="0"/>
              <a:t>не пропорционально количеству потоков</a:t>
            </a:r>
            <a:r>
              <a:rPr lang="ru-RU" dirty="0"/>
              <a:t>. Например, при восьми потоках программа работает примерно в четыре раза быстрее, а не в восемь.</a:t>
            </a:r>
          </a:p>
          <a:p>
            <a:endParaRPr lang="ru-RU" dirty="0"/>
          </a:p>
          <a:p>
            <a:r>
              <a:rPr lang="ru-RU" dirty="0"/>
              <a:t>Причина в </a:t>
            </a:r>
            <a:r>
              <a:rPr lang="ru-RU" b="1" dirty="0"/>
              <a:t>дисбалансе нагрузки</a:t>
            </a:r>
            <a:r>
              <a:rPr lang="ru-RU" dirty="0"/>
              <a:t>. Мы разделили диапазон чисел на равные по размеру части, но проверка разных чисел занимает разное время. Чем больше число, тем больше потенциальных делителей нужно проверить. Поэтому потоки, которым достаются большие числа, выполняют </a:t>
            </a:r>
            <a:r>
              <a:rPr lang="ru-RU" b="1" dirty="0"/>
              <a:t>больше работы</a:t>
            </a:r>
            <a:r>
              <a:rPr lang="ru-RU" dirty="0"/>
              <a:t>, чем потоки, обрабатывающие маленькие числа.</a:t>
            </a:r>
          </a:p>
          <a:p>
            <a:endParaRPr lang="ru-RU" dirty="0"/>
          </a:p>
          <a:p>
            <a:r>
              <a:rPr lang="ru-RU" dirty="0"/>
              <a:t>В результате некоторые потоки заканчивают раньше и простаивают, ожидая завершения самых загруженных потоков. Именно это и называется </a:t>
            </a:r>
            <a:r>
              <a:rPr lang="ru-RU" b="1" dirty="0"/>
              <a:t>дисбалансом нагрузки</a:t>
            </a:r>
            <a:r>
              <a:rPr lang="ru-RU" dirty="0"/>
              <a:t>.</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40</a:t>
            </a:fld>
            <a:endParaRPr lang="en-US"/>
          </a:p>
        </p:txBody>
      </p:sp>
    </p:spTree>
    <p:extLst>
      <p:ext uri="{BB962C8B-B14F-4D97-AF65-F5344CB8AC3E}">
        <p14:creationId xmlns:p14="http://schemas.microsoft.com/office/powerpoint/2010/main" val="29890649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err="1"/>
              <a:t>Oversubscription</a:t>
            </a:r>
            <a:r>
              <a:rPr lang="ru-RU" dirty="0"/>
              <a:t> — это ситуация, когда мы создаём больше потоков, чем у процессора есть аппаратных ядер.</a:t>
            </a:r>
            <a:endParaRPr lang="en-US" dirty="0"/>
          </a:p>
          <a:p>
            <a:endParaRPr lang="ru-RU" dirty="0"/>
          </a:p>
          <a:p>
            <a:r>
              <a:rPr lang="ru-RU" dirty="0"/>
              <a:t>Когда это происходит, операционная система вынуждена постоянно переключать выполнение между потоками. Такие переключения контекста стоят времени и могут существенно снизить производительность.</a:t>
            </a:r>
            <a:endParaRPr lang="en-US" dirty="0"/>
          </a:p>
          <a:p>
            <a:endParaRPr lang="ru-RU" dirty="0"/>
          </a:p>
          <a:p>
            <a:r>
              <a:rPr lang="ru-RU" dirty="0"/>
              <a:t>Кроме того, при переключении потоков ухудшается локальность данных в кеше, потому что новый поток может работать с совсем другими данными.</a:t>
            </a:r>
            <a:endParaRPr lang="en-US" dirty="0"/>
          </a:p>
          <a:p>
            <a:endParaRPr lang="ru-RU" dirty="0"/>
          </a:p>
          <a:p>
            <a:r>
              <a:rPr lang="ru-RU" dirty="0"/>
              <a:t>В результате вместо ускорения программа может даже начать работать медленнее. Поэтому при разработке параллельных программ важно учитывать количество доступных ядер и не создавать существенно больше потоков, чем система может эффективно выполнять.</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41</a:t>
            </a:fld>
            <a:endParaRPr lang="en-US"/>
          </a:p>
        </p:txBody>
      </p:sp>
    </p:spTree>
    <p:extLst>
      <p:ext uri="{BB962C8B-B14F-4D97-AF65-F5344CB8AC3E}">
        <p14:creationId xmlns:p14="http://schemas.microsoft.com/office/powerpoint/2010/main" val="40646434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пример, иллюстрирующий проблему </a:t>
            </a:r>
            <a:r>
              <a:rPr lang="ru-RU" b="1" dirty="0" err="1"/>
              <a:t>oversubscription</a:t>
            </a:r>
            <a:r>
              <a:rPr lang="ru-RU" dirty="0"/>
              <a:t> — ситуации, когда число потоков превышает доступные аппаратные ресурсы процессора.</a:t>
            </a:r>
            <a:endParaRPr lang="en-US" dirty="0"/>
          </a:p>
          <a:p>
            <a:endParaRPr lang="ru-RU" dirty="0"/>
          </a:p>
          <a:p>
            <a:r>
              <a:rPr lang="ru-RU" dirty="0"/>
              <a:t>В программе общий объём работы фиксирован: мы делим диапазон вычислений на части и распределяем их между потоками. Каждый поток получает свой диапазон и выполняет одинаковый объём вычислений. Поэтому при увеличении числа потоков мы ожидаем ускорение.</a:t>
            </a:r>
          </a:p>
          <a:p>
            <a:endParaRPr lang="ru-RU" dirty="0"/>
          </a:p>
          <a:p>
            <a:r>
              <a:rPr lang="ru-RU" dirty="0"/>
              <a:t>На графике показано </a:t>
            </a:r>
            <a:r>
              <a:rPr lang="ru-RU" b="1" dirty="0"/>
              <a:t>ускорение относительно одного потока</a:t>
            </a:r>
            <a:r>
              <a:rPr lang="ru-RU" dirty="0"/>
              <a:t>. Сначала оно растёт довольно быстро, но затем рост начинает замедляться и выходит на плато примерно около </a:t>
            </a:r>
            <a:r>
              <a:rPr lang="ru-RU" b="1" dirty="0"/>
              <a:t>8-кратного ускорения</a:t>
            </a:r>
            <a:r>
              <a:rPr lang="ru-RU" dirty="0"/>
              <a:t>, хотя потоков мы запускаем до 32.</a:t>
            </a:r>
          </a:p>
          <a:p>
            <a:endParaRPr lang="ru-RU" dirty="0"/>
          </a:p>
          <a:p>
            <a:r>
              <a:rPr lang="ru-RU" dirty="0"/>
              <a:t>Это связано с архитектурой конкретного процессора. В используемом процессоре есть </a:t>
            </a:r>
            <a:r>
              <a:rPr lang="ru-RU" b="1" dirty="0"/>
              <a:t>6 высокопроизводительных ядер с </a:t>
            </a:r>
            <a:r>
              <a:rPr lang="ru-RU" b="1" dirty="0" err="1"/>
              <a:t>гипертредингом</a:t>
            </a:r>
            <a:r>
              <a:rPr lang="ru-RU" dirty="0"/>
              <a:t> и </a:t>
            </a:r>
            <a:r>
              <a:rPr lang="ru-RU" b="1" dirty="0"/>
              <a:t>4 энергоэффективных ядра без </a:t>
            </a:r>
            <a:r>
              <a:rPr lang="ru-RU" b="1" dirty="0" err="1"/>
              <a:t>гипертрединга</a:t>
            </a:r>
            <a:r>
              <a:rPr lang="ru-RU" dirty="0"/>
              <a:t>.</a:t>
            </a:r>
          </a:p>
          <a:p>
            <a:br>
              <a:rPr lang="ru-RU" dirty="0"/>
            </a:br>
            <a:r>
              <a:rPr lang="ru-RU" dirty="0"/>
              <a:t>То есть всего получается </a:t>
            </a:r>
            <a:r>
              <a:rPr lang="ru-RU" b="1" dirty="0"/>
              <a:t>16 логических потоков выполнения</a:t>
            </a:r>
            <a:r>
              <a:rPr lang="ru-RU" dirty="0"/>
              <a:t>, но они </a:t>
            </a:r>
            <a:r>
              <a:rPr lang="ru-RU" b="1" dirty="0"/>
              <a:t>не равнозначны по производительности</a:t>
            </a:r>
            <a:r>
              <a:rPr lang="ru-RU" dirty="0"/>
              <a:t>.</a:t>
            </a:r>
          </a:p>
          <a:p>
            <a:endParaRPr lang="ru-RU" dirty="0"/>
          </a:p>
          <a:p>
            <a:r>
              <a:rPr lang="ru-RU" dirty="0"/>
              <a:t>Кроме того, </a:t>
            </a:r>
            <a:r>
              <a:rPr lang="ru-RU" b="1" dirty="0" err="1"/>
              <a:t>гипертрединг</a:t>
            </a:r>
            <a:r>
              <a:rPr lang="ru-RU" b="1" dirty="0"/>
              <a:t> не даёт двукратного ускорения</a:t>
            </a:r>
            <a:r>
              <a:rPr lang="ru-RU" dirty="0"/>
              <a:t>. Два логических потока на одном физическом ядре делят между собой вычислительные ресурсы, поэтому выигрыш обычно составляет лишь часть от удвоения.</a:t>
            </a:r>
          </a:p>
          <a:p>
            <a:endParaRPr lang="ru-RU" dirty="0"/>
          </a:p>
          <a:p>
            <a:r>
              <a:rPr lang="ru-RU" dirty="0"/>
              <a:t>В результате сначала мы используем все физические ядра, затем задействуем дополнительные логические потоки через </a:t>
            </a:r>
            <a:r>
              <a:rPr lang="ru-RU" dirty="0" err="1"/>
              <a:t>гипертрединг</a:t>
            </a:r>
            <a:r>
              <a:rPr lang="ru-RU" dirty="0"/>
              <a:t>, а дальше добавление новых потоков уже приводит к </a:t>
            </a:r>
            <a:r>
              <a:rPr lang="ru-RU" b="1" dirty="0" err="1"/>
              <a:t>oversubscription</a:t>
            </a:r>
            <a:r>
              <a:rPr lang="ru-RU" dirty="0"/>
              <a:t> — потоки начинают конкурировать за ядра, увеличивается число переключений контекста, и ускорение перестаёт расти.</a:t>
            </a:r>
          </a:p>
        </p:txBody>
      </p:sp>
      <p:sp>
        <p:nvSpPr>
          <p:cNvPr id="4" name="Slide Number Placeholder 3"/>
          <p:cNvSpPr>
            <a:spLocks noGrp="1"/>
          </p:cNvSpPr>
          <p:nvPr>
            <p:ph type="sldNum" sz="quarter" idx="5"/>
          </p:nvPr>
        </p:nvSpPr>
        <p:spPr/>
        <p:txBody>
          <a:bodyPr/>
          <a:lstStyle/>
          <a:p>
            <a:fld id="{8740D86D-1409-43B0-8811-9A559436DAB5}" type="slidenum">
              <a:rPr lang="en-US" smtClean="0"/>
              <a:t>42</a:t>
            </a:fld>
            <a:endParaRPr lang="en-US"/>
          </a:p>
        </p:txBody>
      </p:sp>
    </p:spTree>
    <p:extLst>
      <p:ext uri="{BB962C8B-B14F-4D97-AF65-F5344CB8AC3E}">
        <p14:creationId xmlns:p14="http://schemas.microsoft.com/office/powerpoint/2010/main" val="14286202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этой лекции мы рассмотрели, как использовать параллельные алгоритмы стандартной библиотеки C++. Они позволяют довольно легко задействовать многоядерные процессоры и SIMD-векторизацию, просто добавив политику исполнения к знакомым алгоритмам.</a:t>
            </a:r>
          </a:p>
          <a:p>
            <a:endParaRPr lang="ru-RU" dirty="0"/>
          </a:p>
          <a:p>
            <a:r>
              <a:rPr lang="ru-RU" dirty="0"/>
              <a:t>Однако мы также увидели, что параллельность сама по себе не гарантирует ускорение. Производительность параллельных программ зависит от множества факторов.</a:t>
            </a:r>
          </a:p>
          <a:p>
            <a:endParaRPr lang="ru-RU" dirty="0"/>
          </a:p>
          <a:p>
            <a:r>
              <a:rPr lang="ru-RU" dirty="0"/>
              <a:t>На неё влияют накладные расходы на распараллеливание, конкуренция потоков за общие ресурсы, особенности работы кеш-памяти и пропускной способности памяти, а также равномерность распределения работы между потоками.</a:t>
            </a:r>
          </a:p>
          <a:p>
            <a:endParaRPr lang="ru-RU" dirty="0"/>
          </a:p>
          <a:p>
            <a:r>
              <a:rPr lang="ru-RU" dirty="0"/>
              <a:t>Кроме того, важную роль играет архитектура конкретного процессора: количество ядер, наличие </a:t>
            </a:r>
            <a:r>
              <a:rPr lang="ru-RU" dirty="0" err="1"/>
              <a:t>гипертрединга</a:t>
            </a:r>
            <a:r>
              <a:rPr lang="ru-RU" dirty="0"/>
              <a:t>, организация кешей и подсистемы памяти.</a:t>
            </a:r>
          </a:p>
          <a:p>
            <a:endParaRPr lang="ru-RU" dirty="0"/>
          </a:p>
          <a:p>
            <a:r>
              <a:rPr lang="ru-RU" dirty="0"/>
              <a:t>Поэтому эффективное использование параллелизма требует не только знания алгоритмов и возможностей стандартной библиотеки, но и понимания того, как устроено современное компьютерное железо.</a:t>
            </a:r>
          </a:p>
          <a:p>
            <a:endParaRPr lang="en-US" dirty="0"/>
          </a:p>
        </p:txBody>
      </p:sp>
      <p:sp>
        <p:nvSpPr>
          <p:cNvPr id="4" name="Slide Number Placeholder 3"/>
          <p:cNvSpPr>
            <a:spLocks noGrp="1"/>
          </p:cNvSpPr>
          <p:nvPr>
            <p:ph type="sldNum" sz="quarter" idx="5"/>
          </p:nvPr>
        </p:nvSpPr>
        <p:spPr/>
        <p:txBody>
          <a:bodyPr/>
          <a:lstStyle/>
          <a:p>
            <a:fld id="{8740D86D-1409-43B0-8811-9A559436DAB5}" type="slidenum">
              <a:rPr lang="en-US" smtClean="0"/>
              <a:t>43</a:t>
            </a:fld>
            <a:endParaRPr lang="en-US"/>
          </a:p>
        </p:txBody>
      </p:sp>
    </p:spTree>
    <p:extLst>
      <p:ext uri="{BB962C8B-B14F-4D97-AF65-F5344CB8AC3E}">
        <p14:creationId xmlns:p14="http://schemas.microsoft.com/office/powerpoint/2010/main" val="3964013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534B-A6AF-65FD-E801-6AA58D9D78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B2731D-7764-B810-4DE6-EFEC6FF671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6B64FF-4361-8A20-8632-A7357C4E5F50}"/>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5" name="Footer Placeholder 4">
            <a:extLst>
              <a:ext uri="{FF2B5EF4-FFF2-40B4-BE49-F238E27FC236}">
                <a16:creationId xmlns:a16="http://schemas.microsoft.com/office/drawing/2014/main" id="{814259B1-BCF5-E9E4-5DC1-A0E7FB34B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2078E0-C2F7-7889-A85C-AEB7F30C59C0}"/>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3509335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62129-36EC-F59A-E517-4AE8C0F426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EB90D9-C1D5-53E2-6F3E-B5D41EE977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7264F9-DAD5-4879-8AB1-37BF95F40D82}"/>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5" name="Footer Placeholder 4">
            <a:extLst>
              <a:ext uri="{FF2B5EF4-FFF2-40B4-BE49-F238E27FC236}">
                <a16:creationId xmlns:a16="http://schemas.microsoft.com/office/drawing/2014/main" id="{88055842-F7DB-7A7D-1C0E-AFFCBC86C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A319B0-0BDE-6FEA-C9CE-9D47CC287F27}"/>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62946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C97F7-76ED-7011-F138-E869A5247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70DBCF-9801-0CD0-80D6-3F447D7476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EBA715-0CC9-5B9C-18CF-61BDF80E6C8E}"/>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5" name="Footer Placeholder 4">
            <a:extLst>
              <a:ext uri="{FF2B5EF4-FFF2-40B4-BE49-F238E27FC236}">
                <a16:creationId xmlns:a16="http://schemas.microsoft.com/office/drawing/2014/main" id="{2743B509-CF39-AD98-5B9F-6F587A46A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74C96F-9DB3-A7C7-7684-A6D19B1ECAB1}"/>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197109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2573-6F50-BDB4-D64E-0EA61F6F01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B447B1-2CE0-DD8E-6AA7-1D71BCB169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EBAA8E-0111-1C0D-1995-BAF9D0B4D8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DEFB7E-2F96-B516-E4C4-FE880B92D66D}"/>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6" name="Footer Placeholder 5">
            <a:extLst>
              <a:ext uri="{FF2B5EF4-FFF2-40B4-BE49-F238E27FC236}">
                <a16:creationId xmlns:a16="http://schemas.microsoft.com/office/drawing/2014/main" id="{6D54C964-F35F-1C34-CFF5-6D2BE76B6D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C37BFC-C04F-FDE7-1C5E-0E27EDE85C74}"/>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1508996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6093F-8967-AE7C-5F1B-469F7B5F4F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441410-333F-199D-FAEF-B7E8E22416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8F0024-0881-46A2-51B7-982D4F4C52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722088-D942-59C3-B01C-15738ADE28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0CCBFD-239F-B16A-FB41-D184A81137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ABE7A7-F321-1F82-486C-840159558528}"/>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8" name="Footer Placeholder 7">
            <a:extLst>
              <a:ext uri="{FF2B5EF4-FFF2-40B4-BE49-F238E27FC236}">
                <a16:creationId xmlns:a16="http://schemas.microsoft.com/office/drawing/2014/main" id="{CB027A04-391E-89F7-BFFA-811FB328D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236C0C-4462-0CE6-C0CF-4B724D6B48A2}"/>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345424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00ED1-E045-5879-2239-6CF5C404EF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D1E778-7F1D-EF5E-EEF7-4818E0F57C97}"/>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4" name="Footer Placeholder 3">
            <a:extLst>
              <a:ext uri="{FF2B5EF4-FFF2-40B4-BE49-F238E27FC236}">
                <a16:creationId xmlns:a16="http://schemas.microsoft.com/office/drawing/2014/main" id="{CEBEFE2F-792D-2D06-A5D4-438C959AFB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896091-370F-F4E1-14F0-848B8256AD3D}"/>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3344118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9CE108-E833-D2C8-21FA-F53422A37D0F}"/>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3" name="Footer Placeholder 2">
            <a:extLst>
              <a:ext uri="{FF2B5EF4-FFF2-40B4-BE49-F238E27FC236}">
                <a16:creationId xmlns:a16="http://schemas.microsoft.com/office/drawing/2014/main" id="{642E8860-D7FB-EA40-D280-809C91D79C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63219E-EFDA-81ED-A397-CE586F6EA6B3}"/>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3055542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06CAE-1701-A719-EA99-F0D91409B4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A81DDF-3F4C-05B6-8145-DFEF2AE77E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64061A-05F1-3202-44CE-A30ED63A8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46C9E7-259F-EDF3-0908-D55526AF8C85}"/>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6" name="Footer Placeholder 5">
            <a:extLst>
              <a:ext uri="{FF2B5EF4-FFF2-40B4-BE49-F238E27FC236}">
                <a16:creationId xmlns:a16="http://schemas.microsoft.com/office/drawing/2014/main" id="{CC115CC9-295B-0269-3314-C3F56891A9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E94882-B6A9-A334-945F-1BDAECCED666}"/>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2494777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A331C-EF23-165A-DB9E-C64FAC3BF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6F2B43-92D8-9B53-B80B-07CF8E5D36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0EB1E2-8C85-BB65-94AD-57DDF6A85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8AA67C-F130-FC8C-ECA4-4DFCAFDF2A53}"/>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6" name="Footer Placeholder 5">
            <a:extLst>
              <a:ext uri="{FF2B5EF4-FFF2-40B4-BE49-F238E27FC236}">
                <a16:creationId xmlns:a16="http://schemas.microsoft.com/office/drawing/2014/main" id="{B3BFFBD6-94D0-F263-A675-E4CD703804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972E05-13C4-BD37-B083-A3EF5E25881A}"/>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3655636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0C5DC-6526-8DE1-FD88-D04D333927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BDF879-56A4-E5E8-0C9C-6B1CFBABC8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7FA286-1207-DBA2-EA14-1A5B1DF491AB}"/>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5" name="Footer Placeholder 4">
            <a:extLst>
              <a:ext uri="{FF2B5EF4-FFF2-40B4-BE49-F238E27FC236}">
                <a16:creationId xmlns:a16="http://schemas.microsoft.com/office/drawing/2014/main" id="{6F2D0F58-DE4D-21AA-7FBF-5E6395FA3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A1BC4-3E61-F68B-63AA-A46453EF1CFD}"/>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1531696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0935F9-8F87-75E1-FD10-0D2519C7AF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E6B2D0-EDCD-04ED-374A-DD406C0DF6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781ED0-C0A0-A33C-BF28-ACF1E442E000}"/>
              </a:ext>
            </a:extLst>
          </p:cNvPr>
          <p:cNvSpPr>
            <a:spLocks noGrp="1"/>
          </p:cNvSpPr>
          <p:nvPr>
            <p:ph type="dt" sz="half" idx="10"/>
          </p:nvPr>
        </p:nvSpPr>
        <p:spPr/>
        <p:txBody>
          <a:bodyPr/>
          <a:lstStyle/>
          <a:p>
            <a:fld id="{93C95F23-F574-4C00-9B25-D94C8E69B068}" type="datetimeFigureOut">
              <a:rPr lang="en-US" smtClean="0"/>
              <a:t>4/11/2026</a:t>
            </a:fld>
            <a:endParaRPr lang="en-US"/>
          </a:p>
        </p:txBody>
      </p:sp>
      <p:sp>
        <p:nvSpPr>
          <p:cNvPr id="5" name="Footer Placeholder 4">
            <a:extLst>
              <a:ext uri="{FF2B5EF4-FFF2-40B4-BE49-F238E27FC236}">
                <a16:creationId xmlns:a16="http://schemas.microsoft.com/office/drawing/2014/main" id="{A687E4BA-3647-8657-5F57-15CEC51BB4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C67EA-5E3D-41B7-F8BB-EF7B5CD409D0}"/>
              </a:ext>
            </a:extLst>
          </p:cNvPr>
          <p:cNvSpPr>
            <a:spLocks noGrp="1"/>
          </p:cNvSpPr>
          <p:nvPr>
            <p:ph type="sldNum" sz="quarter" idx="12"/>
          </p:nvPr>
        </p:nvSpPr>
        <p:spPr/>
        <p:txBody>
          <a:bodyPr/>
          <a:lstStyle/>
          <a:p>
            <a:fld id="{2FACDEE8-9725-4AC1-A531-F3EF2425F9C0}" type="slidenum">
              <a:rPr lang="en-US" smtClean="0"/>
              <a:t>‹#›</a:t>
            </a:fld>
            <a:endParaRPr lang="en-US"/>
          </a:p>
        </p:txBody>
      </p:sp>
    </p:spTree>
    <p:extLst>
      <p:ext uri="{BB962C8B-B14F-4D97-AF65-F5344CB8AC3E}">
        <p14:creationId xmlns:p14="http://schemas.microsoft.com/office/powerpoint/2010/main" val="1627381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BA1EC3-25D6-57CE-99DC-2AF2BC1274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01F670-12C1-CE1C-0CAB-31FB9C0875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797D7-5848-8CBF-CFD1-3BE99CFC6C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C95F23-F574-4C00-9B25-D94C8E69B068}" type="datetimeFigureOut">
              <a:rPr lang="en-US" smtClean="0"/>
              <a:t>4/11/2026</a:t>
            </a:fld>
            <a:endParaRPr lang="en-US"/>
          </a:p>
        </p:txBody>
      </p:sp>
      <p:sp>
        <p:nvSpPr>
          <p:cNvPr id="5" name="Footer Placeholder 4">
            <a:extLst>
              <a:ext uri="{FF2B5EF4-FFF2-40B4-BE49-F238E27FC236}">
                <a16:creationId xmlns:a16="http://schemas.microsoft.com/office/drawing/2014/main" id="{EF3B12AB-B38C-C36A-1C31-960B8BDAC6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906F2E-FB57-0F30-5944-4E9F97F96B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ACDEE8-9725-4AC1-A531-F3EF2425F9C0}" type="slidenum">
              <a:rPr lang="en-US" smtClean="0"/>
              <a:t>‹#›</a:t>
            </a:fld>
            <a:endParaRPr lang="en-US"/>
          </a:p>
        </p:txBody>
      </p:sp>
    </p:spTree>
    <p:extLst>
      <p:ext uri="{BB962C8B-B14F-4D97-AF65-F5344CB8AC3E}">
        <p14:creationId xmlns:p14="http://schemas.microsoft.com/office/powerpoint/2010/main" val="2657946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en.cppreference.com/w/cpp/algorithm/execution_policy_tag_t"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399E1-33FD-FB31-1D48-33E0470F1E25}"/>
              </a:ext>
            </a:extLst>
          </p:cNvPr>
          <p:cNvSpPr>
            <a:spLocks noGrp="1"/>
          </p:cNvSpPr>
          <p:nvPr>
            <p:ph type="title"/>
          </p:nvPr>
        </p:nvSpPr>
        <p:spPr>
          <a:xfrm>
            <a:off x="831850" y="1709738"/>
            <a:ext cx="10515600" cy="2852737"/>
          </a:xfrm>
        </p:spPr>
        <p:txBody>
          <a:bodyPr>
            <a:noAutofit/>
          </a:bodyPr>
          <a:lstStyle/>
          <a:p>
            <a:r>
              <a:rPr lang="ru-RU" dirty="0"/>
              <a:t>Параллельные алгоритмы и оптимизация параллельных программ</a:t>
            </a:r>
            <a:endParaRPr lang="en-US" dirty="0"/>
          </a:p>
        </p:txBody>
      </p:sp>
      <p:sp>
        <p:nvSpPr>
          <p:cNvPr id="5" name="Text Placeholder 4">
            <a:extLst>
              <a:ext uri="{FF2B5EF4-FFF2-40B4-BE49-F238E27FC236}">
                <a16:creationId xmlns:a16="http://schemas.microsoft.com/office/drawing/2014/main" id="{87B86A19-06D3-5046-C1CC-7B8E2EE500F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41001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466A59-7B8E-3374-CE17-87D1EE1A329F}"/>
              </a:ext>
            </a:extLst>
          </p:cNvPr>
          <p:cNvSpPr>
            <a:spLocks noGrp="1"/>
          </p:cNvSpPr>
          <p:nvPr>
            <p:ph type="title"/>
          </p:nvPr>
        </p:nvSpPr>
        <p:spPr/>
        <p:txBody>
          <a:bodyPr/>
          <a:lstStyle/>
          <a:p>
            <a:r>
              <a:rPr lang="ru-RU" dirty="0"/>
              <a:t>Параллельные алгоритмы и оптимизация параллельных программ</a:t>
            </a:r>
            <a:endParaRPr lang="en-US" dirty="0"/>
          </a:p>
        </p:txBody>
      </p:sp>
      <p:sp>
        <p:nvSpPr>
          <p:cNvPr id="5" name="Content Placeholder 4">
            <a:extLst>
              <a:ext uri="{FF2B5EF4-FFF2-40B4-BE49-F238E27FC236}">
                <a16:creationId xmlns:a16="http://schemas.microsoft.com/office/drawing/2014/main" id="{87F882D3-163B-86D0-D4A7-5ABEF363AE2A}"/>
              </a:ext>
            </a:extLst>
          </p:cNvPr>
          <p:cNvSpPr>
            <a:spLocks noGrp="1"/>
          </p:cNvSpPr>
          <p:nvPr>
            <p:ph idx="1"/>
          </p:nvPr>
        </p:nvSpPr>
        <p:spPr/>
        <p:txBody>
          <a:bodyPr>
            <a:normAutofit lnSpcReduction="10000"/>
          </a:bodyPr>
          <a:lstStyle/>
          <a:p>
            <a:r>
              <a:rPr lang="ru-RU" dirty="0"/>
              <a:t>Современные процессоры используют:</a:t>
            </a:r>
          </a:p>
          <a:p>
            <a:pPr lvl="1"/>
            <a:r>
              <a:rPr lang="ru-RU" b="1" dirty="0" err="1"/>
              <a:t>многоядерность</a:t>
            </a:r>
            <a:endParaRPr lang="ru-RU" dirty="0"/>
          </a:p>
          <a:p>
            <a:pPr lvl="1"/>
            <a:r>
              <a:rPr lang="ru-RU" b="1" dirty="0"/>
              <a:t>SIMD-векторизацию</a:t>
            </a:r>
            <a:endParaRPr lang="ru-RU" dirty="0"/>
          </a:p>
          <a:p>
            <a:r>
              <a:rPr lang="ru-RU" dirty="0"/>
              <a:t>Для эффективной работы программ необходимо:</a:t>
            </a:r>
          </a:p>
          <a:p>
            <a:pPr lvl="1"/>
            <a:r>
              <a:rPr lang="ru-RU" dirty="0"/>
              <a:t>использовать </a:t>
            </a:r>
            <a:r>
              <a:rPr lang="ru-RU" b="1" dirty="0"/>
              <a:t>параллелизм</a:t>
            </a:r>
            <a:endParaRPr lang="ru-RU" dirty="0"/>
          </a:p>
          <a:p>
            <a:pPr lvl="1"/>
            <a:r>
              <a:rPr lang="ru-RU" dirty="0"/>
              <a:t>учитывать </a:t>
            </a:r>
            <a:r>
              <a:rPr lang="ru-RU" b="1" dirty="0"/>
              <a:t>иерархию памяти и кеши</a:t>
            </a:r>
            <a:endParaRPr lang="ru-RU" dirty="0"/>
          </a:p>
          <a:p>
            <a:pPr lvl="1"/>
            <a:r>
              <a:rPr lang="ru-RU" dirty="0"/>
              <a:t>минимизировать </a:t>
            </a:r>
            <a:r>
              <a:rPr lang="ru-RU" b="1" dirty="0"/>
              <a:t>синхронизацию</a:t>
            </a:r>
            <a:endParaRPr lang="ru-RU" dirty="0"/>
          </a:p>
          <a:p>
            <a:r>
              <a:rPr lang="ru-RU" dirty="0"/>
              <a:t>C++17 добавил параллельные алгоритмы стандартной библиотеки</a:t>
            </a:r>
          </a:p>
          <a:p>
            <a:r>
              <a:rPr lang="ru-RU" dirty="0"/>
              <a:t>Параллельность </a:t>
            </a:r>
            <a:r>
              <a:rPr lang="ru-RU" b="1" dirty="0"/>
              <a:t>не гарантирует ускорение</a:t>
            </a:r>
            <a:endParaRPr lang="ru-RU" dirty="0"/>
          </a:p>
        </p:txBody>
      </p:sp>
    </p:spTree>
    <p:extLst>
      <p:ext uri="{BB962C8B-B14F-4D97-AF65-F5344CB8AC3E}">
        <p14:creationId xmlns:p14="http://schemas.microsoft.com/office/powerpoint/2010/main" val="1539243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06A01E-A2BE-EA65-3309-BCB284410D05}"/>
              </a:ext>
            </a:extLst>
          </p:cNvPr>
          <p:cNvSpPr>
            <a:spLocks noGrp="1"/>
          </p:cNvSpPr>
          <p:nvPr>
            <p:ph type="title"/>
          </p:nvPr>
        </p:nvSpPr>
        <p:spPr/>
        <p:txBody>
          <a:bodyPr/>
          <a:lstStyle/>
          <a:p>
            <a:r>
              <a:rPr lang="ru-RU" dirty="0"/>
              <a:t>Генерирование матрицы случайных чисел</a:t>
            </a:r>
            <a:endParaRPr lang="en-US" dirty="0"/>
          </a:p>
        </p:txBody>
      </p:sp>
      <p:sp>
        <p:nvSpPr>
          <p:cNvPr id="6" name="TextBox 5">
            <a:extLst>
              <a:ext uri="{FF2B5EF4-FFF2-40B4-BE49-F238E27FC236}">
                <a16:creationId xmlns:a16="http://schemas.microsoft.com/office/drawing/2014/main" id="{F30AB89A-E987-1968-3CDD-EA07FB2E14D2}"/>
              </a:ext>
            </a:extLst>
          </p:cNvPr>
          <p:cNvSpPr txBox="1"/>
          <p:nvPr/>
        </p:nvSpPr>
        <p:spPr>
          <a:xfrm>
            <a:off x="838200" y="1690688"/>
            <a:ext cx="10515600" cy="4801314"/>
          </a:xfrm>
          <a:prstGeom prst="rect">
            <a:avLst/>
          </a:prstGeom>
          <a:noFill/>
        </p:spPr>
        <p:txBody>
          <a:bodyPr wrap="square">
            <a:spAutoFit/>
          </a:bodyPr>
          <a:lstStyle/>
          <a:p>
            <a:pPr>
              <a:buNone/>
            </a:pPr>
            <a:r>
              <a:rPr lang="en-US" b="0" dirty="0" err="1">
                <a:solidFill>
                  <a:srgbClr val="2B91AF"/>
                </a:solidFill>
                <a:effectLst/>
                <a:latin typeface="Consolas" panose="020B0609020204030204" pitchFamily="49" charset="0"/>
              </a:rPr>
              <a:t>IntMatrix</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GenerateSequential</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numRows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IntMatrix</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mat</a:t>
            </a:r>
            <a:r>
              <a:rPr lang="en-US" b="0" dirty="0">
                <a:solidFill>
                  <a:srgbClr val="000000"/>
                </a:solidFill>
                <a:effectLst/>
                <a:latin typeface="Consolas" panose="020B0609020204030204" pitchFamily="49" charset="0"/>
              </a:rPr>
              <a:t>(</a:t>
            </a:r>
            <a:r>
              <a:rPr lang="en-US" b="0" dirty="0" err="1">
                <a:solidFill>
                  <a:srgbClr val="808080"/>
                </a:solidFill>
                <a:effectLst/>
                <a:latin typeface="Consolas" panose="020B0609020204030204" pitchFamily="49" charset="0"/>
              </a:rPr>
              <a:t>numRows</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err="1">
                <a:solidFill>
                  <a:srgbClr val="2B91AF"/>
                </a:solidFill>
                <a:effectLst/>
                <a:latin typeface="Consolas" panose="020B0609020204030204" pitchFamily="49" charset="0"/>
              </a:rPr>
              <a:t>random_device</a:t>
            </a: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rd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mt19937</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gen</a:t>
            </a:r>
            <a:r>
              <a:rPr lang="en-US" b="0" dirty="0">
                <a:solidFill>
                  <a:srgbClr val="000000"/>
                </a:solidFill>
                <a:effectLst/>
                <a:latin typeface="Consolas" panose="020B0609020204030204" pitchFamily="49" charset="0"/>
              </a:rPr>
              <a:t>(</a:t>
            </a:r>
            <a:r>
              <a:rPr lang="en-US" b="0" dirty="0" err="1">
                <a:solidFill>
                  <a:srgbClr val="1F377F"/>
                </a:solidFill>
                <a:effectLst/>
                <a:latin typeface="Consolas" panose="020B0609020204030204" pitchFamily="49" charset="0"/>
              </a:rPr>
              <a:t>rd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err="1">
                <a:solidFill>
                  <a:srgbClr val="2B91AF"/>
                </a:solidFill>
                <a:effectLst/>
                <a:latin typeface="Consolas" panose="020B0609020204030204" pitchFamily="49" charset="0"/>
              </a:rPr>
              <a:t>uniform_int_distribution</a:t>
            </a: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dist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1'000'000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auto</a:t>
            </a:r>
            <a:r>
              <a:rPr lang="en-US" b="0" dirty="0">
                <a:solidFill>
                  <a:srgbClr val="000000"/>
                </a:solidFill>
                <a:effectLst/>
                <a:latin typeface="Consolas" panose="020B0609020204030204" pitchFamily="49" charset="0"/>
              </a:rPr>
              <a:t>&amp; </a:t>
            </a:r>
            <a:r>
              <a:rPr lang="en-US" b="0" dirty="0">
                <a:solidFill>
                  <a:srgbClr val="1F377F"/>
                </a:solidFill>
                <a:effectLst/>
                <a:latin typeface="Consolas" panose="020B0609020204030204" pitchFamily="49" charset="0"/>
              </a:rPr>
              <a:t>row</a:t>
            </a:r>
            <a:r>
              <a:rPr lang="en-US" b="0" dirty="0">
                <a:solidFill>
                  <a:srgbClr val="000000"/>
                </a:solidFill>
                <a:effectLst/>
                <a:latin typeface="Consolas" panose="020B0609020204030204" pitchFamily="49" charset="0"/>
              </a:rPr>
              <a:t> : </a:t>
            </a:r>
            <a:r>
              <a:rPr lang="en-US" b="0" dirty="0">
                <a:solidFill>
                  <a:srgbClr val="1F377F"/>
                </a:solidFill>
                <a:effectLst/>
                <a:latin typeface="Consolas" panose="020B0609020204030204" pitchFamily="49" charset="0"/>
              </a:rPr>
              <a:t>mat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row</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reserve</a:t>
            </a:r>
            <a:r>
              <a:rPr lang="en-US" b="0" dirty="0">
                <a:solidFill>
                  <a:srgbClr val="000000"/>
                </a:solidFill>
                <a:effectLst/>
                <a:latin typeface="Consolas" panose="020B0609020204030204" pitchFamily="49" charset="0"/>
              </a:rPr>
              <a:t>(</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c</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c</a:t>
            </a:r>
            <a:r>
              <a:rPr lang="en-US" b="0" dirty="0">
                <a:solidFill>
                  <a:srgbClr val="000000"/>
                </a:solidFill>
                <a:effectLst/>
                <a:latin typeface="Consolas" panose="020B0609020204030204" pitchFamily="49" charset="0"/>
              </a:rPr>
              <a:t> &lt; </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c</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row</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push_back</a:t>
            </a:r>
            <a:r>
              <a:rPr lang="en-US" b="0" dirty="0">
                <a:solidFill>
                  <a:srgbClr val="000000"/>
                </a:solidFill>
                <a:effectLst/>
                <a:latin typeface="Consolas" panose="020B0609020204030204" pitchFamily="49" charset="0"/>
              </a:rPr>
              <a:t>(</a:t>
            </a:r>
            <a:r>
              <a:rPr lang="en-US" b="0" dirty="0" err="1">
                <a:solidFill>
                  <a:srgbClr val="1F377F"/>
                </a:solidFill>
                <a:effectLst/>
                <a:latin typeface="Consolas" panose="020B0609020204030204" pitchFamily="49" charset="0"/>
              </a:rPr>
              <a:t>dist</a:t>
            </a:r>
            <a:r>
              <a:rPr lang="en-US" b="0" dirty="0">
                <a:solidFill>
                  <a:srgbClr val="000000"/>
                </a:solidFill>
                <a:effectLst/>
                <a:latin typeface="Consolas" panose="020B0609020204030204" pitchFamily="49" charset="0"/>
              </a:rPr>
              <a:t>(</a:t>
            </a:r>
            <a:r>
              <a:rPr lang="en-US" b="0" dirty="0">
                <a:solidFill>
                  <a:srgbClr val="1F377F"/>
                </a:solidFill>
                <a:effectLst/>
                <a:latin typeface="Consolas" panose="020B0609020204030204" pitchFamily="49" charset="0"/>
              </a:rPr>
              <a:t>gen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592915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A7D408-ECD7-2844-C006-27C6BBD6D94B}"/>
              </a:ext>
            </a:extLst>
          </p:cNvPr>
          <p:cNvSpPr>
            <a:spLocks noGrp="1"/>
          </p:cNvSpPr>
          <p:nvPr>
            <p:ph type="title"/>
          </p:nvPr>
        </p:nvSpPr>
        <p:spPr/>
        <p:txBody>
          <a:bodyPr/>
          <a:lstStyle/>
          <a:p>
            <a:r>
              <a:rPr lang="en-US" dirty="0"/>
              <a:t>Execution policy (</a:t>
            </a:r>
            <a:r>
              <a:rPr lang="ru-RU" dirty="0"/>
              <a:t>политика исполнения)</a:t>
            </a:r>
            <a:endParaRPr lang="en-US" dirty="0"/>
          </a:p>
        </p:txBody>
      </p:sp>
      <p:sp>
        <p:nvSpPr>
          <p:cNvPr id="4" name="Content Placeholder 3">
            <a:extLst>
              <a:ext uri="{FF2B5EF4-FFF2-40B4-BE49-F238E27FC236}">
                <a16:creationId xmlns:a16="http://schemas.microsoft.com/office/drawing/2014/main" id="{8ABC44DB-CFA3-5ED7-B9E6-B624D4B17E4B}"/>
              </a:ext>
            </a:extLst>
          </p:cNvPr>
          <p:cNvSpPr>
            <a:spLocks noGrp="1"/>
          </p:cNvSpPr>
          <p:nvPr>
            <p:ph idx="1"/>
          </p:nvPr>
        </p:nvSpPr>
        <p:spPr/>
        <p:txBody>
          <a:bodyPr>
            <a:normAutofit/>
          </a:bodyPr>
          <a:lstStyle/>
          <a:p>
            <a:r>
              <a:rPr lang="ru-RU" b="1" dirty="0"/>
              <a:t>Политика исполнения</a:t>
            </a:r>
            <a:r>
              <a:rPr lang="ru-RU" dirty="0"/>
              <a:t> — способ указать стандартному алгоритму, как допускается выполнять его итерации:</a:t>
            </a:r>
          </a:p>
          <a:p>
            <a:pPr lvl="1"/>
            <a:r>
              <a:rPr lang="ru-RU" dirty="0"/>
              <a:t>последовательно</a:t>
            </a:r>
          </a:p>
          <a:p>
            <a:pPr lvl="1"/>
            <a:r>
              <a:rPr lang="ru-RU" dirty="0"/>
              <a:t>параллельно</a:t>
            </a:r>
          </a:p>
          <a:p>
            <a:pPr lvl="1"/>
            <a:r>
              <a:rPr lang="ru-RU" dirty="0" err="1"/>
              <a:t>векторизованно</a:t>
            </a:r>
            <a:r>
              <a:rPr lang="ru-RU" dirty="0"/>
              <a:t> (SIMD)</a:t>
            </a:r>
          </a:p>
          <a:p>
            <a:r>
              <a:rPr lang="ru-RU" dirty="0"/>
              <a:t>Политики исполнения добавлены в </a:t>
            </a:r>
            <a:r>
              <a:rPr lang="ru-RU" b="1" dirty="0"/>
              <a:t>C++17 </a:t>
            </a:r>
            <a:r>
              <a:rPr lang="ru-RU" dirty="0"/>
              <a:t>и поддерживаются алгоритмами стандартной библиотеки:</a:t>
            </a:r>
          </a:p>
          <a:p>
            <a:pPr lvl="1"/>
            <a:r>
              <a:rPr lang="ru-RU" dirty="0" err="1"/>
              <a:t>for_each</a:t>
            </a:r>
            <a:r>
              <a:rPr lang="ru-RU" dirty="0"/>
              <a:t>, </a:t>
            </a:r>
            <a:r>
              <a:rPr lang="ru-RU" dirty="0" err="1"/>
              <a:t>transform</a:t>
            </a:r>
            <a:r>
              <a:rPr lang="ru-RU" dirty="0"/>
              <a:t>, </a:t>
            </a:r>
            <a:r>
              <a:rPr lang="ru-RU" dirty="0" err="1"/>
              <a:t>sort</a:t>
            </a:r>
            <a:r>
              <a:rPr lang="ru-RU" dirty="0"/>
              <a:t>, </a:t>
            </a:r>
            <a:r>
              <a:rPr lang="ru-RU" dirty="0" err="1"/>
              <a:t>reduce</a:t>
            </a:r>
            <a:r>
              <a:rPr lang="ru-RU" dirty="0"/>
              <a:t>, и др.</a:t>
            </a:r>
          </a:p>
        </p:txBody>
      </p:sp>
    </p:spTree>
    <p:extLst>
      <p:ext uri="{BB962C8B-B14F-4D97-AF65-F5344CB8AC3E}">
        <p14:creationId xmlns:p14="http://schemas.microsoft.com/office/powerpoint/2010/main" val="376046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5FC7-4C38-3905-7E04-E89A396A5D17}"/>
              </a:ext>
            </a:extLst>
          </p:cNvPr>
          <p:cNvSpPr>
            <a:spLocks noGrp="1"/>
          </p:cNvSpPr>
          <p:nvPr>
            <p:ph type="title"/>
          </p:nvPr>
        </p:nvSpPr>
        <p:spPr/>
        <p:txBody>
          <a:bodyPr/>
          <a:lstStyle/>
          <a:p>
            <a:r>
              <a:rPr lang="ru-RU" dirty="0"/>
              <a:t>Управление выполнением алгоритма</a:t>
            </a:r>
            <a:endParaRPr lang="en-US" dirty="0"/>
          </a:p>
        </p:txBody>
      </p:sp>
      <p:sp>
        <p:nvSpPr>
          <p:cNvPr id="3" name="Content Placeholder 2">
            <a:extLst>
              <a:ext uri="{FF2B5EF4-FFF2-40B4-BE49-F238E27FC236}">
                <a16:creationId xmlns:a16="http://schemas.microsoft.com/office/drawing/2014/main" id="{742BF50D-478C-100F-A579-2DC74277D9A9}"/>
              </a:ext>
            </a:extLst>
          </p:cNvPr>
          <p:cNvSpPr>
            <a:spLocks noGrp="1"/>
          </p:cNvSpPr>
          <p:nvPr>
            <p:ph idx="1"/>
          </p:nvPr>
        </p:nvSpPr>
        <p:spPr/>
        <p:txBody>
          <a:bodyPr>
            <a:normAutofit fontScale="92500" lnSpcReduction="10000"/>
          </a:bodyPr>
          <a:lstStyle/>
          <a:p>
            <a:r>
              <a:rPr lang="ru-RU" dirty="0"/>
              <a:t>Политика передаётся первым параметром алгоритма:</a:t>
            </a:r>
          </a:p>
          <a:p>
            <a:pPr lvl="2">
              <a:buNone/>
            </a:pPr>
            <a:r>
              <a:rPr lang="en-US" dirty="0">
                <a:solidFill>
                  <a:srgbClr val="0000FF"/>
                </a:solidFill>
                <a:latin typeface="Consolas" panose="020B0609020204030204" pitchFamily="49" charset="0"/>
              </a:rPr>
              <a:t>template</a:t>
            </a:r>
            <a:r>
              <a:rPr lang="ru-RU" dirty="0">
                <a:solidFill>
                  <a:srgbClr val="0000FF"/>
                </a:solidFill>
                <a:latin typeface="Consolas" panose="020B0609020204030204" pitchFamily="49" charset="0"/>
              </a:rPr>
              <a:t> </a:t>
            </a:r>
            <a:r>
              <a:rPr lang="en-US" dirty="0">
                <a:solidFill>
                  <a:srgbClr val="000000"/>
                </a:solidFill>
                <a:latin typeface="Consolas" panose="020B0609020204030204" pitchFamily="49" charset="0"/>
              </a:rPr>
              <a:t>&lt;</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ExecutionPolicy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ForwardIt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UnaryFunc</a:t>
            </a:r>
            <a:r>
              <a:rPr lang="en-US" dirty="0">
                <a:solidFill>
                  <a:srgbClr val="000000"/>
                </a:solidFill>
                <a:latin typeface="Consolas" panose="020B0609020204030204" pitchFamily="49" charset="0"/>
              </a:rPr>
              <a:t>&gt;</a:t>
            </a:r>
          </a:p>
          <a:p>
            <a:pPr lvl="2">
              <a:buNone/>
            </a:pPr>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74531F"/>
                </a:solidFill>
                <a:latin typeface="Consolas" panose="020B0609020204030204" pitchFamily="49" charset="0"/>
              </a:rPr>
              <a:t>for_each</a:t>
            </a:r>
            <a:r>
              <a:rPr lang="en-US" dirty="0">
                <a:solidFill>
                  <a:srgbClr val="000000"/>
                </a:solidFill>
                <a:latin typeface="Consolas" panose="020B0609020204030204" pitchFamily="49" charset="0"/>
              </a:rPr>
              <a:t>(</a:t>
            </a:r>
            <a:r>
              <a:rPr lang="en-US" b="1" dirty="0" err="1">
                <a:solidFill>
                  <a:srgbClr val="2B91AF"/>
                </a:solidFill>
                <a:latin typeface="Consolas" panose="020B0609020204030204" pitchFamily="49" charset="0"/>
              </a:rPr>
              <a:t>ExecutionPolicy</a:t>
            </a:r>
            <a:r>
              <a:rPr lang="en-US" b="1" dirty="0">
                <a:solidFill>
                  <a:srgbClr val="000000"/>
                </a:solidFill>
                <a:latin typeface="Consolas" panose="020B0609020204030204" pitchFamily="49" charset="0"/>
              </a:rPr>
              <a:t>&amp;&amp; </a:t>
            </a:r>
            <a:r>
              <a:rPr lang="en-US" b="1" dirty="0">
                <a:solidFill>
                  <a:srgbClr val="808080"/>
                </a:solidFill>
                <a:latin typeface="Consolas" panose="020B0609020204030204" pitchFamily="49" charset="0"/>
              </a:rPr>
              <a:t>policy</a:t>
            </a:r>
            <a:r>
              <a:rPr lang="en-US" dirty="0">
                <a:solidFill>
                  <a:srgbClr val="000000"/>
                </a:solidFill>
                <a:latin typeface="Consolas" panose="020B0609020204030204" pitchFamily="49" charset="0"/>
              </a:rPr>
              <a:t>,</a:t>
            </a:r>
          </a:p>
          <a:p>
            <a:pPr lvl="2">
              <a:buNone/>
            </a:pP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ForwardIt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first</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ForwardIt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last</a:t>
            </a:r>
            <a:r>
              <a:rPr lang="en-US" dirty="0">
                <a:solidFill>
                  <a:srgbClr val="000000"/>
                </a:solidFill>
                <a:latin typeface="Consolas" panose="020B0609020204030204" pitchFamily="49" charset="0"/>
              </a:rPr>
              <a:t>,</a:t>
            </a:r>
          </a:p>
          <a:p>
            <a:pPr lvl="2">
              <a:buNone/>
            </a:pP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UnaryFunc</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f</a:t>
            </a:r>
            <a:r>
              <a:rPr lang="en-US" dirty="0">
                <a:solidFill>
                  <a:srgbClr val="000000"/>
                </a:solidFill>
                <a:latin typeface="Consolas" panose="020B0609020204030204" pitchFamily="49" charset="0"/>
              </a:rPr>
              <a:t>);</a:t>
            </a:r>
            <a:endParaRPr lang="ru-RU" dirty="0"/>
          </a:p>
          <a:p>
            <a:r>
              <a:rPr lang="ru-RU" dirty="0"/>
              <a:t>Пример использования:</a:t>
            </a:r>
            <a:endParaRPr lang="en-US" dirty="0"/>
          </a:p>
          <a:p>
            <a:pPr lvl="1">
              <a:buNone/>
            </a:pPr>
            <a:r>
              <a:rPr lang="en-US" dirty="0">
                <a:solidFill>
                  <a:srgbClr val="000000"/>
                </a:solidFill>
                <a:latin typeface="Consolas" panose="020B0609020204030204" pitchFamily="49" charset="0"/>
              </a:rPr>
              <a:t>std::</a:t>
            </a:r>
            <a:r>
              <a:rPr lang="en-US" dirty="0" err="1">
                <a:solidFill>
                  <a:srgbClr val="74531F"/>
                </a:solidFill>
                <a:latin typeface="Consolas" panose="020B0609020204030204" pitchFamily="49" charset="0"/>
              </a:rPr>
              <a:t>for_each</a:t>
            </a:r>
            <a:r>
              <a:rPr lang="en-US" dirty="0">
                <a:solidFill>
                  <a:srgbClr val="000000"/>
                </a:solidFill>
                <a:latin typeface="Consolas" panose="020B0609020204030204" pitchFamily="49" charset="0"/>
              </a:rPr>
              <a:t>(</a:t>
            </a:r>
            <a:r>
              <a:rPr lang="en-US" b="1" dirty="0">
                <a:solidFill>
                  <a:srgbClr val="000000"/>
                </a:solidFill>
                <a:latin typeface="Consolas" panose="020B0609020204030204" pitchFamily="49" charset="0"/>
              </a:rPr>
              <a:t>std::execution::par</a:t>
            </a:r>
            <a:r>
              <a:rPr lang="en-US" dirty="0">
                <a:solidFill>
                  <a:srgbClr val="000000"/>
                </a:solidFill>
                <a:latin typeface="Consolas" panose="020B0609020204030204" pitchFamily="49" charset="0"/>
              </a:rPr>
              <a:t>,</a:t>
            </a:r>
          </a:p>
          <a:p>
            <a:pPr lvl="1">
              <a:buNone/>
            </a:pPr>
            <a:r>
              <a:rPr lang="en-US" dirty="0">
                <a:solidFill>
                  <a:srgbClr val="000000"/>
                </a:solidFill>
                <a:latin typeface="Consolas" panose="020B0609020204030204" pitchFamily="49" charset="0"/>
              </a:rPr>
              <a:t>              </a:t>
            </a:r>
            <a:r>
              <a:rPr lang="en-US" dirty="0" err="1">
                <a:solidFill>
                  <a:srgbClr val="1F377F"/>
                </a:solidFill>
                <a:latin typeface="Consolas" panose="020B0609020204030204" pitchFamily="49" charset="0"/>
              </a:rPr>
              <a:t>v</a:t>
            </a:r>
            <a:r>
              <a:rPr lang="en-US" dirty="0" err="1">
                <a:solidFill>
                  <a:srgbClr val="000000"/>
                </a:solidFill>
                <a:latin typeface="Consolas" panose="020B0609020204030204" pitchFamily="49" charset="0"/>
              </a:rPr>
              <a:t>.</a:t>
            </a:r>
            <a:r>
              <a:rPr lang="en-US" dirty="0" err="1">
                <a:solidFill>
                  <a:srgbClr val="74531F"/>
                </a:solidFill>
                <a:latin typeface="Consolas" panose="020B0609020204030204" pitchFamily="49" charset="0"/>
              </a:rPr>
              <a:t>begin</a:t>
            </a:r>
            <a:r>
              <a:rPr lang="en-US" dirty="0">
                <a:solidFill>
                  <a:srgbClr val="000000"/>
                </a:solidFill>
                <a:latin typeface="Consolas" panose="020B0609020204030204" pitchFamily="49" charset="0"/>
              </a:rPr>
              <a:t>(), </a:t>
            </a:r>
            <a:r>
              <a:rPr lang="en-US" dirty="0" err="1">
                <a:solidFill>
                  <a:srgbClr val="1F377F"/>
                </a:solidFill>
                <a:latin typeface="Consolas" panose="020B0609020204030204" pitchFamily="49" charset="0"/>
              </a:rPr>
              <a:t>v</a:t>
            </a:r>
            <a:r>
              <a:rPr lang="en-US" dirty="0" err="1">
                <a:solidFill>
                  <a:srgbClr val="000000"/>
                </a:solidFill>
                <a:latin typeface="Consolas" panose="020B0609020204030204" pitchFamily="49" charset="0"/>
              </a:rPr>
              <a:t>.</a:t>
            </a:r>
            <a:r>
              <a:rPr lang="en-US" dirty="0" err="1">
                <a:solidFill>
                  <a:srgbClr val="74531F"/>
                </a:solidFill>
                <a:latin typeface="Consolas" panose="020B0609020204030204" pitchFamily="49" charset="0"/>
              </a:rPr>
              <a:t>end</a:t>
            </a:r>
            <a:r>
              <a:rPr lang="en-US" dirty="0">
                <a:solidFill>
                  <a:srgbClr val="000000"/>
                </a:solidFill>
                <a:latin typeface="Consolas" panose="020B0609020204030204" pitchFamily="49" charset="0"/>
              </a:rPr>
              <a:t>(),</a:t>
            </a:r>
          </a:p>
          <a:p>
            <a:pPr lvl="1">
              <a:buNone/>
            </a:pPr>
            <a:r>
              <a:rPr lang="en-US" dirty="0">
                <a:solidFill>
                  <a:srgbClr val="000000"/>
                </a:solidFill>
                <a:latin typeface="Consolas" panose="020B0609020204030204" pitchFamily="49" charset="0"/>
              </a:rPr>
              <a:t>              process);</a:t>
            </a:r>
            <a:endParaRPr lang="en-US" dirty="0"/>
          </a:p>
          <a:p>
            <a:r>
              <a:rPr lang="ru-RU" dirty="0"/>
              <a:t>Политика исполнения — это </a:t>
            </a:r>
            <a:r>
              <a:rPr lang="ru-RU" b="1" dirty="0"/>
              <a:t>разрешение</a:t>
            </a:r>
            <a:r>
              <a:rPr lang="ru-RU" dirty="0"/>
              <a:t> на определённый способ выполнения, а не гарантия, что библиотека обязательно его применит</a:t>
            </a:r>
          </a:p>
        </p:txBody>
      </p:sp>
    </p:spTree>
    <p:extLst>
      <p:ext uri="{BB962C8B-B14F-4D97-AF65-F5344CB8AC3E}">
        <p14:creationId xmlns:p14="http://schemas.microsoft.com/office/powerpoint/2010/main" val="393797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7BFFE-8B05-65B0-256E-418D760FC6E1}"/>
              </a:ext>
            </a:extLst>
          </p:cNvPr>
          <p:cNvSpPr>
            <a:spLocks noGrp="1"/>
          </p:cNvSpPr>
          <p:nvPr>
            <p:ph type="title"/>
          </p:nvPr>
        </p:nvSpPr>
        <p:spPr/>
        <p:txBody>
          <a:bodyPr/>
          <a:lstStyle/>
          <a:p>
            <a:r>
              <a:rPr lang="ru-RU" dirty="0"/>
              <a:t>Параллельная версия</a:t>
            </a:r>
            <a:endParaRPr lang="en-US" dirty="0"/>
          </a:p>
        </p:txBody>
      </p:sp>
      <p:sp>
        <p:nvSpPr>
          <p:cNvPr id="8" name="TextBox 7">
            <a:extLst>
              <a:ext uri="{FF2B5EF4-FFF2-40B4-BE49-F238E27FC236}">
                <a16:creationId xmlns:a16="http://schemas.microsoft.com/office/drawing/2014/main" id="{07FAD05A-1E87-A063-7589-EDF1D5AD73E1}"/>
              </a:ext>
            </a:extLst>
          </p:cNvPr>
          <p:cNvSpPr txBox="1"/>
          <p:nvPr/>
        </p:nvSpPr>
        <p:spPr>
          <a:xfrm>
            <a:off x="6991815" y="5167312"/>
            <a:ext cx="5200185" cy="646331"/>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a:latin typeface="Consolas" panose="020B0609020204030204" pitchFamily="49" charset="0"/>
              </a:rPr>
              <a:t>sequential took 3456423500ns (3.45642s)</a:t>
            </a:r>
          </a:p>
          <a:p>
            <a:r>
              <a:rPr lang="en-US" dirty="0">
                <a:latin typeface="Consolas" panose="020B0609020204030204" pitchFamily="49" charset="0"/>
              </a:rPr>
              <a:t>parallel took 480692500ns (0.480693s)</a:t>
            </a:r>
          </a:p>
        </p:txBody>
      </p:sp>
      <p:sp>
        <p:nvSpPr>
          <p:cNvPr id="10" name="TextBox 9">
            <a:extLst>
              <a:ext uri="{FF2B5EF4-FFF2-40B4-BE49-F238E27FC236}">
                <a16:creationId xmlns:a16="http://schemas.microsoft.com/office/drawing/2014/main" id="{0020B968-C9C0-F42C-85AA-50E8B647062A}"/>
              </a:ext>
            </a:extLst>
          </p:cNvPr>
          <p:cNvSpPr txBox="1"/>
          <p:nvPr/>
        </p:nvSpPr>
        <p:spPr>
          <a:xfrm>
            <a:off x="3702207" y="5631289"/>
            <a:ext cx="8489793" cy="1200329"/>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main</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MeasureTime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sequential</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GenerateSequential</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100'000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MeasureTime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parallel</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GenerateParallel</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100'000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C78B8331-C9F9-1482-F285-0416278BCA41}"/>
              </a:ext>
            </a:extLst>
          </p:cNvPr>
          <p:cNvSpPr txBox="1"/>
          <p:nvPr/>
        </p:nvSpPr>
        <p:spPr>
          <a:xfrm>
            <a:off x="838200" y="1690688"/>
            <a:ext cx="11114314" cy="4801314"/>
          </a:xfrm>
          <a:prstGeom prst="rect">
            <a:avLst/>
          </a:prstGeom>
          <a:noFill/>
        </p:spPr>
        <p:txBody>
          <a:bodyPr wrap="square">
            <a:spAutoFit/>
          </a:bodyPr>
          <a:lstStyle/>
          <a:p>
            <a:pPr>
              <a:buNone/>
            </a:pPr>
            <a:r>
              <a:rPr lang="en-US" b="0" dirty="0" err="1">
                <a:solidFill>
                  <a:srgbClr val="2B91AF"/>
                </a:solidFill>
                <a:effectLst/>
                <a:latin typeface="Consolas" panose="020B0609020204030204" pitchFamily="49" charset="0"/>
              </a:rPr>
              <a:t>IntMatrix</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GenerateParallel</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numRows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IntMatrix</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a:t>
            </a:r>
            <a:r>
              <a:rPr lang="en-US" b="0" dirty="0">
                <a:solidFill>
                  <a:srgbClr val="000000"/>
                </a:solidFill>
                <a:effectLst/>
                <a:latin typeface="Consolas" panose="020B0609020204030204" pitchFamily="49" charset="0"/>
              </a:rPr>
              <a:t>(</a:t>
            </a:r>
            <a:r>
              <a:rPr lang="en-US" b="0" dirty="0" err="1">
                <a:solidFill>
                  <a:srgbClr val="808080"/>
                </a:solidFill>
                <a:effectLst/>
                <a:latin typeface="Consolas" panose="020B0609020204030204" pitchFamily="49" charset="0"/>
              </a:rPr>
              <a:t>numRows</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err="1">
                <a:solidFill>
                  <a:srgbClr val="74531F"/>
                </a:solidFill>
                <a:effectLst/>
                <a:latin typeface="Consolas" panose="020B0609020204030204" pitchFamily="49" charset="0"/>
              </a:rPr>
              <a:t>for_each</a:t>
            </a:r>
            <a:r>
              <a:rPr lang="en-US" b="0" dirty="0">
                <a:solidFill>
                  <a:srgbClr val="000000"/>
                </a:solidFill>
                <a:effectLst/>
                <a:latin typeface="Consolas" panose="020B0609020204030204" pitchFamily="49" charset="0"/>
              </a:rPr>
              <a:t>(std::execution::par, </a:t>
            </a:r>
            <a:r>
              <a:rPr lang="en-US" b="0" dirty="0" err="1">
                <a:solidFill>
                  <a:srgbClr val="1F377F"/>
                </a:solidFill>
                <a:effectLst/>
                <a:latin typeface="Consolas" panose="020B0609020204030204" pitchFamily="49" charset="0"/>
              </a:rPr>
              <a:t>m</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begin</a:t>
            </a: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m</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end</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auto</a:t>
            </a:r>
            <a:r>
              <a:rPr lang="en-US" b="0" dirty="0">
                <a:solidFill>
                  <a:srgbClr val="000000"/>
                </a:solidFill>
                <a:effectLst/>
                <a:latin typeface="Consolas" panose="020B0609020204030204" pitchFamily="49" charset="0"/>
              </a:rPr>
              <a:t>&amp; </a:t>
            </a:r>
            <a:r>
              <a:rPr lang="en-US" b="0" dirty="0">
                <a:solidFill>
                  <a:srgbClr val="808080"/>
                </a:solidFill>
                <a:effectLst/>
                <a:latin typeface="Consolas" panose="020B0609020204030204" pitchFamily="49" charset="0"/>
              </a:rPr>
              <a:t>row</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row</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reserve</a:t>
            </a:r>
            <a:r>
              <a:rPr lang="en-US" b="0" dirty="0">
                <a:solidFill>
                  <a:srgbClr val="000000"/>
                </a:solidFill>
                <a:effectLst/>
                <a:latin typeface="Consolas" panose="020B0609020204030204" pitchFamily="49" charset="0"/>
              </a:rPr>
              <a:t>(</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thread_local</a:t>
            </a:r>
            <a:r>
              <a:rPr lang="en-US" b="0" dirty="0">
                <a:solidFill>
                  <a:srgbClr val="000000"/>
                </a:solidFill>
                <a:effectLst/>
                <a:latin typeface="Consolas" panose="020B0609020204030204" pitchFamily="49" charset="0"/>
              </a:rPr>
              <a:t> std::</a:t>
            </a:r>
            <a:r>
              <a:rPr lang="en-US" b="0" dirty="0" err="1">
                <a:solidFill>
                  <a:srgbClr val="2B91AF"/>
                </a:solidFill>
                <a:effectLst/>
                <a:latin typeface="Consolas" panose="020B0609020204030204" pitchFamily="49" charset="0"/>
              </a:rPr>
              <a:t>random_device</a:t>
            </a: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rd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thread_local</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mt19937</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gen</a:t>
            </a:r>
            <a:r>
              <a:rPr lang="en-US" b="0" dirty="0">
                <a:solidFill>
                  <a:srgbClr val="000000"/>
                </a:solidFill>
                <a:effectLst/>
                <a:latin typeface="Consolas" panose="020B0609020204030204" pitchFamily="49" charset="0"/>
              </a:rPr>
              <a:t>(</a:t>
            </a:r>
            <a:r>
              <a:rPr lang="en-US" b="0" dirty="0" err="1">
                <a:solidFill>
                  <a:srgbClr val="1F377F"/>
                </a:solidFill>
                <a:effectLst/>
                <a:latin typeface="Consolas" panose="020B0609020204030204" pitchFamily="49" charset="0"/>
              </a:rPr>
              <a:t>rd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err="1">
                <a:solidFill>
                  <a:srgbClr val="2B91AF"/>
                </a:solidFill>
                <a:effectLst/>
                <a:latin typeface="Consolas" panose="020B0609020204030204" pitchFamily="49" charset="0"/>
              </a:rPr>
              <a:t>uniform_int_distribution</a:t>
            </a: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dist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1'000'000</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c</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c</a:t>
            </a:r>
            <a:r>
              <a:rPr lang="en-US" b="0" dirty="0">
                <a:solidFill>
                  <a:srgbClr val="000000"/>
                </a:solidFill>
                <a:effectLst/>
                <a:latin typeface="Consolas" panose="020B0609020204030204" pitchFamily="49" charset="0"/>
              </a:rPr>
              <a:t> &lt; </a:t>
            </a:r>
            <a:r>
              <a:rPr lang="en-US" b="0" dirty="0" err="1">
                <a:solidFill>
                  <a:srgbClr val="808080"/>
                </a:solidFill>
                <a:effectLst/>
                <a:latin typeface="Consolas" panose="020B0609020204030204" pitchFamily="49" charset="0"/>
              </a:rPr>
              <a:t>numColumns</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c</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row</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push_back</a:t>
            </a:r>
            <a:r>
              <a:rPr lang="en-US" b="0" dirty="0">
                <a:solidFill>
                  <a:srgbClr val="000000"/>
                </a:solidFill>
                <a:effectLst/>
                <a:latin typeface="Consolas" panose="020B0609020204030204" pitchFamily="49" charset="0"/>
              </a:rPr>
              <a:t>(</a:t>
            </a:r>
            <a:r>
              <a:rPr lang="en-US" b="0" dirty="0" err="1">
                <a:solidFill>
                  <a:srgbClr val="1F377F"/>
                </a:solidFill>
                <a:effectLst/>
                <a:latin typeface="Consolas" panose="020B0609020204030204" pitchFamily="49" charset="0"/>
              </a:rPr>
              <a:t>dist</a:t>
            </a:r>
            <a:r>
              <a:rPr lang="en-US" b="0" dirty="0">
                <a:solidFill>
                  <a:srgbClr val="000000"/>
                </a:solidFill>
                <a:effectLst/>
                <a:latin typeface="Consolas" panose="020B0609020204030204" pitchFamily="49" charset="0"/>
              </a:rPr>
              <a:t>(</a:t>
            </a:r>
            <a:r>
              <a:rPr lang="en-US" b="0" dirty="0">
                <a:solidFill>
                  <a:srgbClr val="1F377F"/>
                </a:solidFill>
                <a:effectLst/>
                <a:latin typeface="Consolas" panose="020B0609020204030204" pitchFamily="49" charset="0"/>
              </a:rPr>
              <a:t>gen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m</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0426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AEF5-3521-3169-6649-4CE96EEA26B0}"/>
              </a:ext>
            </a:extLst>
          </p:cNvPr>
          <p:cNvSpPr>
            <a:spLocks noGrp="1"/>
          </p:cNvSpPr>
          <p:nvPr>
            <p:ph type="title"/>
          </p:nvPr>
        </p:nvSpPr>
        <p:spPr/>
        <p:txBody>
          <a:bodyPr/>
          <a:lstStyle/>
          <a:p>
            <a:r>
              <a:rPr lang="ru-RU" dirty="0"/>
              <a:t>Доступные политики выполнения</a:t>
            </a:r>
            <a:endParaRPr lang="en-US" dirty="0"/>
          </a:p>
        </p:txBody>
      </p:sp>
      <p:sp>
        <p:nvSpPr>
          <p:cNvPr id="3" name="Content Placeholder 2">
            <a:extLst>
              <a:ext uri="{FF2B5EF4-FFF2-40B4-BE49-F238E27FC236}">
                <a16:creationId xmlns:a16="http://schemas.microsoft.com/office/drawing/2014/main" id="{11497A70-94C8-13BE-968A-B256946DAC21}"/>
              </a:ext>
            </a:extLst>
          </p:cNvPr>
          <p:cNvSpPr>
            <a:spLocks noGrp="1"/>
          </p:cNvSpPr>
          <p:nvPr>
            <p:ph idx="1"/>
          </p:nvPr>
        </p:nvSpPr>
        <p:spPr/>
        <p:txBody>
          <a:bodyPr>
            <a:normAutofit fontScale="77500" lnSpcReduction="20000"/>
          </a:bodyPr>
          <a:lstStyle/>
          <a:p>
            <a:r>
              <a:rPr lang="ru-RU" dirty="0"/>
              <a:t>Стандартная библиотека C++ предоставляет четыре политики выполнения:</a:t>
            </a:r>
          </a:p>
          <a:p>
            <a:r>
              <a:rPr lang="ru-RU" b="1" dirty="0" err="1"/>
              <a:t>std</a:t>
            </a:r>
            <a:r>
              <a:rPr lang="ru-RU" b="1" dirty="0"/>
              <a:t>::</a:t>
            </a:r>
            <a:r>
              <a:rPr lang="ru-RU" b="1" dirty="0" err="1"/>
              <a:t>execution</a:t>
            </a:r>
            <a:r>
              <a:rPr lang="ru-RU" b="1" dirty="0"/>
              <a:t>::</a:t>
            </a:r>
            <a:r>
              <a:rPr lang="ru-RU" b="1" dirty="0" err="1"/>
              <a:t>seq</a:t>
            </a:r>
            <a:endParaRPr lang="ru-RU" dirty="0"/>
          </a:p>
          <a:p>
            <a:pPr lvl="1"/>
            <a:r>
              <a:rPr lang="ru-RU" dirty="0"/>
              <a:t>последовательное выполнение</a:t>
            </a:r>
          </a:p>
          <a:p>
            <a:pPr lvl="1"/>
            <a:r>
              <a:rPr lang="ru-RU" dirty="0"/>
              <a:t>все операции выполняются в одном потоке</a:t>
            </a:r>
          </a:p>
          <a:p>
            <a:r>
              <a:rPr lang="ru-RU" b="1" dirty="0" err="1"/>
              <a:t>std</a:t>
            </a:r>
            <a:r>
              <a:rPr lang="ru-RU" b="1" dirty="0"/>
              <a:t>::</a:t>
            </a:r>
            <a:r>
              <a:rPr lang="ru-RU" b="1" dirty="0" err="1"/>
              <a:t>execution</a:t>
            </a:r>
            <a:r>
              <a:rPr lang="ru-RU" b="1" dirty="0"/>
              <a:t>::</a:t>
            </a:r>
            <a:r>
              <a:rPr lang="ru-RU" b="1" dirty="0" err="1"/>
              <a:t>par</a:t>
            </a:r>
            <a:endParaRPr lang="ru-RU" dirty="0"/>
          </a:p>
          <a:p>
            <a:pPr lvl="1"/>
            <a:r>
              <a:rPr lang="ru-RU" dirty="0"/>
              <a:t>возможное параллельное выполнение</a:t>
            </a:r>
          </a:p>
          <a:p>
            <a:pPr lvl="1"/>
            <a:r>
              <a:rPr lang="ru-RU" dirty="0"/>
              <a:t>итерации могут выполняться в нескольких потоках</a:t>
            </a:r>
          </a:p>
          <a:p>
            <a:r>
              <a:rPr lang="ru-RU" b="1" dirty="0" err="1"/>
              <a:t>std</a:t>
            </a:r>
            <a:r>
              <a:rPr lang="ru-RU" b="1" dirty="0"/>
              <a:t>::</a:t>
            </a:r>
            <a:r>
              <a:rPr lang="ru-RU" b="1" dirty="0" err="1"/>
              <a:t>execution</a:t>
            </a:r>
            <a:r>
              <a:rPr lang="ru-RU" b="1" dirty="0"/>
              <a:t>::</a:t>
            </a:r>
            <a:r>
              <a:rPr lang="ru-RU" b="1" dirty="0" err="1"/>
              <a:t>unseq</a:t>
            </a:r>
            <a:endParaRPr lang="ru-RU" dirty="0"/>
          </a:p>
          <a:p>
            <a:pPr lvl="1"/>
            <a:r>
              <a:rPr lang="ru-RU" dirty="0"/>
              <a:t>неупорядоченное выполнение</a:t>
            </a:r>
          </a:p>
          <a:p>
            <a:pPr lvl="1"/>
            <a:r>
              <a:rPr lang="ru-RU" dirty="0"/>
              <a:t>допускается </a:t>
            </a:r>
            <a:r>
              <a:rPr lang="ru-RU" b="1" dirty="0"/>
              <a:t>SIMD-векторизация</a:t>
            </a:r>
            <a:endParaRPr lang="ru-RU" dirty="0"/>
          </a:p>
          <a:p>
            <a:r>
              <a:rPr lang="ru-RU" b="1" dirty="0" err="1"/>
              <a:t>std</a:t>
            </a:r>
            <a:r>
              <a:rPr lang="ru-RU" b="1" dirty="0"/>
              <a:t>::</a:t>
            </a:r>
            <a:r>
              <a:rPr lang="ru-RU" b="1" dirty="0" err="1"/>
              <a:t>execution</a:t>
            </a:r>
            <a:r>
              <a:rPr lang="ru-RU" b="1" dirty="0"/>
              <a:t>::</a:t>
            </a:r>
            <a:r>
              <a:rPr lang="ru-RU" b="1" dirty="0" err="1"/>
              <a:t>par_unseq</a:t>
            </a:r>
            <a:endParaRPr lang="ru-RU" dirty="0"/>
          </a:p>
          <a:p>
            <a:pPr lvl="1"/>
            <a:r>
              <a:rPr lang="ru-RU" dirty="0"/>
              <a:t>сочетает </a:t>
            </a:r>
            <a:r>
              <a:rPr lang="ru-RU" b="1" dirty="0"/>
              <a:t>параллелизм и векторизацию</a:t>
            </a:r>
            <a:endParaRPr lang="ru-RU" dirty="0"/>
          </a:p>
          <a:p>
            <a:r>
              <a:rPr lang="ru-RU" dirty="0"/>
              <a:t>⚠️ Политика исполнения </a:t>
            </a:r>
            <a:r>
              <a:rPr lang="ru-RU" b="1" dirty="0"/>
              <a:t>разрешает</a:t>
            </a:r>
            <a:r>
              <a:rPr lang="ru-RU" dirty="0"/>
              <a:t> оптимизацию, но </a:t>
            </a:r>
            <a:r>
              <a:rPr lang="ru-RU" b="1" dirty="0"/>
              <a:t>не гарантирует</a:t>
            </a:r>
            <a:r>
              <a:rPr lang="ru-RU" dirty="0"/>
              <a:t>, что она будет использована.</a:t>
            </a:r>
          </a:p>
          <a:p>
            <a:endParaRPr lang="en-US" dirty="0"/>
          </a:p>
        </p:txBody>
      </p:sp>
    </p:spTree>
    <p:extLst>
      <p:ext uri="{BB962C8B-B14F-4D97-AF65-F5344CB8AC3E}">
        <p14:creationId xmlns:p14="http://schemas.microsoft.com/office/powerpoint/2010/main" val="392927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4199-CE29-91B8-3524-234257C8F2B9}"/>
              </a:ext>
            </a:extLst>
          </p:cNvPr>
          <p:cNvSpPr>
            <a:spLocks noGrp="1"/>
          </p:cNvSpPr>
          <p:nvPr>
            <p:ph type="title"/>
          </p:nvPr>
        </p:nvSpPr>
        <p:spPr/>
        <p:txBody>
          <a:bodyPr/>
          <a:lstStyle/>
          <a:p>
            <a:r>
              <a:rPr lang="ru-RU" dirty="0"/>
              <a:t>Особенности параллельных политик исполнения</a:t>
            </a:r>
            <a:endParaRPr lang="en-US" dirty="0"/>
          </a:p>
        </p:txBody>
      </p:sp>
      <p:sp>
        <p:nvSpPr>
          <p:cNvPr id="3" name="Content Placeholder 2">
            <a:extLst>
              <a:ext uri="{FF2B5EF4-FFF2-40B4-BE49-F238E27FC236}">
                <a16:creationId xmlns:a16="http://schemas.microsoft.com/office/drawing/2014/main" id="{422AD616-E6FC-F8D3-E056-8CB4D822A52B}"/>
              </a:ext>
            </a:extLst>
          </p:cNvPr>
          <p:cNvSpPr>
            <a:spLocks noGrp="1"/>
          </p:cNvSpPr>
          <p:nvPr>
            <p:ph idx="1"/>
          </p:nvPr>
        </p:nvSpPr>
        <p:spPr/>
        <p:txBody>
          <a:bodyPr>
            <a:normAutofit fontScale="85000" lnSpcReduction="20000"/>
          </a:bodyPr>
          <a:lstStyle/>
          <a:p>
            <a:r>
              <a:rPr lang="ru-RU" dirty="0"/>
              <a:t>Порядок выполнения</a:t>
            </a:r>
          </a:p>
          <a:p>
            <a:pPr lvl="1"/>
            <a:r>
              <a:rPr lang="ru-RU" dirty="0"/>
              <a:t>порядок обработки элементов не определён</a:t>
            </a:r>
          </a:p>
          <a:p>
            <a:pPr lvl="1"/>
            <a:r>
              <a:rPr lang="ru-RU" dirty="0"/>
              <a:t>может меняться от запуска к запуску</a:t>
            </a:r>
          </a:p>
          <a:p>
            <a:r>
              <a:rPr lang="ru-RU" dirty="0"/>
              <a:t>Исключения</a:t>
            </a:r>
          </a:p>
          <a:p>
            <a:pPr lvl="1"/>
            <a:r>
              <a:rPr lang="ru-RU" dirty="0"/>
              <a:t>функция не должна выбрасывать исключения</a:t>
            </a:r>
          </a:p>
          <a:p>
            <a:pPr lvl="1"/>
            <a:r>
              <a:rPr lang="ru-RU" dirty="0"/>
              <a:t>при возникновении исключения возможен вызов </a:t>
            </a:r>
            <a:r>
              <a:rPr lang="ru-RU" dirty="0" err="1"/>
              <a:t>std</a:t>
            </a:r>
            <a:r>
              <a:rPr lang="ru-RU" dirty="0"/>
              <a:t>::</a:t>
            </a:r>
            <a:r>
              <a:rPr lang="ru-RU" dirty="0" err="1"/>
              <a:t>terminate</a:t>
            </a:r>
            <a:endParaRPr lang="ru-RU" dirty="0"/>
          </a:p>
          <a:p>
            <a:r>
              <a:rPr lang="ru-RU" dirty="0"/>
              <a:t>Работа с общими данными</a:t>
            </a:r>
          </a:p>
          <a:p>
            <a:pPr lvl="1"/>
            <a:r>
              <a:rPr lang="ru-RU" dirty="0"/>
              <a:t>возможен одновременный доступ из нескольких потоков</a:t>
            </a:r>
          </a:p>
          <a:p>
            <a:pPr lvl="1"/>
            <a:r>
              <a:rPr lang="ru-RU" dirty="0"/>
              <a:t>необходимо избегать </a:t>
            </a:r>
            <a:r>
              <a:rPr lang="ru-RU" dirty="0" err="1"/>
              <a:t>data</a:t>
            </a:r>
            <a:r>
              <a:rPr lang="ru-RU" dirty="0"/>
              <a:t> </a:t>
            </a:r>
            <a:r>
              <a:rPr lang="ru-RU" dirty="0" err="1"/>
              <a:t>race</a:t>
            </a:r>
            <a:endParaRPr lang="ru-RU" dirty="0"/>
          </a:p>
          <a:p>
            <a:r>
              <a:rPr lang="ru-RU" dirty="0"/>
              <a:t>Синхронизация</a:t>
            </a:r>
          </a:p>
          <a:p>
            <a:pPr lvl="1"/>
            <a:r>
              <a:rPr lang="ru-RU" dirty="0"/>
              <a:t>допускается использование мьютексов и атомарных операций</a:t>
            </a:r>
          </a:p>
          <a:p>
            <a:pPr lvl="1"/>
            <a:r>
              <a:rPr lang="ru-RU" dirty="0"/>
              <a:t>захват и освобождение блокировки должны происходить внутри одного вызова функции</a:t>
            </a:r>
          </a:p>
        </p:txBody>
      </p:sp>
    </p:spTree>
    <p:extLst>
      <p:ext uri="{BB962C8B-B14F-4D97-AF65-F5344CB8AC3E}">
        <p14:creationId xmlns:p14="http://schemas.microsoft.com/office/powerpoint/2010/main" val="398265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F269-6C14-D6FB-88D4-9FA3D2249CDD}"/>
              </a:ext>
            </a:extLst>
          </p:cNvPr>
          <p:cNvSpPr>
            <a:spLocks noGrp="1"/>
          </p:cNvSpPr>
          <p:nvPr>
            <p:ph type="title"/>
          </p:nvPr>
        </p:nvSpPr>
        <p:spPr/>
        <p:txBody>
          <a:bodyPr/>
          <a:lstStyle/>
          <a:p>
            <a:r>
              <a:rPr lang="ru-RU" dirty="0"/>
              <a:t>Особенности </a:t>
            </a:r>
            <a:r>
              <a:rPr lang="ru-RU" dirty="0" err="1"/>
              <a:t>unseq</a:t>
            </a:r>
            <a:r>
              <a:rPr lang="ru-RU" dirty="0"/>
              <a:t> и </a:t>
            </a:r>
            <a:r>
              <a:rPr lang="ru-RU" dirty="0" err="1"/>
              <a:t>par_unseq</a:t>
            </a:r>
            <a:endParaRPr lang="en-US" dirty="0"/>
          </a:p>
        </p:txBody>
      </p:sp>
      <p:sp>
        <p:nvSpPr>
          <p:cNvPr id="3" name="Content Placeholder 2">
            <a:extLst>
              <a:ext uri="{FF2B5EF4-FFF2-40B4-BE49-F238E27FC236}">
                <a16:creationId xmlns:a16="http://schemas.microsoft.com/office/drawing/2014/main" id="{898A658B-36F7-037F-7005-3542D33BF863}"/>
              </a:ext>
            </a:extLst>
          </p:cNvPr>
          <p:cNvSpPr>
            <a:spLocks noGrp="1"/>
          </p:cNvSpPr>
          <p:nvPr>
            <p:ph idx="1"/>
          </p:nvPr>
        </p:nvSpPr>
        <p:spPr/>
        <p:txBody>
          <a:bodyPr>
            <a:normAutofit fontScale="85000" lnSpcReduction="20000"/>
          </a:bodyPr>
          <a:lstStyle/>
          <a:p>
            <a:r>
              <a:rPr lang="ru-RU" b="1" dirty="0"/>
              <a:t>Неупорядоченное выполнение</a:t>
            </a:r>
            <a:endParaRPr lang="ru-RU" dirty="0"/>
          </a:p>
          <a:p>
            <a:pPr lvl="1"/>
            <a:r>
              <a:rPr lang="ru-RU" dirty="0"/>
              <a:t>итерации могут выполняться </a:t>
            </a:r>
            <a:r>
              <a:rPr lang="ru-RU" b="1" dirty="0"/>
              <a:t>в любом порядке</a:t>
            </a:r>
            <a:endParaRPr lang="ru-RU" dirty="0"/>
          </a:p>
          <a:p>
            <a:pPr lvl="1"/>
            <a:r>
              <a:rPr lang="ru-RU" dirty="0"/>
              <a:t>внутри одного потока возможна </a:t>
            </a:r>
            <a:r>
              <a:rPr lang="ru-RU" b="1" dirty="0"/>
              <a:t>векторизация (SIMD)</a:t>
            </a:r>
            <a:endParaRPr lang="ru-RU" dirty="0"/>
          </a:p>
          <a:p>
            <a:r>
              <a:rPr lang="ru-RU" b="1" dirty="0"/>
              <a:t>Исключения</a:t>
            </a:r>
            <a:endParaRPr lang="ru-RU" dirty="0"/>
          </a:p>
          <a:p>
            <a:pPr lvl="1"/>
            <a:r>
              <a:rPr lang="ru-RU" dirty="0"/>
              <a:t>функция не должна выбрасывать исключения</a:t>
            </a:r>
          </a:p>
          <a:p>
            <a:pPr lvl="1"/>
            <a:r>
              <a:rPr lang="ru-RU" dirty="0"/>
              <a:t>при возникновении исключения возможен </a:t>
            </a:r>
            <a:r>
              <a:rPr lang="ru-RU" b="1" dirty="0" err="1"/>
              <a:t>std</a:t>
            </a:r>
            <a:r>
              <a:rPr lang="ru-RU" b="1" dirty="0"/>
              <a:t>::</a:t>
            </a:r>
            <a:r>
              <a:rPr lang="ru-RU" b="1" dirty="0" err="1"/>
              <a:t>terminate</a:t>
            </a:r>
            <a:endParaRPr lang="ru-RU" dirty="0"/>
          </a:p>
          <a:p>
            <a:r>
              <a:rPr lang="ru-RU" b="1" dirty="0"/>
              <a:t>Ограничения на код</a:t>
            </a:r>
            <a:endParaRPr lang="ru-RU" dirty="0"/>
          </a:p>
          <a:p>
            <a:pPr lvl="1"/>
            <a:r>
              <a:rPr lang="ru-RU" dirty="0"/>
              <a:t>операции должны быть </a:t>
            </a:r>
            <a:r>
              <a:rPr lang="ru-RU" b="1" dirty="0"/>
              <a:t>независимыми</a:t>
            </a:r>
            <a:endParaRPr lang="ru-RU" dirty="0"/>
          </a:p>
          <a:p>
            <a:pPr lvl="1"/>
            <a:r>
              <a:rPr lang="ru-RU" dirty="0"/>
              <a:t>нельзя полагаться на порядок выполнения</a:t>
            </a:r>
          </a:p>
          <a:p>
            <a:r>
              <a:rPr lang="ru-RU" b="1" dirty="0"/>
              <a:t>Запрещённые операции</a:t>
            </a:r>
            <a:endParaRPr lang="ru-RU" dirty="0"/>
          </a:p>
          <a:p>
            <a:pPr lvl="1"/>
            <a:r>
              <a:rPr lang="ru-RU" dirty="0"/>
              <a:t>блокировки и ожидание ресурсов</a:t>
            </a:r>
          </a:p>
          <a:p>
            <a:pPr lvl="1"/>
            <a:r>
              <a:rPr lang="ru-RU" dirty="0" err="1"/>
              <a:t>std</a:t>
            </a:r>
            <a:r>
              <a:rPr lang="ru-RU" dirty="0"/>
              <a:t>::</a:t>
            </a:r>
            <a:r>
              <a:rPr lang="ru-RU" dirty="0" err="1"/>
              <a:t>mutex</a:t>
            </a:r>
            <a:r>
              <a:rPr lang="ru-RU" dirty="0"/>
              <a:t>, </a:t>
            </a:r>
            <a:r>
              <a:rPr lang="ru-RU" dirty="0" err="1"/>
              <a:t>std</a:t>
            </a:r>
            <a:r>
              <a:rPr lang="ru-RU" dirty="0"/>
              <a:t>::</a:t>
            </a:r>
            <a:r>
              <a:rPr lang="ru-RU" dirty="0" err="1"/>
              <a:t>condition_variable</a:t>
            </a:r>
            <a:endParaRPr lang="ru-RU" dirty="0"/>
          </a:p>
          <a:p>
            <a:pPr lvl="1"/>
            <a:r>
              <a:rPr lang="ru-RU" dirty="0"/>
              <a:t>атомарные операции и другие формы синхронизации</a:t>
            </a:r>
          </a:p>
        </p:txBody>
      </p:sp>
    </p:spTree>
    <p:extLst>
      <p:ext uri="{BB962C8B-B14F-4D97-AF65-F5344CB8AC3E}">
        <p14:creationId xmlns:p14="http://schemas.microsoft.com/office/powerpoint/2010/main" val="2179425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26BD14-AF03-0C6C-0CA4-9EC19DF6D23C}"/>
              </a:ext>
            </a:extLst>
          </p:cNvPr>
          <p:cNvSpPr txBox="1"/>
          <p:nvPr/>
        </p:nvSpPr>
        <p:spPr>
          <a:xfrm>
            <a:off x="0" y="1"/>
            <a:ext cx="11998712" cy="6740307"/>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SortSeq</a:t>
            </a:r>
            <a:r>
              <a:rPr lang="en-US" sz="1600" b="0" dirty="0">
                <a:solidFill>
                  <a:srgbClr val="000000"/>
                </a:solidFill>
                <a:effectLst/>
                <a:latin typeface="Consolas" panose="020B0609020204030204" pitchFamily="49" charset="0"/>
              </a:rPr>
              <a:t>(</a:t>
            </a:r>
            <a:r>
              <a:rPr lang="en-US" sz="1600" b="0" dirty="0">
                <a:solidFill>
                  <a:srgbClr val="2B91A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74531F"/>
                </a:solidFill>
                <a:effectLst/>
                <a:latin typeface="Consolas" panose="020B0609020204030204" pitchFamily="49" charset="0"/>
              </a:rPr>
              <a:t>sort</a:t>
            </a:r>
            <a:r>
              <a:rPr lang="en-US" sz="1600" b="0" dirty="0">
                <a:solidFill>
                  <a:srgbClr val="000000"/>
                </a:solidFill>
                <a:effectLst/>
                <a:latin typeface="Consolas" panose="020B0609020204030204" pitchFamily="49" charset="0"/>
              </a:rPr>
              <a:t>(</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SortPar</a:t>
            </a:r>
            <a:r>
              <a:rPr lang="en-US" sz="1600" b="0" dirty="0">
                <a:solidFill>
                  <a:srgbClr val="000000"/>
                </a:solidFill>
                <a:effectLst/>
                <a:latin typeface="Consolas" panose="020B0609020204030204" pitchFamily="49" charset="0"/>
              </a:rPr>
              <a:t>(</a:t>
            </a:r>
            <a:r>
              <a:rPr lang="en-US" sz="1600" b="0" dirty="0">
                <a:solidFill>
                  <a:srgbClr val="2B91A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74531F"/>
                </a:solidFill>
                <a:effectLst/>
                <a:latin typeface="Consolas" panose="020B0609020204030204" pitchFamily="49" charset="0"/>
              </a:rPr>
              <a:t>sort</a:t>
            </a:r>
            <a:r>
              <a:rPr lang="en-US" sz="1600" b="0" dirty="0">
                <a:solidFill>
                  <a:srgbClr val="000000"/>
                </a:solidFill>
                <a:effectLst/>
                <a:latin typeface="Consolas" panose="020B0609020204030204" pitchFamily="49" charset="0"/>
              </a:rPr>
              <a:t>(std::execution::par,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SortUnseq</a:t>
            </a:r>
            <a:r>
              <a:rPr lang="en-US" sz="1600" b="0" dirty="0">
                <a:solidFill>
                  <a:srgbClr val="000000"/>
                </a:solidFill>
                <a:effectLst/>
                <a:latin typeface="Consolas" panose="020B0609020204030204" pitchFamily="49" charset="0"/>
              </a:rPr>
              <a:t>(</a:t>
            </a:r>
            <a:r>
              <a:rPr lang="en-US" sz="1600" b="0" dirty="0">
                <a:solidFill>
                  <a:srgbClr val="2B91A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74531F"/>
                </a:solidFill>
                <a:effectLst/>
                <a:latin typeface="Consolas" panose="020B0609020204030204" pitchFamily="49" charset="0"/>
              </a:rPr>
              <a:t>sort</a:t>
            </a:r>
            <a:r>
              <a:rPr lang="en-US" sz="1600" b="0" dirty="0">
                <a:solidFill>
                  <a:srgbClr val="000000"/>
                </a:solidFill>
                <a:effectLst/>
                <a:latin typeface="Consolas" panose="020B0609020204030204" pitchFamily="49" charset="0"/>
              </a:rPr>
              <a:t>(std::execution::</a:t>
            </a:r>
            <a:r>
              <a:rPr lang="en-US" sz="1600" b="0" dirty="0" err="1">
                <a:solidFill>
                  <a:srgbClr val="000000"/>
                </a:solidFill>
                <a:effectLst/>
                <a:latin typeface="Consolas" panose="020B0609020204030204" pitchFamily="49" charset="0"/>
              </a:rPr>
              <a:t>unseq</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SortParUnseq</a:t>
            </a:r>
            <a:r>
              <a:rPr lang="en-US" sz="1600" b="0" dirty="0">
                <a:solidFill>
                  <a:srgbClr val="000000"/>
                </a:solidFill>
                <a:effectLst/>
                <a:latin typeface="Consolas" panose="020B0609020204030204" pitchFamily="49" charset="0"/>
              </a:rPr>
              <a:t>(</a:t>
            </a:r>
            <a:r>
              <a:rPr lang="en-US" sz="1600" b="0" dirty="0">
                <a:solidFill>
                  <a:srgbClr val="2B91A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74531F"/>
                </a:solidFill>
                <a:effectLst/>
                <a:latin typeface="Consolas" panose="020B0609020204030204" pitchFamily="49" charset="0"/>
              </a:rPr>
              <a:t>sort</a:t>
            </a:r>
            <a:r>
              <a:rPr lang="en-US" sz="1600" b="0" dirty="0">
                <a:solidFill>
                  <a:srgbClr val="000000"/>
                </a:solidFill>
                <a:effectLst/>
                <a:latin typeface="Consolas" panose="020B0609020204030204" pitchFamily="49" charset="0"/>
              </a:rPr>
              <a:t>(std::execution::</a:t>
            </a:r>
            <a:r>
              <a:rPr lang="en-US" sz="1600" b="0" dirty="0" err="1">
                <a:solidFill>
                  <a:srgbClr val="000000"/>
                </a:solidFill>
                <a:effectLst/>
                <a:latin typeface="Consolas" panose="020B0609020204030204" pitchFamily="49" charset="0"/>
              </a:rPr>
              <a:t>par_unseq</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numbers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a:p>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auto</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 = </a:t>
            </a:r>
            <a:r>
              <a:rPr lang="en-US" sz="1600" b="0" dirty="0">
                <a:solidFill>
                  <a:srgbClr val="74531F"/>
                </a:solidFill>
                <a:effectLst/>
                <a:latin typeface="Consolas" panose="020B0609020204030204" pitchFamily="49" charset="0"/>
              </a:rPr>
              <a:t>Generate</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100'000'000</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auto</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seq</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SortSeq</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par</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SortPar</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unseq</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SortUnseq</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a:t>
            </a: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numbers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par_unseq</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SortParUnseq</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n</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760A2097-2816-5DEC-F7EC-C615AE9BE579}"/>
              </a:ext>
            </a:extLst>
          </p:cNvPr>
          <p:cNvSpPr txBox="1"/>
          <p:nvPr/>
        </p:nvSpPr>
        <p:spPr>
          <a:xfrm>
            <a:off x="6582937" y="5449372"/>
            <a:ext cx="5326565" cy="120032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dirty="0">
                <a:latin typeface="Consolas" panose="020B0609020204030204" pitchFamily="49" charset="0"/>
              </a:rPr>
              <a:t>seq took 8287536200ns (8.28754s)</a:t>
            </a:r>
          </a:p>
          <a:p>
            <a:r>
              <a:rPr lang="en-US" dirty="0">
                <a:latin typeface="Consolas" panose="020B0609020204030204" pitchFamily="49" charset="0"/>
              </a:rPr>
              <a:t>par took 1273649100ns (1.27365s)</a:t>
            </a:r>
          </a:p>
          <a:p>
            <a:r>
              <a:rPr lang="en-US" dirty="0" err="1">
                <a:latin typeface="Consolas" panose="020B0609020204030204" pitchFamily="49" charset="0"/>
              </a:rPr>
              <a:t>unseq</a:t>
            </a:r>
            <a:r>
              <a:rPr lang="en-US" dirty="0">
                <a:latin typeface="Consolas" panose="020B0609020204030204" pitchFamily="49" charset="0"/>
              </a:rPr>
              <a:t> took 8127821500ns (8.12782s)</a:t>
            </a:r>
          </a:p>
          <a:p>
            <a:r>
              <a:rPr lang="en-US" dirty="0" err="1">
                <a:latin typeface="Consolas" panose="020B0609020204030204" pitchFamily="49" charset="0"/>
              </a:rPr>
              <a:t>par_unseq</a:t>
            </a:r>
            <a:r>
              <a:rPr lang="en-US" dirty="0">
                <a:latin typeface="Consolas" panose="020B0609020204030204" pitchFamily="49" charset="0"/>
              </a:rPr>
              <a:t> took 1323445300ns (1.32345s)</a:t>
            </a:r>
          </a:p>
        </p:txBody>
      </p:sp>
    </p:spTree>
    <p:extLst>
      <p:ext uri="{BB962C8B-B14F-4D97-AF65-F5344CB8AC3E}">
        <p14:creationId xmlns:p14="http://schemas.microsoft.com/office/powerpoint/2010/main" val="316204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8A61-C9AA-A8A5-895A-04668E4D5B48}"/>
              </a:ext>
            </a:extLst>
          </p:cNvPr>
          <p:cNvSpPr>
            <a:spLocks noGrp="1"/>
          </p:cNvSpPr>
          <p:nvPr>
            <p:ph type="title"/>
          </p:nvPr>
        </p:nvSpPr>
        <p:spPr/>
        <p:txBody>
          <a:bodyPr>
            <a:normAutofit/>
          </a:bodyPr>
          <a:lstStyle/>
          <a:p>
            <a:r>
              <a:rPr lang="ru-RU" dirty="0"/>
              <a:t>Параллельность ≠ автоматическое ускорение</a:t>
            </a:r>
            <a:endParaRPr lang="en-US" dirty="0"/>
          </a:p>
        </p:txBody>
      </p:sp>
      <p:sp>
        <p:nvSpPr>
          <p:cNvPr id="3" name="Content Placeholder 2">
            <a:extLst>
              <a:ext uri="{FF2B5EF4-FFF2-40B4-BE49-F238E27FC236}">
                <a16:creationId xmlns:a16="http://schemas.microsoft.com/office/drawing/2014/main" id="{6AFB702E-2033-6EB9-D6A5-EDA4E7742F26}"/>
              </a:ext>
            </a:extLst>
          </p:cNvPr>
          <p:cNvSpPr>
            <a:spLocks noGrp="1"/>
          </p:cNvSpPr>
          <p:nvPr>
            <p:ph idx="1"/>
          </p:nvPr>
        </p:nvSpPr>
        <p:spPr/>
        <p:txBody>
          <a:bodyPr>
            <a:normAutofit/>
          </a:bodyPr>
          <a:lstStyle/>
          <a:p>
            <a:r>
              <a:rPr lang="ru-RU" dirty="0"/>
              <a:t>Параллельное выполнение </a:t>
            </a:r>
            <a:r>
              <a:rPr lang="ru-RU" b="1" dirty="0"/>
              <a:t>не всегда делает программу быстрее</a:t>
            </a:r>
            <a:endParaRPr lang="ru-RU" dirty="0"/>
          </a:p>
          <a:p>
            <a:r>
              <a:rPr lang="ru-RU" dirty="0"/>
              <a:t>Возможные причины:</a:t>
            </a:r>
          </a:p>
          <a:p>
            <a:pPr lvl="1"/>
            <a:r>
              <a:rPr lang="ru-RU" b="1" dirty="0"/>
              <a:t>Накладные расходы</a:t>
            </a:r>
            <a:r>
              <a:rPr lang="ru-RU" dirty="0"/>
              <a:t> на создание и управление потоками</a:t>
            </a:r>
          </a:p>
          <a:p>
            <a:pPr lvl="1"/>
            <a:r>
              <a:rPr lang="ru-RU" b="1" dirty="0"/>
              <a:t>Синхронизация</a:t>
            </a:r>
            <a:r>
              <a:rPr lang="ru-RU" dirty="0"/>
              <a:t> и конкуренция за общие ресурсы</a:t>
            </a:r>
          </a:p>
          <a:p>
            <a:pPr lvl="1"/>
            <a:r>
              <a:rPr lang="ru-RU" b="1" dirty="0"/>
              <a:t>Ограничения пропускной способности памяти</a:t>
            </a:r>
            <a:r>
              <a:rPr lang="ru-RU" dirty="0"/>
              <a:t> (</a:t>
            </a:r>
            <a:r>
              <a:rPr lang="ru-RU" dirty="0" err="1"/>
              <a:t>memory</a:t>
            </a:r>
            <a:r>
              <a:rPr lang="ru-RU" dirty="0"/>
              <a:t> </a:t>
            </a:r>
            <a:r>
              <a:rPr lang="ru-RU" dirty="0" err="1"/>
              <a:t>bandwidth</a:t>
            </a:r>
            <a:r>
              <a:rPr lang="ru-RU" dirty="0"/>
              <a:t>)</a:t>
            </a:r>
          </a:p>
          <a:p>
            <a:pPr lvl="1"/>
            <a:r>
              <a:rPr lang="ru-RU" b="1" dirty="0"/>
              <a:t>Неравномерное распределение работы</a:t>
            </a:r>
            <a:r>
              <a:rPr lang="ru-RU" dirty="0"/>
              <a:t> между потоками</a:t>
            </a:r>
          </a:p>
          <a:p>
            <a:pPr lvl="1"/>
            <a:r>
              <a:rPr lang="ru-RU" b="1" dirty="0"/>
              <a:t>Плохая локальность данных</a:t>
            </a:r>
            <a:r>
              <a:rPr lang="ru-RU" dirty="0"/>
              <a:t> и проблемы с кешами</a:t>
            </a:r>
          </a:p>
          <a:p>
            <a:r>
              <a:rPr lang="ru-RU" dirty="0"/>
              <a:t>В некоторых случаях параллельная версия может работать </a:t>
            </a:r>
            <a:r>
              <a:rPr lang="ru-RU" b="1" dirty="0"/>
              <a:t>так же быстро или даже медленнее</a:t>
            </a:r>
            <a:r>
              <a:rPr lang="ru-RU" dirty="0"/>
              <a:t>, чем последовательная.</a:t>
            </a:r>
          </a:p>
          <a:p>
            <a:endParaRPr lang="en-US" dirty="0"/>
          </a:p>
        </p:txBody>
      </p:sp>
    </p:spTree>
    <p:extLst>
      <p:ext uri="{BB962C8B-B14F-4D97-AF65-F5344CB8AC3E}">
        <p14:creationId xmlns:p14="http://schemas.microsoft.com/office/powerpoint/2010/main" val="2490097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37C2B-5C40-589C-4140-32C0DBFFA2DB}"/>
              </a:ext>
            </a:extLst>
          </p:cNvPr>
          <p:cNvSpPr>
            <a:spLocks noGrp="1"/>
          </p:cNvSpPr>
          <p:nvPr>
            <p:ph type="title"/>
          </p:nvPr>
        </p:nvSpPr>
        <p:spPr/>
        <p:txBody>
          <a:bodyPr/>
          <a:lstStyle/>
          <a:p>
            <a:r>
              <a:rPr lang="ru-RU" dirty="0"/>
              <a:t>Причины отсутствия ускорения</a:t>
            </a:r>
            <a:endParaRPr lang="en-US" dirty="0"/>
          </a:p>
        </p:txBody>
      </p:sp>
      <p:sp>
        <p:nvSpPr>
          <p:cNvPr id="3" name="Content Placeholder 2">
            <a:extLst>
              <a:ext uri="{FF2B5EF4-FFF2-40B4-BE49-F238E27FC236}">
                <a16:creationId xmlns:a16="http://schemas.microsoft.com/office/drawing/2014/main" id="{13CEEC63-E035-5105-FD2C-DDD8BC68E2DE}"/>
              </a:ext>
            </a:extLst>
          </p:cNvPr>
          <p:cNvSpPr>
            <a:spLocks noGrp="1"/>
          </p:cNvSpPr>
          <p:nvPr>
            <p:ph idx="1"/>
          </p:nvPr>
        </p:nvSpPr>
        <p:spPr/>
        <p:txBody>
          <a:bodyPr>
            <a:normAutofit lnSpcReduction="10000"/>
          </a:bodyPr>
          <a:lstStyle/>
          <a:p>
            <a:r>
              <a:rPr lang="ru-RU" dirty="0"/>
              <a:t>Слишком маленькая задача;</a:t>
            </a:r>
          </a:p>
          <a:p>
            <a:r>
              <a:rPr lang="ru-RU" dirty="0"/>
              <a:t>Накладные расходы на распараллеливание;</a:t>
            </a:r>
          </a:p>
          <a:p>
            <a:r>
              <a:rPr lang="en-US" dirty="0"/>
              <a:t>C</a:t>
            </a:r>
            <a:r>
              <a:rPr lang="ru-RU" dirty="0" err="1"/>
              <a:t>ontention</a:t>
            </a:r>
            <a:r>
              <a:rPr lang="en-US" dirty="0"/>
              <a:t> (</a:t>
            </a:r>
            <a:r>
              <a:rPr lang="ru-RU" dirty="0"/>
              <a:t>состязание) / синхронизация;</a:t>
            </a:r>
          </a:p>
          <a:p>
            <a:r>
              <a:rPr lang="ru-RU" dirty="0"/>
              <a:t>Ограничение пропускной способности памяти;</a:t>
            </a:r>
          </a:p>
          <a:p>
            <a:r>
              <a:rPr lang="ru-RU" dirty="0"/>
              <a:t>Плохая локальность данных;</a:t>
            </a:r>
          </a:p>
          <a:p>
            <a:r>
              <a:rPr lang="en-US" dirty="0"/>
              <a:t>F</a:t>
            </a:r>
            <a:r>
              <a:rPr lang="ru-RU" dirty="0" err="1"/>
              <a:t>alse</a:t>
            </a:r>
            <a:r>
              <a:rPr lang="ru-RU" dirty="0"/>
              <a:t> </a:t>
            </a:r>
            <a:r>
              <a:rPr lang="ru-RU" dirty="0" err="1"/>
              <a:t>sharing</a:t>
            </a:r>
            <a:r>
              <a:rPr lang="ru-RU" dirty="0"/>
              <a:t>;</a:t>
            </a:r>
          </a:p>
          <a:p>
            <a:r>
              <a:rPr lang="ru-RU" dirty="0"/>
              <a:t>Дисбаланс нагрузки;</a:t>
            </a:r>
          </a:p>
          <a:p>
            <a:r>
              <a:rPr lang="ru-RU" dirty="0"/>
              <a:t>NUMA;</a:t>
            </a:r>
          </a:p>
          <a:p>
            <a:r>
              <a:rPr lang="en-US" dirty="0"/>
              <a:t>O</a:t>
            </a:r>
            <a:r>
              <a:rPr lang="ru-RU" dirty="0" err="1"/>
              <a:t>versubscription</a:t>
            </a:r>
            <a:r>
              <a:rPr lang="ru-RU" dirty="0"/>
              <a:t>.</a:t>
            </a:r>
          </a:p>
          <a:p>
            <a:endParaRPr lang="en-US" dirty="0"/>
          </a:p>
        </p:txBody>
      </p:sp>
    </p:spTree>
    <p:extLst>
      <p:ext uri="{BB962C8B-B14F-4D97-AF65-F5344CB8AC3E}">
        <p14:creationId xmlns:p14="http://schemas.microsoft.com/office/powerpoint/2010/main" val="1373046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C6458B-7152-B8A9-6C66-52D099023042}"/>
              </a:ext>
            </a:extLst>
          </p:cNvPr>
          <p:cNvSpPr>
            <a:spLocks noGrp="1"/>
          </p:cNvSpPr>
          <p:nvPr>
            <p:ph type="title"/>
          </p:nvPr>
        </p:nvSpPr>
        <p:spPr/>
        <p:txBody>
          <a:bodyPr/>
          <a:lstStyle/>
          <a:p>
            <a:r>
              <a:rPr lang="ru-RU" dirty="0"/>
              <a:t>Слишком маленькая задача</a:t>
            </a:r>
            <a:endParaRPr lang="en-US" dirty="0"/>
          </a:p>
        </p:txBody>
      </p:sp>
      <p:sp>
        <p:nvSpPr>
          <p:cNvPr id="10" name="TextBox 9">
            <a:extLst>
              <a:ext uri="{FF2B5EF4-FFF2-40B4-BE49-F238E27FC236}">
                <a16:creationId xmlns:a16="http://schemas.microsoft.com/office/drawing/2014/main" id="{7CF417D8-8D66-644F-4430-31F0C0BDF753}"/>
              </a:ext>
            </a:extLst>
          </p:cNvPr>
          <p:cNvSpPr txBox="1"/>
          <p:nvPr/>
        </p:nvSpPr>
        <p:spPr>
          <a:xfrm>
            <a:off x="838200" y="1690688"/>
            <a:ext cx="10515600" cy="5940088"/>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Sequential</a:t>
            </a:r>
            <a:r>
              <a:rPr lang="en-US" sz="1600" b="0" dirty="0">
                <a:solidFill>
                  <a:srgbClr val="000000"/>
                </a:solidFill>
                <a:effectLst/>
                <a:latin typeface="Consolas" panose="020B0609020204030204" pitchFamily="49" charset="0"/>
              </a:rPr>
              <a:t>(std::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&gt;&amp;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a:solidFill>
                  <a:srgbClr val="098658"/>
                </a:solidFill>
                <a:effectLst/>
                <a:latin typeface="Consolas" panose="020B0609020204030204" pitchFamily="49" charset="0"/>
              </a:rPr>
              <a:t>10000</a:t>
            </a:r>
            <a:r>
              <a:rPr lang="en-US" sz="1600" b="0" dirty="0">
                <a:solidFill>
                  <a:srgbClr val="000000"/>
                </a:solidFill>
                <a:effectLst/>
                <a:latin typeface="Consolas" panose="020B0609020204030204" pitchFamily="49" charset="0"/>
              </a:rPr>
              <a:t>;++</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err="1">
                <a:solidFill>
                  <a:srgbClr val="74531F"/>
                </a:solidFill>
                <a:effectLst/>
                <a:latin typeface="Consolas" panose="020B0609020204030204" pitchFamily="49" charset="0"/>
              </a:rPr>
              <a:t>for_each</a:t>
            </a:r>
            <a:r>
              <a:rPr lang="en-US" sz="1600" b="0" dirty="0">
                <a:solidFill>
                  <a:srgbClr val="000000"/>
                </a:solidFill>
                <a:effectLst/>
                <a:latin typeface="Consolas" panose="020B0609020204030204" pitchFamily="49" charset="0"/>
              </a:rPr>
              <a:t>(</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Parallel</a:t>
            </a:r>
            <a:r>
              <a:rPr lang="en-US" sz="1600" b="0" dirty="0">
                <a:solidFill>
                  <a:srgbClr val="000000"/>
                </a:solidFill>
                <a:effectLst/>
                <a:latin typeface="Consolas" panose="020B0609020204030204" pitchFamily="49" charset="0"/>
              </a:rPr>
              <a:t>(std::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&gt;&amp;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a:solidFill>
                  <a:srgbClr val="098658"/>
                </a:solidFill>
                <a:effectLst/>
                <a:latin typeface="Consolas" panose="020B0609020204030204" pitchFamily="49" charset="0"/>
              </a:rPr>
              <a:t>10000</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err="1">
                <a:solidFill>
                  <a:srgbClr val="74531F"/>
                </a:solidFill>
                <a:effectLst/>
                <a:latin typeface="Consolas" panose="020B0609020204030204" pitchFamily="49" charset="0"/>
              </a:rPr>
              <a:t>for_each</a:t>
            </a:r>
            <a:r>
              <a:rPr lang="en-US" sz="1600" b="0" dirty="0">
                <a:solidFill>
                  <a:srgbClr val="000000"/>
                </a:solidFill>
                <a:effectLst/>
                <a:latin typeface="Consolas" panose="020B0609020204030204" pitchFamily="49" charset="0"/>
              </a:rPr>
              <a:t>(std::execution::par, </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&amp; </a:t>
            </a:r>
            <a:r>
              <a:rPr lang="en-US" sz="1600" b="0" dirty="0">
                <a:solidFill>
                  <a:srgbClr val="808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10000</a:t>
            </a:r>
            <a:r>
              <a:rPr lang="en-US" sz="1600" b="0" dirty="0">
                <a:solidFill>
                  <a:srgbClr val="000000"/>
                </a:solidFill>
                <a:effectLst/>
                <a:latin typeface="Consolas" panose="020B0609020204030204" pitchFamily="49" charset="0"/>
              </a:rPr>
              <a:t>);</a:t>
            </a:r>
            <a:r>
              <a:rPr lang="en-US" sz="1600" b="0" dirty="0">
                <a:solidFill>
                  <a:srgbClr val="008000"/>
                </a:solidFill>
                <a:effectLst/>
                <a:latin typeface="Consolas" panose="020B0609020204030204" pitchFamily="49" charset="0"/>
              </a:rPr>
              <a:t> // </a:t>
            </a:r>
            <a:r>
              <a:rPr lang="ru-RU" sz="1600" b="0" dirty="0">
                <a:solidFill>
                  <a:srgbClr val="008000"/>
                </a:solidFill>
                <a:effectLst/>
                <a:latin typeface="Consolas" panose="020B0609020204030204" pitchFamily="49" charset="0"/>
              </a:rPr>
              <a:t>очень маленький массив</a:t>
            </a:r>
            <a:endParaRPr lang="ru-RU" sz="1600" b="0" dirty="0">
              <a:solidFill>
                <a:srgbClr val="000000"/>
              </a:solidFill>
              <a:effectLst/>
              <a:latin typeface="Consolas" panose="020B0609020204030204" pitchFamily="49" charset="0"/>
            </a:endParaRPr>
          </a:p>
          <a:p>
            <a:pPr>
              <a:buNone/>
            </a:pPr>
            <a:r>
              <a:rPr lang="ru-RU"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sequential</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Sequential</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parallel</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Parallel</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br>
              <a:rPr lang="en-US" sz="1600" b="0" dirty="0">
                <a:solidFill>
                  <a:srgbClr val="000000"/>
                </a:solidFill>
                <a:effectLst/>
                <a:latin typeface="Consolas" panose="020B0609020204030204" pitchFamily="49" charset="0"/>
              </a:rPr>
            </a:br>
            <a:endParaRPr lang="en-US" sz="16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F1A4947-A08D-8C84-B233-578091B8CE54}"/>
              </a:ext>
            </a:extLst>
          </p:cNvPr>
          <p:cNvSpPr txBox="1"/>
          <p:nvPr/>
        </p:nvSpPr>
        <p:spPr>
          <a:xfrm>
            <a:off x="6743700" y="6169709"/>
            <a:ext cx="5049610"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sequential took 3960800ns (0.0039608s)</a:t>
            </a:r>
          </a:p>
          <a:p>
            <a:r>
              <a:rPr lang="en-US" dirty="0">
                <a:latin typeface="Consolas" panose="020B0609020204030204" pitchFamily="49" charset="0"/>
              </a:rPr>
              <a:t>parallel took 177023200ns (0.177023s)</a:t>
            </a:r>
          </a:p>
        </p:txBody>
      </p:sp>
    </p:spTree>
    <p:extLst>
      <p:ext uri="{BB962C8B-B14F-4D97-AF65-F5344CB8AC3E}">
        <p14:creationId xmlns:p14="http://schemas.microsoft.com/office/powerpoint/2010/main" val="417896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36BC80-F05F-D492-7A08-D1C16CC5693F}"/>
              </a:ext>
            </a:extLst>
          </p:cNvPr>
          <p:cNvSpPr>
            <a:spLocks noGrp="1"/>
          </p:cNvSpPr>
          <p:nvPr>
            <p:ph type="title"/>
          </p:nvPr>
        </p:nvSpPr>
        <p:spPr/>
        <p:txBody>
          <a:bodyPr/>
          <a:lstStyle/>
          <a:p>
            <a:r>
              <a:rPr lang="ru-RU" dirty="0"/>
              <a:t>Накладные расходы на распараллеливание</a:t>
            </a:r>
            <a:endParaRPr lang="en-US" dirty="0"/>
          </a:p>
        </p:txBody>
      </p:sp>
      <p:sp>
        <p:nvSpPr>
          <p:cNvPr id="7" name="TextBox 6">
            <a:extLst>
              <a:ext uri="{FF2B5EF4-FFF2-40B4-BE49-F238E27FC236}">
                <a16:creationId xmlns:a16="http://schemas.microsoft.com/office/drawing/2014/main" id="{F238FE9B-E88D-3E0F-8B9B-319CDDF37ECA}"/>
              </a:ext>
            </a:extLst>
          </p:cNvPr>
          <p:cNvSpPr txBox="1"/>
          <p:nvPr/>
        </p:nvSpPr>
        <p:spPr>
          <a:xfrm>
            <a:off x="838200" y="1690688"/>
            <a:ext cx="10379529" cy="4278094"/>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Sequential</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&gt;&amp;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ParallelBad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&gt;&amp;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&lt;std::</a:t>
            </a:r>
            <a:r>
              <a:rPr lang="en-US" sz="1600" b="0" dirty="0">
                <a:solidFill>
                  <a:srgbClr val="2B91AF"/>
                </a:solidFill>
                <a:effectLst/>
                <a:latin typeface="Consolas" panose="020B0609020204030204" pitchFamily="49" charset="0"/>
              </a:rPr>
              <a:t>future</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&gt;&gt; </a:t>
            </a:r>
            <a:r>
              <a:rPr lang="en-US" sz="1600" b="0" dirty="0">
                <a:solidFill>
                  <a:srgbClr val="1F377F"/>
                </a:solidFill>
                <a:effectLst/>
                <a:latin typeface="Consolas" panose="020B0609020204030204" pitchFamily="49" charset="0"/>
              </a:rPr>
              <a:t>futures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futures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reserve</a:t>
            </a:r>
            <a:r>
              <a:rPr lang="en-US" sz="1600" b="0" dirty="0">
                <a:solidFill>
                  <a:srgbClr val="000000"/>
                </a:solidFill>
                <a:effectLst/>
                <a:latin typeface="Consolas" panose="020B0609020204030204" pitchFamily="49" charset="0"/>
              </a:rPr>
              <a:t>(</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size</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futures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push_back</a:t>
            </a:r>
            <a:r>
              <a:rPr lang="en-US" sz="1600" b="0" dirty="0">
                <a:solidFill>
                  <a:srgbClr val="000000"/>
                </a:solidFill>
                <a:effectLst/>
                <a:latin typeface="Consolas" panose="020B0609020204030204" pitchFamily="49" charset="0"/>
              </a:rPr>
              <a:t>(std::</a:t>
            </a:r>
            <a:r>
              <a:rPr lang="en-US" sz="1600" b="0" dirty="0">
                <a:solidFill>
                  <a:srgbClr val="74531F"/>
                </a:solidFill>
                <a:effectLst/>
                <a:latin typeface="Consolas" panose="020B0609020204030204" pitchFamily="49" charset="0"/>
              </a:rPr>
              <a:t>async</a:t>
            </a:r>
            <a:r>
              <a:rPr lang="en-US" sz="1600" b="0" dirty="0">
                <a:solidFill>
                  <a:srgbClr val="000000"/>
                </a:solidFill>
                <a:effectLst/>
                <a:latin typeface="Consolas" panose="020B0609020204030204" pitchFamily="49" charset="0"/>
              </a:rPr>
              <a:t>(std::</a:t>
            </a:r>
            <a:r>
              <a:rPr lang="en-US" sz="1600" b="0" dirty="0">
                <a:solidFill>
                  <a:srgbClr val="2B91AF"/>
                </a:solidFill>
                <a:effectLst/>
                <a:latin typeface="Consolas" panose="020B0609020204030204" pitchFamily="49" charset="0"/>
              </a:rPr>
              <a:t>launch</a:t>
            </a:r>
            <a:r>
              <a:rPr lang="en-US" sz="1600" b="0" dirty="0">
                <a:solidFill>
                  <a:srgbClr val="000000"/>
                </a:solidFill>
                <a:effectLst/>
                <a:latin typeface="Consolas" panose="020B0609020204030204" pitchFamily="49" charset="0"/>
              </a:rPr>
              <a:t>::async,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auto</a:t>
            </a:r>
            <a:r>
              <a:rPr lang="en-US" sz="1600" b="0" dirty="0">
                <a:solidFill>
                  <a:srgbClr val="000000"/>
                </a:solidFill>
                <a:effectLst/>
                <a:latin typeface="Consolas" panose="020B0609020204030204" pitchFamily="49" charset="0"/>
              </a:rPr>
              <a:t>&amp; </a:t>
            </a:r>
            <a:r>
              <a:rPr lang="en-US" sz="1600" b="0" dirty="0">
                <a:solidFill>
                  <a:srgbClr val="1F377F"/>
                </a:solidFill>
                <a:effectLst/>
                <a:latin typeface="Consolas" panose="020B0609020204030204" pitchFamily="49" charset="0"/>
              </a:rPr>
              <a:t>f</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futures</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err="1">
                <a:solidFill>
                  <a:srgbClr val="1F377F"/>
                </a:solidFill>
                <a:effectLst/>
                <a:latin typeface="Consolas" panose="020B0609020204030204" pitchFamily="49" charset="0"/>
              </a:rPr>
              <a:t>f</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get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EBC019B3-E830-AC15-FB9D-2CA7A38043C1}"/>
              </a:ext>
            </a:extLst>
          </p:cNvPr>
          <p:cNvSpPr txBox="1"/>
          <p:nvPr/>
        </p:nvSpPr>
        <p:spPr>
          <a:xfrm>
            <a:off x="3179990" y="5534561"/>
            <a:ext cx="5817053" cy="1323439"/>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main</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10000</a:t>
            </a:r>
            <a:r>
              <a:rPr lang="en-US" sz="1600" b="0" dirty="0">
                <a:solidFill>
                  <a:srgbClr val="000000"/>
                </a:solidFill>
                <a:effectLst/>
                <a:latin typeface="Consolas" panose="020B0609020204030204" pitchFamily="49" charset="0"/>
              </a:rPr>
              <a:t>, </a:t>
            </a:r>
            <a:r>
              <a:rPr lang="en-US" sz="1600" b="0" dirty="0">
                <a:solidFill>
                  <a:srgbClr val="098658"/>
                </a:solidFill>
                <a:effectLst/>
                <a:latin typeface="Consolas" panose="020B0609020204030204" pitchFamily="49" charset="0"/>
              </a:rPr>
              <a:t>2</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sequential</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Sequential</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MeasureTime</a:t>
            </a:r>
            <a:r>
              <a:rPr lang="en-US" sz="1600" b="0" dirty="0">
                <a:solidFill>
                  <a:srgbClr val="000000"/>
                </a:solidFill>
                <a:effectLst/>
                <a:latin typeface="Consolas" panose="020B0609020204030204" pitchFamily="49" charset="0"/>
              </a:rPr>
              <a:t>(</a:t>
            </a:r>
            <a:r>
              <a:rPr lang="en-US" sz="1600" b="0" dirty="0">
                <a:solidFill>
                  <a:srgbClr val="E21F1F"/>
                </a:solidFill>
                <a:effectLst/>
                <a:latin typeface="Consolas" panose="020B0609020204030204" pitchFamily="49" charset="0"/>
              </a:rPr>
              <a:t>"</a:t>
            </a:r>
            <a:r>
              <a:rPr lang="en-US" sz="1600" b="0" dirty="0">
                <a:solidFill>
                  <a:srgbClr val="A31515"/>
                </a:solidFill>
                <a:effectLst/>
                <a:latin typeface="Consolas" panose="020B0609020204030204" pitchFamily="49" charset="0"/>
              </a:rPr>
              <a:t>parallel bad</a:t>
            </a:r>
            <a:r>
              <a:rPr lang="en-US" sz="1600" b="0" dirty="0">
                <a:solidFill>
                  <a:srgbClr val="E21F1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ParallelBad</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v</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B1531E88-9450-5869-92D7-E547BCFDF9F4}"/>
              </a:ext>
            </a:extLst>
          </p:cNvPr>
          <p:cNvSpPr txBox="1"/>
          <p:nvPr/>
        </p:nvSpPr>
        <p:spPr>
          <a:xfrm>
            <a:off x="6972299" y="5167312"/>
            <a:ext cx="5063898" cy="58477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600" dirty="0">
                <a:latin typeface="Consolas" panose="020B0609020204030204" pitchFamily="49" charset="0"/>
              </a:rPr>
              <a:t>sequential took 2000ns (2e-06s)</a:t>
            </a:r>
          </a:p>
          <a:p>
            <a:r>
              <a:rPr lang="en-US" sz="1600" dirty="0">
                <a:latin typeface="Consolas" panose="020B0609020204030204" pitchFamily="49" charset="0"/>
              </a:rPr>
              <a:t>parallel bad took 13251300ns (0.0132513s)</a:t>
            </a:r>
          </a:p>
        </p:txBody>
      </p:sp>
    </p:spTree>
    <p:extLst>
      <p:ext uri="{BB962C8B-B14F-4D97-AF65-F5344CB8AC3E}">
        <p14:creationId xmlns:p14="http://schemas.microsoft.com/office/powerpoint/2010/main" val="3888069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AFF86-571C-AE87-993A-C0A90471062A}"/>
              </a:ext>
            </a:extLst>
          </p:cNvPr>
          <p:cNvSpPr>
            <a:spLocks noGrp="1"/>
          </p:cNvSpPr>
          <p:nvPr>
            <p:ph type="title"/>
          </p:nvPr>
        </p:nvSpPr>
        <p:spPr/>
        <p:txBody>
          <a:bodyPr/>
          <a:lstStyle/>
          <a:p>
            <a:r>
              <a:rPr lang="en-US" dirty="0"/>
              <a:t>Contention</a:t>
            </a:r>
            <a:r>
              <a:rPr lang="ru-RU" dirty="0"/>
              <a:t> на мьютексе</a:t>
            </a:r>
            <a:endParaRPr lang="en-US" dirty="0"/>
          </a:p>
        </p:txBody>
      </p:sp>
      <p:sp>
        <p:nvSpPr>
          <p:cNvPr id="4" name="TextBox 3">
            <a:extLst>
              <a:ext uri="{FF2B5EF4-FFF2-40B4-BE49-F238E27FC236}">
                <a16:creationId xmlns:a16="http://schemas.microsoft.com/office/drawing/2014/main" id="{41730EA0-FAC5-66A7-28E1-66FF8EEDAB88}"/>
              </a:ext>
            </a:extLst>
          </p:cNvPr>
          <p:cNvSpPr txBox="1"/>
          <p:nvPr/>
        </p:nvSpPr>
        <p:spPr>
          <a:xfrm>
            <a:off x="838200" y="1690688"/>
            <a:ext cx="10515600" cy="4031873"/>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a:solidFill>
                  <a:srgbClr val="74531F"/>
                </a:solidFill>
                <a:effectLst/>
                <a:latin typeface="Consolas" panose="020B0609020204030204" pitchFamily="49" charset="0"/>
              </a:rPr>
              <a:t>Sequential</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&gt;&amp;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ParallelBad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&gt;&amp; </a:t>
            </a:r>
            <a:r>
              <a:rPr lang="en-US" sz="1600" b="0" dirty="0">
                <a:solidFill>
                  <a:srgbClr val="808080"/>
                </a:solidFill>
                <a:effectLst/>
                <a:latin typeface="Consolas" panose="020B0609020204030204" pitchFamily="49" charset="0"/>
              </a:rPr>
              <a:t>v</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long</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mutex</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m</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std::</a:t>
            </a:r>
            <a:r>
              <a:rPr lang="en-US" sz="1600" b="0" dirty="0" err="1">
                <a:solidFill>
                  <a:srgbClr val="74531F"/>
                </a:solidFill>
                <a:effectLst/>
                <a:latin typeface="Consolas" panose="020B0609020204030204" pitchFamily="49" charset="0"/>
              </a:rPr>
              <a:t>for_each</a:t>
            </a:r>
            <a:r>
              <a:rPr lang="en-US" sz="1600" b="0" dirty="0">
                <a:solidFill>
                  <a:srgbClr val="000000"/>
                </a:solidFill>
                <a:effectLst/>
                <a:latin typeface="Consolas" panose="020B0609020204030204" pitchFamily="49" charset="0"/>
              </a:rPr>
              <a:t>(std::execution::par, </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begin</a:t>
            </a:r>
            <a:r>
              <a:rPr lang="en-US" sz="1600" b="0" dirty="0">
                <a:solidFill>
                  <a:srgbClr val="000000"/>
                </a:solidFill>
                <a:effectLst/>
                <a:latin typeface="Consolas" panose="020B0609020204030204" pitchFamily="49" charset="0"/>
              </a:rPr>
              <a:t>(), </a:t>
            </a:r>
            <a:r>
              <a:rPr lang="en-US" sz="1600" b="0" dirty="0" err="1">
                <a:solidFill>
                  <a:srgbClr val="808080"/>
                </a:solidFill>
                <a:effectLst/>
                <a:latin typeface="Consolas" panose="020B0609020204030204" pitchFamily="49" charset="0"/>
              </a:rPr>
              <a:t>v</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end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[&amp;](</a:t>
            </a:r>
            <a:r>
              <a:rPr lang="en-US" sz="1600" b="0" dirty="0">
                <a:solidFill>
                  <a:srgbClr val="0000FF"/>
                </a:solidFill>
                <a:effectLst/>
                <a:latin typeface="Consolas" panose="020B0609020204030204" pitchFamily="49" charset="0"/>
              </a:rPr>
              <a:t>int</a:t>
            </a: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std::</a:t>
            </a:r>
            <a:r>
              <a:rPr lang="en-US" sz="1600" b="0" dirty="0" err="1">
                <a:solidFill>
                  <a:srgbClr val="2B91AF"/>
                </a:solidFill>
                <a:effectLst/>
                <a:latin typeface="Consolas" panose="020B0609020204030204" pitchFamily="49" charset="0"/>
              </a:rPr>
              <a:t>lock_guard</a:t>
            </a:r>
            <a:r>
              <a:rPr lang="en-US" sz="1600" b="0" dirty="0">
                <a:solidFill>
                  <a:srgbClr val="000000"/>
                </a:solidFill>
                <a:effectLst/>
                <a:latin typeface="Consolas" panose="020B0609020204030204" pitchFamily="49" charset="0"/>
              </a:rPr>
              <a:t>&lt;std::</a:t>
            </a:r>
            <a:r>
              <a:rPr lang="en-US" sz="1600" b="0" dirty="0">
                <a:solidFill>
                  <a:srgbClr val="2B91AF"/>
                </a:solidFill>
                <a:effectLst/>
                <a:latin typeface="Consolas" panose="020B0609020204030204" pitchFamily="49" charset="0"/>
              </a:rPr>
              <a:t>mutex</a:t>
            </a:r>
            <a:r>
              <a:rPr lang="en-US" sz="1600" b="0" dirty="0">
                <a:solidFill>
                  <a:srgbClr val="000000"/>
                </a:solidFill>
                <a:effectLst/>
                <a:latin typeface="Consolas" panose="020B0609020204030204" pitchFamily="49" charset="0"/>
              </a:rPr>
              <a:t>&gt; </a:t>
            </a:r>
            <a:r>
              <a:rPr lang="en-US" sz="1600" b="0" dirty="0">
                <a:solidFill>
                  <a:srgbClr val="1F377F"/>
                </a:solidFill>
                <a:effectLst/>
                <a:latin typeface="Consolas" panose="020B0609020204030204" pitchFamily="49" charset="0"/>
              </a:rPr>
              <a:t>lock</a:t>
            </a:r>
            <a:r>
              <a:rPr lang="en-US" sz="1600" b="0" dirty="0">
                <a:solidFill>
                  <a:srgbClr val="000000"/>
                </a:solidFill>
                <a:effectLst/>
                <a:latin typeface="Consolas" panose="020B0609020204030204" pitchFamily="49" charset="0"/>
              </a:rPr>
              <a:t>(</a:t>
            </a:r>
            <a:r>
              <a:rPr lang="en-US" sz="1600" b="0" dirty="0">
                <a:solidFill>
                  <a:srgbClr val="1F377F"/>
                </a:solidFill>
                <a:effectLst/>
                <a:latin typeface="Consolas" panose="020B0609020204030204" pitchFamily="49" charset="0"/>
              </a:rPr>
              <a:t>m</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 += </a:t>
            </a:r>
            <a:r>
              <a:rPr lang="en-US" sz="1600" b="0" dirty="0">
                <a:solidFill>
                  <a:srgbClr val="808080"/>
                </a:solidFill>
                <a:effectLst/>
                <a:latin typeface="Consolas" panose="020B0609020204030204" pitchFamily="49" charset="0"/>
              </a:rPr>
              <a:t>x</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sum</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8F816B35-331B-02D3-23EB-CAEC071E3B8A}"/>
              </a:ext>
            </a:extLst>
          </p:cNvPr>
          <p:cNvSpPr txBox="1"/>
          <p:nvPr/>
        </p:nvSpPr>
        <p:spPr>
          <a:xfrm>
            <a:off x="3147332" y="5380672"/>
            <a:ext cx="6682468" cy="1477328"/>
          </a:xfrm>
          <a:prstGeom prst="rect">
            <a:avLst/>
          </a:prstGeom>
          <a:noFill/>
        </p:spPr>
        <p:txBody>
          <a:bodyPr wrap="square">
            <a:spAutoFit/>
          </a:bodyPr>
          <a:lstStyle/>
          <a:p>
            <a:pPr>
              <a:buNone/>
            </a:pP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a:t>
            </a:r>
            <a:r>
              <a:rPr lang="en-US" sz="1800" b="0" dirty="0">
                <a:solidFill>
                  <a:srgbClr val="74531F"/>
                </a:solidFill>
                <a:effectLst/>
                <a:latin typeface="Consolas" panose="020B0609020204030204" pitchFamily="49" charset="0"/>
              </a:rPr>
              <a:t>main</a:t>
            </a:r>
            <a:r>
              <a:rPr lang="en-US" sz="1800" b="0" dirty="0">
                <a:solidFill>
                  <a:srgbClr val="000000"/>
                </a:solidFill>
                <a:effectLst/>
                <a:latin typeface="Consolas" panose="020B0609020204030204" pitchFamily="49" charset="0"/>
              </a:rPr>
              <a:t>() {</a:t>
            </a:r>
          </a:p>
          <a:p>
            <a:pPr>
              <a:buNone/>
            </a:pPr>
            <a:r>
              <a:rPr lang="en-US" sz="1800" b="0" dirty="0">
                <a:solidFill>
                  <a:srgbClr val="000000"/>
                </a:solidFill>
                <a:effectLst/>
                <a:latin typeface="Consolas" panose="020B0609020204030204" pitchFamily="49" charset="0"/>
              </a:rPr>
              <a:t>    std::</a:t>
            </a:r>
            <a:r>
              <a:rPr lang="en-US" sz="1800" b="0" dirty="0">
                <a:solidFill>
                  <a:srgbClr val="2B91AF"/>
                </a:solidFill>
                <a:effectLst/>
                <a:latin typeface="Consolas" panose="020B0609020204030204" pitchFamily="49" charset="0"/>
              </a:rPr>
              <a:t>vector</a:t>
            </a:r>
            <a:r>
              <a:rPr lang="en-US" sz="1800" b="0" dirty="0">
                <a:solidFill>
                  <a:srgbClr val="000000"/>
                </a:solidFill>
                <a:effectLst/>
                <a:latin typeface="Consolas" panose="020B0609020204030204" pitchFamily="49" charset="0"/>
              </a:rPr>
              <a:t>&lt;</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&gt; </a:t>
            </a:r>
            <a:r>
              <a:rPr lang="en-US" sz="1800" b="0" dirty="0">
                <a:solidFill>
                  <a:srgbClr val="1F377F"/>
                </a:solidFill>
                <a:effectLst/>
                <a:latin typeface="Consolas" panose="020B0609020204030204" pitchFamily="49" charset="0"/>
              </a:rPr>
              <a:t>v</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100'000'000</a:t>
            </a:r>
            <a:r>
              <a:rPr lang="en-US" sz="1800" b="0" dirty="0">
                <a:solidFill>
                  <a:srgbClr val="000000"/>
                </a:solidFill>
                <a:effectLst/>
                <a:latin typeface="Consolas" panose="020B0609020204030204" pitchFamily="49" charset="0"/>
              </a:rPr>
              <a:t>, </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a:t>
            </a:r>
          </a:p>
          <a:p>
            <a:pPr>
              <a:buNone/>
            </a:pPr>
            <a:r>
              <a:rPr lang="en-US" sz="1800" b="0" dirty="0">
                <a:solidFill>
                  <a:srgbClr val="000000"/>
                </a:solidFill>
                <a:effectLst/>
                <a:latin typeface="Consolas" panose="020B0609020204030204" pitchFamily="49" charset="0"/>
              </a:rPr>
              <a:t>    </a:t>
            </a:r>
            <a:r>
              <a:rPr lang="en-US" sz="1800" b="0" dirty="0" err="1">
                <a:solidFill>
                  <a:srgbClr val="74531F"/>
                </a:solidFill>
                <a:effectLst/>
                <a:latin typeface="Consolas" panose="020B0609020204030204" pitchFamily="49" charset="0"/>
              </a:rPr>
              <a:t>MeasureTime</a:t>
            </a:r>
            <a:r>
              <a:rPr lang="en-US" sz="1800" b="0" dirty="0">
                <a:solidFill>
                  <a:srgbClr val="000000"/>
                </a:solidFill>
                <a:effectLst/>
                <a:latin typeface="Consolas" panose="020B0609020204030204" pitchFamily="49" charset="0"/>
              </a:rPr>
              <a:t>(</a:t>
            </a:r>
            <a:r>
              <a:rPr lang="en-US" sz="1800" b="0" dirty="0">
                <a:solidFill>
                  <a:srgbClr val="E21F1F"/>
                </a:solidFill>
                <a:effectLst/>
                <a:latin typeface="Consolas" panose="020B0609020204030204" pitchFamily="49" charset="0"/>
              </a:rPr>
              <a:t>"</a:t>
            </a:r>
            <a:r>
              <a:rPr lang="en-US" sz="1800" b="0" dirty="0">
                <a:solidFill>
                  <a:srgbClr val="A31515"/>
                </a:solidFill>
                <a:effectLst/>
                <a:latin typeface="Consolas" panose="020B0609020204030204" pitchFamily="49" charset="0"/>
              </a:rPr>
              <a:t>sequential</a:t>
            </a:r>
            <a:r>
              <a:rPr lang="en-US" sz="1800" b="0" dirty="0">
                <a:solidFill>
                  <a:srgbClr val="E21F1F"/>
                </a:solidFill>
                <a:effectLst/>
                <a:latin typeface="Consolas" panose="020B0609020204030204" pitchFamily="49" charset="0"/>
              </a:rPr>
              <a:t>"</a:t>
            </a:r>
            <a:r>
              <a:rPr lang="en-US" sz="1800" b="0" dirty="0">
                <a:solidFill>
                  <a:srgbClr val="000000"/>
                </a:solidFill>
                <a:effectLst/>
                <a:latin typeface="Consolas" panose="020B0609020204030204" pitchFamily="49" charset="0"/>
              </a:rPr>
              <a:t>, </a:t>
            </a:r>
            <a:r>
              <a:rPr lang="en-US" sz="1800" b="0" dirty="0">
                <a:solidFill>
                  <a:srgbClr val="74531F"/>
                </a:solidFill>
                <a:effectLst/>
                <a:latin typeface="Consolas" panose="020B0609020204030204" pitchFamily="49" charset="0"/>
              </a:rPr>
              <a:t>Sequential</a:t>
            </a:r>
            <a:r>
              <a:rPr lang="en-US" sz="1800" b="0" dirty="0">
                <a:solidFill>
                  <a:srgbClr val="000000"/>
                </a:solidFill>
                <a:effectLst/>
                <a:latin typeface="Consolas" panose="020B0609020204030204" pitchFamily="49" charset="0"/>
              </a:rPr>
              <a:t>, </a:t>
            </a:r>
            <a:r>
              <a:rPr lang="en-US" sz="1800" b="0" dirty="0">
                <a:solidFill>
                  <a:srgbClr val="1F377F"/>
                </a:solidFill>
                <a:effectLst/>
                <a:latin typeface="Consolas" panose="020B0609020204030204" pitchFamily="49" charset="0"/>
              </a:rPr>
              <a:t>v</a:t>
            </a:r>
            <a:r>
              <a:rPr lang="en-US" sz="1800" b="0" dirty="0">
                <a:solidFill>
                  <a:srgbClr val="000000"/>
                </a:solidFill>
                <a:effectLst/>
                <a:latin typeface="Consolas" panose="020B0609020204030204" pitchFamily="49" charset="0"/>
              </a:rPr>
              <a:t>);</a:t>
            </a:r>
          </a:p>
          <a:p>
            <a:pPr>
              <a:buNone/>
            </a:pPr>
            <a:r>
              <a:rPr lang="en-US" sz="1800" b="0" dirty="0">
                <a:solidFill>
                  <a:srgbClr val="000000"/>
                </a:solidFill>
                <a:effectLst/>
                <a:latin typeface="Consolas" panose="020B0609020204030204" pitchFamily="49" charset="0"/>
              </a:rPr>
              <a:t>    </a:t>
            </a:r>
            <a:r>
              <a:rPr lang="en-US" sz="1800" b="0" dirty="0" err="1">
                <a:solidFill>
                  <a:srgbClr val="74531F"/>
                </a:solidFill>
                <a:effectLst/>
                <a:latin typeface="Consolas" panose="020B0609020204030204" pitchFamily="49" charset="0"/>
              </a:rPr>
              <a:t>MeasureTime</a:t>
            </a:r>
            <a:r>
              <a:rPr lang="en-US" sz="1800" b="0" dirty="0">
                <a:solidFill>
                  <a:srgbClr val="000000"/>
                </a:solidFill>
                <a:effectLst/>
                <a:latin typeface="Consolas" panose="020B0609020204030204" pitchFamily="49" charset="0"/>
              </a:rPr>
              <a:t>(</a:t>
            </a:r>
            <a:r>
              <a:rPr lang="en-US" sz="1800" b="0" dirty="0">
                <a:solidFill>
                  <a:srgbClr val="E21F1F"/>
                </a:solidFill>
                <a:effectLst/>
                <a:latin typeface="Consolas" panose="020B0609020204030204" pitchFamily="49" charset="0"/>
              </a:rPr>
              <a:t>"</a:t>
            </a:r>
            <a:r>
              <a:rPr lang="en-US" sz="1800" b="0" dirty="0">
                <a:solidFill>
                  <a:srgbClr val="A31515"/>
                </a:solidFill>
                <a:effectLst/>
                <a:latin typeface="Consolas" panose="020B0609020204030204" pitchFamily="49" charset="0"/>
              </a:rPr>
              <a:t>parallel bad</a:t>
            </a:r>
            <a:r>
              <a:rPr lang="en-US" sz="1800" b="0" dirty="0">
                <a:solidFill>
                  <a:srgbClr val="E21F1F"/>
                </a:solidFill>
                <a:effectLst/>
                <a:latin typeface="Consolas" panose="020B0609020204030204" pitchFamily="49" charset="0"/>
              </a:rPr>
              <a:t>"</a:t>
            </a:r>
            <a:r>
              <a:rPr lang="en-US" sz="1800" b="0" dirty="0">
                <a:solidFill>
                  <a:srgbClr val="000000"/>
                </a:solidFill>
                <a:effectLst/>
                <a:latin typeface="Consolas" panose="020B0609020204030204" pitchFamily="49" charset="0"/>
              </a:rPr>
              <a:t>, </a:t>
            </a:r>
            <a:r>
              <a:rPr lang="en-US" sz="1800" b="0" dirty="0" err="1">
                <a:solidFill>
                  <a:srgbClr val="74531F"/>
                </a:solidFill>
                <a:effectLst/>
                <a:latin typeface="Consolas" panose="020B0609020204030204" pitchFamily="49" charset="0"/>
              </a:rPr>
              <a:t>ParallelBad</a:t>
            </a:r>
            <a:r>
              <a:rPr lang="en-US" sz="1800" b="0" dirty="0">
                <a:solidFill>
                  <a:srgbClr val="000000"/>
                </a:solidFill>
                <a:effectLst/>
                <a:latin typeface="Consolas" panose="020B0609020204030204" pitchFamily="49" charset="0"/>
              </a:rPr>
              <a:t>, </a:t>
            </a:r>
            <a:r>
              <a:rPr lang="en-US" sz="1800" b="0" dirty="0">
                <a:solidFill>
                  <a:srgbClr val="1F377F"/>
                </a:solidFill>
                <a:effectLst/>
                <a:latin typeface="Consolas" panose="020B0609020204030204" pitchFamily="49" charset="0"/>
              </a:rPr>
              <a:t>v</a:t>
            </a:r>
            <a:r>
              <a:rPr lang="en-US" sz="1800" b="0" dirty="0">
                <a:solidFill>
                  <a:srgbClr val="000000"/>
                </a:solidFill>
                <a:effectLst/>
                <a:latin typeface="Consolas" panose="020B0609020204030204" pitchFamily="49" charset="0"/>
              </a:rPr>
              <a:t>);</a:t>
            </a:r>
          </a:p>
          <a:p>
            <a:pPr>
              <a:buNone/>
            </a:pPr>
            <a:r>
              <a:rPr lang="en-US" sz="18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D6E260B2-920B-80FE-8332-916072E92BF0}"/>
              </a:ext>
            </a:extLst>
          </p:cNvPr>
          <p:cNvSpPr txBox="1"/>
          <p:nvPr/>
        </p:nvSpPr>
        <p:spPr>
          <a:xfrm>
            <a:off x="5629275" y="4844146"/>
            <a:ext cx="6098720"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sequential took 22400300ns (0.0224003s)</a:t>
            </a:r>
          </a:p>
          <a:p>
            <a:r>
              <a:rPr lang="en-US" dirty="0">
                <a:latin typeface="Consolas" panose="020B0609020204030204" pitchFamily="49" charset="0"/>
              </a:rPr>
              <a:t>parallel bad took 10333701900ns (10.3337s)</a:t>
            </a:r>
          </a:p>
        </p:txBody>
      </p:sp>
    </p:spTree>
    <p:extLst>
      <p:ext uri="{BB962C8B-B14F-4D97-AF65-F5344CB8AC3E}">
        <p14:creationId xmlns:p14="http://schemas.microsoft.com/office/powerpoint/2010/main" val="29928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500"/>
                                        <p:tgtEl>
                                          <p:spTgt spid="4">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500"/>
                                        <p:tgtEl>
                                          <p:spTgt spid="4">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animEffect transition="in" filter="fade">
                                      <p:cBhvr>
                                        <p:cTn id="36" dur="500"/>
                                        <p:tgtEl>
                                          <p:spTgt spid="4">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animEffect transition="in" filter="fade">
                                      <p:cBhvr>
                                        <p:cTn id="39" dur="500"/>
                                        <p:tgtEl>
                                          <p:spTgt spid="4">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4">
                                            <p:txEl>
                                              <p:pRg st="12" end="12"/>
                                            </p:txEl>
                                          </p:spTgt>
                                        </p:tgtEl>
                                        <p:attrNameLst>
                                          <p:attrName>style.visibility</p:attrName>
                                        </p:attrNameLst>
                                      </p:cBhvr>
                                      <p:to>
                                        <p:strVal val="visible"/>
                                      </p:to>
                                    </p:set>
                                    <p:animEffect transition="in" filter="fade">
                                      <p:cBhvr>
                                        <p:cTn id="42" dur="500"/>
                                        <p:tgtEl>
                                          <p:spTgt spid="4">
                                            <p:txEl>
                                              <p:pRg st="12" end="1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4">
                                            <p:txEl>
                                              <p:pRg st="13" end="13"/>
                                            </p:txEl>
                                          </p:spTgt>
                                        </p:tgtEl>
                                        <p:attrNameLst>
                                          <p:attrName>style.visibility</p:attrName>
                                        </p:attrNameLst>
                                      </p:cBhvr>
                                      <p:to>
                                        <p:strVal val="visible"/>
                                      </p:to>
                                    </p:set>
                                    <p:animEffect transition="in" filter="fade">
                                      <p:cBhvr>
                                        <p:cTn id="45" dur="500"/>
                                        <p:tgtEl>
                                          <p:spTgt spid="4">
                                            <p:txEl>
                                              <p:pRg st="13" end="13"/>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14" end="14"/>
                                            </p:txEl>
                                          </p:spTgt>
                                        </p:tgtEl>
                                        <p:attrNameLst>
                                          <p:attrName>style.visibility</p:attrName>
                                        </p:attrNameLst>
                                      </p:cBhvr>
                                      <p:to>
                                        <p:strVal val="visible"/>
                                      </p:to>
                                    </p:set>
                                    <p:animEffect transition="in" filter="fade">
                                      <p:cBhvr>
                                        <p:cTn id="48" dur="500"/>
                                        <p:tgtEl>
                                          <p:spTgt spid="4">
                                            <p:txEl>
                                              <p:pRg st="14" end="14"/>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4">
                                            <p:txEl>
                                              <p:pRg st="15" end="15"/>
                                            </p:txEl>
                                          </p:spTgt>
                                        </p:tgtEl>
                                        <p:attrNameLst>
                                          <p:attrName>style.visibility</p:attrName>
                                        </p:attrNameLst>
                                      </p:cBhvr>
                                      <p:to>
                                        <p:strVal val="visible"/>
                                      </p:to>
                                    </p:set>
                                    <p:animEffect transition="in" filter="fade">
                                      <p:cBhvr>
                                        <p:cTn id="51" dur="500"/>
                                        <p:tgtEl>
                                          <p:spTgt spid="4">
                                            <p:txEl>
                                              <p:pRg st="15" end="1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fade">
                                      <p:cBhvr>
                                        <p:cTn id="6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56AC2-6CC7-24AC-5F7E-DB50728A029F}"/>
              </a:ext>
            </a:extLst>
          </p:cNvPr>
          <p:cNvSpPr>
            <a:spLocks noGrp="1"/>
          </p:cNvSpPr>
          <p:nvPr>
            <p:ph type="title"/>
          </p:nvPr>
        </p:nvSpPr>
        <p:spPr/>
        <p:txBody>
          <a:bodyPr/>
          <a:lstStyle/>
          <a:p>
            <a:r>
              <a:rPr lang="en-US" dirty="0"/>
              <a:t>Atomic Contention</a:t>
            </a:r>
          </a:p>
        </p:txBody>
      </p:sp>
      <p:sp>
        <p:nvSpPr>
          <p:cNvPr id="4" name="TextBox 3">
            <a:extLst>
              <a:ext uri="{FF2B5EF4-FFF2-40B4-BE49-F238E27FC236}">
                <a16:creationId xmlns:a16="http://schemas.microsoft.com/office/drawing/2014/main" id="{40543FCE-4203-4C11-9A25-9276FA633FEB}"/>
              </a:ext>
            </a:extLst>
          </p:cNvPr>
          <p:cNvSpPr txBox="1"/>
          <p:nvPr/>
        </p:nvSpPr>
        <p:spPr>
          <a:xfrm>
            <a:off x="838200" y="1690688"/>
            <a:ext cx="11353800" cy="3693319"/>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Sequential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vector</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&gt;&amp; </a:t>
            </a:r>
            <a:r>
              <a:rPr lang="en-US" b="0" dirty="0">
                <a:solidFill>
                  <a:srgbClr val="808080"/>
                </a:solidFill>
                <a:effectLst/>
                <a:latin typeface="Consolas" panose="020B0609020204030204" pitchFamily="49" charset="0"/>
              </a:rPr>
              <a:t>v</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x</a:t>
            </a:r>
            <a:r>
              <a:rPr lang="en-US" b="0" dirty="0">
                <a:solidFill>
                  <a:srgbClr val="000000"/>
                </a:solidFill>
                <a:effectLst/>
                <a:latin typeface="Consolas" panose="020B0609020204030204" pitchFamily="49" charset="0"/>
              </a:rPr>
              <a:t> : </a:t>
            </a:r>
            <a:r>
              <a:rPr lang="en-US" b="0" dirty="0">
                <a:solidFill>
                  <a:srgbClr val="808080"/>
                </a:solidFill>
                <a:effectLst/>
                <a:latin typeface="Consolas" panose="020B0609020204030204" pitchFamily="49" charset="0"/>
              </a:rPr>
              <a:t>v</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 += </a:t>
            </a:r>
            <a:r>
              <a:rPr lang="en-US" b="0" dirty="0">
                <a:solidFill>
                  <a:srgbClr val="1F377F"/>
                </a:solidFill>
                <a:effectLst/>
                <a:latin typeface="Consolas" panose="020B0609020204030204" pitchFamily="49" charset="0"/>
              </a:rPr>
              <a:t>x</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ParallelBad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vector</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&gt;&amp; </a:t>
            </a:r>
            <a:r>
              <a:rPr lang="en-US" b="0" dirty="0">
                <a:solidFill>
                  <a:srgbClr val="808080"/>
                </a:solidFill>
                <a:effectLst/>
                <a:latin typeface="Consolas" panose="020B0609020204030204" pitchFamily="49" charset="0"/>
              </a:rPr>
              <a:t>v</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atomic</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&gt;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err="1">
                <a:solidFill>
                  <a:srgbClr val="74531F"/>
                </a:solidFill>
                <a:effectLst/>
                <a:latin typeface="Consolas" panose="020B0609020204030204" pitchFamily="49" charset="0"/>
              </a:rPr>
              <a:t>for_each</a:t>
            </a:r>
            <a:r>
              <a:rPr lang="en-US" b="0" dirty="0">
                <a:solidFill>
                  <a:srgbClr val="000000"/>
                </a:solidFill>
                <a:effectLst/>
                <a:latin typeface="Consolas" panose="020B0609020204030204" pitchFamily="49" charset="0"/>
              </a:rPr>
              <a:t>(std::execution::par, </a:t>
            </a:r>
            <a:r>
              <a:rPr lang="en-US" b="0" dirty="0" err="1">
                <a:solidFill>
                  <a:srgbClr val="808080"/>
                </a:solidFill>
                <a:effectLst/>
                <a:latin typeface="Consolas" panose="020B0609020204030204" pitchFamily="49" charset="0"/>
              </a:rPr>
              <a:t>v</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begin</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v</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end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[&amp;](</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x</a:t>
            </a:r>
            <a:r>
              <a:rPr lang="en-US" b="0" dirty="0">
                <a:solidFill>
                  <a:srgbClr val="000000"/>
                </a:solidFill>
                <a:effectLst/>
                <a:latin typeface="Consolas" panose="020B0609020204030204" pitchFamily="49" charset="0"/>
              </a:rPr>
              <a:t>) {</a:t>
            </a:r>
            <a:r>
              <a:rPr lang="ru-RU"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sum</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fetch_add</a:t>
            </a:r>
            <a:r>
              <a:rPr lang="en-US" b="0" dirty="0">
                <a:solidFill>
                  <a:srgbClr val="000000"/>
                </a:solidFill>
                <a:effectLst/>
                <a:latin typeface="Consolas" panose="020B0609020204030204" pitchFamily="49" charset="0"/>
              </a:rPr>
              <a:t>(</a:t>
            </a:r>
            <a:r>
              <a:rPr lang="en-US" b="0" dirty="0">
                <a:solidFill>
                  <a:srgbClr val="808080"/>
                </a:solidFill>
                <a:effectLst/>
                <a:latin typeface="Consolas" panose="020B0609020204030204" pitchFamily="49" charset="0"/>
              </a:rPr>
              <a:t>x</a:t>
            </a: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memory_order_relaxed</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1F377F"/>
                </a:solidFill>
                <a:effectLst/>
                <a:latin typeface="Consolas" panose="020B0609020204030204" pitchFamily="49" charset="0"/>
              </a:rPr>
              <a:t>sum</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load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852057AE-0A2E-F06E-CDF8-25A1D4A75B50}"/>
              </a:ext>
            </a:extLst>
          </p:cNvPr>
          <p:cNvSpPr txBox="1"/>
          <p:nvPr/>
        </p:nvSpPr>
        <p:spPr>
          <a:xfrm>
            <a:off x="2220685" y="5384007"/>
            <a:ext cx="6400801" cy="1477328"/>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main</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vector</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&gt;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100'000'000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MeasureTime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sequential</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Sequential</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MeasureTime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parallel bad</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ParallelBad</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0EF74F2F-AAF8-4759-6ACE-3E931AC1E8D4}"/>
              </a:ext>
            </a:extLst>
          </p:cNvPr>
          <p:cNvSpPr txBox="1"/>
          <p:nvPr/>
        </p:nvSpPr>
        <p:spPr>
          <a:xfrm>
            <a:off x="6515100" y="2369920"/>
            <a:ext cx="5437414"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sequential took 24915800ns (0.0249158s)</a:t>
            </a:r>
          </a:p>
          <a:p>
            <a:r>
              <a:rPr lang="en-US" dirty="0">
                <a:latin typeface="Consolas" panose="020B0609020204030204" pitchFamily="49" charset="0"/>
              </a:rPr>
              <a:t>parallel bad took 1774328600ns (1.77433s)</a:t>
            </a:r>
          </a:p>
        </p:txBody>
      </p:sp>
    </p:spTree>
    <p:extLst>
      <p:ext uri="{BB962C8B-B14F-4D97-AF65-F5344CB8AC3E}">
        <p14:creationId xmlns:p14="http://schemas.microsoft.com/office/powerpoint/2010/main" val="121770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8" end="8"/>
                                            </p:txEl>
                                          </p:spTgt>
                                        </p:tgtEl>
                                        <p:attrNameLst>
                                          <p:attrName>style.visibility</p:attrName>
                                        </p:attrNameLst>
                                      </p:cBhvr>
                                      <p:to>
                                        <p:strVal val="visible"/>
                                      </p:to>
                                    </p:set>
                                    <p:animEffect transition="in" filter="fade">
                                      <p:cBhvr>
                                        <p:cTn id="10" dur="500"/>
                                        <p:tgtEl>
                                          <p:spTgt spid="4">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animEffect transition="in" filter="fade">
                                      <p:cBhvr>
                                        <p:cTn id="13" dur="500"/>
                                        <p:tgtEl>
                                          <p:spTgt spid="4">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10" end="10"/>
                                            </p:txEl>
                                          </p:spTgt>
                                        </p:tgtEl>
                                        <p:attrNameLst>
                                          <p:attrName>style.visibility</p:attrName>
                                        </p:attrNameLst>
                                      </p:cBhvr>
                                      <p:to>
                                        <p:strVal val="visible"/>
                                      </p:to>
                                    </p:set>
                                    <p:animEffect transition="in" filter="fade">
                                      <p:cBhvr>
                                        <p:cTn id="16" dur="500"/>
                                        <p:tgtEl>
                                          <p:spTgt spid="4">
                                            <p:txEl>
                                              <p:pRg st="10" end="1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F7C87-9AF1-FFA6-FDEE-E69D992FCF62}"/>
              </a:ext>
            </a:extLst>
          </p:cNvPr>
          <p:cNvSpPr>
            <a:spLocks noGrp="1"/>
          </p:cNvSpPr>
          <p:nvPr>
            <p:ph type="title"/>
          </p:nvPr>
        </p:nvSpPr>
        <p:spPr/>
        <p:txBody>
          <a:bodyPr/>
          <a:lstStyle/>
          <a:p>
            <a:r>
              <a:rPr lang="ru-RU" dirty="0"/>
              <a:t>Алгоритм </a:t>
            </a:r>
            <a:r>
              <a:rPr lang="en-US" dirty="0"/>
              <a:t>reduce</a:t>
            </a:r>
          </a:p>
        </p:txBody>
      </p:sp>
      <p:sp>
        <p:nvSpPr>
          <p:cNvPr id="4" name="TextBox 3">
            <a:extLst>
              <a:ext uri="{FF2B5EF4-FFF2-40B4-BE49-F238E27FC236}">
                <a16:creationId xmlns:a16="http://schemas.microsoft.com/office/drawing/2014/main" id="{E9B70301-77B1-B6AE-9719-053ABC082516}"/>
              </a:ext>
            </a:extLst>
          </p:cNvPr>
          <p:cNvSpPr txBox="1"/>
          <p:nvPr/>
        </p:nvSpPr>
        <p:spPr>
          <a:xfrm>
            <a:off x="310243" y="1691561"/>
            <a:ext cx="11881758" cy="4801314"/>
          </a:xfrm>
          <a:prstGeom prst="rect">
            <a:avLst/>
          </a:prstGeom>
          <a:noFill/>
        </p:spPr>
        <p:txBody>
          <a:bodyPr wrap="square">
            <a:spAutoFit/>
          </a:bodyPr>
          <a:lstStyle/>
          <a:p>
            <a:pPr>
              <a:buNone/>
            </a:pPr>
            <a:r>
              <a:rPr lang="ru-RU" b="0" dirty="0">
                <a:solidFill>
                  <a:srgbClr val="008000"/>
                </a:solidFill>
                <a:effectLst/>
                <a:latin typeface="Consolas" panose="020B0609020204030204" pitchFamily="49" charset="0"/>
              </a:rPr>
              <a:t>// Параллельно редуцирует элементы в диапазоне [</a:t>
            </a:r>
            <a:r>
              <a:rPr lang="en-US" b="0" dirty="0">
                <a:solidFill>
                  <a:srgbClr val="008000"/>
                </a:solidFill>
                <a:effectLst/>
                <a:latin typeface="Consolas" panose="020B0609020204030204" pitchFamily="49" charset="0"/>
              </a:rPr>
              <a:t>first, last) </a:t>
            </a:r>
            <a:r>
              <a:rPr lang="ru-RU" b="0" dirty="0">
                <a:solidFill>
                  <a:srgbClr val="008000"/>
                </a:solidFill>
                <a:effectLst/>
                <a:latin typeface="Consolas" panose="020B0609020204030204" pitchFamily="49" charset="0"/>
              </a:rPr>
              <a:t>с помощью </a:t>
            </a:r>
            <a:r>
              <a:rPr lang="ru-RU" b="1" dirty="0">
                <a:solidFill>
                  <a:srgbClr val="008000"/>
                </a:solidFill>
                <a:effectLst/>
                <a:latin typeface="Consolas" panose="020B0609020204030204" pitchFamily="49" charset="0"/>
              </a:rPr>
              <a:t>бинарной операции +</a:t>
            </a:r>
            <a:endParaRPr lang="ru-RU" b="1" dirty="0">
              <a:solidFill>
                <a:srgbClr val="000000"/>
              </a:solidFill>
              <a:effectLst/>
              <a:latin typeface="Consolas" panose="020B0609020204030204" pitchFamily="49" charset="0"/>
            </a:endParaRPr>
          </a:p>
          <a:p>
            <a:pPr>
              <a:buNone/>
            </a:pPr>
            <a:r>
              <a:rPr lang="ru-RU" b="0" dirty="0">
                <a:solidFill>
                  <a:srgbClr val="008000"/>
                </a:solidFill>
                <a:effectLst/>
                <a:latin typeface="Consolas" panose="020B0609020204030204" pitchFamily="49" charset="0"/>
              </a:rPr>
              <a:t>//</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и </a:t>
            </a:r>
            <a:r>
              <a:rPr lang="ru-RU" b="1" dirty="0">
                <a:solidFill>
                  <a:srgbClr val="008000"/>
                </a:solidFill>
                <a:effectLst/>
                <a:latin typeface="Consolas" panose="020B0609020204030204" pitchFamily="49" charset="0"/>
              </a:rPr>
              <a:t>начального значения </a:t>
            </a:r>
            <a:r>
              <a:rPr lang="en-US" b="1" dirty="0">
                <a:solidFill>
                  <a:srgbClr val="008000"/>
                </a:solidFill>
                <a:effectLst/>
                <a:latin typeface="Consolas" panose="020B0609020204030204" pitchFamily="49" charset="0"/>
              </a:rPr>
              <a:t>std::</a:t>
            </a:r>
            <a:r>
              <a:rPr lang="en-US" b="1" dirty="0" err="1">
                <a:solidFill>
                  <a:srgbClr val="008000"/>
                </a:solidFill>
                <a:effectLst/>
                <a:latin typeface="Consolas" panose="020B0609020204030204" pitchFamily="49" charset="0"/>
              </a:rPr>
              <a:t>iterator_traits</a:t>
            </a:r>
            <a:r>
              <a:rPr lang="en-US" b="1" dirty="0">
                <a:solidFill>
                  <a:srgbClr val="008000"/>
                </a:solidFill>
                <a:effectLst/>
                <a:latin typeface="Consolas" panose="020B0609020204030204" pitchFamily="49" charset="0"/>
              </a:rPr>
              <a:t>&lt;</a:t>
            </a:r>
            <a:r>
              <a:rPr lang="en-US" b="1" dirty="0" err="1">
                <a:solidFill>
                  <a:srgbClr val="008000"/>
                </a:solidFill>
                <a:effectLst/>
                <a:latin typeface="Consolas" panose="020B0609020204030204" pitchFamily="49" charset="0"/>
              </a:rPr>
              <a:t>ForwardIt</a:t>
            </a:r>
            <a:r>
              <a:rPr lang="en-US" b="1" dirty="0">
                <a:solidFill>
                  <a:srgbClr val="008000"/>
                </a:solidFill>
                <a:effectLst/>
                <a:latin typeface="Consolas" panose="020B0609020204030204" pitchFamily="49" charset="0"/>
              </a:rPr>
              <a:t>&gt;::</a:t>
            </a:r>
            <a:r>
              <a:rPr lang="en-US" b="1" dirty="0" err="1">
                <a:solidFill>
                  <a:srgbClr val="008000"/>
                </a:solidFill>
                <a:effectLst/>
                <a:latin typeface="Consolas" panose="020B0609020204030204" pitchFamily="49" charset="0"/>
              </a:rPr>
              <a:t>value_type</a:t>
            </a:r>
            <a:r>
              <a:rPr lang="en-US" b="1" dirty="0">
                <a:solidFill>
                  <a:srgbClr val="008000"/>
                </a:solidFill>
                <a:effectLst/>
                <a:latin typeface="Consolas" panose="020B0609020204030204" pitchFamily="49" charset="0"/>
              </a:rPr>
              <a:t>{}</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template</a:t>
            </a:r>
            <a:r>
              <a:rPr lang="en-US" b="0" dirty="0">
                <a:solidFill>
                  <a:srgbClr val="000000"/>
                </a:solidFill>
                <a:effectLst/>
                <a:latin typeface="Consolas" panose="020B0609020204030204" pitchFamily="49" charset="0"/>
              </a:rPr>
              <a:t> &lt;</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&gt;</a:t>
            </a:r>
          </a:p>
          <a:p>
            <a:pPr>
              <a:buNone/>
            </a:pPr>
            <a:r>
              <a:rPr lang="en-US" b="0" dirty="0" err="1">
                <a:solidFill>
                  <a:srgbClr val="0000FF"/>
                </a:solidFill>
                <a:effectLst/>
                <a:latin typeface="Consolas" panose="020B0609020204030204" pitchFamily="49" charset="0"/>
              </a:rPr>
              <a:t>typename</a:t>
            </a: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iterator_traits</a:t>
            </a:r>
            <a:r>
              <a:rPr lang="en-US" b="0" dirty="0">
                <a:solidFill>
                  <a:srgbClr val="000000"/>
                </a:solidFill>
                <a:effectLst/>
                <a:latin typeface="Consolas" panose="020B0609020204030204" pitchFamily="49" charset="0"/>
              </a:rPr>
              <a:t>&lt;</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&gt;::</a:t>
            </a:r>
            <a:r>
              <a:rPr lang="en-US" b="0" dirty="0" err="1">
                <a:solidFill>
                  <a:srgbClr val="2B91AF"/>
                </a:solidFill>
                <a:effectLst/>
                <a:latin typeface="Consolas" panose="020B0609020204030204" pitchFamily="49" charset="0"/>
              </a:rPr>
              <a:t>value_type</a:t>
            </a:r>
            <a:endParaRPr lang="en-US" b="0" dirty="0">
              <a:solidFill>
                <a:srgbClr val="000000"/>
              </a:solidFill>
              <a:effectLst/>
              <a:latin typeface="Consolas" panose="020B0609020204030204" pitchFamily="49" charset="0"/>
            </a:endParaRPr>
          </a:p>
          <a:p>
            <a:pPr>
              <a:buNone/>
            </a:pPr>
            <a:r>
              <a:rPr lang="en-US" b="0" dirty="0">
                <a:solidFill>
                  <a:srgbClr val="74531F"/>
                </a:solidFill>
                <a:effectLst/>
                <a:latin typeface="Consolas" panose="020B0609020204030204" pitchFamily="49" charset="0"/>
              </a:rPr>
              <a:t>reduce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&amp;&amp; policy, </a:t>
            </a:r>
            <a:r>
              <a:rPr lang="en-US" b="0" dirty="0" err="1">
                <a:solidFill>
                  <a:srgbClr val="000000"/>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first, </a:t>
            </a:r>
            <a:r>
              <a:rPr lang="en-US" b="0" dirty="0" err="1">
                <a:solidFill>
                  <a:srgbClr val="000000"/>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last);</a:t>
            </a:r>
          </a:p>
          <a:p>
            <a:pPr>
              <a:buNone/>
            </a:pP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Параллельно редуцирует элементы в диапазоне [</a:t>
            </a:r>
            <a:r>
              <a:rPr lang="en-US" b="0" dirty="0">
                <a:solidFill>
                  <a:srgbClr val="008000"/>
                </a:solidFill>
                <a:effectLst/>
                <a:latin typeface="Consolas" panose="020B0609020204030204" pitchFamily="49" charset="0"/>
              </a:rPr>
              <a:t>first, last) </a:t>
            </a:r>
            <a:r>
              <a:rPr lang="ru-RU" b="0" dirty="0">
                <a:solidFill>
                  <a:srgbClr val="008000"/>
                </a:solidFill>
                <a:effectLst/>
                <a:latin typeface="Consolas" panose="020B0609020204030204" pitchFamily="49" charset="0"/>
              </a:rPr>
              <a:t>с помощью </a:t>
            </a:r>
            <a:r>
              <a:rPr lang="ru-RU" b="1" dirty="0">
                <a:solidFill>
                  <a:srgbClr val="008000"/>
                </a:solidFill>
                <a:effectLst/>
                <a:latin typeface="Consolas" panose="020B0609020204030204" pitchFamily="49" charset="0"/>
              </a:rPr>
              <a:t>бинарной операции +</a:t>
            </a:r>
            <a:endParaRPr lang="ru-RU" b="1" dirty="0">
              <a:solidFill>
                <a:srgbClr val="000000"/>
              </a:solidFill>
              <a:effectLst/>
              <a:latin typeface="Consolas" panose="020B0609020204030204" pitchFamily="49" charset="0"/>
            </a:endParaRPr>
          </a:p>
          <a:p>
            <a:pPr>
              <a:buNone/>
            </a:pPr>
            <a:r>
              <a:rPr lang="ru-RU" b="0" dirty="0">
                <a:solidFill>
                  <a:srgbClr val="008000"/>
                </a:solidFill>
                <a:effectLst/>
                <a:latin typeface="Consolas" panose="020B0609020204030204" pitchFamily="49" charset="0"/>
              </a:rPr>
              <a:t>// и </a:t>
            </a:r>
            <a:r>
              <a:rPr lang="ru-RU" b="1" dirty="0">
                <a:solidFill>
                  <a:srgbClr val="008000"/>
                </a:solidFill>
                <a:effectLst/>
                <a:latin typeface="Consolas" panose="020B0609020204030204" pitchFamily="49" charset="0"/>
              </a:rPr>
              <a:t>начального значения </a:t>
            </a:r>
            <a:r>
              <a:rPr lang="en-US" b="1" dirty="0" err="1">
                <a:solidFill>
                  <a:srgbClr val="008000"/>
                </a:solidFill>
                <a:effectLst/>
                <a:latin typeface="Consolas" panose="020B0609020204030204" pitchFamily="49" charset="0"/>
              </a:rPr>
              <a:t>init</a:t>
            </a:r>
            <a:r>
              <a:rPr lang="en-US" b="0" dirty="0" err="1">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template</a:t>
            </a:r>
            <a:r>
              <a:rPr lang="en-US" b="0" dirty="0">
                <a:solidFill>
                  <a:srgbClr val="000000"/>
                </a:solidFill>
                <a:effectLst/>
                <a:latin typeface="Consolas" panose="020B0609020204030204" pitchFamily="49" charset="0"/>
              </a:rPr>
              <a:t> &lt;</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&gt;</a:t>
            </a:r>
          </a:p>
          <a:p>
            <a:pPr>
              <a:buNone/>
            </a:pP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reduce</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&amp;&amp; </a:t>
            </a:r>
            <a:r>
              <a:rPr lang="en-US" b="0" dirty="0">
                <a:solidFill>
                  <a:srgbClr val="808080"/>
                </a:solidFill>
                <a:effectLst/>
                <a:latin typeface="Consolas" panose="020B0609020204030204" pitchFamily="49" charset="0"/>
              </a:rPr>
              <a:t>policy</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last</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init</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Параллельно редуцирует элементы в диапазоне [</a:t>
            </a:r>
            <a:r>
              <a:rPr lang="en-US" b="0" dirty="0">
                <a:solidFill>
                  <a:srgbClr val="008000"/>
                </a:solidFill>
                <a:effectLst/>
                <a:latin typeface="Consolas" panose="020B0609020204030204" pitchFamily="49" charset="0"/>
              </a:rPr>
              <a:t>first, last) </a:t>
            </a:r>
            <a:r>
              <a:rPr lang="ru-RU" b="0" dirty="0">
                <a:solidFill>
                  <a:srgbClr val="008000"/>
                </a:solidFill>
                <a:effectLst/>
                <a:latin typeface="Consolas" panose="020B0609020204030204" pitchFamily="49" charset="0"/>
              </a:rPr>
              <a:t>с помощью </a:t>
            </a:r>
            <a:r>
              <a:rPr lang="ru-RU" b="1" dirty="0">
                <a:solidFill>
                  <a:srgbClr val="008000"/>
                </a:solidFill>
                <a:effectLst/>
                <a:latin typeface="Consolas" panose="020B0609020204030204" pitchFamily="49" charset="0"/>
              </a:rPr>
              <a:t>бинарной операции </a:t>
            </a:r>
            <a:r>
              <a:rPr lang="en-US" b="1" dirty="0">
                <a:solidFill>
                  <a:srgbClr val="008000"/>
                </a:solidFill>
                <a:effectLst/>
                <a:latin typeface="Consolas" panose="020B0609020204030204" pitchFamily="49" charset="0"/>
              </a:rPr>
              <a:t>op</a:t>
            </a:r>
            <a:endParaRPr lang="en-US" b="1"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и </a:t>
            </a:r>
            <a:r>
              <a:rPr lang="ru-RU" b="1" dirty="0">
                <a:solidFill>
                  <a:srgbClr val="008000"/>
                </a:solidFill>
                <a:effectLst/>
                <a:latin typeface="Consolas" panose="020B0609020204030204" pitchFamily="49" charset="0"/>
              </a:rPr>
              <a:t>начального значения </a:t>
            </a:r>
            <a:r>
              <a:rPr lang="en-US" b="1" dirty="0" err="1">
                <a:solidFill>
                  <a:srgbClr val="008000"/>
                </a:solidFill>
                <a:effectLst/>
                <a:latin typeface="Consolas" panose="020B0609020204030204" pitchFamily="49" charset="0"/>
              </a:rPr>
              <a:t>init</a:t>
            </a:r>
            <a:r>
              <a:rPr lang="en-US" b="0" dirty="0" err="1">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template</a:t>
            </a:r>
            <a:r>
              <a:rPr lang="en-US" b="0" dirty="0">
                <a:solidFill>
                  <a:srgbClr val="000000"/>
                </a:solidFill>
                <a:effectLst/>
                <a:latin typeface="Consolas" panose="020B0609020204030204" pitchFamily="49" charset="0"/>
              </a:rPr>
              <a:t> &lt;</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BinaryOp</a:t>
            </a:r>
            <a:r>
              <a:rPr lang="en-US" b="0" dirty="0">
                <a:solidFill>
                  <a:srgbClr val="000000"/>
                </a:solidFill>
                <a:effectLst/>
                <a:latin typeface="Consolas" panose="020B0609020204030204" pitchFamily="49" charset="0"/>
              </a:rPr>
              <a:t>&gt;</a:t>
            </a:r>
          </a:p>
          <a:p>
            <a:pPr>
              <a:buNone/>
            </a:pP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reduce</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&amp;&amp; </a:t>
            </a:r>
            <a:r>
              <a:rPr lang="en-US" b="0" dirty="0">
                <a:solidFill>
                  <a:srgbClr val="808080"/>
                </a:solidFill>
                <a:effectLst/>
                <a:latin typeface="Consolas" panose="020B0609020204030204" pitchFamily="49" charset="0"/>
              </a:rPr>
              <a:t>policy</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last</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init</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BinaryOp</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op</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320147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E42C-E9E7-342D-696C-150D840CCFD0}"/>
              </a:ext>
            </a:extLst>
          </p:cNvPr>
          <p:cNvSpPr>
            <a:spLocks noGrp="1"/>
          </p:cNvSpPr>
          <p:nvPr>
            <p:ph type="title"/>
          </p:nvPr>
        </p:nvSpPr>
        <p:spPr/>
        <p:txBody>
          <a:bodyPr/>
          <a:lstStyle/>
          <a:p>
            <a:r>
              <a:rPr lang="ru-RU" dirty="0"/>
              <a:t>Устраняем </a:t>
            </a:r>
            <a:r>
              <a:rPr lang="en-US" dirty="0"/>
              <a:t>contention</a:t>
            </a:r>
            <a:r>
              <a:rPr lang="ru-RU" dirty="0"/>
              <a:t> с </a:t>
            </a:r>
            <a:r>
              <a:rPr lang="en-US" dirty="0"/>
              <a:t>reduce</a:t>
            </a:r>
          </a:p>
        </p:txBody>
      </p:sp>
      <p:sp>
        <p:nvSpPr>
          <p:cNvPr id="4" name="TextBox 3">
            <a:extLst>
              <a:ext uri="{FF2B5EF4-FFF2-40B4-BE49-F238E27FC236}">
                <a16:creationId xmlns:a16="http://schemas.microsoft.com/office/drawing/2014/main" id="{08690347-F86B-28AE-E97C-D0AFA7182788}"/>
              </a:ext>
            </a:extLst>
          </p:cNvPr>
          <p:cNvSpPr txBox="1"/>
          <p:nvPr/>
        </p:nvSpPr>
        <p:spPr>
          <a:xfrm>
            <a:off x="838200" y="1690688"/>
            <a:ext cx="10515600" cy="4247317"/>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Sequential</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vector</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&gt;&amp; </a:t>
            </a:r>
            <a:r>
              <a:rPr lang="en-US" b="0" dirty="0">
                <a:solidFill>
                  <a:srgbClr val="808080"/>
                </a:solidFill>
                <a:effectLst/>
                <a:latin typeface="Consolas" panose="020B0609020204030204" pitchFamily="49" charset="0"/>
              </a:rPr>
              <a:t>v</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x</a:t>
            </a:r>
            <a:r>
              <a:rPr lang="en-US" b="0" dirty="0">
                <a:solidFill>
                  <a:srgbClr val="000000"/>
                </a:solidFill>
                <a:effectLst/>
                <a:latin typeface="Consolas" panose="020B0609020204030204" pitchFamily="49" charset="0"/>
              </a:rPr>
              <a:t> : </a:t>
            </a:r>
            <a:r>
              <a:rPr lang="en-US" b="0" dirty="0">
                <a:solidFill>
                  <a:srgbClr val="808080"/>
                </a:solidFill>
                <a:effectLst/>
                <a:latin typeface="Consolas" panose="020B0609020204030204" pitchFamily="49" charset="0"/>
              </a:rPr>
              <a:t>v</a:t>
            </a:r>
            <a:r>
              <a:rPr lang="en-US" b="0" dirty="0">
                <a:solidFill>
                  <a:srgbClr val="000000"/>
                </a:solidFill>
                <a:effectLst/>
                <a:latin typeface="Consolas" panose="020B0609020204030204" pitchFamily="49" charset="0"/>
              </a:rPr>
              <a:t>) {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 += </a:t>
            </a:r>
            <a:r>
              <a:rPr lang="en-US" b="0" dirty="0">
                <a:solidFill>
                  <a:srgbClr val="1F377F"/>
                </a:solidFill>
                <a:effectLst/>
                <a:latin typeface="Consolas" panose="020B0609020204030204" pitchFamily="49" charset="0"/>
              </a:rPr>
              <a:t>x</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sum</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long</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ParallelGood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vector</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&gt;&amp; </a:t>
            </a:r>
            <a:r>
              <a:rPr lang="en-US" b="0" dirty="0">
                <a:solidFill>
                  <a:srgbClr val="808080"/>
                </a:solidFill>
                <a:effectLst/>
                <a:latin typeface="Consolas" panose="020B0609020204030204" pitchFamily="49" charset="0"/>
              </a:rPr>
              <a:t>v</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std::</a:t>
            </a:r>
            <a:r>
              <a:rPr lang="en-US" b="0" dirty="0">
                <a:solidFill>
                  <a:srgbClr val="74531F"/>
                </a:solidFill>
                <a:effectLst/>
                <a:latin typeface="Consolas" panose="020B0609020204030204" pitchFamily="49" charset="0"/>
              </a:rPr>
              <a:t>reduce</a:t>
            </a:r>
            <a:r>
              <a:rPr lang="en-US" b="0" dirty="0">
                <a:solidFill>
                  <a:srgbClr val="000000"/>
                </a:solidFill>
                <a:effectLst/>
                <a:latin typeface="Consolas" panose="020B0609020204030204" pitchFamily="49" charset="0"/>
              </a:rPr>
              <a:t>(std::execution::par, </a:t>
            </a:r>
            <a:r>
              <a:rPr lang="en-US" b="0" dirty="0" err="1">
                <a:solidFill>
                  <a:srgbClr val="808080"/>
                </a:solidFill>
                <a:effectLst/>
                <a:latin typeface="Consolas" panose="020B0609020204030204" pitchFamily="49" charset="0"/>
              </a:rPr>
              <a:t>v</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begin</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v</a:t>
            </a:r>
            <a:r>
              <a:rPr lang="en-US" b="0" dirty="0" err="1">
                <a:solidFill>
                  <a:srgbClr val="000000"/>
                </a:solidFill>
                <a:effectLst/>
                <a:latin typeface="Consolas" panose="020B0609020204030204" pitchFamily="49" charset="0"/>
              </a:rPr>
              <a:t>.</a:t>
            </a:r>
            <a:r>
              <a:rPr lang="en-US" b="0" dirty="0" err="1">
                <a:solidFill>
                  <a:srgbClr val="74531F"/>
                </a:solidFill>
                <a:effectLst/>
                <a:latin typeface="Consolas" panose="020B0609020204030204" pitchFamily="49" charset="0"/>
              </a:rPr>
              <a:t>end</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0LL</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main</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std::</a:t>
            </a:r>
            <a:r>
              <a:rPr lang="en-US" b="0" dirty="0">
                <a:solidFill>
                  <a:srgbClr val="2B91AF"/>
                </a:solidFill>
                <a:effectLst/>
                <a:latin typeface="Consolas" panose="020B0609020204030204" pitchFamily="49" charset="0"/>
              </a:rPr>
              <a:t>vector</a:t>
            </a:r>
            <a:r>
              <a:rPr lang="en-US" b="0" dirty="0">
                <a:solidFill>
                  <a:srgbClr val="000000"/>
                </a:solidFill>
                <a:effectLst/>
                <a:latin typeface="Consolas" panose="020B0609020204030204" pitchFamily="49" charset="0"/>
              </a:rPr>
              <a:t>&lt;</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&gt;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100'000'000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MeasureTime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sequential</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74531F"/>
                </a:solidFill>
                <a:effectLst/>
                <a:latin typeface="Consolas" panose="020B0609020204030204" pitchFamily="49" charset="0"/>
              </a:rPr>
              <a:t>Sequential</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MeasureTime</a:t>
            </a:r>
            <a:r>
              <a:rPr lang="en-US" b="0" dirty="0">
                <a:solidFill>
                  <a:srgbClr val="000000"/>
                </a:solidFill>
                <a:effectLst/>
                <a:latin typeface="Consolas" panose="020B0609020204030204" pitchFamily="49" charset="0"/>
              </a:rPr>
              <a:t>(</a:t>
            </a:r>
            <a:r>
              <a:rPr lang="en-US" b="0" dirty="0">
                <a:solidFill>
                  <a:srgbClr val="E21F1F"/>
                </a:solidFill>
                <a:effectLst/>
                <a:latin typeface="Consolas" panose="020B0609020204030204" pitchFamily="49" charset="0"/>
              </a:rPr>
              <a:t>"</a:t>
            </a:r>
            <a:r>
              <a:rPr lang="en-US" b="0" dirty="0">
                <a:solidFill>
                  <a:srgbClr val="A31515"/>
                </a:solidFill>
                <a:effectLst/>
                <a:latin typeface="Consolas" panose="020B0609020204030204" pitchFamily="49" charset="0"/>
              </a:rPr>
              <a:t>parallel good</a:t>
            </a:r>
            <a:r>
              <a:rPr lang="en-US" b="0" dirty="0">
                <a:solidFill>
                  <a:srgbClr val="E21F1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ParallelGood</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v</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A60E405D-EC51-E43F-64F3-886898EFA57E}"/>
              </a:ext>
            </a:extLst>
          </p:cNvPr>
          <p:cNvSpPr txBox="1"/>
          <p:nvPr/>
        </p:nvSpPr>
        <p:spPr>
          <a:xfrm>
            <a:off x="1400174" y="5941927"/>
            <a:ext cx="6029325"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sequential took 27071200ns (0.0270712s)</a:t>
            </a:r>
          </a:p>
          <a:p>
            <a:r>
              <a:rPr lang="en-US" dirty="0">
                <a:latin typeface="Consolas" panose="020B0609020204030204" pitchFamily="49" charset="0"/>
              </a:rPr>
              <a:t>parallel good took 7554700ns (0.0075547s)</a:t>
            </a:r>
          </a:p>
        </p:txBody>
      </p:sp>
    </p:spTree>
    <p:extLst>
      <p:ext uri="{BB962C8B-B14F-4D97-AF65-F5344CB8AC3E}">
        <p14:creationId xmlns:p14="http://schemas.microsoft.com/office/powerpoint/2010/main" val="2608237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6879-B64B-EEB0-89FA-E5A122F0A5EB}"/>
              </a:ext>
            </a:extLst>
          </p:cNvPr>
          <p:cNvSpPr>
            <a:spLocks noGrp="1"/>
          </p:cNvSpPr>
          <p:nvPr>
            <p:ph type="title"/>
          </p:nvPr>
        </p:nvSpPr>
        <p:spPr/>
        <p:txBody>
          <a:bodyPr/>
          <a:lstStyle/>
          <a:p>
            <a:r>
              <a:rPr lang="ru-RU" dirty="0"/>
              <a:t>Принцип работы </a:t>
            </a:r>
            <a:r>
              <a:rPr lang="en-US" dirty="0"/>
              <a:t>reduce</a:t>
            </a:r>
          </a:p>
        </p:txBody>
      </p:sp>
      <p:sp>
        <p:nvSpPr>
          <p:cNvPr id="4" name="Rectangle 3">
            <a:extLst>
              <a:ext uri="{FF2B5EF4-FFF2-40B4-BE49-F238E27FC236}">
                <a16:creationId xmlns:a16="http://schemas.microsoft.com/office/drawing/2014/main" id="{00E81E4D-BC78-E5BD-7BD0-466133B25BAA}"/>
              </a:ext>
            </a:extLst>
          </p:cNvPr>
          <p:cNvSpPr/>
          <p:nvPr/>
        </p:nvSpPr>
        <p:spPr>
          <a:xfrm>
            <a:off x="713509" y="1987759"/>
            <a:ext cx="1350818" cy="595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Rectangle 4">
            <a:extLst>
              <a:ext uri="{FF2B5EF4-FFF2-40B4-BE49-F238E27FC236}">
                <a16:creationId xmlns:a16="http://schemas.microsoft.com/office/drawing/2014/main" id="{AF3B659E-2F45-9EEA-E61F-9331AB9B610B}"/>
              </a:ext>
            </a:extLst>
          </p:cNvPr>
          <p:cNvSpPr/>
          <p:nvPr/>
        </p:nvSpPr>
        <p:spPr>
          <a:xfrm>
            <a:off x="2064327" y="1987759"/>
            <a:ext cx="1350818" cy="59574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a:t>
            </a:r>
          </a:p>
        </p:txBody>
      </p:sp>
      <p:sp>
        <p:nvSpPr>
          <p:cNvPr id="6" name="Rectangle 5">
            <a:extLst>
              <a:ext uri="{FF2B5EF4-FFF2-40B4-BE49-F238E27FC236}">
                <a16:creationId xmlns:a16="http://schemas.microsoft.com/office/drawing/2014/main" id="{0FBD0918-475C-CC16-97F8-C92FCB835ECC}"/>
              </a:ext>
            </a:extLst>
          </p:cNvPr>
          <p:cNvSpPr/>
          <p:nvPr/>
        </p:nvSpPr>
        <p:spPr>
          <a:xfrm>
            <a:off x="3415145" y="1987759"/>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a:t>
            </a:r>
          </a:p>
        </p:txBody>
      </p:sp>
      <p:sp>
        <p:nvSpPr>
          <p:cNvPr id="7" name="Rectangle 6">
            <a:extLst>
              <a:ext uri="{FF2B5EF4-FFF2-40B4-BE49-F238E27FC236}">
                <a16:creationId xmlns:a16="http://schemas.microsoft.com/office/drawing/2014/main" id="{F3FAF1DE-F3F1-B89A-36C2-87A6DA74F070}"/>
              </a:ext>
            </a:extLst>
          </p:cNvPr>
          <p:cNvSpPr/>
          <p:nvPr/>
        </p:nvSpPr>
        <p:spPr>
          <a:xfrm>
            <a:off x="4765963" y="1987759"/>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a:t>
            </a:r>
          </a:p>
        </p:txBody>
      </p:sp>
      <p:sp>
        <p:nvSpPr>
          <p:cNvPr id="8" name="Rectangle 7">
            <a:extLst>
              <a:ext uri="{FF2B5EF4-FFF2-40B4-BE49-F238E27FC236}">
                <a16:creationId xmlns:a16="http://schemas.microsoft.com/office/drawing/2014/main" id="{DBFDD165-DF09-7AF6-6A91-DFEB990D0644}"/>
              </a:ext>
            </a:extLst>
          </p:cNvPr>
          <p:cNvSpPr/>
          <p:nvPr/>
        </p:nvSpPr>
        <p:spPr>
          <a:xfrm>
            <a:off x="6116781" y="1987759"/>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a:t>
            </a:r>
          </a:p>
        </p:txBody>
      </p:sp>
      <p:sp>
        <p:nvSpPr>
          <p:cNvPr id="9" name="Rectangle 8">
            <a:extLst>
              <a:ext uri="{FF2B5EF4-FFF2-40B4-BE49-F238E27FC236}">
                <a16:creationId xmlns:a16="http://schemas.microsoft.com/office/drawing/2014/main" id="{84044E0B-45C6-D7F7-F882-BA109DC14A54}"/>
              </a:ext>
            </a:extLst>
          </p:cNvPr>
          <p:cNvSpPr/>
          <p:nvPr/>
        </p:nvSpPr>
        <p:spPr>
          <a:xfrm>
            <a:off x="7467599" y="1987759"/>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a:t>
            </a:r>
          </a:p>
        </p:txBody>
      </p:sp>
      <p:sp>
        <p:nvSpPr>
          <p:cNvPr id="10" name="Rectangle 9">
            <a:extLst>
              <a:ext uri="{FF2B5EF4-FFF2-40B4-BE49-F238E27FC236}">
                <a16:creationId xmlns:a16="http://schemas.microsoft.com/office/drawing/2014/main" id="{BFC97F23-72F2-28CF-4556-790DB3192EFA}"/>
              </a:ext>
            </a:extLst>
          </p:cNvPr>
          <p:cNvSpPr/>
          <p:nvPr/>
        </p:nvSpPr>
        <p:spPr>
          <a:xfrm>
            <a:off x="8818417" y="1987759"/>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a:t>
            </a:r>
          </a:p>
        </p:txBody>
      </p:sp>
      <p:sp>
        <p:nvSpPr>
          <p:cNvPr id="11" name="Rectangle 10">
            <a:extLst>
              <a:ext uri="{FF2B5EF4-FFF2-40B4-BE49-F238E27FC236}">
                <a16:creationId xmlns:a16="http://schemas.microsoft.com/office/drawing/2014/main" id="{92538DD8-B46C-5211-EAB2-85646053F390}"/>
              </a:ext>
            </a:extLst>
          </p:cNvPr>
          <p:cNvSpPr/>
          <p:nvPr/>
        </p:nvSpPr>
        <p:spPr>
          <a:xfrm>
            <a:off x="10169235" y="1987759"/>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a:t>
            </a:r>
          </a:p>
        </p:txBody>
      </p:sp>
      <p:sp>
        <p:nvSpPr>
          <p:cNvPr id="12" name="Rectangle 11">
            <a:extLst>
              <a:ext uri="{FF2B5EF4-FFF2-40B4-BE49-F238E27FC236}">
                <a16:creationId xmlns:a16="http://schemas.microsoft.com/office/drawing/2014/main" id="{252C5F70-46FD-4ADE-6764-D461F9DB95A0}"/>
              </a:ext>
            </a:extLst>
          </p:cNvPr>
          <p:cNvSpPr/>
          <p:nvPr/>
        </p:nvSpPr>
        <p:spPr>
          <a:xfrm>
            <a:off x="713509" y="3006069"/>
            <a:ext cx="1350818" cy="595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A+B</a:t>
            </a:r>
          </a:p>
        </p:txBody>
      </p:sp>
      <p:sp>
        <p:nvSpPr>
          <p:cNvPr id="21" name="Rectangle 20">
            <a:extLst>
              <a:ext uri="{FF2B5EF4-FFF2-40B4-BE49-F238E27FC236}">
                <a16:creationId xmlns:a16="http://schemas.microsoft.com/office/drawing/2014/main" id="{F10EC891-5BA2-94B7-F51F-1178BD410A03}"/>
              </a:ext>
            </a:extLst>
          </p:cNvPr>
          <p:cNvSpPr/>
          <p:nvPr/>
        </p:nvSpPr>
        <p:spPr>
          <a:xfrm>
            <a:off x="3415145" y="2999142"/>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C+D</a:t>
            </a:r>
          </a:p>
        </p:txBody>
      </p:sp>
      <p:sp>
        <p:nvSpPr>
          <p:cNvPr id="22" name="Plus Sign 21">
            <a:extLst>
              <a:ext uri="{FF2B5EF4-FFF2-40B4-BE49-F238E27FC236}">
                <a16:creationId xmlns:a16="http://schemas.microsoft.com/office/drawing/2014/main" id="{EDB70C7F-1065-A0B8-C06A-D8E7F92D2866}"/>
              </a:ext>
            </a:extLst>
          </p:cNvPr>
          <p:cNvSpPr/>
          <p:nvPr/>
        </p:nvSpPr>
        <p:spPr>
          <a:xfrm>
            <a:off x="2482127" y="3079887"/>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Sign 22">
            <a:extLst>
              <a:ext uri="{FF2B5EF4-FFF2-40B4-BE49-F238E27FC236}">
                <a16:creationId xmlns:a16="http://schemas.microsoft.com/office/drawing/2014/main" id="{970B3CA0-E4C2-18A7-D6FF-74D3E6F9D636}"/>
              </a:ext>
            </a:extLst>
          </p:cNvPr>
          <p:cNvSpPr/>
          <p:nvPr/>
        </p:nvSpPr>
        <p:spPr>
          <a:xfrm>
            <a:off x="5224245" y="3079887"/>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4FB994D-7654-C2AF-C169-1A8FB83F3260}"/>
              </a:ext>
            </a:extLst>
          </p:cNvPr>
          <p:cNvSpPr/>
          <p:nvPr/>
        </p:nvSpPr>
        <p:spPr>
          <a:xfrm>
            <a:off x="3415145" y="4010525"/>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A+B+C+D</a:t>
            </a:r>
          </a:p>
        </p:txBody>
      </p:sp>
      <p:sp>
        <p:nvSpPr>
          <p:cNvPr id="26" name="Plus Sign 25">
            <a:extLst>
              <a:ext uri="{FF2B5EF4-FFF2-40B4-BE49-F238E27FC236}">
                <a16:creationId xmlns:a16="http://schemas.microsoft.com/office/drawing/2014/main" id="{710CBD95-C241-5EC3-43B7-99DC000D81FC}"/>
              </a:ext>
            </a:extLst>
          </p:cNvPr>
          <p:cNvSpPr/>
          <p:nvPr/>
        </p:nvSpPr>
        <p:spPr>
          <a:xfrm>
            <a:off x="5224245" y="4091270"/>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FCAB403-9147-8680-9E1B-98D0B627D182}"/>
              </a:ext>
            </a:extLst>
          </p:cNvPr>
          <p:cNvSpPr/>
          <p:nvPr/>
        </p:nvSpPr>
        <p:spPr>
          <a:xfrm>
            <a:off x="6116781" y="4010525"/>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E+F</a:t>
            </a:r>
          </a:p>
        </p:txBody>
      </p:sp>
      <p:sp>
        <p:nvSpPr>
          <p:cNvPr id="29" name="Plus Sign 28">
            <a:extLst>
              <a:ext uri="{FF2B5EF4-FFF2-40B4-BE49-F238E27FC236}">
                <a16:creationId xmlns:a16="http://schemas.microsoft.com/office/drawing/2014/main" id="{282D8ECD-7056-46A4-1229-33BCCC3A38B3}"/>
              </a:ext>
            </a:extLst>
          </p:cNvPr>
          <p:cNvSpPr/>
          <p:nvPr/>
        </p:nvSpPr>
        <p:spPr>
          <a:xfrm>
            <a:off x="7925881" y="4091270"/>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BC69B14-A2A5-8E06-E201-0BD2A379CCDC}"/>
              </a:ext>
            </a:extLst>
          </p:cNvPr>
          <p:cNvSpPr/>
          <p:nvPr/>
        </p:nvSpPr>
        <p:spPr>
          <a:xfrm>
            <a:off x="6116781" y="2999142"/>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a:t>
            </a:r>
          </a:p>
        </p:txBody>
      </p:sp>
      <p:sp>
        <p:nvSpPr>
          <p:cNvPr id="32" name="Rectangle 31">
            <a:extLst>
              <a:ext uri="{FF2B5EF4-FFF2-40B4-BE49-F238E27FC236}">
                <a16:creationId xmlns:a16="http://schemas.microsoft.com/office/drawing/2014/main" id="{275082F1-053C-D9DC-FF70-DEC218DAA772}"/>
              </a:ext>
            </a:extLst>
          </p:cNvPr>
          <p:cNvSpPr/>
          <p:nvPr/>
        </p:nvSpPr>
        <p:spPr>
          <a:xfrm>
            <a:off x="7467599" y="2999142"/>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a:t>
            </a:r>
          </a:p>
        </p:txBody>
      </p:sp>
      <p:sp>
        <p:nvSpPr>
          <p:cNvPr id="33" name="Rectangle 32">
            <a:extLst>
              <a:ext uri="{FF2B5EF4-FFF2-40B4-BE49-F238E27FC236}">
                <a16:creationId xmlns:a16="http://schemas.microsoft.com/office/drawing/2014/main" id="{826137FD-28FE-ABDB-3E17-42EB415333AF}"/>
              </a:ext>
            </a:extLst>
          </p:cNvPr>
          <p:cNvSpPr/>
          <p:nvPr/>
        </p:nvSpPr>
        <p:spPr>
          <a:xfrm>
            <a:off x="8818417" y="2999142"/>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a:t>
            </a:r>
          </a:p>
        </p:txBody>
      </p:sp>
      <p:sp>
        <p:nvSpPr>
          <p:cNvPr id="34" name="Rectangle 33">
            <a:extLst>
              <a:ext uri="{FF2B5EF4-FFF2-40B4-BE49-F238E27FC236}">
                <a16:creationId xmlns:a16="http://schemas.microsoft.com/office/drawing/2014/main" id="{8EE7AB76-4A37-6D32-08D2-47E07B3D4B2D}"/>
              </a:ext>
            </a:extLst>
          </p:cNvPr>
          <p:cNvSpPr/>
          <p:nvPr/>
        </p:nvSpPr>
        <p:spPr>
          <a:xfrm>
            <a:off x="10169235" y="2999142"/>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a:t>
            </a:r>
          </a:p>
        </p:txBody>
      </p:sp>
      <p:sp>
        <p:nvSpPr>
          <p:cNvPr id="35" name="Rectangle 34">
            <a:extLst>
              <a:ext uri="{FF2B5EF4-FFF2-40B4-BE49-F238E27FC236}">
                <a16:creationId xmlns:a16="http://schemas.microsoft.com/office/drawing/2014/main" id="{CB16687A-5F79-13AB-CC79-9576B571E33C}"/>
              </a:ext>
            </a:extLst>
          </p:cNvPr>
          <p:cNvSpPr/>
          <p:nvPr/>
        </p:nvSpPr>
        <p:spPr>
          <a:xfrm>
            <a:off x="8818417" y="4010525"/>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a:t>
            </a:r>
          </a:p>
        </p:txBody>
      </p:sp>
      <p:sp>
        <p:nvSpPr>
          <p:cNvPr id="36" name="Rectangle 35">
            <a:extLst>
              <a:ext uri="{FF2B5EF4-FFF2-40B4-BE49-F238E27FC236}">
                <a16:creationId xmlns:a16="http://schemas.microsoft.com/office/drawing/2014/main" id="{A474FD8C-E937-A727-4459-024ACA0F54BA}"/>
              </a:ext>
            </a:extLst>
          </p:cNvPr>
          <p:cNvSpPr/>
          <p:nvPr/>
        </p:nvSpPr>
        <p:spPr>
          <a:xfrm>
            <a:off x="10169235" y="4010525"/>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a:t>
            </a:r>
          </a:p>
        </p:txBody>
      </p:sp>
      <p:sp>
        <p:nvSpPr>
          <p:cNvPr id="37" name="Rectangle 36">
            <a:extLst>
              <a:ext uri="{FF2B5EF4-FFF2-40B4-BE49-F238E27FC236}">
                <a16:creationId xmlns:a16="http://schemas.microsoft.com/office/drawing/2014/main" id="{E4D93FBF-A7F8-7705-30BD-DB7289B35CDC}"/>
              </a:ext>
            </a:extLst>
          </p:cNvPr>
          <p:cNvSpPr/>
          <p:nvPr/>
        </p:nvSpPr>
        <p:spPr>
          <a:xfrm>
            <a:off x="5658499" y="5021908"/>
            <a:ext cx="1809100"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A+B+C+D+E+F</a:t>
            </a:r>
          </a:p>
        </p:txBody>
      </p:sp>
      <p:sp>
        <p:nvSpPr>
          <p:cNvPr id="38" name="Rectangle 37">
            <a:extLst>
              <a:ext uri="{FF2B5EF4-FFF2-40B4-BE49-F238E27FC236}">
                <a16:creationId xmlns:a16="http://schemas.microsoft.com/office/drawing/2014/main" id="{3CCE6FEA-C213-E8ED-9E5C-80E33401CAFD}"/>
              </a:ext>
            </a:extLst>
          </p:cNvPr>
          <p:cNvSpPr/>
          <p:nvPr/>
        </p:nvSpPr>
        <p:spPr>
          <a:xfrm>
            <a:off x="8818417" y="5021908"/>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G+H</a:t>
            </a:r>
          </a:p>
        </p:txBody>
      </p:sp>
      <p:sp>
        <p:nvSpPr>
          <p:cNvPr id="40" name="Plus Sign 39">
            <a:extLst>
              <a:ext uri="{FF2B5EF4-FFF2-40B4-BE49-F238E27FC236}">
                <a16:creationId xmlns:a16="http://schemas.microsoft.com/office/drawing/2014/main" id="{1CFADFA9-0EC5-5805-E48A-3ECFC59BCBF8}"/>
              </a:ext>
            </a:extLst>
          </p:cNvPr>
          <p:cNvSpPr/>
          <p:nvPr/>
        </p:nvSpPr>
        <p:spPr>
          <a:xfrm>
            <a:off x="7925881" y="5102653"/>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78A0D7B-6A8D-6408-AD8A-DBD78384B842}"/>
              </a:ext>
            </a:extLst>
          </p:cNvPr>
          <p:cNvSpPr/>
          <p:nvPr/>
        </p:nvSpPr>
        <p:spPr>
          <a:xfrm>
            <a:off x="6934199" y="6028384"/>
            <a:ext cx="2279074"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A+B+C+D+E+F+G+H</a:t>
            </a:r>
          </a:p>
        </p:txBody>
      </p:sp>
    </p:spTree>
    <p:extLst>
      <p:ext uri="{BB962C8B-B14F-4D97-AF65-F5344CB8AC3E}">
        <p14:creationId xmlns:p14="http://schemas.microsoft.com/office/powerpoint/2010/main" val="65331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B9191-2EAC-843D-288F-8E4720C6A6FF}"/>
              </a:ext>
            </a:extLst>
          </p:cNvPr>
          <p:cNvSpPr>
            <a:spLocks noGrp="1"/>
          </p:cNvSpPr>
          <p:nvPr>
            <p:ph type="title"/>
          </p:nvPr>
        </p:nvSpPr>
        <p:spPr/>
        <p:txBody>
          <a:bodyPr/>
          <a:lstStyle/>
          <a:p>
            <a:r>
              <a:rPr lang="ru-RU" dirty="0"/>
              <a:t>Алгоритм </a:t>
            </a:r>
            <a:r>
              <a:rPr lang="en-US" dirty="0" err="1"/>
              <a:t>transform_reduce</a:t>
            </a:r>
            <a:endParaRPr lang="en-US" dirty="0"/>
          </a:p>
        </p:txBody>
      </p:sp>
      <p:sp>
        <p:nvSpPr>
          <p:cNvPr id="4" name="TextBox 3">
            <a:extLst>
              <a:ext uri="{FF2B5EF4-FFF2-40B4-BE49-F238E27FC236}">
                <a16:creationId xmlns:a16="http://schemas.microsoft.com/office/drawing/2014/main" id="{D431F942-E253-81E9-B7A9-A80A132640F2}"/>
              </a:ext>
            </a:extLst>
          </p:cNvPr>
          <p:cNvSpPr txBox="1"/>
          <p:nvPr/>
        </p:nvSpPr>
        <p:spPr>
          <a:xfrm>
            <a:off x="0" y="1779687"/>
            <a:ext cx="12192000" cy="4524315"/>
          </a:xfrm>
          <a:prstGeom prst="rect">
            <a:avLst/>
          </a:prstGeom>
          <a:noFill/>
        </p:spPr>
        <p:txBody>
          <a:bodyPr wrap="square">
            <a:spAutoFit/>
          </a:bodyPr>
          <a:lstStyle/>
          <a:p>
            <a:pPr>
              <a:buNone/>
            </a:pPr>
            <a:r>
              <a:rPr lang="ru-RU" b="0" dirty="0">
                <a:solidFill>
                  <a:srgbClr val="008000"/>
                </a:solidFill>
                <a:effectLst/>
                <a:latin typeface="Consolas" panose="020B0609020204030204" pitchFamily="49" charset="0"/>
              </a:rPr>
              <a:t>// Трансформирующее редуцирование диапазона, трансформирует операцией *,</a:t>
            </a:r>
            <a:endParaRPr lang="ru-RU" b="0" dirty="0">
              <a:solidFill>
                <a:srgbClr val="000000"/>
              </a:solidFill>
              <a:effectLst/>
              <a:latin typeface="Consolas" panose="020B0609020204030204" pitchFamily="49" charset="0"/>
            </a:endParaRPr>
          </a:p>
          <a:p>
            <a:pPr>
              <a:buNone/>
            </a:pPr>
            <a:r>
              <a:rPr lang="ru-RU" b="0" dirty="0">
                <a:solidFill>
                  <a:srgbClr val="008000"/>
                </a:solidFill>
                <a:effectLst/>
                <a:latin typeface="Consolas" panose="020B0609020204030204" pitchFamily="49" charset="0"/>
              </a:rPr>
              <a:t>//а затем редуцирует результат операцией +.</a:t>
            </a:r>
            <a:endParaRPr lang="ru-RU"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template</a:t>
            </a:r>
            <a:r>
              <a:rPr lang="en-US" b="0" dirty="0">
                <a:solidFill>
                  <a:srgbClr val="000000"/>
                </a:solidFill>
                <a:effectLst/>
                <a:latin typeface="Consolas" panose="020B0609020204030204" pitchFamily="49" charset="0"/>
              </a:rPr>
              <a:t> &lt;</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ForwardIt1</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ForwardIt2</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&gt;</a:t>
            </a:r>
          </a:p>
          <a:p>
            <a:pPr>
              <a:buNone/>
            </a:pP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transform_reduce</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&amp;&amp; </a:t>
            </a:r>
            <a:r>
              <a:rPr lang="en-US" b="0" dirty="0">
                <a:solidFill>
                  <a:srgbClr val="808080"/>
                </a:solidFill>
                <a:effectLst/>
                <a:latin typeface="Consolas" panose="020B0609020204030204" pitchFamily="49" charset="0"/>
              </a:rPr>
              <a:t>policy</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ForwardIt1</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first1</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ForwardIt1</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last1</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ForwardIt2</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first2</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init</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Позволяет указать операции редуцирования и трансформации.</a:t>
            </a:r>
            <a:endParaRPr lang="ru-RU"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template</a:t>
            </a:r>
            <a:r>
              <a:rPr lang="en-US" b="0" dirty="0">
                <a:solidFill>
                  <a:srgbClr val="000000"/>
                </a:solidFill>
                <a:effectLst/>
                <a:latin typeface="Consolas" panose="020B0609020204030204" pitchFamily="49" charset="0"/>
              </a:rPr>
              <a:t> &lt;</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ForwardIt1</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ForwardIt2</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BinaryOp1</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BinaryOp2</a:t>
            </a:r>
            <a:r>
              <a:rPr lang="en-US" b="0" dirty="0">
                <a:solidFill>
                  <a:srgbClr val="000000"/>
                </a:solidFill>
                <a:effectLst/>
                <a:latin typeface="Consolas" panose="020B0609020204030204" pitchFamily="49" charset="0"/>
              </a:rPr>
              <a:t>&gt;</a:t>
            </a:r>
          </a:p>
          <a:p>
            <a:pPr>
              <a:buNone/>
            </a:pP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transform_reduce</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&amp;&amp; </a:t>
            </a:r>
            <a:r>
              <a:rPr lang="en-US" b="0" dirty="0">
                <a:solidFill>
                  <a:srgbClr val="808080"/>
                </a:solidFill>
                <a:effectLst/>
                <a:latin typeface="Consolas" panose="020B0609020204030204" pitchFamily="49" charset="0"/>
              </a:rPr>
              <a:t>policy</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ForwardIt1</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first1</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ForwardIt1</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last1</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ForwardIt2</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first2</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init</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BinaryOp1</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reduce</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BinaryOp2</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transform</a:t>
            </a: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Трансформирует унарной операцией, а затем редуцирует результат бинарной операцией.</a:t>
            </a:r>
            <a:endParaRPr lang="ru-RU"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template</a:t>
            </a:r>
            <a:r>
              <a:rPr lang="en-US" b="0" dirty="0">
                <a:solidFill>
                  <a:srgbClr val="000000"/>
                </a:solidFill>
                <a:effectLst/>
                <a:latin typeface="Consolas" panose="020B0609020204030204" pitchFamily="49" charset="0"/>
              </a:rPr>
              <a:t> &lt;</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BinaryOp</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UnaryOp</a:t>
            </a:r>
            <a:r>
              <a:rPr lang="en-US" b="0" dirty="0">
                <a:solidFill>
                  <a:srgbClr val="000000"/>
                </a:solidFill>
                <a:effectLst/>
                <a:latin typeface="Consolas" panose="020B0609020204030204" pitchFamily="49" charset="0"/>
              </a:rPr>
              <a:t>&gt;</a:t>
            </a:r>
          </a:p>
          <a:p>
            <a:pPr>
              <a:buNone/>
            </a:pP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transform_reduce</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ExecutionPolicy</a:t>
            </a:r>
            <a:r>
              <a:rPr lang="en-US" b="0" dirty="0">
                <a:solidFill>
                  <a:srgbClr val="000000"/>
                </a:solidFill>
                <a:effectLst/>
                <a:latin typeface="Consolas" panose="020B0609020204030204" pitchFamily="49" charset="0"/>
              </a:rPr>
              <a:t>&amp;&amp; </a:t>
            </a:r>
            <a:r>
              <a:rPr lang="en-US" b="0" dirty="0">
                <a:solidFill>
                  <a:srgbClr val="808080"/>
                </a:solidFill>
                <a:effectLst/>
                <a:latin typeface="Consolas" panose="020B0609020204030204" pitchFamily="49" charset="0"/>
              </a:rPr>
              <a:t>policy</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first</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ForwardIt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last</a:t>
            </a:r>
            <a:r>
              <a:rPr lang="en-US" b="0" dirty="0">
                <a:solidFill>
                  <a:srgbClr val="000000"/>
                </a:solidFill>
                <a:effectLst/>
                <a:latin typeface="Consolas" panose="020B0609020204030204" pitchFamily="49" charset="0"/>
              </a:rPr>
              <a:t>, </a:t>
            </a:r>
            <a:r>
              <a:rPr lang="en-US" b="0" dirty="0">
                <a:solidFill>
                  <a:srgbClr val="2B91AF"/>
                </a:solidFill>
                <a:effectLst/>
                <a:latin typeface="Consolas" panose="020B0609020204030204" pitchFamily="49" charset="0"/>
              </a:rPr>
              <a:t>T</a:t>
            </a:r>
            <a:r>
              <a:rPr lang="en-US" b="0" dirty="0">
                <a:solidFill>
                  <a:srgbClr val="000000"/>
                </a:solidFill>
                <a:effectLst/>
                <a:latin typeface="Consolas" panose="020B0609020204030204" pitchFamily="49" charset="0"/>
              </a:rPr>
              <a:t> </a:t>
            </a:r>
            <a:r>
              <a:rPr lang="en-US" b="0" dirty="0" err="1">
                <a:solidFill>
                  <a:srgbClr val="808080"/>
                </a:solidFill>
                <a:effectLst/>
                <a:latin typeface="Consolas" panose="020B0609020204030204" pitchFamily="49" charset="0"/>
              </a:rPr>
              <a:t>init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BinaryOp</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reduce</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UnaryOp</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transform</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187796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66E6F-7317-9509-8BAA-41EC897C3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A6886-3CD3-1F81-ECA1-05C20F0BD076}"/>
              </a:ext>
            </a:extLst>
          </p:cNvPr>
          <p:cNvSpPr>
            <a:spLocks noGrp="1"/>
          </p:cNvSpPr>
          <p:nvPr>
            <p:ph type="title"/>
          </p:nvPr>
        </p:nvSpPr>
        <p:spPr/>
        <p:txBody>
          <a:bodyPr/>
          <a:lstStyle/>
          <a:p>
            <a:r>
              <a:rPr lang="ru-RU" dirty="0"/>
              <a:t>Принцип работы </a:t>
            </a:r>
            <a:r>
              <a:rPr lang="en-US" dirty="0"/>
              <a:t>reduce</a:t>
            </a:r>
          </a:p>
        </p:txBody>
      </p:sp>
      <p:sp>
        <p:nvSpPr>
          <p:cNvPr id="4" name="Rectangle 3">
            <a:extLst>
              <a:ext uri="{FF2B5EF4-FFF2-40B4-BE49-F238E27FC236}">
                <a16:creationId xmlns:a16="http://schemas.microsoft.com/office/drawing/2014/main" id="{A8EF64BB-0561-C6AF-5176-56D632E0BEFE}"/>
              </a:ext>
            </a:extLst>
          </p:cNvPr>
          <p:cNvSpPr/>
          <p:nvPr/>
        </p:nvSpPr>
        <p:spPr>
          <a:xfrm>
            <a:off x="713509" y="1987759"/>
            <a:ext cx="1350818" cy="595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A1</a:t>
            </a:r>
          </a:p>
        </p:txBody>
      </p:sp>
      <p:sp>
        <p:nvSpPr>
          <p:cNvPr id="5" name="Rectangle 4">
            <a:extLst>
              <a:ext uri="{FF2B5EF4-FFF2-40B4-BE49-F238E27FC236}">
                <a16:creationId xmlns:a16="http://schemas.microsoft.com/office/drawing/2014/main" id="{31E609B1-D302-AC50-1ABB-ED85C625722A}"/>
              </a:ext>
            </a:extLst>
          </p:cNvPr>
          <p:cNvSpPr/>
          <p:nvPr/>
        </p:nvSpPr>
        <p:spPr>
          <a:xfrm>
            <a:off x="2064327" y="1987759"/>
            <a:ext cx="1350818" cy="59574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B1</a:t>
            </a:r>
          </a:p>
        </p:txBody>
      </p:sp>
      <p:sp>
        <p:nvSpPr>
          <p:cNvPr id="6" name="Rectangle 5">
            <a:extLst>
              <a:ext uri="{FF2B5EF4-FFF2-40B4-BE49-F238E27FC236}">
                <a16:creationId xmlns:a16="http://schemas.microsoft.com/office/drawing/2014/main" id="{99D3F735-F09D-7640-312B-40B56B9D2501}"/>
              </a:ext>
            </a:extLst>
          </p:cNvPr>
          <p:cNvSpPr/>
          <p:nvPr/>
        </p:nvSpPr>
        <p:spPr>
          <a:xfrm>
            <a:off x="3415145" y="1987759"/>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C1</a:t>
            </a:r>
          </a:p>
        </p:txBody>
      </p:sp>
      <p:sp>
        <p:nvSpPr>
          <p:cNvPr id="7" name="Rectangle 6">
            <a:extLst>
              <a:ext uri="{FF2B5EF4-FFF2-40B4-BE49-F238E27FC236}">
                <a16:creationId xmlns:a16="http://schemas.microsoft.com/office/drawing/2014/main" id="{68FC6DC9-CD74-FF80-5197-7156ECF3F51B}"/>
              </a:ext>
            </a:extLst>
          </p:cNvPr>
          <p:cNvSpPr/>
          <p:nvPr/>
        </p:nvSpPr>
        <p:spPr>
          <a:xfrm>
            <a:off x="4765963" y="1987759"/>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D1</a:t>
            </a:r>
          </a:p>
        </p:txBody>
      </p:sp>
      <p:sp>
        <p:nvSpPr>
          <p:cNvPr id="8" name="Rectangle 7">
            <a:extLst>
              <a:ext uri="{FF2B5EF4-FFF2-40B4-BE49-F238E27FC236}">
                <a16:creationId xmlns:a16="http://schemas.microsoft.com/office/drawing/2014/main" id="{EB846485-F264-8946-B921-F6015148F6DF}"/>
              </a:ext>
            </a:extLst>
          </p:cNvPr>
          <p:cNvSpPr/>
          <p:nvPr/>
        </p:nvSpPr>
        <p:spPr>
          <a:xfrm>
            <a:off x="6116781" y="1987759"/>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E1</a:t>
            </a:r>
          </a:p>
        </p:txBody>
      </p:sp>
      <p:sp>
        <p:nvSpPr>
          <p:cNvPr id="9" name="Rectangle 8">
            <a:extLst>
              <a:ext uri="{FF2B5EF4-FFF2-40B4-BE49-F238E27FC236}">
                <a16:creationId xmlns:a16="http://schemas.microsoft.com/office/drawing/2014/main" id="{7F4FA105-050F-9AC2-A013-B17D06FD941A}"/>
              </a:ext>
            </a:extLst>
          </p:cNvPr>
          <p:cNvSpPr/>
          <p:nvPr/>
        </p:nvSpPr>
        <p:spPr>
          <a:xfrm>
            <a:off x="7467599" y="1987759"/>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F1</a:t>
            </a:r>
          </a:p>
        </p:txBody>
      </p:sp>
      <p:sp>
        <p:nvSpPr>
          <p:cNvPr id="10" name="Rectangle 9">
            <a:extLst>
              <a:ext uri="{FF2B5EF4-FFF2-40B4-BE49-F238E27FC236}">
                <a16:creationId xmlns:a16="http://schemas.microsoft.com/office/drawing/2014/main" id="{A608CA78-62AF-7EFD-6B4C-8F59196FA28F}"/>
              </a:ext>
            </a:extLst>
          </p:cNvPr>
          <p:cNvSpPr/>
          <p:nvPr/>
        </p:nvSpPr>
        <p:spPr>
          <a:xfrm>
            <a:off x="8818417" y="1987759"/>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a:t>
            </a:r>
          </a:p>
        </p:txBody>
      </p:sp>
      <p:sp>
        <p:nvSpPr>
          <p:cNvPr id="11" name="Rectangle 10">
            <a:extLst>
              <a:ext uri="{FF2B5EF4-FFF2-40B4-BE49-F238E27FC236}">
                <a16:creationId xmlns:a16="http://schemas.microsoft.com/office/drawing/2014/main" id="{8D91AB16-5CF2-575F-9AB3-C3A38BB3FC77}"/>
              </a:ext>
            </a:extLst>
          </p:cNvPr>
          <p:cNvSpPr/>
          <p:nvPr/>
        </p:nvSpPr>
        <p:spPr>
          <a:xfrm>
            <a:off x="10169235" y="1987759"/>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H1</a:t>
            </a:r>
          </a:p>
        </p:txBody>
      </p:sp>
      <p:sp>
        <p:nvSpPr>
          <p:cNvPr id="3" name="Rectangle 2">
            <a:extLst>
              <a:ext uri="{FF2B5EF4-FFF2-40B4-BE49-F238E27FC236}">
                <a16:creationId xmlns:a16="http://schemas.microsoft.com/office/drawing/2014/main" id="{603A4772-7469-A4B3-2BF2-26DE672455F7}"/>
              </a:ext>
            </a:extLst>
          </p:cNvPr>
          <p:cNvSpPr/>
          <p:nvPr/>
        </p:nvSpPr>
        <p:spPr>
          <a:xfrm>
            <a:off x="713509" y="2583504"/>
            <a:ext cx="1350818" cy="595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A2</a:t>
            </a:r>
          </a:p>
        </p:txBody>
      </p:sp>
      <p:sp>
        <p:nvSpPr>
          <p:cNvPr id="13" name="Rectangle 12">
            <a:extLst>
              <a:ext uri="{FF2B5EF4-FFF2-40B4-BE49-F238E27FC236}">
                <a16:creationId xmlns:a16="http://schemas.microsoft.com/office/drawing/2014/main" id="{772C4C86-A3C8-39C1-95A9-17EE64283A54}"/>
              </a:ext>
            </a:extLst>
          </p:cNvPr>
          <p:cNvSpPr/>
          <p:nvPr/>
        </p:nvSpPr>
        <p:spPr>
          <a:xfrm>
            <a:off x="2064327" y="2583504"/>
            <a:ext cx="1350818" cy="59574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B2</a:t>
            </a:r>
          </a:p>
        </p:txBody>
      </p:sp>
      <p:sp>
        <p:nvSpPr>
          <p:cNvPr id="14" name="Rectangle 13">
            <a:extLst>
              <a:ext uri="{FF2B5EF4-FFF2-40B4-BE49-F238E27FC236}">
                <a16:creationId xmlns:a16="http://schemas.microsoft.com/office/drawing/2014/main" id="{8A36F2BD-4B86-44F6-97B8-839FFAF1188B}"/>
              </a:ext>
            </a:extLst>
          </p:cNvPr>
          <p:cNvSpPr/>
          <p:nvPr/>
        </p:nvSpPr>
        <p:spPr>
          <a:xfrm>
            <a:off x="3415145" y="2583504"/>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C2</a:t>
            </a:r>
          </a:p>
        </p:txBody>
      </p:sp>
      <p:sp>
        <p:nvSpPr>
          <p:cNvPr id="15" name="Rectangle 14">
            <a:extLst>
              <a:ext uri="{FF2B5EF4-FFF2-40B4-BE49-F238E27FC236}">
                <a16:creationId xmlns:a16="http://schemas.microsoft.com/office/drawing/2014/main" id="{61C93005-A973-350D-D6EC-BA05007DE6C6}"/>
              </a:ext>
            </a:extLst>
          </p:cNvPr>
          <p:cNvSpPr/>
          <p:nvPr/>
        </p:nvSpPr>
        <p:spPr>
          <a:xfrm>
            <a:off x="4765963" y="2583504"/>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D2</a:t>
            </a:r>
          </a:p>
        </p:txBody>
      </p:sp>
      <p:sp>
        <p:nvSpPr>
          <p:cNvPr id="16" name="Rectangle 15">
            <a:extLst>
              <a:ext uri="{FF2B5EF4-FFF2-40B4-BE49-F238E27FC236}">
                <a16:creationId xmlns:a16="http://schemas.microsoft.com/office/drawing/2014/main" id="{98AD4019-33B2-1FD1-A813-C2E7C48AD0B6}"/>
              </a:ext>
            </a:extLst>
          </p:cNvPr>
          <p:cNvSpPr/>
          <p:nvPr/>
        </p:nvSpPr>
        <p:spPr>
          <a:xfrm>
            <a:off x="6116781" y="2583504"/>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E2</a:t>
            </a:r>
          </a:p>
        </p:txBody>
      </p:sp>
      <p:sp>
        <p:nvSpPr>
          <p:cNvPr id="17" name="Rectangle 16">
            <a:extLst>
              <a:ext uri="{FF2B5EF4-FFF2-40B4-BE49-F238E27FC236}">
                <a16:creationId xmlns:a16="http://schemas.microsoft.com/office/drawing/2014/main" id="{E584152A-6076-F97C-DED5-1629B10C2F04}"/>
              </a:ext>
            </a:extLst>
          </p:cNvPr>
          <p:cNvSpPr/>
          <p:nvPr/>
        </p:nvSpPr>
        <p:spPr>
          <a:xfrm>
            <a:off x="7467599" y="2583504"/>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F2</a:t>
            </a:r>
          </a:p>
        </p:txBody>
      </p:sp>
      <p:sp>
        <p:nvSpPr>
          <p:cNvPr id="18" name="Rectangle 17">
            <a:extLst>
              <a:ext uri="{FF2B5EF4-FFF2-40B4-BE49-F238E27FC236}">
                <a16:creationId xmlns:a16="http://schemas.microsoft.com/office/drawing/2014/main" id="{65AB0D75-74C1-E07E-A059-D719AC0D5D88}"/>
              </a:ext>
            </a:extLst>
          </p:cNvPr>
          <p:cNvSpPr/>
          <p:nvPr/>
        </p:nvSpPr>
        <p:spPr>
          <a:xfrm>
            <a:off x="8818417" y="2583504"/>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G2</a:t>
            </a:r>
          </a:p>
        </p:txBody>
      </p:sp>
      <p:sp>
        <p:nvSpPr>
          <p:cNvPr id="19" name="Rectangle 18">
            <a:extLst>
              <a:ext uri="{FF2B5EF4-FFF2-40B4-BE49-F238E27FC236}">
                <a16:creationId xmlns:a16="http://schemas.microsoft.com/office/drawing/2014/main" id="{3B918313-1567-E9D8-1457-B4F1DBD67DE7}"/>
              </a:ext>
            </a:extLst>
          </p:cNvPr>
          <p:cNvSpPr/>
          <p:nvPr/>
        </p:nvSpPr>
        <p:spPr>
          <a:xfrm>
            <a:off x="10169235" y="2583504"/>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H2</a:t>
            </a:r>
          </a:p>
        </p:txBody>
      </p:sp>
      <p:sp>
        <p:nvSpPr>
          <p:cNvPr id="20" name="Rectangle 19">
            <a:extLst>
              <a:ext uri="{FF2B5EF4-FFF2-40B4-BE49-F238E27FC236}">
                <a16:creationId xmlns:a16="http://schemas.microsoft.com/office/drawing/2014/main" id="{BA18D655-6045-32DE-DDC6-B221BA4FD308}"/>
              </a:ext>
            </a:extLst>
          </p:cNvPr>
          <p:cNvSpPr/>
          <p:nvPr/>
        </p:nvSpPr>
        <p:spPr>
          <a:xfrm>
            <a:off x="69272" y="3774994"/>
            <a:ext cx="1350818" cy="595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A1*A2</a:t>
            </a:r>
          </a:p>
        </p:txBody>
      </p:sp>
      <p:sp>
        <p:nvSpPr>
          <p:cNvPr id="28" name="Rectangle 27">
            <a:extLst>
              <a:ext uri="{FF2B5EF4-FFF2-40B4-BE49-F238E27FC236}">
                <a16:creationId xmlns:a16="http://schemas.microsoft.com/office/drawing/2014/main" id="{1840FC93-5388-3E70-D632-01E76FAC3649}"/>
              </a:ext>
            </a:extLst>
          </p:cNvPr>
          <p:cNvSpPr/>
          <p:nvPr/>
        </p:nvSpPr>
        <p:spPr>
          <a:xfrm>
            <a:off x="1873826" y="3774994"/>
            <a:ext cx="1350818" cy="59574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B1*B2</a:t>
            </a:r>
          </a:p>
        </p:txBody>
      </p:sp>
      <p:sp>
        <p:nvSpPr>
          <p:cNvPr id="30" name="Plus Sign 29">
            <a:extLst>
              <a:ext uri="{FF2B5EF4-FFF2-40B4-BE49-F238E27FC236}">
                <a16:creationId xmlns:a16="http://schemas.microsoft.com/office/drawing/2014/main" id="{307521C0-8AC7-99DC-B3A8-D1F39D88D4B6}"/>
              </a:ext>
            </a:extLst>
          </p:cNvPr>
          <p:cNvSpPr/>
          <p:nvPr/>
        </p:nvSpPr>
        <p:spPr>
          <a:xfrm>
            <a:off x="1420090" y="3855739"/>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Plus Sign 38">
            <a:extLst>
              <a:ext uri="{FF2B5EF4-FFF2-40B4-BE49-F238E27FC236}">
                <a16:creationId xmlns:a16="http://schemas.microsoft.com/office/drawing/2014/main" id="{B5116CB2-D0A9-C133-E507-CA21B538201C}"/>
              </a:ext>
            </a:extLst>
          </p:cNvPr>
          <p:cNvSpPr/>
          <p:nvPr/>
        </p:nvSpPr>
        <p:spPr>
          <a:xfrm>
            <a:off x="3269671" y="3855739"/>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7445177-05EF-3C9B-F8EC-C0AD6FAA0098}"/>
              </a:ext>
            </a:extLst>
          </p:cNvPr>
          <p:cNvSpPr/>
          <p:nvPr/>
        </p:nvSpPr>
        <p:spPr>
          <a:xfrm>
            <a:off x="3748952" y="3477121"/>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C1</a:t>
            </a:r>
          </a:p>
        </p:txBody>
      </p:sp>
      <p:sp>
        <p:nvSpPr>
          <p:cNvPr id="55" name="Rectangle 54">
            <a:extLst>
              <a:ext uri="{FF2B5EF4-FFF2-40B4-BE49-F238E27FC236}">
                <a16:creationId xmlns:a16="http://schemas.microsoft.com/office/drawing/2014/main" id="{A3F02C29-3137-E33E-21B9-D2B49F5A6A6C}"/>
              </a:ext>
            </a:extLst>
          </p:cNvPr>
          <p:cNvSpPr/>
          <p:nvPr/>
        </p:nvSpPr>
        <p:spPr>
          <a:xfrm>
            <a:off x="5099770" y="3477121"/>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D1</a:t>
            </a:r>
          </a:p>
        </p:txBody>
      </p:sp>
      <p:sp>
        <p:nvSpPr>
          <p:cNvPr id="56" name="Rectangle 55">
            <a:extLst>
              <a:ext uri="{FF2B5EF4-FFF2-40B4-BE49-F238E27FC236}">
                <a16:creationId xmlns:a16="http://schemas.microsoft.com/office/drawing/2014/main" id="{C1984DDF-91E4-1C29-88BF-587B21AB49BB}"/>
              </a:ext>
            </a:extLst>
          </p:cNvPr>
          <p:cNvSpPr/>
          <p:nvPr/>
        </p:nvSpPr>
        <p:spPr>
          <a:xfrm>
            <a:off x="6450588" y="3477121"/>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E1</a:t>
            </a:r>
          </a:p>
        </p:txBody>
      </p:sp>
      <p:sp>
        <p:nvSpPr>
          <p:cNvPr id="57" name="Rectangle 56">
            <a:extLst>
              <a:ext uri="{FF2B5EF4-FFF2-40B4-BE49-F238E27FC236}">
                <a16:creationId xmlns:a16="http://schemas.microsoft.com/office/drawing/2014/main" id="{49177605-5EE6-0962-4F5B-A871AEA5AC2B}"/>
              </a:ext>
            </a:extLst>
          </p:cNvPr>
          <p:cNvSpPr/>
          <p:nvPr/>
        </p:nvSpPr>
        <p:spPr>
          <a:xfrm>
            <a:off x="7801406" y="3477121"/>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F1</a:t>
            </a:r>
          </a:p>
        </p:txBody>
      </p:sp>
      <p:sp>
        <p:nvSpPr>
          <p:cNvPr id="58" name="Rectangle 57">
            <a:extLst>
              <a:ext uri="{FF2B5EF4-FFF2-40B4-BE49-F238E27FC236}">
                <a16:creationId xmlns:a16="http://schemas.microsoft.com/office/drawing/2014/main" id="{16CFBCC4-89C1-8155-F968-3BBA91E00829}"/>
              </a:ext>
            </a:extLst>
          </p:cNvPr>
          <p:cNvSpPr/>
          <p:nvPr/>
        </p:nvSpPr>
        <p:spPr>
          <a:xfrm>
            <a:off x="9152224" y="3477121"/>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a:t>
            </a:r>
          </a:p>
        </p:txBody>
      </p:sp>
      <p:sp>
        <p:nvSpPr>
          <p:cNvPr id="59" name="Rectangle 58">
            <a:extLst>
              <a:ext uri="{FF2B5EF4-FFF2-40B4-BE49-F238E27FC236}">
                <a16:creationId xmlns:a16="http://schemas.microsoft.com/office/drawing/2014/main" id="{3A6DF000-B970-9F9C-AB55-0767F9D3D48C}"/>
              </a:ext>
            </a:extLst>
          </p:cNvPr>
          <p:cNvSpPr/>
          <p:nvPr/>
        </p:nvSpPr>
        <p:spPr>
          <a:xfrm>
            <a:off x="10503042" y="3477121"/>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H1</a:t>
            </a:r>
          </a:p>
        </p:txBody>
      </p:sp>
      <p:sp>
        <p:nvSpPr>
          <p:cNvPr id="60" name="Rectangle 59">
            <a:extLst>
              <a:ext uri="{FF2B5EF4-FFF2-40B4-BE49-F238E27FC236}">
                <a16:creationId xmlns:a16="http://schemas.microsoft.com/office/drawing/2014/main" id="{13534FF4-5153-ED41-3F3A-F8FCA8A5D46F}"/>
              </a:ext>
            </a:extLst>
          </p:cNvPr>
          <p:cNvSpPr/>
          <p:nvPr/>
        </p:nvSpPr>
        <p:spPr>
          <a:xfrm>
            <a:off x="3748952" y="4072866"/>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C2</a:t>
            </a:r>
          </a:p>
        </p:txBody>
      </p:sp>
      <p:sp>
        <p:nvSpPr>
          <p:cNvPr id="61" name="Rectangle 60">
            <a:extLst>
              <a:ext uri="{FF2B5EF4-FFF2-40B4-BE49-F238E27FC236}">
                <a16:creationId xmlns:a16="http://schemas.microsoft.com/office/drawing/2014/main" id="{EA3B21E0-700A-F3D1-0F4F-186C546C6347}"/>
              </a:ext>
            </a:extLst>
          </p:cNvPr>
          <p:cNvSpPr/>
          <p:nvPr/>
        </p:nvSpPr>
        <p:spPr>
          <a:xfrm>
            <a:off x="5099770" y="4072866"/>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D2</a:t>
            </a:r>
          </a:p>
        </p:txBody>
      </p:sp>
      <p:sp>
        <p:nvSpPr>
          <p:cNvPr id="62" name="Rectangle 61">
            <a:extLst>
              <a:ext uri="{FF2B5EF4-FFF2-40B4-BE49-F238E27FC236}">
                <a16:creationId xmlns:a16="http://schemas.microsoft.com/office/drawing/2014/main" id="{37BFE178-366B-DF33-0F60-0F2F2146B039}"/>
              </a:ext>
            </a:extLst>
          </p:cNvPr>
          <p:cNvSpPr/>
          <p:nvPr/>
        </p:nvSpPr>
        <p:spPr>
          <a:xfrm>
            <a:off x="6450588" y="4072866"/>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E2</a:t>
            </a:r>
          </a:p>
        </p:txBody>
      </p:sp>
      <p:sp>
        <p:nvSpPr>
          <p:cNvPr id="63" name="Rectangle 62">
            <a:extLst>
              <a:ext uri="{FF2B5EF4-FFF2-40B4-BE49-F238E27FC236}">
                <a16:creationId xmlns:a16="http://schemas.microsoft.com/office/drawing/2014/main" id="{218B758F-07FC-DDFC-2648-D88BD23B3384}"/>
              </a:ext>
            </a:extLst>
          </p:cNvPr>
          <p:cNvSpPr/>
          <p:nvPr/>
        </p:nvSpPr>
        <p:spPr>
          <a:xfrm>
            <a:off x="7801406" y="4072866"/>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F2</a:t>
            </a:r>
          </a:p>
        </p:txBody>
      </p:sp>
      <p:sp>
        <p:nvSpPr>
          <p:cNvPr id="64" name="Rectangle 63">
            <a:extLst>
              <a:ext uri="{FF2B5EF4-FFF2-40B4-BE49-F238E27FC236}">
                <a16:creationId xmlns:a16="http://schemas.microsoft.com/office/drawing/2014/main" id="{D0AA779D-1995-29D2-0A81-C3B4121EBE50}"/>
              </a:ext>
            </a:extLst>
          </p:cNvPr>
          <p:cNvSpPr/>
          <p:nvPr/>
        </p:nvSpPr>
        <p:spPr>
          <a:xfrm>
            <a:off x="9152224" y="4072866"/>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G2</a:t>
            </a:r>
          </a:p>
        </p:txBody>
      </p:sp>
      <p:sp>
        <p:nvSpPr>
          <p:cNvPr id="65" name="Rectangle 64">
            <a:extLst>
              <a:ext uri="{FF2B5EF4-FFF2-40B4-BE49-F238E27FC236}">
                <a16:creationId xmlns:a16="http://schemas.microsoft.com/office/drawing/2014/main" id="{A1724DF6-7571-0F07-D30D-80D7814DCACC}"/>
              </a:ext>
            </a:extLst>
          </p:cNvPr>
          <p:cNvSpPr/>
          <p:nvPr/>
        </p:nvSpPr>
        <p:spPr>
          <a:xfrm>
            <a:off x="10503042" y="4072866"/>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H2</a:t>
            </a:r>
          </a:p>
        </p:txBody>
      </p:sp>
      <p:sp>
        <p:nvSpPr>
          <p:cNvPr id="66" name="Rectangle 65">
            <a:extLst>
              <a:ext uri="{FF2B5EF4-FFF2-40B4-BE49-F238E27FC236}">
                <a16:creationId xmlns:a16="http://schemas.microsoft.com/office/drawing/2014/main" id="{679CABAE-1FB9-E10F-03BA-C443EA771C13}"/>
              </a:ext>
            </a:extLst>
          </p:cNvPr>
          <p:cNvSpPr/>
          <p:nvPr/>
        </p:nvSpPr>
        <p:spPr>
          <a:xfrm>
            <a:off x="96982" y="5264356"/>
            <a:ext cx="2064327" cy="595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A1*A2 + B1*B2</a:t>
            </a:r>
          </a:p>
        </p:txBody>
      </p:sp>
      <p:sp>
        <p:nvSpPr>
          <p:cNvPr id="67" name="Plus Sign 66">
            <a:extLst>
              <a:ext uri="{FF2B5EF4-FFF2-40B4-BE49-F238E27FC236}">
                <a16:creationId xmlns:a16="http://schemas.microsoft.com/office/drawing/2014/main" id="{5CA34706-4828-B7D4-52B1-FC8F9EF421ED}"/>
              </a:ext>
            </a:extLst>
          </p:cNvPr>
          <p:cNvSpPr/>
          <p:nvPr/>
        </p:nvSpPr>
        <p:spPr>
          <a:xfrm>
            <a:off x="2161309" y="5345101"/>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9E4DEB0D-80C7-D9D1-B42B-74978EAD931D}"/>
              </a:ext>
            </a:extLst>
          </p:cNvPr>
          <p:cNvSpPr/>
          <p:nvPr/>
        </p:nvSpPr>
        <p:spPr>
          <a:xfrm>
            <a:off x="2619591" y="5264356"/>
            <a:ext cx="1350818" cy="59574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C1*C2</a:t>
            </a:r>
          </a:p>
        </p:txBody>
      </p:sp>
      <p:sp>
        <p:nvSpPr>
          <p:cNvPr id="69" name="Plus Sign 68">
            <a:extLst>
              <a:ext uri="{FF2B5EF4-FFF2-40B4-BE49-F238E27FC236}">
                <a16:creationId xmlns:a16="http://schemas.microsoft.com/office/drawing/2014/main" id="{F658AE99-C9B5-10A9-7B55-6B416837DACE}"/>
              </a:ext>
            </a:extLst>
          </p:cNvPr>
          <p:cNvSpPr/>
          <p:nvPr/>
        </p:nvSpPr>
        <p:spPr>
          <a:xfrm>
            <a:off x="4015436" y="5345101"/>
            <a:ext cx="434254" cy="43425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AAC064C9-3C78-3F61-4FDC-25CF802A093B}"/>
              </a:ext>
            </a:extLst>
          </p:cNvPr>
          <p:cNvSpPr/>
          <p:nvPr/>
        </p:nvSpPr>
        <p:spPr>
          <a:xfrm>
            <a:off x="4501643" y="4966483"/>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D1</a:t>
            </a:r>
          </a:p>
        </p:txBody>
      </p:sp>
      <p:sp>
        <p:nvSpPr>
          <p:cNvPr id="71" name="Rectangle 70">
            <a:extLst>
              <a:ext uri="{FF2B5EF4-FFF2-40B4-BE49-F238E27FC236}">
                <a16:creationId xmlns:a16="http://schemas.microsoft.com/office/drawing/2014/main" id="{8F8AF903-AE66-B1C6-08A0-7E7081BCF14A}"/>
              </a:ext>
            </a:extLst>
          </p:cNvPr>
          <p:cNvSpPr/>
          <p:nvPr/>
        </p:nvSpPr>
        <p:spPr>
          <a:xfrm>
            <a:off x="5852461" y="4966483"/>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E1</a:t>
            </a:r>
          </a:p>
        </p:txBody>
      </p:sp>
      <p:sp>
        <p:nvSpPr>
          <p:cNvPr id="72" name="Rectangle 71">
            <a:extLst>
              <a:ext uri="{FF2B5EF4-FFF2-40B4-BE49-F238E27FC236}">
                <a16:creationId xmlns:a16="http://schemas.microsoft.com/office/drawing/2014/main" id="{38412774-AEE2-6415-42CA-DBF9933DE17E}"/>
              </a:ext>
            </a:extLst>
          </p:cNvPr>
          <p:cNvSpPr/>
          <p:nvPr/>
        </p:nvSpPr>
        <p:spPr>
          <a:xfrm>
            <a:off x="7203279" y="4966483"/>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F1</a:t>
            </a:r>
          </a:p>
        </p:txBody>
      </p:sp>
      <p:sp>
        <p:nvSpPr>
          <p:cNvPr id="73" name="Rectangle 72">
            <a:extLst>
              <a:ext uri="{FF2B5EF4-FFF2-40B4-BE49-F238E27FC236}">
                <a16:creationId xmlns:a16="http://schemas.microsoft.com/office/drawing/2014/main" id="{29E6A236-691F-1013-B10B-668E0F24BADA}"/>
              </a:ext>
            </a:extLst>
          </p:cNvPr>
          <p:cNvSpPr/>
          <p:nvPr/>
        </p:nvSpPr>
        <p:spPr>
          <a:xfrm>
            <a:off x="8554097" y="4966483"/>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a:t>
            </a:r>
          </a:p>
        </p:txBody>
      </p:sp>
      <p:sp>
        <p:nvSpPr>
          <p:cNvPr id="74" name="Rectangle 73">
            <a:extLst>
              <a:ext uri="{FF2B5EF4-FFF2-40B4-BE49-F238E27FC236}">
                <a16:creationId xmlns:a16="http://schemas.microsoft.com/office/drawing/2014/main" id="{8FAD22F0-7E5B-6588-F545-670499BD487C}"/>
              </a:ext>
            </a:extLst>
          </p:cNvPr>
          <p:cNvSpPr/>
          <p:nvPr/>
        </p:nvSpPr>
        <p:spPr>
          <a:xfrm>
            <a:off x="9904915" y="4966483"/>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H1</a:t>
            </a:r>
          </a:p>
        </p:txBody>
      </p:sp>
      <p:sp>
        <p:nvSpPr>
          <p:cNvPr id="75" name="Rectangle 74">
            <a:extLst>
              <a:ext uri="{FF2B5EF4-FFF2-40B4-BE49-F238E27FC236}">
                <a16:creationId xmlns:a16="http://schemas.microsoft.com/office/drawing/2014/main" id="{827635D1-69C8-2329-0482-D327233B1DF6}"/>
              </a:ext>
            </a:extLst>
          </p:cNvPr>
          <p:cNvSpPr/>
          <p:nvPr/>
        </p:nvSpPr>
        <p:spPr>
          <a:xfrm>
            <a:off x="4501643" y="5562228"/>
            <a:ext cx="1350818" cy="59574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D2</a:t>
            </a:r>
          </a:p>
        </p:txBody>
      </p:sp>
      <p:sp>
        <p:nvSpPr>
          <p:cNvPr id="76" name="Rectangle 75">
            <a:extLst>
              <a:ext uri="{FF2B5EF4-FFF2-40B4-BE49-F238E27FC236}">
                <a16:creationId xmlns:a16="http://schemas.microsoft.com/office/drawing/2014/main" id="{579F74F0-3EA9-F57A-846B-31B53730880F}"/>
              </a:ext>
            </a:extLst>
          </p:cNvPr>
          <p:cNvSpPr/>
          <p:nvPr/>
        </p:nvSpPr>
        <p:spPr>
          <a:xfrm>
            <a:off x="5852461" y="5562228"/>
            <a:ext cx="1350818" cy="59574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E2</a:t>
            </a:r>
          </a:p>
        </p:txBody>
      </p:sp>
      <p:sp>
        <p:nvSpPr>
          <p:cNvPr id="77" name="Rectangle 76">
            <a:extLst>
              <a:ext uri="{FF2B5EF4-FFF2-40B4-BE49-F238E27FC236}">
                <a16:creationId xmlns:a16="http://schemas.microsoft.com/office/drawing/2014/main" id="{BDCC687C-6CF0-E8F7-A0EC-5CCE5EEC9D86}"/>
              </a:ext>
            </a:extLst>
          </p:cNvPr>
          <p:cNvSpPr/>
          <p:nvPr/>
        </p:nvSpPr>
        <p:spPr>
          <a:xfrm>
            <a:off x="7203279" y="5562228"/>
            <a:ext cx="1350818" cy="5957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F2</a:t>
            </a:r>
          </a:p>
        </p:txBody>
      </p:sp>
      <p:sp>
        <p:nvSpPr>
          <p:cNvPr id="78" name="Rectangle 77">
            <a:extLst>
              <a:ext uri="{FF2B5EF4-FFF2-40B4-BE49-F238E27FC236}">
                <a16:creationId xmlns:a16="http://schemas.microsoft.com/office/drawing/2014/main" id="{04587E3F-0CC4-D2B3-00E0-437F711A2AF1}"/>
              </a:ext>
            </a:extLst>
          </p:cNvPr>
          <p:cNvSpPr/>
          <p:nvPr/>
        </p:nvSpPr>
        <p:spPr>
          <a:xfrm>
            <a:off x="8554097" y="5562228"/>
            <a:ext cx="1350818" cy="5957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G2</a:t>
            </a:r>
          </a:p>
        </p:txBody>
      </p:sp>
      <p:sp>
        <p:nvSpPr>
          <p:cNvPr id="79" name="Rectangle 78">
            <a:extLst>
              <a:ext uri="{FF2B5EF4-FFF2-40B4-BE49-F238E27FC236}">
                <a16:creationId xmlns:a16="http://schemas.microsoft.com/office/drawing/2014/main" id="{820D08E1-E7D9-08B7-D777-82015D42EF9D}"/>
              </a:ext>
            </a:extLst>
          </p:cNvPr>
          <p:cNvSpPr/>
          <p:nvPr/>
        </p:nvSpPr>
        <p:spPr>
          <a:xfrm>
            <a:off x="9904915" y="5562228"/>
            <a:ext cx="1350818" cy="5957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H2</a:t>
            </a:r>
          </a:p>
        </p:txBody>
      </p:sp>
      <p:sp>
        <p:nvSpPr>
          <p:cNvPr id="80" name="TextBox 79">
            <a:extLst>
              <a:ext uri="{FF2B5EF4-FFF2-40B4-BE49-F238E27FC236}">
                <a16:creationId xmlns:a16="http://schemas.microsoft.com/office/drawing/2014/main" id="{A5B51039-7857-8CD6-56C9-1F0E283BFBB3}"/>
              </a:ext>
            </a:extLst>
          </p:cNvPr>
          <p:cNvSpPr txBox="1"/>
          <p:nvPr/>
        </p:nvSpPr>
        <p:spPr>
          <a:xfrm>
            <a:off x="4995862" y="6308209"/>
            <a:ext cx="2200275" cy="369332"/>
          </a:xfrm>
          <a:prstGeom prst="rect">
            <a:avLst/>
          </a:prstGeom>
          <a:noFill/>
        </p:spPr>
        <p:txBody>
          <a:bodyPr wrap="square" rtlCol="0">
            <a:spAutoFit/>
          </a:bodyPr>
          <a:lstStyle/>
          <a:p>
            <a:pPr algn="ctr"/>
            <a:r>
              <a:rPr lang="en-US" dirty="0"/>
              <a:t>…</a:t>
            </a:r>
          </a:p>
        </p:txBody>
      </p:sp>
    </p:spTree>
    <p:extLst>
      <p:ext uri="{BB962C8B-B14F-4D97-AF65-F5344CB8AC3E}">
        <p14:creationId xmlns:p14="http://schemas.microsoft.com/office/powerpoint/2010/main" val="2175674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B5331-DB9C-0FB5-285B-8B5F4CC08E34}"/>
              </a:ext>
            </a:extLst>
          </p:cNvPr>
          <p:cNvSpPr>
            <a:spLocks noGrp="1"/>
          </p:cNvSpPr>
          <p:nvPr>
            <p:ph type="title"/>
          </p:nvPr>
        </p:nvSpPr>
        <p:spPr/>
        <p:txBody>
          <a:bodyPr/>
          <a:lstStyle/>
          <a:p>
            <a:r>
              <a:rPr lang="ru-RU" dirty="0"/>
              <a:t>Скалярное произведение векторов</a:t>
            </a:r>
            <a:r>
              <a:rPr lang="en-US" dirty="0"/>
              <a:t> </a:t>
            </a:r>
            <a:r>
              <a:rPr lang="ru-RU" dirty="0"/>
              <a:t>типа </a:t>
            </a:r>
            <a:r>
              <a:rPr lang="en-US" dirty="0"/>
              <a:t>double</a:t>
            </a:r>
          </a:p>
        </p:txBody>
      </p:sp>
      <p:sp>
        <p:nvSpPr>
          <p:cNvPr id="4" name="TextBox 3">
            <a:extLst>
              <a:ext uri="{FF2B5EF4-FFF2-40B4-BE49-F238E27FC236}">
                <a16:creationId xmlns:a16="http://schemas.microsoft.com/office/drawing/2014/main" id="{AFC672C7-2A32-80D9-2552-2B03DF7162D1}"/>
              </a:ext>
            </a:extLst>
          </p:cNvPr>
          <p:cNvSpPr txBox="1"/>
          <p:nvPr/>
        </p:nvSpPr>
        <p:spPr>
          <a:xfrm>
            <a:off x="0" y="1690688"/>
            <a:ext cx="12192001" cy="3323987"/>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DotProductFor</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b</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a:t>
            </a:r>
            <a:r>
              <a:rPr lang="en-US" sz="1400" b="0" dirty="0" err="1">
                <a:solidFill>
                  <a:srgbClr val="808080"/>
                </a:solidFill>
                <a:effectLst/>
                <a:latin typeface="Consolas" panose="020B0609020204030204" pitchFamily="49" charset="0"/>
              </a:rPr>
              <a:t>a</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size</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a</a:t>
            </a:r>
            <a:r>
              <a:rPr lang="en-US" sz="1400" b="0" dirty="0">
                <a:solidFill>
                  <a:srgbClr val="000000"/>
                </a:solidFill>
                <a:effectLst/>
                <a:latin typeface="Consolas" panose="020B0609020204030204" pitchFamily="49" charset="0"/>
              </a:rPr>
              <a:t>[</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result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template</a:t>
            </a:r>
            <a:r>
              <a:rPr lang="en-US" sz="1400" b="0" dirty="0">
                <a:solidFill>
                  <a:srgbClr val="000000"/>
                </a:solidFill>
                <a:effectLst/>
                <a:latin typeface="Consolas" panose="020B0609020204030204" pitchFamily="49" charset="0"/>
              </a:rPr>
              <a:t> &lt;</a:t>
            </a:r>
            <a:r>
              <a:rPr lang="en-US" sz="1400" b="0" dirty="0">
                <a:solidFill>
                  <a:srgbClr val="0000FF"/>
                </a:solidFill>
                <a:effectLst/>
                <a:latin typeface="Consolas" panose="020B0609020204030204" pitchFamily="49" charset="0"/>
              </a:rPr>
              <a:t>class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ExecutionPolicy</a:t>
            </a:r>
            <a:r>
              <a:rPr lang="en-US" sz="1400" b="0" dirty="0">
                <a:solidFill>
                  <a:srgbClr val="000000"/>
                </a:solidFill>
                <a:effectLst/>
                <a:latin typeface="Consolas" panose="020B0609020204030204" pitchFamily="49" charset="0"/>
              </a:rPr>
              <a:t>&gt;</a:t>
            </a:r>
          </a:p>
          <a:p>
            <a:pPr>
              <a:buNone/>
            </a:pP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DotProductImpl</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ExecutionPolicy</a:t>
            </a:r>
            <a:r>
              <a:rPr lang="en-US" sz="1400" b="0" dirty="0">
                <a:solidFill>
                  <a:srgbClr val="000000"/>
                </a:solidFill>
                <a:effectLst/>
                <a:latin typeface="Consolas" panose="020B0609020204030204" pitchFamily="49" charset="0"/>
              </a:rPr>
              <a:t>&amp;&amp; </a:t>
            </a:r>
            <a:r>
              <a:rPr lang="en-US" sz="1400" dirty="0">
                <a:solidFill>
                  <a:srgbClr val="808080"/>
                </a:solidFill>
                <a:latin typeface="Consolas" panose="020B0609020204030204" pitchFamily="49" charset="0"/>
              </a:rPr>
              <a:t>p</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std::</a:t>
            </a:r>
            <a:r>
              <a:rPr lang="en-US" sz="1400" b="0" dirty="0" err="1">
                <a:solidFill>
                  <a:srgbClr val="74531F"/>
                </a:solidFill>
                <a:effectLst/>
                <a:latin typeface="Consolas" panose="020B0609020204030204" pitchFamily="49" charset="0"/>
              </a:rPr>
              <a:t>transform_reduce</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p</a:t>
            </a:r>
            <a:r>
              <a:rPr lang="en-US" sz="1400" b="0" dirty="0">
                <a:solidFill>
                  <a:srgbClr val="000000"/>
                </a:solidFill>
                <a:effectLst/>
                <a:latin typeface="Consolas" panose="020B0609020204030204" pitchFamily="49" charset="0"/>
              </a:rPr>
              <a:t>, </a:t>
            </a:r>
            <a:r>
              <a:rPr lang="en-US" sz="1400" b="0" dirty="0" err="1">
                <a:solidFill>
                  <a:srgbClr val="808080"/>
                </a:solidFill>
                <a:effectLst/>
                <a:latin typeface="Consolas" panose="020B0609020204030204" pitchFamily="49" charset="0"/>
              </a:rPr>
              <a:t>a</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err="1">
                <a:solidFill>
                  <a:srgbClr val="808080"/>
                </a:solidFill>
                <a:effectLst/>
                <a:latin typeface="Consolas" panose="020B0609020204030204" pitchFamily="49" charset="0"/>
              </a:rPr>
              <a:t>a</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a:t>
            </a:r>
            <a:r>
              <a:rPr lang="en-US" sz="1400" b="0" dirty="0" err="1">
                <a:solidFill>
                  <a:srgbClr val="808080"/>
                </a:solidFill>
                <a:effectLst/>
                <a:latin typeface="Consolas" panose="020B0609020204030204" pitchFamily="49" charset="0"/>
              </a:rPr>
              <a:t>b</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0.0</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plus</a:t>
            </a:r>
            <a:r>
              <a:rPr lang="en-US" sz="1400" b="0" dirty="0">
                <a:solidFill>
                  <a:srgbClr val="000000"/>
                </a:solidFill>
                <a:effectLst/>
                <a:latin typeface="Consolas" panose="020B0609020204030204" pitchFamily="49" charset="0"/>
              </a:rPr>
              <a:t>&lt;&gt;(), std::</a:t>
            </a:r>
            <a:r>
              <a:rPr lang="en-US" sz="1400" b="0" dirty="0">
                <a:solidFill>
                  <a:srgbClr val="2B91AF"/>
                </a:solidFill>
                <a:effectLst/>
                <a:latin typeface="Consolas" panose="020B0609020204030204" pitchFamily="49" charset="0"/>
              </a:rPr>
              <a:t>multiplies</a:t>
            </a:r>
            <a:r>
              <a:rPr lang="en-US" sz="1400" b="0" dirty="0">
                <a:solidFill>
                  <a:srgbClr val="000000"/>
                </a:solidFill>
                <a:effectLst/>
                <a:latin typeface="Consolas" panose="020B0609020204030204" pitchFamily="49" charset="0"/>
              </a:rPr>
              <a:t>&lt;&gt;());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DotProductSeq</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b</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DotProductImpl</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b</a:t>
            </a:r>
            <a:r>
              <a:rPr lang="en-US" sz="1400" b="0" dirty="0">
                <a:solidFill>
                  <a:srgbClr val="000000"/>
                </a:solidFill>
                <a:effectLst/>
                <a:latin typeface="Consolas" panose="020B0609020204030204" pitchFamily="49" charset="0"/>
              </a:rPr>
              <a:t>, std::execution::seq);</a:t>
            </a:r>
          </a:p>
          <a:p>
            <a:pPr>
              <a:buNone/>
            </a:pPr>
            <a:r>
              <a:rPr lang="en-US" sz="1400" b="0" dirty="0">
                <a:solidFill>
                  <a:srgbClr val="000000"/>
                </a:solidFill>
                <a:effectLst/>
                <a:latin typeface="Consolas" panose="020B0609020204030204" pitchFamily="49" charset="0"/>
              </a:rPr>
              <a:t>}</a:t>
            </a:r>
          </a:p>
          <a:p>
            <a:r>
              <a:rPr lang="ru-RU" sz="1400" dirty="0">
                <a:solidFill>
                  <a:srgbClr val="008000"/>
                </a:solidFill>
                <a:latin typeface="Consolas" panose="020B0609020204030204" pitchFamily="49" charset="0"/>
              </a:rPr>
              <a:t>// Функции </a:t>
            </a:r>
            <a:r>
              <a:rPr lang="ru-RU" sz="1400" dirty="0" err="1">
                <a:solidFill>
                  <a:srgbClr val="008000"/>
                </a:solidFill>
                <a:latin typeface="Consolas" panose="020B0609020204030204" pitchFamily="49" charset="0"/>
              </a:rPr>
              <a:t>DotProductPar</a:t>
            </a:r>
            <a:r>
              <a:rPr lang="ru-RU" sz="1400" dirty="0">
                <a:solidFill>
                  <a:srgbClr val="008000"/>
                </a:solidFill>
                <a:latin typeface="Consolas" panose="020B0609020204030204" pitchFamily="49" charset="0"/>
              </a:rPr>
              <a:t>, </a:t>
            </a:r>
            <a:r>
              <a:rPr lang="ru-RU" sz="1400" dirty="0" err="1">
                <a:solidFill>
                  <a:srgbClr val="008000"/>
                </a:solidFill>
                <a:latin typeface="Consolas" panose="020B0609020204030204" pitchFamily="49" charset="0"/>
              </a:rPr>
              <a:t>DotProductUnseq</a:t>
            </a:r>
            <a:r>
              <a:rPr lang="ru-RU" sz="1400" dirty="0">
                <a:solidFill>
                  <a:srgbClr val="008000"/>
                </a:solidFill>
                <a:latin typeface="Consolas" panose="020B0609020204030204" pitchFamily="49" charset="0"/>
              </a:rPr>
              <a:t> и </a:t>
            </a:r>
            <a:r>
              <a:rPr lang="ru-RU" sz="1400" dirty="0" err="1">
                <a:solidFill>
                  <a:srgbClr val="008000"/>
                </a:solidFill>
                <a:latin typeface="Consolas" panose="020B0609020204030204" pitchFamily="49" charset="0"/>
              </a:rPr>
              <a:t>DotProductParUnseq</a:t>
            </a:r>
            <a:r>
              <a:rPr lang="ru-RU" sz="1400" dirty="0">
                <a:solidFill>
                  <a:srgbClr val="008000"/>
                </a:solidFill>
                <a:latin typeface="Consolas" panose="020B0609020204030204" pitchFamily="49" charset="0"/>
              </a:rPr>
              <a:t> устроены аналогично</a:t>
            </a:r>
            <a:endParaRPr lang="ru-RU" sz="140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86ECA296-F7A9-A17F-118B-8DD0CF0F6FC4}"/>
              </a:ext>
            </a:extLst>
          </p:cNvPr>
          <p:cNvSpPr txBox="1"/>
          <p:nvPr/>
        </p:nvSpPr>
        <p:spPr>
          <a:xfrm>
            <a:off x="0" y="5014675"/>
            <a:ext cx="10270671" cy="1384995"/>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100'000'000</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1.5</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100'000'000</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2.0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for</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DotProductFor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seq</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DotProductSeq</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par</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DotProductPar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unseq</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DotProductUnseq</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par_unseq</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DotProductParUnseq</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3DD84FD3-FD54-49F2-F5CF-BB1B53F08155}"/>
              </a:ext>
            </a:extLst>
          </p:cNvPr>
          <p:cNvSpPr txBox="1"/>
          <p:nvPr/>
        </p:nvSpPr>
        <p:spPr>
          <a:xfrm>
            <a:off x="8060871" y="2026809"/>
            <a:ext cx="3978729" cy="116955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dirty="0">
                <a:latin typeface="Consolas" panose="020B0609020204030204" pitchFamily="49" charset="0"/>
              </a:rPr>
              <a:t>for took 63583400ns (0.0635834s)</a:t>
            </a:r>
          </a:p>
          <a:p>
            <a:r>
              <a:rPr lang="en-US" sz="1400" dirty="0">
                <a:latin typeface="Consolas" panose="020B0609020204030204" pitchFamily="49" charset="0"/>
              </a:rPr>
              <a:t>seq took 52136800ns (0.0521368s)</a:t>
            </a:r>
          </a:p>
          <a:p>
            <a:r>
              <a:rPr lang="en-US" sz="1400" dirty="0">
                <a:latin typeface="Consolas" panose="020B0609020204030204" pitchFamily="49" charset="0"/>
              </a:rPr>
              <a:t>par took 26274200ns (0.0262742s)</a:t>
            </a:r>
          </a:p>
          <a:p>
            <a:r>
              <a:rPr lang="en-US" sz="1400" dirty="0" err="1">
                <a:latin typeface="Consolas" panose="020B0609020204030204" pitchFamily="49" charset="0"/>
              </a:rPr>
              <a:t>unseq</a:t>
            </a:r>
            <a:r>
              <a:rPr lang="en-US" sz="1400" dirty="0">
                <a:latin typeface="Consolas" panose="020B0609020204030204" pitchFamily="49" charset="0"/>
              </a:rPr>
              <a:t> took 54048000ns (0.054048s)</a:t>
            </a:r>
          </a:p>
          <a:p>
            <a:r>
              <a:rPr lang="en-US" sz="1400" dirty="0" err="1">
                <a:latin typeface="Consolas" panose="020B0609020204030204" pitchFamily="49" charset="0"/>
              </a:rPr>
              <a:t>par_unseq</a:t>
            </a:r>
            <a:r>
              <a:rPr lang="en-US" sz="1400" dirty="0">
                <a:latin typeface="Consolas" panose="020B0609020204030204" pitchFamily="49" charset="0"/>
              </a:rPr>
              <a:t> took 25669200ns (0.0256692s)</a:t>
            </a:r>
          </a:p>
        </p:txBody>
      </p:sp>
    </p:spTree>
    <p:extLst>
      <p:ext uri="{BB962C8B-B14F-4D97-AF65-F5344CB8AC3E}">
        <p14:creationId xmlns:p14="http://schemas.microsoft.com/office/powerpoint/2010/main" val="2639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500"/>
                                        <p:tgtEl>
                                          <p:spTgt spid="4">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7" end="7"/>
                                            </p:txEl>
                                          </p:spTgt>
                                        </p:tgtEl>
                                        <p:attrNameLst>
                                          <p:attrName>style.visibility</p:attrName>
                                        </p:attrNameLst>
                                      </p:cBhvr>
                                      <p:to>
                                        <p:strVal val="visible"/>
                                      </p:to>
                                    </p:set>
                                    <p:animEffect transition="in" filter="fade">
                                      <p:cBhvr>
                                        <p:cTn id="10" dur="500"/>
                                        <p:tgtEl>
                                          <p:spTgt spid="4">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animEffect transition="in" filter="fade">
                                      <p:cBhvr>
                                        <p:cTn id="13" dur="500"/>
                                        <p:tgtEl>
                                          <p:spTgt spid="4">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9" end="9"/>
                                            </p:txEl>
                                          </p:spTgt>
                                        </p:tgtEl>
                                        <p:attrNameLst>
                                          <p:attrName>style.visibility</p:attrName>
                                        </p:attrNameLst>
                                      </p:cBhvr>
                                      <p:to>
                                        <p:strVal val="visible"/>
                                      </p:to>
                                    </p:set>
                                    <p:animEffect transition="in" filter="fade">
                                      <p:cBhvr>
                                        <p:cTn id="16" dur="500"/>
                                        <p:tgtEl>
                                          <p:spTgt spid="4">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animEffect transition="in" filter="fade">
                                      <p:cBhvr>
                                        <p:cTn id="19" dur="500"/>
                                        <p:tgtEl>
                                          <p:spTgt spid="4">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2" end="12"/>
                                            </p:txEl>
                                          </p:spTgt>
                                        </p:tgtEl>
                                        <p:attrNameLst>
                                          <p:attrName>style.visibility</p:attrName>
                                        </p:attrNameLst>
                                      </p:cBhvr>
                                      <p:to>
                                        <p:strVal val="visible"/>
                                      </p:to>
                                    </p:set>
                                    <p:animEffect transition="in" filter="fade">
                                      <p:cBhvr>
                                        <p:cTn id="22" dur="500"/>
                                        <p:tgtEl>
                                          <p:spTgt spid="4">
                                            <p:txEl>
                                              <p:pRg st="12" end="1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animEffect transition="in" filter="fade">
                                      <p:cBhvr>
                                        <p:cTn id="25" dur="500"/>
                                        <p:tgtEl>
                                          <p:spTgt spid="4">
                                            <p:txEl>
                                              <p:pRg st="13" end="1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4" end="14"/>
                                            </p:txEl>
                                          </p:spTgt>
                                        </p:tgtEl>
                                        <p:attrNameLst>
                                          <p:attrName>style.visibility</p:attrName>
                                        </p:attrNameLst>
                                      </p:cBhvr>
                                      <p:to>
                                        <p:strVal val="visible"/>
                                      </p:to>
                                    </p:set>
                                    <p:animEffect transition="in" filter="fade">
                                      <p:cBhvr>
                                        <p:cTn id="28" dur="500"/>
                                        <p:tgtEl>
                                          <p:spTgt spid="4">
                                            <p:txEl>
                                              <p:pRg st="14" end="1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fade">
                                      <p:cBhvr>
                                        <p:cTn id="33" dur="500"/>
                                        <p:tgtEl>
                                          <p:spTgt spid="10">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xEl>
                                              <p:pRg st="1" end="1"/>
                                            </p:txEl>
                                          </p:spTgt>
                                        </p:tgtEl>
                                        <p:attrNameLst>
                                          <p:attrName>style.visibility</p:attrName>
                                        </p:attrNameLst>
                                      </p:cBhvr>
                                      <p:to>
                                        <p:strVal val="visible"/>
                                      </p:to>
                                    </p:set>
                                    <p:animEffect transition="in" filter="fade">
                                      <p:cBhvr>
                                        <p:cTn id="36" dur="500"/>
                                        <p:tgtEl>
                                          <p:spTgt spid="10">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animEffect transition="in" filter="fade">
                                      <p:cBhvr>
                                        <p:cTn id="39" dur="500"/>
                                        <p:tgtEl>
                                          <p:spTgt spid="10">
                                            <p:txEl>
                                              <p:pRg st="2" end="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500"/>
                                        <p:tgtEl>
                                          <p:spTgt spid="10">
                                            <p:txEl>
                                              <p:pRg st="3" end="3"/>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0">
                                            <p:txEl>
                                              <p:pRg st="4" end="4"/>
                                            </p:txEl>
                                          </p:spTgt>
                                        </p:tgtEl>
                                        <p:attrNameLst>
                                          <p:attrName>style.visibility</p:attrName>
                                        </p:attrNameLst>
                                      </p:cBhvr>
                                      <p:to>
                                        <p:strVal val="visible"/>
                                      </p:to>
                                    </p:set>
                                    <p:animEffect transition="in" filter="fade">
                                      <p:cBhvr>
                                        <p:cTn id="45" dur="500"/>
                                        <p:tgtEl>
                                          <p:spTgt spid="10">
                                            <p:txEl>
                                              <p:pRg st="4" end="4"/>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
                                            <p:txEl>
                                              <p:pRg st="5" end="5"/>
                                            </p:txEl>
                                          </p:spTgt>
                                        </p:tgtEl>
                                        <p:attrNameLst>
                                          <p:attrName>style.visibility</p:attrName>
                                        </p:attrNameLst>
                                      </p:cBhvr>
                                      <p:to>
                                        <p:strVal val="visible"/>
                                      </p:to>
                                    </p:set>
                                    <p:animEffect transition="in" filter="fade">
                                      <p:cBhvr>
                                        <p:cTn id="48" dur="500"/>
                                        <p:tgtEl>
                                          <p:spTgt spid="10">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AF775-29E7-B6AE-74E2-60D039801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4B2ED-8CA4-D1D2-F47B-EEF3D983ABD0}"/>
              </a:ext>
            </a:extLst>
          </p:cNvPr>
          <p:cNvSpPr>
            <a:spLocks noGrp="1"/>
          </p:cNvSpPr>
          <p:nvPr>
            <p:ph type="title"/>
          </p:nvPr>
        </p:nvSpPr>
        <p:spPr/>
        <p:txBody>
          <a:bodyPr/>
          <a:lstStyle/>
          <a:p>
            <a:r>
              <a:rPr lang="ru-RU" dirty="0"/>
              <a:t>Скалярное произведение векторов</a:t>
            </a:r>
            <a:r>
              <a:rPr lang="en-US" dirty="0"/>
              <a:t> </a:t>
            </a:r>
            <a:r>
              <a:rPr lang="ru-RU" dirty="0"/>
              <a:t>типа </a:t>
            </a:r>
            <a:r>
              <a:rPr lang="en-US" dirty="0"/>
              <a:t>uint32_t</a:t>
            </a:r>
          </a:p>
        </p:txBody>
      </p:sp>
      <p:sp>
        <p:nvSpPr>
          <p:cNvPr id="4" name="TextBox 3">
            <a:extLst>
              <a:ext uri="{FF2B5EF4-FFF2-40B4-BE49-F238E27FC236}">
                <a16:creationId xmlns:a16="http://schemas.microsoft.com/office/drawing/2014/main" id="{6A1865EB-36F4-D580-A5DA-AD00B45C1079}"/>
              </a:ext>
            </a:extLst>
          </p:cNvPr>
          <p:cNvSpPr txBox="1"/>
          <p:nvPr/>
        </p:nvSpPr>
        <p:spPr>
          <a:xfrm>
            <a:off x="0" y="1690688"/>
            <a:ext cx="12192001" cy="3539430"/>
          </a:xfrm>
          <a:prstGeom prst="rect">
            <a:avLst/>
          </a:prstGeom>
          <a:noFill/>
        </p:spPr>
        <p:txBody>
          <a:bodyPr wrap="square">
            <a:spAutoFit/>
          </a:bodyPr>
          <a:lstStyle/>
          <a:p>
            <a:pPr>
              <a:buNone/>
            </a:pP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 </a:t>
            </a:r>
            <a:r>
              <a:rPr lang="en-US" sz="1400" dirty="0" err="1">
                <a:solidFill>
                  <a:srgbClr val="74531F"/>
                </a:solidFill>
                <a:latin typeface="Consolas" panose="020B0609020204030204" pitchFamily="49" charset="0"/>
              </a:rPr>
              <a:t>DotProductFor</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const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vector</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uint32_t</a:t>
            </a:r>
            <a:r>
              <a:rPr lang="en-US" sz="1400" dirty="0">
                <a:solidFill>
                  <a:srgbClr val="000000"/>
                </a:solidFill>
                <a:latin typeface="Consolas" panose="020B0609020204030204" pitchFamily="49" charset="0"/>
              </a:rPr>
              <a:t>&gt;&amp; </a:t>
            </a:r>
            <a:r>
              <a:rPr lang="en-US" sz="1400" dirty="0">
                <a:solidFill>
                  <a:srgbClr val="808080"/>
                </a:solidFill>
                <a:latin typeface="Consolas" panose="020B0609020204030204" pitchFamily="49" charset="0"/>
              </a:rPr>
              <a:t>a</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const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vector</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uint32_t</a:t>
            </a:r>
            <a:r>
              <a:rPr lang="en-US" sz="1400" dirty="0">
                <a:solidFill>
                  <a:srgbClr val="000000"/>
                </a:solidFill>
                <a:latin typeface="Consolas" panose="020B0609020204030204" pitchFamily="49" charset="0"/>
              </a:rPr>
              <a:t>&gt;&amp; </a:t>
            </a:r>
            <a:r>
              <a:rPr lang="en-US" sz="1400" dirty="0">
                <a:solidFill>
                  <a:srgbClr val="808080"/>
                </a:solidFill>
                <a:latin typeface="Consolas" panose="020B0609020204030204" pitchFamily="49" charset="0"/>
              </a:rPr>
              <a:t>b</a:t>
            </a:r>
            <a:r>
              <a:rPr lang="en-US" sz="1400" dirty="0">
                <a:solidFill>
                  <a:srgbClr val="000000"/>
                </a:solidFill>
                <a:latin typeface="Consolas" panose="020B0609020204030204" pitchFamily="49" charset="0"/>
              </a:rPr>
              <a:t>) {</a:t>
            </a:r>
          </a:p>
          <a:p>
            <a:pPr>
              <a:buNone/>
            </a:pPr>
            <a:r>
              <a:rPr lang="en-US" sz="1400" dirty="0">
                <a:solidFill>
                  <a:srgbClr val="000000"/>
                </a:solidFill>
                <a:latin typeface="Consolas" panose="020B0609020204030204" pitchFamily="49" charset="0"/>
              </a:rPr>
              <a:t>    </a:t>
            </a: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 </a:t>
            </a:r>
            <a:r>
              <a:rPr lang="en-US" sz="1400" dirty="0">
                <a:solidFill>
                  <a:srgbClr val="1F377F"/>
                </a:solidFill>
                <a:latin typeface="Consolas" panose="020B0609020204030204" pitchFamily="49" charset="0"/>
              </a:rPr>
              <a:t>result</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p>
          <a:p>
            <a:pPr>
              <a:buNone/>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for</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size_t</a:t>
            </a:r>
            <a:r>
              <a:rPr lang="en-US" sz="1400" dirty="0">
                <a:solidFill>
                  <a:srgbClr val="000000"/>
                </a:solidFill>
                <a:latin typeface="Consolas" panose="020B0609020204030204" pitchFamily="49" charset="0"/>
              </a:rPr>
              <a:t> </a:t>
            </a:r>
            <a:r>
              <a:rPr lang="en-US" sz="1400" dirty="0" err="1">
                <a:solidFill>
                  <a:srgbClr val="1F377F"/>
                </a:solidFill>
                <a:latin typeface="Consolas" panose="020B0609020204030204" pitchFamily="49" charset="0"/>
              </a:rPr>
              <a:t>i</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err="1">
                <a:solidFill>
                  <a:srgbClr val="1F377F"/>
                </a:solidFill>
                <a:latin typeface="Consolas" panose="020B0609020204030204" pitchFamily="49" charset="0"/>
              </a:rPr>
              <a:t>i</a:t>
            </a:r>
            <a:r>
              <a:rPr lang="en-US" sz="1400" dirty="0">
                <a:solidFill>
                  <a:srgbClr val="000000"/>
                </a:solidFill>
                <a:latin typeface="Consolas" panose="020B0609020204030204" pitchFamily="49" charset="0"/>
              </a:rPr>
              <a:t> &lt; </a:t>
            </a:r>
            <a:r>
              <a:rPr lang="en-US" sz="1400" dirty="0" err="1">
                <a:solidFill>
                  <a:srgbClr val="808080"/>
                </a:solidFill>
                <a:latin typeface="Consolas" panose="020B0609020204030204" pitchFamily="49" charset="0"/>
              </a:rPr>
              <a:t>a</a:t>
            </a:r>
            <a:r>
              <a:rPr lang="en-US" sz="1400" dirty="0" err="1">
                <a:solidFill>
                  <a:srgbClr val="000000"/>
                </a:solidFill>
                <a:latin typeface="Consolas" panose="020B0609020204030204" pitchFamily="49" charset="0"/>
              </a:rPr>
              <a:t>.</a:t>
            </a:r>
            <a:r>
              <a:rPr lang="en-US" sz="1400" dirty="0" err="1">
                <a:solidFill>
                  <a:srgbClr val="74531F"/>
                </a:solidFill>
                <a:latin typeface="Consolas" panose="020B0609020204030204" pitchFamily="49" charset="0"/>
              </a:rPr>
              <a:t>size</a:t>
            </a:r>
            <a:r>
              <a:rPr lang="en-US" sz="1400" dirty="0">
                <a:solidFill>
                  <a:srgbClr val="000000"/>
                </a:solidFill>
                <a:latin typeface="Consolas" panose="020B0609020204030204" pitchFamily="49" charset="0"/>
              </a:rPr>
              <a:t>(); ++</a:t>
            </a:r>
            <a:r>
              <a:rPr lang="en-US" sz="1400" dirty="0" err="1">
                <a:solidFill>
                  <a:srgbClr val="1F377F"/>
                </a:solidFill>
                <a:latin typeface="Consolas" panose="020B0609020204030204" pitchFamily="49" charset="0"/>
              </a:rPr>
              <a:t>i</a:t>
            </a:r>
            <a:r>
              <a:rPr lang="en-US" sz="1400" dirty="0">
                <a:solidFill>
                  <a:srgbClr val="000000"/>
                </a:solidFill>
                <a:latin typeface="Consolas" panose="020B0609020204030204" pitchFamily="49" charset="0"/>
              </a:rPr>
              <a:t>) { </a:t>
            </a:r>
            <a:r>
              <a:rPr lang="en-US" sz="1400" dirty="0">
                <a:solidFill>
                  <a:srgbClr val="1F377F"/>
                </a:solidFill>
                <a:latin typeface="Consolas" panose="020B0609020204030204" pitchFamily="49" charset="0"/>
              </a:rPr>
              <a:t>result</a:t>
            </a:r>
            <a:r>
              <a:rPr lang="en-US" sz="1400" dirty="0">
                <a:solidFill>
                  <a:srgbClr val="000000"/>
                </a:solidFill>
                <a:latin typeface="Consolas" panose="020B0609020204030204" pitchFamily="49" charset="0"/>
              </a:rPr>
              <a:t> += </a:t>
            </a: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a</a:t>
            </a:r>
            <a:r>
              <a:rPr lang="en-US" sz="1400" dirty="0">
                <a:solidFill>
                  <a:srgbClr val="000000"/>
                </a:solidFill>
                <a:latin typeface="Consolas" panose="020B0609020204030204" pitchFamily="49" charset="0"/>
              </a:rPr>
              <a:t>[</a:t>
            </a:r>
            <a:r>
              <a:rPr lang="en-US" sz="1400" dirty="0" err="1">
                <a:solidFill>
                  <a:srgbClr val="1F377F"/>
                </a:solidFill>
                <a:latin typeface="Consolas" panose="020B0609020204030204" pitchFamily="49" charset="0"/>
              </a:rPr>
              <a:t>i</a:t>
            </a:r>
            <a:r>
              <a:rPr lang="en-US" sz="1400" dirty="0">
                <a:solidFill>
                  <a:srgbClr val="000000"/>
                </a:solidFill>
                <a:latin typeface="Consolas" panose="020B0609020204030204" pitchFamily="49" charset="0"/>
              </a:rPr>
              <a:t>] } * </a:t>
            </a:r>
            <a:r>
              <a:rPr lang="en-US" sz="1400" dirty="0">
                <a:solidFill>
                  <a:srgbClr val="808080"/>
                </a:solidFill>
                <a:latin typeface="Consolas" panose="020B0609020204030204" pitchFamily="49" charset="0"/>
              </a:rPr>
              <a:t>b</a:t>
            </a:r>
            <a:r>
              <a:rPr lang="en-US" sz="1400" dirty="0">
                <a:solidFill>
                  <a:srgbClr val="000000"/>
                </a:solidFill>
                <a:latin typeface="Consolas" panose="020B0609020204030204" pitchFamily="49" charset="0"/>
              </a:rPr>
              <a:t>[</a:t>
            </a:r>
            <a:r>
              <a:rPr lang="en-US" sz="1400" dirty="0" err="1">
                <a:solidFill>
                  <a:srgbClr val="1F377F"/>
                </a:solidFill>
                <a:latin typeface="Consolas" panose="020B0609020204030204" pitchFamily="49" charset="0"/>
              </a:rPr>
              <a:t>i</a:t>
            </a:r>
            <a:r>
              <a:rPr lang="en-US" sz="1400" dirty="0">
                <a:solidFill>
                  <a:srgbClr val="000000"/>
                </a:solidFill>
                <a:latin typeface="Consolas" panose="020B0609020204030204" pitchFamily="49" charset="0"/>
              </a:rPr>
              <a:t>]; }</a:t>
            </a:r>
          </a:p>
          <a:p>
            <a:pPr>
              <a:buNone/>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1F377F"/>
                </a:solidFill>
                <a:latin typeface="Consolas" panose="020B0609020204030204" pitchFamily="49" charset="0"/>
              </a:rPr>
              <a:t>result</a:t>
            </a:r>
            <a:r>
              <a:rPr lang="en-US" sz="1400" dirty="0">
                <a:solidFill>
                  <a:srgbClr val="000000"/>
                </a:solidFill>
                <a:latin typeface="Consolas" panose="020B0609020204030204" pitchFamily="49" charset="0"/>
              </a:rPr>
              <a:t>;</a:t>
            </a:r>
          </a:p>
          <a:p>
            <a:pPr>
              <a:buNone/>
            </a:pP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endParaRPr lang="en-US" sz="1400" dirty="0">
              <a:solidFill>
                <a:srgbClr val="000000"/>
              </a:solidFill>
              <a:latin typeface="Consolas" panose="020B0609020204030204" pitchFamily="49" charset="0"/>
            </a:endParaRPr>
          </a:p>
          <a:p>
            <a:pPr>
              <a:buNone/>
            </a:pPr>
            <a:r>
              <a:rPr lang="en-US" sz="1400" dirty="0">
                <a:solidFill>
                  <a:srgbClr val="0000FF"/>
                </a:solidFill>
                <a:latin typeface="Consolas" panose="020B0609020204030204" pitchFamily="49" charset="0"/>
              </a:rPr>
              <a:t>template</a:t>
            </a:r>
            <a:r>
              <a:rPr lang="en-US" sz="1400" dirty="0">
                <a:solidFill>
                  <a:srgbClr val="000000"/>
                </a:solidFill>
                <a:latin typeface="Consolas" panose="020B0609020204030204" pitchFamily="49" charset="0"/>
              </a:rPr>
              <a:t> &lt;</a:t>
            </a:r>
            <a:r>
              <a:rPr lang="en-US" sz="1400" dirty="0">
                <a:solidFill>
                  <a:srgbClr val="0000FF"/>
                </a:solidFill>
                <a:latin typeface="Consolas" panose="020B0609020204030204" pitchFamily="49" charset="0"/>
              </a:rPr>
              <a:t>class</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ExecutionPolicy</a:t>
            </a:r>
            <a:r>
              <a:rPr lang="en-US" sz="1400" dirty="0">
                <a:solidFill>
                  <a:srgbClr val="000000"/>
                </a:solidFill>
                <a:latin typeface="Consolas" panose="020B0609020204030204" pitchFamily="49" charset="0"/>
              </a:rPr>
              <a:t>&gt;</a:t>
            </a:r>
          </a:p>
          <a:p>
            <a:pPr>
              <a:buNone/>
            </a:pP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 </a:t>
            </a:r>
            <a:r>
              <a:rPr lang="en-US" sz="1400" dirty="0" err="1">
                <a:solidFill>
                  <a:srgbClr val="74531F"/>
                </a:solidFill>
                <a:latin typeface="Consolas" panose="020B0609020204030204" pitchFamily="49" charset="0"/>
              </a:rPr>
              <a:t>DotProductImpl</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const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vector</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uint32_t</a:t>
            </a:r>
            <a:r>
              <a:rPr lang="en-US" sz="1400" dirty="0">
                <a:solidFill>
                  <a:srgbClr val="000000"/>
                </a:solidFill>
                <a:latin typeface="Consolas" panose="020B0609020204030204" pitchFamily="49" charset="0"/>
              </a:rPr>
              <a:t>&gt;&amp; </a:t>
            </a:r>
            <a:r>
              <a:rPr lang="en-US" sz="1400" dirty="0">
                <a:solidFill>
                  <a:srgbClr val="808080"/>
                </a:solidFill>
                <a:latin typeface="Consolas" panose="020B0609020204030204" pitchFamily="49" charset="0"/>
              </a:rPr>
              <a:t>a</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const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vector</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uint32_t</a:t>
            </a:r>
            <a:r>
              <a:rPr lang="en-US" sz="1400" dirty="0">
                <a:solidFill>
                  <a:srgbClr val="000000"/>
                </a:solidFill>
                <a:latin typeface="Consolas" panose="020B0609020204030204" pitchFamily="49" charset="0"/>
              </a:rPr>
              <a:t>&gt;&amp; </a:t>
            </a:r>
            <a:r>
              <a:rPr lang="en-US" sz="1400" dirty="0">
                <a:solidFill>
                  <a:srgbClr val="808080"/>
                </a:solidFill>
                <a:latin typeface="Consolas" panose="020B0609020204030204" pitchFamily="49" charset="0"/>
              </a:rPr>
              <a:t>b</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ExecutionPolicy</a:t>
            </a:r>
            <a:r>
              <a:rPr lang="en-US" sz="1400" dirty="0">
                <a:solidFill>
                  <a:srgbClr val="000000"/>
                </a:solidFill>
                <a:latin typeface="Consolas" panose="020B0609020204030204" pitchFamily="49" charset="0"/>
              </a:rPr>
              <a:t>&amp;&amp; </a:t>
            </a:r>
            <a:r>
              <a:rPr lang="en-US" sz="1400" dirty="0">
                <a:solidFill>
                  <a:srgbClr val="808080"/>
                </a:solidFill>
                <a:latin typeface="Consolas" panose="020B0609020204030204" pitchFamily="49" charset="0"/>
              </a:rPr>
              <a:t>p</a:t>
            </a:r>
            <a:r>
              <a:rPr lang="en-US" sz="1400" dirty="0">
                <a:solidFill>
                  <a:srgbClr val="000000"/>
                </a:solidFill>
                <a:latin typeface="Consolas" panose="020B0609020204030204" pitchFamily="49" charset="0"/>
              </a:rPr>
              <a:t>) {</a:t>
            </a:r>
          </a:p>
          <a:p>
            <a:pPr>
              <a:buNone/>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return</a:t>
            </a:r>
            <a:r>
              <a:rPr lang="en-US" sz="1400" dirty="0">
                <a:solidFill>
                  <a:srgbClr val="000000"/>
                </a:solidFill>
                <a:latin typeface="Consolas" panose="020B0609020204030204" pitchFamily="49" charset="0"/>
              </a:rPr>
              <a:t> std::</a:t>
            </a:r>
            <a:r>
              <a:rPr lang="en-US" sz="1400" dirty="0" err="1">
                <a:solidFill>
                  <a:srgbClr val="74531F"/>
                </a:solidFill>
                <a:latin typeface="Consolas" panose="020B0609020204030204" pitchFamily="49" charset="0"/>
              </a:rPr>
              <a:t>transform_reduce</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p</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a</a:t>
            </a:r>
            <a:r>
              <a:rPr lang="en-US" sz="1400" dirty="0" err="1">
                <a:solidFill>
                  <a:srgbClr val="000000"/>
                </a:solidFill>
                <a:latin typeface="Consolas" panose="020B0609020204030204" pitchFamily="49" charset="0"/>
              </a:rPr>
              <a:t>.</a:t>
            </a:r>
            <a:r>
              <a:rPr lang="en-US" sz="1400" dirty="0" err="1">
                <a:solidFill>
                  <a:srgbClr val="74531F"/>
                </a:solidFill>
                <a:latin typeface="Consolas" panose="020B0609020204030204" pitchFamily="49" charset="0"/>
              </a:rPr>
              <a:t>begin</a:t>
            </a: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a</a:t>
            </a:r>
            <a:r>
              <a:rPr lang="en-US" sz="1400" dirty="0" err="1">
                <a:solidFill>
                  <a:srgbClr val="000000"/>
                </a:solidFill>
                <a:latin typeface="Consolas" panose="020B0609020204030204" pitchFamily="49" charset="0"/>
              </a:rPr>
              <a:t>.</a:t>
            </a:r>
            <a:r>
              <a:rPr lang="en-US" sz="1400" dirty="0" err="1">
                <a:solidFill>
                  <a:srgbClr val="74531F"/>
                </a:solidFill>
                <a:latin typeface="Consolas" panose="020B0609020204030204" pitchFamily="49" charset="0"/>
              </a:rPr>
              <a:t>end</a:t>
            </a:r>
            <a:r>
              <a:rPr lang="en-US" sz="1400" dirty="0">
                <a:solidFill>
                  <a:srgbClr val="000000"/>
                </a:solidFill>
                <a:latin typeface="Consolas" panose="020B0609020204030204" pitchFamily="49" charset="0"/>
              </a:rPr>
              <a:t>(), </a:t>
            </a:r>
          </a:p>
          <a:p>
            <a:pPr>
              <a:buNone/>
            </a:pPr>
            <a:r>
              <a:rPr lang="en-US" sz="1400" dirty="0">
                <a:solidFill>
                  <a:srgbClr val="000000"/>
                </a:solidFill>
                <a:latin typeface="Consolas" panose="020B0609020204030204" pitchFamily="49" charset="0"/>
              </a:rPr>
              <a:t>        </a:t>
            </a:r>
            <a:r>
              <a:rPr lang="en-US" sz="1400" dirty="0" err="1">
                <a:solidFill>
                  <a:srgbClr val="808080"/>
                </a:solidFill>
                <a:latin typeface="Consolas" panose="020B0609020204030204" pitchFamily="49" charset="0"/>
              </a:rPr>
              <a:t>b</a:t>
            </a:r>
            <a:r>
              <a:rPr lang="en-US" sz="1400" dirty="0" err="1">
                <a:solidFill>
                  <a:srgbClr val="000000"/>
                </a:solidFill>
                <a:latin typeface="Consolas" panose="020B0609020204030204" pitchFamily="49" charset="0"/>
              </a:rPr>
              <a:t>.</a:t>
            </a:r>
            <a:r>
              <a:rPr lang="en-US" sz="1400" dirty="0" err="1">
                <a:solidFill>
                  <a:srgbClr val="74531F"/>
                </a:solidFill>
                <a:latin typeface="Consolas" panose="020B0609020204030204" pitchFamily="49" charset="0"/>
              </a:rPr>
              <a:t>begin</a:t>
            </a:r>
            <a:r>
              <a:rPr lang="en-US" sz="1400" dirty="0">
                <a:solidFill>
                  <a:srgbClr val="000000"/>
                </a:solidFill>
                <a:latin typeface="Consolas" panose="020B0609020204030204" pitchFamily="49" charset="0"/>
              </a:rPr>
              <a:t>(), </a:t>
            </a: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plus</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&gt;(), std::</a:t>
            </a:r>
            <a:r>
              <a:rPr lang="en-US" sz="1400" dirty="0">
                <a:solidFill>
                  <a:srgbClr val="2B91AF"/>
                </a:solidFill>
                <a:latin typeface="Consolas" panose="020B0609020204030204" pitchFamily="49" charset="0"/>
              </a:rPr>
              <a:t>multiplies</a:t>
            </a:r>
            <a:r>
              <a:rPr lang="en-US" sz="1400" dirty="0">
                <a:solidFill>
                  <a:srgbClr val="000000"/>
                </a:solidFill>
                <a:latin typeface="Consolas" panose="020B0609020204030204" pitchFamily="49" charset="0"/>
              </a:rPr>
              <a:t>&lt;&gt;());</a:t>
            </a:r>
          </a:p>
          <a:p>
            <a:pPr>
              <a:buNone/>
            </a:pPr>
            <a:r>
              <a:rPr lang="en-US" sz="1400" dirty="0">
                <a:solidFill>
                  <a:srgbClr val="000000"/>
                </a:solidFill>
                <a:latin typeface="Consolas" panose="020B0609020204030204" pitchFamily="49" charset="0"/>
              </a:rPr>
              <a:t>}</a:t>
            </a:r>
          </a:p>
          <a:p>
            <a:pPr>
              <a:buNone/>
            </a:pPr>
            <a:endParaRPr lang="en-US" sz="1400" dirty="0">
              <a:solidFill>
                <a:srgbClr val="000000"/>
              </a:solidFill>
              <a:latin typeface="Consolas" panose="020B0609020204030204" pitchFamily="49" charset="0"/>
            </a:endParaRPr>
          </a:p>
          <a:p>
            <a:pPr>
              <a:buNone/>
            </a:pPr>
            <a:r>
              <a:rPr lang="en-US" sz="1400" dirty="0">
                <a:solidFill>
                  <a:srgbClr val="2B91AF"/>
                </a:solidFill>
                <a:latin typeface="Consolas" panose="020B0609020204030204" pitchFamily="49" charset="0"/>
              </a:rPr>
              <a:t>uint64_t</a:t>
            </a:r>
            <a:r>
              <a:rPr lang="en-US" sz="1400" dirty="0">
                <a:solidFill>
                  <a:srgbClr val="000000"/>
                </a:solidFill>
                <a:latin typeface="Consolas" panose="020B0609020204030204" pitchFamily="49" charset="0"/>
              </a:rPr>
              <a:t> </a:t>
            </a:r>
            <a:r>
              <a:rPr lang="en-US" sz="1400" dirty="0" err="1">
                <a:solidFill>
                  <a:srgbClr val="74531F"/>
                </a:solidFill>
                <a:latin typeface="Consolas" panose="020B0609020204030204" pitchFamily="49" charset="0"/>
              </a:rPr>
              <a:t>DotProductSeq</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const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vector</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uint32_t</a:t>
            </a:r>
            <a:r>
              <a:rPr lang="en-US" sz="1400" dirty="0">
                <a:solidFill>
                  <a:srgbClr val="000000"/>
                </a:solidFill>
                <a:latin typeface="Consolas" panose="020B0609020204030204" pitchFamily="49" charset="0"/>
              </a:rPr>
              <a:t>&gt;&amp; </a:t>
            </a:r>
            <a:r>
              <a:rPr lang="en-US" sz="1400" dirty="0">
                <a:solidFill>
                  <a:srgbClr val="808080"/>
                </a:solidFill>
                <a:latin typeface="Consolas" panose="020B0609020204030204" pitchFamily="49" charset="0"/>
              </a:rPr>
              <a:t>a</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const</a:t>
            </a:r>
            <a:r>
              <a:rPr lang="en-US" sz="1400" dirty="0">
                <a:solidFill>
                  <a:srgbClr val="000000"/>
                </a:solidFill>
                <a:latin typeface="Consolas" panose="020B0609020204030204" pitchFamily="49" charset="0"/>
              </a:rPr>
              <a:t> std::</a:t>
            </a:r>
            <a:r>
              <a:rPr lang="en-US" sz="1400" dirty="0">
                <a:solidFill>
                  <a:srgbClr val="2B91AF"/>
                </a:solidFill>
                <a:latin typeface="Consolas" panose="020B0609020204030204" pitchFamily="49" charset="0"/>
              </a:rPr>
              <a:t>vector</a:t>
            </a:r>
            <a:r>
              <a:rPr lang="en-US" sz="1400" dirty="0">
                <a:solidFill>
                  <a:srgbClr val="000000"/>
                </a:solidFill>
                <a:latin typeface="Consolas" panose="020B0609020204030204" pitchFamily="49" charset="0"/>
              </a:rPr>
              <a:t>&lt;</a:t>
            </a:r>
            <a:r>
              <a:rPr lang="en-US" sz="1400" dirty="0">
                <a:solidFill>
                  <a:srgbClr val="2B91AF"/>
                </a:solidFill>
                <a:latin typeface="Consolas" panose="020B0609020204030204" pitchFamily="49" charset="0"/>
              </a:rPr>
              <a:t>uint32_t</a:t>
            </a:r>
            <a:r>
              <a:rPr lang="en-US" sz="1400" dirty="0">
                <a:solidFill>
                  <a:srgbClr val="000000"/>
                </a:solidFill>
                <a:latin typeface="Consolas" panose="020B0609020204030204" pitchFamily="49" charset="0"/>
              </a:rPr>
              <a:t>&gt;&amp; </a:t>
            </a:r>
            <a:r>
              <a:rPr lang="en-US" sz="1400" dirty="0">
                <a:solidFill>
                  <a:srgbClr val="808080"/>
                </a:solidFill>
                <a:latin typeface="Consolas" panose="020B0609020204030204" pitchFamily="49" charset="0"/>
              </a:rPr>
              <a:t>b</a:t>
            </a:r>
            <a:r>
              <a:rPr lang="en-US" sz="1400" dirty="0">
                <a:solidFill>
                  <a:srgbClr val="000000"/>
                </a:solidFill>
                <a:latin typeface="Consolas" panose="020B0609020204030204" pitchFamily="49" charset="0"/>
              </a:rPr>
              <a:t>) {</a:t>
            </a:r>
          </a:p>
          <a:p>
            <a:pPr>
              <a:buNone/>
            </a:pPr>
            <a:r>
              <a:rPr lang="en-US" sz="1400" dirty="0">
                <a:solidFill>
                  <a:srgbClr val="000000"/>
                </a:solidFill>
                <a:latin typeface="Consolas" panose="020B0609020204030204" pitchFamily="49" charset="0"/>
              </a:rPr>
              <a:t>    </a:t>
            </a:r>
            <a:r>
              <a:rPr lang="en-US" sz="1400" dirty="0">
                <a:solidFill>
                  <a:srgbClr val="8F08C4"/>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err="1">
                <a:solidFill>
                  <a:srgbClr val="74531F"/>
                </a:solidFill>
                <a:latin typeface="Consolas" panose="020B0609020204030204" pitchFamily="49" charset="0"/>
              </a:rPr>
              <a:t>DotProductImpl</a:t>
            </a:r>
            <a:r>
              <a:rPr lang="en-US" sz="1400" dirty="0">
                <a:solidFill>
                  <a:srgbClr val="000000"/>
                </a:solidFill>
                <a:latin typeface="Consolas" panose="020B0609020204030204" pitchFamily="49" charset="0"/>
              </a:rPr>
              <a:t>(</a:t>
            </a:r>
            <a:r>
              <a:rPr lang="en-US" sz="1400" dirty="0">
                <a:solidFill>
                  <a:srgbClr val="808080"/>
                </a:solidFill>
                <a:latin typeface="Consolas" panose="020B0609020204030204" pitchFamily="49" charset="0"/>
              </a:rPr>
              <a:t>a</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b</a:t>
            </a:r>
            <a:r>
              <a:rPr lang="en-US" sz="1400" dirty="0">
                <a:solidFill>
                  <a:srgbClr val="000000"/>
                </a:solidFill>
                <a:latin typeface="Consolas" panose="020B0609020204030204" pitchFamily="49" charset="0"/>
              </a:rPr>
              <a:t>, std::execution::seq);</a:t>
            </a:r>
          </a:p>
          <a:p>
            <a:pPr>
              <a:buNone/>
            </a:pPr>
            <a:r>
              <a:rPr lang="en-US" sz="1400" dirty="0">
                <a:solidFill>
                  <a:srgbClr val="000000"/>
                </a:solidFill>
                <a:latin typeface="Consolas" panose="020B0609020204030204" pitchFamily="49" charset="0"/>
              </a:rPr>
              <a:t>}</a:t>
            </a:r>
          </a:p>
          <a:p>
            <a:r>
              <a:rPr lang="ru-RU" sz="1400" dirty="0">
                <a:solidFill>
                  <a:srgbClr val="008000"/>
                </a:solidFill>
                <a:latin typeface="Consolas" panose="020B0609020204030204" pitchFamily="49" charset="0"/>
              </a:rPr>
              <a:t>// Функции </a:t>
            </a:r>
            <a:r>
              <a:rPr lang="ru-RU" sz="1400" dirty="0" err="1">
                <a:solidFill>
                  <a:srgbClr val="008000"/>
                </a:solidFill>
                <a:latin typeface="Consolas" panose="020B0609020204030204" pitchFamily="49" charset="0"/>
              </a:rPr>
              <a:t>DotProductPar</a:t>
            </a:r>
            <a:r>
              <a:rPr lang="ru-RU" sz="1400" dirty="0">
                <a:solidFill>
                  <a:srgbClr val="008000"/>
                </a:solidFill>
                <a:latin typeface="Consolas" panose="020B0609020204030204" pitchFamily="49" charset="0"/>
              </a:rPr>
              <a:t>, </a:t>
            </a:r>
            <a:r>
              <a:rPr lang="ru-RU" sz="1400" dirty="0" err="1">
                <a:solidFill>
                  <a:srgbClr val="008000"/>
                </a:solidFill>
                <a:latin typeface="Consolas" panose="020B0609020204030204" pitchFamily="49" charset="0"/>
              </a:rPr>
              <a:t>DotProductUnseq</a:t>
            </a:r>
            <a:r>
              <a:rPr lang="ru-RU" sz="1400" dirty="0">
                <a:solidFill>
                  <a:srgbClr val="008000"/>
                </a:solidFill>
                <a:latin typeface="Consolas" panose="020B0609020204030204" pitchFamily="49" charset="0"/>
              </a:rPr>
              <a:t> и </a:t>
            </a:r>
            <a:r>
              <a:rPr lang="ru-RU" sz="1400" dirty="0" err="1">
                <a:solidFill>
                  <a:srgbClr val="008000"/>
                </a:solidFill>
                <a:latin typeface="Consolas" panose="020B0609020204030204" pitchFamily="49" charset="0"/>
              </a:rPr>
              <a:t>DotProductParUnseq</a:t>
            </a:r>
            <a:r>
              <a:rPr lang="ru-RU" sz="1400" dirty="0">
                <a:solidFill>
                  <a:srgbClr val="008000"/>
                </a:solidFill>
                <a:latin typeface="Consolas" panose="020B0609020204030204" pitchFamily="49" charset="0"/>
              </a:rPr>
              <a:t> устроены аналогично</a:t>
            </a:r>
            <a:endParaRPr lang="ru-RU" sz="140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7DC11F14-2696-5BB8-22D3-9F8FE4EAC2FB}"/>
              </a:ext>
            </a:extLst>
          </p:cNvPr>
          <p:cNvSpPr txBox="1"/>
          <p:nvPr/>
        </p:nvSpPr>
        <p:spPr>
          <a:xfrm>
            <a:off x="0" y="5386130"/>
            <a:ext cx="10270671" cy="1384995"/>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uint32_t</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100'000'000</a:t>
            </a:r>
            <a:r>
              <a:rPr lang="en-US" sz="1400" b="0" dirty="0">
                <a:solidFill>
                  <a:srgbClr val="000000"/>
                </a:solidFill>
                <a:effectLst/>
                <a:latin typeface="Consolas" panose="020B0609020204030204" pitchFamily="49" charset="0"/>
              </a:rPr>
              <a:t>, </a:t>
            </a:r>
            <a:r>
              <a:rPr lang="en-US" sz="1400" dirty="0">
                <a:solidFill>
                  <a:srgbClr val="098658"/>
                </a:solidFill>
                <a:latin typeface="Consolas" panose="020B0609020204030204" pitchFamily="49" charset="0"/>
              </a:rPr>
              <a:t>2u</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100'000'000</a:t>
            </a:r>
            <a:r>
              <a:rPr lang="en-US" sz="1400" b="0" dirty="0">
                <a:solidFill>
                  <a:srgbClr val="000000"/>
                </a:solidFill>
                <a:effectLst/>
                <a:latin typeface="Consolas" panose="020B0609020204030204" pitchFamily="49" charset="0"/>
              </a:rPr>
              <a:t>, </a:t>
            </a:r>
            <a:r>
              <a:rPr lang="en-US" sz="1400" dirty="0">
                <a:solidFill>
                  <a:srgbClr val="098658"/>
                </a:solidFill>
                <a:latin typeface="Consolas" panose="020B0609020204030204" pitchFamily="49" charset="0"/>
              </a:rPr>
              <a:t>3u</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for</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DotProductFor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seq</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DotProductSeq</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par</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DotProductPar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unseq</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DotProductUnseq</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err="1">
                <a:solidFill>
                  <a:srgbClr val="A31515"/>
                </a:solidFill>
                <a:effectLst/>
                <a:latin typeface="Consolas" panose="020B0609020204030204" pitchFamily="49" charset="0"/>
              </a:rPr>
              <a:t>par_unseq</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DotProductParUnseq</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266BB3C7-275B-F0A1-8E14-02EC19EABD2E}"/>
              </a:ext>
            </a:extLst>
          </p:cNvPr>
          <p:cNvSpPr txBox="1"/>
          <p:nvPr/>
        </p:nvSpPr>
        <p:spPr>
          <a:xfrm>
            <a:off x="8160327" y="2012955"/>
            <a:ext cx="4031674" cy="116955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dirty="0">
                <a:latin typeface="Consolas" panose="020B0609020204030204" pitchFamily="49" charset="0"/>
              </a:rPr>
              <a:t>for took 37273100ns (0.0372731s)</a:t>
            </a:r>
          </a:p>
          <a:p>
            <a:r>
              <a:rPr lang="en-US" sz="1400" dirty="0">
                <a:latin typeface="Consolas" panose="020B0609020204030204" pitchFamily="49" charset="0"/>
              </a:rPr>
              <a:t>seq took 37912900ns (0.0379129s)</a:t>
            </a:r>
          </a:p>
          <a:p>
            <a:r>
              <a:rPr lang="en-US" sz="1400" dirty="0">
                <a:latin typeface="Consolas" panose="020B0609020204030204" pitchFamily="49" charset="0"/>
              </a:rPr>
              <a:t>par took 16835600ns (0.0168356s)</a:t>
            </a:r>
          </a:p>
          <a:p>
            <a:r>
              <a:rPr lang="en-US" sz="1400" dirty="0" err="1">
                <a:latin typeface="Consolas" panose="020B0609020204030204" pitchFamily="49" charset="0"/>
              </a:rPr>
              <a:t>unseq</a:t>
            </a:r>
            <a:r>
              <a:rPr lang="en-US" sz="1400" dirty="0">
                <a:latin typeface="Consolas" panose="020B0609020204030204" pitchFamily="49" charset="0"/>
              </a:rPr>
              <a:t> took 35019200ns (0.0350192s)</a:t>
            </a:r>
          </a:p>
          <a:p>
            <a:r>
              <a:rPr lang="en-US" sz="1400" dirty="0" err="1">
                <a:latin typeface="Consolas" panose="020B0609020204030204" pitchFamily="49" charset="0"/>
              </a:rPr>
              <a:t>par_unseq</a:t>
            </a:r>
            <a:r>
              <a:rPr lang="en-US" sz="1400" dirty="0">
                <a:latin typeface="Consolas" panose="020B0609020204030204" pitchFamily="49" charset="0"/>
              </a:rPr>
              <a:t> took 13910300ns (0.0139103s)</a:t>
            </a:r>
          </a:p>
        </p:txBody>
      </p:sp>
    </p:spTree>
    <p:extLst>
      <p:ext uri="{BB962C8B-B14F-4D97-AF65-F5344CB8AC3E}">
        <p14:creationId xmlns:p14="http://schemas.microsoft.com/office/powerpoint/2010/main" val="922649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096570-344E-5DCE-9E8C-22ADFC137A1D}"/>
              </a:ext>
            </a:extLst>
          </p:cNvPr>
          <p:cNvSpPr>
            <a:spLocks noGrp="1"/>
          </p:cNvSpPr>
          <p:nvPr>
            <p:ph type="title"/>
          </p:nvPr>
        </p:nvSpPr>
        <p:spPr/>
        <p:txBody>
          <a:bodyPr/>
          <a:lstStyle/>
          <a:p>
            <a:r>
              <a:rPr lang="ru-RU" dirty="0"/>
              <a:t>Иерархия памяти</a:t>
            </a:r>
            <a:endParaRPr lang="en-US" dirty="0"/>
          </a:p>
        </p:txBody>
      </p:sp>
      <p:sp>
        <p:nvSpPr>
          <p:cNvPr id="4" name="Text Placeholder 3">
            <a:extLst>
              <a:ext uri="{FF2B5EF4-FFF2-40B4-BE49-F238E27FC236}">
                <a16:creationId xmlns:a16="http://schemas.microsoft.com/office/drawing/2014/main" id="{61A3A0AF-6C01-F92F-4674-3CA379EC066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83777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180715F-28AB-B3FD-2842-A664E1D77307}"/>
              </a:ext>
            </a:extLst>
          </p:cNvPr>
          <p:cNvSpPr>
            <a:spLocks noGrp="1"/>
          </p:cNvSpPr>
          <p:nvPr>
            <p:ph type="title"/>
          </p:nvPr>
        </p:nvSpPr>
        <p:spPr/>
        <p:txBody>
          <a:bodyPr/>
          <a:lstStyle/>
          <a:p>
            <a:r>
              <a:rPr lang="ru-RU" dirty="0"/>
              <a:t>Иерархия памяти процессора</a:t>
            </a:r>
            <a:endParaRPr lang="en-US" dirty="0"/>
          </a:p>
        </p:txBody>
      </p:sp>
      <p:graphicFrame>
        <p:nvGraphicFramePr>
          <p:cNvPr id="6" name="Content Placeholder 5">
            <a:extLst>
              <a:ext uri="{FF2B5EF4-FFF2-40B4-BE49-F238E27FC236}">
                <a16:creationId xmlns:a16="http://schemas.microsoft.com/office/drawing/2014/main" id="{6C854813-F148-79B4-6548-5B9E4D8EAFFC}"/>
              </a:ext>
            </a:extLst>
          </p:cNvPr>
          <p:cNvGraphicFramePr>
            <a:graphicFrameLocks noGrp="1"/>
          </p:cNvGraphicFramePr>
          <p:nvPr>
            <p:ph idx="1"/>
            <p:extLst>
              <p:ext uri="{D42A27DB-BD31-4B8C-83A1-F6EECF244321}">
                <p14:modId xmlns:p14="http://schemas.microsoft.com/office/powerpoint/2010/main" val="3969809997"/>
              </p:ext>
            </p:extLst>
          </p:nvPr>
        </p:nvGraphicFramePr>
        <p:xfrm>
          <a:off x="838200" y="1825625"/>
          <a:ext cx="10515597" cy="22250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692156623"/>
                    </a:ext>
                  </a:extLst>
                </a:gridCol>
                <a:gridCol w="3505199">
                  <a:extLst>
                    <a:ext uri="{9D8B030D-6E8A-4147-A177-3AD203B41FA5}">
                      <a16:colId xmlns:a16="http://schemas.microsoft.com/office/drawing/2014/main" val="613502676"/>
                    </a:ext>
                  </a:extLst>
                </a:gridCol>
                <a:gridCol w="3505199">
                  <a:extLst>
                    <a:ext uri="{9D8B030D-6E8A-4147-A177-3AD203B41FA5}">
                      <a16:colId xmlns:a16="http://schemas.microsoft.com/office/drawing/2014/main" val="1560447367"/>
                    </a:ext>
                  </a:extLst>
                </a:gridCol>
              </a:tblGrid>
              <a:tr h="370840">
                <a:tc>
                  <a:txBody>
                    <a:bodyPr/>
                    <a:lstStyle/>
                    <a:p>
                      <a:pPr>
                        <a:buNone/>
                      </a:pPr>
                      <a:r>
                        <a:rPr lang="ru-RU" dirty="0"/>
                        <a:t>Уровень</a:t>
                      </a:r>
                    </a:p>
                  </a:txBody>
                  <a:tcPr anchor="ctr"/>
                </a:tc>
                <a:tc>
                  <a:txBody>
                    <a:bodyPr/>
                    <a:lstStyle/>
                    <a:p>
                      <a:r>
                        <a:rPr lang="ru-RU" dirty="0"/>
                        <a:t>Примерный размер</a:t>
                      </a:r>
                      <a:endParaRPr lang="en-US" dirty="0"/>
                    </a:p>
                  </a:txBody>
                  <a:tcPr/>
                </a:tc>
                <a:tc>
                  <a:txBody>
                    <a:bodyPr/>
                    <a:lstStyle/>
                    <a:p>
                      <a:r>
                        <a:rPr lang="ru-RU" dirty="0"/>
                        <a:t>Скорость</a:t>
                      </a:r>
                      <a:endParaRPr lang="en-US" dirty="0"/>
                    </a:p>
                  </a:txBody>
                  <a:tcPr/>
                </a:tc>
                <a:extLst>
                  <a:ext uri="{0D108BD9-81ED-4DB2-BD59-A6C34878D82A}">
                    <a16:rowId xmlns:a16="http://schemas.microsoft.com/office/drawing/2014/main" val="3355150619"/>
                  </a:ext>
                </a:extLst>
              </a:tr>
              <a:tr h="370840">
                <a:tc>
                  <a:txBody>
                    <a:bodyPr/>
                    <a:lstStyle/>
                    <a:p>
                      <a:r>
                        <a:rPr lang="ru-RU" dirty="0"/>
                        <a:t>Регистры</a:t>
                      </a:r>
                      <a:endParaRPr lang="en-US" dirty="0"/>
                    </a:p>
                  </a:txBody>
                  <a:tcPr/>
                </a:tc>
                <a:tc>
                  <a:txBody>
                    <a:bodyPr/>
                    <a:lstStyle/>
                    <a:p>
                      <a:r>
                        <a:rPr lang="ru-RU" dirty="0"/>
                        <a:t>десятки–сотни байт</a:t>
                      </a:r>
                      <a:endParaRPr lang="en-US" dirty="0"/>
                    </a:p>
                  </a:txBody>
                  <a:tcPr/>
                </a:tc>
                <a:tc>
                  <a:txBody>
                    <a:bodyPr/>
                    <a:lstStyle/>
                    <a:p>
                      <a:r>
                        <a:rPr lang="ru-RU" dirty="0"/>
                        <a:t>~0.2–0.5 </a:t>
                      </a:r>
                      <a:r>
                        <a:rPr lang="ru-RU" dirty="0" err="1"/>
                        <a:t>нс</a:t>
                      </a:r>
                      <a:endParaRPr lang="en-US" dirty="0"/>
                    </a:p>
                  </a:txBody>
                  <a:tcPr/>
                </a:tc>
                <a:extLst>
                  <a:ext uri="{0D108BD9-81ED-4DB2-BD59-A6C34878D82A}">
                    <a16:rowId xmlns:a16="http://schemas.microsoft.com/office/drawing/2014/main" val="3639421225"/>
                  </a:ext>
                </a:extLst>
              </a:tr>
              <a:tr h="370840">
                <a:tc>
                  <a:txBody>
                    <a:bodyPr/>
                    <a:lstStyle/>
                    <a:p>
                      <a:r>
                        <a:rPr lang="en-US" dirty="0"/>
                        <a:t>L1 cache</a:t>
                      </a:r>
                    </a:p>
                  </a:txBody>
                  <a:tcPr/>
                </a:tc>
                <a:tc>
                  <a:txBody>
                    <a:bodyPr/>
                    <a:lstStyle/>
                    <a:p>
                      <a:r>
                        <a:rPr lang="en-US" dirty="0"/>
                        <a:t>~32–64 KB</a:t>
                      </a:r>
                    </a:p>
                  </a:txBody>
                  <a:tcPr/>
                </a:tc>
                <a:tc>
                  <a:txBody>
                    <a:bodyPr/>
                    <a:lstStyle/>
                    <a:p>
                      <a:r>
                        <a:rPr lang="ru-RU" dirty="0"/>
                        <a:t>~0.5–1 </a:t>
                      </a:r>
                      <a:r>
                        <a:rPr lang="ru-RU" dirty="0" err="1"/>
                        <a:t>нс</a:t>
                      </a:r>
                      <a:endParaRPr lang="en-US" dirty="0"/>
                    </a:p>
                  </a:txBody>
                  <a:tcPr/>
                </a:tc>
                <a:extLst>
                  <a:ext uri="{0D108BD9-81ED-4DB2-BD59-A6C34878D82A}">
                    <a16:rowId xmlns:a16="http://schemas.microsoft.com/office/drawing/2014/main" val="3707077334"/>
                  </a:ext>
                </a:extLst>
              </a:tr>
              <a:tr h="370840">
                <a:tc>
                  <a:txBody>
                    <a:bodyPr/>
                    <a:lstStyle/>
                    <a:p>
                      <a:r>
                        <a:rPr lang="en-US" dirty="0"/>
                        <a:t>L2 cache</a:t>
                      </a:r>
                    </a:p>
                  </a:txBody>
                  <a:tcPr/>
                </a:tc>
                <a:tc>
                  <a:txBody>
                    <a:bodyPr/>
                    <a:lstStyle/>
                    <a:p>
                      <a:r>
                        <a:rPr lang="en-US" dirty="0"/>
                        <a:t>~256 KB – 1 MB</a:t>
                      </a:r>
                    </a:p>
                  </a:txBody>
                  <a:tcPr/>
                </a:tc>
                <a:tc>
                  <a:txBody>
                    <a:bodyPr/>
                    <a:lstStyle/>
                    <a:p>
                      <a:r>
                        <a:rPr lang="ru-RU" dirty="0"/>
                        <a:t>~2–5 </a:t>
                      </a:r>
                      <a:r>
                        <a:rPr lang="ru-RU" dirty="0" err="1"/>
                        <a:t>нс</a:t>
                      </a:r>
                      <a:endParaRPr lang="en-US" dirty="0"/>
                    </a:p>
                  </a:txBody>
                  <a:tcPr/>
                </a:tc>
                <a:extLst>
                  <a:ext uri="{0D108BD9-81ED-4DB2-BD59-A6C34878D82A}">
                    <a16:rowId xmlns:a16="http://schemas.microsoft.com/office/drawing/2014/main" val="676557190"/>
                  </a:ext>
                </a:extLst>
              </a:tr>
              <a:tr h="370840">
                <a:tc>
                  <a:txBody>
                    <a:bodyPr/>
                    <a:lstStyle/>
                    <a:p>
                      <a:r>
                        <a:rPr lang="en-US" dirty="0"/>
                        <a:t>L3 cache</a:t>
                      </a:r>
                    </a:p>
                  </a:txBody>
                  <a:tcPr/>
                </a:tc>
                <a:tc>
                  <a:txBody>
                    <a:bodyPr/>
                    <a:lstStyle/>
                    <a:p>
                      <a:r>
                        <a:rPr lang="ru-RU" dirty="0"/>
                        <a:t>Несколько </a:t>
                      </a:r>
                      <a:r>
                        <a:rPr lang="en-US" dirty="0"/>
                        <a:t>MB – </a:t>
                      </a:r>
                      <a:r>
                        <a:rPr lang="ru-RU" dirty="0"/>
                        <a:t>десятки </a:t>
                      </a:r>
                      <a:r>
                        <a:rPr lang="en-US" dirty="0"/>
                        <a:t>MB</a:t>
                      </a:r>
                    </a:p>
                  </a:txBody>
                  <a:tcPr/>
                </a:tc>
                <a:tc>
                  <a:txBody>
                    <a:bodyPr/>
                    <a:lstStyle/>
                    <a:p>
                      <a:r>
                        <a:rPr lang="ru-RU" dirty="0"/>
                        <a:t>~10–20 </a:t>
                      </a:r>
                      <a:r>
                        <a:rPr lang="ru-RU" dirty="0" err="1"/>
                        <a:t>нс</a:t>
                      </a:r>
                      <a:endParaRPr lang="en-US" dirty="0"/>
                    </a:p>
                  </a:txBody>
                  <a:tcPr/>
                </a:tc>
                <a:extLst>
                  <a:ext uri="{0D108BD9-81ED-4DB2-BD59-A6C34878D82A}">
                    <a16:rowId xmlns:a16="http://schemas.microsoft.com/office/drawing/2014/main" val="4168372036"/>
                  </a:ext>
                </a:extLst>
              </a:tr>
              <a:tr h="370840">
                <a:tc>
                  <a:txBody>
                    <a:bodyPr/>
                    <a:lstStyle/>
                    <a:p>
                      <a:r>
                        <a:rPr lang="en-US" dirty="0"/>
                        <a:t>RAM</a:t>
                      </a:r>
                    </a:p>
                  </a:txBody>
                  <a:tcPr/>
                </a:tc>
                <a:tc>
                  <a:txBody>
                    <a:bodyPr/>
                    <a:lstStyle/>
                    <a:p>
                      <a:r>
                        <a:rPr lang="ru-RU" dirty="0"/>
                        <a:t>Гигабайты</a:t>
                      </a:r>
                      <a:endParaRPr lang="en-US" dirty="0"/>
                    </a:p>
                  </a:txBody>
                  <a:tcPr/>
                </a:tc>
                <a:tc>
                  <a:txBody>
                    <a:bodyPr/>
                    <a:lstStyle/>
                    <a:p>
                      <a:r>
                        <a:rPr lang="ru-RU" dirty="0"/>
                        <a:t>~50–100 </a:t>
                      </a:r>
                      <a:r>
                        <a:rPr lang="ru-RU" dirty="0" err="1"/>
                        <a:t>нс</a:t>
                      </a:r>
                      <a:endParaRPr lang="en-US" dirty="0"/>
                    </a:p>
                  </a:txBody>
                  <a:tcPr/>
                </a:tc>
                <a:extLst>
                  <a:ext uri="{0D108BD9-81ED-4DB2-BD59-A6C34878D82A}">
                    <a16:rowId xmlns:a16="http://schemas.microsoft.com/office/drawing/2014/main" val="4165803523"/>
                  </a:ext>
                </a:extLst>
              </a:tr>
            </a:tbl>
          </a:graphicData>
        </a:graphic>
      </p:graphicFrame>
      <p:sp>
        <p:nvSpPr>
          <p:cNvPr id="9" name="TextBox 8">
            <a:extLst>
              <a:ext uri="{FF2B5EF4-FFF2-40B4-BE49-F238E27FC236}">
                <a16:creationId xmlns:a16="http://schemas.microsoft.com/office/drawing/2014/main" id="{73CAA252-404F-B812-4589-5F2B0AD35BAF}"/>
              </a:ext>
            </a:extLst>
          </p:cNvPr>
          <p:cNvSpPr txBox="1"/>
          <p:nvPr/>
        </p:nvSpPr>
        <p:spPr>
          <a:xfrm>
            <a:off x="838200" y="4401235"/>
            <a:ext cx="10515596" cy="646331"/>
          </a:xfrm>
          <a:prstGeom prst="rect">
            <a:avLst/>
          </a:prstGeom>
          <a:noFill/>
        </p:spPr>
        <p:txBody>
          <a:bodyPr wrap="square">
            <a:spAutoFit/>
          </a:bodyPr>
          <a:lstStyle/>
          <a:p>
            <a:r>
              <a:rPr lang="ru-RU" dirty="0"/>
              <a:t>Чем дальше уровень памяти от CPU, тем </a:t>
            </a:r>
            <a:r>
              <a:rPr lang="ru-RU" b="1" dirty="0"/>
              <a:t>больше задержка доступа</a:t>
            </a:r>
          </a:p>
          <a:p>
            <a:r>
              <a:rPr lang="ru-RU" dirty="0"/>
              <a:t>Доступ к RAM может быть </a:t>
            </a:r>
            <a:r>
              <a:rPr lang="ru-RU" b="1" dirty="0"/>
              <a:t>в 100–200 раз медленнее</a:t>
            </a:r>
            <a:r>
              <a:rPr lang="ru-RU" dirty="0"/>
              <a:t>, чем доступ к данным в L1 кеше.</a:t>
            </a:r>
            <a:endParaRPr lang="en-US" dirty="0"/>
          </a:p>
        </p:txBody>
      </p:sp>
    </p:spTree>
    <p:extLst>
      <p:ext uri="{BB962C8B-B14F-4D97-AF65-F5344CB8AC3E}">
        <p14:creationId xmlns:p14="http://schemas.microsoft.com/office/powerpoint/2010/main" val="2402443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89FD-1AE5-9D68-5146-33B3B23865C1}"/>
              </a:ext>
            </a:extLst>
          </p:cNvPr>
          <p:cNvSpPr>
            <a:spLocks noGrp="1"/>
          </p:cNvSpPr>
          <p:nvPr>
            <p:ph type="title"/>
          </p:nvPr>
        </p:nvSpPr>
        <p:spPr/>
        <p:txBody>
          <a:bodyPr/>
          <a:lstStyle/>
          <a:p>
            <a:r>
              <a:rPr lang="en-US" dirty="0"/>
              <a:t>Cache hit и cache miss</a:t>
            </a:r>
          </a:p>
        </p:txBody>
      </p:sp>
      <p:sp>
        <p:nvSpPr>
          <p:cNvPr id="3" name="Content Placeholder 2">
            <a:extLst>
              <a:ext uri="{FF2B5EF4-FFF2-40B4-BE49-F238E27FC236}">
                <a16:creationId xmlns:a16="http://schemas.microsoft.com/office/drawing/2014/main" id="{E0E4864D-7C42-682A-FE39-29BB77FEE662}"/>
              </a:ext>
            </a:extLst>
          </p:cNvPr>
          <p:cNvSpPr>
            <a:spLocks noGrp="1"/>
          </p:cNvSpPr>
          <p:nvPr>
            <p:ph idx="1"/>
          </p:nvPr>
        </p:nvSpPr>
        <p:spPr/>
        <p:txBody>
          <a:bodyPr>
            <a:normAutofit/>
          </a:bodyPr>
          <a:lstStyle/>
          <a:p>
            <a:r>
              <a:rPr lang="ru-RU" dirty="0"/>
              <a:t>При обращении к памяти возможны два случая:</a:t>
            </a:r>
          </a:p>
          <a:p>
            <a:r>
              <a:rPr lang="ru-RU" b="1" dirty="0" err="1"/>
              <a:t>Cache</a:t>
            </a:r>
            <a:r>
              <a:rPr lang="ru-RU" b="1" dirty="0"/>
              <a:t> </a:t>
            </a:r>
            <a:r>
              <a:rPr lang="ru-RU" b="1" dirty="0" err="1"/>
              <a:t>hit</a:t>
            </a:r>
            <a:endParaRPr lang="ru-RU" dirty="0"/>
          </a:p>
          <a:p>
            <a:pPr lvl="1"/>
            <a:r>
              <a:rPr lang="ru-RU" dirty="0"/>
              <a:t>данные уже находятся в кеше</a:t>
            </a:r>
          </a:p>
          <a:p>
            <a:pPr lvl="1"/>
            <a:r>
              <a:rPr lang="ru-RU" dirty="0"/>
              <a:t>доступ выполняется очень быстро</a:t>
            </a:r>
          </a:p>
          <a:p>
            <a:r>
              <a:rPr lang="ru-RU" b="1" dirty="0" err="1"/>
              <a:t>Cache</a:t>
            </a:r>
            <a:r>
              <a:rPr lang="ru-RU" b="1" dirty="0"/>
              <a:t> </a:t>
            </a:r>
            <a:r>
              <a:rPr lang="ru-RU" b="1" dirty="0" err="1"/>
              <a:t>miss</a:t>
            </a:r>
            <a:endParaRPr lang="ru-RU" dirty="0"/>
          </a:p>
          <a:p>
            <a:pPr lvl="1"/>
            <a:r>
              <a:rPr lang="ru-RU" dirty="0"/>
              <a:t>данных в кеше нет</a:t>
            </a:r>
          </a:p>
          <a:p>
            <a:pPr lvl="1"/>
            <a:r>
              <a:rPr lang="ru-RU" dirty="0"/>
              <a:t>требуется загрузка из следующего уровня памяти</a:t>
            </a:r>
          </a:p>
          <a:p>
            <a:pPr lvl="1"/>
            <a:r>
              <a:rPr lang="ru-RU" dirty="0" err="1"/>
              <a:t>Cache</a:t>
            </a:r>
            <a:r>
              <a:rPr lang="ru-RU" dirty="0"/>
              <a:t> </a:t>
            </a:r>
            <a:r>
              <a:rPr lang="ru-RU" dirty="0" err="1"/>
              <a:t>miss</a:t>
            </a:r>
            <a:r>
              <a:rPr lang="ru-RU" dirty="0"/>
              <a:t> может стоить </a:t>
            </a:r>
            <a:r>
              <a:rPr lang="ru-RU" b="1" dirty="0"/>
              <a:t>в десятки раз дороже</a:t>
            </a:r>
            <a:r>
              <a:rPr lang="ru-RU" dirty="0"/>
              <a:t>, чем </a:t>
            </a:r>
            <a:r>
              <a:rPr lang="ru-RU" dirty="0" err="1"/>
              <a:t>cache</a:t>
            </a:r>
            <a:r>
              <a:rPr lang="ru-RU" dirty="0"/>
              <a:t> </a:t>
            </a:r>
            <a:r>
              <a:rPr lang="ru-RU" dirty="0" err="1"/>
              <a:t>hit</a:t>
            </a:r>
            <a:r>
              <a:rPr lang="ru-RU" dirty="0"/>
              <a:t>.</a:t>
            </a:r>
          </a:p>
          <a:p>
            <a:endParaRPr lang="en-US" dirty="0"/>
          </a:p>
        </p:txBody>
      </p:sp>
    </p:spTree>
    <p:extLst>
      <p:ext uri="{BB962C8B-B14F-4D97-AF65-F5344CB8AC3E}">
        <p14:creationId xmlns:p14="http://schemas.microsoft.com/office/powerpoint/2010/main" val="844094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CF88-BA90-E3E3-3BB6-8C70E97013E2}"/>
              </a:ext>
            </a:extLst>
          </p:cNvPr>
          <p:cNvSpPr>
            <a:spLocks noGrp="1"/>
          </p:cNvSpPr>
          <p:nvPr>
            <p:ph type="title"/>
          </p:nvPr>
        </p:nvSpPr>
        <p:spPr/>
        <p:txBody>
          <a:bodyPr>
            <a:normAutofit/>
          </a:bodyPr>
          <a:lstStyle/>
          <a:p>
            <a:r>
              <a:rPr lang="ru-RU" dirty="0"/>
              <a:t>Пространственная и временная локальность</a:t>
            </a:r>
            <a:endParaRPr lang="en-US" dirty="0"/>
          </a:p>
        </p:txBody>
      </p:sp>
      <p:sp>
        <p:nvSpPr>
          <p:cNvPr id="3" name="Content Placeholder 2">
            <a:extLst>
              <a:ext uri="{FF2B5EF4-FFF2-40B4-BE49-F238E27FC236}">
                <a16:creationId xmlns:a16="http://schemas.microsoft.com/office/drawing/2014/main" id="{F717C0ED-154C-DFE9-9D71-7F9DC2325A2F}"/>
              </a:ext>
            </a:extLst>
          </p:cNvPr>
          <p:cNvSpPr>
            <a:spLocks noGrp="1"/>
          </p:cNvSpPr>
          <p:nvPr>
            <p:ph idx="1"/>
          </p:nvPr>
        </p:nvSpPr>
        <p:spPr/>
        <p:txBody>
          <a:bodyPr>
            <a:normAutofit/>
          </a:bodyPr>
          <a:lstStyle/>
          <a:p>
            <a:r>
              <a:rPr lang="ru-RU" dirty="0"/>
              <a:t>Производительность программ сильно зависит</a:t>
            </a:r>
            <a:br>
              <a:rPr lang="ru-RU" dirty="0"/>
            </a:br>
            <a:r>
              <a:rPr lang="ru-RU" dirty="0"/>
              <a:t>от </a:t>
            </a:r>
            <a:r>
              <a:rPr lang="ru-RU" b="1" dirty="0"/>
              <a:t>локальности доступа к данным</a:t>
            </a:r>
            <a:endParaRPr lang="ru-RU" dirty="0"/>
          </a:p>
          <a:p>
            <a:r>
              <a:rPr lang="ru-RU" b="1" dirty="0" err="1"/>
              <a:t>Spatial</a:t>
            </a:r>
            <a:r>
              <a:rPr lang="ru-RU" b="1" dirty="0"/>
              <a:t> </a:t>
            </a:r>
            <a:r>
              <a:rPr lang="ru-RU" b="1" dirty="0" err="1"/>
              <a:t>locality</a:t>
            </a:r>
            <a:endParaRPr lang="ru-RU" dirty="0"/>
          </a:p>
          <a:p>
            <a:pPr lvl="1"/>
            <a:r>
              <a:rPr lang="ru-RU" dirty="0"/>
              <a:t>Обращение к соседним элементам памяти</a:t>
            </a:r>
            <a:endParaRPr lang="en-US" dirty="0"/>
          </a:p>
          <a:p>
            <a:pPr lvl="1"/>
            <a:r>
              <a:rPr lang="ru-RU" dirty="0"/>
              <a:t>Пример: последовательный обход по массиву</a:t>
            </a:r>
          </a:p>
          <a:p>
            <a:r>
              <a:rPr lang="ru-RU" b="1" dirty="0" err="1"/>
              <a:t>Temporal</a:t>
            </a:r>
            <a:r>
              <a:rPr lang="ru-RU" b="1" dirty="0"/>
              <a:t> </a:t>
            </a:r>
            <a:r>
              <a:rPr lang="ru-RU" b="1" dirty="0" err="1"/>
              <a:t>locality</a:t>
            </a:r>
            <a:endParaRPr lang="ru-RU" dirty="0"/>
          </a:p>
          <a:p>
            <a:pPr lvl="1"/>
            <a:r>
              <a:rPr lang="ru-RU" dirty="0"/>
              <a:t>Повторное использование недавно прочитанных данных</a:t>
            </a:r>
          </a:p>
          <a:p>
            <a:pPr lvl="1"/>
            <a:r>
              <a:rPr lang="ru-RU" dirty="0"/>
              <a:t>Частое обращение к нескольким переменным</a:t>
            </a:r>
          </a:p>
        </p:txBody>
      </p:sp>
    </p:spTree>
    <p:extLst>
      <p:ext uri="{BB962C8B-B14F-4D97-AF65-F5344CB8AC3E}">
        <p14:creationId xmlns:p14="http://schemas.microsoft.com/office/powerpoint/2010/main" val="1692615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7E6B6B-2698-E8FB-2649-C1875226BCD5}"/>
              </a:ext>
            </a:extLst>
          </p:cNvPr>
          <p:cNvSpPr>
            <a:spLocks noGrp="1"/>
          </p:cNvSpPr>
          <p:nvPr>
            <p:ph type="title"/>
          </p:nvPr>
        </p:nvSpPr>
        <p:spPr/>
        <p:txBody>
          <a:bodyPr/>
          <a:lstStyle/>
          <a:p>
            <a:r>
              <a:rPr lang="ru-RU" dirty="0"/>
              <a:t>Обработка матрицы по строкам и столбцам</a:t>
            </a:r>
            <a:endParaRPr lang="en-US" dirty="0"/>
          </a:p>
        </p:txBody>
      </p:sp>
      <p:sp>
        <p:nvSpPr>
          <p:cNvPr id="6" name="TextBox 5">
            <a:extLst>
              <a:ext uri="{FF2B5EF4-FFF2-40B4-BE49-F238E27FC236}">
                <a16:creationId xmlns:a16="http://schemas.microsoft.com/office/drawing/2014/main" id="{9E51C078-8A5C-8F1A-950F-7A1176771223}"/>
              </a:ext>
            </a:extLst>
          </p:cNvPr>
          <p:cNvSpPr txBox="1"/>
          <p:nvPr/>
        </p:nvSpPr>
        <p:spPr>
          <a:xfrm>
            <a:off x="838200" y="1690688"/>
            <a:ext cx="6131560" cy="5047536"/>
          </a:xfrm>
          <a:prstGeom prst="rect">
            <a:avLst/>
          </a:prstGeom>
          <a:noFill/>
        </p:spPr>
        <p:txBody>
          <a:bodyPr wrap="square">
            <a:spAutoFit/>
          </a:bodyPr>
          <a:lstStyle/>
          <a:p>
            <a:r>
              <a:rPr lang="en-US" sz="1400" dirty="0" err="1">
                <a:solidFill>
                  <a:srgbClr val="0000FF"/>
                </a:solidFill>
                <a:latin typeface="Consolas" panose="020B0609020204030204" pitchFamily="49" charset="0"/>
              </a:rPr>
              <a:t>constexpr</a:t>
            </a:r>
            <a:r>
              <a:rPr lang="en-US" sz="1400" dirty="0">
                <a:solidFill>
                  <a:srgbClr val="000000"/>
                </a:solidFill>
                <a:latin typeface="Consolas" panose="020B0609020204030204" pitchFamily="49" charset="0"/>
              </a:rPr>
              <a:t> </a:t>
            </a:r>
            <a:r>
              <a:rPr lang="en-US" sz="1400" dirty="0" err="1">
                <a:solidFill>
                  <a:srgbClr val="2B91AF"/>
                </a:solidFill>
                <a:latin typeface="Consolas" panose="020B0609020204030204" pitchFamily="49" charset="0"/>
              </a:rPr>
              <a:t>size_t</a:t>
            </a:r>
            <a:r>
              <a:rPr lang="en-US" sz="1400" dirty="0">
                <a:solidFill>
                  <a:srgbClr val="000000"/>
                </a:solidFill>
                <a:latin typeface="Consolas" panose="020B0609020204030204" pitchFamily="49" charset="0"/>
              </a:rPr>
              <a:t> N = </a:t>
            </a:r>
            <a:r>
              <a:rPr lang="en-US" sz="1400" dirty="0">
                <a:solidFill>
                  <a:srgbClr val="098658"/>
                </a:solidFill>
                <a:latin typeface="Consolas" panose="020B0609020204030204" pitchFamily="49" charset="0"/>
              </a:rPr>
              <a:t>8192</a:t>
            </a:r>
            <a:r>
              <a:rPr lang="en-US" sz="1400" dirty="0">
                <a:solidFill>
                  <a:srgbClr val="000000"/>
                </a:solidFill>
                <a:latin typeface="Consolas" panose="020B0609020204030204" pitchFamily="49" charset="0"/>
              </a:rPr>
              <a:t>;</a:t>
            </a:r>
          </a:p>
          <a:p>
            <a:pPr>
              <a:buNone/>
            </a:pPr>
            <a:endParaRPr lang="ru-RU" sz="1400" b="0" dirty="0">
              <a:solidFill>
                <a:srgbClr val="0000FF"/>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RowMajor</a:t>
            </a:r>
            <a:r>
              <a:rPr lang="en-US" sz="1400" b="0" dirty="0">
                <a:solidFill>
                  <a:srgbClr val="000000"/>
                </a:solidFill>
                <a:effectLst/>
                <a:latin typeface="Consolas" panose="020B0609020204030204" pitchFamily="49" charset="0"/>
              </a:rPr>
              <a:t>(std::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&gt;&gt;&amp; </a:t>
            </a:r>
            <a:r>
              <a:rPr lang="en-US" sz="1400" b="0" dirty="0">
                <a:solidFill>
                  <a:srgbClr val="808080"/>
                </a:solidFill>
                <a:effectLst/>
                <a:latin typeface="Consolas" panose="020B0609020204030204" pitchFamily="49" charset="0"/>
              </a:rPr>
              <a:t>m</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N;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&lt; N; ++</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m</a:t>
            </a:r>
            <a:r>
              <a:rPr lang="en-US" sz="1400" b="0" dirty="0">
                <a:solidFill>
                  <a:srgbClr val="000000"/>
                </a:solidFill>
                <a:effectLst/>
                <a:latin typeface="Consolas" panose="020B0609020204030204" pitchFamily="49" charset="0"/>
              </a:rPr>
              <a:t>[</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ColumnMajor</a:t>
            </a:r>
            <a:r>
              <a:rPr lang="en-US" sz="1400" b="0" dirty="0">
                <a:solidFill>
                  <a:srgbClr val="000000"/>
                </a:solidFill>
                <a:effectLst/>
                <a:latin typeface="Consolas" panose="020B0609020204030204" pitchFamily="49" charset="0"/>
              </a:rPr>
              <a:t>(std::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&gt;&gt;&amp; </a:t>
            </a:r>
            <a:r>
              <a:rPr lang="en-US" sz="1400" b="0" dirty="0">
                <a:solidFill>
                  <a:srgbClr val="808080"/>
                </a:solidFill>
                <a:effectLst/>
                <a:latin typeface="Consolas" panose="020B0609020204030204" pitchFamily="49" charset="0"/>
              </a:rPr>
              <a:t>m</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&lt; N; ++</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N;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m</a:t>
            </a:r>
            <a:r>
              <a:rPr lang="en-US" sz="1400" b="0" dirty="0">
                <a:solidFill>
                  <a:srgbClr val="000000"/>
                </a:solidFill>
                <a:effectLst/>
                <a:latin typeface="Consolas" panose="020B0609020204030204" pitchFamily="49" charset="0"/>
              </a:rPr>
              <a:t>[</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j</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&gt;&gt; </a:t>
            </a:r>
            <a:r>
              <a:rPr lang="en-US" sz="1400" b="0" dirty="0">
                <a:solidFill>
                  <a:srgbClr val="1F377F"/>
                </a:solidFill>
                <a:effectLst/>
                <a:latin typeface="Consolas" panose="020B0609020204030204" pitchFamily="49" charset="0"/>
              </a:rPr>
              <a:t>m</a:t>
            </a:r>
            <a:r>
              <a:rPr lang="en-US" sz="1400" b="0" dirty="0">
                <a:solidFill>
                  <a:srgbClr val="000000"/>
                </a:solidFill>
                <a:effectLst/>
                <a:latin typeface="Consolas" panose="020B0609020204030204" pitchFamily="49" charset="0"/>
              </a:rPr>
              <a:t>(N,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&gt;(N));</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row-major</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RowMajor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m</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column-major</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ColumnMajor</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m</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AE2E07CF-5897-855F-56D2-91634AFBE11D}"/>
              </a:ext>
            </a:extLst>
          </p:cNvPr>
          <p:cNvSpPr txBox="1"/>
          <p:nvPr/>
        </p:nvSpPr>
        <p:spPr>
          <a:xfrm>
            <a:off x="6197600" y="6091893"/>
            <a:ext cx="5549900"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row-major took 28800800ns (0.0288008s)</a:t>
            </a:r>
          </a:p>
          <a:p>
            <a:r>
              <a:rPr lang="en-US" dirty="0">
                <a:latin typeface="Consolas" panose="020B0609020204030204" pitchFamily="49" charset="0"/>
              </a:rPr>
              <a:t>column-major took 315974500ns (0.315974s)</a:t>
            </a:r>
          </a:p>
        </p:txBody>
      </p:sp>
      <p:grpSp>
        <p:nvGrpSpPr>
          <p:cNvPr id="106" name="Group 105">
            <a:extLst>
              <a:ext uri="{FF2B5EF4-FFF2-40B4-BE49-F238E27FC236}">
                <a16:creationId xmlns:a16="http://schemas.microsoft.com/office/drawing/2014/main" id="{BCD9A75C-4D3F-C82C-6735-335626F6E383}"/>
              </a:ext>
            </a:extLst>
          </p:cNvPr>
          <p:cNvGrpSpPr/>
          <p:nvPr/>
        </p:nvGrpSpPr>
        <p:grpSpPr>
          <a:xfrm>
            <a:off x="7887208" y="1690688"/>
            <a:ext cx="1576070" cy="1697672"/>
            <a:chOff x="6375400" y="1690688"/>
            <a:chExt cx="1576070" cy="1697672"/>
          </a:xfrm>
        </p:grpSpPr>
        <p:sp>
          <p:nvSpPr>
            <p:cNvPr id="11" name="Rectangle 10">
              <a:extLst>
                <a:ext uri="{FF2B5EF4-FFF2-40B4-BE49-F238E27FC236}">
                  <a16:creationId xmlns:a16="http://schemas.microsoft.com/office/drawing/2014/main" id="{8911E5D0-2D82-AE79-0A15-F052AF5C3E25}"/>
                </a:ext>
              </a:extLst>
            </p:cNvPr>
            <p:cNvSpPr/>
            <p:nvPr/>
          </p:nvSpPr>
          <p:spPr>
            <a:xfrm>
              <a:off x="6375400" y="169068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9E01767E-42DF-C6F3-8CEA-2BA012CCD256}"/>
                </a:ext>
              </a:extLst>
            </p:cNvPr>
            <p:cNvSpPr/>
            <p:nvPr/>
          </p:nvSpPr>
          <p:spPr>
            <a:xfrm>
              <a:off x="6800850" y="169068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B2FDBD73-11C1-14A7-78DE-13BB86B9ED34}"/>
                </a:ext>
              </a:extLst>
            </p:cNvPr>
            <p:cNvSpPr/>
            <p:nvPr/>
          </p:nvSpPr>
          <p:spPr>
            <a:xfrm>
              <a:off x="7226300" y="169068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6C345E09-9B58-5B25-91F8-21D488B4E5C6}"/>
                </a:ext>
              </a:extLst>
            </p:cNvPr>
            <p:cNvSpPr/>
            <p:nvPr/>
          </p:nvSpPr>
          <p:spPr>
            <a:xfrm>
              <a:off x="7651750" y="169068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055285A5-A7E5-2316-E2FE-C3173A1A728D}"/>
                </a:ext>
              </a:extLst>
            </p:cNvPr>
            <p:cNvSpPr/>
            <p:nvPr/>
          </p:nvSpPr>
          <p:spPr>
            <a:xfrm>
              <a:off x="6375400" y="215550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59BE009D-8525-B14D-9843-650163F50C91}"/>
                </a:ext>
              </a:extLst>
            </p:cNvPr>
            <p:cNvSpPr/>
            <p:nvPr/>
          </p:nvSpPr>
          <p:spPr>
            <a:xfrm>
              <a:off x="6800850" y="215550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AE71C879-2575-CAFC-8AEE-CD12CDB8DA81}"/>
                </a:ext>
              </a:extLst>
            </p:cNvPr>
            <p:cNvSpPr/>
            <p:nvPr/>
          </p:nvSpPr>
          <p:spPr>
            <a:xfrm>
              <a:off x="7226300" y="215550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3089CF58-88B3-93D7-F65C-657C37F204DA}"/>
                </a:ext>
              </a:extLst>
            </p:cNvPr>
            <p:cNvSpPr/>
            <p:nvPr/>
          </p:nvSpPr>
          <p:spPr>
            <a:xfrm>
              <a:off x="7651750" y="215550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9FB026DD-836B-CBD5-6120-A0555E4742F0}"/>
                </a:ext>
              </a:extLst>
            </p:cNvPr>
            <p:cNvSpPr/>
            <p:nvPr/>
          </p:nvSpPr>
          <p:spPr>
            <a:xfrm>
              <a:off x="6385560" y="262032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7FDDD53A-93E5-F3F8-9913-000054228E84}"/>
                </a:ext>
              </a:extLst>
            </p:cNvPr>
            <p:cNvSpPr/>
            <p:nvPr/>
          </p:nvSpPr>
          <p:spPr>
            <a:xfrm>
              <a:off x="6811010" y="262032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41835E36-F219-F00B-7D7F-5400C7FC2862}"/>
                </a:ext>
              </a:extLst>
            </p:cNvPr>
            <p:cNvSpPr/>
            <p:nvPr/>
          </p:nvSpPr>
          <p:spPr>
            <a:xfrm>
              <a:off x="7236460" y="262032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Rectangle 46">
              <a:extLst>
                <a:ext uri="{FF2B5EF4-FFF2-40B4-BE49-F238E27FC236}">
                  <a16:creationId xmlns:a16="http://schemas.microsoft.com/office/drawing/2014/main" id="{790705B6-50D6-BB18-61B3-C2D9C3224656}"/>
                </a:ext>
              </a:extLst>
            </p:cNvPr>
            <p:cNvSpPr/>
            <p:nvPr/>
          </p:nvSpPr>
          <p:spPr>
            <a:xfrm>
              <a:off x="7661910" y="262032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Rectangle 47">
              <a:extLst>
                <a:ext uri="{FF2B5EF4-FFF2-40B4-BE49-F238E27FC236}">
                  <a16:creationId xmlns:a16="http://schemas.microsoft.com/office/drawing/2014/main" id="{F1CD9107-CC2C-CA10-AD73-1A374AE1071E}"/>
                </a:ext>
              </a:extLst>
            </p:cNvPr>
            <p:cNvSpPr/>
            <p:nvPr/>
          </p:nvSpPr>
          <p:spPr>
            <a:xfrm>
              <a:off x="6395720" y="308514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B815680F-626C-595B-E618-21BE4C1D15FC}"/>
                </a:ext>
              </a:extLst>
            </p:cNvPr>
            <p:cNvSpPr/>
            <p:nvPr/>
          </p:nvSpPr>
          <p:spPr>
            <a:xfrm>
              <a:off x="6821170" y="308514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BF44624E-93FC-C4A0-4E58-39F6FDDA9EF8}"/>
                </a:ext>
              </a:extLst>
            </p:cNvPr>
            <p:cNvSpPr/>
            <p:nvPr/>
          </p:nvSpPr>
          <p:spPr>
            <a:xfrm>
              <a:off x="7246620" y="308514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C5D1D5E4-FAA5-7B24-96B3-F848EC3B7DC1}"/>
                </a:ext>
              </a:extLst>
            </p:cNvPr>
            <p:cNvSpPr/>
            <p:nvPr/>
          </p:nvSpPr>
          <p:spPr>
            <a:xfrm>
              <a:off x="7672070" y="3085148"/>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F4A5148B-AE1C-15AE-128D-869A931E30EA}"/>
                </a:ext>
              </a:extLst>
            </p:cNvPr>
            <p:cNvCxnSpPr/>
            <p:nvPr/>
          </p:nvCxnSpPr>
          <p:spPr>
            <a:xfrm>
              <a:off x="6507480" y="1845945"/>
              <a:ext cx="1303020" cy="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C5815D1-930C-ADDE-8654-B9AA638AC625}"/>
                </a:ext>
              </a:extLst>
            </p:cNvPr>
            <p:cNvCxnSpPr/>
            <p:nvPr/>
          </p:nvCxnSpPr>
          <p:spPr>
            <a:xfrm>
              <a:off x="6507480" y="2324099"/>
              <a:ext cx="1303020" cy="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376F3558-B2E4-8F3E-AB25-CF8A4055FA16}"/>
                </a:ext>
              </a:extLst>
            </p:cNvPr>
            <p:cNvCxnSpPr/>
            <p:nvPr/>
          </p:nvCxnSpPr>
          <p:spPr>
            <a:xfrm>
              <a:off x="6507480" y="2778440"/>
              <a:ext cx="1303020" cy="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29652570-24AA-A773-FA7C-F67D2EAA2955}"/>
                </a:ext>
              </a:extLst>
            </p:cNvPr>
            <p:cNvCxnSpPr/>
            <p:nvPr/>
          </p:nvCxnSpPr>
          <p:spPr>
            <a:xfrm>
              <a:off x="6507480" y="3232781"/>
              <a:ext cx="1303020" cy="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D659C50A-F67D-4CEA-A4BA-E9A79307E40E}"/>
                </a:ext>
              </a:extLst>
            </p:cNvPr>
            <p:cNvCxnSpPr>
              <a:cxnSpLocks/>
            </p:cNvCxnSpPr>
            <p:nvPr/>
          </p:nvCxnSpPr>
          <p:spPr>
            <a:xfrm flipH="1">
              <a:off x="6507480" y="1852296"/>
              <a:ext cx="1287145" cy="471803"/>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6A4E72C6-EF2A-C2AF-0EB8-30BB8D82FCEE}"/>
                </a:ext>
              </a:extLst>
            </p:cNvPr>
            <p:cNvCxnSpPr>
              <a:cxnSpLocks/>
            </p:cNvCxnSpPr>
            <p:nvPr/>
          </p:nvCxnSpPr>
          <p:spPr>
            <a:xfrm flipH="1">
              <a:off x="6525260" y="2315368"/>
              <a:ext cx="1266190" cy="448709"/>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8716C24C-F6AB-5D2C-3BA1-AFF5F38C1EDF}"/>
                </a:ext>
              </a:extLst>
            </p:cNvPr>
            <p:cNvCxnSpPr>
              <a:cxnSpLocks/>
            </p:cNvCxnSpPr>
            <p:nvPr/>
          </p:nvCxnSpPr>
          <p:spPr>
            <a:xfrm flipH="1">
              <a:off x="6535420" y="2771735"/>
              <a:ext cx="1266190" cy="465019"/>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107" name="Group 106">
            <a:extLst>
              <a:ext uri="{FF2B5EF4-FFF2-40B4-BE49-F238E27FC236}">
                <a16:creationId xmlns:a16="http://schemas.microsoft.com/office/drawing/2014/main" id="{4E99B3B0-77CC-D5B7-FCE5-52822F37284C}"/>
              </a:ext>
            </a:extLst>
          </p:cNvPr>
          <p:cNvGrpSpPr/>
          <p:nvPr/>
        </p:nvGrpSpPr>
        <p:grpSpPr>
          <a:xfrm>
            <a:off x="7887208" y="3718559"/>
            <a:ext cx="1576070" cy="1697672"/>
            <a:chOff x="6375400" y="3718559"/>
            <a:chExt cx="1576070" cy="1697672"/>
          </a:xfrm>
        </p:grpSpPr>
        <p:sp>
          <p:nvSpPr>
            <p:cNvPr id="66" name="Rectangle 65">
              <a:extLst>
                <a:ext uri="{FF2B5EF4-FFF2-40B4-BE49-F238E27FC236}">
                  <a16:creationId xmlns:a16="http://schemas.microsoft.com/office/drawing/2014/main" id="{F156A8C3-F929-7E98-8A87-C9E1007EC0CA}"/>
                </a:ext>
              </a:extLst>
            </p:cNvPr>
            <p:cNvSpPr/>
            <p:nvPr/>
          </p:nvSpPr>
          <p:spPr>
            <a:xfrm>
              <a:off x="6375400" y="371855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Rectangle 66">
              <a:extLst>
                <a:ext uri="{FF2B5EF4-FFF2-40B4-BE49-F238E27FC236}">
                  <a16:creationId xmlns:a16="http://schemas.microsoft.com/office/drawing/2014/main" id="{EEC39609-1C69-47D1-CB97-ADCED66C657E}"/>
                </a:ext>
              </a:extLst>
            </p:cNvPr>
            <p:cNvSpPr/>
            <p:nvPr/>
          </p:nvSpPr>
          <p:spPr>
            <a:xfrm>
              <a:off x="6800850" y="371855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E91004-E562-3395-DADC-25D3FF0D1713}"/>
                </a:ext>
              </a:extLst>
            </p:cNvPr>
            <p:cNvSpPr/>
            <p:nvPr/>
          </p:nvSpPr>
          <p:spPr>
            <a:xfrm>
              <a:off x="7226300" y="371855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a:extLst>
                <a:ext uri="{FF2B5EF4-FFF2-40B4-BE49-F238E27FC236}">
                  <a16:creationId xmlns:a16="http://schemas.microsoft.com/office/drawing/2014/main" id="{87AAE017-8A66-43D7-29F9-A8DD55A8DDAF}"/>
                </a:ext>
              </a:extLst>
            </p:cNvPr>
            <p:cNvSpPr/>
            <p:nvPr/>
          </p:nvSpPr>
          <p:spPr>
            <a:xfrm>
              <a:off x="7651750" y="371855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Rectangle 69">
              <a:extLst>
                <a:ext uri="{FF2B5EF4-FFF2-40B4-BE49-F238E27FC236}">
                  <a16:creationId xmlns:a16="http://schemas.microsoft.com/office/drawing/2014/main" id="{267B98B0-5DE9-2CE4-0EBD-E972EF73F439}"/>
                </a:ext>
              </a:extLst>
            </p:cNvPr>
            <p:cNvSpPr/>
            <p:nvPr/>
          </p:nvSpPr>
          <p:spPr>
            <a:xfrm>
              <a:off x="6375400" y="418337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Rectangle 70">
              <a:extLst>
                <a:ext uri="{FF2B5EF4-FFF2-40B4-BE49-F238E27FC236}">
                  <a16:creationId xmlns:a16="http://schemas.microsoft.com/office/drawing/2014/main" id="{7A248E10-E97F-0B6C-0B37-2129F7B2BE68}"/>
                </a:ext>
              </a:extLst>
            </p:cNvPr>
            <p:cNvSpPr/>
            <p:nvPr/>
          </p:nvSpPr>
          <p:spPr>
            <a:xfrm>
              <a:off x="6800850" y="418337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5BBDDE38-4781-ABFF-2A3C-8BF7AA734580}"/>
                </a:ext>
              </a:extLst>
            </p:cNvPr>
            <p:cNvSpPr/>
            <p:nvPr/>
          </p:nvSpPr>
          <p:spPr>
            <a:xfrm>
              <a:off x="7226300" y="418337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E9610172-7482-B6F9-A499-68A42819F94D}"/>
                </a:ext>
              </a:extLst>
            </p:cNvPr>
            <p:cNvSpPr/>
            <p:nvPr/>
          </p:nvSpPr>
          <p:spPr>
            <a:xfrm>
              <a:off x="7651750" y="418337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6C055B76-3746-0F37-C8B7-7CC0A967BB51}"/>
                </a:ext>
              </a:extLst>
            </p:cNvPr>
            <p:cNvSpPr/>
            <p:nvPr/>
          </p:nvSpPr>
          <p:spPr>
            <a:xfrm>
              <a:off x="6385560" y="464819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A224B706-2A23-424B-0ADF-EF0142B23865}"/>
                </a:ext>
              </a:extLst>
            </p:cNvPr>
            <p:cNvSpPr/>
            <p:nvPr/>
          </p:nvSpPr>
          <p:spPr>
            <a:xfrm>
              <a:off x="6811010" y="464819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0A958801-B774-2A11-328B-C11422C81E00}"/>
                </a:ext>
              </a:extLst>
            </p:cNvPr>
            <p:cNvSpPr/>
            <p:nvPr/>
          </p:nvSpPr>
          <p:spPr>
            <a:xfrm>
              <a:off x="7236460" y="464819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FBDB0DFC-B7F9-59A1-7C7E-70CB98368A84}"/>
                </a:ext>
              </a:extLst>
            </p:cNvPr>
            <p:cNvSpPr/>
            <p:nvPr/>
          </p:nvSpPr>
          <p:spPr>
            <a:xfrm>
              <a:off x="7661910" y="464819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Rectangle 77">
              <a:extLst>
                <a:ext uri="{FF2B5EF4-FFF2-40B4-BE49-F238E27FC236}">
                  <a16:creationId xmlns:a16="http://schemas.microsoft.com/office/drawing/2014/main" id="{1BC4A156-D691-7B22-A2F7-4894980FCFA4}"/>
                </a:ext>
              </a:extLst>
            </p:cNvPr>
            <p:cNvSpPr/>
            <p:nvPr/>
          </p:nvSpPr>
          <p:spPr>
            <a:xfrm>
              <a:off x="6395720" y="511301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C47415C4-9C31-223E-C297-209AF7176F23}"/>
                </a:ext>
              </a:extLst>
            </p:cNvPr>
            <p:cNvSpPr/>
            <p:nvPr/>
          </p:nvSpPr>
          <p:spPr>
            <a:xfrm>
              <a:off x="6821170" y="511301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 name="Rectangle 79">
              <a:extLst>
                <a:ext uri="{FF2B5EF4-FFF2-40B4-BE49-F238E27FC236}">
                  <a16:creationId xmlns:a16="http://schemas.microsoft.com/office/drawing/2014/main" id="{2C6A9225-1158-97A4-400C-2733F6470DB7}"/>
                </a:ext>
              </a:extLst>
            </p:cNvPr>
            <p:cNvSpPr/>
            <p:nvPr/>
          </p:nvSpPr>
          <p:spPr>
            <a:xfrm>
              <a:off x="7246620" y="511301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E8239961-B3F9-C597-00E2-2D459EE1E1EC}"/>
                </a:ext>
              </a:extLst>
            </p:cNvPr>
            <p:cNvSpPr/>
            <p:nvPr/>
          </p:nvSpPr>
          <p:spPr>
            <a:xfrm>
              <a:off x="7672070" y="5113019"/>
              <a:ext cx="279400" cy="3032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D642A637-E3D3-B295-EBDF-2DFC9D8E7C35}"/>
                </a:ext>
              </a:extLst>
            </p:cNvPr>
            <p:cNvCxnSpPr>
              <a:cxnSpLocks/>
            </p:cNvCxnSpPr>
            <p:nvPr/>
          </p:nvCxnSpPr>
          <p:spPr>
            <a:xfrm>
              <a:off x="6512560" y="3870165"/>
              <a:ext cx="2032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3CC7E51E-335D-8FC7-62C8-C60267E2C3FA}"/>
                </a:ext>
              </a:extLst>
            </p:cNvPr>
            <p:cNvCxnSpPr>
              <a:cxnSpLocks/>
            </p:cNvCxnSpPr>
            <p:nvPr/>
          </p:nvCxnSpPr>
          <p:spPr>
            <a:xfrm>
              <a:off x="6941185" y="3870165"/>
              <a:ext cx="2032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65D5953C-31B9-3B6F-C212-7E2A2F46E41E}"/>
                </a:ext>
              </a:extLst>
            </p:cNvPr>
            <p:cNvCxnSpPr>
              <a:cxnSpLocks/>
            </p:cNvCxnSpPr>
            <p:nvPr/>
          </p:nvCxnSpPr>
          <p:spPr>
            <a:xfrm>
              <a:off x="7356475" y="3870165"/>
              <a:ext cx="2032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DCDFC4FD-C680-8237-A39E-D8ECA2C7EA8D}"/>
                </a:ext>
              </a:extLst>
            </p:cNvPr>
            <p:cNvCxnSpPr>
              <a:cxnSpLocks/>
            </p:cNvCxnSpPr>
            <p:nvPr/>
          </p:nvCxnSpPr>
          <p:spPr>
            <a:xfrm>
              <a:off x="7790180" y="3870165"/>
              <a:ext cx="2032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Straight Arrow Connector 99">
              <a:extLst>
                <a:ext uri="{FF2B5EF4-FFF2-40B4-BE49-F238E27FC236}">
                  <a16:creationId xmlns:a16="http://schemas.microsoft.com/office/drawing/2014/main" id="{2DA2209B-03D3-789B-85E7-533AED9DE2D0}"/>
                </a:ext>
              </a:extLst>
            </p:cNvPr>
            <p:cNvCxnSpPr>
              <a:cxnSpLocks/>
            </p:cNvCxnSpPr>
            <p:nvPr/>
          </p:nvCxnSpPr>
          <p:spPr>
            <a:xfrm flipV="1">
              <a:off x="6559550" y="3870165"/>
              <a:ext cx="35941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AD8347E7-75CC-1EC9-8294-3321C02053AF}"/>
                </a:ext>
              </a:extLst>
            </p:cNvPr>
            <p:cNvCxnSpPr>
              <a:cxnSpLocks/>
            </p:cNvCxnSpPr>
            <p:nvPr/>
          </p:nvCxnSpPr>
          <p:spPr>
            <a:xfrm flipV="1">
              <a:off x="6978650" y="3870165"/>
              <a:ext cx="35941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6C1D9E61-9AE1-A8FB-7911-F582C017A9F8}"/>
                </a:ext>
              </a:extLst>
            </p:cNvPr>
            <p:cNvCxnSpPr>
              <a:cxnSpLocks/>
            </p:cNvCxnSpPr>
            <p:nvPr/>
          </p:nvCxnSpPr>
          <p:spPr>
            <a:xfrm flipV="1">
              <a:off x="7397750" y="3870165"/>
              <a:ext cx="359410" cy="1394460"/>
            </a:xfrm>
            <a:prstGeom prst="straightConnector1">
              <a:avLst/>
            </a:prstGeom>
            <a:ln w="12700">
              <a:prstDash val="dash"/>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3288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4" end="4"/>
                                            </p:txEl>
                                          </p:spTgt>
                                        </p:tgtEl>
                                        <p:attrNameLst>
                                          <p:attrName>style.visibility</p:attrName>
                                        </p:attrNameLst>
                                      </p:cBhvr>
                                      <p:to>
                                        <p:strVal val="visible"/>
                                      </p:to>
                                    </p:set>
                                    <p:animEffect transition="in" filter="fade">
                                      <p:cBhvr>
                                        <p:cTn id="10" dur="500"/>
                                        <p:tgtEl>
                                          <p:spTgt spid="6">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animEffect transition="in" filter="fade">
                                      <p:cBhvr>
                                        <p:cTn id="13" dur="500"/>
                                        <p:tgtEl>
                                          <p:spTgt spid="6">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6" end="6"/>
                                            </p:txEl>
                                          </p:spTgt>
                                        </p:tgtEl>
                                        <p:attrNameLst>
                                          <p:attrName>style.visibility</p:attrName>
                                        </p:attrNameLst>
                                      </p:cBhvr>
                                      <p:to>
                                        <p:strVal val="visible"/>
                                      </p:to>
                                    </p:set>
                                    <p:animEffect transition="in" filter="fade">
                                      <p:cBhvr>
                                        <p:cTn id="16" dur="500"/>
                                        <p:tgtEl>
                                          <p:spTgt spid="6">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animEffect transition="in" filter="fade">
                                      <p:cBhvr>
                                        <p:cTn id="19" dur="500"/>
                                        <p:tgtEl>
                                          <p:spTgt spid="6">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animEffect transition="in" filter="fade">
                                      <p:cBhvr>
                                        <p:cTn id="29" dur="500"/>
                                        <p:tgtEl>
                                          <p:spTgt spid="6">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6">
                                            <p:txEl>
                                              <p:pRg st="11" end="11"/>
                                            </p:txEl>
                                          </p:spTgt>
                                        </p:tgtEl>
                                        <p:attrNameLst>
                                          <p:attrName>style.visibility</p:attrName>
                                        </p:attrNameLst>
                                      </p:cBhvr>
                                      <p:to>
                                        <p:strVal val="visible"/>
                                      </p:to>
                                    </p:set>
                                    <p:animEffect transition="in" filter="fade">
                                      <p:cBhvr>
                                        <p:cTn id="32" dur="500"/>
                                        <p:tgtEl>
                                          <p:spTgt spid="6">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animEffect transition="in" filter="fade">
                                      <p:cBhvr>
                                        <p:cTn id="35" dur="500"/>
                                        <p:tgtEl>
                                          <p:spTgt spid="6">
                                            <p:txEl>
                                              <p:pRg st="12" end="12"/>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6">
                                            <p:txEl>
                                              <p:pRg st="13" end="13"/>
                                            </p:txEl>
                                          </p:spTgt>
                                        </p:tgtEl>
                                        <p:attrNameLst>
                                          <p:attrName>style.visibility</p:attrName>
                                        </p:attrNameLst>
                                      </p:cBhvr>
                                      <p:to>
                                        <p:strVal val="visible"/>
                                      </p:to>
                                    </p:set>
                                    <p:animEffect transition="in" filter="fade">
                                      <p:cBhvr>
                                        <p:cTn id="38" dur="500"/>
                                        <p:tgtEl>
                                          <p:spTgt spid="6">
                                            <p:txEl>
                                              <p:pRg st="13" end="13"/>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6">
                                            <p:txEl>
                                              <p:pRg st="14" end="14"/>
                                            </p:txEl>
                                          </p:spTgt>
                                        </p:tgtEl>
                                        <p:attrNameLst>
                                          <p:attrName>style.visibility</p:attrName>
                                        </p:attrNameLst>
                                      </p:cBhvr>
                                      <p:to>
                                        <p:strVal val="visible"/>
                                      </p:to>
                                    </p:set>
                                    <p:animEffect transition="in" filter="fade">
                                      <p:cBhvr>
                                        <p:cTn id="41" dur="500"/>
                                        <p:tgtEl>
                                          <p:spTgt spid="6">
                                            <p:txEl>
                                              <p:pRg st="14" end="1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7"/>
                                        </p:tgtEl>
                                        <p:attrNameLst>
                                          <p:attrName>style.visibility</p:attrName>
                                        </p:attrNameLst>
                                      </p:cBhvr>
                                      <p:to>
                                        <p:strVal val="visible"/>
                                      </p:to>
                                    </p:set>
                                    <p:animEffect transition="in" filter="fade">
                                      <p:cBhvr>
                                        <p:cTn id="46" dur="500"/>
                                        <p:tgtEl>
                                          <p:spTgt spid="10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E69B874-028C-1709-D5E1-220228D76E78}"/>
              </a:ext>
            </a:extLst>
          </p:cNvPr>
          <p:cNvSpPr>
            <a:spLocks noGrp="1"/>
          </p:cNvSpPr>
          <p:nvPr>
            <p:ph type="title"/>
          </p:nvPr>
        </p:nvSpPr>
        <p:spPr/>
        <p:txBody>
          <a:bodyPr/>
          <a:lstStyle/>
          <a:p>
            <a:r>
              <a:rPr lang="ru-RU" dirty="0"/>
              <a:t>Кеш-линии (</a:t>
            </a:r>
            <a:r>
              <a:rPr lang="en-US" dirty="0"/>
              <a:t>Cache Lines)</a:t>
            </a:r>
          </a:p>
        </p:txBody>
      </p:sp>
      <p:sp>
        <p:nvSpPr>
          <p:cNvPr id="5" name="TextBox 4">
            <a:extLst>
              <a:ext uri="{FF2B5EF4-FFF2-40B4-BE49-F238E27FC236}">
                <a16:creationId xmlns:a16="http://schemas.microsoft.com/office/drawing/2014/main" id="{25E51656-76C3-ACB8-CD53-6D005C8C2F9E}"/>
              </a:ext>
            </a:extLst>
          </p:cNvPr>
          <p:cNvSpPr txBox="1"/>
          <p:nvPr/>
        </p:nvSpPr>
        <p:spPr>
          <a:xfrm>
            <a:off x="6096000" y="2019300"/>
            <a:ext cx="1514474" cy="369332"/>
          </a:xfrm>
          <a:prstGeom prst="rect">
            <a:avLst/>
          </a:prstGeom>
          <a:noFill/>
        </p:spPr>
        <p:txBody>
          <a:bodyPr wrap="square" rtlCol="0">
            <a:spAutoFit/>
          </a:bodyPr>
          <a:lstStyle/>
          <a:p>
            <a:r>
              <a:rPr lang="en-US" dirty="0">
                <a:latin typeface="Consolas" panose="020B0609020204030204" pitchFamily="49" charset="0"/>
              </a:rPr>
              <a:t>0x00000000</a:t>
            </a:r>
          </a:p>
        </p:txBody>
      </p:sp>
      <p:sp>
        <p:nvSpPr>
          <p:cNvPr id="7" name="Rectangle 6">
            <a:extLst>
              <a:ext uri="{FF2B5EF4-FFF2-40B4-BE49-F238E27FC236}">
                <a16:creationId xmlns:a16="http://schemas.microsoft.com/office/drawing/2014/main" id="{8348BACE-462E-7AA5-CE9A-C554D7E0AC83}"/>
              </a:ext>
            </a:extLst>
          </p:cNvPr>
          <p:cNvSpPr/>
          <p:nvPr/>
        </p:nvSpPr>
        <p:spPr>
          <a:xfrm>
            <a:off x="7610474"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A7BBF7F-A11C-B2C1-E70D-63768BC31FBF}"/>
              </a:ext>
            </a:extLst>
          </p:cNvPr>
          <p:cNvSpPr/>
          <p:nvPr/>
        </p:nvSpPr>
        <p:spPr>
          <a:xfrm>
            <a:off x="7877175"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2C8C54-4520-D184-F264-9A1967A25C7D}"/>
              </a:ext>
            </a:extLst>
          </p:cNvPr>
          <p:cNvSpPr/>
          <p:nvPr/>
        </p:nvSpPr>
        <p:spPr>
          <a:xfrm>
            <a:off x="8143876"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B42E679-A905-45AE-08B3-7C081C5E8585}"/>
              </a:ext>
            </a:extLst>
          </p:cNvPr>
          <p:cNvSpPr/>
          <p:nvPr/>
        </p:nvSpPr>
        <p:spPr>
          <a:xfrm>
            <a:off x="8410577"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350091A-61F7-6643-39CF-93635BEAFFA6}"/>
              </a:ext>
            </a:extLst>
          </p:cNvPr>
          <p:cNvSpPr/>
          <p:nvPr/>
        </p:nvSpPr>
        <p:spPr>
          <a:xfrm>
            <a:off x="8677278"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344182-A400-65B9-569C-BB3E97CE7302}"/>
              </a:ext>
            </a:extLst>
          </p:cNvPr>
          <p:cNvSpPr/>
          <p:nvPr/>
        </p:nvSpPr>
        <p:spPr>
          <a:xfrm>
            <a:off x="8943979"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B1DE75B-2ED9-BF97-2974-10A2ADD5CF3F}"/>
              </a:ext>
            </a:extLst>
          </p:cNvPr>
          <p:cNvSpPr/>
          <p:nvPr/>
        </p:nvSpPr>
        <p:spPr>
          <a:xfrm>
            <a:off x="9210680"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8941F8-715D-2013-91A6-CB066EDED872}"/>
              </a:ext>
            </a:extLst>
          </p:cNvPr>
          <p:cNvSpPr/>
          <p:nvPr/>
        </p:nvSpPr>
        <p:spPr>
          <a:xfrm>
            <a:off x="9477381"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8702525-52C7-CFA4-5896-2B58C65756B3}"/>
              </a:ext>
            </a:extLst>
          </p:cNvPr>
          <p:cNvSpPr/>
          <p:nvPr/>
        </p:nvSpPr>
        <p:spPr>
          <a:xfrm>
            <a:off x="9744082"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76BE696-66A2-3D95-3CE9-F986BB447701}"/>
              </a:ext>
            </a:extLst>
          </p:cNvPr>
          <p:cNvSpPr/>
          <p:nvPr/>
        </p:nvSpPr>
        <p:spPr>
          <a:xfrm>
            <a:off x="10010783"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960EF95-0647-902F-CA4C-2228A725F9F9}"/>
              </a:ext>
            </a:extLst>
          </p:cNvPr>
          <p:cNvSpPr/>
          <p:nvPr/>
        </p:nvSpPr>
        <p:spPr>
          <a:xfrm>
            <a:off x="10277484"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00A0BBB-529A-C590-F850-5CD58A595B6D}"/>
              </a:ext>
            </a:extLst>
          </p:cNvPr>
          <p:cNvSpPr/>
          <p:nvPr/>
        </p:nvSpPr>
        <p:spPr>
          <a:xfrm>
            <a:off x="10544185"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DE5BD94-89D7-D63E-9093-EA2A72552C35}"/>
              </a:ext>
            </a:extLst>
          </p:cNvPr>
          <p:cNvSpPr/>
          <p:nvPr/>
        </p:nvSpPr>
        <p:spPr>
          <a:xfrm>
            <a:off x="10810886"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162BF85-B0F3-63EB-A8A0-1EBDF45F4BDF}"/>
              </a:ext>
            </a:extLst>
          </p:cNvPr>
          <p:cNvSpPr/>
          <p:nvPr/>
        </p:nvSpPr>
        <p:spPr>
          <a:xfrm>
            <a:off x="11077587"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F877643-37CE-099A-5A2B-DF84E1E765E0}"/>
              </a:ext>
            </a:extLst>
          </p:cNvPr>
          <p:cNvSpPr/>
          <p:nvPr/>
        </p:nvSpPr>
        <p:spPr>
          <a:xfrm>
            <a:off x="11344288"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13BD1DA-F407-2CCA-AE3B-86C242FD7894}"/>
              </a:ext>
            </a:extLst>
          </p:cNvPr>
          <p:cNvSpPr/>
          <p:nvPr/>
        </p:nvSpPr>
        <p:spPr>
          <a:xfrm>
            <a:off x="11610989" y="2028825"/>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4F879BD-6D64-C188-5B8E-FDA51ACE0F59}"/>
              </a:ext>
            </a:extLst>
          </p:cNvPr>
          <p:cNvSpPr txBox="1"/>
          <p:nvPr/>
        </p:nvSpPr>
        <p:spPr>
          <a:xfrm>
            <a:off x="6096000" y="2357437"/>
            <a:ext cx="1514474" cy="369332"/>
          </a:xfrm>
          <a:prstGeom prst="rect">
            <a:avLst/>
          </a:prstGeom>
          <a:noFill/>
        </p:spPr>
        <p:txBody>
          <a:bodyPr wrap="square" rtlCol="0">
            <a:spAutoFit/>
          </a:bodyPr>
          <a:lstStyle/>
          <a:p>
            <a:r>
              <a:rPr lang="en-US" dirty="0">
                <a:latin typeface="Consolas" panose="020B0609020204030204" pitchFamily="49" charset="0"/>
              </a:rPr>
              <a:t>0x00000040</a:t>
            </a:r>
          </a:p>
        </p:txBody>
      </p:sp>
      <p:sp>
        <p:nvSpPr>
          <p:cNvPr id="236" name="Rectangle 235">
            <a:extLst>
              <a:ext uri="{FF2B5EF4-FFF2-40B4-BE49-F238E27FC236}">
                <a16:creationId xmlns:a16="http://schemas.microsoft.com/office/drawing/2014/main" id="{4D142D95-0005-DA27-7BAD-CEF0CCBCB73B}"/>
              </a:ext>
            </a:extLst>
          </p:cNvPr>
          <p:cNvSpPr/>
          <p:nvPr/>
        </p:nvSpPr>
        <p:spPr>
          <a:xfrm>
            <a:off x="7610474"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9CFCA8B4-DFE1-1291-23B4-1AA2ACF94916}"/>
              </a:ext>
            </a:extLst>
          </p:cNvPr>
          <p:cNvSpPr/>
          <p:nvPr/>
        </p:nvSpPr>
        <p:spPr>
          <a:xfrm>
            <a:off x="7877175"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A4982F10-6E56-4D72-AB20-151D306CC2A4}"/>
              </a:ext>
            </a:extLst>
          </p:cNvPr>
          <p:cNvSpPr/>
          <p:nvPr/>
        </p:nvSpPr>
        <p:spPr>
          <a:xfrm>
            <a:off x="8143876"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9A70B418-BB19-75DB-8CF2-4922DADBD9E8}"/>
              </a:ext>
            </a:extLst>
          </p:cNvPr>
          <p:cNvSpPr/>
          <p:nvPr/>
        </p:nvSpPr>
        <p:spPr>
          <a:xfrm>
            <a:off x="8410577"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FA88C761-2C14-D786-6C3E-70015E6AB4C4}"/>
              </a:ext>
            </a:extLst>
          </p:cNvPr>
          <p:cNvSpPr/>
          <p:nvPr/>
        </p:nvSpPr>
        <p:spPr>
          <a:xfrm>
            <a:off x="8677278"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EF318769-2488-6DF0-0389-FEE31B615004}"/>
              </a:ext>
            </a:extLst>
          </p:cNvPr>
          <p:cNvSpPr/>
          <p:nvPr/>
        </p:nvSpPr>
        <p:spPr>
          <a:xfrm>
            <a:off x="8943979"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D8B7F8E9-DBA1-1029-4053-B857CF7EDA2E}"/>
              </a:ext>
            </a:extLst>
          </p:cNvPr>
          <p:cNvSpPr/>
          <p:nvPr/>
        </p:nvSpPr>
        <p:spPr>
          <a:xfrm>
            <a:off x="9210680"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63F346D6-DA66-C8EB-D58D-839F917147C8}"/>
              </a:ext>
            </a:extLst>
          </p:cNvPr>
          <p:cNvSpPr/>
          <p:nvPr/>
        </p:nvSpPr>
        <p:spPr>
          <a:xfrm>
            <a:off x="9477381"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7095BA97-D2CF-D823-80C0-593EA80DBBD5}"/>
              </a:ext>
            </a:extLst>
          </p:cNvPr>
          <p:cNvSpPr/>
          <p:nvPr/>
        </p:nvSpPr>
        <p:spPr>
          <a:xfrm>
            <a:off x="9744082"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9384662B-831C-58C7-F479-B579CBBF8B20}"/>
              </a:ext>
            </a:extLst>
          </p:cNvPr>
          <p:cNvSpPr/>
          <p:nvPr/>
        </p:nvSpPr>
        <p:spPr>
          <a:xfrm>
            <a:off x="10010783"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069CC463-B2EF-3B04-412F-AE21135E3C94}"/>
              </a:ext>
            </a:extLst>
          </p:cNvPr>
          <p:cNvSpPr/>
          <p:nvPr/>
        </p:nvSpPr>
        <p:spPr>
          <a:xfrm>
            <a:off x="10277484"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1D606E2A-5DB9-A1C4-9BA3-A4EB07F01C07}"/>
              </a:ext>
            </a:extLst>
          </p:cNvPr>
          <p:cNvSpPr/>
          <p:nvPr/>
        </p:nvSpPr>
        <p:spPr>
          <a:xfrm>
            <a:off x="10544185"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41A8F821-486F-84AC-84B2-4F101E357D19}"/>
              </a:ext>
            </a:extLst>
          </p:cNvPr>
          <p:cNvSpPr/>
          <p:nvPr/>
        </p:nvSpPr>
        <p:spPr>
          <a:xfrm>
            <a:off x="10810886"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0EC2471F-49F7-5B09-87E5-C5462403F66D}"/>
              </a:ext>
            </a:extLst>
          </p:cNvPr>
          <p:cNvSpPr/>
          <p:nvPr/>
        </p:nvSpPr>
        <p:spPr>
          <a:xfrm>
            <a:off x="11077587"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F974D83F-788B-85DE-3C57-6D9D5EE96DD2}"/>
              </a:ext>
            </a:extLst>
          </p:cNvPr>
          <p:cNvSpPr/>
          <p:nvPr/>
        </p:nvSpPr>
        <p:spPr>
          <a:xfrm>
            <a:off x="11344288"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51ED5502-A89F-67AF-8407-94B465B286C0}"/>
              </a:ext>
            </a:extLst>
          </p:cNvPr>
          <p:cNvSpPr/>
          <p:nvPr/>
        </p:nvSpPr>
        <p:spPr>
          <a:xfrm>
            <a:off x="11610989" y="2366962"/>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53" name="TextBox 252">
            <a:extLst>
              <a:ext uri="{FF2B5EF4-FFF2-40B4-BE49-F238E27FC236}">
                <a16:creationId xmlns:a16="http://schemas.microsoft.com/office/drawing/2014/main" id="{4F196A0E-4940-2134-5971-D486FEEED210}"/>
              </a:ext>
            </a:extLst>
          </p:cNvPr>
          <p:cNvSpPr txBox="1"/>
          <p:nvPr/>
        </p:nvSpPr>
        <p:spPr>
          <a:xfrm>
            <a:off x="6096000" y="2695574"/>
            <a:ext cx="1514474" cy="369332"/>
          </a:xfrm>
          <a:prstGeom prst="rect">
            <a:avLst/>
          </a:prstGeom>
          <a:noFill/>
        </p:spPr>
        <p:txBody>
          <a:bodyPr wrap="square" rtlCol="0">
            <a:spAutoFit/>
          </a:bodyPr>
          <a:lstStyle/>
          <a:p>
            <a:r>
              <a:rPr lang="en-US" dirty="0">
                <a:latin typeface="Consolas" panose="020B0609020204030204" pitchFamily="49" charset="0"/>
              </a:rPr>
              <a:t>0x00000080</a:t>
            </a:r>
          </a:p>
        </p:txBody>
      </p:sp>
      <p:sp>
        <p:nvSpPr>
          <p:cNvPr id="254" name="Rectangle 253">
            <a:extLst>
              <a:ext uri="{FF2B5EF4-FFF2-40B4-BE49-F238E27FC236}">
                <a16:creationId xmlns:a16="http://schemas.microsoft.com/office/drawing/2014/main" id="{7CD1C87D-CA81-23EF-9255-334C60342CE4}"/>
              </a:ext>
            </a:extLst>
          </p:cNvPr>
          <p:cNvSpPr/>
          <p:nvPr/>
        </p:nvSpPr>
        <p:spPr>
          <a:xfrm>
            <a:off x="7610474"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5" name="Rectangle 254">
            <a:extLst>
              <a:ext uri="{FF2B5EF4-FFF2-40B4-BE49-F238E27FC236}">
                <a16:creationId xmlns:a16="http://schemas.microsoft.com/office/drawing/2014/main" id="{103BE469-EF26-689D-D5F3-5BB879DE9D3C}"/>
              </a:ext>
            </a:extLst>
          </p:cNvPr>
          <p:cNvSpPr/>
          <p:nvPr/>
        </p:nvSpPr>
        <p:spPr>
          <a:xfrm>
            <a:off x="7877175"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6" name="Rectangle 255">
            <a:extLst>
              <a:ext uri="{FF2B5EF4-FFF2-40B4-BE49-F238E27FC236}">
                <a16:creationId xmlns:a16="http://schemas.microsoft.com/office/drawing/2014/main" id="{E8A104D0-9C6B-0BB5-0A46-ACF062A37756}"/>
              </a:ext>
            </a:extLst>
          </p:cNvPr>
          <p:cNvSpPr/>
          <p:nvPr/>
        </p:nvSpPr>
        <p:spPr>
          <a:xfrm>
            <a:off x="8143876"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7" name="Rectangle 256">
            <a:extLst>
              <a:ext uri="{FF2B5EF4-FFF2-40B4-BE49-F238E27FC236}">
                <a16:creationId xmlns:a16="http://schemas.microsoft.com/office/drawing/2014/main" id="{993C5F0E-258B-7B2F-D94A-FCCD3BB4CF5F}"/>
              </a:ext>
            </a:extLst>
          </p:cNvPr>
          <p:cNvSpPr/>
          <p:nvPr/>
        </p:nvSpPr>
        <p:spPr>
          <a:xfrm>
            <a:off x="8410577"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CA65C90F-DA06-E520-D6EE-F66BFD275246}"/>
              </a:ext>
            </a:extLst>
          </p:cNvPr>
          <p:cNvSpPr/>
          <p:nvPr/>
        </p:nvSpPr>
        <p:spPr>
          <a:xfrm>
            <a:off x="8677278"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9" name="Rectangle 258">
            <a:extLst>
              <a:ext uri="{FF2B5EF4-FFF2-40B4-BE49-F238E27FC236}">
                <a16:creationId xmlns:a16="http://schemas.microsoft.com/office/drawing/2014/main" id="{BC733E81-A2DF-D2FA-A2A7-1853E50E263D}"/>
              </a:ext>
            </a:extLst>
          </p:cNvPr>
          <p:cNvSpPr/>
          <p:nvPr/>
        </p:nvSpPr>
        <p:spPr>
          <a:xfrm>
            <a:off x="8943979"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7244CCCF-ACBA-6D06-8D96-D15D4E62B5C2}"/>
              </a:ext>
            </a:extLst>
          </p:cNvPr>
          <p:cNvSpPr/>
          <p:nvPr/>
        </p:nvSpPr>
        <p:spPr>
          <a:xfrm>
            <a:off x="9210680"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1" name="Rectangle 260">
            <a:extLst>
              <a:ext uri="{FF2B5EF4-FFF2-40B4-BE49-F238E27FC236}">
                <a16:creationId xmlns:a16="http://schemas.microsoft.com/office/drawing/2014/main" id="{B709A4A4-C3C2-A0B4-0AEE-9FB54E587684}"/>
              </a:ext>
            </a:extLst>
          </p:cNvPr>
          <p:cNvSpPr/>
          <p:nvPr/>
        </p:nvSpPr>
        <p:spPr>
          <a:xfrm>
            <a:off x="9477381"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2" name="Rectangle 261">
            <a:extLst>
              <a:ext uri="{FF2B5EF4-FFF2-40B4-BE49-F238E27FC236}">
                <a16:creationId xmlns:a16="http://schemas.microsoft.com/office/drawing/2014/main" id="{3B0ED8AE-A673-83F1-8693-2A680C8F6E24}"/>
              </a:ext>
            </a:extLst>
          </p:cNvPr>
          <p:cNvSpPr/>
          <p:nvPr/>
        </p:nvSpPr>
        <p:spPr>
          <a:xfrm>
            <a:off x="9744082"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7885F317-6B2B-C924-500B-2BFEF08B230C}"/>
              </a:ext>
            </a:extLst>
          </p:cNvPr>
          <p:cNvSpPr/>
          <p:nvPr/>
        </p:nvSpPr>
        <p:spPr>
          <a:xfrm>
            <a:off x="10010783"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4" name="Rectangle 263">
            <a:extLst>
              <a:ext uri="{FF2B5EF4-FFF2-40B4-BE49-F238E27FC236}">
                <a16:creationId xmlns:a16="http://schemas.microsoft.com/office/drawing/2014/main" id="{61DADEFF-1A8C-6402-CB00-52689652B7FB}"/>
              </a:ext>
            </a:extLst>
          </p:cNvPr>
          <p:cNvSpPr/>
          <p:nvPr/>
        </p:nvSpPr>
        <p:spPr>
          <a:xfrm>
            <a:off x="10277484"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E4ECBB6F-F8E4-D5FD-1124-A1D4EAF54E6D}"/>
              </a:ext>
            </a:extLst>
          </p:cNvPr>
          <p:cNvSpPr/>
          <p:nvPr/>
        </p:nvSpPr>
        <p:spPr>
          <a:xfrm>
            <a:off x="10544185"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6" name="Rectangle 265">
            <a:extLst>
              <a:ext uri="{FF2B5EF4-FFF2-40B4-BE49-F238E27FC236}">
                <a16:creationId xmlns:a16="http://schemas.microsoft.com/office/drawing/2014/main" id="{168C1DA3-E85C-8088-0118-185DD3683F2A}"/>
              </a:ext>
            </a:extLst>
          </p:cNvPr>
          <p:cNvSpPr/>
          <p:nvPr/>
        </p:nvSpPr>
        <p:spPr>
          <a:xfrm>
            <a:off x="10810886"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7" name="Rectangle 266">
            <a:extLst>
              <a:ext uri="{FF2B5EF4-FFF2-40B4-BE49-F238E27FC236}">
                <a16:creationId xmlns:a16="http://schemas.microsoft.com/office/drawing/2014/main" id="{24F86FB9-37BD-222F-511B-298B782107A3}"/>
              </a:ext>
            </a:extLst>
          </p:cNvPr>
          <p:cNvSpPr/>
          <p:nvPr/>
        </p:nvSpPr>
        <p:spPr>
          <a:xfrm>
            <a:off x="11077587"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8" name="Rectangle 267">
            <a:extLst>
              <a:ext uri="{FF2B5EF4-FFF2-40B4-BE49-F238E27FC236}">
                <a16:creationId xmlns:a16="http://schemas.microsoft.com/office/drawing/2014/main" id="{9775EE4F-B96A-E00D-A984-90AFFA2E1BB7}"/>
              </a:ext>
            </a:extLst>
          </p:cNvPr>
          <p:cNvSpPr/>
          <p:nvPr/>
        </p:nvSpPr>
        <p:spPr>
          <a:xfrm>
            <a:off x="11344288"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9" name="Rectangle 268">
            <a:extLst>
              <a:ext uri="{FF2B5EF4-FFF2-40B4-BE49-F238E27FC236}">
                <a16:creationId xmlns:a16="http://schemas.microsoft.com/office/drawing/2014/main" id="{490AC82A-132C-730F-D7D7-308B704F29C4}"/>
              </a:ext>
            </a:extLst>
          </p:cNvPr>
          <p:cNvSpPr/>
          <p:nvPr/>
        </p:nvSpPr>
        <p:spPr>
          <a:xfrm>
            <a:off x="11610989" y="270509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1" name="TextBox 270">
            <a:extLst>
              <a:ext uri="{FF2B5EF4-FFF2-40B4-BE49-F238E27FC236}">
                <a16:creationId xmlns:a16="http://schemas.microsoft.com/office/drawing/2014/main" id="{13AA300F-1291-1E56-9C73-822CD8875686}"/>
              </a:ext>
            </a:extLst>
          </p:cNvPr>
          <p:cNvSpPr txBox="1"/>
          <p:nvPr/>
        </p:nvSpPr>
        <p:spPr>
          <a:xfrm>
            <a:off x="6096000" y="3033711"/>
            <a:ext cx="1514474" cy="369332"/>
          </a:xfrm>
          <a:prstGeom prst="rect">
            <a:avLst/>
          </a:prstGeom>
          <a:noFill/>
        </p:spPr>
        <p:txBody>
          <a:bodyPr wrap="square" rtlCol="0">
            <a:spAutoFit/>
          </a:bodyPr>
          <a:lstStyle/>
          <a:p>
            <a:r>
              <a:rPr lang="en-US" dirty="0">
                <a:latin typeface="Consolas" panose="020B0609020204030204" pitchFamily="49" charset="0"/>
              </a:rPr>
              <a:t>0x000000C0</a:t>
            </a:r>
          </a:p>
        </p:txBody>
      </p:sp>
      <p:sp>
        <p:nvSpPr>
          <p:cNvPr id="272" name="Rectangle 271">
            <a:extLst>
              <a:ext uri="{FF2B5EF4-FFF2-40B4-BE49-F238E27FC236}">
                <a16:creationId xmlns:a16="http://schemas.microsoft.com/office/drawing/2014/main" id="{94B86761-31FF-513E-2D0A-03E7772860C5}"/>
              </a:ext>
            </a:extLst>
          </p:cNvPr>
          <p:cNvSpPr/>
          <p:nvPr/>
        </p:nvSpPr>
        <p:spPr>
          <a:xfrm>
            <a:off x="7610474"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3" name="Rectangle 272">
            <a:extLst>
              <a:ext uri="{FF2B5EF4-FFF2-40B4-BE49-F238E27FC236}">
                <a16:creationId xmlns:a16="http://schemas.microsoft.com/office/drawing/2014/main" id="{6832DAAD-58F2-E62A-36B2-7EECB77817E6}"/>
              </a:ext>
            </a:extLst>
          </p:cNvPr>
          <p:cNvSpPr/>
          <p:nvPr/>
        </p:nvSpPr>
        <p:spPr>
          <a:xfrm>
            <a:off x="7877175"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BF7D012D-6C3B-8B3D-0AF1-67959E4361A7}"/>
              </a:ext>
            </a:extLst>
          </p:cNvPr>
          <p:cNvSpPr/>
          <p:nvPr/>
        </p:nvSpPr>
        <p:spPr>
          <a:xfrm>
            <a:off x="8143876"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5" name="Rectangle 274">
            <a:extLst>
              <a:ext uri="{FF2B5EF4-FFF2-40B4-BE49-F238E27FC236}">
                <a16:creationId xmlns:a16="http://schemas.microsoft.com/office/drawing/2014/main" id="{3AD01B82-52BD-02E4-2F21-D2E5FB542A3B}"/>
              </a:ext>
            </a:extLst>
          </p:cNvPr>
          <p:cNvSpPr/>
          <p:nvPr/>
        </p:nvSpPr>
        <p:spPr>
          <a:xfrm>
            <a:off x="8410577"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6" name="Rectangle 275">
            <a:extLst>
              <a:ext uri="{FF2B5EF4-FFF2-40B4-BE49-F238E27FC236}">
                <a16:creationId xmlns:a16="http://schemas.microsoft.com/office/drawing/2014/main" id="{A0555FF3-3707-7FAB-90AF-2723BE05150B}"/>
              </a:ext>
            </a:extLst>
          </p:cNvPr>
          <p:cNvSpPr/>
          <p:nvPr/>
        </p:nvSpPr>
        <p:spPr>
          <a:xfrm>
            <a:off x="8677278"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910646DB-72E9-8B71-DB8B-28961D04C2C9}"/>
              </a:ext>
            </a:extLst>
          </p:cNvPr>
          <p:cNvSpPr/>
          <p:nvPr/>
        </p:nvSpPr>
        <p:spPr>
          <a:xfrm>
            <a:off x="8943979"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8" name="Rectangle 277">
            <a:extLst>
              <a:ext uri="{FF2B5EF4-FFF2-40B4-BE49-F238E27FC236}">
                <a16:creationId xmlns:a16="http://schemas.microsoft.com/office/drawing/2014/main" id="{8077E863-F744-F9B9-7104-48FC5BD9E4FD}"/>
              </a:ext>
            </a:extLst>
          </p:cNvPr>
          <p:cNvSpPr/>
          <p:nvPr/>
        </p:nvSpPr>
        <p:spPr>
          <a:xfrm>
            <a:off x="9210680"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E84FFC5E-BCE6-D9C9-8B90-73A27E4936CB}"/>
              </a:ext>
            </a:extLst>
          </p:cNvPr>
          <p:cNvSpPr/>
          <p:nvPr/>
        </p:nvSpPr>
        <p:spPr>
          <a:xfrm>
            <a:off x="9477381"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0" name="Rectangle 279">
            <a:extLst>
              <a:ext uri="{FF2B5EF4-FFF2-40B4-BE49-F238E27FC236}">
                <a16:creationId xmlns:a16="http://schemas.microsoft.com/office/drawing/2014/main" id="{3331B065-7803-D32A-277F-FBE1BE5ADEFE}"/>
              </a:ext>
            </a:extLst>
          </p:cNvPr>
          <p:cNvSpPr/>
          <p:nvPr/>
        </p:nvSpPr>
        <p:spPr>
          <a:xfrm>
            <a:off x="9744082"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1" name="Rectangle 280">
            <a:extLst>
              <a:ext uri="{FF2B5EF4-FFF2-40B4-BE49-F238E27FC236}">
                <a16:creationId xmlns:a16="http://schemas.microsoft.com/office/drawing/2014/main" id="{BE14A287-9E58-D1DB-3D79-227141C131BB}"/>
              </a:ext>
            </a:extLst>
          </p:cNvPr>
          <p:cNvSpPr/>
          <p:nvPr/>
        </p:nvSpPr>
        <p:spPr>
          <a:xfrm>
            <a:off x="10010783"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2" name="Rectangle 281">
            <a:extLst>
              <a:ext uri="{FF2B5EF4-FFF2-40B4-BE49-F238E27FC236}">
                <a16:creationId xmlns:a16="http://schemas.microsoft.com/office/drawing/2014/main" id="{A6C43D2A-F436-AF1D-8FED-B9802FF04420}"/>
              </a:ext>
            </a:extLst>
          </p:cNvPr>
          <p:cNvSpPr/>
          <p:nvPr/>
        </p:nvSpPr>
        <p:spPr>
          <a:xfrm>
            <a:off x="10277484"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3" name="Rectangle 282">
            <a:extLst>
              <a:ext uri="{FF2B5EF4-FFF2-40B4-BE49-F238E27FC236}">
                <a16:creationId xmlns:a16="http://schemas.microsoft.com/office/drawing/2014/main" id="{E050A3E4-76A6-BC33-496A-C6597A685AEE}"/>
              </a:ext>
            </a:extLst>
          </p:cNvPr>
          <p:cNvSpPr/>
          <p:nvPr/>
        </p:nvSpPr>
        <p:spPr>
          <a:xfrm>
            <a:off x="10544185"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B6262571-1875-BADC-0D0F-4B4095CDB762}"/>
              </a:ext>
            </a:extLst>
          </p:cNvPr>
          <p:cNvSpPr/>
          <p:nvPr/>
        </p:nvSpPr>
        <p:spPr>
          <a:xfrm>
            <a:off x="10810886"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5" name="Rectangle 284">
            <a:extLst>
              <a:ext uri="{FF2B5EF4-FFF2-40B4-BE49-F238E27FC236}">
                <a16:creationId xmlns:a16="http://schemas.microsoft.com/office/drawing/2014/main" id="{A8D3B4B9-819D-0B74-EFED-41CDC3F55DE1}"/>
              </a:ext>
            </a:extLst>
          </p:cNvPr>
          <p:cNvSpPr/>
          <p:nvPr/>
        </p:nvSpPr>
        <p:spPr>
          <a:xfrm>
            <a:off x="11077587"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A0C503F3-55DC-53F3-4C12-12F8E3AE8E95}"/>
              </a:ext>
            </a:extLst>
          </p:cNvPr>
          <p:cNvSpPr/>
          <p:nvPr/>
        </p:nvSpPr>
        <p:spPr>
          <a:xfrm>
            <a:off x="11344288"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7" name="Rectangle 286">
            <a:extLst>
              <a:ext uri="{FF2B5EF4-FFF2-40B4-BE49-F238E27FC236}">
                <a16:creationId xmlns:a16="http://schemas.microsoft.com/office/drawing/2014/main" id="{44E2C573-1F4F-3BFE-65AD-694288F3626A}"/>
              </a:ext>
            </a:extLst>
          </p:cNvPr>
          <p:cNvSpPr/>
          <p:nvPr/>
        </p:nvSpPr>
        <p:spPr>
          <a:xfrm>
            <a:off x="11610989" y="304323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9" name="TextBox 288">
            <a:extLst>
              <a:ext uri="{FF2B5EF4-FFF2-40B4-BE49-F238E27FC236}">
                <a16:creationId xmlns:a16="http://schemas.microsoft.com/office/drawing/2014/main" id="{927D9520-5BC5-60B6-2E20-0AA000F09665}"/>
              </a:ext>
            </a:extLst>
          </p:cNvPr>
          <p:cNvSpPr txBox="1"/>
          <p:nvPr/>
        </p:nvSpPr>
        <p:spPr>
          <a:xfrm>
            <a:off x="6096000" y="3371848"/>
            <a:ext cx="1514474" cy="369332"/>
          </a:xfrm>
          <a:prstGeom prst="rect">
            <a:avLst/>
          </a:prstGeom>
          <a:noFill/>
        </p:spPr>
        <p:txBody>
          <a:bodyPr wrap="square" rtlCol="0">
            <a:spAutoFit/>
          </a:bodyPr>
          <a:lstStyle/>
          <a:p>
            <a:r>
              <a:rPr lang="en-US" dirty="0">
                <a:latin typeface="Consolas" panose="020B0609020204030204" pitchFamily="49" charset="0"/>
              </a:rPr>
              <a:t>0x00000100</a:t>
            </a:r>
          </a:p>
        </p:txBody>
      </p:sp>
      <p:sp>
        <p:nvSpPr>
          <p:cNvPr id="290" name="Rectangle 289">
            <a:extLst>
              <a:ext uri="{FF2B5EF4-FFF2-40B4-BE49-F238E27FC236}">
                <a16:creationId xmlns:a16="http://schemas.microsoft.com/office/drawing/2014/main" id="{8EB96474-E828-E35C-9418-2DAB9AA7EC6F}"/>
              </a:ext>
            </a:extLst>
          </p:cNvPr>
          <p:cNvSpPr/>
          <p:nvPr/>
        </p:nvSpPr>
        <p:spPr>
          <a:xfrm>
            <a:off x="7610474"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1A54A65C-44C7-E7FA-AE05-45095D625784}"/>
              </a:ext>
            </a:extLst>
          </p:cNvPr>
          <p:cNvSpPr/>
          <p:nvPr/>
        </p:nvSpPr>
        <p:spPr>
          <a:xfrm>
            <a:off x="7877175"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2" name="Rectangle 291">
            <a:extLst>
              <a:ext uri="{FF2B5EF4-FFF2-40B4-BE49-F238E27FC236}">
                <a16:creationId xmlns:a16="http://schemas.microsoft.com/office/drawing/2014/main" id="{6C84E16E-9611-4686-4DB7-F6A1037D3072}"/>
              </a:ext>
            </a:extLst>
          </p:cNvPr>
          <p:cNvSpPr/>
          <p:nvPr/>
        </p:nvSpPr>
        <p:spPr>
          <a:xfrm>
            <a:off x="8143876"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3" name="Rectangle 292">
            <a:extLst>
              <a:ext uri="{FF2B5EF4-FFF2-40B4-BE49-F238E27FC236}">
                <a16:creationId xmlns:a16="http://schemas.microsoft.com/office/drawing/2014/main" id="{D61344D7-435F-42A8-1666-964542D1E8DE}"/>
              </a:ext>
            </a:extLst>
          </p:cNvPr>
          <p:cNvSpPr/>
          <p:nvPr/>
        </p:nvSpPr>
        <p:spPr>
          <a:xfrm>
            <a:off x="8410577"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4" name="Rectangle 293">
            <a:extLst>
              <a:ext uri="{FF2B5EF4-FFF2-40B4-BE49-F238E27FC236}">
                <a16:creationId xmlns:a16="http://schemas.microsoft.com/office/drawing/2014/main" id="{E2DBDD95-E70D-9B70-06CA-644B5C507E40}"/>
              </a:ext>
            </a:extLst>
          </p:cNvPr>
          <p:cNvSpPr/>
          <p:nvPr/>
        </p:nvSpPr>
        <p:spPr>
          <a:xfrm>
            <a:off x="8677278"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5" name="Rectangle 294">
            <a:extLst>
              <a:ext uri="{FF2B5EF4-FFF2-40B4-BE49-F238E27FC236}">
                <a16:creationId xmlns:a16="http://schemas.microsoft.com/office/drawing/2014/main" id="{F47AF695-877C-1DE6-917E-92F53D9AD104}"/>
              </a:ext>
            </a:extLst>
          </p:cNvPr>
          <p:cNvSpPr/>
          <p:nvPr/>
        </p:nvSpPr>
        <p:spPr>
          <a:xfrm>
            <a:off x="8943979"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6" name="Rectangle 295">
            <a:extLst>
              <a:ext uri="{FF2B5EF4-FFF2-40B4-BE49-F238E27FC236}">
                <a16:creationId xmlns:a16="http://schemas.microsoft.com/office/drawing/2014/main" id="{63058515-C47D-110C-F0E0-07A75D913647}"/>
              </a:ext>
            </a:extLst>
          </p:cNvPr>
          <p:cNvSpPr/>
          <p:nvPr/>
        </p:nvSpPr>
        <p:spPr>
          <a:xfrm>
            <a:off x="9210680"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7" name="Rectangle 296">
            <a:extLst>
              <a:ext uri="{FF2B5EF4-FFF2-40B4-BE49-F238E27FC236}">
                <a16:creationId xmlns:a16="http://schemas.microsoft.com/office/drawing/2014/main" id="{A20F6E41-7214-C525-692A-5255B20323DB}"/>
              </a:ext>
            </a:extLst>
          </p:cNvPr>
          <p:cNvSpPr/>
          <p:nvPr/>
        </p:nvSpPr>
        <p:spPr>
          <a:xfrm>
            <a:off x="9477381"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8" name="Rectangle 297">
            <a:extLst>
              <a:ext uri="{FF2B5EF4-FFF2-40B4-BE49-F238E27FC236}">
                <a16:creationId xmlns:a16="http://schemas.microsoft.com/office/drawing/2014/main" id="{A77D448F-C980-B412-0378-E7498F57E909}"/>
              </a:ext>
            </a:extLst>
          </p:cNvPr>
          <p:cNvSpPr/>
          <p:nvPr/>
        </p:nvSpPr>
        <p:spPr>
          <a:xfrm>
            <a:off x="9744082"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9" name="Rectangle 298">
            <a:extLst>
              <a:ext uri="{FF2B5EF4-FFF2-40B4-BE49-F238E27FC236}">
                <a16:creationId xmlns:a16="http://schemas.microsoft.com/office/drawing/2014/main" id="{390C3326-C21F-DD0E-4D9C-6DBC773687B3}"/>
              </a:ext>
            </a:extLst>
          </p:cNvPr>
          <p:cNvSpPr/>
          <p:nvPr/>
        </p:nvSpPr>
        <p:spPr>
          <a:xfrm>
            <a:off x="10010783"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0" name="Rectangle 299">
            <a:extLst>
              <a:ext uri="{FF2B5EF4-FFF2-40B4-BE49-F238E27FC236}">
                <a16:creationId xmlns:a16="http://schemas.microsoft.com/office/drawing/2014/main" id="{A28C3DF1-08BB-F5A6-9613-9E0DD3F56315}"/>
              </a:ext>
            </a:extLst>
          </p:cNvPr>
          <p:cNvSpPr/>
          <p:nvPr/>
        </p:nvSpPr>
        <p:spPr>
          <a:xfrm>
            <a:off x="10277484"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1" name="Rectangle 300">
            <a:extLst>
              <a:ext uri="{FF2B5EF4-FFF2-40B4-BE49-F238E27FC236}">
                <a16:creationId xmlns:a16="http://schemas.microsoft.com/office/drawing/2014/main" id="{5AAD73C9-F4E2-8970-EBD4-F6FF1FA869DD}"/>
              </a:ext>
            </a:extLst>
          </p:cNvPr>
          <p:cNvSpPr/>
          <p:nvPr/>
        </p:nvSpPr>
        <p:spPr>
          <a:xfrm>
            <a:off x="10544185"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2" name="Rectangle 301">
            <a:extLst>
              <a:ext uri="{FF2B5EF4-FFF2-40B4-BE49-F238E27FC236}">
                <a16:creationId xmlns:a16="http://schemas.microsoft.com/office/drawing/2014/main" id="{FE79B177-19BB-0513-1702-9B1AAB3316A1}"/>
              </a:ext>
            </a:extLst>
          </p:cNvPr>
          <p:cNvSpPr/>
          <p:nvPr/>
        </p:nvSpPr>
        <p:spPr>
          <a:xfrm>
            <a:off x="10810886"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0E4CB510-DACD-08A8-2CFC-493C5089BED4}"/>
              </a:ext>
            </a:extLst>
          </p:cNvPr>
          <p:cNvSpPr/>
          <p:nvPr/>
        </p:nvSpPr>
        <p:spPr>
          <a:xfrm>
            <a:off x="11077587"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4" name="Rectangle 303">
            <a:extLst>
              <a:ext uri="{FF2B5EF4-FFF2-40B4-BE49-F238E27FC236}">
                <a16:creationId xmlns:a16="http://schemas.microsoft.com/office/drawing/2014/main" id="{8FB6430D-3871-0138-6604-340C8FE9D00A}"/>
              </a:ext>
            </a:extLst>
          </p:cNvPr>
          <p:cNvSpPr/>
          <p:nvPr/>
        </p:nvSpPr>
        <p:spPr>
          <a:xfrm>
            <a:off x="11344288"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BB75A829-22CF-A19B-8FA6-E628F8A9E2A9}"/>
              </a:ext>
            </a:extLst>
          </p:cNvPr>
          <p:cNvSpPr/>
          <p:nvPr/>
        </p:nvSpPr>
        <p:spPr>
          <a:xfrm>
            <a:off x="11610989" y="3381373"/>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7" name="TextBox 306">
            <a:extLst>
              <a:ext uri="{FF2B5EF4-FFF2-40B4-BE49-F238E27FC236}">
                <a16:creationId xmlns:a16="http://schemas.microsoft.com/office/drawing/2014/main" id="{E98BB7B8-0111-BF65-F082-B79B13821ABB}"/>
              </a:ext>
            </a:extLst>
          </p:cNvPr>
          <p:cNvSpPr txBox="1"/>
          <p:nvPr/>
        </p:nvSpPr>
        <p:spPr>
          <a:xfrm>
            <a:off x="6096000" y="3709985"/>
            <a:ext cx="1514474" cy="369332"/>
          </a:xfrm>
          <a:prstGeom prst="rect">
            <a:avLst/>
          </a:prstGeom>
          <a:noFill/>
        </p:spPr>
        <p:txBody>
          <a:bodyPr wrap="square" rtlCol="0">
            <a:spAutoFit/>
          </a:bodyPr>
          <a:lstStyle/>
          <a:p>
            <a:r>
              <a:rPr lang="en-US" dirty="0">
                <a:latin typeface="Consolas" panose="020B0609020204030204" pitchFamily="49" charset="0"/>
              </a:rPr>
              <a:t>0x00000140</a:t>
            </a:r>
          </a:p>
        </p:txBody>
      </p:sp>
      <p:sp>
        <p:nvSpPr>
          <p:cNvPr id="308" name="Rectangle 307">
            <a:extLst>
              <a:ext uri="{FF2B5EF4-FFF2-40B4-BE49-F238E27FC236}">
                <a16:creationId xmlns:a16="http://schemas.microsoft.com/office/drawing/2014/main" id="{F31C5E0B-F45A-99F1-335C-21CE8A6EBAA0}"/>
              </a:ext>
            </a:extLst>
          </p:cNvPr>
          <p:cNvSpPr/>
          <p:nvPr/>
        </p:nvSpPr>
        <p:spPr>
          <a:xfrm>
            <a:off x="7610474"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9" name="Rectangle 308">
            <a:extLst>
              <a:ext uri="{FF2B5EF4-FFF2-40B4-BE49-F238E27FC236}">
                <a16:creationId xmlns:a16="http://schemas.microsoft.com/office/drawing/2014/main" id="{32CE6FD5-FADA-3163-2F25-4679F7B93786}"/>
              </a:ext>
            </a:extLst>
          </p:cNvPr>
          <p:cNvSpPr/>
          <p:nvPr/>
        </p:nvSpPr>
        <p:spPr>
          <a:xfrm>
            <a:off x="7877175"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5B86A0FF-6970-36A7-6204-AB69FEE95FEB}"/>
              </a:ext>
            </a:extLst>
          </p:cNvPr>
          <p:cNvSpPr/>
          <p:nvPr/>
        </p:nvSpPr>
        <p:spPr>
          <a:xfrm>
            <a:off x="8143876"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1" name="Rectangle 310">
            <a:extLst>
              <a:ext uri="{FF2B5EF4-FFF2-40B4-BE49-F238E27FC236}">
                <a16:creationId xmlns:a16="http://schemas.microsoft.com/office/drawing/2014/main" id="{D72C4D5C-4A6C-E356-B944-F7F625B55056}"/>
              </a:ext>
            </a:extLst>
          </p:cNvPr>
          <p:cNvSpPr/>
          <p:nvPr/>
        </p:nvSpPr>
        <p:spPr>
          <a:xfrm>
            <a:off x="8410577"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2" name="Rectangle 311">
            <a:extLst>
              <a:ext uri="{FF2B5EF4-FFF2-40B4-BE49-F238E27FC236}">
                <a16:creationId xmlns:a16="http://schemas.microsoft.com/office/drawing/2014/main" id="{7282A221-ECCA-6C1C-2792-4EADB5D3C054}"/>
              </a:ext>
            </a:extLst>
          </p:cNvPr>
          <p:cNvSpPr/>
          <p:nvPr/>
        </p:nvSpPr>
        <p:spPr>
          <a:xfrm>
            <a:off x="8677278"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3" name="Rectangle 312">
            <a:extLst>
              <a:ext uri="{FF2B5EF4-FFF2-40B4-BE49-F238E27FC236}">
                <a16:creationId xmlns:a16="http://schemas.microsoft.com/office/drawing/2014/main" id="{130492F1-EF96-ABAA-A045-5B4F27CEDE16}"/>
              </a:ext>
            </a:extLst>
          </p:cNvPr>
          <p:cNvSpPr/>
          <p:nvPr/>
        </p:nvSpPr>
        <p:spPr>
          <a:xfrm>
            <a:off x="8943979"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4" name="Rectangle 313">
            <a:extLst>
              <a:ext uri="{FF2B5EF4-FFF2-40B4-BE49-F238E27FC236}">
                <a16:creationId xmlns:a16="http://schemas.microsoft.com/office/drawing/2014/main" id="{AABD05E1-C0BD-C57B-3A5E-571D4EBC2269}"/>
              </a:ext>
            </a:extLst>
          </p:cNvPr>
          <p:cNvSpPr/>
          <p:nvPr/>
        </p:nvSpPr>
        <p:spPr>
          <a:xfrm>
            <a:off x="9210680"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1FB5D4C7-6C5E-9FFF-3B9B-B746A1BF4962}"/>
              </a:ext>
            </a:extLst>
          </p:cNvPr>
          <p:cNvSpPr/>
          <p:nvPr/>
        </p:nvSpPr>
        <p:spPr>
          <a:xfrm>
            <a:off x="9477381"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6" name="Rectangle 315">
            <a:extLst>
              <a:ext uri="{FF2B5EF4-FFF2-40B4-BE49-F238E27FC236}">
                <a16:creationId xmlns:a16="http://schemas.microsoft.com/office/drawing/2014/main" id="{28F6C64C-EBAE-F8C2-E50B-A0B518F91C07}"/>
              </a:ext>
            </a:extLst>
          </p:cNvPr>
          <p:cNvSpPr/>
          <p:nvPr/>
        </p:nvSpPr>
        <p:spPr>
          <a:xfrm>
            <a:off x="9744082"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682BF673-7645-77E9-4AE1-CA46271DD76A}"/>
              </a:ext>
            </a:extLst>
          </p:cNvPr>
          <p:cNvSpPr/>
          <p:nvPr/>
        </p:nvSpPr>
        <p:spPr>
          <a:xfrm>
            <a:off x="10010783"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8" name="Rectangle 317">
            <a:extLst>
              <a:ext uri="{FF2B5EF4-FFF2-40B4-BE49-F238E27FC236}">
                <a16:creationId xmlns:a16="http://schemas.microsoft.com/office/drawing/2014/main" id="{C9B7F1BF-8E40-AF2E-A6AA-6DC11B47DA8A}"/>
              </a:ext>
            </a:extLst>
          </p:cNvPr>
          <p:cNvSpPr/>
          <p:nvPr/>
        </p:nvSpPr>
        <p:spPr>
          <a:xfrm>
            <a:off x="10277484"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9" name="Rectangle 318">
            <a:extLst>
              <a:ext uri="{FF2B5EF4-FFF2-40B4-BE49-F238E27FC236}">
                <a16:creationId xmlns:a16="http://schemas.microsoft.com/office/drawing/2014/main" id="{0EEF7D1E-6A31-D9ED-7C04-C1FF84A721AC}"/>
              </a:ext>
            </a:extLst>
          </p:cNvPr>
          <p:cNvSpPr/>
          <p:nvPr/>
        </p:nvSpPr>
        <p:spPr>
          <a:xfrm>
            <a:off x="10544185"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1BF4AD82-C007-B852-6F8A-48CCEF603875}"/>
              </a:ext>
            </a:extLst>
          </p:cNvPr>
          <p:cNvSpPr/>
          <p:nvPr/>
        </p:nvSpPr>
        <p:spPr>
          <a:xfrm>
            <a:off x="10810886"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 name="Rectangle 320">
            <a:extLst>
              <a:ext uri="{FF2B5EF4-FFF2-40B4-BE49-F238E27FC236}">
                <a16:creationId xmlns:a16="http://schemas.microsoft.com/office/drawing/2014/main" id="{9451E414-E09B-BF43-469A-AC60C6D90161}"/>
              </a:ext>
            </a:extLst>
          </p:cNvPr>
          <p:cNvSpPr/>
          <p:nvPr/>
        </p:nvSpPr>
        <p:spPr>
          <a:xfrm>
            <a:off x="11077587"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41355DF0-0A34-4966-6FC1-596460EEF0C8}"/>
              </a:ext>
            </a:extLst>
          </p:cNvPr>
          <p:cNvSpPr/>
          <p:nvPr/>
        </p:nvSpPr>
        <p:spPr>
          <a:xfrm>
            <a:off x="11344288"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 name="Rectangle 322">
            <a:extLst>
              <a:ext uri="{FF2B5EF4-FFF2-40B4-BE49-F238E27FC236}">
                <a16:creationId xmlns:a16="http://schemas.microsoft.com/office/drawing/2014/main" id="{D6020FE3-9367-24EF-EA63-530442240DD7}"/>
              </a:ext>
            </a:extLst>
          </p:cNvPr>
          <p:cNvSpPr/>
          <p:nvPr/>
        </p:nvSpPr>
        <p:spPr>
          <a:xfrm>
            <a:off x="11610989" y="3719510"/>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 name="TextBox 324">
            <a:extLst>
              <a:ext uri="{FF2B5EF4-FFF2-40B4-BE49-F238E27FC236}">
                <a16:creationId xmlns:a16="http://schemas.microsoft.com/office/drawing/2014/main" id="{23EDF261-DDDF-E455-F7C0-1D2D67021E9F}"/>
              </a:ext>
            </a:extLst>
          </p:cNvPr>
          <p:cNvSpPr txBox="1"/>
          <p:nvPr/>
        </p:nvSpPr>
        <p:spPr>
          <a:xfrm>
            <a:off x="6096000" y="4048122"/>
            <a:ext cx="1514474" cy="369332"/>
          </a:xfrm>
          <a:prstGeom prst="rect">
            <a:avLst/>
          </a:prstGeom>
          <a:noFill/>
        </p:spPr>
        <p:txBody>
          <a:bodyPr wrap="square" rtlCol="0">
            <a:spAutoFit/>
          </a:bodyPr>
          <a:lstStyle/>
          <a:p>
            <a:r>
              <a:rPr lang="en-US" dirty="0">
                <a:latin typeface="Consolas" panose="020B0609020204030204" pitchFamily="49" charset="0"/>
              </a:rPr>
              <a:t>0x00000180</a:t>
            </a:r>
          </a:p>
        </p:txBody>
      </p:sp>
      <p:sp>
        <p:nvSpPr>
          <p:cNvPr id="326" name="Rectangle 325">
            <a:extLst>
              <a:ext uri="{FF2B5EF4-FFF2-40B4-BE49-F238E27FC236}">
                <a16:creationId xmlns:a16="http://schemas.microsoft.com/office/drawing/2014/main" id="{9FC17B50-22DE-C81C-2CB2-3FC6846D015C}"/>
              </a:ext>
            </a:extLst>
          </p:cNvPr>
          <p:cNvSpPr/>
          <p:nvPr/>
        </p:nvSpPr>
        <p:spPr>
          <a:xfrm>
            <a:off x="7610474"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8C38A8F9-BA68-7591-09C3-69A533A90B3A}"/>
              </a:ext>
            </a:extLst>
          </p:cNvPr>
          <p:cNvSpPr/>
          <p:nvPr/>
        </p:nvSpPr>
        <p:spPr>
          <a:xfrm>
            <a:off x="7877175"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2A25EA2A-7548-AC43-7527-EAE3076FDCD2}"/>
              </a:ext>
            </a:extLst>
          </p:cNvPr>
          <p:cNvSpPr/>
          <p:nvPr/>
        </p:nvSpPr>
        <p:spPr>
          <a:xfrm>
            <a:off x="8143876"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DA26366A-93FB-018D-F558-59488F78C745}"/>
              </a:ext>
            </a:extLst>
          </p:cNvPr>
          <p:cNvSpPr/>
          <p:nvPr/>
        </p:nvSpPr>
        <p:spPr>
          <a:xfrm>
            <a:off x="8410577"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45503EC4-DBB3-2497-370F-E4052C7799F1}"/>
              </a:ext>
            </a:extLst>
          </p:cNvPr>
          <p:cNvSpPr/>
          <p:nvPr/>
        </p:nvSpPr>
        <p:spPr>
          <a:xfrm>
            <a:off x="8677278"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0A6D8D92-1517-9323-C054-1E318DC30777}"/>
              </a:ext>
            </a:extLst>
          </p:cNvPr>
          <p:cNvSpPr/>
          <p:nvPr/>
        </p:nvSpPr>
        <p:spPr>
          <a:xfrm>
            <a:off x="8943979"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27F6DD1D-677C-0414-2F64-7DC3C6014A1C}"/>
              </a:ext>
            </a:extLst>
          </p:cNvPr>
          <p:cNvSpPr/>
          <p:nvPr/>
        </p:nvSpPr>
        <p:spPr>
          <a:xfrm>
            <a:off x="9210680"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D27E91FA-8107-68A1-8E1B-C9D5D41BE625}"/>
              </a:ext>
            </a:extLst>
          </p:cNvPr>
          <p:cNvSpPr/>
          <p:nvPr/>
        </p:nvSpPr>
        <p:spPr>
          <a:xfrm>
            <a:off x="9477381"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5DBDD371-3AB5-5D99-CF5C-EF84F6EE4FEA}"/>
              </a:ext>
            </a:extLst>
          </p:cNvPr>
          <p:cNvSpPr/>
          <p:nvPr/>
        </p:nvSpPr>
        <p:spPr>
          <a:xfrm>
            <a:off x="9744082"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5DE888D0-E9B9-1326-5D0D-7F671E57F5A3}"/>
              </a:ext>
            </a:extLst>
          </p:cNvPr>
          <p:cNvSpPr/>
          <p:nvPr/>
        </p:nvSpPr>
        <p:spPr>
          <a:xfrm>
            <a:off x="10010783"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41AAFF57-959F-0404-D95D-3228BEDA6175}"/>
              </a:ext>
            </a:extLst>
          </p:cNvPr>
          <p:cNvSpPr/>
          <p:nvPr/>
        </p:nvSpPr>
        <p:spPr>
          <a:xfrm>
            <a:off x="10277484"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331776D6-ADF0-1227-8823-D996B2E8980B}"/>
              </a:ext>
            </a:extLst>
          </p:cNvPr>
          <p:cNvSpPr/>
          <p:nvPr/>
        </p:nvSpPr>
        <p:spPr>
          <a:xfrm>
            <a:off x="10544185"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807D8C67-3752-4CCE-4B38-2EBD6D0C901D}"/>
              </a:ext>
            </a:extLst>
          </p:cNvPr>
          <p:cNvSpPr/>
          <p:nvPr/>
        </p:nvSpPr>
        <p:spPr>
          <a:xfrm>
            <a:off x="10810886"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F1ED14A0-CCCC-D1F3-2FA4-7B5052CE5865}"/>
              </a:ext>
            </a:extLst>
          </p:cNvPr>
          <p:cNvSpPr/>
          <p:nvPr/>
        </p:nvSpPr>
        <p:spPr>
          <a:xfrm>
            <a:off x="11077587"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5B387CA0-79DB-355F-311D-2D154DA3B604}"/>
              </a:ext>
            </a:extLst>
          </p:cNvPr>
          <p:cNvSpPr/>
          <p:nvPr/>
        </p:nvSpPr>
        <p:spPr>
          <a:xfrm>
            <a:off x="11344288"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879DF0BB-ECBA-B562-CEFA-9F46325F81A5}"/>
              </a:ext>
            </a:extLst>
          </p:cNvPr>
          <p:cNvSpPr/>
          <p:nvPr/>
        </p:nvSpPr>
        <p:spPr>
          <a:xfrm>
            <a:off x="11610989" y="4057647"/>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3" name="TextBox 342">
            <a:extLst>
              <a:ext uri="{FF2B5EF4-FFF2-40B4-BE49-F238E27FC236}">
                <a16:creationId xmlns:a16="http://schemas.microsoft.com/office/drawing/2014/main" id="{8E816610-64E2-7D07-1D3C-0841F5AAE810}"/>
              </a:ext>
            </a:extLst>
          </p:cNvPr>
          <p:cNvSpPr txBox="1"/>
          <p:nvPr/>
        </p:nvSpPr>
        <p:spPr>
          <a:xfrm>
            <a:off x="6096000" y="4386259"/>
            <a:ext cx="1514474" cy="369332"/>
          </a:xfrm>
          <a:prstGeom prst="rect">
            <a:avLst/>
          </a:prstGeom>
          <a:noFill/>
        </p:spPr>
        <p:txBody>
          <a:bodyPr wrap="square" rtlCol="0">
            <a:spAutoFit/>
          </a:bodyPr>
          <a:lstStyle/>
          <a:p>
            <a:r>
              <a:rPr lang="en-US" dirty="0">
                <a:latin typeface="Consolas" panose="020B0609020204030204" pitchFamily="49" charset="0"/>
              </a:rPr>
              <a:t>0x000001C0</a:t>
            </a:r>
          </a:p>
        </p:txBody>
      </p:sp>
      <p:sp>
        <p:nvSpPr>
          <p:cNvPr id="344" name="Rectangle 343">
            <a:extLst>
              <a:ext uri="{FF2B5EF4-FFF2-40B4-BE49-F238E27FC236}">
                <a16:creationId xmlns:a16="http://schemas.microsoft.com/office/drawing/2014/main" id="{3ACBC7EA-0822-5283-6CF1-0E2EC2F6E2E9}"/>
              </a:ext>
            </a:extLst>
          </p:cNvPr>
          <p:cNvSpPr/>
          <p:nvPr/>
        </p:nvSpPr>
        <p:spPr>
          <a:xfrm>
            <a:off x="7610474"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 name="Rectangle 344">
            <a:extLst>
              <a:ext uri="{FF2B5EF4-FFF2-40B4-BE49-F238E27FC236}">
                <a16:creationId xmlns:a16="http://schemas.microsoft.com/office/drawing/2014/main" id="{289F3050-A2C1-717E-146A-C19204287020}"/>
              </a:ext>
            </a:extLst>
          </p:cNvPr>
          <p:cNvSpPr/>
          <p:nvPr/>
        </p:nvSpPr>
        <p:spPr>
          <a:xfrm>
            <a:off x="7877175"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C4E3B9D5-96DE-115A-6BE1-469F6BE4EC98}"/>
              </a:ext>
            </a:extLst>
          </p:cNvPr>
          <p:cNvSpPr/>
          <p:nvPr/>
        </p:nvSpPr>
        <p:spPr>
          <a:xfrm>
            <a:off x="8143876"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 name="Rectangle 346">
            <a:extLst>
              <a:ext uri="{FF2B5EF4-FFF2-40B4-BE49-F238E27FC236}">
                <a16:creationId xmlns:a16="http://schemas.microsoft.com/office/drawing/2014/main" id="{ED72EF79-D78F-7B58-6C4D-AAB28D4A02B1}"/>
              </a:ext>
            </a:extLst>
          </p:cNvPr>
          <p:cNvSpPr/>
          <p:nvPr/>
        </p:nvSpPr>
        <p:spPr>
          <a:xfrm>
            <a:off x="8410577"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317274C3-6A1D-581A-BE5F-44D8A9D27C5D}"/>
              </a:ext>
            </a:extLst>
          </p:cNvPr>
          <p:cNvSpPr/>
          <p:nvPr/>
        </p:nvSpPr>
        <p:spPr>
          <a:xfrm>
            <a:off x="8677278"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 name="Rectangle 348">
            <a:extLst>
              <a:ext uri="{FF2B5EF4-FFF2-40B4-BE49-F238E27FC236}">
                <a16:creationId xmlns:a16="http://schemas.microsoft.com/office/drawing/2014/main" id="{6EB6DF74-94CD-5EA4-D343-577A95A4F9F1}"/>
              </a:ext>
            </a:extLst>
          </p:cNvPr>
          <p:cNvSpPr/>
          <p:nvPr/>
        </p:nvSpPr>
        <p:spPr>
          <a:xfrm>
            <a:off x="8943979"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 name="Rectangle 349">
            <a:extLst>
              <a:ext uri="{FF2B5EF4-FFF2-40B4-BE49-F238E27FC236}">
                <a16:creationId xmlns:a16="http://schemas.microsoft.com/office/drawing/2014/main" id="{F5CB0A18-A042-BDCD-41B5-CF243B8FF414}"/>
              </a:ext>
            </a:extLst>
          </p:cNvPr>
          <p:cNvSpPr/>
          <p:nvPr/>
        </p:nvSpPr>
        <p:spPr>
          <a:xfrm>
            <a:off x="9210680"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 name="Rectangle 350">
            <a:extLst>
              <a:ext uri="{FF2B5EF4-FFF2-40B4-BE49-F238E27FC236}">
                <a16:creationId xmlns:a16="http://schemas.microsoft.com/office/drawing/2014/main" id="{DC5D31E8-36C7-E793-2728-B4E8B32D3B81}"/>
              </a:ext>
            </a:extLst>
          </p:cNvPr>
          <p:cNvSpPr/>
          <p:nvPr/>
        </p:nvSpPr>
        <p:spPr>
          <a:xfrm>
            <a:off x="9477381"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 name="Rectangle 351">
            <a:extLst>
              <a:ext uri="{FF2B5EF4-FFF2-40B4-BE49-F238E27FC236}">
                <a16:creationId xmlns:a16="http://schemas.microsoft.com/office/drawing/2014/main" id="{7DC22111-70A1-E412-05CC-88F899B88437}"/>
              </a:ext>
            </a:extLst>
          </p:cNvPr>
          <p:cNvSpPr/>
          <p:nvPr/>
        </p:nvSpPr>
        <p:spPr>
          <a:xfrm>
            <a:off x="9744082"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 name="Rectangle 352">
            <a:extLst>
              <a:ext uri="{FF2B5EF4-FFF2-40B4-BE49-F238E27FC236}">
                <a16:creationId xmlns:a16="http://schemas.microsoft.com/office/drawing/2014/main" id="{29F78F11-5B0B-BCE2-A668-90279768F788}"/>
              </a:ext>
            </a:extLst>
          </p:cNvPr>
          <p:cNvSpPr/>
          <p:nvPr/>
        </p:nvSpPr>
        <p:spPr>
          <a:xfrm>
            <a:off x="10010783"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 name="Rectangle 353">
            <a:extLst>
              <a:ext uri="{FF2B5EF4-FFF2-40B4-BE49-F238E27FC236}">
                <a16:creationId xmlns:a16="http://schemas.microsoft.com/office/drawing/2014/main" id="{FE91D243-803C-66DA-9ACA-CDF290C045B5}"/>
              </a:ext>
            </a:extLst>
          </p:cNvPr>
          <p:cNvSpPr/>
          <p:nvPr/>
        </p:nvSpPr>
        <p:spPr>
          <a:xfrm>
            <a:off x="10277484"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 name="Rectangle 354">
            <a:extLst>
              <a:ext uri="{FF2B5EF4-FFF2-40B4-BE49-F238E27FC236}">
                <a16:creationId xmlns:a16="http://schemas.microsoft.com/office/drawing/2014/main" id="{4C202B8C-8FA9-989B-02F9-1A8EAD4D9D52}"/>
              </a:ext>
            </a:extLst>
          </p:cNvPr>
          <p:cNvSpPr/>
          <p:nvPr/>
        </p:nvSpPr>
        <p:spPr>
          <a:xfrm>
            <a:off x="10544185"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 name="Rectangle 355">
            <a:extLst>
              <a:ext uri="{FF2B5EF4-FFF2-40B4-BE49-F238E27FC236}">
                <a16:creationId xmlns:a16="http://schemas.microsoft.com/office/drawing/2014/main" id="{49007A13-9843-5CA0-60CE-C93C9B616398}"/>
              </a:ext>
            </a:extLst>
          </p:cNvPr>
          <p:cNvSpPr/>
          <p:nvPr/>
        </p:nvSpPr>
        <p:spPr>
          <a:xfrm>
            <a:off x="10810886"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A31D9DC2-5BB6-6A04-D5A1-9E68A11B3D4B}"/>
              </a:ext>
            </a:extLst>
          </p:cNvPr>
          <p:cNvSpPr/>
          <p:nvPr/>
        </p:nvSpPr>
        <p:spPr>
          <a:xfrm>
            <a:off x="11077587"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 name="Rectangle 357">
            <a:extLst>
              <a:ext uri="{FF2B5EF4-FFF2-40B4-BE49-F238E27FC236}">
                <a16:creationId xmlns:a16="http://schemas.microsoft.com/office/drawing/2014/main" id="{BE9264D4-2786-893B-1175-56108604A18B}"/>
              </a:ext>
            </a:extLst>
          </p:cNvPr>
          <p:cNvSpPr/>
          <p:nvPr/>
        </p:nvSpPr>
        <p:spPr>
          <a:xfrm>
            <a:off x="11344288"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5EBAB1FC-F931-A901-6AB6-45A0950C0A23}"/>
              </a:ext>
            </a:extLst>
          </p:cNvPr>
          <p:cNvSpPr/>
          <p:nvPr/>
        </p:nvSpPr>
        <p:spPr>
          <a:xfrm>
            <a:off x="11610989" y="4395784"/>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 name="TextBox 360">
            <a:extLst>
              <a:ext uri="{FF2B5EF4-FFF2-40B4-BE49-F238E27FC236}">
                <a16:creationId xmlns:a16="http://schemas.microsoft.com/office/drawing/2014/main" id="{3D712362-8FFB-1D06-B966-83F98067843A}"/>
              </a:ext>
            </a:extLst>
          </p:cNvPr>
          <p:cNvSpPr txBox="1"/>
          <p:nvPr/>
        </p:nvSpPr>
        <p:spPr>
          <a:xfrm>
            <a:off x="6096000" y="4724396"/>
            <a:ext cx="1514474" cy="369332"/>
          </a:xfrm>
          <a:prstGeom prst="rect">
            <a:avLst/>
          </a:prstGeom>
          <a:noFill/>
        </p:spPr>
        <p:txBody>
          <a:bodyPr wrap="square" rtlCol="0">
            <a:spAutoFit/>
          </a:bodyPr>
          <a:lstStyle/>
          <a:p>
            <a:r>
              <a:rPr lang="en-US" dirty="0">
                <a:latin typeface="Consolas" panose="020B0609020204030204" pitchFamily="49" charset="0"/>
              </a:rPr>
              <a:t>0x00000200</a:t>
            </a:r>
          </a:p>
        </p:txBody>
      </p:sp>
      <p:sp>
        <p:nvSpPr>
          <p:cNvPr id="362" name="Rectangle 361">
            <a:extLst>
              <a:ext uri="{FF2B5EF4-FFF2-40B4-BE49-F238E27FC236}">
                <a16:creationId xmlns:a16="http://schemas.microsoft.com/office/drawing/2014/main" id="{AE3562E7-0730-0EB7-B655-4AEE8336FF0B}"/>
              </a:ext>
            </a:extLst>
          </p:cNvPr>
          <p:cNvSpPr/>
          <p:nvPr/>
        </p:nvSpPr>
        <p:spPr>
          <a:xfrm>
            <a:off x="7610474"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 name="Rectangle 362">
            <a:extLst>
              <a:ext uri="{FF2B5EF4-FFF2-40B4-BE49-F238E27FC236}">
                <a16:creationId xmlns:a16="http://schemas.microsoft.com/office/drawing/2014/main" id="{2D806E51-8149-B55E-4941-3682D8C2A842}"/>
              </a:ext>
            </a:extLst>
          </p:cNvPr>
          <p:cNvSpPr/>
          <p:nvPr/>
        </p:nvSpPr>
        <p:spPr>
          <a:xfrm>
            <a:off x="7877175"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BF7D7696-1E4A-DD41-45A0-9B1D6FCA28F4}"/>
              </a:ext>
            </a:extLst>
          </p:cNvPr>
          <p:cNvSpPr/>
          <p:nvPr/>
        </p:nvSpPr>
        <p:spPr>
          <a:xfrm>
            <a:off x="8143876"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 name="Rectangle 364">
            <a:extLst>
              <a:ext uri="{FF2B5EF4-FFF2-40B4-BE49-F238E27FC236}">
                <a16:creationId xmlns:a16="http://schemas.microsoft.com/office/drawing/2014/main" id="{84AD4796-06F9-ED90-66FF-0DCDB4CB2483}"/>
              </a:ext>
            </a:extLst>
          </p:cNvPr>
          <p:cNvSpPr/>
          <p:nvPr/>
        </p:nvSpPr>
        <p:spPr>
          <a:xfrm>
            <a:off x="8410577"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 name="Rectangle 365">
            <a:extLst>
              <a:ext uri="{FF2B5EF4-FFF2-40B4-BE49-F238E27FC236}">
                <a16:creationId xmlns:a16="http://schemas.microsoft.com/office/drawing/2014/main" id="{BAFEFACD-D587-D489-F1EA-17BDA73C9907}"/>
              </a:ext>
            </a:extLst>
          </p:cNvPr>
          <p:cNvSpPr/>
          <p:nvPr/>
        </p:nvSpPr>
        <p:spPr>
          <a:xfrm>
            <a:off x="8677278"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 name="Rectangle 366">
            <a:extLst>
              <a:ext uri="{FF2B5EF4-FFF2-40B4-BE49-F238E27FC236}">
                <a16:creationId xmlns:a16="http://schemas.microsoft.com/office/drawing/2014/main" id="{25607249-F0E9-ED55-920B-74A7ECB54D76}"/>
              </a:ext>
            </a:extLst>
          </p:cNvPr>
          <p:cNvSpPr/>
          <p:nvPr/>
        </p:nvSpPr>
        <p:spPr>
          <a:xfrm>
            <a:off x="8943979"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 name="Rectangle 367">
            <a:extLst>
              <a:ext uri="{FF2B5EF4-FFF2-40B4-BE49-F238E27FC236}">
                <a16:creationId xmlns:a16="http://schemas.microsoft.com/office/drawing/2014/main" id="{67608648-4448-9446-4CC5-8AE711D6A334}"/>
              </a:ext>
            </a:extLst>
          </p:cNvPr>
          <p:cNvSpPr/>
          <p:nvPr/>
        </p:nvSpPr>
        <p:spPr>
          <a:xfrm>
            <a:off x="9210680"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159C98C-90A0-2A4F-01FF-54B74486EAF5}"/>
              </a:ext>
            </a:extLst>
          </p:cNvPr>
          <p:cNvSpPr/>
          <p:nvPr/>
        </p:nvSpPr>
        <p:spPr>
          <a:xfrm>
            <a:off x="9477381"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 name="Rectangle 369">
            <a:extLst>
              <a:ext uri="{FF2B5EF4-FFF2-40B4-BE49-F238E27FC236}">
                <a16:creationId xmlns:a16="http://schemas.microsoft.com/office/drawing/2014/main" id="{2FA15040-18DB-335A-55D6-353E61CE3B77}"/>
              </a:ext>
            </a:extLst>
          </p:cNvPr>
          <p:cNvSpPr/>
          <p:nvPr/>
        </p:nvSpPr>
        <p:spPr>
          <a:xfrm>
            <a:off x="9744082"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103571AA-4331-C533-049F-B9206CBA013C}"/>
              </a:ext>
            </a:extLst>
          </p:cNvPr>
          <p:cNvSpPr/>
          <p:nvPr/>
        </p:nvSpPr>
        <p:spPr>
          <a:xfrm>
            <a:off x="10010783"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 name="Rectangle 371">
            <a:extLst>
              <a:ext uri="{FF2B5EF4-FFF2-40B4-BE49-F238E27FC236}">
                <a16:creationId xmlns:a16="http://schemas.microsoft.com/office/drawing/2014/main" id="{8824BEC1-931F-BC6E-5794-9CEAA366EDC2}"/>
              </a:ext>
            </a:extLst>
          </p:cNvPr>
          <p:cNvSpPr/>
          <p:nvPr/>
        </p:nvSpPr>
        <p:spPr>
          <a:xfrm>
            <a:off x="10277484"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3" name="Rectangle 372">
            <a:extLst>
              <a:ext uri="{FF2B5EF4-FFF2-40B4-BE49-F238E27FC236}">
                <a16:creationId xmlns:a16="http://schemas.microsoft.com/office/drawing/2014/main" id="{F22CDF76-B465-01D7-8519-B35C891AACCE}"/>
              </a:ext>
            </a:extLst>
          </p:cNvPr>
          <p:cNvSpPr/>
          <p:nvPr/>
        </p:nvSpPr>
        <p:spPr>
          <a:xfrm>
            <a:off x="10544185"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CC6999C9-FA1B-AA97-FF52-ABF626EFE7E4}"/>
              </a:ext>
            </a:extLst>
          </p:cNvPr>
          <p:cNvSpPr/>
          <p:nvPr/>
        </p:nvSpPr>
        <p:spPr>
          <a:xfrm>
            <a:off x="10810886"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5" name="Rectangle 374">
            <a:extLst>
              <a:ext uri="{FF2B5EF4-FFF2-40B4-BE49-F238E27FC236}">
                <a16:creationId xmlns:a16="http://schemas.microsoft.com/office/drawing/2014/main" id="{50BA8C50-9B15-2CA2-80BA-55C90C9AC645}"/>
              </a:ext>
            </a:extLst>
          </p:cNvPr>
          <p:cNvSpPr/>
          <p:nvPr/>
        </p:nvSpPr>
        <p:spPr>
          <a:xfrm>
            <a:off x="11077587"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8D5E0F0C-A4A1-49D8-8F34-F7783AD3E597}"/>
              </a:ext>
            </a:extLst>
          </p:cNvPr>
          <p:cNvSpPr/>
          <p:nvPr/>
        </p:nvSpPr>
        <p:spPr>
          <a:xfrm>
            <a:off x="11344288"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7" name="Rectangle 376">
            <a:extLst>
              <a:ext uri="{FF2B5EF4-FFF2-40B4-BE49-F238E27FC236}">
                <a16:creationId xmlns:a16="http://schemas.microsoft.com/office/drawing/2014/main" id="{B0FA5EE5-73DA-E134-847A-C86F645A4419}"/>
              </a:ext>
            </a:extLst>
          </p:cNvPr>
          <p:cNvSpPr/>
          <p:nvPr/>
        </p:nvSpPr>
        <p:spPr>
          <a:xfrm>
            <a:off x="11610989" y="4733921"/>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9" name="TextBox 378">
            <a:extLst>
              <a:ext uri="{FF2B5EF4-FFF2-40B4-BE49-F238E27FC236}">
                <a16:creationId xmlns:a16="http://schemas.microsoft.com/office/drawing/2014/main" id="{2B6C86E8-A2AD-670B-F9D4-65AF9BA30E93}"/>
              </a:ext>
            </a:extLst>
          </p:cNvPr>
          <p:cNvSpPr txBox="1"/>
          <p:nvPr/>
        </p:nvSpPr>
        <p:spPr>
          <a:xfrm>
            <a:off x="6096000" y="5062533"/>
            <a:ext cx="1514474" cy="369332"/>
          </a:xfrm>
          <a:prstGeom prst="rect">
            <a:avLst/>
          </a:prstGeom>
          <a:noFill/>
        </p:spPr>
        <p:txBody>
          <a:bodyPr wrap="square" rtlCol="0">
            <a:spAutoFit/>
          </a:bodyPr>
          <a:lstStyle/>
          <a:p>
            <a:r>
              <a:rPr lang="en-US" dirty="0">
                <a:latin typeface="Consolas" panose="020B0609020204030204" pitchFamily="49" charset="0"/>
              </a:rPr>
              <a:t>0x00000240</a:t>
            </a:r>
          </a:p>
        </p:txBody>
      </p:sp>
      <p:sp>
        <p:nvSpPr>
          <p:cNvPr id="380" name="Rectangle 379">
            <a:extLst>
              <a:ext uri="{FF2B5EF4-FFF2-40B4-BE49-F238E27FC236}">
                <a16:creationId xmlns:a16="http://schemas.microsoft.com/office/drawing/2014/main" id="{9637CC25-1235-E1D6-52AA-0AF452201BAE}"/>
              </a:ext>
            </a:extLst>
          </p:cNvPr>
          <p:cNvSpPr/>
          <p:nvPr/>
        </p:nvSpPr>
        <p:spPr>
          <a:xfrm>
            <a:off x="7610474"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D569108A-E22F-E9C1-9D16-D9138F4C1E7A}"/>
              </a:ext>
            </a:extLst>
          </p:cNvPr>
          <p:cNvSpPr/>
          <p:nvPr/>
        </p:nvSpPr>
        <p:spPr>
          <a:xfrm>
            <a:off x="7877175"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883E852B-E22E-4CC0-B770-5E66ADE59E21}"/>
              </a:ext>
            </a:extLst>
          </p:cNvPr>
          <p:cNvSpPr/>
          <p:nvPr/>
        </p:nvSpPr>
        <p:spPr>
          <a:xfrm>
            <a:off x="8143876"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90DAD8FE-0DBF-2BA1-26FD-638D6A3E1CA6}"/>
              </a:ext>
            </a:extLst>
          </p:cNvPr>
          <p:cNvSpPr/>
          <p:nvPr/>
        </p:nvSpPr>
        <p:spPr>
          <a:xfrm>
            <a:off x="8410577"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C0B320C6-2E47-0BB9-4BA0-919DF5D67ECC}"/>
              </a:ext>
            </a:extLst>
          </p:cNvPr>
          <p:cNvSpPr/>
          <p:nvPr/>
        </p:nvSpPr>
        <p:spPr>
          <a:xfrm>
            <a:off x="8677278"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68D87852-76FE-1EE0-30CA-CF33493AC30F}"/>
              </a:ext>
            </a:extLst>
          </p:cNvPr>
          <p:cNvSpPr/>
          <p:nvPr/>
        </p:nvSpPr>
        <p:spPr>
          <a:xfrm>
            <a:off x="8943979"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C9AD49C3-6A14-A397-9E81-B03DCDF9FD4C}"/>
              </a:ext>
            </a:extLst>
          </p:cNvPr>
          <p:cNvSpPr/>
          <p:nvPr/>
        </p:nvSpPr>
        <p:spPr>
          <a:xfrm>
            <a:off x="9210680"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FE5DCA61-A6D8-1B01-2804-F46E30B53A92}"/>
              </a:ext>
            </a:extLst>
          </p:cNvPr>
          <p:cNvSpPr/>
          <p:nvPr/>
        </p:nvSpPr>
        <p:spPr>
          <a:xfrm>
            <a:off x="9477381"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56C10F6D-2D8E-B0C2-1DF0-A467F21E1836}"/>
              </a:ext>
            </a:extLst>
          </p:cNvPr>
          <p:cNvSpPr/>
          <p:nvPr/>
        </p:nvSpPr>
        <p:spPr>
          <a:xfrm>
            <a:off x="9744082"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6E025593-97F5-645B-B210-BD9EF3FDE9D3}"/>
              </a:ext>
            </a:extLst>
          </p:cNvPr>
          <p:cNvSpPr/>
          <p:nvPr/>
        </p:nvSpPr>
        <p:spPr>
          <a:xfrm>
            <a:off x="10010783"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95643EEB-7780-1336-5750-D18FC2D20EF6}"/>
              </a:ext>
            </a:extLst>
          </p:cNvPr>
          <p:cNvSpPr/>
          <p:nvPr/>
        </p:nvSpPr>
        <p:spPr>
          <a:xfrm>
            <a:off x="10277484"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328A0E95-93F4-7C49-F59A-D019D1F3B6C6}"/>
              </a:ext>
            </a:extLst>
          </p:cNvPr>
          <p:cNvSpPr/>
          <p:nvPr/>
        </p:nvSpPr>
        <p:spPr>
          <a:xfrm>
            <a:off x="10544185"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5E724AE3-C345-4337-E988-566E201FFBB3}"/>
              </a:ext>
            </a:extLst>
          </p:cNvPr>
          <p:cNvSpPr/>
          <p:nvPr/>
        </p:nvSpPr>
        <p:spPr>
          <a:xfrm>
            <a:off x="10810886"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71163788-85E1-BCDF-CB2D-BDFF72D8A4DF}"/>
              </a:ext>
            </a:extLst>
          </p:cNvPr>
          <p:cNvSpPr/>
          <p:nvPr/>
        </p:nvSpPr>
        <p:spPr>
          <a:xfrm>
            <a:off x="11077587"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6EF2C585-AC58-6EC0-5F2F-58F5A737B613}"/>
              </a:ext>
            </a:extLst>
          </p:cNvPr>
          <p:cNvSpPr/>
          <p:nvPr/>
        </p:nvSpPr>
        <p:spPr>
          <a:xfrm>
            <a:off x="11344288"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C7654F75-7026-D0BF-F73E-EDB6C57BD7BA}"/>
              </a:ext>
            </a:extLst>
          </p:cNvPr>
          <p:cNvSpPr/>
          <p:nvPr/>
        </p:nvSpPr>
        <p:spPr>
          <a:xfrm>
            <a:off x="11610989" y="5072058"/>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97" name="TextBox 396">
            <a:extLst>
              <a:ext uri="{FF2B5EF4-FFF2-40B4-BE49-F238E27FC236}">
                <a16:creationId xmlns:a16="http://schemas.microsoft.com/office/drawing/2014/main" id="{38D35F5C-191D-3B3B-3E06-68C8A457B107}"/>
              </a:ext>
            </a:extLst>
          </p:cNvPr>
          <p:cNvSpPr txBox="1"/>
          <p:nvPr/>
        </p:nvSpPr>
        <p:spPr>
          <a:xfrm>
            <a:off x="6096000" y="5400670"/>
            <a:ext cx="1514474" cy="369332"/>
          </a:xfrm>
          <a:prstGeom prst="rect">
            <a:avLst/>
          </a:prstGeom>
          <a:noFill/>
        </p:spPr>
        <p:txBody>
          <a:bodyPr wrap="square" rtlCol="0">
            <a:spAutoFit/>
          </a:bodyPr>
          <a:lstStyle/>
          <a:p>
            <a:r>
              <a:rPr lang="en-US" dirty="0">
                <a:latin typeface="Consolas" panose="020B0609020204030204" pitchFamily="49" charset="0"/>
              </a:rPr>
              <a:t>0x00000280</a:t>
            </a:r>
          </a:p>
        </p:txBody>
      </p:sp>
      <p:sp>
        <p:nvSpPr>
          <p:cNvPr id="398" name="Rectangle 397">
            <a:extLst>
              <a:ext uri="{FF2B5EF4-FFF2-40B4-BE49-F238E27FC236}">
                <a16:creationId xmlns:a16="http://schemas.microsoft.com/office/drawing/2014/main" id="{31BFB3D3-3463-D9A7-2098-D1424CB3DFE4}"/>
              </a:ext>
            </a:extLst>
          </p:cNvPr>
          <p:cNvSpPr/>
          <p:nvPr/>
        </p:nvSpPr>
        <p:spPr>
          <a:xfrm>
            <a:off x="7610474"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9" name="Rectangle 398">
            <a:extLst>
              <a:ext uri="{FF2B5EF4-FFF2-40B4-BE49-F238E27FC236}">
                <a16:creationId xmlns:a16="http://schemas.microsoft.com/office/drawing/2014/main" id="{DAAE12F6-3AE4-B433-9ACE-25022685445A}"/>
              </a:ext>
            </a:extLst>
          </p:cNvPr>
          <p:cNvSpPr/>
          <p:nvPr/>
        </p:nvSpPr>
        <p:spPr>
          <a:xfrm>
            <a:off x="7877175"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4862E3C1-BAAF-9472-FDFD-C28DA25A78B4}"/>
              </a:ext>
            </a:extLst>
          </p:cNvPr>
          <p:cNvSpPr/>
          <p:nvPr/>
        </p:nvSpPr>
        <p:spPr>
          <a:xfrm>
            <a:off x="8143876"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1" name="Rectangle 400">
            <a:extLst>
              <a:ext uri="{FF2B5EF4-FFF2-40B4-BE49-F238E27FC236}">
                <a16:creationId xmlns:a16="http://schemas.microsoft.com/office/drawing/2014/main" id="{5DAC2886-1810-52E1-F0AA-594FAD62F4BE}"/>
              </a:ext>
            </a:extLst>
          </p:cNvPr>
          <p:cNvSpPr/>
          <p:nvPr/>
        </p:nvSpPr>
        <p:spPr>
          <a:xfrm>
            <a:off x="8410577"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1ED8D99C-72B6-B7F0-EBFC-38584F236B38}"/>
              </a:ext>
            </a:extLst>
          </p:cNvPr>
          <p:cNvSpPr/>
          <p:nvPr/>
        </p:nvSpPr>
        <p:spPr>
          <a:xfrm>
            <a:off x="8677278"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3" name="Rectangle 402">
            <a:extLst>
              <a:ext uri="{FF2B5EF4-FFF2-40B4-BE49-F238E27FC236}">
                <a16:creationId xmlns:a16="http://schemas.microsoft.com/office/drawing/2014/main" id="{29FA87DF-829E-10E0-76DD-750E483A538F}"/>
              </a:ext>
            </a:extLst>
          </p:cNvPr>
          <p:cNvSpPr/>
          <p:nvPr/>
        </p:nvSpPr>
        <p:spPr>
          <a:xfrm>
            <a:off x="8943979"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4" name="Rectangle 403">
            <a:extLst>
              <a:ext uri="{FF2B5EF4-FFF2-40B4-BE49-F238E27FC236}">
                <a16:creationId xmlns:a16="http://schemas.microsoft.com/office/drawing/2014/main" id="{760A385F-8376-65AA-C5D1-D9E41497AD2A}"/>
              </a:ext>
            </a:extLst>
          </p:cNvPr>
          <p:cNvSpPr/>
          <p:nvPr/>
        </p:nvSpPr>
        <p:spPr>
          <a:xfrm>
            <a:off x="9210680"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5" name="Rectangle 404">
            <a:extLst>
              <a:ext uri="{FF2B5EF4-FFF2-40B4-BE49-F238E27FC236}">
                <a16:creationId xmlns:a16="http://schemas.microsoft.com/office/drawing/2014/main" id="{35B3DC37-058A-9F71-A1A1-05B59BB3EE6F}"/>
              </a:ext>
            </a:extLst>
          </p:cNvPr>
          <p:cNvSpPr/>
          <p:nvPr/>
        </p:nvSpPr>
        <p:spPr>
          <a:xfrm>
            <a:off x="9477381"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6" name="Rectangle 405">
            <a:extLst>
              <a:ext uri="{FF2B5EF4-FFF2-40B4-BE49-F238E27FC236}">
                <a16:creationId xmlns:a16="http://schemas.microsoft.com/office/drawing/2014/main" id="{B4B06E2D-9255-D5BA-3D1F-091DECD715E5}"/>
              </a:ext>
            </a:extLst>
          </p:cNvPr>
          <p:cNvSpPr/>
          <p:nvPr/>
        </p:nvSpPr>
        <p:spPr>
          <a:xfrm>
            <a:off x="9744082"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7" name="Rectangle 406">
            <a:extLst>
              <a:ext uri="{FF2B5EF4-FFF2-40B4-BE49-F238E27FC236}">
                <a16:creationId xmlns:a16="http://schemas.microsoft.com/office/drawing/2014/main" id="{A4C4764C-DCBE-8FB7-1F19-48BF4813B55D}"/>
              </a:ext>
            </a:extLst>
          </p:cNvPr>
          <p:cNvSpPr/>
          <p:nvPr/>
        </p:nvSpPr>
        <p:spPr>
          <a:xfrm>
            <a:off x="10010783"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8" name="Rectangle 407">
            <a:extLst>
              <a:ext uri="{FF2B5EF4-FFF2-40B4-BE49-F238E27FC236}">
                <a16:creationId xmlns:a16="http://schemas.microsoft.com/office/drawing/2014/main" id="{5B950E51-1195-BA44-41E0-990B6064746D}"/>
              </a:ext>
            </a:extLst>
          </p:cNvPr>
          <p:cNvSpPr/>
          <p:nvPr/>
        </p:nvSpPr>
        <p:spPr>
          <a:xfrm>
            <a:off x="10277484"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9" name="Rectangle 408">
            <a:extLst>
              <a:ext uri="{FF2B5EF4-FFF2-40B4-BE49-F238E27FC236}">
                <a16:creationId xmlns:a16="http://schemas.microsoft.com/office/drawing/2014/main" id="{FC9E39F3-2708-7697-19E7-EBB77BDBFA25}"/>
              </a:ext>
            </a:extLst>
          </p:cNvPr>
          <p:cNvSpPr/>
          <p:nvPr/>
        </p:nvSpPr>
        <p:spPr>
          <a:xfrm>
            <a:off x="10544185"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0" name="Rectangle 409">
            <a:extLst>
              <a:ext uri="{FF2B5EF4-FFF2-40B4-BE49-F238E27FC236}">
                <a16:creationId xmlns:a16="http://schemas.microsoft.com/office/drawing/2014/main" id="{D62E4C78-2DD7-9D06-C7B4-D9B89B9902DC}"/>
              </a:ext>
            </a:extLst>
          </p:cNvPr>
          <p:cNvSpPr/>
          <p:nvPr/>
        </p:nvSpPr>
        <p:spPr>
          <a:xfrm>
            <a:off x="10810886"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1" name="Rectangle 410">
            <a:extLst>
              <a:ext uri="{FF2B5EF4-FFF2-40B4-BE49-F238E27FC236}">
                <a16:creationId xmlns:a16="http://schemas.microsoft.com/office/drawing/2014/main" id="{4433DE51-2DE7-DA91-6258-7FD3740515DA}"/>
              </a:ext>
            </a:extLst>
          </p:cNvPr>
          <p:cNvSpPr/>
          <p:nvPr/>
        </p:nvSpPr>
        <p:spPr>
          <a:xfrm>
            <a:off x="11077587"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2" name="Rectangle 411">
            <a:extLst>
              <a:ext uri="{FF2B5EF4-FFF2-40B4-BE49-F238E27FC236}">
                <a16:creationId xmlns:a16="http://schemas.microsoft.com/office/drawing/2014/main" id="{EF12CE65-5CBD-34D3-EF70-BDDD6CCC7DD0}"/>
              </a:ext>
            </a:extLst>
          </p:cNvPr>
          <p:cNvSpPr/>
          <p:nvPr/>
        </p:nvSpPr>
        <p:spPr>
          <a:xfrm>
            <a:off x="11344288"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3" name="Rectangle 412">
            <a:extLst>
              <a:ext uri="{FF2B5EF4-FFF2-40B4-BE49-F238E27FC236}">
                <a16:creationId xmlns:a16="http://schemas.microsoft.com/office/drawing/2014/main" id="{9233D2C4-C860-B031-F8F0-03DAA91B24AF}"/>
              </a:ext>
            </a:extLst>
          </p:cNvPr>
          <p:cNvSpPr/>
          <p:nvPr/>
        </p:nvSpPr>
        <p:spPr>
          <a:xfrm>
            <a:off x="11610989" y="5410195"/>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5" name="TextBox 414">
            <a:extLst>
              <a:ext uri="{FF2B5EF4-FFF2-40B4-BE49-F238E27FC236}">
                <a16:creationId xmlns:a16="http://schemas.microsoft.com/office/drawing/2014/main" id="{59EE54F3-A73D-549E-520F-808CF3788F00}"/>
              </a:ext>
            </a:extLst>
          </p:cNvPr>
          <p:cNvSpPr txBox="1"/>
          <p:nvPr/>
        </p:nvSpPr>
        <p:spPr>
          <a:xfrm>
            <a:off x="6096000" y="5738807"/>
            <a:ext cx="1514474" cy="369332"/>
          </a:xfrm>
          <a:prstGeom prst="rect">
            <a:avLst/>
          </a:prstGeom>
          <a:noFill/>
        </p:spPr>
        <p:txBody>
          <a:bodyPr wrap="square" rtlCol="0">
            <a:spAutoFit/>
          </a:bodyPr>
          <a:lstStyle/>
          <a:p>
            <a:r>
              <a:rPr lang="en-US" dirty="0">
                <a:latin typeface="Consolas" panose="020B0609020204030204" pitchFamily="49" charset="0"/>
              </a:rPr>
              <a:t>0x000002C0</a:t>
            </a:r>
          </a:p>
        </p:txBody>
      </p:sp>
      <p:sp>
        <p:nvSpPr>
          <p:cNvPr id="416" name="Rectangle 415">
            <a:extLst>
              <a:ext uri="{FF2B5EF4-FFF2-40B4-BE49-F238E27FC236}">
                <a16:creationId xmlns:a16="http://schemas.microsoft.com/office/drawing/2014/main" id="{EC811BEB-5C2A-EAC1-B31A-9E75AB9A95FF}"/>
              </a:ext>
            </a:extLst>
          </p:cNvPr>
          <p:cNvSpPr/>
          <p:nvPr/>
        </p:nvSpPr>
        <p:spPr>
          <a:xfrm>
            <a:off x="7610474"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7" name="Rectangle 416">
            <a:extLst>
              <a:ext uri="{FF2B5EF4-FFF2-40B4-BE49-F238E27FC236}">
                <a16:creationId xmlns:a16="http://schemas.microsoft.com/office/drawing/2014/main" id="{A2E9F508-7422-C0FF-19D6-847C74E2CB99}"/>
              </a:ext>
            </a:extLst>
          </p:cNvPr>
          <p:cNvSpPr/>
          <p:nvPr/>
        </p:nvSpPr>
        <p:spPr>
          <a:xfrm>
            <a:off x="7877175"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8" name="Rectangle 417">
            <a:extLst>
              <a:ext uri="{FF2B5EF4-FFF2-40B4-BE49-F238E27FC236}">
                <a16:creationId xmlns:a16="http://schemas.microsoft.com/office/drawing/2014/main" id="{419C7863-A07F-BC88-9417-B4610A8AC848}"/>
              </a:ext>
            </a:extLst>
          </p:cNvPr>
          <p:cNvSpPr/>
          <p:nvPr/>
        </p:nvSpPr>
        <p:spPr>
          <a:xfrm>
            <a:off x="8143876"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9" name="Rectangle 418">
            <a:extLst>
              <a:ext uri="{FF2B5EF4-FFF2-40B4-BE49-F238E27FC236}">
                <a16:creationId xmlns:a16="http://schemas.microsoft.com/office/drawing/2014/main" id="{19956EA5-535A-B074-F2FF-39349EDFFB41}"/>
              </a:ext>
            </a:extLst>
          </p:cNvPr>
          <p:cNvSpPr/>
          <p:nvPr/>
        </p:nvSpPr>
        <p:spPr>
          <a:xfrm>
            <a:off x="8410577"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0" name="Rectangle 419">
            <a:extLst>
              <a:ext uri="{FF2B5EF4-FFF2-40B4-BE49-F238E27FC236}">
                <a16:creationId xmlns:a16="http://schemas.microsoft.com/office/drawing/2014/main" id="{77454227-2B02-93F7-88DC-D7E13399D2E5}"/>
              </a:ext>
            </a:extLst>
          </p:cNvPr>
          <p:cNvSpPr/>
          <p:nvPr/>
        </p:nvSpPr>
        <p:spPr>
          <a:xfrm>
            <a:off x="8677278"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1" name="Rectangle 420">
            <a:extLst>
              <a:ext uri="{FF2B5EF4-FFF2-40B4-BE49-F238E27FC236}">
                <a16:creationId xmlns:a16="http://schemas.microsoft.com/office/drawing/2014/main" id="{B4CF6651-9A56-0ECA-A69A-60A6AB52ECEC}"/>
              </a:ext>
            </a:extLst>
          </p:cNvPr>
          <p:cNvSpPr/>
          <p:nvPr/>
        </p:nvSpPr>
        <p:spPr>
          <a:xfrm>
            <a:off x="8943979"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2" name="Rectangle 421">
            <a:extLst>
              <a:ext uri="{FF2B5EF4-FFF2-40B4-BE49-F238E27FC236}">
                <a16:creationId xmlns:a16="http://schemas.microsoft.com/office/drawing/2014/main" id="{9B085305-69C1-DDF2-4BB9-5443EE0CCE1D}"/>
              </a:ext>
            </a:extLst>
          </p:cNvPr>
          <p:cNvSpPr/>
          <p:nvPr/>
        </p:nvSpPr>
        <p:spPr>
          <a:xfrm>
            <a:off x="9210680"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3" name="Rectangle 422">
            <a:extLst>
              <a:ext uri="{FF2B5EF4-FFF2-40B4-BE49-F238E27FC236}">
                <a16:creationId xmlns:a16="http://schemas.microsoft.com/office/drawing/2014/main" id="{146433BC-6BF3-B741-56DA-D14EAC2F9930}"/>
              </a:ext>
            </a:extLst>
          </p:cNvPr>
          <p:cNvSpPr/>
          <p:nvPr/>
        </p:nvSpPr>
        <p:spPr>
          <a:xfrm>
            <a:off x="9477381"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4" name="Rectangle 423">
            <a:extLst>
              <a:ext uri="{FF2B5EF4-FFF2-40B4-BE49-F238E27FC236}">
                <a16:creationId xmlns:a16="http://schemas.microsoft.com/office/drawing/2014/main" id="{C857985C-654C-0006-350B-F9C3ED3BEA50}"/>
              </a:ext>
            </a:extLst>
          </p:cNvPr>
          <p:cNvSpPr/>
          <p:nvPr/>
        </p:nvSpPr>
        <p:spPr>
          <a:xfrm>
            <a:off x="9744082"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5" name="Rectangle 424">
            <a:extLst>
              <a:ext uri="{FF2B5EF4-FFF2-40B4-BE49-F238E27FC236}">
                <a16:creationId xmlns:a16="http://schemas.microsoft.com/office/drawing/2014/main" id="{D47CF634-DD11-96D1-B9BA-FD9741C5CB8D}"/>
              </a:ext>
            </a:extLst>
          </p:cNvPr>
          <p:cNvSpPr/>
          <p:nvPr/>
        </p:nvSpPr>
        <p:spPr>
          <a:xfrm>
            <a:off x="10010783"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6" name="Rectangle 425">
            <a:extLst>
              <a:ext uri="{FF2B5EF4-FFF2-40B4-BE49-F238E27FC236}">
                <a16:creationId xmlns:a16="http://schemas.microsoft.com/office/drawing/2014/main" id="{84AA8C42-D074-641F-E7AF-5F2E43ED4C80}"/>
              </a:ext>
            </a:extLst>
          </p:cNvPr>
          <p:cNvSpPr/>
          <p:nvPr/>
        </p:nvSpPr>
        <p:spPr>
          <a:xfrm>
            <a:off x="10277484"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7" name="Rectangle 426">
            <a:extLst>
              <a:ext uri="{FF2B5EF4-FFF2-40B4-BE49-F238E27FC236}">
                <a16:creationId xmlns:a16="http://schemas.microsoft.com/office/drawing/2014/main" id="{2EF4392D-7680-9606-CD3D-B525FF6867E3}"/>
              </a:ext>
            </a:extLst>
          </p:cNvPr>
          <p:cNvSpPr/>
          <p:nvPr/>
        </p:nvSpPr>
        <p:spPr>
          <a:xfrm>
            <a:off x="10544185"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8" name="Rectangle 427">
            <a:extLst>
              <a:ext uri="{FF2B5EF4-FFF2-40B4-BE49-F238E27FC236}">
                <a16:creationId xmlns:a16="http://schemas.microsoft.com/office/drawing/2014/main" id="{BA85275B-2C4C-F6C3-297F-98BD025B44EC}"/>
              </a:ext>
            </a:extLst>
          </p:cNvPr>
          <p:cNvSpPr/>
          <p:nvPr/>
        </p:nvSpPr>
        <p:spPr>
          <a:xfrm>
            <a:off x="10810886"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9" name="Rectangle 428">
            <a:extLst>
              <a:ext uri="{FF2B5EF4-FFF2-40B4-BE49-F238E27FC236}">
                <a16:creationId xmlns:a16="http://schemas.microsoft.com/office/drawing/2014/main" id="{23C2B18B-CF7B-8560-9E24-86659A3C644D}"/>
              </a:ext>
            </a:extLst>
          </p:cNvPr>
          <p:cNvSpPr/>
          <p:nvPr/>
        </p:nvSpPr>
        <p:spPr>
          <a:xfrm>
            <a:off x="11077587"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0" name="Rectangle 429">
            <a:extLst>
              <a:ext uri="{FF2B5EF4-FFF2-40B4-BE49-F238E27FC236}">
                <a16:creationId xmlns:a16="http://schemas.microsoft.com/office/drawing/2014/main" id="{2FE97D14-FB9C-FCAA-94F0-68CB33EEA10A}"/>
              </a:ext>
            </a:extLst>
          </p:cNvPr>
          <p:cNvSpPr/>
          <p:nvPr/>
        </p:nvSpPr>
        <p:spPr>
          <a:xfrm>
            <a:off x="11344288"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1" name="Rectangle 430">
            <a:extLst>
              <a:ext uri="{FF2B5EF4-FFF2-40B4-BE49-F238E27FC236}">
                <a16:creationId xmlns:a16="http://schemas.microsoft.com/office/drawing/2014/main" id="{DA733A4A-0ECF-847B-9339-6796CAC51DF1}"/>
              </a:ext>
            </a:extLst>
          </p:cNvPr>
          <p:cNvSpPr/>
          <p:nvPr/>
        </p:nvSpPr>
        <p:spPr>
          <a:xfrm>
            <a:off x="11610989" y="5748332"/>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3" name="TextBox 432">
            <a:extLst>
              <a:ext uri="{FF2B5EF4-FFF2-40B4-BE49-F238E27FC236}">
                <a16:creationId xmlns:a16="http://schemas.microsoft.com/office/drawing/2014/main" id="{513A6E3B-6FFB-53D6-A4C7-C0FE0C97D1A3}"/>
              </a:ext>
            </a:extLst>
          </p:cNvPr>
          <p:cNvSpPr txBox="1"/>
          <p:nvPr/>
        </p:nvSpPr>
        <p:spPr>
          <a:xfrm>
            <a:off x="6096000" y="6076944"/>
            <a:ext cx="1514474" cy="369332"/>
          </a:xfrm>
          <a:prstGeom prst="rect">
            <a:avLst/>
          </a:prstGeom>
          <a:noFill/>
        </p:spPr>
        <p:txBody>
          <a:bodyPr wrap="square" rtlCol="0">
            <a:spAutoFit/>
          </a:bodyPr>
          <a:lstStyle/>
          <a:p>
            <a:r>
              <a:rPr lang="en-US" dirty="0">
                <a:latin typeface="Consolas" panose="020B0609020204030204" pitchFamily="49" charset="0"/>
              </a:rPr>
              <a:t>0x00000300</a:t>
            </a:r>
          </a:p>
        </p:txBody>
      </p:sp>
      <p:sp>
        <p:nvSpPr>
          <p:cNvPr id="434" name="Rectangle 433">
            <a:extLst>
              <a:ext uri="{FF2B5EF4-FFF2-40B4-BE49-F238E27FC236}">
                <a16:creationId xmlns:a16="http://schemas.microsoft.com/office/drawing/2014/main" id="{3CE6E31A-211F-95EA-2879-6D535D1FE383}"/>
              </a:ext>
            </a:extLst>
          </p:cNvPr>
          <p:cNvSpPr/>
          <p:nvPr/>
        </p:nvSpPr>
        <p:spPr>
          <a:xfrm>
            <a:off x="7610474"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5" name="Rectangle 434">
            <a:extLst>
              <a:ext uri="{FF2B5EF4-FFF2-40B4-BE49-F238E27FC236}">
                <a16:creationId xmlns:a16="http://schemas.microsoft.com/office/drawing/2014/main" id="{7983D9D4-A331-652F-EB2D-34782AA00C56}"/>
              </a:ext>
            </a:extLst>
          </p:cNvPr>
          <p:cNvSpPr/>
          <p:nvPr/>
        </p:nvSpPr>
        <p:spPr>
          <a:xfrm>
            <a:off x="7877175"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6" name="Rectangle 435">
            <a:extLst>
              <a:ext uri="{FF2B5EF4-FFF2-40B4-BE49-F238E27FC236}">
                <a16:creationId xmlns:a16="http://schemas.microsoft.com/office/drawing/2014/main" id="{0B45659A-647E-3B9B-76D5-BB2BC8268C25}"/>
              </a:ext>
            </a:extLst>
          </p:cNvPr>
          <p:cNvSpPr/>
          <p:nvPr/>
        </p:nvSpPr>
        <p:spPr>
          <a:xfrm>
            <a:off x="8143876"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7" name="Rectangle 436">
            <a:extLst>
              <a:ext uri="{FF2B5EF4-FFF2-40B4-BE49-F238E27FC236}">
                <a16:creationId xmlns:a16="http://schemas.microsoft.com/office/drawing/2014/main" id="{96A4E469-2B94-DDBB-03A1-544F501B8919}"/>
              </a:ext>
            </a:extLst>
          </p:cNvPr>
          <p:cNvSpPr/>
          <p:nvPr/>
        </p:nvSpPr>
        <p:spPr>
          <a:xfrm>
            <a:off x="8410577"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8" name="Rectangle 437">
            <a:extLst>
              <a:ext uri="{FF2B5EF4-FFF2-40B4-BE49-F238E27FC236}">
                <a16:creationId xmlns:a16="http://schemas.microsoft.com/office/drawing/2014/main" id="{C5014B10-FBFD-4293-BE70-A2B453413605}"/>
              </a:ext>
            </a:extLst>
          </p:cNvPr>
          <p:cNvSpPr/>
          <p:nvPr/>
        </p:nvSpPr>
        <p:spPr>
          <a:xfrm>
            <a:off x="8677278"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9" name="Rectangle 438">
            <a:extLst>
              <a:ext uri="{FF2B5EF4-FFF2-40B4-BE49-F238E27FC236}">
                <a16:creationId xmlns:a16="http://schemas.microsoft.com/office/drawing/2014/main" id="{25FC1FB7-5C88-4ED0-48AA-5C993D0DE8E1}"/>
              </a:ext>
            </a:extLst>
          </p:cNvPr>
          <p:cNvSpPr/>
          <p:nvPr/>
        </p:nvSpPr>
        <p:spPr>
          <a:xfrm>
            <a:off x="8943979"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0" name="Rectangle 439">
            <a:extLst>
              <a:ext uri="{FF2B5EF4-FFF2-40B4-BE49-F238E27FC236}">
                <a16:creationId xmlns:a16="http://schemas.microsoft.com/office/drawing/2014/main" id="{F1786A3A-5486-6780-1FE5-ADB99A8C68D3}"/>
              </a:ext>
            </a:extLst>
          </p:cNvPr>
          <p:cNvSpPr/>
          <p:nvPr/>
        </p:nvSpPr>
        <p:spPr>
          <a:xfrm>
            <a:off x="9210680"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1" name="Rectangle 440">
            <a:extLst>
              <a:ext uri="{FF2B5EF4-FFF2-40B4-BE49-F238E27FC236}">
                <a16:creationId xmlns:a16="http://schemas.microsoft.com/office/drawing/2014/main" id="{E39A556A-79DB-178B-CCA4-78A979EC8559}"/>
              </a:ext>
            </a:extLst>
          </p:cNvPr>
          <p:cNvSpPr/>
          <p:nvPr/>
        </p:nvSpPr>
        <p:spPr>
          <a:xfrm>
            <a:off x="9477381"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2" name="Rectangle 441">
            <a:extLst>
              <a:ext uri="{FF2B5EF4-FFF2-40B4-BE49-F238E27FC236}">
                <a16:creationId xmlns:a16="http://schemas.microsoft.com/office/drawing/2014/main" id="{A9310239-C406-7169-74FD-446F28347DC2}"/>
              </a:ext>
            </a:extLst>
          </p:cNvPr>
          <p:cNvSpPr/>
          <p:nvPr/>
        </p:nvSpPr>
        <p:spPr>
          <a:xfrm>
            <a:off x="9744082"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3" name="Rectangle 442">
            <a:extLst>
              <a:ext uri="{FF2B5EF4-FFF2-40B4-BE49-F238E27FC236}">
                <a16:creationId xmlns:a16="http://schemas.microsoft.com/office/drawing/2014/main" id="{526A2722-05C8-A598-D060-6FB819A1F3A5}"/>
              </a:ext>
            </a:extLst>
          </p:cNvPr>
          <p:cNvSpPr/>
          <p:nvPr/>
        </p:nvSpPr>
        <p:spPr>
          <a:xfrm>
            <a:off x="10010783"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4" name="Rectangle 443">
            <a:extLst>
              <a:ext uri="{FF2B5EF4-FFF2-40B4-BE49-F238E27FC236}">
                <a16:creationId xmlns:a16="http://schemas.microsoft.com/office/drawing/2014/main" id="{C9A21177-D5D7-E15B-6BD8-A2C602DAFF32}"/>
              </a:ext>
            </a:extLst>
          </p:cNvPr>
          <p:cNvSpPr/>
          <p:nvPr/>
        </p:nvSpPr>
        <p:spPr>
          <a:xfrm>
            <a:off x="10277484"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5" name="Rectangle 444">
            <a:extLst>
              <a:ext uri="{FF2B5EF4-FFF2-40B4-BE49-F238E27FC236}">
                <a16:creationId xmlns:a16="http://schemas.microsoft.com/office/drawing/2014/main" id="{222E88BE-BBC6-6A33-5F5D-09D51379CCE2}"/>
              </a:ext>
            </a:extLst>
          </p:cNvPr>
          <p:cNvSpPr/>
          <p:nvPr/>
        </p:nvSpPr>
        <p:spPr>
          <a:xfrm>
            <a:off x="10544185"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6" name="Rectangle 445">
            <a:extLst>
              <a:ext uri="{FF2B5EF4-FFF2-40B4-BE49-F238E27FC236}">
                <a16:creationId xmlns:a16="http://schemas.microsoft.com/office/drawing/2014/main" id="{0BC01E3C-45AE-04B7-FCCF-F17E21045133}"/>
              </a:ext>
            </a:extLst>
          </p:cNvPr>
          <p:cNvSpPr/>
          <p:nvPr/>
        </p:nvSpPr>
        <p:spPr>
          <a:xfrm>
            <a:off x="10810886"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7" name="Rectangle 446">
            <a:extLst>
              <a:ext uri="{FF2B5EF4-FFF2-40B4-BE49-F238E27FC236}">
                <a16:creationId xmlns:a16="http://schemas.microsoft.com/office/drawing/2014/main" id="{EF43E884-6D97-F89B-36A2-03FE34A3FE39}"/>
              </a:ext>
            </a:extLst>
          </p:cNvPr>
          <p:cNvSpPr/>
          <p:nvPr/>
        </p:nvSpPr>
        <p:spPr>
          <a:xfrm>
            <a:off x="11077587"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8" name="Rectangle 447">
            <a:extLst>
              <a:ext uri="{FF2B5EF4-FFF2-40B4-BE49-F238E27FC236}">
                <a16:creationId xmlns:a16="http://schemas.microsoft.com/office/drawing/2014/main" id="{2996709B-B17F-173F-CE13-F858D155CB89}"/>
              </a:ext>
            </a:extLst>
          </p:cNvPr>
          <p:cNvSpPr/>
          <p:nvPr/>
        </p:nvSpPr>
        <p:spPr>
          <a:xfrm>
            <a:off x="11344288"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9" name="Rectangle 448">
            <a:extLst>
              <a:ext uri="{FF2B5EF4-FFF2-40B4-BE49-F238E27FC236}">
                <a16:creationId xmlns:a16="http://schemas.microsoft.com/office/drawing/2014/main" id="{1EEE6026-F533-C595-540A-4F56BDF21767}"/>
              </a:ext>
            </a:extLst>
          </p:cNvPr>
          <p:cNvSpPr/>
          <p:nvPr/>
        </p:nvSpPr>
        <p:spPr>
          <a:xfrm>
            <a:off x="11610989" y="6086469"/>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1" name="TextBox 450">
            <a:extLst>
              <a:ext uri="{FF2B5EF4-FFF2-40B4-BE49-F238E27FC236}">
                <a16:creationId xmlns:a16="http://schemas.microsoft.com/office/drawing/2014/main" id="{4F7FD8A0-CFD9-4FD4-70E2-8DDCD7EBC8D3}"/>
              </a:ext>
            </a:extLst>
          </p:cNvPr>
          <p:cNvSpPr txBox="1"/>
          <p:nvPr/>
        </p:nvSpPr>
        <p:spPr>
          <a:xfrm>
            <a:off x="6096000" y="6415081"/>
            <a:ext cx="1514474" cy="369332"/>
          </a:xfrm>
          <a:prstGeom prst="rect">
            <a:avLst/>
          </a:prstGeom>
          <a:noFill/>
        </p:spPr>
        <p:txBody>
          <a:bodyPr wrap="square" rtlCol="0">
            <a:spAutoFit/>
          </a:bodyPr>
          <a:lstStyle/>
          <a:p>
            <a:r>
              <a:rPr lang="en-US" dirty="0">
                <a:latin typeface="Consolas" panose="020B0609020204030204" pitchFamily="49" charset="0"/>
              </a:rPr>
              <a:t>0x00000340</a:t>
            </a:r>
          </a:p>
        </p:txBody>
      </p:sp>
      <p:sp>
        <p:nvSpPr>
          <p:cNvPr id="452" name="Rectangle 451">
            <a:extLst>
              <a:ext uri="{FF2B5EF4-FFF2-40B4-BE49-F238E27FC236}">
                <a16:creationId xmlns:a16="http://schemas.microsoft.com/office/drawing/2014/main" id="{111F88DB-888F-8AE6-23EF-D482C39EECBF}"/>
              </a:ext>
            </a:extLst>
          </p:cNvPr>
          <p:cNvSpPr/>
          <p:nvPr/>
        </p:nvSpPr>
        <p:spPr>
          <a:xfrm>
            <a:off x="7610474"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3" name="Rectangle 452">
            <a:extLst>
              <a:ext uri="{FF2B5EF4-FFF2-40B4-BE49-F238E27FC236}">
                <a16:creationId xmlns:a16="http://schemas.microsoft.com/office/drawing/2014/main" id="{07185B32-6BA6-B6EE-8F85-3A51D4D82894}"/>
              </a:ext>
            </a:extLst>
          </p:cNvPr>
          <p:cNvSpPr/>
          <p:nvPr/>
        </p:nvSpPr>
        <p:spPr>
          <a:xfrm>
            <a:off x="7877175"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4" name="Rectangle 453">
            <a:extLst>
              <a:ext uri="{FF2B5EF4-FFF2-40B4-BE49-F238E27FC236}">
                <a16:creationId xmlns:a16="http://schemas.microsoft.com/office/drawing/2014/main" id="{81466002-E0C2-267E-5405-AA8CA1F17B52}"/>
              </a:ext>
            </a:extLst>
          </p:cNvPr>
          <p:cNvSpPr/>
          <p:nvPr/>
        </p:nvSpPr>
        <p:spPr>
          <a:xfrm>
            <a:off x="8143876"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5" name="Rectangle 454">
            <a:extLst>
              <a:ext uri="{FF2B5EF4-FFF2-40B4-BE49-F238E27FC236}">
                <a16:creationId xmlns:a16="http://schemas.microsoft.com/office/drawing/2014/main" id="{A24F66F3-83A4-4378-8F0E-65A7A57ACCCA}"/>
              </a:ext>
            </a:extLst>
          </p:cNvPr>
          <p:cNvSpPr/>
          <p:nvPr/>
        </p:nvSpPr>
        <p:spPr>
          <a:xfrm>
            <a:off x="8410577"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6" name="Rectangle 455">
            <a:extLst>
              <a:ext uri="{FF2B5EF4-FFF2-40B4-BE49-F238E27FC236}">
                <a16:creationId xmlns:a16="http://schemas.microsoft.com/office/drawing/2014/main" id="{2EFE9EB4-BEEF-5774-9CC8-4772C64A439A}"/>
              </a:ext>
            </a:extLst>
          </p:cNvPr>
          <p:cNvSpPr/>
          <p:nvPr/>
        </p:nvSpPr>
        <p:spPr>
          <a:xfrm>
            <a:off x="8677278"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7" name="Rectangle 456">
            <a:extLst>
              <a:ext uri="{FF2B5EF4-FFF2-40B4-BE49-F238E27FC236}">
                <a16:creationId xmlns:a16="http://schemas.microsoft.com/office/drawing/2014/main" id="{2E212193-21A6-CF45-7E92-60C1541DB62D}"/>
              </a:ext>
            </a:extLst>
          </p:cNvPr>
          <p:cNvSpPr/>
          <p:nvPr/>
        </p:nvSpPr>
        <p:spPr>
          <a:xfrm>
            <a:off x="8943979"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8" name="Rectangle 457">
            <a:extLst>
              <a:ext uri="{FF2B5EF4-FFF2-40B4-BE49-F238E27FC236}">
                <a16:creationId xmlns:a16="http://schemas.microsoft.com/office/drawing/2014/main" id="{304C167A-CCFD-DC4C-1F0E-4928CA0A9ED1}"/>
              </a:ext>
            </a:extLst>
          </p:cNvPr>
          <p:cNvSpPr/>
          <p:nvPr/>
        </p:nvSpPr>
        <p:spPr>
          <a:xfrm>
            <a:off x="9210680"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9" name="Rectangle 458">
            <a:extLst>
              <a:ext uri="{FF2B5EF4-FFF2-40B4-BE49-F238E27FC236}">
                <a16:creationId xmlns:a16="http://schemas.microsoft.com/office/drawing/2014/main" id="{7D1B99E3-8EA1-BD45-DCBD-3FFFE6AA69D8}"/>
              </a:ext>
            </a:extLst>
          </p:cNvPr>
          <p:cNvSpPr/>
          <p:nvPr/>
        </p:nvSpPr>
        <p:spPr>
          <a:xfrm>
            <a:off x="9477381"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0" name="Rectangle 459">
            <a:extLst>
              <a:ext uri="{FF2B5EF4-FFF2-40B4-BE49-F238E27FC236}">
                <a16:creationId xmlns:a16="http://schemas.microsoft.com/office/drawing/2014/main" id="{27F179BA-95DF-AE47-FD9A-5F5132D4B43E}"/>
              </a:ext>
            </a:extLst>
          </p:cNvPr>
          <p:cNvSpPr/>
          <p:nvPr/>
        </p:nvSpPr>
        <p:spPr>
          <a:xfrm>
            <a:off x="9744082"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1" name="Rectangle 460">
            <a:extLst>
              <a:ext uri="{FF2B5EF4-FFF2-40B4-BE49-F238E27FC236}">
                <a16:creationId xmlns:a16="http://schemas.microsoft.com/office/drawing/2014/main" id="{12816DBC-0591-1DCF-340B-590A9E019363}"/>
              </a:ext>
            </a:extLst>
          </p:cNvPr>
          <p:cNvSpPr/>
          <p:nvPr/>
        </p:nvSpPr>
        <p:spPr>
          <a:xfrm>
            <a:off x="10010783"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2" name="Rectangle 461">
            <a:extLst>
              <a:ext uri="{FF2B5EF4-FFF2-40B4-BE49-F238E27FC236}">
                <a16:creationId xmlns:a16="http://schemas.microsoft.com/office/drawing/2014/main" id="{D312A81B-7839-9F09-1CE0-EB14BF4411EA}"/>
              </a:ext>
            </a:extLst>
          </p:cNvPr>
          <p:cNvSpPr/>
          <p:nvPr/>
        </p:nvSpPr>
        <p:spPr>
          <a:xfrm>
            <a:off x="10277484"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3" name="Rectangle 462">
            <a:extLst>
              <a:ext uri="{FF2B5EF4-FFF2-40B4-BE49-F238E27FC236}">
                <a16:creationId xmlns:a16="http://schemas.microsoft.com/office/drawing/2014/main" id="{AACF6E5E-F37A-A74C-D0C9-7669F092AD56}"/>
              </a:ext>
            </a:extLst>
          </p:cNvPr>
          <p:cNvSpPr/>
          <p:nvPr/>
        </p:nvSpPr>
        <p:spPr>
          <a:xfrm>
            <a:off x="10544185"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4" name="Rectangle 463">
            <a:extLst>
              <a:ext uri="{FF2B5EF4-FFF2-40B4-BE49-F238E27FC236}">
                <a16:creationId xmlns:a16="http://schemas.microsoft.com/office/drawing/2014/main" id="{A6C78A36-3B66-B2E8-520F-2AE7EDF8DF1D}"/>
              </a:ext>
            </a:extLst>
          </p:cNvPr>
          <p:cNvSpPr/>
          <p:nvPr/>
        </p:nvSpPr>
        <p:spPr>
          <a:xfrm>
            <a:off x="10810886"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5" name="Rectangle 464">
            <a:extLst>
              <a:ext uri="{FF2B5EF4-FFF2-40B4-BE49-F238E27FC236}">
                <a16:creationId xmlns:a16="http://schemas.microsoft.com/office/drawing/2014/main" id="{7A566454-B782-9483-DDE0-440D80962DAF}"/>
              </a:ext>
            </a:extLst>
          </p:cNvPr>
          <p:cNvSpPr/>
          <p:nvPr/>
        </p:nvSpPr>
        <p:spPr>
          <a:xfrm>
            <a:off x="11077587"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6" name="Rectangle 465">
            <a:extLst>
              <a:ext uri="{FF2B5EF4-FFF2-40B4-BE49-F238E27FC236}">
                <a16:creationId xmlns:a16="http://schemas.microsoft.com/office/drawing/2014/main" id="{41714D86-A2F0-3DBB-0302-3AA796D1E7C9}"/>
              </a:ext>
            </a:extLst>
          </p:cNvPr>
          <p:cNvSpPr/>
          <p:nvPr/>
        </p:nvSpPr>
        <p:spPr>
          <a:xfrm>
            <a:off x="11344288"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7" name="Rectangle 466">
            <a:extLst>
              <a:ext uri="{FF2B5EF4-FFF2-40B4-BE49-F238E27FC236}">
                <a16:creationId xmlns:a16="http://schemas.microsoft.com/office/drawing/2014/main" id="{8EEDBB25-911E-64EE-517D-7A89BD27583D}"/>
              </a:ext>
            </a:extLst>
          </p:cNvPr>
          <p:cNvSpPr/>
          <p:nvPr/>
        </p:nvSpPr>
        <p:spPr>
          <a:xfrm>
            <a:off x="11610989" y="6424606"/>
            <a:ext cx="266701" cy="3524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539" name="Group 538">
            <a:extLst>
              <a:ext uri="{FF2B5EF4-FFF2-40B4-BE49-F238E27FC236}">
                <a16:creationId xmlns:a16="http://schemas.microsoft.com/office/drawing/2014/main" id="{C41BBAAF-E371-2B9C-C589-55BA564B744E}"/>
              </a:ext>
            </a:extLst>
          </p:cNvPr>
          <p:cNvGrpSpPr/>
          <p:nvPr/>
        </p:nvGrpSpPr>
        <p:grpSpPr>
          <a:xfrm>
            <a:off x="4743" y="2202894"/>
            <a:ext cx="5781690" cy="369332"/>
            <a:chOff x="-10" y="2202894"/>
            <a:chExt cx="5781690" cy="369332"/>
          </a:xfrm>
        </p:grpSpPr>
        <p:sp>
          <p:nvSpPr>
            <p:cNvPr id="468" name="TextBox 467">
              <a:extLst>
                <a:ext uri="{FF2B5EF4-FFF2-40B4-BE49-F238E27FC236}">
                  <a16:creationId xmlns:a16="http://schemas.microsoft.com/office/drawing/2014/main" id="{FF6F5818-E6CD-0A40-CDF5-33051BD29FD6}"/>
                </a:ext>
              </a:extLst>
            </p:cNvPr>
            <p:cNvSpPr txBox="1"/>
            <p:nvPr/>
          </p:nvSpPr>
          <p:spPr>
            <a:xfrm>
              <a:off x="-10" y="2202894"/>
              <a:ext cx="1514474" cy="369332"/>
            </a:xfrm>
            <a:prstGeom prst="rect">
              <a:avLst/>
            </a:prstGeom>
            <a:noFill/>
          </p:spPr>
          <p:txBody>
            <a:bodyPr wrap="square" rtlCol="0">
              <a:spAutoFit/>
            </a:bodyPr>
            <a:lstStyle/>
            <a:p>
              <a:r>
                <a:rPr lang="en-US" dirty="0">
                  <a:latin typeface="Consolas" panose="020B0609020204030204" pitchFamily="49" charset="0"/>
                </a:rPr>
                <a:t>0x00000000</a:t>
              </a:r>
            </a:p>
          </p:txBody>
        </p:sp>
        <p:sp>
          <p:nvSpPr>
            <p:cNvPr id="469" name="Rectangle 468">
              <a:extLst>
                <a:ext uri="{FF2B5EF4-FFF2-40B4-BE49-F238E27FC236}">
                  <a16:creationId xmlns:a16="http://schemas.microsoft.com/office/drawing/2014/main" id="{B8C0C4F6-614F-50C5-E953-0B9218AD8CBB}"/>
                </a:ext>
              </a:extLst>
            </p:cNvPr>
            <p:cNvSpPr/>
            <p:nvPr/>
          </p:nvSpPr>
          <p:spPr>
            <a:xfrm>
              <a:off x="1514464"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BE1EFF07-2DD4-A657-07CF-B703B27467E4}"/>
                </a:ext>
              </a:extLst>
            </p:cNvPr>
            <p:cNvSpPr/>
            <p:nvPr/>
          </p:nvSpPr>
          <p:spPr>
            <a:xfrm>
              <a:off x="1781165"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BFD109A2-C71A-0E0C-8B86-CB5A812530ED}"/>
                </a:ext>
              </a:extLst>
            </p:cNvPr>
            <p:cNvSpPr/>
            <p:nvPr/>
          </p:nvSpPr>
          <p:spPr>
            <a:xfrm>
              <a:off x="2047866"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78EB8EB0-ED0A-7152-0572-BF24709835F4}"/>
                </a:ext>
              </a:extLst>
            </p:cNvPr>
            <p:cNvSpPr/>
            <p:nvPr/>
          </p:nvSpPr>
          <p:spPr>
            <a:xfrm>
              <a:off x="2314567"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70DBB6F3-A6C2-8E9B-6D24-4A2A9F326354}"/>
                </a:ext>
              </a:extLst>
            </p:cNvPr>
            <p:cNvSpPr/>
            <p:nvPr/>
          </p:nvSpPr>
          <p:spPr>
            <a:xfrm>
              <a:off x="2581268"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FCF5C891-088F-921C-6453-EDB618CAEF65}"/>
                </a:ext>
              </a:extLst>
            </p:cNvPr>
            <p:cNvSpPr/>
            <p:nvPr/>
          </p:nvSpPr>
          <p:spPr>
            <a:xfrm>
              <a:off x="2847969"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0491403B-2788-A4AA-B5B5-28F129F50611}"/>
                </a:ext>
              </a:extLst>
            </p:cNvPr>
            <p:cNvSpPr/>
            <p:nvPr/>
          </p:nvSpPr>
          <p:spPr>
            <a:xfrm>
              <a:off x="3114670"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754FD715-9DD0-DB67-3759-F6734D6393C2}"/>
                </a:ext>
              </a:extLst>
            </p:cNvPr>
            <p:cNvSpPr/>
            <p:nvPr/>
          </p:nvSpPr>
          <p:spPr>
            <a:xfrm>
              <a:off x="3381371"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A9A44643-DFBF-5F84-2558-7B5A2128CB61}"/>
                </a:ext>
              </a:extLst>
            </p:cNvPr>
            <p:cNvSpPr/>
            <p:nvPr/>
          </p:nvSpPr>
          <p:spPr>
            <a:xfrm>
              <a:off x="3648072"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13504902-2C71-8074-83D0-7B704C53C390}"/>
                </a:ext>
              </a:extLst>
            </p:cNvPr>
            <p:cNvSpPr/>
            <p:nvPr/>
          </p:nvSpPr>
          <p:spPr>
            <a:xfrm>
              <a:off x="3914773"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561FA980-2A51-0834-3DCA-1240209941DE}"/>
                </a:ext>
              </a:extLst>
            </p:cNvPr>
            <p:cNvSpPr/>
            <p:nvPr/>
          </p:nvSpPr>
          <p:spPr>
            <a:xfrm>
              <a:off x="4181474"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9EC4D942-F792-FD37-E883-55AD577D8B60}"/>
                </a:ext>
              </a:extLst>
            </p:cNvPr>
            <p:cNvSpPr/>
            <p:nvPr/>
          </p:nvSpPr>
          <p:spPr>
            <a:xfrm>
              <a:off x="4448175"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0FA52497-CEFB-6AD0-F659-4119507B2A0A}"/>
                </a:ext>
              </a:extLst>
            </p:cNvPr>
            <p:cNvSpPr/>
            <p:nvPr/>
          </p:nvSpPr>
          <p:spPr>
            <a:xfrm>
              <a:off x="4714876"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231DBBE1-4010-D15E-6D9C-F3BC6E4E373E}"/>
                </a:ext>
              </a:extLst>
            </p:cNvPr>
            <p:cNvSpPr/>
            <p:nvPr/>
          </p:nvSpPr>
          <p:spPr>
            <a:xfrm>
              <a:off x="4981577"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6B5156B6-FBD2-081B-A75B-A83C9647EBFF}"/>
                </a:ext>
              </a:extLst>
            </p:cNvPr>
            <p:cNvSpPr/>
            <p:nvPr/>
          </p:nvSpPr>
          <p:spPr>
            <a:xfrm>
              <a:off x="5248278"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FD2FD670-73E0-4A5E-6FF9-B4294ABAE9DD}"/>
                </a:ext>
              </a:extLst>
            </p:cNvPr>
            <p:cNvSpPr/>
            <p:nvPr/>
          </p:nvSpPr>
          <p:spPr>
            <a:xfrm>
              <a:off x="5514979" y="2212419"/>
              <a:ext cx="266701"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8" name="Group 537">
            <a:extLst>
              <a:ext uri="{FF2B5EF4-FFF2-40B4-BE49-F238E27FC236}">
                <a16:creationId xmlns:a16="http://schemas.microsoft.com/office/drawing/2014/main" id="{F98A5889-CB46-6921-B0DE-9D33CC31BC57}"/>
              </a:ext>
            </a:extLst>
          </p:cNvPr>
          <p:cNvGrpSpPr/>
          <p:nvPr/>
        </p:nvGrpSpPr>
        <p:grpSpPr>
          <a:xfrm>
            <a:off x="4743" y="2541031"/>
            <a:ext cx="5781690" cy="369332"/>
            <a:chOff x="-10" y="2541031"/>
            <a:chExt cx="5781690" cy="369332"/>
          </a:xfrm>
        </p:grpSpPr>
        <p:sp>
          <p:nvSpPr>
            <p:cNvPr id="485" name="TextBox 484">
              <a:extLst>
                <a:ext uri="{FF2B5EF4-FFF2-40B4-BE49-F238E27FC236}">
                  <a16:creationId xmlns:a16="http://schemas.microsoft.com/office/drawing/2014/main" id="{1E9234E0-77C7-6A23-A22A-4422CD01F4C6}"/>
                </a:ext>
              </a:extLst>
            </p:cNvPr>
            <p:cNvSpPr txBox="1"/>
            <p:nvPr/>
          </p:nvSpPr>
          <p:spPr>
            <a:xfrm>
              <a:off x="-10" y="2541031"/>
              <a:ext cx="1514474" cy="369332"/>
            </a:xfrm>
            <a:prstGeom prst="rect">
              <a:avLst/>
            </a:prstGeom>
            <a:noFill/>
          </p:spPr>
          <p:txBody>
            <a:bodyPr wrap="square" rtlCol="0">
              <a:spAutoFit/>
            </a:bodyPr>
            <a:lstStyle/>
            <a:p>
              <a:r>
                <a:rPr lang="en-US" dirty="0">
                  <a:latin typeface="Consolas" panose="020B0609020204030204" pitchFamily="49" charset="0"/>
                </a:rPr>
                <a:t>0x00000040</a:t>
              </a:r>
            </a:p>
          </p:txBody>
        </p:sp>
        <p:sp>
          <p:nvSpPr>
            <p:cNvPr id="486" name="Rectangle 485">
              <a:extLst>
                <a:ext uri="{FF2B5EF4-FFF2-40B4-BE49-F238E27FC236}">
                  <a16:creationId xmlns:a16="http://schemas.microsoft.com/office/drawing/2014/main" id="{B5F632A2-CADD-4525-AAA2-2B2FD6B7F9B8}"/>
                </a:ext>
              </a:extLst>
            </p:cNvPr>
            <p:cNvSpPr/>
            <p:nvPr/>
          </p:nvSpPr>
          <p:spPr>
            <a:xfrm>
              <a:off x="1514464"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C7399D81-F6C1-805F-7D75-89B7968C4538}"/>
                </a:ext>
              </a:extLst>
            </p:cNvPr>
            <p:cNvSpPr/>
            <p:nvPr/>
          </p:nvSpPr>
          <p:spPr>
            <a:xfrm>
              <a:off x="1781165"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89F2630D-969B-F1BA-E134-599805AC70A8}"/>
                </a:ext>
              </a:extLst>
            </p:cNvPr>
            <p:cNvSpPr/>
            <p:nvPr/>
          </p:nvSpPr>
          <p:spPr>
            <a:xfrm>
              <a:off x="2047866"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7936BE7A-45FD-66FE-17F8-C3C23ED4F332}"/>
                </a:ext>
              </a:extLst>
            </p:cNvPr>
            <p:cNvSpPr/>
            <p:nvPr/>
          </p:nvSpPr>
          <p:spPr>
            <a:xfrm>
              <a:off x="2314567"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609E17AE-AAC7-2FA0-27AC-C54D5D96E0C2}"/>
                </a:ext>
              </a:extLst>
            </p:cNvPr>
            <p:cNvSpPr/>
            <p:nvPr/>
          </p:nvSpPr>
          <p:spPr>
            <a:xfrm>
              <a:off x="2581268"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549855B6-0544-7CAE-58E1-78D87A85A077}"/>
                </a:ext>
              </a:extLst>
            </p:cNvPr>
            <p:cNvSpPr/>
            <p:nvPr/>
          </p:nvSpPr>
          <p:spPr>
            <a:xfrm>
              <a:off x="2847969"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E1412F2C-FD28-7417-2E0D-0DAB695AB861}"/>
                </a:ext>
              </a:extLst>
            </p:cNvPr>
            <p:cNvSpPr/>
            <p:nvPr/>
          </p:nvSpPr>
          <p:spPr>
            <a:xfrm>
              <a:off x="3114670"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1E5FE9B0-4FA2-9E5A-B825-028500580C20}"/>
                </a:ext>
              </a:extLst>
            </p:cNvPr>
            <p:cNvSpPr/>
            <p:nvPr/>
          </p:nvSpPr>
          <p:spPr>
            <a:xfrm>
              <a:off x="3381371"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DDAEA709-E0D0-5D72-CE7F-80B087802481}"/>
                </a:ext>
              </a:extLst>
            </p:cNvPr>
            <p:cNvSpPr/>
            <p:nvPr/>
          </p:nvSpPr>
          <p:spPr>
            <a:xfrm>
              <a:off x="3648072"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2647FCD6-B152-B027-4AB8-3F02311985C0}"/>
                </a:ext>
              </a:extLst>
            </p:cNvPr>
            <p:cNvSpPr/>
            <p:nvPr/>
          </p:nvSpPr>
          <p:spPr>
            <a:xfrm>
              <a:off x="3914773"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832EACEF-E413-0C82-3A51-A73897D6631D}"/>
                </a:ext>
              </a:extLst>
            </p:cNvPr>
            <p:cNvSpPr/>
            <p:nvPr/>
          </p:nvSpPr>
          <p:spPr>
            <a:xfrm>
              <a:off x="4181474"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052AE57E-1B8C-CF4C-E33E-9225738114DD}"/>
                </a:ext>
              </a:extLst>
            </p:cNvPr>
            <p:cNvSpPr/>
            <p:nvPr/>
          </p:nvSpPr>
          <p:spPr>
            <a:xfrm>
              <a:off x="4448175"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DC1CD1EE-951C-786A-3003-7FF6B9665669}"/>
                </a:ext>
              </a:extLst>
            </p:cNvPr>
            <p:cNvSpPr/>
            <p:nvPr/>
          </p:nvSpPr>
          <p:spPr>
            <a:xfrm>
              <a:off x="4714876"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3801F2E7-72AD-68AB-6129-D0C71679CEAC}"/>
                </a:ext>
              </a:extLst>
            </p:cNvPr>
            <p:cNvSpPr/>
            <p:nvPr/>
          </p:nvSpPr>
          <p:spPr>
            <a:xfrm>
              <a:off x="4981577"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5604E976-C443-F544-5731-9788DCA15B1E}"/>
                </a:ext>
              </a:extLst>
            </p:cNvPr>
            <p:cNvSpPr/>
            <p:nvPr/>
          </p:nvSpPr>
          <p:spPr>
            <a:xfrm>
              <a:off x="5248278"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11BCC6DE-8B1C-57C9-5EF4-3409430139F2}"/>
                </a:ext>
              </a:extLst>
            </p:cNvPr>
            <p:cNvSpPr/>
            <p:nvPr/>
          </p:nvSpPr>
          <p:spPr>
            <a:xfrm>
              <a:off x="5514979" y="2550556"/>
              <a:ext cx="266701" cy="352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grpSp>
        <p:nvGrpSpPr>
          <p:cNvPr id="537" name="Group 536">
            <a:extLst>
              <a:ext uri="{FF2B5EF4-FFF2-40B4-BE49-F238E27FC236}">
                <a16:creationId xmlns:a16="http://schemas.microsoft.com/office/drawing/2014/main" id="{F7A25FD1-316C-D83B-FD8A-2DE74814A2E3}"/>
              </a:ext>
            </a:extLst>
          </p:cNvPr>
          <p:cNvGrpSpPr/>
          <p:nvPr/>
        </p:nvGrpSpPr>
        <p:grpSpPr>
          <a:xfrm>
            <a:off x="4743" y="2879168"/>
            <a:ext cx="5781690" cy="369332"/>
            <a:chOff x="4743" y="2879168"/>
            <a:chExt cx="5781690" cy="369332"/>
          </a:xfrm>
        </p:grpSpPr>
        <p:sp>
          <p:nvSpPr>
            <p:cNvPr id="502" name="TextBox 501">
              <a:extLst>
                <a:ext uri="{FF2B5EF4-FFF2-40B4-BE49-F238E27FC236}">
                  <a16:creationId xmlns:a16="http://schemas.microsoft.com/office/drawing/2014/main" id="{2BD7D193-8C4F-238C-4306-51BAE40C073C}"/>
                </a:ext>
              </a:extLst>
            </p:cNvPr>
            <p:cNvSpPr txBox="1"/>
            <p:nvPr/>
          </p:nvSpPr>
          <p:spPr>
            <a:xfrm>
              <a:off x="4743" y="2879168"/>
              <a:ext cx="1514474" cy="369332"/>
            </a:xfrm>
            <a:prstGeom prst="rect">
              <a:avLst/>
            </a:prstGeom>
            <a:noFill/>
          </p:spPr>
          <p:txBody>
            <a:bodyPr wrap="square" rtlCol="0">
              <a:spAutoFit/>
            </a:bodyPr>
            <a:lstStyle/>
            <a:p>
              <a:r>
                <a:rPr lang="en-US" dirty="0">
                  <a:latin typeface="Consolas" panose="020B0609020204030204" pitchFamily="49" charset="0"/>
                </a:rPr>
                <a:t>0x00000180</a:t>
              </a:r>
            </a:p>
          </p:txBody>
        </p:sp>
        <p:sp>
          <p:nvSpPr>
            <p:cNvPr id="503" name="Rectangle 502">
              <a:extLst>
                <a:ext uri="{FF2B5EF4-FFF2-40B4-BE49-F238E27FC236}">
                  <a16:creationId xmlns:a16="http://schemas.microsoft.com/office/drawing/2014/main" id="{7D2F2935-2C31-05F9-EE8C-ECEC6BE6E09B}"/>
                </a:ext>
              </a:extLst>
            </p:cNvPr>
            <p:cNvSpPr/>
            <p:nvPr/>
          </p:nvSpPr>
          <p:spPr>
            <a:xfrm>
              <a:off x="1519217"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942E209F-D906-F9C7-14C6-FBBFFA4A8C20}"/>
                </a:ext>
              </a:extLst>
            </p:cNvPr>
            <p:cNvSpPr/>
            <p:nvPr/>
          </p:nvSpPr>
          <p:spPr>
            <a:xfrm>
              <a:off x="1785918"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06CB98D7-DF43-53F0-431D-44E1BA0EAACB}"/>
                </a:ext>
              </a:extLst>
            </p:cNvPr>
            <p:cNvSpPr/>
            <p:nvPr/>
          </p:nvSpPr>
          <p:spPr>
            <a:xfrm>
              <a:off x="2052619"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F037953D-F2AF-4914-90CF-C64B9C54DEBC}"/>
                </a:ext>
              </a:extLst>
            </p:cNvPr>
            <p:cNvSpPr/>
            <p:nvPr/>
          </p:nvSpPr>
          <p:spPr>
            <a:xfrm>
              <a:off x="2319320"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0F9DB7F7-5E84-610A-AEBE-18CCE3CDDF32}"/>
                </a:ext>
              </a:extLst>
            </p:cNvPr>
            <p:cNvSpPr/>
            <p:nvPr/>
          </p:nvSpPr>
          <p:spPr>
            <a:xfrm>
              <a:off x="2586021"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0164FC3F-A1E0-3545-A484-1092C3303432}"/>
                </a:ext>
              </a:extLst>
            </p:cNvPr>
            <p:cNvSpPr/>
            <p:nvPr/>
          </p:nvSpPr>
          <p:spPr>
            <a:xfrm>
              <a:off x="2852722"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46FCDF16-431F-316E-C75D-0234A107FC24}"/>
                </a:ext>
              </a:extLst>
            </p:cNvPr>
            <p:cNvSpPr/>
            <p:nvPr/>
          </p:nvSpPr>
          <p:spPr>
            <a:xfrm>
              <a:off x="3119423"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5EBAA29B-F659-033A-0AAB-66386B7A9886}"/>
                </a:ext>
              </a:extLst>
            </p:cNvPr>
            <p:cNvSpPr/>
            <p:nvPr/>
          </p:nvSpPr>
          <p:spPr>
            <a:xfrm>
              <a:off x="3386124"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047367D3-4E08-26F2-B191-61E85BA9F008}"/>
                </a:ext>
              </a:extLst>
            </p:cNvPr>
            <p:cNvSpPr/>
            <p:nvPr/>
          </p:nvSpPr>
          <p:spPr>
            <a:xfrm>
              <a:off x="3652825"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59DFB985-C6E0-B72C-0478-96A021D5B17E}"/>
                </a:ext>
              </a:extLst>
            </p:cNvPr>
            <p:cNvSpPr/>
            <p:nvPr/>
          </p:nvSpPr>
          <p:spPr>
            <a:xfrm>
              <a:off x="3919526"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824F48BC-D586-3ACA-E6C8-0B229B1B1237}"/>
                </a:ext>
              </a:extLst>
            </p:cNvPr>
            <p:cNvSpPr/>
            <p:nvPr/>
          </p:nvSpPr>
          <p:spPr>
            <a:xfrm>
              <a:off x="4186227"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E1325E94-6ADC-1635-17A2-4713E6339D1C}"/>
                </a:ext>
              </a:extLst>
            </p:cNvPr>
            <p:cNvSpPr/>
            <p:nvPr/>
          </p:nvSpPr>
          <p:spPr>
            <a:xfrm>
              <a:off x="4452928"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289CACF2-EA0A-D771-3D5E-FB42AE6421FF}"/>
                </a:ext>
              </a:extLst>
            </p:cNvPr>
            <p:cNvSpPr/>
            <p:nvPr/>
          </p:nvSpPr>
          <p:spPr>
            <a:xfrm>
              <a:off x="4719629"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0BD8E7AE-732C-A4D5-3193-B2B4E88C61F7}"/>
                </a:ext>
              </a:extLst>
            </p:cNvPr>
            <p:cNvSpPr/>
            <p:nvPr/>
          </p:nvSpPr>
          <p:spPr>
            <a:xfrm>
              <a:off x="4986330"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ED2EF831-49C8-E3E9-BA58-46E8C8BD6BB1}"/>
                </a:ext>
              </a:extLst>
            </p:cNvPr>
            <p:cNvSpPr/>
            <p:nvPr/>
          </p:nvSpPr>
          <p:spPr>
            <a:xfrm>
              <a:off x="5253031"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0D697698-C35B-1941-5935-A6EC216E4F1F}"/>
                </a:ext>
              </a:extLst>
            </p:cNvPr>
            <p:cNvSpPr/>
            <p:nvPr/>
          </p:nvSpPr>
          <p:spPr>
            <a:xfrm>
              <a:off x="5519732" y="2888693"/>
              <a:ext cx="266701" cy="352425"/>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grpSp>
      <p:grpSp>
        <p:nvGrpSpPr>
          <p:cNvPr id="536" name="Group 535">
            <a:extLst>
              <a:ext uri="{FF2B5EF4-FFF2-40B4-BE49-F238E27FC236}">
                <a16:creationId xmlns:a16="http://schemas.microsoft.com/office/drawing/2014/main" id="{AC648D94-CEB0-1FA6-12D7-7ADDDCB1C020}"/>
              </a:ext>
            </a:extLst>
          </p:cNvPr>
          <p:cNvGrpSpPr/>
          <p:nvPr/>
        </p:nvGrpSpPr>
        <p:grpSpPr>
          <a:xfrm>
            <a:off x="4743" y="3243262"/>
            <a:ext cx="5781690" cy="369332"/>
            <a:chOff x="-10" y="3243262"/>
            <a:chExt cx="5781690" cy="369332"/>
          </a:xfrm>
        </p:grpSpPr>
        <p:sp>
          <p:nvSpPr>
            <p:cNvPr id="519" name="TextBox 518">
              <a:extLst>
                <a:ext uri="{FF2B5EF4-FFF2-40B4-BE49-F238E27FC236}">
                  <a16:creationId xmlns:a16="http://schemas.microsoft.com/office/drawing/2014/main" id="{325A3D61-5592-3B02-FA34-8D5BF82F985D}"/>
                </a:ext>
              </a:extLst>
            </p:cNvPr>
            <p:cNvSpPr txBox="1"/>
            <p:nvPr/>
          </p:nvSpPr>
          <p:spPr>
            <a:xfrm>
              <a:off x="-10" y="3243262"/>
              <a:ext cx="1514474" cy="369332"/>
            </a:xfrm>
            <a:prstGeom prst="rect">
              <a:avLst/>
            </a:prstGeom>
            <a:noFill/>
          </p:spPr>
          <p:txBody>
            <a:bodyPr wrap="square" rtlCol="0">
              <a:spAutoFit/>
            </a:bodyPr>
            <a:lstStyle/>
            <a:p>
              <a:r>
                <a:rPr lang="en-US" dirty="0">
                  <a:latin typeface="Consolas" panose="020B0609020204030204" pitchFamily="49" charset="0"/>
                </a:rPr>
                <a:t>0x00000240</a:t>
              </a:r>
            </a:p>
          </p:txBody>
        </p:sp>
        <p:sp>
          <p:nvSpPr>
            <p:cNvPr id="520" name="Rectangle 519">
              <a:extLst>
                <a:ext uri="{FF2B5EF4-FFF2-40B4-BE49-F238E27FC236}">
                  <a16:creationId xmlns:a16="http://schemas.microsoft.com/office/drawing/2014/main" id="{D5A4E208-F66F-E20B-5BB1-D1D530F95A54}"/>
                </a:ext>
              </a:extLst>
            </p:cNvPr>
            <p:cNvSpPr/>
            <p:nvPr/>
          </p:nvSpPr>
          <p:spPr>
            <a:xfrm>
              <a:off x="1514464"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F2508356-E712-7D65-A2BB-A42726FCBA00}"/>
                </a:ext>
              </a:extLst>
            </p:cNvPr>
            <p:cNvSpPr/>
            <p:nvPr/>
          </p:nvSpPr>
          <p:spPr>
            <a:xfrm>
              <a:off x="1781165"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8CF65B1D-6E32-DD5C-C8FE-4E0BA7091B12}"/>
                </a:ext>
              </a:extLst>
            </p:cNvPr>
            <p:cNvSpPr/>
            <p:nvPr/>
          </p:nvSpPr>
          <p:spPr>
            <a:xfrm>
              <a:off x="2047866"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02D7FDF9-C91F-F8D0-161A-68A1689EF558}"/>
                </a:ext>
              </a:extLst>
            </p:cNvPr>
            <p:cNvSpPr/>
            <p:nvPr/>
          </p:nvSpPr>
          <p:spPr>
            <a:xfrm>
              <a:off x="2314567"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A789CD0B-4531-4CF3-823A-7D82EFCD81A1}"/>
                </a:ext>
              </a:extLst>
            </p:cNvPr>
            <p:cNvSpPr/>
            <p:nvPr/>
          </p:nvSpPr>
          <p:spPr>
            <a:xfrm>
              <a:off x="2581268"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0B0F985F-D93D-0644-BEC5-0F76321C4ECB}"/>
                </a:ext>
              </a:extLst>
            </p:cNvPr>
            <p:cNvSpPr/>
            <p:nvPr/>
          </p:nvSpPr>
          <p:spPr>
            <a:xfrm>
              <a:off x="2847969"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E26C982E-ED2E-C1D0-6E9C-103BE9135EB5}"/>
                </a:ext>
              </a:extLst>
            </p:cNvPr>
            <p:cNvSpPr/>
            <p:nvPr/>
          </p:nvSpPr>
          <p:spPr>
            <a:xfrm>
              <a:off x="3114670"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1235AB7E-95F5-A2A8-9D36-9EECC4E33060}"/>
                </a:ext>
              </a:extLst>
            </p:cNvPr>
            <p:cNvSpPr/>
            <p:nvPr/>
          </p:nvSpPr>
          <p:spPr>
            <a:xfrm>
              <a:off x="3381371"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C96A264A-E42F-0A14-7D4F-DA7E7799E020}"/>
                </a:ext>
              </a:extLst>
            </p:cNvPr>
            <p:cNvSpPr/>
            <p:nvPr/>
          </p:nvSpPr>
          <p:spPr>
            <a:xfrm>
              <a:off x="3648072"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77480594-09A9-801E-2BED-A1D89416A1C2}"/>
                </a:ext>
              </a:extLst>
            </p:cNvPr>
            <p:cNvSpPr/>
            <p:nvPr/>
          </p:nvSpPr>
          <p:spPr>
            <a:xfrm>
              <a:off x="3914773"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A5136E63-DD51-BECC-680F-DFF0E8C7B811}"/>
                </a:ext>
              </a:extLst>
            </p:cNvPr>
            <p:cNvSpPr/>
            <p:nvPr/>
          </p:nvSpPr>
          <p:spPr>
            <a:xfrm>
              <a:off x="4181474"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025660AD-22E1-E73D-536D-23F2CF287EBF}"/>
                </a:ext>
              </a:extLst>
            </p:cNvPr>
            <p:cNvSpPr/>
            <p:nvPr/>
          </p:nvSpPr>
          <p:spPr>
            <a:xfrm>
              <a:off x="4448175"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363AFF0D-248A-29FE-F0FE-F08FEA799BEB}"/>
                </a:ext>
              </a:extLst>
            </p:cNvPr>
            <p:cNvSpPr/>
            <p:nvPr/>
          </p:nvSpPr>
          <p:spPr>
            <a:xfrm>
              <a:off x="4714876"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492ECC9F-CDAB-487D-9F18-91DAF3837CE9}"/>
                </a:ext>
              </a:extLst>
            </p:cNvPr>
            <p:cNvSpPr/>
            <p:nvPr/>
          </p:nvSpPr>
          <p:spPr>
            <a:xfrm>
              <a:off x="4981577"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F70DBD62-42F4-21F0-9E0D-85C38EDB59BC}"/>
                </a:ext>
              </a:extLst>
            </p:cNvPr>
            <p:cNvSpPr/>
            <p:nvPr/>
          </p:nvSpPr>
          <p:spPr>
            <a:xfrm>
              <a:off x="5248278"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7C4CF848-17C9-8A21-B39E-713A63F191FC}"/>
                </a:ext>
              </a:extLst>
            </p:cNvPr>
            <p:cNvSpPr/>
            <p:nvPr/>
          </p:nvSpPr>
          <p:spPr>
            <a:xfrm>
              <a:off x="5514979" y="3252787"/>
              <a:ext cx="266701" cy="35242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540" name="TextBox 539">
            <a:extLst>
              <a:ext uri="{FF2B5EF4-FFF2-40B4-BE49-F238E27FC236}">
                <a16:creationId xmlns:a16="http://schemas.microsoft.com/office/drawing/2014/main" id="{7898F677-AED9-0249-3D29-742DAFCFBD3E}"/>
              </a:ext>
            </a:extLst>
          </p:cNvPr>
          <p:cNvSpPr txBox="1"/>
          <p:nvPr/>
        </p:nvSpPr>
        <p:spPr>
          <a:xfrm>
            <a:off x="816106" y="1844159"/>
            <a:ext cx="1663418" cy="369332"/>
          </a:xfrm>
          <a:prstGeom prst="rect">
            <a:avLst/>
          </a:prstGeom>
          <a:noFill/>
        </p:spPr>
        <p:txBody>
          <a:bodyPr wrap="square" rtlCol="0">
            <a:spAutoFit/>
          </a:bodyPr>
          <a:lstStyle/>
          <a:p>
            <a:r>
              <a:rPr lang="ru-RU" dirty="0"/>
              <a:t>Кеш-линии</a:t>
            </a:r>
            <a:endParaRPr lang="en-US" dirty="0"/>
          </a:p>
        </p:txBody>
      </p:sp>
      <p:sp>
        <p:nvSpPr>
          <p:cNvPr id="541" name="TextBox 540">
            <a:extLst>
              <a:ext uri="{FF2B5EF4-FFF2-40B4-BE49-F238E27FC236}">
                <a16:creationId xmlns:a16="http://schemas.microsoft.com/office/drawing/2014/main" id="{52C3C81A-842D-E435-54EE-9F2C18E9436A}"/>
              </a:ext>
            </a:extLst>
          </p:cNvPr>
          <p:cNvSpPr txBox="1"/>
          <p:nvPr/>
        </p:nvSpPr>
        <p:spPr>
          <a:xfrm>
            <a:off x="4572267" y="5288001"/>
            <a:ext cx="1053833" cy="369332"/>
          </a:xfrm>
          <a:prstGeom prst="rect">
            <a:avLst/>
          </a:prstGeom>
          <a:noFill/>
        </p:spPr>
        <p:txBody>
          <a:bodyPr wrap="square" rtlCol="0">
            <a:spAutoFit/>
          </a:bodyPr>
          <a:lstStyle/>
          <a:p>
            <a:r>
              <a:rPr lang="ru-RU" dirty="0"/>
              <a:t>ОЗУ</a:t>
            </a:r>
            <a:endParaRPr lang="en-US" dirty="0"/>
          </a:p>
        </p:txBody>
      </p:sp>
      <p:sp>
        <p:nvSpPr>
          <p:cNvPr id="542" name="Arrow: Right 541">
            <a:extLst>
              <a:ext uri="{FF2B5EF4-FFF2-40B4-BE49-F238E27FC236}">
                <a16:creationId xmlns:a16="http://schemas.microsoft.com/office/drawing/2014/main" id="{4B92B3C9-9571-D1CC-A0CE-853F218505F2}"/>
              </a:ext>
            </a:extLst>
          </p:cNvPr>
          <p:cNvSpPr/>
          <p:nvPr/>
        </p:nvSpPr>
        <p:spPr>
          <a:xfrm>
            <a:off x="5537200" y="5295900"/>
            <a:ext cx="558800" cy="482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6733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C82E3-5DEA-D190-A982-1DFE3A2E7AC1}"/>
              </a:ext>
            </a:extLst>
          </p:cNvPr>
          <p:cNvSpPr>
            <a:spLocks noGrp="1"/>
          </p:cNvSpPr>
          <p:nvPr>
            <p:ph type="title"/>
          </p:nvPr>
        </p:nvSpPr>
        <p:spPr/>
        <p:txBody>
          <a:bodyPr/>
          <a:lstStyle/>
          <a:p>
            <a:r>
              <a:rPr lang="ru-RU" dirty="0"/>
              <a:t>Последовательный и случайный доступ внутри одной кеш-линии</a:t>
            </a:r>
            <a:endParaRPr lang="en-US" dirty="0"/>
          </a:p>
        </p:txBody>
      </p:sp>
      <p:sp>
        <p:nvSpPr>
          <p:cNvPr id="4" name="TextBox 3">
            <a:extLst>
              <a:ext uri="{FF2B5EF4-FFF2-40B4-BE49-F238E27FC236}">
                <a16:creationId xmlns:a16="http://schemas.microsoft.com/office/drawing/2014/main" id="{2FA93414-7AA8-42F4-0329-27F5CDD35DCF}"/>
              </a:ext>
            </a:extLst>
          </p:cNvPr>
          <p:cNvSpPr txBox="1"/>
          <p:nvPr/>
        </p:nvSpPr>
        <p:spPr>
          <a:xfrm>
            <a:off x="838200" y="1814286"/>
            <a:ext cx="8450944" cy="5047536"/>
          </a:xfrm>
          <a:prstGeom prst="rect">
            <a:avLst/>
          </a:prstGeom>
          <a:noFill/>
        </p:spPr>
        <p:txBody>
          <a:bodyPr wrap="square">
            <a:spAutoFit/>
          </a:bodyPr>
          <a:lstStyle/>
          <a:p>
            <a:pPr>
              <a:buNone/>
            </a:pPr>
            <a:r>
              <a:rPr lang="en-US" sz="1400" b="0" dirty="0" err="1">
                <a:solidFill>
                  <a:srgbClr val="0000FF"/>
                </a:solidFill>
                <a:effectLst/>
                <a:latin typeface="Consolas" panose="020B0609020204030204" pitchFamily="49" charset="0"/>
              </a:rPr>
              <a:t>constexpr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kCacheLineSize</a:t>
            </a:r>
            <a:r>
              <a:rPr lang="en-US" sz="1400" b="0" dirty="0">
                <a:solidFill>
                  <a:srgbClr val="000000"/>
                </a:solidFill>
                <a:effectLst/>
                <a:latin typeface="Consolas" panose="020B0609020204030204" pitchFamily="49" charset="0"/>
              </a:rPr>
              <a:t> = std::</a:t>
            </a:r>
            <a:r>
              <a:rPr lang="en-US" sz="1400" b="0" dirty="0" err="1">
                <a:solidFill>
                  <a:srgbClr val="000000"/>
                </a:solidFill>
                <a:effectLst/>
                <a:latin typeface="Consolas" panose="020B0609020204030204" pitchFamily="49" charset="0"/>
              </a:rPr>
              <a:t>hardware_destructive_interference_size</a:t>
            </a:r>
            <a:r>
              <a:rPr lang="en-US" sz="1400" b="0" dirty="0">
                <a:solidFill>
                  <a:srgbClr val="000000"/>
                </a:solidFill>
                <a:effectLst/>
                <a:latin typeface="Consolas" panose="020B0609020204030204" pitchFamily="49" charset="0"/>
              </a:rPr>
              <a:t>;</a:t>
            </a:r>
          </a:p>
          <a:p>
            <a:pPr>
              <a:buNone/>
            </a:pPr>
            <a:r>
              <a:rPr lang="en-US" sz="1400" b="0" dirty="0" err="1">
                <a:solidFill>
                  <a:srgbClr val="0000FF"/>
                </a:solidFill>
                <a:effectLst/>
                <a:latin typeface="Consolas" panose="020B0609020204030204" pitchFamily="49" charset="0"/>
              </a:rPr>
              <a:t>constexpr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2'000'000'000</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err="1">
                <a:solidFill>
                  <a:srgbClr val="0000FF"/>
                </a:solidFill>
                <a:effectLst/>
                <a:latin typeface="Consolas" panose="020B0609020204030204" pitchFamily="49" charset="0"/>
              </a:rPr>
              <a:t>alignas</a:t>
            </a:r>
            <a:r>
              <a:rPr lang="en-US" sz="1400" b="0" dirty="0">
                <a:solidFill>
                  <a:srgbClr val="000000"/>
                </a:solidFill>
                <a:effectLst/>
                <a:latin typeface="Consolas" panose="020B0609020204030204" pitchFamily="49" charset="0"/>
              </a:rPr>
              <a:t>(std::</a:t>
            </a:r>
            <a:r>
              <a:rPr lang="en-US" sz="1400" b="0" dirty="0" err="1">
                <a:solidFill>
                  <a:srgbClr val="000000"/>
                </a:solidFill>
                <a:effectLst/>
                <a:latin typeface="Consolas" panose="020B0609020204030204" pitchFamily="49" charset="0"/>
              </a:rPr>
              <a:t>hardware_destructive_interference_size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array</a:t>
            </a:r>
            <a:r>
              <a:rPr lang="en-US" sz="1400" b="0" dirty="0">
                <a:solidFill>
                  <a:srgbClr val="000000"/>
                </a:solidFill>
                <a:effectLst/>
                <a:latin typeface="Consolas" panose="020B0609020204030204" pitchFamily="49" charset="0"/>
              </a:rPr>
              <a:t>&lt;std::</a:t>
            </a:r>
            <a:r>
              <a:rPr lang="en-US" sz="1400" b="0" dirty="0">
                <a:solidFill>
                  <a:srgbClr val="2B91AF"/>
                </a:solidFill>
                <a:effectLst/>
                <a:latin typeface="Consolas" panose="020B0609020204030204" pitchFamily="49" charset="0"/>
              </a:rPr>
              <a:t>uint8_t</a:t>
            </a:r>
            <a:r>
              <a:rPr lang="en-US" sz="1400" b="0" dirty="0">
                <a:solidFill>
                  <a:srgbClr val="000000"/>
                </a:solidFill>
                <a:effectLst/>
                <a:latin typeface="Consolas" panose="020B0609020204030204" pitchFamily="49" charset="0"/>
              </a:rPr>
              <a:t>, std::</a:t>
            </a:r>
            <a:r>
              <a:rPr lang="en-US" sz="1400" b="0" dirty="0" err="1">
                <a:solidFill>
                  <a:srgbClr val="000000"/>
                </a:solidFill>
                <a:effectLst/>
                <a:latin typeface="Consolas" panose="020B0609020204030204" pitchFamily="49" charset="0"/>
              </a:rPr>
              <a:t>hardware_destructive_interference_size</a:t>
            </a:r>
            <a:r>
              <a:rPr lang="en-US" sz="1400" b="0" dirty="0">
                <a:solidFill>
                  <a:srgbClr val="000000"/>
                </a:solidFill>
                <a:effectLst/>
                <a:latin typeface="Consolas" panose="020B0609020204030204" pitchFamily="49" charset="0"/>
              </a:rPr>
              <a:t>&gt; </a:t>
            </a:r>
            <a:r>
              <a:rPr lang="en-US" sz="1400" b="0" dirty="0" err="1">
                <a:solidFill>
                  <a:srgbClr val="000000"/>
                </a:solidFill>
                <a:effectLst/>
                <a:latin typeface="Consolas" panose="020B0609020204030204" pitchFamily="49" charset="0"/>
              </a:rPr>
              <a:t>gData</a:t>
            </a: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std::</a:t>
            </a:r>
            <a:r>
              <a:rPr lang="en-US" sz="1400" b="0" dirty="0">
                <a:solidFill>
                  <a:srgbClr val="2B91AF"/>
                </a:solidFill>
                <a:effectLst/>
                <a:latin typeface="Consolas" panose="020B0609020204030204" pitchFamily="49" charset="0"/>
              </a:rPr>
              <a:t>uint64_t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SumCacheLine</a:t>
            </a:r>
            <a:r>
              <a:rPr lang="en-US" sz="1400" b="0" dirty="0">
                <a:solidFill>
                  <a:srgbClr val="000000"/>
                </a:solidFill>
                <a:effectLst/>
                <a:latin typeface="Consolas" panose="020B0609020204030204" pitchFamily="49" charset="0"/>
              </a:rPr>
              <a:t>(std::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x</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y</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uint64_t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r>
              <a:rPr lang="en-US" sz="1400" dirty="0">
                <a:solidFill>
                  <a:srgbClr val="1F377F"/>
                </a:solidFill>
                <a:latin typeface="Consolas" panose="020B0609020204030204" pitchFamily="49" charset="0"/>
              </a:rPr>
              <a:t> pos</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gData</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pos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pos</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pos</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x</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y</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kCacheLineSize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seqX</a:t>
            </a:r>
            <a:r>
              <a:rPr lang="en-US" sz="1400" b="0" dirty="0">
                <a:solidFill>
                  <a:srgbClr val="000000"/>
                </a:solidFill>
                <a:effectLst/>
                <a:latin typeface="Consolas" panose="020B0609020204030204" pitchFamily="49" charset="0"/>
              </a:rPr>
              <a:t> = </a:t>
            </a:r>
            <a:r>
              <a:rPr lang="ru-RU" sz="1400" dirty="0">
                <a:solidFill>
                  <a:srgbClr val="098658"/>
                </a:solidFill>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randX</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13</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27</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sequential</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SumCacheLine</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seqX</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seqY</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pseudo-random</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SumCacheLine</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randX</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randY</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DB935C85-0767-EC98-F333-1365C40921FB}"/>
              </a:ext>
            </a:extLst>
          </p:cNvPr>
          <p:cNvSpPr txBox="1"/>
          <p:nvPr/>
        </p:nvSpPr>
        <p:spPr>
          <a:xfrm>
            <a:off x="6270171" y="4655235"/>
            <a:ext cx="5736772"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sequential took 2260952100ns (2.26095s)</a:t>
            </a:r>
          </a:p>
          <a:p>
            <a:r>
              <a:rPr lang="en-US" dirty="0">
                <a:latin typeface="Consolas" panose="020B0609020204030204" pitchFamily="49" charset="0"/>
              </a:rPr>
              <a:t>pseudo-random took 2250425600ns (2.25043s)</a:t>
            </a:r>
          </a:p>
        </p:txBody>
      </p:sp>
    </p:spTree>
    <p:extLst>
      <p:ext uri="{BB962C8B-B14F-4D97-AF65-F5344CB8AC3E}">
        <p14:creationId xmlns:p14="http://schemas.microsoft.com/office/powerpoint/2010/main" val="232499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18DB1-2B3F-4B92-1960-0A78C4540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FE4F0-4B8C-B940-B217-6A3C46E7A6F0}"/>
              </a:ext>
            </a:extLst>
          </p:cNvPr>
          <p:cNvSpPr>
            <a:spLocks noGrp="1"/>
          </p:cNvSpPr>
          <p:nvPr>
            <p:ph type="title"/>
          </p:nvPr>
        </p:nvSpPr>
        <p:spPr/>
        <p:txBody>
          <a:bodyPr/>
          <a:lstStyle/>
          <a:p>
            <a:r>
              <a:rPr lang="ru-RU" dirty="0"/>
              <a:t>Последовательный и случайный доступ в большом массиве</a:t>
            </a:r>
            <a:endParaRPr lang="en-US" dirty="0"/>
          </a:p>
        </p:txBody>
      </p:sp>
      <p:sp>
        <p:nvSpPr>
          <p:cNvPr id="5" name="TextBox 4">
            <a:extLst>
              <a:ext uri="{FF2B5EF4-FFF2-40B4-BE49-F238E27FC236}">
                <a16:creationId xmlns:a16="http://schemas.microsoft.com/office/drawing/2014/main" id="{1824B5A0-8E7C-21F1-234F-284A16759E32}"/>
              </a:ext>
            </a:extLst>
          </p:cNvPr>
          <p:cNvSpPr txBox="1"/>
          <p:nvPr/>
        </p:nvSpPr>
        <p:spPr>
          <a:xfrm>
            <a:off x="838200" y="1690687"/>
            <a:ext cx="6854371" cy="4401205"/>
          </a:xfrm>
          <a:prstGeom prst="rect">
            <a:avLst/>
          </a:prstGeom>
          <a:noFill/>
        </p:spPr>
        <p:txBody>
          <a:bodyPr wrap="square">
            <a:spAutoFit/>
          </a:bodyPr>
          <a:lstStyle/>
          <a:p>
            <a:pPr>
              <a:buNone/>
            </a:pPr>
            <a:r>
              <a:rPr lang="en-US" sz="1400" b="0" dirty="0" err="1">
                <a:solidFill>
                  <a:srgbClr val="0000FF"/>
                </a:solidFill>
                <a:effectLst/>
                <a:latin typeface="Consolas" panose="020B0609020204030204" pitchFamily="49" charset="0"/>
              </a:rPr>
              <a:t>alignas</a:t>
            </a:r>
            <a:r>
              <a:rPr lang="en-US" sz="1400" b="0" dirty="0">
                <a:solidFill>
                  <a:srgbClr val="000000"/>
                </a:solidFill>
                <a:effectLst/>
                <a:latin typeface="Consolas" panose="020B0609020204030204" pitchFamily="49" charset="0"/>
              </a:rPr>
              <a:t>(std::</a:t>
            </a:r>
            <a:r>
              <a:rPr lang="en-US" sz="1400" b="0" dirty="0" err="1">
                <a:solidFill>
                  <a:srgbClr val="000000"/>
                </a:solidFill>
                <a:effectLst/>
                <a:latin typeface="Consolas" panose="020B0609020204030204" pitchFamily="49" charset="0"/>
              </a:rPr>
              <a:t>hardware_destructive_interference_size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array</a:t>
            </a:r>
            <a:r>
              <a:rPr lang="en-US" sz="1400" b="0" dirty="0">
                <a:solidFill>
                  <a:srgbClr val="000000"/>
                </a:solidFill>
                <a:effectLst/>
                <a:latin typeface="Consolas" panose="020B0609020204030204" pitchFamily="49" charset="0"/>
              </a:rPr>
              <a:t>&lt;std::</a:t>
            </a:r>
            <a:r>
              <a:rPr lang="en-US" sz="1400" b="0" dirty="0">
                <a:solidFill>
                  <a:srgbClr val="2B91AF"/>
                </a:solidFill>
                <a:effectLst/>
                <a:latin typeface="Consolas" panose="020B0609020204030204" pitchFamily="49" charset="0"/>
              </a:rPr>
              <a:t>uint8_t</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64</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1024</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1024</a:t>
            </a:r>
            <a:r>
              <a:rPr lang="en-US" sz="1400" b="0" dirty="0">
                <a:solidFill>
                  <a:srgbClr val="000000"/>
                </a:solidFill>
                <a:effectLst/>
                <a:latin typeface="Consolas" panose="020B0609020204030204" pitchFamily="49" charset="0"/>
              </a:rPr>
              <a:t>&gt; </a:t>
            </a:r>
            <a:r>
              <a:rPr lang="en-US" sz="1400" b="0" dirty="0" err="1">
                <a:solidFill>
                  <a:srgbClr val="000000"/>
                </a:solidFill>
                <a:effectLst/>
                <a:latin typeface="Consolas" panose="020B0609020204030204" pitchFamily="49" charset="0"/>
              </a:rPr>
              <a:t>gData</a:t>
            </a: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std::</a:t>
            </a:r>
            <a:r>
              <a:rPr lang="en-US" sz="1400" b="0" dirty="0">
                <a:solidFill>
                  <a:srgbClr val="2B91AF"/>
                </a:solidFill>
                <a:effectLst/>
                <a:latin typeface="Consolas" panose="020B0609020204030204" pitchFamily="49" charset="0"/>
              </a:rPr>
              <a:t>uint64_t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SumCacheLine</a:t>
            </a:r>
            <a:r>
              <a:rPr lang="en-US" sz="1400" b="0" dirty="0">
                <a:solidFill>
                  <a:srgbClr val="000000"/>
                </a:solidFill>
                <a:effectLst/>
                <a:latin typeface="Consolas" panose="020B0609020204030204" pitchFamily="49" charset="0"/>
              </a:rPr>
              <a:t>(std::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x</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y</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uint64_t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a:solidFill>
                  <a:srgbClr val="1F377F"/>
                </a:solidFill>
                <a:latin typeface="Consolas" panose="020B0609020204030204" pitchFamily="49" charset="0"/>
              </a:rPr>
              <a:t>pos</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gData</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pos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pos</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pos</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x</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y</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gData.</a:t>
            </a:r>
            <a:r>
              <a:rPr lang="en-US" sz="1400" b="0" dirty="0" err="1">
                <a:solidFill>
                  <a:srgbClr val="74531F"/>
                </a:solidFill>
                <a:effectLst/>
                <a:latin typeface="Consolas" panose="020B0609020204030204" pitchFamily="49" charset="0"/>
              </a:rPr>
              <a:t>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seqX</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randX</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19553</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randY</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6079</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sequential</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SumCacheLine</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seqX</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seqY</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pseudo-random</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SumCacheLine</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randX</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randY</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5E4D5AD7-66E4-85F3-A26C-A6AD7501C8ED}"/>
              </a:ext>
            </a:extLst>
          </p:cNvPr>
          <p:cNvSpPr txBox="1"/>
          <p:nvPr/>
        </p:nvSpPr>
        <p:spPr>
          <a:xfrm>
            <a:off x="6270171" y="4655235"/>
            <a:ext cx="5736772"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sequential took 2256607000ns (2.25661s)</a:t>
            </a:r>
          </a:p>
          <a:p>
            <a:r>
              <a:rPr lang="en-US" dirty="0">
                <a:latin typeface="Consolas" panose="020B0609020204030204" pitchFamily="49" charset="0"/>
              </a:rPr>
              <a:t>pseudo-random took 11250154800ns (11.2502s)</a:t>
            </a:r>
          </a:p>
        </p:txBody>
      </p:sp>
    </p:spTree>
    <p:extLst>
      <p:ext uri="{BB962C8B-B14F-4D97-AF65-F5344CB8AC3E}">
        <p14:creationId xmlns:p14="http://schemas.microsoft.com/office/powerpoint/2010/main" val="136479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25C75E-61E2-5F9A-457C-1107C05B6D64}"/>
              </a:ext>
            </a:extLst>
          </p:cNvPr>
          <p:cNvSpPr>
            <a:spLocks noGrp="1"/>
          </p:cNvSpPr>
          <p:nvPr>
            <p:ph type="title"/>
          </p:nvPr>
        </p:nvSpPr>
        <p:spPr/>
        <p:txBody>
          <a:bodyPr/>
          <a:lstStyle/>
          <a:p>
            <a:r>
              <a:rPr lang="ru-RU" dirty="0"/>
              <a:t>Кеш и параллельные программы</a:t>
            </a:r>
            <a:endParaRPr lang="en-US" dirty="0"/>
          </a:p>
        </p:txBody>
      </p:sp>
      <p:sp>
        <p:nvSpPr>
          <p:cNvPr id="4" name="Content Placeholder 3">
            <a:extLst>
              <a:ext uri="{FF2B5EF4-FFF2-40B4-BE49-F238E27FC236}">
                <a16:creationId xmlns:a16="http://schemas.microsoft.com/office/drawing/2014/main" id="{B3DE2260-B616-992C-EF95-BBBF130A6E49}"/>
              </a:ext>
            </a:extLst>
          </p:cNvPr>
          <p:cNvSpPr>
            <a:spLocks noGrp="1"/>
          </p:cNvSpPr>
          <p:nvPr>
            <p:ph idx="1"/>
          </p:nvPr>
        </p:nvSpPr>
        <p:spPr/>
        <p:txBody>
          <a:bodyPr/>
          <a:lstStyle/>
          <a:p>
            <a:r>
              <a:rPr lang="ru-RU" dirty="0"/>
              <a:t>Кеш-память влияет на производительность как последовательных, так и параллельных программ</a:t>
            </a:r>
          </a:p>
          <a:p>
            <a:r>
              <a:rPr lang="ru-RU" dirty="0"/>
              <a:t>Основные проблемы:</a:t>
            </a:r>
          </a:p>
          <a:p>
            <a:pPr lvl="1"/>
            <a:r>
              <a:rPr lang="ru-RU" dirty="0"/>
              <a:t>Конкуренция за кеш между потоками</a:t>
            </a:r>
          </a:p>
          <a:p>
            <a:pPr lvl="1"/>
            <a:r>
              <a:rPr lang="ru-RU" dirty="0" err="1"/>
              <a:t>False</a:t>
            </a:r>
            <a:r>
              <a:rPr lang="ru-RU" dirty="0"/>
              <a:t> </a:t>
            </a:r>
            <a:r>
              <a:rPr lang="ru-RU" dirty="0" err="1"/>
              <a:t>sharing</a:t>
            </a:r>
            <a:r>
              <a:rPr lang="ru-RU" dirty="0"/>
              <a:t> — разные данные в одной </a:t>
            </a:r>
            <a:r>
              <a:rPr lang="ru-RU" dirty="0" err="1"/>
              <a:t>cache</a:t>
            </a:r>
            <a:r>
              <a:rPr lang="ru-RU" dirty="0"/>
              <a:t> </a:t>
            </a:r>
            <a:r>
              <a:rPr lang="ru-RU" dirty="0" err="1"/>
              <a:t>line</a:t>
            </a:r>
            <a:endParaRPr lang="ru-RU" dirty="0"/>
          </a:p>
          <a:p>
            <a:pPr lvl="1"/>
            <a:r>
              <a:rPr lang="ru-RU" dirty="0"/>
              <a:t>Ограничение пропускной способности памяти</a:t>
            </a:r>
          </a:p>
          <a:p>
            <a:r>
              <a:rPr lang="ru-RU" dirty="0"/>
              <a:t>Производительность определяется не только количеством потоков, но и эффективностью работы с памятью</a:t>
            </a:r>
          </a:p>
        </p:txBody>
      </p:sp>
    </p:spTree>
    <p:extLst>
      <p:ext uri="{BB962C8B-B14F-4D97-AF65-F5344CB8AC3E}">
        <p14:creationId xmlns:p14="http://schemas.microsoft.com/office/powerpoint/2010/main" val="101455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EC6F50-2611-FA4A-BBA1-C6CDF8675637}"/>
              </a:ext>
            </a:extLst>
          </p:cNvPr>
          <p:cNvSpPr>
            <a:spLocks noGrp="1"/>
          </p:cNvSpPr>
          <p:nvPr>
            <p:ph type="title"/>
          </p:nvPr>
        </p:nvSpPr>
        <p:spPr/>
        <p:txBody>
          <a:bodyPr/>
          <a:lstStyle/>
          <a:p>
            <a:r>
              <a:rPr lang="ru-RU" dirty="0"/>
              <a:t>Битва за </a:t>
            </a:r>
            <a:r>
              <a:rPr lang="en-US" dirty="0"/>
              <a:t>L3 </a:t>
            </a:r>
            <a:r>
              <a:rPr lang="ru-RU" dirty="0"/>
              <a:t>кеш</a:t>
            </a:r>
            <a:endParaRPr lang="en-US" dirty="0"/>
          </a:p>
        </p:txBody>
      </p:sp>
      <p:sp>
        <p:nvSpPr>
          <p:cNvPr id="6" name="TextBox 5">
            <a:extLst>
              <a:ext uri="{FF2B5EF4-FFF2-40B4-BE49-F238E27FC236}">
                <a16:creationId xmlns:a16="http://schemas.microsoft.com/office/drawing/2014/main" id="{E7441567-8D4E-A356-7764-B02A43C8E16C}"/>
              </a:ext>
            </a:extLst>
          </p:cNvPr>
          <p:cNvSpPr txBox="1"/>
          <p:nvPr/>
        </p:nvSpPr>
        <p:spPr>
          <a:xfrm>
            <a:off x="-3629" y="1690688"/>
            <a:ext cx="9321800" cy="5047536"/>
          </a:xfrm>
          <a:prstGeom prst="rect">
            <a:avLst/>
          </a:prstGeom>
          <a:noFill/>
        </p:spPr>
        <p:txBody>
          <a:bodyPr wrap="square">
            <a:spAutoFit/>
          </a:bodyPr>
          <a:lstStyle/>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Worker</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&gt;&amp; </a:t>
            </a:r>
            <a:r>
              <a:rPr lang="en-US" sz="1400" b="0" dirty="0">
                <a:solidFill>
                  <a:srgbClr val="808080"/>
                </a:solidFill>
                <a:effectLst/>
                <a:latin typeface="Consolas" panose="020B0609020204030204" pitchFamily="49" charset="0"/>
              </a:rPr>
              <a:t>data</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iterations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long</a:t>
            </a:r>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long</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iter</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iter</a:t>
            </a:r>
            <a:r>
              <a:rPr lang="en-US" sz="1400" b="0" dirty="0">
                <a:solidFill>
                  <a:srgbClr val="000000"/>
                </a:solidFill>
                <a:effectLst/>
                <a:latin typeface="Consolas" panose="020B0609020204030204" pitchFamily="49" charset="0"/>
              </a:rPr>
              <a:t> &lt; </a:t>
            </a:r>
            <a:r>
              <a:rPr lang="en-US" sz="1400" b="0" dirty="0">
                <a:solidFill>
                  <a:srgbClr val="808080"/>
                </a:solidFill>
                <a:effectLst/>
                <a:latin typeface="Consolas" panose="020B0609020204030204" pitchFamily="49" charset="0"/>
              </a:rPr>
              <a:t>iterations</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iter</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 = std::</a:t>
            </a:r>
            <a:r>
              <a:rPr lang="en-US" sz="1400" b="0" dirty="0">
                <a:solidFill>
                  <a:srgbClr val="74531F"/>
                </a:solidFill>
                <a:effectLst/>
                <a:latin typeface="Consolas" panose="020B0609020204030204" pitchFamily="49" charset="0"/>
              </a:rPr>
              <a:t>accumulate</a:t>
            </a:r>
            <a:r>
              <a:rPr lang="en-US" sz="1400" b="0" dirty="0">
                <a:solidFill>
                  <a:srgbClr val="000000"/>
                </a:solidFill>
                <a:effectLst/>
                <a:latin typeface="Consolas" panose="020B0609020204030204" pitchFamily="49" charset="0"/>
              </a:rPr>
              <a:t>(</a:t>
            </a:r>
            <a:r>
              <a:rPr lang="en-US" sz="1400" b="0" dirty="0" err="1">
                <a:solidFill>
                  <a:srgbClr val="808080"/>
                </a:solidFill>
                <a:effectLst/>
                <a:latin typeface="Consolas" panose="020B0609020204030204" pitchFamily="49" charset="0"/>
              </a:rPr>
              <a:t>data</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err="1">
                <a:solidFill>
                  <a:srgbClr val="808080"/>
                </a:solidFill>
                <a:effectLst/>
                <a:latin typeface="Consolas" panose="020B0609020204030204" pitchFamily="49" charset="0"/>
              </a:rPr>
              <a:t>data</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long</a:t>
            </a:r>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long</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sink</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sum</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Run</a:t>
            </a:r>
            <a:r>
              <a:rPr lang="en-US" sz="1400" b="0" dirty="0">
                <a:solidFill>
                  <a:srgbClr val="000000"/>
                </a:solidFill>
                <a:effectLst/>
                <a:latin typeface="Consolas" panose="020B0609020204030204" pitchFamily="49" charset="0"/>
              </a:rPr>
              <a:t>(</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size</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iterations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&gt;&gt; </a:t>
            </a:r>
            <a:r>
              <a:rPr lang="en-US" sz="1400" b="0" dirty="0">
                <a:solidFill>
                  <a:srgbClr val="1F377F"/>
                </a:solidFill>
                <a:effectLst/>
                <a:latin typeface="Consolas" panose="020B0609020204030204" pitchFamily="49" charset="0"/>
              </a:rPr>
              <a:t>data</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&gt;(</a:t>
            </a:r>
            <a:r>
              <a:rPr lang="en-US" sz="1400" b="0" dirty="0">
                <a:solidFill>
                  <a:srgbClr val="808080"/>
                </a:solidFill>
                <a:effectLst/>
                <a:latin typeface="Consolas" panose="020B0609020204030204" pitchFamily="49" charset="0"/>
              </a:rPr>
              <a:t>size</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err="1">
                <a:solidFill>
                  <a:srgbClr val="2B91AF"/>
                </a:solidFill>
                <a:effectLst/>
                <a:latin typeface="Consolas" panose="020B0609020204030204" pitchFamily="49" charset="0"/>
              </a:rPr>
              <a:t>jthread</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workers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reserve</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emplace_back</a:t>
            </a:r>
            <a:r>
              <a:rPr lang="en-US" sz="1400" b="0" dirty="0">
                <a:solidFill>
                  <a:srgbClr val="000000"/>
                </a:solidFill>
                <a:effectLst/>
                <a:latin typeface="Consolas" panose="020B0609020204030204" pitchFamily="49" charset="0"/>
              </a:rPr>
              <a:t>([&amp;</a:t>
            </a:r>
            <a:r>
              <a:rPr lang="en-US" sz="1400" b="0" dirty="0">
                <a:solidFill>
                  <a:srgbClr val="1F377F"/>
                </a:solidFill>
                <a:effectLst/>
                <a:latin typeface="Consolas" panose="020B0609020204030204" pitchFamily="49" charset="0"/>
              </a:rPr>
              <a:t>data</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iterations</a:t>
            </a:r>
            <a:r>
              <a:rPr lang="en-US" sz="1400" b="0" dirty="0">
                <a:solidFill>
                  <a:srgbClr val="000000"/>
                </a:solidFill>
                <a:effectLst/>
                <a:latin typeface="Consolas" panose="020B0609020204030204" pitchFamily="49" charset="0"/>
              </a:rPr>
              <a:t>] { </a:t>
            </a:r>
            <a:r>
              <a:rPr lang="en-US" sz="1400" b="0" dirty="0">
                <a:solidFill>
                  <a:srgbClr val="74531F"/>
                </a:solidFill>
                <a:effectLst/>
                <a:latin typeface="Consolas" panose="020B0609020204030204" pitchFamily="49" charset="0"/>
              </a:rPr>
              <a:t>Worker</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data</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iterations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098658"/>
                </a:solidFill>
                <a:effectLst/>
                <a:latin typeface="Consolas" panose="020B0609020204030204" pitchFamily="49" charset="0"/>
              </a:rPr>
              <a:t>8</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ru-RU" sz="1400" dirty="0">
                <a:solidFill>
                  <a:srgbClr val="008000"/>
                </a:solidFill>
                <a:latin typeface="Consolas" panose="020B0609020204030204" pitchFamily="49" charset="0"/>
              </a:rPr>
              <a:t>// Каждый поток обрабатывает массив из 1</a:t>
            </a:r>
            <a:r>
              <a:rPr lang="en-US" sz="1400" dirty="0">
                <a:solidFill>
                  <a:srgbClr val="008000"/>
                </a:solidFill>
                <a:latin typeface="Consolas" panose="020B0609020204030204" pitchFamily="49" charset="0"/>
              </a:rPr>
              <a:t>K</a:t>
            </a:r>
            <a:r>
              <a:rPr lang="ru-RU" sz="1400" dirty="0">
                <a:solidFill>
                  <a:srgbClr val="008000"/>
                </a:solidFill>
                <a:latin typeface="Consolas" panose="020B0609020204030204" pitchFamily="49" charset="0"/>
              </a:rPr>
              <a:t> элементов</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(std::</a:t>
            </a:r>
            <a:r>
              <a:rPr lang="en-US" sz="1400" b="0" dirty="0" err="1">
                <a:solidFill>
                  <a:srgbClr val="74531F"/>
                </a:solidFill>
                <a:effectLst/>
                <a:latin typeface="Consolas" panose="020B0609020204030204" pitchFamily="49" charset="0"/>
              </a:rPr>
              <a:t>to_string</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 thread(s) (1K)</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Run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1024</a:t>
            </a:r>
            <a:r>
              <a:rPr lang="en-US" sz="1400" b="0" dirty="0">
                <a:solidFill>
                  <a:srgbClr val="000000"/>
                </a:solidFill>
                <a:effectLst/>
                <a:latin typeface="Consolas" panose="020B0609020204030204" pitchFamily="49" charset="0"/>
              </a:rPr>
              <a:t>, </a:t>
            </a:r>
            <a:r>
              <a:rPr lang="en-US" sz="1400" b="0" dirty="0">
                <a:solidFill>
                  <a:srgbClr val="098658"/>
                </a:solidFill>
                <a:effectLst/>
                <a:latin typeface="Consolas" panose="020B0609020204030204" pitchFamily="49" charset="0"/>
              </a:rPr>
              <a:t>10'000'000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098658"/>
                </a:solidFill>
                <a:effectLst/>
                <a:latin typeface="Consolas" panose="020B0609020204030204" pitchFamily="49" charset="0"/>
              </a:rPr>
              <a:t>8</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r>
              <a:rPr lang="ru-RU" sz="1400" dirty="0">
                <a:solidFill>
                  <a:srgbClr val="008000"/>
                </a:solidFill>
                <a:latin typeface="Consolas" panose="020B0609020204030204" pitchFamily="49" charset="0"/>
              </a:rPr>
              <a:t>// Каждый поток обрабатывает массив из </a:t>
            </a:r>
            <a:r>
              <a:rPr lang="en-US" sz="1400" dirty="0">
                <a:solidFill>
                  <a:srgbClr val="008000"/>
                </a:solidFill>
                <a:latin typeface="Consolas" panose="020B0609020204030204" pitchFamily="49" charset="0"/>
              </a:rPr>
              <a:t>4M</a:t>
            </a:r>
            <a:r>
              <a:rPr lang="ru-RU" sz="1400" dirty="0">
                <a:solidFill>
                  <a:srgbClr val="008000"/>
                </a:solidFill>
                <a:latin typeface="Consolas" panose="020B0609020204030204" pitchFamily="49" charset="0"/>
              </a:rPr>
              <a:t> элементов</a:t>
            </a: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(std::</a:t>
            </a:r>
            <a:r>
              <a:rPr lang="en-US" sz="1400" b="0" dirty="0" err="1">
                <a:solidFill>
                  <a:srgbClr val="74531F"/>
                </a:solidFill>
                <a:effectLst/>
                <a:latin typeface="Consolas" panose="020B0609020204030204" pitchFamily="49" charset="0"/>
              </a:rPr>
              <a:t>to_string</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 thread(s) (32M)</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Run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r>
              <a:rPr lang="en-US" sz="1400" dirty="0">
                <a:solidFill>
                  <a:srgbClr val="098658"/>
                </a:solidFill>
                <a:latin typeface="Consolas" panose="020B0609020204030204" pitchFamily="49" charset="0"/>
              </a:rPr>
              <a:t>4</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1024</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1024</a:t>
            </a:r>
            <a:r>
              <a:rPr lang="en-US" sz="1400" b="0" dirty="0">
                <a:solidFill>
                  <a:srgbClr val="000000"/>
                </a:solidFill>
                <a:effectLst/>
                <a:latin typeface="Consolas" panose="020B0609020204030204" pitchFamily="49" charset="0"/>
              </a:rPr>
              <a:t>, </a:t>
            </a:r>
            <a:r>
              <a:rPr lang="en-US" sz="1400" dirty="0">
                <a:solidFill>
                  <a:srgbClr val="098658"/>
                </a:solidFill>
                <a:latin typeface="Consolas" panose="020B0609020204030204" pitchFamily="49" charset="0"/>
              </a:rPr>
              <a:t>20</a:t>
            </a:r>
            <a:r>
              <a:rPr lang="en-US" sz="1400" b="0" dirty="0">
                <a:solidFill>
                  <a:srgbClr val="098658"/>
                </a:solidFill>
                <a:effectLst/>
                <a:latin typeface="Consolas" panose="020B0609020204030204" pitchFamily="49" charset="0"/>
              </a:rPr>
              <a:t>00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3E3819B4-3136-6A62-7B27-CC7248AC0F2D}"/>
              </a:ext>
            </a:extLst>
          </p:cNvPr>
          <p:cNvSpPr txBox="1"/>
          <p:nvPr/>
        </p:nvSpPr>
        <p:spPr>
          <a:xfrm>
            <a:off x="6553199" y="1663788"/>
            <a:ext cx="5529943" cy="175432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200" dirty="0">
                <a:latin typeface="Consolas" panose="020B0609020204030204" pitchFamily="49" charset="0"/>
              </a:rPr>
              <a:t>$ </a:t>
            </a:r>
            <a:r>
              <a:rPr lang="en-US" sz="1200" dirty="0" err="1">
                <a:latin typeface="Consolas" panose="020B0609020204030204" pitchFamily="49" charset="0"/>
              </a:rPr>
              <a:t>lscpu</a:t>
            </a:r>
            <a:endParaRPr lang="en-US" sz="1200" dirty="0">
              <a:latin typeface="Consolas" panose="020B0609020204030204" pitchFamily="49" charset="0"/>
            </a:endParaRPr>
          </a:p>
          <a:p>
            <a:r>
              <a:rPr lang="en-US" sz="1200" dirty="0">
                <a:latin typeface="Consolas" panose="020B0609020204030204" pitchFamily="49" charset="0"/>
              </a:rPr>
              <a:t>…</a:t>
            </a:r>
          </a:p>
          <a:p>
            <a:r>
              <a:rPr lang="en-US" sz="1200" dirty="0">
                <a:latin typeface="Consolas" panose="020B0609020204030204" pitchFamily="49" charset="0"/>
              </a:rPr>
              <a:t>  Model name:             12th Gen Intel(R) Core(TM) i7-12650H</a:t>
            </a:r>
          </a:p>
          <a:p>
            <a:r>
              <a:rPr lang="en-US" sz="1200" dirty="0">
                <a:latin typeface="Consolas" panose="020B0609020204030204" pitchFamily="49" charset="0"/>
              </a:rPr>
              <a:t>…</a:t>
            </a:r>
          </a:p>
          <a:p>
            <a:r>
              <a:rPr lang="en-US" sz="1200" dirty="0">
                <a:latin typeface="Consolas" panose="020B0609020204030204" pitchFamily="49" charset="0"/>
              </a:rPr>
              <a:t>Caches (sum of all):</a:t>
            </a:r>
          </a:p>
          <a:p>
            <a:r>
              <a:rPr lang="en-US" sz="1200" dirty="0">
                <a:latin typeface="Consolas" panose="020B0609020204030204" pitchFamily="49" charset="0"/>
              </a:rPr>
              <a:t>  L1d:                    384 KiB (8 instances)</a:t>
            </a:r>
          </a:p>
          <a:p>
            <a:r>
              <a:rPr lang="en-US" sz="1200" dirty="0">
                <a:latin typeface="Consolas" panose="020B0609020204030204" pitchFamily="49" charset="0"/>
              </a:rPr>
              <a:t>  L1i:                    256 KiB (8 instances)</a:t>
            </a:r>
          </a:p>
          <a:p>
            <a:r>
              <a:rPr lang="en-US" sz="1200" dirty="0">
                <a:latin typeface="Consolas" panose="020B0609020204030204" pitchFamily="49" charset="0"/>
              </a:rPr>
              <a:t>  L2:                     10 MiB (8 instances)</a:t>
            </a:r>
          </a:p>
          <a:p>
            <a:r>
              <a:rPr lang="en-US" sz="1200" dirty="0">
                <a:latin typeface="Consolas" panose="020B0609020204030204" pitchFamily="49" charset="0"/>
              </a:rPr>
              <a:t>  L3:                     24 MiB (1 instance)</a:t>
            </a:r>
          </a:p>
        </p:txBody>
      </p:sp>
    </p:spTree>
    <p:extLst>
      <p:ext uri="{BB962C8B-B14F-4D97-AF65-F5344CB8AC3E}">
        <p14:creationId xmlns:p14="http://schemas.microsoft.com/office/powerpoint/2010/main" val="288873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F59C9A-D446-46CF-1AB0-73B479FBE4EA}"/>
              </a:ext>
            </a:extLst>
          </p:cNvPr>
          <p:cNvSpPr>
            <a:spLocks noGrp="1"/>
          </p:cNvSpPr>
          <p:nvPr>
            <p:ph type="title"/>
          </p:nvPr>
        </p:nvSpPr>
        <p:spPr/>
        <p:txBody>
          <a:bodyPr/>
          <a:lstStyle/>
          <a:p>
            <a:r>
              <a:rPr lang="ru-RU" dirty="0"/>
              <a:t>Замеры времени работы</a:t>
            </a:r>
            <a:endParaRPr lang="en-US" dirty="0"/>
          </a:p>
        </p:txBody>
      </p:sp>
      <p:graphicFrame>
        <p:nvGraphicFramePr>
          <p:cNvPr id="8" name="Content Placeholder 7">
            <a:extLst>
              <a:ext uri="{FF2B5EF4-FFF2-40B4-BE49-F238E27FC236}">
                <a16:creationId xmlns:a16="http://schemas.microsoft.com/office/drawing/2014/main" id="{23DDDB08-CB5B-C41D-6041-D77D40D44006}"/>
              </a:ext>
            </a:extLst>
          </p:cNvPr>
          <p:cNvGraphicFramePr>
            <a:graphicFrameLocks noGrp="1"/>
          </p:cNvGraphicFramePr>
          <p:nvPr>
            <p:ph sz="half" idx="1"/>
            <p:extLst>
              <p:ext uri="{D42A27DB-BD31-4B8C-83A1-F6EECF244321}">
                <p14:modId xmlns:p14="http://schemas.microsoft.com/office/powerpoint/2010/main" val="2949332742"/>
              </p:ext>
            </p:extLst>
          </p:nvPr>
        </p:nvGraphicFramePr>
        <p:xfrm>
          <a:off x="838200" y="1825625"/>
          <a:ext cx="5181600" cy="333756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982525839"/>
                    </a:ext>
                  </a:extLst>
                </a:gridCol>
                <a:gridCol w="1727200">
                  <a:extLst>
                    <a:ext uri="{9D8B030D-6E8A-4147-A177-3AD203B41FA5}">
                      <a16:colId xmlns:a16="http://schemas.microsoft.com/office/drawing/2014/main" val="2815114875"/>
                    </a:ext>
                  </a:extLst>
                </a:gridCol>
                <a:gridCol w="1727200">
                  <a:extLst>
                    <a:ext uri="{9D8B030D-6E8A-4147-A177-3AD203B41FA5}">
                      <a16:colId xmlns:a16="http://schemas.microsoft.com/office/drawing/2014/main" val="3038392108"/>
                    </a:ext>
                  </a:extLst>
                </a:gridCol>
              </a:tblGrid>
              <a:tr h="370840">
                <a:tc>
                  <a:txBody>
                    <a:bodyPr/>
                    <a:lstStyle/>
                    <a:p>
                      <a:pPr algn="ctr"/>
                      <a:r>
                        <a:rPr lang="en-US" dirty="0"/>
                        <a:t>Threads</a:t>
                      </a:r>
                    </a:p>
                  </a:txBody>
                  <a:tcPr/>
                </a:tc>
                <a:tc>
                  <a:txBody>
                    <a:bodyPr/>
                    <a:lstStyle/>
                    <a:p>
                      <a:pPr algn="ctr"/>
                      <a:r>
                        <a:rPr lang="en-US" dirty="0"/>
                        <a:t>Size=1K</a:t>
                      </a:r>
                    </a:p>
                  </a:txBody>
                  <a:tcPr/>
                </a:tc>
                <a:tc>
                  <a:txBody>
                    <a:bodyPr/>
                    <a:lstStyle/>
                    <a:p>
                      <a:pPr algn="ctr"/>
                      <a:r>
                        <a:rPr lang="en-US" dirty="0"/>
                        <a:t>Size=4M</a:t>
                      </a:r>
                    </a:p>
                  </a:txBody>
                  <a:tcPr/>
                </a:tc>
                <a:extLst>
                  <a:ext uri="{0D108BD9-81ED-4DB2-BD59-A6C34878D82A}">
                    <a16:rowId xmlns:a16="http://schemas.microsoft.com/office/drawing/2014/main" val="1798485602"/>
                  </a:ext>
                </a:extLst>
              </a:tr>
              <a:tr h="370840">
                <a:tc>
                  <a:txBody>
                    <a:bodyPr/>
                    <a:lstStyle/>
                    <a:p>
                      <a:pPr algn="ctr"/>
                      <a:r>
                        <a:rPr lang="en-US" dirty="0"/>
                        <a:t>1</a:t>
                      </a:r>
                    </a:p>
                  </a:txBody>
                  <a:tcPr/>
                </a:tc>
                <a:tc>
                  <a:txBody>
                    <a:bodyPr/>
                    <a:lstStyle/>
                    <a:p>
                      <a:pPr algn="ctr"/>
                      <a:r>
                        <a:rPr lang="en-US" sz="1800" kern="1200" dirty="0">
                          <a:solidFill>
                            <a:schemeClr val="dk1"/>
                          </a:solidFill>
                          <a:latin typeface="+mn-lt"/>
                          <a:ea typeface="+mn-ea"/>
                          <a:cs typeface="+mn-cs"/>
                        </a:rPr>
                        <a:t>0,96395</a:t>
                      </a:r>
                    </a:p>
                  </a:txBody>
                  <a:tcPr/>
                </a:tc>
                <a:tc>
                  <a:txBody>
                    <a:bodyPr/>
                    <a:lstStyle/>
                    <a:p>
                      <a:pPr algn="ctr" fontAlgn="b">
                        <a:buNone/>
                      </a:pPr>
                      <a:r>
                        <a:rPr lang="en-US" sz="1800" kern="1200" dirty="0">
                          <a:solidFill>
                            <a:schemeClr val="dk1"/>
                          </a:solidFill>
                          <a:latin typeface="+mn-lt"/>
                          <a:ea typeface="+mn-ea"/>
                          <a:cs typeface="+mn-cs"/>
                        </a:rPr>
                        <a:t>0,99982</a:t>
                      </a:r>
                    </a:p>
                  </a:txBody>
                  <a:tcPr marL="9525" marR="9525" marT="9525" marB="0" anchor="b"/>
                </a:tc>
                <a:extLst>
                  <a:ext uri="{0D108BD9-81ED-4DB2-BD59-A6C34878D82A}">
                    <a16:rowId xmlns:a16="http://schemas.microsoft.com/office/drawing/2014/main" val="3274819038"/>
                  </a:ext>
                </a:extLst>
              </a:tr>
              <a:tr h="370840">
                <a:tc>
                  <a:txBody>
                    <a:bodyPr/>
                    <a:lstStyle/>
                    <a:p>
                      <a:pPr algn="ctr"/>
                      <a:r>
                        <a:rPr lang="en-US" dirty="0"/>
                        <a:t>2</a:t>
                      </a:r>
                    </a:p>
                  </a:txBody>
                  <a:tcPr/>
                </a:tc>
                <a:tc>
                  <a:txBody>
                    <a:bodyPr/>
                    <a:lstStyle/>
                    <a:p>
                      <a:pPr algn="ctr" fontAlgn="b">
                        <a:buNone/>
                      </a:pPr>
                      <a:r>
                        <a:rPr lang="en-US" sz="1800" kern="1200" dirty="0">
                          <a:solidFill>
                            <a:schemeClr val="dk1"/>
                          </a:solidFill>
                          <a:latin typeface="+mn-lt"/>
                          <a:ea typeface="+mn-ea"/>
                          <a:cs typeface="+mn-cs"/>
                        </a:rPr>
                        <a:t>0,9777</a:t>
                      </a:r>
                    </a:p>
                  </a:txBody>
                  <a:tcPr marL="9525" marR="9525" marT="9525" marB="0" anchor="b"/>
                </a:tc>
                <a:tc>
                  <a:txBody>
                    <a:bodyPr/>
                    <a:lstStyle/>
                    <a:p>
                      <a:pPr algn="ctr" fontAlgn="b">
                        <a:buNone/>
                      </a:pPr>
                      <a:r>
                        <a:rPr lang="en-US" sz="1800" kern="1200" dirty="0">
                          <a:solidFill>
                            <a:schemeClr val="dk1"/>
                          </a:solidFill>
                          <a:latin typeface="+mn-lt"/>
                          <a:ea typeface="+mn-ea"/>
                          <a:cs typeface="+mn-cs"/>
                        </a:rPr>
                        <a:t>1,74921</a:t>
                      </a:r>
                    </a:p>
                  </a:txBody>
                  <a:tcPr marL="9525" marR="9525" marT="9525" marB="0" anchor="b"/>
                </a:tc>
                <a:extLst>
                  <a:ext uri="{0D108BD9-81ED-4DB2-BD59-A6C34878D82A}">
                    <a16:rowId xmlns:a16="http://schemas.microsoft.com/office/drawing/2014/main" val="3099994876"/>
                  </a:ext>
                </a:extLst>
              </a:tr>
              <a:tr h="370840">
                <a:tc>
                  <a:txBody>
                    <a:bodyPr/>
                    <a:lstStyle/>
                    <a:p>
                      <a:pPr algn="ctr"/>
                      <a:r>
                        <a:rPr lang="en-US" dirty="0"/>
                        <a:t>3</a:t>
                      </a:r>
                    </a:p>
                  </a:txBody>
                  <a:tcPr/>
                </a:tc>
                <a:tc>
                  <a:txBody>
                    <a:bodyPr/>
                    <a:lstStyle/>
                    <a:p>
                      <a:pPr algn="ctr" fontAlgn="b">
                        <a:buNone/>
                      </a:pPr>
                      <a:r>
                        <a:rPr lang="en-US" sz="1800" kern="1200" dirty="0">
                          <a:solidFill>
                            <a:schemeClr val="dk1"/>
                          </a:solidFill>
                          <a:latin typeface="+mn-lt"/>
                          <a:ea typeface="+mn-ea"/>
                          <a:cs typeface="+mn-cs"/>
                        </a:rPr>
                        <a:t>0,98063</a:t>
                      </a:r>
                    </a:p>
                  </a:txBody>
                  <a:tcPr marL="9525" marR="9525" marT="9525" marB="0" anchor="b"/>
                </a:tc>
                <a:tc>
                  <a:txBody>
                    <a:bodyPr/>
                    <a:lstStyle/>
                    <a:p>
                      <a:pPr algn="ctr" fontAlgn="b">
                        <a:buNone/>
                      </a:pPr>
                      <a:r>
                        <a:rPr lang="en-US" sz="1800" kern="1200" dirty="0">
                          <a:solidFill>
                            <a:schemeClr val="dk1"/>
                          </a:solidFill>
                          <a:latin typeface="+mn-lt"/>
                          <a:ea typeface="+mn-ea"/>
                          <a:cs typeface="+mn-cs"/>
                        </a:rPr>
                        <a:t>2,05096</a:t>
                      </a:r>
                    </a:p>
                  </a:txBody>
                  <a:tcPr marL="9525" marR="9525" marT="9525" marB="0" anchor="b"/>
                </a:tc>
                <a:extLst>
                  <a:ext uri="{0D108BD9-81ED-4DB2-BD59-A6C34878D82A}">
                    <a16:rowId xmlns:a16="http://schemas.microsoft.com/office/drawing/2014/main" val="426401948"/>
                  </a:ext>
                </a:extLst>
              </a:tr>
              <a:tr h="370840">
                <a:tc>
                  <a:txBody>
                    <a:bodyPr/>
                    <a:lstStyle/>
                    <a:p>
                      <a:pPr algn="ctr"/>
                      <a:r>
                        <a:rPr lang="en-US" dirty="0"/>
                        <a:t>4</a:t>
                      </a:r>
                    </a:p>
                  </a:txBody>
                  <a:tcPr/>
                </a:tc>
                <a:tc>
                  <a:txBody>
                    <a:bodyPr/>
                    <a:lstStyle/>
                    <a:p>
                      <a:pPr algn="ctr" fontAlgn="b">
                        <a:buNone/>
                      </a:pPr>
                      <a:r>
                        <a:rPr lang="en-US" sz="1800" kern="1200" dirty="0">
                          <a:solidFill>
                            <a:schemeClr val="dk1"/>
                          </a:solidFill>
                          <a:latin typeface="+mn-lt"/>
                          <a:ea typeface="+mn-ea"/>
                          <a:cs typeface="+mn-cs"/>
                        </a:rPr>
                        <a:t>1,02576</a:t>
                      </a:r>
                    </a:p>
                  </a:txBody>
                  <a:tcPr marL="9525" marR="9525" marT="9525" marB="0" anchor="b"/>
                </a:tc>
                <a:tc>
                  <a:txBody>
                    <a:bodyPr/>
                    <a:lstStyle/>
                    <a:p>
                      <a:pPr algn="ctr" fontAlgn="b">
                        <a:buNone/>
                      </a:pPr>
                      <a:r>
                        <a:rPr lang="en-US" sz="1800" kern="1200" dirty="0">
                          <a:solidFill>
                            <a:schemeClr val="dk1"/>
                          </a:solidFill>
                          <a:latin typeface="+mn-lt"/>
                          <a:ea typeface="+mn-ea"/>
                          <a:cs typeface="+mn-cs"/>
                        </a:rPr>
                        <a:t>2,4046</a:t>
                      </a:r>
                    </a:p>
                  </a:txBody>
                  <a:tcPr marL="9525" marR="9525" marT="9525" marB="0" anchor="b"/>
                </a:tc>
                <a:extLst>
                  <a:ext uri="{0D108BD9-81ED-4DB2-BD59-A6C34878D82A}">
                    <a16:rowId xmlns:a16="http://schemas.microsoft.com/office/drawing/2014/main" val="3020939165"/>
                  </a:ext>
                </a:extLst>
              </a:tr>
              <a:tr h="370840">
                <a:tc>
                  <a:txBody>
                    <a:bodyPr/>
                    <a:lstStyle/>
                    <a:p>
                      <a:pPr algn="ctr"/>
                      <a:r>
                        <a:rPr lang="en-US" dirty="0"/>
                        <a:t>5</a:t>
                      </a:r>
                    </a:p>
                  </a:txBody>
                  <a:tcPr/>
                </a:tc>
                <a:tc>
                  <a:txBody>
                    <a:bodyPr/>
                    <a:lstStyle/>
                    <a:p>
                      <a:pPr algn="ctr" fontAlgn="b">
                        <a:buNone/>
                      </a:pPr>
                      <a:r>
                        <a:rPr lang="en-US" sz="1800" kern="1200" dirty="0">
                          <a:solidFill>
                            <a:schemeClr val="dk1"/>
                          </a:solidFill>
                          <a:latin typeface="+mn-lt"/>
                          <a:ea typeface="+mn-ea"/>
                          <a:cs typeface="+mn-cs"/>
                        </a:rPr>
                        <a:t>1,08453</a:t>
                      </a:r>
                    </a:p>
                  </a:txBody>
                  <a:tcPr marL="9525" marR="9525" marT="9525" marB="0" anchor="b"/>
                </a:tc>
                <a:tc>
                  <a:txBody>
                    <a:bodyPr/>
                    <a:lstStyle/>
                    <a:p>
                      <a:pPr algn="ctr" fontAlgn="b">
                        <a:buNone/>
                      </a:pPr>
                      <a:r>
                        <a:rPr lang="en-US" sz="1800" kern="1200" dirty="0">
                          <a:solidFill>
                            <a:schemeClr val="dk1"/>
                          </a:solidFill>
                          <a:latin typeface="+mn-lt"/>
                          <a:ea typeface="+mn-ea"/>
                          <a:cs typeface="+mn-cs"/>
                        </a:rPr>
                        <a:t>2,88222</a:t>
                      </a:r>
                    </a:p>
                  </a:txBody>
                  <a:tcPr marL="9525" marR="9525" marT="9525" marB="0" anchor="b"/>
                </a:tc>
                <a:extLst>
                  <a:ext uri="{0D108BD9-81ED-4DB2-BD59-A6C34878D82A}">
                    <a16:rowId xmlns:a16="http://schemas.microsoft.com/office/drawing/2014/main" val="404505202"/>
                  </a:ext>
                </a:extLst>
              </a:tr>
              <a:tr h="370840">
                <a:tc>
                  <a:txBody>
                    <a:bodyPr/>
                    <a:lstStyle/>
                    <a:p>
                      <a:pPr algn="ctr"/>
                      <a:r>
                        <a:rPr lang="en-US" dirty="0"/>
                        <a:t>6</a:t>
                      </a:r>
                    </a:p>
                  </a:txBody>
                  <a:tcPr/>
                </a:tc>
                <a:tc>
                  <a:txBody>
                    <a:bodyPr/>
                    <a:lstStyle/>
                    <a:p>
                      <a:pPr algn="ctr" fontAlgn="b">
                        <a:buNone/>
                      </a:pPr>
                      <a:r>
                        <a:rPr lang="en-US" sz="1800" kern="1200" dirty="0">
                          <a:solidFill>
                            <a:schemeClr val="dk1"/>
                          </a:solidFill>
                          <a:latin typeface="+mn-lt"/>
                          <a:ea typeface="+mn-ea"/>
                          <a:cs typeface="+mn-cs"/>
                        </a:rPr>
                        <a:t>1,13629</a:t>
                      </a:r>
                    </a:p>
                  </a:txBody>
                  <a:tcPr marL="9525" marR="9525" marT="9525" marB="0" anchor="b"/>
                </a:tc>
                <a:tc>
                  <a:txBody>
                    <a:bodyPr/>
                    <a:lstStyle/>
                    <a:p>
                      <a:pPr algn="ctr" fontAlgn="b">
                        <a:buNone/>
                      </a:pPr>
                      <a:r>
                        <a:rPr lang="en-US" sz="1800" kern="1200" dirty="0">
                          <a:solidFill>
                            <a:schemeClr val="dk1"/>
                          </a:solidFill>
                          <a:latin typeface="+mn-lt"/>
                          <a:ea typeface="+mn-ea"/>
                          <a:cs typeface="+mn-cs"/>
                        </a:rPr>
                        <a:t>3,30293</a:t>
                      </a:r>
                    </a:p>
                  </a:txBody>
                  <a:tcPr marL="9525" marR="9525" marT="9525" marB="0" anchor="b"/>
                </a:tc>
                <a:extLst>
                  <a:ext uri="{0D108BD9-81ED-4DB2-BD59-A6C34878D82A}">
                    <a16:rowId xmlns:a16="http://schemas.microsoft.com/office/drawing/2014/main" val="3823769355"/>
                  </a:ext>
                </a:extLst>
              </a:tr>
              <a:tr h="370840">
                <a:tc>
                  <a:txBody>
                    <a:bodyPr/>
                    <a:lstStyle/>
                    <a:p>
                      <a:pPr algn="ctr"/>
                      <a:r>
                        <a:rPr lang="en-US" dirty="0"/>
                        <a:t>7</a:t>
                      </a:r>
                    </a:p>
                  </a:txBody>
                  <a:tcPr/>
                </a:tc>
                <a:tc>
                  <a:txBody>
                    <a:bodyPr/>
                    <a:lstStyle/>
                    <a:p>
                      <a:pPr algn="ctr" fontAlgn="b">
                        <a:buNone/>
                      </a:pPr>
                      <a:r>
                        <a:rPr lang="en-US" sz="1800" kern="1200" dirty="0">
                          <a:solidFill>
                            <a:schemeClr val="dk1"/>
                          </a:solidFill>
                          <a:latin typeface="+mn-lt"/>
                          <a:ea typeface="+mn-ea"/>
                          <a:cs typeface="+mn-cs"/>
                        </a:rPr>
                        <a:t>1,22076</a:t>
                      </a:r>
                    </a:p>
                  </a:txBody>
                  <a:tcPr marL="9525" marR="9525" marT="9525" marB="0" anchor="b"/>
                </a:tc>
                <a:tc>
                  <a:txBody>
                    <a:bodyPr/>
                    <a:lstStyle/>
                    <a:p>
                      <a:pPr algn="ctr" fontAlgn="b">
                        <a:buNone/>
                      </a:pPr>
                      <a:r>
                        <a:rPr lang="en-US" sz="1800" kern="1200" dirty="0">
                          <a:solidFill>
                            <a:schemeClr val="dk1"/>
                          </a:solidFill>
                          <a:latin typeface="+mn-lt"/>
                          <a:ea typeface="+mn-ea"/>
                          <a:cs typeface="+mn-cs"/>
                        </a:rPr>
                        <a:t>3,66037</a:t>
                      </a:r>
                    </a:p>
                  </a:txBody>
                  <a:tcPr marL="9525" marR="9525" marT="9525" marB="0" anchor="b"/>
                </a:tc>
                <a:extLst>
                  <a:ext uri="{0D108BD9-81ED-4DB2-BD59-A6C34878D82A}">
                    <a16:rowId xmlns:a16="http://schemas.microsoft.com/office/drawing/2014/main" val="1960725900"/>
                  </a:ext>
                </a:extLst>
              </a:tr>
              <a:tr h="370840">
                <a:tc>
                  <a:txBody>
                    <a:bodyPr/>
                    <a:lstStyle/>
                    <a:p>
                      <a:pPr algn="ctr"/>
                      <a:r>
                        <a:rPr lang="en-US" dirty="0"/>
                        <a:t>8</a:t>
                      </a:r>
                    </a:p>
                  </a:txBody>
                  <a:tcPr/>
                </a:tc>
                <a:tc>
                  <a:txBody>
                    <a:bodyPr/>
                    <a:lstStyle/>
                    <a:p>
                      <a:pPr algn="ctr" fontAlgn="b">
                        <a:buNone/>
                      </a:pPr>
                      <a:r>
                        <a:rPr lang="en-US" sz="1800" kern="1200" dirty="0">
                          <a:solidFill>
                            <a:schemeClr val="dk1"/>
                          </a:solidFill>
                          <a:latin typeface="+mn-lt"/>
                          <a:ea typeface="+mn-ea"/>
                          <a:cs typeface="+mn-cs"/>
                        </a:rPr>
                        <a:t>1,23965</a:t>
                      </a:r>
                    </a:p>
                  </a:txBody>
                  <a:tcPr marL="9525" marR="9525" marT="9525" marB="0" anchor="b"/>
                </a:tc>
                <a:tc>
                  <a:txBody>
                    <a:bodyPr/>
                    <a:lstStyle/>
                    <a:p>
                      <a:pPr algn="ctr" fontAlgn="b">
                        <a:buNone/>
                      </a:pPr>
                      <a:r>
                        <a:rPr lang="en-US" sz="1800" kern="1200" dirty="0">
                          <a:solidFill>
                            <a:schemeClr val="dk1"/>
                          </a:solidFill>
                          <a:latin typeface="+mn-lt"/>
                          <a:ea typeface="+mn-ea"/>
                          <a:cs typeface="+mn-cs"/>
                        </a:rPr>
                        <a:t>4,37987</a:t>
                      </a:r>
                    </a:p>
                  </a:txBody>
                  <a:tcPr marL="9525" marR="9525" marT="9525" marB="0" anchor="b"/>
                </a:tc>
                <a:extLst>
                  <a:ext uri="{0D108BD9-81ED-4DB2-BD59-A6C34878D82A}">
                    <a16:rowId xmlns:a16="http://schemas.microsoft.com/office/drawing/2014/main" val="1414596247"/>
                  </a:ext>
                </a:extLst>
              </a:tr>
            </a:tbl>
          </a:graphicData>
        </a:graphic>
      </p:graphicFrame>
      <p:graphicFrame>
        <p:nvGraphicFramePr>
          <p:cNvPr id="11" name="Content Placeholder 10">
            <a:extLst>
              <a:ext uri="{FF2B5EF4-FFF2-40B4-BE49-F238E27FC236}">
                <a16:creationId xmlns:a16="http://schemas.microsoft.com/office/drawing/2014/main" id="{222DA95D-AE54-ECE0-34FF-524BB55299DD}"/>
              </a:ext>
            </a:extLst>
          </p:cNvPr>
          <p:cNvGraphicFramePr>
            <a:graphicFrameLocks noGrp="1"/>
          </p:cNvGraphicFramePr>
          <p:nvPr>
            <p:ph sz="half" idx="2"/>
          </p:nvPr>
        </p:nvGraphicFramePr>
        <p:xfrm>
          <a:off x="6172200" y="1825625"/>
          <a:ext cx="5181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91125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C51C66-F87F-7C6A-6F70-BE8EF62B62C9}"/>
              </a:ext>
            </a:extLst>
          </p:cNvPr>
          <p:cNvSpPr>
            <a:spLocks noGrp="1"/>
          </p:cNvSpPr>
          <p:nvPr>
            <p:ph type="title"/>
          </p:nvPr>
        </p:nvSpPr>
        <p:spPr/>
        <p:txBody>
          <a:bodyPr/>
          <a:lstStyle/>
          <a:p>
            <a:r>
              <a:rPr lang="en-US" dirty="0"/>
              <a:t>False Sharing</a:t>
            </a:r>
          </a:p>
        </p:txBody>
      </p:sp>
      <p:sp>
        <p:nvSpPr>
          <p:cNvPr id="6" name="Content Placeholder 5">
            <a:extLst>
              <a:ext uri="{FF2B5EF4-FFF2-40B4-BE49-F238E27FC236}">
                <a16:creationId xmlns:a16="http://schemas.microsoft.com/office/drawing/2014/main" id="{7A203CDB-4EE4-FFC0-EC57-20492A66BC81}"/>
              </a:ext>
            </a:extLst>
          </p:cNvPr>
          <p:cNvSpPr>
            <a:spLocks noGrp="1"/>
          </p:cNvSpPr>
          <p:nvPr>
            <p:ph idx="1"/>
          </p:nvPr>
        </p:nvSpPr>
        <p:spPr/>
        <p:txBody>
          <a:bodyPr>
            <a:normAutofit/>
          </a:bodyPr>
          <a:lstStyle/>
          <a:p>
            <a:r>
              <a:rPr lang="ru-RU" dirty="0" err="1"/>
              <a:t>False</a:t>
            </a:r>
            <a:r>
              <a:rPr lang="ru-RU" dirty="0"/>
              <a:t> </a:t>
            </a:r>
            <a:r>
              <a:rPr lang="ru-RU" dirty="0" err="1"/>
              <a:t>sharing</a:t>
            </a:r>
            <a:r>
              <a:rPr lang="ru-RU" dirty="0"/>
              <a:t> возникает, когда:</a:t>
            </a:r>
          </a:p>
          <a:p>
            <a:pPr lvl="1"/>
            <a:r>
              <a:rPr lang="ru-RU" dirty="0"/>
              <a:t>разные потоки изменяют разные переменные</a:t>
            </a:r>
          </a:p>
          <a:p>
            <a:pPr lvl="1"/>
            <a:r>
              <a:rPr lang="ru-RU" dirty="0"/>
              <a:t>но эти переменные находятся в одной </a:t>
            </a:r>
            <a:r>
              <a:rPr lang="ru-RU" dirty="0" err="1"/>
              <a:t>cache</a:t>
            </a:r>
            <a:r>
              <a:rPr lang="ru-RU" dirty="0"/>
              <a:t> </a:t>
            </a:r>
            <a:r>
              <a:rPr lang="ru-RU" dirty="0" err="1"/>
              <a:t>line</a:t>
            </a:r>
            <a:endParaRPr lang="ru-RU" dirty="0"/>
          </a:p>
          <a:p>
            <a:r>
              <a:rPr lang="ru-RU" dirty="0"/>
              <a:t>В результате:</a:t>
            </a:r>
          </a:p>
          <a:p>
            <a:pPr lvl="1"/>
            <a:r>
              <a:rPr lang="ru-RU" dirty="0"/>
              <a:t>кеш-линия постоянно перемещается между ядрами</a:t>
            </a:r>
          </a:p>
          <a:p>
            <a:pPr lvl="1"/>
            <a:r>
              <a:rPr lang="ru-RU" dirty="0"/>
              <a:t>происходит частая </a:t>
            </a:r>
            <a:r>
              <a:rPr lang="ru-RU" dirty="0" err="1"/>
              <a:t>инвалидация</a:t>
            </a:r>
            <a:r>
              <a:rPr lang="ru-RU" dirty="0"/>
              <a:t> кеша</a:t>
            </a:r>
          </a:p>
          <a:p>
            <a:pPr lvl="1"/>
            <a:r>
              <a:rPr lang="ru-RU" dirty="0"/>
              <a:t>производительность резко падает</a:t>
            </a:r>
          </a:p>
          <a:p>
            <a:r>
              <a:rPr lang="ru-RU" dirty="0"/>
              <a:t>Хотя переменные разные,</a:t>
            </a:r>
            <a:r>
              <a:rPr lang="en-US" dirty="0"/>
              <a:t> </a:t>
            </a:r>
            <a:r>
              <a:rPr lang="ru-RU" dirty="0"/>
              <a:t>процессор вынужден синхронизировать всю </a:t>
            </a:r>
            <a:r>
              <a:rPr lang="ru-RU" dirty="0" err="1"/>
              <a:t>cache</a:t>
            </a:r>
            <a:r>
              <a:rPr lang="ru-RU" dirty="0"/>
              <a:t> </a:t>
            </a:r>
            <a:r>
              <a:rPr lang="ru-RU" dirty="0" err="1"/>
              <a:t>line</a:t>
            </a:r>
            <a:endParaRPr lang="ru-RU" dirty="0"/>
          </a:p>
          <a:p>
            <a:endParaRPr lang="en-US" dirty="0"/>
          </a:p>
        </p:txBody>
      </p:sp>
    </p:spTree>
    <p:extLst>
      <p:ext uri="{BB962C8B-B14F-4D97-AF65-F5344CB8AC3E}">
        <p14:creationId xmlns:p14="http://schemas.microsoft.com/office/powerpoint/2010/main" val="566644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5EDE84-C070-E6A5-AEFE-B6E9D2B34C36}"/>
              </a:ext>
            </a:extLst>
          </p:cNvPr>
          <p:cNvSpPr>
            <a:spLocks noGrp="1"/>
          </p:cNvSpPr>
          <p:nvPr>
            <p:ph type="title"/>
          </p:nvPr>
        </p:nvSpPr>
        <p:spPr/>
        <p:txBody>
          <a:bodyPr/>
          <a:lstStyle/>
          <a:p>
            <a:r>
              <a:rPr lang="ru-RU" dirty="0"/>
              <a:t>Иллюстрация </a:t>
            </a:r>
            <a:r>
              <a:rPr lang="en-US" dirty="0"/>
              <a:t>False Sharing</a:t>
            </a:r>
          </a:p>
        </p:txBody>
      </p:sp>
      <p:sp>
        <p:nvSpPr>
          <p:cNvPr id="6" name="TextBox 5">
            <a:extLst>
              <a:ext uri="{FF2B5EF4-FFF2-40B4-BE49-F238E27FC236}">
                <a16:creationId xmlns:a16="http://schemas.microsoft.com/office/drawing/2014/main" id="{A557114D-5A82-60E1-5A3F-6CF1F89A8A07}"/>
              </a:ext>
            </a:extLst>
          </p:cNvPr>
          <p:cNvSpPr txBox="1"/>
          <p:nvPr/>
        </p:nvSpPr>
        <p:spPr>
          <a:xfrm>
            <a:off x="827314" y="1690688"/>
            <a:ext cx="7908472" cy="5047536"/>
          </a:xfrm>
          <a:prstGeom prst="rect">
            <a:avLst/>
          </a:prstGeom>
          <a:noFill/>
        </p:spPr>
        <p:txBody>
          <a:bodyPr wrap="square">
            <a:spAutoFit/>
          </a:bodyPr>
          <a:lstStyle/>
          <a:p>
            <a:pPr>
              <a:buNone/>
            </a:pPr>
            <a:r>
              <a:rPr lang="en-US" sz="1400" b="0" dirty="0" err="1">
                <a:solidFill>
                  <a:srgbClr val="0000FF"/>
                </a:solidFill>
                <a:effectLst/>
                <a:latin typeface="Consolas" panose="020B0609020204030204" pitchFamily="49" charset="0"/>
              </a:rPr>
              <a:t>constexpr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kThreads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8</a:t>
            </a:r>
            <a:r>
              <a:rPr lang="en-US" sz="1400" b="0" dirty="0">
                <a:solidFill>
                  <a:srgbClr val="000000"/>
                </a:solidFill>
                <a:effectLst/>
                <a:latin typeface="Consolas" panose="020B0609020204030204" pitchFamily="49" charset="0"/>
              </a:rPr>
              <a:t>;</a:t>
            </a:r>
          </a:p>
          <a:p>
            <a:pPr>
              <a:buNone/>
            </a:pPr>
            <a:r>
              <a:rPr lang="en-US" sz="1400" b="0" dirty="0" err="1">
                <a:solidFill>
                  <a:srgbClr val="0000FF"/>
                </a:solidFill>
                <a:effectLst/>
                <a:latin typeface="Consolas" panose="020B0609020204030204" pitchFamily="49" charset="0"/>
              </a:rPr>
              <a:t>constexpr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500'000'000</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err="1">
                <a:solidFill>
                  <a:srgbClr val="0000FF"/>
                </a:solidFill>
                <a:effectLst/>
                <a:latin typeface="Consolas" panose="020B0609020204030204" pitchFamily="49" charset="0"/>
              </a:rPr>
              <a:t>alignas</a:t>
            </a:r>
            <a:r>
              <a:rPr lang="en-US" sz="1400" b="0" dirty="0">
                <a:solidFill>
                  <a:srgbClr val="000000"/>
                </a:solidFill>
                <a:effectLst/>
                <a:latin typeface="Consolas" panose="020B0609020204030204" pitchFamily="49" charset="0"/>
              </a:rPr>
              <a:t>(std::</a:t>
            </a:r>
            <a:r>
              <a:rPr lang="en-US" sz="1400" b="0" dirty="0" err="1">
                <a:solidFill>
                  <a:srgbClr val="000000"/>
                </a:solidFill>
                <a:effectLst/>
                <a:latin typeface="Consolas" panose="020B0609020204030204" pitchFamily="49" charset="0"/>
              </a:rPr>
              <a:t>hardware_destructive_interference_size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array</a:t>
            </a:r>
            <a:r>
              <a:rPr lang="en-US" sz="1400" b="0" dirty="0">
                <a:solidFill>
                  <a:srgbClr val="000000"/>
                </a:solidFill>
                <a:effectLst/>
                <a:latin typeface="Consolas" panose="020B0609020204030204" pitchFamily="49" charset="0"/>
              </a:rPr>
              <a:t>&lt;</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uint32_t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kThreads</a:t>
            </a:r>
            <a:r>
              <a:rPr lang="en-US" sz="1400" b="0" dirty="0">
                <a:solidFill>
                  <a:srgbClr val="000000"/>
                </a:solidFill>
                <a:effectLst/>
                <a:latin typeface="Consolas" panose="020B0609020204030204" pitchFamily="49" charset="0"/>
              </a:rPr>
              <a:t>&gt; </a:t>
            </a:r>
            <a:r>
              <a:rPr lang="en-US" sz="1400" b="0" dirty="0" err="1">
                <a:solidFill>
                  <a:srgbClr val="000000"/>
                </a:solidFill>
                <a:effectLst/>
                <a:latin typeface="Consolas" panose="020B0609020204030204" pitchFamily="49" charset="0"/>
              </a:rPr>
              <a:t>gCounters</a:t>
            </a: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RunFalseSharing</a:t>
            </a:r>
            <a:r>
              <a:rPr lang="en-US" sz="1400" b="0" dirty="0">
                <a:solidFill>
                  <a:srgbClr val="000000"/>
                </a:solidFill>
                <a:effectLst/>
                <a:latin typeface="Consolas" panose="020B0609020204030204" pitchFamily="49" charset="0"/>
              </a:rPr>
              <a:t>(std::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auto</a:t>
            </a:r>
            <a:r>
              <a:rPr lang="en-US" sz="1400" b="0" dirty="0">
                <a:solidFill>
                  <a:srgbClr val="000000"/>
                </a:solidFill>
                <a:effectLst/>
                <a:latin typeface="Consolas" panose="020B0609020204030204" pitchFamily="49" charset="0"/>
              </a:rPr>
              <a:t>&amp; </a:t>
            </a:r>
            <a:r>
              <a:rPr lang="en-US" sz="1400" b="0" dirty="0">
                <a:solidFill>
                  <a:srgbClr val="1F377F"/>
                </a:solidFill>
                <a:effectLst/>
                <a:latin typeface="Consolas" panose="020B0609020204030204" pitchFamily="49" charset="0"/>
              </a:rPr>
              <a:t>x</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gCounters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x</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err="1">
                <a:solidFill>
                  <a:srgbClr val="2B91AF"/>
                </a:solidFill>
                <a:effectLst/>
                <a:latin typeface="Consolas" panose="020B0609020204030204" pitchFamily="49" charset="0"/>
              </a:rPr>
              <a:t>jthread</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workers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reserve</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emplace_back</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gCounters</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err="1">
                <a:solidFill>
                  <a:srgbClr val="000000"/>
                </a:solidFill>
                <a:effectLst/>
                <a:latin typeface="Consolas" panose="020B0609020204030204" pitchFamily="49" charset="0"/>
              </a:rPr>
              <a:t>kThreads</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(std::</a:t>
            </a:r>
            <a:r>
              <a:rPr lang="en-US" sz="1400" b="0" dirty="0" err="1">
                <a:solidFill>
                  <a:srgbClr val="74531F"/>
                </a:solidFill>
                <a:effectLst/>
                <a:latin typeface="Consolas" panose="020B0609020204030204" pitchFamily="49" charset="0"/>
              </a:rPr>
              <a:t>to_string</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 thread(s)</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RunFalseSharing</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A9CC240D-0BC4-324E-FDE7-93B20BD76F35}"/>
              </a:ext>
            </a:extLst>
          </p:cNvPr>
          <p:cNvSpPr txBox="1"/>
          <p:nvPr/>
        </p:nvSpPr>
        <p:spPr>
          <a:xfrm>
            <a:off x="7462157" y="2062566"/>
            <a:ext cx="4506686" cy="181588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dirty="0">
                <a:latin typeface="Consolas" panose="020B0609020204030204" pitchFamily="49" charset="0"/>
              </a:rPr>
              <a:t>1 thread(s) took 841970500ns (0.84197s)</a:t>
            </a:r>
          </a:p>
          <a:p>
            <a:r>
              <a:rPr lang="en-US" sz="1400" dirty="0">
                <a:latin typeface="Consolas" panose="020B0609020204030204" pitchFamily="49" charset="0"/>
              </a:rPr>
              <a:t>2 thread(s) took 874756700ns (0.874757s)</a:t>
            </a:r>
          </a:p>
          <a:p>
            <a:r>
              <a:rPr lang="en-US" sz="1400" dirty="0">
                <a:latin typeface="Consolas" panose="020B0609020204030204" pitchFamily="49" charset="0"/>
              </a:rPr>
              <a:t>3 thread(s) took 923498800ns (0.923499s)</a:t>
            </a:r>
          </a:p>
          <a:p>
            <a:r>
              <a:rPr lang="en-US" sz="1400" dirty="0">
                <a:latin typeface="Consolas" panose="020B0609020204030204" pitchFamily="49" charset="0"/>
              </a:rPr>
              <a:t>4 thread(s) took 981529300ns (0.981529s)</a:t>
            </a:r>
          </a:p>
          <a:p>
            <a:r>
              <a:rPr lang="en-US" sz="1400" dirty="0">
                <a:latin typeface="Consolas" panose="020B0609020204030204" pitchFamily="49" charset="0"/>
              </a:rPr>
              <a:t>5 thread(s) took 1088401900ns (1.0884s)</a:t>
            </a:r>
          </a:p>
          <a:p>
            <a:r>
              <a:rPr lang="en-US" sz="1400" dirty="0">
                <a:latin typeface="Consolas" panose="020B0609020204030204" pitchFamily="49" charset="0"/>
              </a:rPr>
              <a:t>6 thread(s) took 1171295200ns (1.1713s)</a:t>
            </a:r>
          </a:p>
          <a:p>
            <a:r>
              <a:rPr lang="en-US" sz="1400" dirty="0">
                <a:latin typeface="Consolas" panose="020B0609020204030204" pitchFamily="49" charset="0"/>
              </a:rPr>
              <a:t>7 thread(s) took 1341640400ns (1.34164s)</a:t>
            </a:r>
          </a:p>
          <a:p>
            <a:r>
              <a:rPr lang="en-US" sz="1400" dirty="0">
                <a:latin typeface="Consolas" panose="020B0609020204030204" pitchFamily="49" charset="0"/>
              </a:rPr>
              <a:t>8 thread(s) took 1478952500ns (1.47895s)</a:t>
            </a:r>
          </a:p>
        </p:txBody>
      </p:sp>
    </p:spTree>
    <p:extLst>
      <p:ext uri="{BB962C8B-B14F-4D97-AF65-F5344CB8AC3E}">
        <p14:creationId xmlns:p14="http://schemas.microsoft.com/office/powerpoint/2010/main" val="174710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405E7-C671-4CBA-D5B7-FB76B8AFEA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A7919C-7C42-C074-EC89-A6DA2EB50786}"/>
              </a:ext>
            </a:extLst>
          </p:cNvPr>
          <p:cNvSpPr txBox="1"/>
          <p:nvPr/>
        </p:nvSpPr>
        <p:spPr>
          <a:xfrm>
            <a:off x="620486" y="1690688"/>
            <a:ext cx="11070771" cy="5016758"/>
          </a:xfrm>
          <a:prstGeom prst="rect">
            <a:avLst/>
          </a:prstGeom>
          <a:noFill/>
        </p:spPr>
        <p:txBody>
          <a:bodyPr wrap="square">
            <a:spAutoFit/>
          </a:bodyPr>
          <a:lstStyle/>
          <a:p>
            <a:pPr>
              <a:buNone/>
            </a:pPr>
            <a:r>
              <a:rPr lang="en-US" sz="1600" b="0" dirty="0">
                <a:solidFill>
                  <a:srgbClr val="0000FF"/>
                </a:solidFill>
                <a:effectLst/>
                <a:latin typeface="Consolas" panose="020B0609020204030204" pitchFamily="49" charset="0"/>
              </a:rPr>
              <a:t>struct</a:t>
            </a:r>
            <a:r>
              <a:rPr lang="en-US" sz="1600" b="0" dirty="0">
                <a:solidFill>
                  <a:srgbClr val="000000"/>
                </a:solidFill>
                <a:effectLst/>
                <a:latin typeface="Consolas" panose="020B0609020204030204" pitchFamily="49" charset="0"/>
              </a:rPr>
              <a:t> </a:t>
            </a:r>
            <a:r>
              <a:rPr lang="en-US" sz="1600" b="0" dirty="0" err="1">
                <a:solidFill>
                  <a:srgbClr val="000000"/>
                </a:solidFill>
                <a:effectLst/>
                <a:highlight>
                  <a:srgbClr val="FFFF00"/>
                </a:highlight>
                <a:latin typeface="Consolas" panose="020B0609020204030204" pitchFamily="49" charset="0"/>
              </a:rPr>
              <a:t>alignas</a:t>
            </a:r>
            <a:r>
              <a:rPr lang="en-US" sz="1600" b="0" dirty="0">
                <a:solidFill>
                  <a:srgbClr val="000000"/>
                </a:solidFill>
                <a:effectLst/>
                <a:highlight>
                  <a:srgbClr val="FFFF00"/>
                </a:highlight>
                <a:latin typeface="Consolas" panose="020B0609020204030204" pitchFamily="49" charset="0"/>
              </a:rPr>
              <a:t>(std::</a:t>
            </a:r>
            <a:r>
              <a:rPr lang="en-US" sz="1600" b="0" dirty="0" err="1">
                <a:solidFill>
                  <a:srgbClr val="000000"/>
                </a:solidFill>
                <a:effectLst/>
                <a:highlight>
                  <a:srgbClr val="FFFF00"/>
                </a:highlight>
                <a:latin typeface="Consolas" panose="020B0609020204030204" pitchFamily="49" charset="0"/>
              </a:rPr>
              <a:t>hardware_destructive_interference_size</a:t>
            </a:r>
            <a:r>
              <a:rPr lang="en-US" sz="1600" b="0" dirty="0">
                <a:solidFill>
                  <a:srgbClr val="000000"/>
                </a:solidFill>
                <a:effectLst/>
                <a:highlight>
                  <a:srgbClr val="FFFF00"/>
                </a:highligh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2B91AF"/>
                </a:solidFill>
                <a:effectLst/>
                <a:latin typeface="Consolas" panose="020B0609020204030204" pitchFamily="49" charset="0"/>
              </a:rPr>
              <a:t>Counter</a:t>
            </a:r>
            <a:r>
              <a:rPr lang="ru-RU" sz="1600" b="0" dirty="0">
                <a:solidFill>
                  <a:srgbClr val="2B91AF"/>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volatile</a:t>
            </a: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uint32_t</a:t>
            </a:r>
            <a:r>
              <a:rPr lang="en-US" sz="1600" b="0" dirty="0">
                <a:solidFill>
                  <a:srgbClr val="000000"/>
                </a:solidFill>
                <a:effectLst/>
                <a:latin typeface="Consolas" panose="020B0609020204030204" pitchFamily="49" charset="0"/>
              </a:rPr>
              <a:t> value;</a:t>
            </a:r>
          </a:p>
          <a:p>
            <a:pPr>
              <a:buNone/>
            </a:pP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err="1">
                <a:solidFill>
                  <a:srgbClr val="0000FF"/>
                </a:solidFill>
                <a:effectLst/>
                <a:latin typeface="Consolas" panose="020B0609020204030204" pitchFamily="49" charset="0"/>
              </a:rPr>
              <a:t>alignas</a:t>
            </a:r>
            <a:r>
              <a:rPr lang="en-US" sz="1600" b="0" dirty="0">
                <a:solidFill>
                  <a:srgbClr val="000000"/>
                </a:solidFill>
                <a:effectLst/>
                <a:latin typeface="Consolas" panose="020B0609020204030204" pitchFamily="49" charset="0"/>
              </a:rPr>
              <a:t>(std::</a:t>
            </a:r>
            <a:r>
              <a:rPr lang="en-US" sz="1600" b="0" dirty="0" err="1">
                <a:solidFill>
                  <a:srgbClr val="000000"/>
                </a:solidFill>
                <a:effectLst/>
                <a:latin typeface="Consolas" panose="020B0609020204030204" pitchFamily="49" charset="0"/>
              </a:rPr>
              <a:t>hardware_destructive_interference_size</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array</a:t>
            </a:r>
            <a:r>
              <a:rPr lang="en-US" sz="1600" b="0" dirty="0">
                <a:solidFill>
                  <a:srgbClr val="000000"/>
                </a:solidFill>
                <a:effectLst/>
                <a:latin typeface="Consolas" panose="020B0609020204030204" pitchFamily="49" charset="0"/>
              </a:rPr>
              <a:t>&lt;</a:t>
            </a:r>
            <a:r>
              <a:rPr lang="en-US" sz="1600" b="0" dirty="0">
                <a:solidFill>
                  <a:srgbClr val="2B91AF"/>
                </a:solidFill>
                <a:effectLst/>
                <a:latin typeface="Consolas" panose="020B0609020204030204" pitchFamily="49" charset="0"/>
              </a:rPr>
              <a:t>Counter</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kThreads</a:t>
            </a:r>
            <a:r>
              <a:rPr lang="en-US" sz="1600" b="0" dirty="0">
                <a:solidFill>
                  <a:srgbClr val="000000"/>
                </a:solidFill>
                <a:effectLst/>
                <a:latin typeface="Consolas" panose="020B0609020204030204" pitchFamily="49" charset="0"/>
              </a:rPr>
              <a:t>&gt; </a:t>
            </a:r>
            <a:r>
              <a:rPr lang="en-US" sz="1600" b="0" dirty="0" err="1">
                <a:solidFill>
                  <a:srgbClr val="000000"/>
                </a:solidFill>
                <a:effectLst/>
                <a:latin typeface="Consolas" panose="020B0609020204030204" pitchFamily="49" charset="0"/>
              </a:rPr>
              <a:t>gCounters</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FF"/>
                </a:solidFill>
                <a:effectLst/>
                <a:latin typeface="Consolas" panose="020B0609020204030204" pitchFamily="49" charset="0"/>
              </a:rPr>
              <a:t>void</a:t>
            </a:r>
            <a:r>
              <a:rPr lang="en-US" sz="1600" b="0" dirty="0">
                <a:solidFill>
                  <a:srgbClr val="000000"/>
                </a:solidFill>
                <a:effectLst/>
                <a:latin typeface="Consolas" panose="020B0609020204030204" pitchFamily="49" charset="0"/>
              </a:rPr>
              <a:t> </a:t>
            </a:r>
            <a:r>
              <a:rPr lang="en-US" sz="1600" b="0" dirty="0" err="1">
                <a:solidFill>
                  <a:srgbClr val="74531F"/>
                </a:solidFill>
                <a:effectLst/>
                <a:latin typeface="Consolas" panose="020B0609020204030204" pitchFamily="49" charset="0"/>
              </a:rPr>
              <a:t>RunFalseSharing</a:t>
            </a:r>
            <a:r>
              <a:rPr lang="en-US" sz="1600" b="0" dirty="0">
                <a:solidFill>
                  <a:srgbClr val="000000"/>
                </a:solidFill>
                <a:effectLst/>
                <a:latin typeface="Consolas" panose="020B0609020204030204" pitchFamily="49" charset="0"/>
              </a:rPr>
              <a:t>(std::</a:t>
            </a:r>
            <a:r>
              <a:rPr lang="en-US" sz="1600" b="0" dirty="0" err="1">
                <a:solidFill>
                  <a:srgbClr val="2B91AF"/>
                </a:solidFill>
                <a:effectLst/>
                <a:latin typeface="Consolas" panose="020B0609020204030204" pitchFamily="49" charset="0"/>
              </a:rPr>
              <a:t>size_t</a:t>
            </a:r>
            <a:r>
              <a:rPr lang="en-US" sz="1600" b="0" dirty="0">
                <a:solidFill>
                  <a:srgbClr val="000000"/>
                </a:solidFill>
                <a:effectLst/>
                <a:latin typeface="Consolas" panose="020B0609020204030204" pitchFamily="49" charset="0"/>
              </a:rPr>
              <a:t> </a:t>
            </a:r>
            <a:r>
              <a:rPr lang="en-US" sz="1600" b="0" dirty="0">
                <a:solidFill>
                  <a:srgbClr val="808080"/>
                </a:solidFill>
                <a:effectLst/>
                <a:latin typeface="Consolas" panose="020B0609020204030204" pitchFamily="49" charset="0"/>
              </a:rPr>
              <a:t>threads</a:t>
            </a:r>
            <a:r>
              <a:rPr lang="en-US" sz="1600" b="0" dirty="0">
                <a:solidFill>
                  <a:srgbClr val="000000"/>
                </a:solidFill>
                <a:effectLst/>
                <a:latin typeface="Consolas" panose="020B0609020204030204" pitchFamily="49" charset="0"/>
              </a:rPr>
              <a:t>)</a:t>
            </a:r>
            <a:r>
              <a:rPr lang="ru-RU" sz="1600" b="0" dirty="0">
                <a:solidFill>
                  <a:srgbClr val="000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auto</a:t>
            </a:r>
            <a:r>
              <a:rPr lang="en-US" sz="1600" b="0" dirty="0">
                <a:solidFill>
                  <a:srgbClr val="000000"/>
                </a:solidFill>
                <a:effectLst/>
                <a:latin typeface="Consolas" panose="020B0609020204030204" pitchFamily="49" charset="0"/>
              </a:rPr>
              <a:t>&amp; </a:t>
            </a:r>
            <a:r>
              <a:rPr lang="en-US" sz="1600" b="0" dirty="0">
                <a:solidFill>
                  <a:srgbClr val="1F377F"/>
                </a:solidFill>
                <a:effectLst/>
                <a:latin typeface="Consolas" panose="020B0609020204030204" pitchFamily="49" charset="0"/>
              </a:rPr>
              <a:t>x</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gCounters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x</a:t>
            </a:r>
            <a:r>
              <a:rPr lang="en-US" sz="1600" b="0" dirty="0" err="1">
                <a:solidFill>
                  <a:srgbClr val="000000"/>
                </a:solidFill>
                <a:effectLst/>
                <a:latin typeface="Consolas" panose="020B0609020204030204" pitchFamily="49" charset="0"/>
              </a:rPr>
              <a:t>.value</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std::</a:t>
            </a:r>
            <a:r>
              <a:rPr lang="en-US" sz="1600" b="0" dirty="0">
                <a:solidFill>
                  <a:srgbClr val="2B91AF"/>
                </a:solidFill>
                <a:effectLst/>
                <a:latin typeface="Consolas" panose="020B0609020204030204" pitchFamily="49" charset="0"/>
              </a:rPr>
              <a:t>vector</a:t>
            </a:r>
            <a:r>
              <a:rPr lang="en-US" sz="1600" b="0" dirty="0">
                <a:solidFill>
                  <a:srgbClr val="000000"/>
                </a:solidFill>
                <a:effectLst/>
                <a:latin typeface="Consolas" panose="020B0609020204030204" pitchFamily="49" charset="0"/>
              </a:rPr>
              <a:t>&lt;std::</a:t>
            </a:r>
            <a:r>
              <a:rPr lang="en-US" sz="1600" b="0" dirty="0" err="1">
                <a:solidFill>
                  <a:srgbClr val="2B91AF"/>
                </a:solidFill>
                <a:effectLst/>
                <a:latin typeface="Consolas" panose="020B0609020204030204" pitchFamily="49" charset="0"/>
              </a:rPr>
              <a:t>jthread</a:t>
            </a:r>
            <a:r>
              <a:rPr lang="en-US" sz="1600" b="0" dirty="0">
                <a:solidFill>
                  <a:srgbClr val="000000"/>
                </a:solidFill>
                <a:effectLst/>
                <a:latin typeface="Consolas" panose="020B0609020204030204" pitchFamily="49" charset="0"/>
              </a:rPr>
              <a:t>&gt; </a:t>
            </a:r>
            <a:r>
              <a:rPr lang="en-US" sz="1600" b="0" dirty="0">
                <a:solidFill>
                  <a:srgbClr val="1F377F"/>
                </a:solidFill>
                <a:effectLst/>
                <a:latin typeface="Consolas" panose="020B0609020204030204" pitchFamily="49" charset="0"/>
              </a:rPr>
              <a:t>workers</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workers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reserve</a:t>
            </a:r>
            <a:r>
              <a:rPr lang="en-US" sz="1600" b="0" dirty="0">
                <a:solidFill>
                  <a:srgbClr val="000000"/>
                </a:solidFill>
                <a:effectLst/>
                <a:latin typeface="Consolas" panose="020B0609020204030204" pitchFamily="49" charset="0"/>
              </a:rPr>
              <a:t>(</a:t>
            </a:r>
            <a:r>
              <a:rPr lang="en-US" sz="1600" b="0" dirty="0">
                <a:solidFill>
                  <a:srgbClr val="808080"/>
                </a:solidFill>
                <a:effectLst/>
                <a:latin typeface="Consolas" panose="020B0609020204030204" pitchFamily="49" charset="0"/>
              </a:rPr>
              <a:t>threads</a:t>
            </a:r>
            <a:r>
              <a:rPr lang="en-US" sz="1600" b="0" dirty="0">
                <a:solidFill>
                  <a:srgbClr val="000000"/>
                </a:solidFill>
                <a:effectLst/>
                <a:latin typeface="Consolas" panose="020B0609020204030204" pitchFamily="49" charset="0"/>
              </a:rPr>
              <a:t>);</a:t>
            </a:r>
          </a:p>
          <a:p>
            <a:pPr>
              <a:buNone/>
            </a:pP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(std::</a:t>
            </a:r>
            <a:r>
              <a:rPr lang="en-US" sz="1600" b="0" dirty="0" err="1">
                <a:solidFill>
                  <a:srgbClr val="2B91AF"/>
                </a:solidFill>
                <a:effectLst/>
                <a:latin typeface="Consolas" panose="020B0609020204030204" pitchFamily="49" charset="0"/>
              </a:rPr>
              <a:t>size_t</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t</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t</a:t>
            </a:r>
            <a:r>
              <a:rPr lang="en-US" sz="1600" b="0" dirty="0">
                <a:solidFill>
                  <a:srgbClr val="000000"/>
                </a:solidFill>
                <a:effectLst/>
                <a:latin typeface="Consolas" panose="020B0609020204030204" pitchFamily="49" charset="0"/>
              </a:rPr>
              <a:t> &lt; </a:t>
            </a:r>
            <a:r>
              <a:rPr lang="en-US" sz="1600" b="0" dirty="0">
                <a:solidFill>
                  <a:srgbClr val="808080"/>
                </a:solidFill>
                <a:effectLst/>
                <a:latin typeface="Consolas" panose="020B0609020204030204" pitchFamily="49" charset="0"/>
              </a:rPr>
              <a:t>threads</a:t>
            </a:r>
            <a:r>
              <a:rPr lang="en-US" sz="1600" b="0" dirty="0">
                <a:solidFill>
                  <a:srgbClr val="000000"/>
                </a:solidFill>
                <a:effectLst/>
                <a:latin typeface="Consolas" panose="020B0609020204030204" pitchFamily="49" charset="0"/>
              </a:rPr>
              <a:t>; ++</a:t>
            </a:r>
            <a:r>
              <a:rPr lang="en-US" sz="1600" b="0" dirty="0">
                <a:solidFill>
                  <a:srgbClr val="1F377F"/>
                </a:solidFill>
                <a:effectLst/>
                <a:latin typeface="Consolas" panose="020B0609020204030204" pitchFamily="49" charset="0"/>
              </a:rPr>
              <a:t>t</a:t>
            </a:r>
            <a:r>
              <a:rPr lang="en-US" sz="1600" b="0" dirty="0">
                <a:solidFill>
                  <a:srgbClr val="000000"/>
                </a:solidFill>
                <a:effectLst/>
                <a:latin typeface="Consolas" panose="020B0609020204030204" pitchFamily="49" charset="0"/>
              </a:rPr>
              <a:t>)</a:t>
            </a:r>
            <a:r>
              <a:rPr lang="ru-RU" sz="1600" b="0" dirty="0">
                <a:solidFill>
                  <a:srgbClr val="000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workers</a:t>
            </a:r>
            <a:r>
              <a:rPr lang="en-US" sz="1600" b="0" dirty="0" err="1">
                <a:solidFill>
                  <a:srgbClr val="000000"/>
                </a:solidFill>
                <a:effectLst/>
                <a:latin typeface="Consolas" panose="020B0609020204030204" pitchFamily="49" charset="0"/>
              </a:rPr>
              <a:t>.</a:t>
            </a:r>
            <a:r>
              <a:rPr lang="en-US" sz="1600" b="0" dirty="0" err="1">
                <a:solidFill>
                  <a:srgbClr val="74531F"/>
                </a:solidFill>
                <a:effectLst/>
                <a:latin typeface="Consolas" panose="020B0609020204030204" pitchFamily="49" charset="0"/>
              </a:rPr>
              <a:t>emplace_back</a:t>
            </a:r>
            <a:r>
              <a:rPr lang="en-US" sz="1600" b="0" dirty="0">
                <a:solidFill>
                  <a:srgbClr val="000000"/>
                </a:solidFill>
                <a:effectLst/>
                <a:latin typeface="Consolas" panose="020B0609020204030204" pitchFamily="49" charset="0"/>
              </a:rPr>
              <a:t>([</a:t>
            </a:r>
            <a:r>
              <a:rPr lang="en-US" sz="1600" b="0" dirty="0">
                <a:solidFill>
                  <a:srgbClr val="1F377F"/>
                </a:solidFill>
                <a:effectLst/>
                <a:latin typeface="Consolas" panose="020B0609020204030204" pitchFamily="49" charset="0"/>
              </a:rPr>
              <a:t>t</a:t>
            </a: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a:solidFill>
                  <a:srgbClr val="8F08C4"/>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(std::</a:t>
            </a:r>
            <a:r>
              <a:rPr lang="en-US" sz="1600" b="0" dirty="0" err="1">
                <a:solidFill>
                  <a:srgbClr val="2B91AF"/>
                </a:solidFill>
                <a:effectLst/>
                <a:latin typeface="Consolas" panose="020B0609020204030204" pitchFamily="49" charset="0"/>
              </a:rPr>
              <a:t>size_t</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err="1">
                <a:solidFill>
                  <a:srgbClr val="000000"/>
                </a:solidFill>
                <a:effectLst/>
                <a:latin typeface="Consolas" panose="020B0609020204030204" pitchFamily="49" charset="0"/>
              </a:rPr>
              <a:t>kIterations</a:t>
            </a:r>
            <a:r>
              <a:rPr lang="en-US" sz="1600" b="0" dirty="0">
                <a:solidFill>
                  <a:srgbClr val="000000"/>
                </a:solidFill>
                <a:effectLst/>
                <a:latin typeface="Consolas" panose="020B0609020204030204" pitchFamily="49" charset="0"/>
              </a:rPr>
              <a:t>; ++</a:t>
            </a:r>
            <a:r>
              <a:rPr lang="en-US" sz="1600" b="0" dirty="0" err="1">
                <a:solidFill>
                  <a:srgbClr val="1F377F"/>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r>
              <a:rPr lang="ru-RU" sz="1600" b="0" dirty="0">
                <a:solidFill>
                  <a:srgbClr val="000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ru-RU" sz="1600" b="0" dirty="0">
                <a:solidFill>
                  <a:srgbClr val="000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gCounters</a:t>
            </a:r>
            <a:r>
              <a:rPr lang="en-US" sz="1600" b="0" dirty="0">
                <a:solidFill>
                  <a:srgbClr val="000000"/>
                </a:solidFill>
                <a:effectLst/>
                <a:latin typeface="Consolas" panose="020B0609020204030204" pitchFamily="49" charset="0"/>
              </a:rPr>
              <a:t>[</a:t>
            </a:r>
            <a:r>
              <a:rPr lang="en-US" sz="1600" b="0" dirty="0">
                <a:solidFill>
                  <a:srgbClr val="1F377F"/>
                </a:solidFill>
                <a:effectLst/>
                <a:latin typeface="Consolas" panose="020B0609020204030204" pitchFamily="49" charset="0"/>
              </a:rPr>
              <a:t>t</a:t>
            </a:r>
            <a:r>
              <a:rPr lang="en-US" sz="1600" b="0" dirty="0">
                <a:solidFill>
                  <a:srgbClr val="000000"/>
                </a:solidFill>
                <a:effectLst/>
                <a:latin typeface="Consolas" panose="020B0609020204030204" pitchFamily="49" charset="0"/>
              </a:rPr>
              <a:t>].value;</a:t>
            </a:r>
            <a:r>
              <a:rPr lang="ru-RU" sz="1600" b="0" dirty="0">
                <a:solidFill>
                  <a:srgbClr val="000000"/>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a:t>
            </a:r>
          </a:p>
        </p:txBody>
      </p:sp>
      <p:sp>
        <p:nvSpPr>
          <p:cNvPr id="4" name="Title 3">
            <a:extLst>
              <a:ext uri="{FF2B5EF4-FFF2-40B4-BE49-F238E27FC236}">
                <a16:creationId xmlns:a16="http://schemas.microsoft.com/office/drawing/2014/main" id="{C44CC913-2FAD-8C94-5517-107739921157}"/>
              </a:ext>
            </a:extLst>
          </p:cNvPr>
          <p:cNvSpPr>
            <a:spLocks noGrp="1"/>
          </p:cNvSpPr>
          <p:nvPr>
            <p:ph type="title"/>
          </p:nvPr>
        </p:nvSpPr>
        <p:spPr/>
        <p:txBody>
          <a:bodyPr/>
          <a:lstStyle/>
          <a:p>
            <a:r>
              <a:rPr lang="ru-RU" dirty="0"/>
              <a:t>Устраняем </a:t>
            </a:r>
            <a:r>
              <a:rPr lang="en-US" dirty="0"/>
              <a:t>False Sharing</a:t>
            </a:r>
          </a:p>
        </p:txBody>
      </p:sp>
      <p:sp>
        <p:nvSpPr>
          <p:cNvPr id="8" name="TextBox 7">
            <a:extLst>
              <a:ext uri="{FF2B5EF4-FFF2-40B4-BE49-F238E27FC236}">
                <a16:creationId xmlns:a16="http://schemas.microsoft.com/office/drawing/2014/main" id="{CA657062-F60E-2FB2-1C95-463976029CDD}"/>
              </a:ext>
            </a:extLst>
          </p:cNvPr>
          <p:cNvSpPr txBox="1"/>
          <p:nvPr/>
        </p:nvSpPr>
        <p:spPr>
          <a:xfrm>
            <a:off x="7445828" y="2629009"/>
            <a:ext cx="4506686" cy="181588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dirty="0">
                <a:latin typeface="Consolas" panose="020B0609020204030204" pitchFamily="49" charset="0"/>
              </a:rPr>
              <a:t>1 thread(s) took 843187300ns (0.843187s)</a:t>
            </a:r>
          </a:p>
          <a:p>
            <a:r>
              <a:rPr lang="en-US" sz="1400" dirty="0">
                <a:latin typeface="Consolas" panose="020B0609020204030204" pitchFamily="49" charset="0"/>
              </a:rPr>
              <a:t>2 thread(s) took 846805400ns (0.846805s)</a:t>
            </a:r>
          </a:p>
          <a:p>
            <a:r>
              <a:rPr lang="en-US" sz="1400" dirty="0">
                <a:latin typeface="Consolas" panose="020B0609020204030204" pitchFamily="49" charset="0"/>
              </a:rPr>
              <a:t>3 thread(s) took 866727500ns (0.866727s)</a:t>
            </a:r>
          </a:p>
          <a:p>
            <a:r>
              <a:rPr lang="en-US" sz="1400" dirty="0">
                <a:latin typeface="Consolas" panose="020B0609020204030204" pitchFamily="49" charset="0"/>
              </a:rPr>
              <a:t>4 thread(s) took 868072400ns (0.868072s)</a:t>
            </a:r>
          </a:p>
          <a:p>
            <a:r>
              <a:rPr lang="en-US" sz="1400" dirty="0">
                <a:latin typeface="Consolas" panose="020B0609020204030204" pitchFamily="49" charset="0"/>
              </a:rPr>
              <a:t>5 thread(s) took 890264200ns (0.890264s)</a:t>
            </a:r>
          </a:p>
          <a:p>
            <a:r>
              <a:rPr lang="en-US" sz="1400" dirty="0">
                <a:latin typeface="Consolas" panose="020B0609020204030204" pitchFamily="49" charset="0"/>
              </a:rPr>
              <a:t>6 thread(s) took 887276200ns (0.887276s)</a:t>
            </a:r>
          </a:p>
          <a:p>
            <a:r>
              <a:rPr lang="en-US" sz="1400" dirty="0">
                <a:latin typeface="Consolas" panose="020B0609020204030204" pitchFamily="49" charset="0"/>
              </a:rPr>
              <a:t>7 thread(s) took 846378800ns (0.846379s)</a:t>
            </a:r>
          </a:p>
          <a:p>
            <a:r>
              <a:rPr lang="en-US" sz="1400" dirty="0">
                <a:latin typeface="Consolas" panose="020B0609020204030204" pitchFamily="49" charset="0"/>
              </a:rPr>
              <a:t>8 thread(s) took 794993300ns (0.794993s)</a:t>
            </a:r>
          </a:p>
        </p:txBody>
      </p:sp>
    </p:spTree>
    <p:extLst>
      <p:ext uri="{BB962C8B-B14F-4D97-AF65-F5344CB8AC3E}">
        <p14:creationId xmlns:p14="http://schemas.microsoft.com/office/powerpoint/2010/main" val="400918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4622F1-F320-C069-AF18-DF2FE182B6CA}"/>
              </a:ext>
            </a:extLst>
          </p:cNvPr>
          <p:cNvSpPr>
            <a:spLocks noGrp="1"/>
          </p:cNvSpPr>
          <p:nvPr>
            <p:ph type="title"/>
          </p:nvPr>
        </p:nvSpPr>
        <p:spPr/>
        <p:txBody>
          <a:bodyPr/>
          <a:lstStyle/>
          <a:p>
            <a:r>
              <a:rPr lang="ru-RU" dirty="0"/>
              <a:t>Дисбаланс нагрузки</a:t>
            </a:r>
            <a:endParaRPr lang="en-US" dirty="0"/>
          </a:p>
        </p:txBody>
      </p:sp>
      <p:sp>
        <p:nvSpPr>
          <p:cNvPr id="4" name="Content Placeholder 3">
            <a:extLst>
              <a:ext uri="{FF2B5EF4-FFF2-40B4-BE49-F238E27FC236}">
                <a16:creationId xmlns:a16="http://schemas.microsoft.com/office/drawing/2014/main" id="{C0DB9577-7463-F9BF-ED69-8E1B433E62F5}"/>
              </a:ext>
            </a:extLst>
          </p:cNvPr>
          <p:cNvSpPr>
            <a:spLocks noGrp="1"/>
          </p:cNvSpPr>
          <p:nvPr>
            <p:ph idx="1"/>
          </p:nvPr>
        </p:nvSpPr>
        <p:spPr/>
        <p:txBody>
          <a:bodyPr>
            <a:normAutofit lnSpcReduction="10000"/>
          </a:bodyPr>
          <a:lstStyle/>
          <a:p>
            <a:r>
              <a:rPr lang="ru-RU" dirty="0"/>
              <a:t>Дисбаланс нагрузки возникает, когда потоки получают разное количество работы</a:t>
            </a:r>
          </a:p>
          <a:p>
            <a:r>
              <a:rPr lang="ru-RU" dirty="0"/>
              <a:t>В результате:</a:t>
            </a:r>
          </a:p>
          <a:p>
            <a:r>
              <a:rPr lang="ru-RU" dirty="0"/>
              <a:t> неэффективно</a:t>
            </a:r>
          </a:p>
          <a:p>
            <a:r>
              <a:rPr lang="ru-RU" dirty="0"/>
              <a:t>Причины:</a:t>
            </a:r>
          </a:p>
          <a:p>
            <a:pPr lvl="1"/>
            <a:r>
              <a:rPr lang="ru-RU" dirty="0"/>
              <a:t>неравномерные входные данные</a:t>
            </a:r>
          </a:p>
          <a:p>
            <a:pPr lvl="1"/>
            <a:r>
              <a:rPr lang="ru-RU" dirty="0"/>
              <a:t>статическое распределение задач</a:t>
            </a:r>
          </a:p>
          <a:p>
            <a:pPr lvl="1"/>
            <a:r>
              <a:rPr lang="ru-RU" dirty="0"/>
              <a:t>различная сложность обработки элементов</a:t>
            </a:r>
          </a:p>
          <a:p>
            <a:r>
              <a:rPr lang="ru-RU" dirty="0"/>
              <a:t>Общая производительность определяется </a:t>
            </a:r>
            <a:r>
              <a:rPr lang="ru-RU" b="1" dirty="0"/>
              <a:t>самым медленным потоком</a:t>
            </a:r>
          </a:p>
          <a:p>
            <a:endParaRPr lang="en-US" dirty="0"/>
          </a:p>
        </p:txBody>
      </p:sp>
    </p:spTree>
    <p:extLst>
      <p:ext uri="{BB962C8B-B14F-4D97-AF65-F5344CB8AC3E}">
        <p14:creationId xmlns:p14="http://schemas.microsoft.com/office/powerpoint/2010/main" val="3703310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88F992-4327-DAA8-F685-89AEDAA197F3}"/>
              </a:ext>
            </a:extLst>
          </p:cNvPr>
          <p:cNvSpPr>
            <a:spLocks noGrp="1"/>
          </p:cNvSpPr>
          <p:nvPr>
            <p:ph type="title"/>
          </p:nvPr>
        </p:nvSpPr>
        <p:spPr/>
        <p:txBody>
          <a:bodyPr/>
          <a:lstStyle/>
          <a:p>
            <a:r>
              <a:rPr lang="ru-RU" dirty="0"/>
              <a:t>Перебор простых чисел</a:t>
            </a:r>
            <a:endParaRPr lang="en-US" dirty="0"/>
          </a:p>
        </p:txBody>
      </p:sp>
      <p:sp>
        <p:nvSpPr>
          <p:cNvPr id="6" name="TextBox 5">
            <a:extLst>
              <a:ext uri="{FF2B5EF4-FFF2-40B4-BE49-F238E27FC236}">
                <a16:creationId xmlns:a16="http://schemas.microsoft.com/office/drawing/2014/main" id="{1D99EA06-09FE-3290-8B42-7B0E9711A2C9}"/>
              </a:ext>
            </a:extLst>
          </p:cNvPr>
          <p:cNvSpPr txBox="1"/>
          <p:nvPr/>
        </p:nvSpPr>
        <p:spPr>
          <a:xfrm>
            <a:off x="838200" y="1812471"/>
            <a:ext cx="10515600" cy="4524315"/>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bool</a:t>
            </a:r>
            <a:r>
              <a:rPr lang="en-US" b="0" dirty="0">
                <a:solidFill>
                  <a:srgbClr val="000000"/>
                </a:solidFill>
                <a:effectLst/>
                <a:latin typeface="Consolas" panose="020B0609020204030204" pitchFamily="49" charset="0"/>
              </a:rPr>
              <a:t> </a:t>
            </a:r>
            <a:r>
              <a:rPr lang="en-US" b="0" dirty="0" err="1">
                <a:solidFill>
                  <a:srgbClr val="74531F"/>
                </a:solidFill>
                <a:effectLst/>
                <a:latin typeface="Consolas" panose="020B0609020204030204" pitchFamily="49" charset="0"/>
              </a:rPr>
              <a:t>IsPrime</a:t>
            </a:r>
            <a:r>
              <a:rPr lang="en-US" b="0" dirty="0">
                <a:solidFill>
                  <a:srgbClr val="000000"/>
                </a:solidFill>
                <a:effectLst/>
                <a:latin typeface="Consolas" panose="020B0609020204030204" pitchFamily="49" charset="0"/>
              </a:rPr>
              <a:t>(</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n</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n</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err="1">
                <a:solidFill>
                  <a:srgbClr val="2B91AF"/>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d</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d</a:t>
            </a:r>
            <a:r>
              <a:rPr lang="en-US" b="0" dirty="0">
                <a:solidFill>
                  <a:srgbClr val="000000"/>
                </a:solidFill>
                <a:effectLst/>
                <a:latin typeface="Consolas" panose="020B0609020204030204" pitchFamily="49" charset="0"/>
              </a:rPr>
              <a:t> &lt; </a:t>
            </a:r>
            <a:r>
              <a:rPr lang="en-US" b="0" dirty="0">
                <a:solidFill>
                  <a:srgbClr val="808080"/>
                </a:solidFill>
                <a:effectLst/>
                <a:latin typeface="Consolas" panose="020B0609020204030204" pitchFamily="49" charset="0"/>
              </a:rPr>
              <a:t>n</a:t>
            </a:r>
            <a:r>
              <a:rPr lang="en-US" b="0" dirty="0">
                <a:solidFill>
                  <a:srgbClr val="000000"/>
                </a:solidFill>
                <a:effectLst/>
                <a:latin typeface="Consolas" panose="020B0609020204030204" pitchFamily="49" charset="0"/>
              </a:rPr>
              <a:t>; ++</a:t>
            </a:r>
            <a:r>
              <a:rPr lang="en-US" b="0" dirty="0">
                <a:solidFill>
                  <a:srgbClr val="1F377F"/>
                </a:solidFill>
                <a:effectLst/>
                <a:latin typeface="Consolas" panose="020B0609020204030204" pitchFamily="49" charset="0"/>
              </a:rPr>
              <a:t>d</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n</a:t>
            </a:r>
            <a:r>
              <a:rPr lang="en-US" b="0" dirty="0">
                <a:solidFill>
                  <a:srgbClr val="000000"/>
                </a:solidFill>
                <a:effectLst/>
                <a:latin typeface="Consolas" panose="020B0609020204030204" pitchFamily="49" charset="0"/>
              </a:rPr>
              <a:t> % </a:t>
            </a:r>
            <a:r>
              <a:rPr lang="en-US" b="0" dirty="0">
                <a:solidFill>
                  <a:srgbClr val="1F377F"/>
                </a:solidFill>
                <a:effectLst/>
                <a:latin typeface="Consolas" panose="020B0609020204030204" pitchFamily="49" charset="0"/>
              </a:rPr>
              <a:t>d</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a:solidFill>
                  <a:srgbClr val="8F08C4"/>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true</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endParaRPr lang="en-US" b="0" dirty="0">
              <a:solidFill>
                <a:srgbClr val="000000"/>
              </a:solidFill>
              <a:effectLst/>
              <a:latin typeface="Consolas" panose="020B0609020204030204" pitchFamily="49" charset="0"/>
            </a:endParaRPr>
          </a:p>
          <a:p>
            <a:pPr>
              <a:buNone/>
            </a:pP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err="1">
                <a:solidFill>
                  <a:srgbClr val="74531F"/>
                </a:solidFill>
                <a:latin typeface="Consolas" panose="020B0609020204030204" pitchFamily="49" charset="0"/>
              </a:rPr>
              <a:t>CountPrimesInRange</a:t>
            </a:r>
            <a:r>
              <a:rPr lang="en-US" dirty="0">
                <a:solidFill>
                  <a:srgbClr val="000000"/>
                </a:solidFill>
                <a:latin typeface="Consolas" panose="020B0609020204030204" pitchFamily="49" charset="0"/>
              </a:rPr>
              <a:t>(</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begin</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end</a:t>
            </a:r>
            <a:r>
              <a:rPr lang="en-US" dirty="0">
                <a:solidFill>
                  <a:srgbClr val="000000"/>
                </a:solidFill>
                <a:latin typeface="Consolas" panose="020B0609020204030204" pitchFamily="49" charset="0"/>
              </a:rPr>
              <a:t>) {</a:t>
            </a:r>
          </a:p>
          <a:p>
            <a:pPr>
              <a:buNone/>
            </a:pP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1F377F"/>
                </a:solidFill>
                <a:latin typeface="Consolas" panose="020B0609020204030204" pitchFamily="49" charset="0"/>
              </a:rPr>
              <a:t>primes</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pPr>
              <a:buNone/>
            </a:pPr>
            <a:r>
              <a:rPr lang="en-US" dirty="0">
                <a:solidFill>
                  <a:srgbClr val="000000"/>
                </a:solidFill>
                <a:latin typeface="Consolas" panose="020B0609020204030204" pitchFamily="49" charset="0"/>
              </a:rPr>
              <a:t>    </a:t>
            </a:r>
            <a:r>
              <a:rPr lang="en-US" dirty="0">
                <a:solidFill>
                  <a:srgbClr val="8F08C4"/>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1F377F"/>
                </a:solidFill>
                <a:latin typeface="Consolas" panose="020B0609020204030204" pitchFamily="49" charset="0"/>
              </a:rPr>
              <a:t>x</a:t>
            </a:r>
            <a:r>
              <a:rPr lang="en-US" dirty="0">
                <a:solidFill>
                  <a:srgbClr val="000000"/>
                </a:solidFill>
                <a:latin typeface="Consolas" panose="020B0609020204030204" pitchFamily="49" charset="0"/>
              </a:rPr>
              <a:t> = </a:t>
            </a:r>
            <a:r>
              <a:rPr lang="en-US" dirty="0">
                <a:solidFill>
                  <a:srgbClr val="808080"/>
                </a:solidFill>
                <a:latin typeface="Consolas" panose="020B0609020204030204" pitchFamily="49" charset="0"/>
              </a:rPr>
              <a:t>begin</a:t>
            </a:r>
            <a:r>
              <a:rPr lang="en-US" dirty="0">
                <a:solidFill>
                  <a:srgbClr val="000000"/>
                </a:solidFill>
                <a:latin typeface="Consolas" panose="020B0609020204030204" pitchFamily="49" charset="0"/>
              </a:rPr>
              <a:t>; </a:t>
            </a:r>
            <a:r>
              <a:rPr lang="en-US" dirty="0">
                <a:solidFill>
                  <a:srgbClr val="1F377F"/>
                </a:solidFill>
                <a:latin typeface="Consolas" panose="020B0609020204030204" pitchFamily="49" charset="0"/>
              </a:rPr>
              <a:t>x</a:t>
            </a:r>
            <a:r>
              <a:rPr lang="en-US" dirty="0">
                <a:solidFill>
                  <a:srgbClr val="000000"/>
                </a:solidFill>
                <a:latin typeface="Consolas" panose="020B0609020204030204" pitchFamily="49" charset="0"/>
              </a:rPr>
              <a:t> &lt; </a:t>
            </a:r>
            <a:r>
              <a:rPr lang="en-US" dirty="0">
                <a:solidFill>
                  <a:srgbClr val="808080"/>
                </a:solidFill>
                <a:latin typeface="Consolas" panose="020B0609020204030204" pitchFamily="49" charset="0"/>
              </a:rPr>
              <a:t>end</a:t>
            </a:r>
            <a:r>
              <a:rPr lang="en-US" dirty="0">
                <a:solidFill>
                  <a:srgbClr val="000000"/>
                </a:solidFill>
                <a:latin typeface="Consolas" panose="020B0609020204030204" pitchFamily="49" charset="0"/>
              </a:rPr>
              <a:t>; ++</a:t>
            </a:r>
            <a:r>
              <a:rPr lang="en-US" dirty="0">
                <a:solidFill>
                  <a:srgbClr val="1F377F"/>
                </a:solidFill>
                <a:latin typeface="Consolas" panose="020B0609020204030204" pitchFamily="49" charset="0"/>
              </a:rPr>
              <a:t>x</a:t>
            </a:r>
            <a:r>
              <a:rPr lang="en-US" dirty="0">
                <a:solidFill>
                  <a:srgbClr val="000000"/>
                </a:solidFill>
                <a:latin typeface="Consolas" panose="020B0609020204030204" pitchFamily="49" charset="0"/>
              </a:rPr>
              <a:t>) {</a:t>
            </a:r>
          </a:p>
          <a:p>
            <a:pPr>
              <a:buNone/>
            </a:pPr>
            <a:r>
              <a:rPr lang="en-US" dirty="0">
                <a:solidFill>
                  <a:srgbClr val="000000"/>
                </a:solidFill>
                <a:latin typeface="Consolas" panose="020B0609020204030204" pitchFamily="49" charset="0"/>
              </a:rPr>
              <a:t>        </a:t>
            </a:r>
            <a:r>
              <a:rPr lang="en-US" dirty="0">
                <a:solidFill>
                  <a:srgbClr val="8F08C4"/>
                </a:solidFill>
                <a:latin typeface="Consolas" panose="020B0609020204030204" pitchFamily="49" charset="0"/>
              </a:rPr>
              <a:t>if</a:t>
            </a:r>
            <a:r>
              <a:rPr lang="en-US" dirty="0">
                <a:solidFill>
                  <a:srgbClr val="000000"/>
                </a:solidFill>
                <a:latin typeface="Consolas" panose="020B0609020204030204" pitchFamily="49" charset="0"/>
              </a:rPr>
              <a:t> (</a:t>
            </a:r>
            <a:r>
              <a:rPr lang="en-US" dirty="0" err="1">
                <a:solidFill>
                  <a:srgbClr val="74531F"/>
                </a:solidFill>
                <a:latin typeface="Consolas" panose="020B0609020204030204" pitchFamily="49" charset="0"/>
              </a:rPr>
              <a:t>IsPrime</a:t>
            </a:r>
            <a:r>
              <a:rPr lang="en-US" dirty="0">
                <a:solidFill>
                  <a:srgbClr val="000000"/>
                </a:solidFill>
                <a:latin typeface="Consolas" panose="020B0609020204030204" pitchFamily="49" charset="0"/>
              </a:rPr>
              <a:t>(</a:t>
            </a:r>
            <a:r>
              <a:rPr lang="en-US" dirty="0">
                <a:solidFill>
                  <a:srgbClr val="1F377F"/>
                </a:solidFill>
                <a:latin typeface="Consolas" panose="020B0609020204030204" pitchFamily="49" charset="0"/>
              </a:rPr>
              <a:t>x</a:t>
            </a:r>
            <a:r>
              <a:rPr lang="en-US" dirty="0">
                <a:solidFill>
                  <a:srgbClr val="000000"/>
                </a:solidFill>
                <a:latin typeface="Consolas" panose="020B0609020204030204" pitchFamily="49" charset="0"/>
              </a:rPr>
              <a:t>)) { ++</a:t>
            </a:r>
            <a:r>
              <a:rPr lang="en-US" dirty="0">
                <a:solidFill>
                  <a:srgbClr val="1F377F"/>
                </a:solidFill>
                <a:latin typeface="Consolas" panose="020B0609020204030204" pitchFamily="49" charset="0"/>
              </a:rPr>
              <a:t>primes</a:t>
            </a:r>
            <a:r>
              <a:rPr lang="en-US" dirty="0">
                <a:solidFill>
                  <a:srgbClr val="000000"/>
                </a:solidFill>
                <a:latin typeface="Consolas" panose="020B0609020204030204" pitchFamily="49" charset="0"/>
              </a:rPr>
              <a:t>; }</a:t>
            </a:r>
          </a:p>
          <a:p>
            <a:pPr>
              <a:buNone/>
            </a:pPr>
            <a:r>
              <a:rPr lang="en-US" dirty="0">
                <a:solidFill>
                  <a:srgbClr val="000000"/>
                </a:solidFill>
                <a:latin typeface="Consolas" panose="020B0609020204030204" pitchFamily="49" charset="0"/>
              </a:rPr>
              <a:t>    }</a:t>
            </a:r>
          </a:p>
          <a:p>
            <a:pPr>
              <a:buNone/>
            </a:pPr>
            <a:r>
              <a:rPr lang="en-US" dirty="0">
                <a:solidFill>
                  <a:srgbClr val="000000"/>
                </a:solidFill>
                <a:latin typeface="Consolas" panose="020B0609020204030204" pitchFamily="49" charset="0"/>
              </a:rPr>
              <a:t>    </a:t>
            </a:r>
            <a:r>
              <a:rPr lang="en-US" dirty="0">
                <a:solidFill>
                  <a:srgbClr val="8F08C4"/>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1F377F"/>
                </a:solidFill>
                <a:latin typeface="Consolas" panose="020B0609020204030204" pitchFamily="49" charset="0"/>
              </a:rPr>
              <a:t>primes</a:t>
            </a:r>
            <a:r>
              <a:rPr lang="en-US" dirty="0">
                <a:solidFill>
                  <a:srgbClr val="000000"/>
                </a:solidFill>
                <a:latin typeface="Consolas" panose="020B0609020204030204" pitchFamily="49" charset="0"/>
              </a:rPr>
              <a:t>;</a:t>
            </a:r>
          </a:p>
          <a:p>
            <a:pPr>
              <a:buNone/>
            </a:pPr>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793412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AD0C-9957-1FBB-63D0-1D28EA777EBD}"/>
              </a:ext>
            </a:extLst>
          </p:cNvPr>
          <p:cNvSpPr>
            <a:spLocks noGrp="1"/>
          </p:cNvSpPr>
          <p:nvPr>
            <p:ph type="title"/>
          </p:nvPr>
        </p:nvSpPr>
        <p:spPr/>
        <p:txBody>
          <a:bodyPr/>
          <a:lstStyle/>
          <a:p>
            <a:r>
              <a:rPr lang="ru-RU" dirty="0"/>
              <a:t>Параллельный подсчёт простых чисел</a:t>
            </a:r>
            <a:endParaRPr lang="en-US" dirty="0"/>
          </a:p>
        </p:txBody>
      </p:sp>
      <p:sp>
        <p:nvSpPr>
          <p:cNvPr id="4" name="TextBox 3">
            <a:extLst>
              <a:ext uri="{FF2B5EF4-FFF2-40B4-BE49-F238E27FC236}">
                <a16:creationId xmlns:a16="http://schemas.microsoft.com/office/drawing/2014/main" id="{B75253FE-64AA-2C02-6D3E-2E0DF0C72963}"/>
              </a:ext>
            </a:extLst>
          </p:cNvPr>
          <p:cNvSpPr txBox="1"/>
          <p:nvPr/>
        </p:nvSpPr>
        <p:spPr>
          <a:xfrm>
            <a:off x="838200" y="1690688"/>
            <a:ext cx="10515600" cy="5047536"/>
          </a:xfrm>
          <a:prstGeom prst="rect">
            <a:avLst/>
          </a:prstGeom>
          <a:noFill/>
        </p:spPr>
        <p:txBody>
          <a:bodyPr wrap="square">
            <a:spAutoFit/>
          </a:bodyPr>
          <a:lstStyle/>
          <a:p>
            <a:pPr>
              <a:buNone/>
            </a:pP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CountPrimesParallel</a:t>
            </a:r>
            <a:r>
              <a:rPr lang="en-US" sz="1400" b="0" dirty="0">
                <a:solidFill>
                  <a:srgbClr val="000000"/>
                </a:solidFill>
                <a:effectLst/>
                <a:latin typeface="Consolas" panose="020B0609020204030204" pitchFamily="49" charset="0"/>
              </a:rPr>
              <a:t>(</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n</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atomic</a:t>
            </a:r>
            <a:r>
              <a:rPr lang="en-US" sz="1400" b="0" dirty="0">
                <a:solidFill>
                  <a:srgbClr val="000000"/>
                </a:solidFill>
                <a:effectLst/>
                <a:latin typeface="Consolas" panose="020B0609020204030204" pitchFamily="49" charset="0"/>
              </a:rPr>
              <a:t>&lt;</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total</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err="1">
                <a:solidFill>
                  <a:srgbClr val="2B91AF"/>
                </a:solidFill>
                <a:effectLst/>
                <a:latin typeface="Consolas" panose="020B0609020204030204" pitchFamily="49" charset="0"/>
              </a:rPr>
              <a:t>jthread</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workers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reserve</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blockSize</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n</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err="1">
                <a:solidFill>
                  <a:srgbClr val="1F377F"/>
                </a:solidFill>
                <a:effectLst/>
                <a:latin typeface="Consolas" panose="020B0609020204030204" pitchFamily="49" charset="0"/>
              </a:rPr>
              <a:t>blockSize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n</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 </a:t>
            </a:r>
            <a:r>
              <a:rPr lang="en-US" sz="1400" b="0" dirty="0" err="1">
                <a:solidFill>
                  <a:srgbClr val="1F377F"/>
                </a:solidFill>
                <a:effectLst/>
                <a:latin typeface="Consolas" panose="020B0609020204030204" pitchFamily="49" charset="0"/>
              </a:rPr>
              <a:t>blockSize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emplace_back</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&amp;</a:t>
            </a:r>
            <a:r>
              <a:rPr lang="en-US" sz="1400" b="0" dirty="0">
                <a:solidFill>
                  <a:srgbClr val="1F377F"/>
                </a:solidFill>
                <a:effectLst/>
                <a:latin typeface="Consolas" panose="020B0609020204030204" pitchFamily="49" charset="0"/>
              </a:rPr>
              <a:t>total</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dirty="0">
                <a:solidFill>
                  <a:srgbClr val="1F377F"/>
                </a:solidFill>
                <a:latin typeface="Consolas" panose="020B0609020204030204" pitchFamily="49" charset="0"/>
              </a:rPr>
              <a:t>total += </a:t>
            </a:r>
            <a:r>
              <a:rPr lang="en-US" sz="1400" b="0" dirty="0" err="1">
                <a:solidFill>
                  <a:srgbClr val="74531F"/>
                </a:solidFill>
                <a:effectLst/>
                <a:latin typeface="Consolas" panose="020B0609020204030204" pitchFamily="49" charset="0"/>
              </a:rPr>
              <a:t>CountPrimesInRange</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total</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load</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0000FF"/>
                </a:solidFill>
                <a:effectLst/>
                <a:latin typeface="Consolas" panose="020B0609020204030204" pitchFamily="49" charset="0"/>
              </a:rPr>
              <a:t>constexpr</a:t>
            </a:r>
            <a:r>
              <a:rPr lang="en-US" sz="1400" b="0" dirty="0">
                <a:solidFill>
                  <a:srgbClr val="000000"/>
                </a:solidFill>
                <a:effectLst/>
                <a:latin typeface="Consolas" panose="020B0609020204030204" pitchFamily="49" charset="0"/>
              </a:rPr>
              <a:t> </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N</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200'000</a:t>
            </a: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098658"/>
                </a:solidFill>
                <a:effectLst/>
                <a:latin typeface="Consolas" panose="020B0609020204030204" pitchFamily="49" charset="0"/>
              </a:rPr>
              <a:t>8</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r>
              <a:rPr lang="ru-RU" sz="1400" b="0" dirty="0">
                <a:solidFill>
                  <a:srgbClr val="00000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count primes. threads=</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 std::</a:t>
            </a:r>
            <a:r>
              <a:rPr lang="en-US" sz="1400" b="0" dirty="0" err="1">
                <a:solidFill>
                  <a:srgbClr val="74531F"/>
                </a:solidFill>
                <a:effectLst/>
                <a:latin typeface="Consolas" panose="020B0609020204030204" pitchFamily="49" charset="0"/>
              </a:rPr>
              <a:t>to_string</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CountPrimesParallel</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endParaRPr lang="en-US" sz="1400" dirty="0"/>
          </a:p>
        </p:txBody>
      </p:sp>
      <p:sp>
        <p:nvSpPr>
          <p:cNvPr id="6" name="TextBox 5">
            <a:extLst>
              <a:ext uri="{FF2B5EF4-FFF2-40B4-BE49-F238E27FC236}">
                <a16:creationId xmlns:a16="http://schemas.microsoft.com/office/drawing/2014/main" id="{4347E5DD-AE31-C5EC-A039-9242A6741859}"/>
              </a:ext>
            </a:extLst>
          </p:cNvPr>
          <p:cNvSpPr txBox="1"/>
          <p:nvPr/>
        </p:nvSpPr>
        <p:spPr>
          <a:xfrm>
            <a:off x="6610350" y="3860800"/>
            <a:ext cx="5581650" cy="181588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400" dirty="0">
                <a:latin typeface="Consolas" panose="020B0609020204030204" pitchFamily="49" charset="0"/>
              </a:rPr>
              <a:t>count primes. threads=1 took 3856589600ns (3.85659s)</a:t>
            </a:r>
          </a:p>
          <a:p>
            <a:r>
              <a:rPr lang="en-US" sz="1400" dirty="0">
                <a:latin typeface="Consolas" panose="020B0609020204030204" pitchFamily="49" charset="0"/>
              </a:rPr>
              <a:t>count primes. threads=2 took 2829936600ns (2.82994s)</a:t>
            </a:r>
          </a:p>
          <a:p>
            <a:r>
              <a:rPr lang="en-US" sz="1400" dirty="0">
                <a:latin typeface="Consolas" panose="020B0609020204030204" pitchFamily="49" charset="0"/>
              </a:rPr>
              <a:t>count primes. threads=3 took 2163010000ns (2.16301s)</a:t>
            </a:r>
          </a:p>
          <a:p>
            <a:r>
              <a:rPr lang="en-US" sz="1400" dirty="0">
                <a:latin typeface="Consolas" panose="020B0609020204030204" pitchFamily="49" charset="0"/>
              </a:rPr>
              <a:t>count primes. threads=4 took 1711598700ns (1.7116s)</a:t>
            </a:r>
          </a:p>
          <a:p>
            <a:r>
              <a:rPr lang="en-US" sz="1400" dirty="0">
                <a:latin typeface="Consolas" panose="020B0609020204030204" pitchFamily="49" charset="0"/>
              </a:rPr>
              <a:t>count primes. threads=5 took 1463304000ns (1.4633s)</a:t>
            </a:r>
          </a:p>
          <a:p>
            <a:r>
              <a:rPr lang="en-US" sz="1400" dirty="0">
                <a:latin typeface="Consolas" panose="020B0609020204030204" pitchFamily="49" charset="0"/>
              </a:rPr>
              <a:t>count primes. threads=6 took 1237484500ns (1.23748s)</a:t>
            </a:r>
          </a:p>
          <a:p>
            <a:r>
              <a:rPr lang="en-US" sz="1400" dirty="0">
                <a:latin typeface="Consolas" panose="020B0609020204030204" pitchFamily="49" charset="0"/>
              </a:rPr>
              <a:t>count primes. threads=7 took 1133104700ns (1.1331s)</a:t>
            </a:r>
          </a:p>
          <a:p>
            <a:r>
              <a:rPr lang="en-US" sz="1400" dirty="0">
                <a:latin typeface="Consolas" panose="020B0609020204030204" pitchFamily="49" charset="0"/>
              </a:rPr>
              <a:t>count primes. threads=8 took 1047799300ns (1.0478s)</a:t>
            </a:r>
          </a:p>
        </p:txBody>
      </p:sp>
    </p:spTree>
    <p:extLst>
      <p:ext uri="{BB962C8B-B14F-4D97-AF65-F5344CB8AC3E}">
        <p14:creationId xmlns:p14="http://schemas.microsoft.com/office/powerpoint/2010/main" val="354361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1E6C1F-8A1D-F8B7-BA8A-84F44D2A3DC9}"/>
              </a:ext>
            </a:extLst>
          </p:cNvPr>
          <p:cNvSpPr>
            <a:spLocks noGrp="1"/>
          </p:cNvSpPr>
          <p:nvPr>
            <p:ph type="title"/>
          </p:nvPr>
        </p:nvSpPr>
        <p:spPr/>
        <p:txBody>
          <a:bodyPr>
            <a:normAutofit/>
          </a:bodyPr>
          <a:lstStyle/>
          <a:p>
            <a:r>
              <a:rPr lang="en-US" dirty="0"/>
              <a:t>Oversubscription (</a:t>
            </a:r>
            <a:r>
              <a:rPr lang="ru-RU" dirty="0"/>
              <a:t>избыточное число потоков)</a:t>
            </a:r>
            <a:endParaRPr lang="en-US" dirty="0"/>
          </a:p>
        </p:txBody>
      </p:sp>
      <p:sp>
        <p:nvSpPr>
          <p:cNvPr id="4" name="Content Placeholder 3">
            <a:extLst>
              <a:ext uri="{FF2B5EF4-FFF2-40B4-BE49-F238E27FC236}">
                <a16:creationId xmlns:a16="http://schemas.microsoft.com/office/drawing/2014/main" id="{22B52424-2F7A-BAA5-816E-71813EB1A0C3}"/>
              </a:ext>
            </a:extLst>
          </p:cNvPr>
          <p:cNvSpPr>
            <a:spLocks noGrp="1"/>
          </p:cNvSpPr>
          <p:nvPr>
            <p:ph idx="1"/>
          </p:nvPr>
        </p:nvSpPr>
        <p:spPr/>
        <p:txBody>
          <a:bodyPr>
            <a:normAutofit lnSpcReduction="10000"/>
          </a:bodyPr>
          <a:lstStyle/>
          <a:p>
            <a:r>
              <a:rPr lang="ru-RU" dirty="0" err="1"/>
              <a:t>Oversubscription</a:t>
            </a:r>
            <a:r>
              <a:rPr lang="ru-RU" dirty="0"/>
              <a:t> возникает, когда число потоков</a:t>
            </a:r>
            <a:r>
              <a:rPr lang="en-US" dirty="0"/>
              <a:t> </a:t>
            </a:r>
            <a:r>
              <a:rPr lang="ru-RU" dirty="0"/>
              <a:t>превышает количество аппаратных ядер</a:t>
            </a:r>
          </a:p>
          <a:p>
            <a:r>
              <a:rPr lang="ru-RU" dirty="0"/>
              <a:t>Например:</a:t>
            </a:r>
          </a:p>
          <a:p>
            <a:pPr lvl="1"/>
            <a:r>
              <a:rPr lang="ru-RU" dirty="0"/>
              <a:t>8 ядер CPU</a:t>
            </a:r>
          </a:p>
          <a:p>
            <a:pPr lvl="1"/>
            <a:r>
              <a:rPr lang="ru-RU" dirty="0"/>
              <a:t>16 или 32 активных потоков</a:t>
            </a:r>
          </a:p>
          <a:p>
            <a:r>
              <a:rPr lang="ru-RU" dirty="0"/>
              <a:t>В результате:</a:t>
            </a:r>
          </a:p>
          <a:p>
            <a:pPr lvl="1"/>
            <a:r>
              <a:rPr lang="ru-RU" dirty="0"/>
              <a:t>операционная система начинает часто переключать контекст</a:t>
            </a:r>
          </a:p>
          <a:p>
            <a:pPr lvl="1"/>
            <a:r>
              <a:rPr lang="ru-RU" dirty="0"/>
              <a:t>потоки вытесняют друг друга</a:t>
            </a:r>
          </a:p>
          <a:p>
            <a:pPr lvl="1"/>
            <a:r>
              <a:rPr lang="ru-RU" dirty="0"/>
              <a:t>ухудшается локальность кеша</a:t>
            </a:r>
          </a:p>
          <a:p>
            <a:r>
              <a:rPr lang="ru-RU" dirty="0"/>
              <a:t>Слишком большое число потоков</a:t>
            </a:r>
            <a:r>
              <a:rPr lang="en-US" dirty="0"/>
              <a:t> </a:t>
            </a:r>
            <a:r>
              <a:rPr lang="ru-RU" dirty="0"/>
              <a:t>может замедлить программу</a:t>
            </a:r>
          </a:p>
          <a:p>
            <a:endParaRPr lang="en-US" dirty="0"/>
          </a:p>
        </p:txBody>
      </p:sp>
    </p:spTree>
    <p:extLst>
      <p:ext uri="{BB962C8B-B14F-4D97-AF65-F5344CB8AC3E}">
        <p14:creationId xmlns:p14="http://schemas.microsoft.com/office/powerpoint/2010/main" val="36958553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747DBF-F6EA-3304-BEC3-15D781921018}"/>
              </a:ext>
            </a:extLst>
          </p:cNvPr>
          <p:cNvSpPr>
            <a:spLocks noGrp="1"/>
          </p:cNvSpPr>
          <p:nvPr>
            <p:ph type="title"/>
          </p:nvPr>
        </p:nvSpPr>
        <p:spPr/>
        <p:txBody>
          <a:bodyPr/>
          <a:lstStyle/>
          <a:p>
            <a:r>
              <a:rPr lang="ru-RU" dirty="0"/>
              <a:t>Пример </a:t>
            </a:r>
            <a:r>
              <a:rPr lang="en-US" dirty="0"/>
              <a:t>oversubscription</a:t>
            </a:r>
          </a:p>
        </p:txBody>
      </p:sp>
      <p:sp>
        <p:nvSpPr>
          <p:cNvPr id="6" name="TextBox 5">
            <a:extLst>
              <a:ext uri="{FF2B5EF4-FFF2-40B4-BE49-F238E27FC236}">
                <a16:creationId xmlns:a16="http://schemas.microsoft.com/office/drawing/2014/main" id="{40B672A5-6302-3BF5-BE37-12C53E4DCEE7}"/>
              </a:ext>
            </a:extLst>
          </p:cNvPr>
          <p:cNvSpPr txBox="1"/>
          <p:nvPr/>
        </p:nvSpPr>
        <p:spPr>
          <a:xfrm>
            <a:off x="400050" y="1690688"/>
            <a:ext cx="8991600" cy="5047536"/>
          </a:xfrm>
          <a:prstGeom prst="rect">
            <a:avLst/>
          </a:prstGeom>
          <a:noFill/>
        </p:spPr>
        <p:txBody>
          <a:bodyPr wrap="square">
            <a:spAutoFit/>
          </a:bodyPr>
          <a:lstStyle/>
          <a:p>
            <a:pPr>
              <a:buNone/>
            </a:pPr>
            <a:r>
              <a:rPr lang="en-US" sz="1400" b="0" dirty="0" err="1">
                <a:solidFill>
                  <a:srgbClr val="0000FF"/>
                </a:solidFill>
                <a:effectLst/>
                <a:latin typeface="Consolas" panose="020B0609020204030204" pitchFamily="49" charset="0"/>
              </a:rPr>
              <a:t>constexpr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100'000'000</a:t>
            </a:r>
            <a:r>
              <a:rPr lang="en-US" sz="1400" b="0" dirty="0">
                <a:solidFill>
                  <a:srgbClr val="000000"/>
                </a:solidFill>
                <a:effectLst/>
                <a:latin typeface="Consolas" panose="020B0609020204030204" pitchFamily="49" charset="0"/>
              </a:rPr>
              <a:t>;</a:t>
            </a: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Worker</a:t>
            </a:r>
            <a:r>
              <a:rPr lang="en-US" sz="1400" b="0" dirty="0">
                <a:solidFill>
                  <a:srgbClr val="000000"/>
                </a:solidFill>
                <a:effectLst/>
                <a:latin typeface="Consolas" panose="020B0609020204030204" pitchFamily="49" charset="0"/>
              </a:rPr>
              <a:t>(std::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x</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0.0</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&lt; </a:t>
            </a:r>
            <a:r>
              <a:rPr lang="en-US" sz="1400" b="0" dirty="0">
                <a:solidFill>
                  <a:srgbClr val="808080"/>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x</a:t>
            </a:r>
            <a:r>
              <a:rPr lang="en-US" sz="1400" b="0" dirty="0">
                <a:solidFill>
                  <a:srgbClr val="000000"/>
                </a:solidFill>
                <a:effectLst/>
                <a:latin typeface="Consolas" panose="020B0609020204030204" pitchFamily="49" charset="0"/>
              </a:rPr>
              <a:t> += std::</a:t>
            </a:r>
            <a:r>
              <a:rPr lang="en-US" sz="1400" b="0" dirty="0">
                <a:solidFill>
                  <a:srgbClr val="74531F"/>
                </a:solidFill>
                <a:effectLst/>
                <a:latin typeface="Consolas" panose="020B0609020204030204" pitchFamily="49" charset="0"/>
              </a:rPr>
              <a:t>sin</a:t>
            </a:r>
            <a:r>
              <a:rPr lang="en-US" sz="1400" b="0" dirty="0">
                <a:solidFill>
                  <a:srgbClr val="000000"/>
                </a:solidFill>
                <a:effectLst/>
                <a:latin typeface="Consolas" panose="020B0609020204030204" pitchFamily="49" charset="0"/>
              </a:rPr>
              <a:t>(</a:t>
            </a:r>
            <a:r>
              <a:rPr lang="en-US" sz="1400" b="0" dirty="0" err="1">
                <a:solidFill>
                  <a:srgbClr val="1F377F"/>
                </a:solidFill>
                <a:effectLst/>
                <a:latin typeface="Consolas" panose="020B0609020204030204" pitchFamily="49" charset="0"/>
              </a:rPr>
              <a:t>i</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volatile</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double</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sink</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x</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a:p>
            <a:pPr>
              <a:buNone/>
            </a:pP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void</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Run</a:t>
            </a:r>
            <a:r>
              <a:rPr lang="en-US" sz="1400" b="0" dirty="0">
                <a:solidFill>
                  <a:srgbClr val="000000"/>
                </a:solidFill>
                <a:effectLst/>
                <a:latin typeface="Consolas" panose="020B0609020204030204" pitchFamily="49" charset="0"/>
              </a:rPr>
              <a:t>(std::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std::</a:t>
            </a:r>
            <a:r>
              <a:rPr lang="en-US" sz="1400" b="0" dirty="0">
                <a:solidFill>
                  <a:srgbClr val="2B91AF"/>
                </a:solidFill>
                <a:effectLst/>
                <a:latin typeface="Consolas" panose="020B0609020204030204" pitchFamily="49" charset="0"/>
              </a:rPr>
              <a:t>vector</a:t>
            </a:r>
            <a:r>
              <a:rPr lang="en-US" sz="1400" b="0" dirty="0">
                <a:solidFill>
                  <a:srgbClr val="000000"/>
                </a:solidFill>
                <a:effectLst/>
                <a:latin typeface="Consolas" panose="020B0609020204030204" pitchFamily="49" charset="0"/>
              </a:rPr>
              <a:t>&lt;std::</a:t>
            </a:r>
            <a:r>
              <a:rPr lang="en-US" sz="1400" b="0" dirty="0" err="1">
                <a:solidFill>
                  <a:srgbClr val="2B91AF"/>
                </a:solidFill>
                <a:effectLst/>
                <a:latin typeface="Consolas" panose="020B0609020204030204" pitchFamily="49" charset="0"/>
              </a:rPr>
              <a:t>jthread</a:t>
            </a:r>
            <a:r>
              <a:rPr lang="en-US" sz="1400" b="0" dirty="0">
                <a:solidFill>
                  <a:srgbClr val="000000"/>
                </a:solidFill>
                <a:effectLst/>
                <a:latin typeface="Consolas" panose="020B0609020204030204" pitchFamily="49" charset="0"/>
              </a:rPr>
              <a:t>&gt; </a:t>
            </a:r>
            <a:r>
              <a:rPr lang="en-US" sz="1400" b="0" dirty="0">
                <a:solidFill>
                  <a:srgbClr val="1F377F"/>
                </a:solidFill>
                <a:effectLst/>
                <a:latin typeface="Consolas" panose="020B0609020204030204" pitchFamily="49" charset="0"/>
              </a:rPr>
              <a:t>workers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reserve</a:t>
            </a:r>
            <a:r>
              <a:rPr lang="en-US" sz="1400" b="0" dirty="0">
                <a:solidFill>
                  <a:srgbClr val="000000"/>
                </a:solidFill>
                <a:effectLst/>
                <a:latin typeface="Consolas" panose="020B0609020204030204" pitchFamily="49" charset="0"/>
              </a:rPr>
              <a:t>(</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blockSize</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err="1">
                <a:solidFill>
                  <a:srgbClr val="1F377F"/>
                </a:solidFill>
                <a:effectLst/>
                <a:latin typeface="Consolas" panose="020B0609020204030204" pitchFamily="49" charset="0"/>
              </a:rPr>
              <a:t>blockSize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 </a:t>
            </a:r>
            <a:r>
              <a:rPr lang="en-US" sz="1400" b="0" dirty="0">
                <a:solidFill>
                  <a:srgbClr val="808080"/>
                </a:solidFill>
                <a:effectLst/>
                <a:latin typeface="Consolas" panose="020B0609020204030204" pitchFamily="49" charset="0"/>
              </a:rPr>
              <a:t>threads</a:t>
            </a:r>
            <a:r>
              <a:rPr lang="en-US" sz="1400" b="0" dirty="0">
                <a:solidFill>
                  <a:srgbClr val="000000"/>
                </a:solidFill>
                <a:effectLst/>
                <a:latin typeface="Consolas" panose="020B0609020204030204" pitchFamily="49" charset="0"/>
              </a:rPr>
              <a:t>) ? </a:t>
            </a:r>
            <a:r>
              <a:rPr lang="en-US" sz="1400" b="0" dirty="0" err="1">
                <a:solidFill>
                  <a:srgbClr val="000000"/>
                </a:solidFill>
                <a:effectLst/>
                <a:latin typeface="Consolas" panose="020B0609020204030204" pitchFamily="49" charset="0"/>
              </a:rPr>
              <a:t>kIterations</a:t>
            </a:r>
            <a:r>
              <a:rPr lang="en-US" sz="1400" b="0" dirty="0">
                <a:solidFill>
                  <a:srgbClr val="000000"/>
                </a:solidFill>
                <a:effectLst/>
                <a:latin typeface="Consolas" panose="020B0609020204030204" pitchFamily="49" charset="0"/>
              </a:rPr>
              <a:t> :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 </a:t>
            </a:r>
            <a:r>
              <a:rPr lang="en-US" sz="1400" b="0" dirty="0" err="1">
                <a:solidFill>
                  <a:srgbClr val="1F377F"/>
                </a:solidFill>
                <a:effectLst/>
                <a:latin typeface="Consolas" panose="020B0609020204030204" pitchFamily="49" charset="0"/>
              </a:rPr>
              <a:t>blockSize</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workers</a:t>
            </a:r>
            <a:r>
              <a:rPr lang="en-US" sz="1400" b="0" dirty="0" err="1">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emplace_back</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 </a:t>
            </a:r>
            <a:r>
              <a:rPr lang="en-US" sz="1400" b="0" dirty="0">
                <a:solidFill>
                  <a:srgbClr val="74531F"/>
                </a:solidFill>
                <a:effectLst/>
                <a:latin typeface="Consolas" panose="020B0609020204030204" pitchFamily="49" charset="0"/>
              </a:rPr>
              <a:t>Worker</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begin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end</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buNone/>
            </a:pPr>
            <a:r>
              <a:rPr lang="en-US" sz="1400" b="0" dirty="0">
                <a:solidFill>
                  <a:srgbClr val="0000FF"/>
                </a:solidFill>
                <a:effectLst/>
                <a:latin typeface="Consolas" panose="020B0609020204030204" pitchFamily="49" charset="0"/>
              </a:rPr>
              <a:t>int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main</a:t>
            </a:r>
            <a:r>
              <a:rPr lang="en-US" sz="1400" b="0" dirty="0">
                <a:solidFill>
                  <a:srgbClr val="000000"/>
                </a:solidFill>
                <a:effectLst/>
                <a:latin typeface="Consolas" panose="020B0609020204030204" pitchFamily="49" charset="0"/>
              </a:rPr>
              <a:t>() {</a:t>
            </a:r>
          </a:p>
          <a:p>
            <a:pPr>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unsigned</a:t>
            </a:r>
            <a:r>
              <a:rPr lang="en-US" sz="1400" b="0" dirty="0">
                <a:solidFill>
                  <a:srgbClr val="000000"/>
                </a:solidFill>
                <a:effectLst/>
                <a:latin typeface="Consolas" panose="020B0609020204030204" pitchFamily="49" charset="0"/>
              </a:rPr>
              <a:t> </a:t>
            </a:r>
            <a:r>
              <a:rPr lang="en-US" sz="1400" b="0" dirty="0" err="1">
                <a:solidFill>
                  <a:srgbClr val="1F377F"/>
                </a:solidFill>
                <a:effectLst/>
                <a:latin typeface="Consolas" panose="020B0609020204030204" pitchFamily="49" charset="0"/>
              </a:rPr>
              <a:t>hw</a:t>
            </a:r>
            <a:r>
              <a:rPr lang="en-US" sz="1400" b="0" dirty="0">
                <a:solidFill>
                  <a:srgbClr val="000000"/>
                </a:solidFill>
                <a:effectLst/>
                <a:latin typeface="Consolas" panose="020B0609020204030204" pitchFamily="49" charset="0"/>
              </a:rPr>
              <a:t> = std::</a:t>
            </a:r>
            <a:r>
              <a:rPr lang="en-US" sz="1400" b="0" dirty="0">
                <a:solidFill>
                  <a:srgbClr val="2B91AF"/>
                </a:solidFill>
                <a:effectLst/>
                <a:latin typeface="Consolas" panose="020B0609020204030204" pitchFamily="49" charset="0"/>
              </a:rPr>
              <a:t>thread</a:t>
            </a:r>
            <a:r>
              <a:rPr lang="en-US" sz="1400" b="0" dirty="0">
                <a:solidFill>
                  <a:srgbClr val="000000"/>
                </a:solidFill>
                <a:effectLst/>
                <a:latin typeface="Consolas" panose="020B0609020204030204" pitchFamily="49" charset="0"/>
              </a:rPr>
              <a:t>::</a:t>
            </a:r>
            <a:r>
              <a:rPr lang="en-US" sz="1400" b="0" dirty="0" err="1">
                <a:solidFill>
                  <a:srgbClr val="74531F"/>
                </a:solidFill>
                <a:effectLst/>
                <a:latin typeface="Consolas" panose="020B0609020204030204" pitchFamily="49" charset="0"/>
              </a:rPr>
              <a:t>hardware_concurrency</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a:solidFill>
                  <a:srgbClr val="8F08C4"/>
                </a:solidFill>
                <a:effectLst/>
                <a:latin typeface="Consolas" panose="020B0609020204030204" pitchFamily="49" charset="0"/>
              </a:rPr>
              <a:t>for</a:t>
            </a:r>
            <a:r>
              <a:rPr lang="en-US" sz="1400" b="0" dirty="0">
                <a:solidFill>
                  <a:srgbClr val="000000"/>
                </a:solidFill>
                <a:effectLst/>
                <a:latin typeface="Consolas" panose="020B0609020204030204" pitchFamily="49" charset="0"/>
              </a:rPr>
              <a:t> (std::</a:t>
            </a:r>
            <a:r>
              <a:rPr lang="en-US" sz="1400" b="0" dirty="0" err="1">
                <a:solidFill>
                  <a:srgbClr val="2B91AF"/>
                </a:solidFill>
                <a:effectLst/>
                <a:latin typeface="Consolas" panose="020B0609020204030204" pitchFamily="49" charset="0"/>
              </a:rPr>
              <a:t>size_t</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1</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&lt;= </a:t>
            </a:r>
            <a:r>
              <a:rPr lang="en-US" sz="1400" b="0" dirty="0" err="1">
                <a:solidFill>
                  <a:srgbClr val="1F377F"/>
                </a:solidFill>
                <a:effectLst/>
                <a:latin typeface="Consolas" panose="020B0609020204030204" pitchFamily="49" charset="0"/>
              </a:rPr>
              <a:t>hw</a:t>
            </a: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2</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        </a:t>
            </a:r>
            <a:r>
              <a:rPr lang="en-US" sz="1400" b="0" dirty="0" err="1">
                <a:solidFill>
                  <a:srgbClr val="74531F"/>
                </a:solidFill>
                <a:effectLst/>
                <a:latin typeface="Consolas" panose="020B0609020204030204" pitchFamily="49" charset="0"/>
              </a:rPr>
              <a:t>MeasureTime</a:t>
            </a:r>
            <a:r>
              <a:rPr lang="en-US" sz="1400" b="0" dirty="0">
                <a:solidFill>
                  <a:srgbClr val="000000"/>
                </a:solidFill>
                <a:effectLst/>
                <a:latin typeface="Consolas" panose="020B0609020204030204" pitchFamily="49" charset="0"/>
              </a:rPr>
              <a:t>(std::</a:t>
            </a:r>
            <a:r>
              <a:rPr lang="en-US" sz="1400" b="0" dirty="0" err="1">
                <a:solidFill>
                  <a:srgbClr val="74531F"/>
                </a:solidFill>
                <a:effectLst/>
                <a:latin typeface="Consolas" panose="020B0609020204030204" pitchFamily="49" charset="0"/>
              </a:rPr>
              <a:t>to_string</a:t>
            </a:r>
            <a:r>
              <a:rPr lang="en-US" sz="1400" b="0" dirty="0">
                <a:solidFill>
                  <a:srgbClr val="000000"/>
                </a:solidFill>
                <a:effectLst/>
                <a:latin typeface="Consolas" panose="020B0609020204030204" pitchFamily="49" charset="0"/>
              </a:rPr>
              <a:t>(</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 + </a:t>
            </a:r>
            <a:r>
              <a:rPr lang="en-US" sz="1400" b="0" dirty="0">
                <a:solidFill>
                  <a:srgbClr val="E21F1F"/>
                </a:solidFill>
                <a:effectLst/>
                <a:latin typeface="Consolas" panose="020B0609020204030204" pitchFamily="49" charset="0"/>
              </a:rPr>
              <a:t>"</a:t>
            </a:r>
            <a:r>
              <a:rPr lang="en-US" sz="1400" b="0" dirty="0">
                <a:solidFill>
                  <a:srgbClr val="A31515"/>
                </a:solidFill>
                <a:effectLst/>
                <a:latin typeface="Consolas" panose="020B0609020204030204" pitchFamily="49" charset="0"/>
              </a:rPr>
              <a:t> thread(s)</a:t>
            </a:r>
            <a:r>
              <a:rPr lang="en-US" sz="1400" b="0" dirty="0">
                <a:solidFill>
                  <a:srgbClr val="E21F1F"/>
                </a:solidFill>
                <a:effectLst/>
                <a:latin typeface="Consolas" panose="020B0609020204030204" pitchFamily="49" charset="0"/>
              </a:rPr>
              <a:t>"</a:t>
            </a:r>
            <a:r>
              <a:rPr lang="en-US" sz="1400" b="0" dirty="0">
                <a:solidFill>
                  <a:srgbClr val="000000"/>
                </a:solidFill>
                <a:effectLst/>
                <a:latin typeface="Consolas" panose="020B0609020204030204" pitchFamily="49" charset="0"/>
              </a:rPr>
              <a:t>, </a:t>
            </a:r>
            <a:r>
              <a:rPr lang="en-US" sz="1400" b="0" dirty="0">
                <a:solidFill>
                  <a:srgbClr val="74531F"/>
                </a:solidFill>
                <a:effectLst/>
                <a:latin typeface="Consolas" panose="020B0609020204030204" pitchFamily="49" charset="0"/>
              </a:rPr>
              <a:t>Run</a:t>
            </a:r>
            <a:r>
              <a:rPr lang="en-US" sz="1400" b="0" dirty="0">
                <a:solidFill>
                  <a:srgbClr val="000000"/>
                </a:solidFill>
                <a:effectLst/>
                <a:latin typeface="Consolas" panose="020B0609020204030204" pitchFamily="49" charset="0"/>
              </a:rPr>
              <a:t>, </a:t>
            </a:r>
            <a:r>
              <a:rPr lang="en-US" sz="1400" b="0" dirty="0">
                <a:solidFill>
                  <a:srgbClr val="1F377F"/>
                </a:solidFill>
                <a:effectLst/>
                <a:latin typeface="Consolas" panose="020B0609020204030204" pitchFamily="49" charset="0"/>
              </a:rPr>
              <a:t>t</a:t>
            </a:r>
            <a:r>
              <a:rPr lang="en-US" sz="1400" b="0" dirty="0">
                <a:solidFill>
                  <a:srgbClr val="000000"/>
                </a:solidFill>
                <a:effectLst/>
                <a:latin typeface="Consolas" panose="020B0609020204030204" pitchFamily="49" charset="0"/>
              </a:rPr>
              <a:t>);</a:t>
            </a:r>
          </a:p>
          <a:p>
            <a:pPr>
              <a:buNone/>
            </a:pPr>
            <a:r>
              <a:rPr lang="en-US" sz="1400" b="0" dirty="0">
                <a:solidFill>
                  <a:srgbClr val="000000"/>
                </a:solidFill>
                <a:effectLst/>
                <a:latin typeface="Consolas" panose="020B0609020204030204" pitchFamily="49" charset="0"/>
              </a:rPr>
              <a:t>}</a:t>
            </a:r>
          </a:p>
        </p:txBody>
      </p:sp>
      <p:graphicFrame>
        <p:nvGraphicFramePr>
          <p:cNvPr id="7" name="Chart 6">
            <a:extLst>
              <a:ext uri="{FF2B5EF4-FFF2-40B4-BE49-F238E27FC236}">
                <a16:creationId xmlns:a16="http://schemas.microsoft.com/office/drawing/2014/main" id="{8F0451A0-91B9-EED7-D003-5D9A1E56B4FB}"/>
              </a:ext>
            </a:extLst>
          </p:cNvPr>
          <p:cNvGraphicFramePr>
            <a:graphicFrameLocks/>
          </p:cNvGraphicFramePr>
          <p:nvPr>
            <p:extLst>
              <p:ext uri="{D42A27DB-BD31-4B8C-83A1-F6EECF244321}">
                <p14:modId xmlns:p14="http://schemas.microsoft.com/office/powerpoint/2010/main" val="12952151"/>
              </p:ext>
            </p:extLst>
          </p:nvPr>
        </p:nvGraphicFramePr>
        <p:xfrm>
          <a:off x="7543800" y="147125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2967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985C04-74F3-BA8F-9AD8-EBD6579B18BF}"/>
              </a:ext>
            </a:extLst>
          </p:cNvPr>
          <p:cNvSpPr>
            <a:spLocks noGrp="1"/>
          </p:cNvSpPr>
          <p:nvPr>
            <p:ph type="title"/>
          </p:nvPr>
        </p:nvSpPr>
        <p:spPr/>
        <p:txBody>
          <a:bodyPr/>
          <a:lstStyle/>
          <a:p>
            <a:r>
              <a:rPr lang="ru-RU" dirty="0"/>
              <a:t>Итоги</a:t>
            </a:r>
            <a:endParaRPr lang="en-US" dirty="0"/>
          </a:p>
        </p:txBody>
      </p:sp>
      <p:sp>
        <p:nvSpPr>
          <p:cNvPr id="4" name="Content Placeholder 3">
            <a:extLst>
              <a:ext uri="{FF2B5EF4-FFF2-40B4-BE49-F238E27FC236}">
                <a16:creationId xmlns:a16="http://schemas.microsoft.com/office/drawing/2014/main" id="{DDB4D6D2-6765-731C-85C0-D9C6C88EA1A3}"/>
              </a:ext>
            </a:extLst>
          </p:cNvPr>
          <p:cNvSpPr>
            <a:spLocks noGrp="1"/>
          </p:cNvSpPr>
          <p:nvPr>
            <p:ph idx="1"/>
          </p:nvPr>
        </p:nvSpPr>
        <p:spPr/>
        <p:txBody>
          <a:bodyPr>
            <a:normAutofit fontScale="85000" lnSpcReduction="20000"/>
          </a:bodyPr>
          <a:lstStyle/>
          <a:p>
            <a:r>
              <a:rPr lang="ru-RU" dirty="0"/>
              <a:t>Параллельные алгоритмы C++ позволяют использовать </a:t>
            </a:r>
            <a:r>
              <a:rPr lang="ru-RU" dirty="0" err="1"/>
              <a:t>многоядерность</a:t>
            </a:r>
            <a:r>
              <a:rPr lang="ru-RU" dirty="0"/>
              <a:t> и SIMD</a:t>
            </a:r>
          </a:p>
          <a:p>
            <a:r>
              <a:rPr lang="ru-RU" dirty="0" err="1"/>
              <a:t>Execution</a:t>
            </a:r>
            <a:r>
              <a:rPr lang="ru-RU" dirty="0"/>
              <a:t> </a:t>
            </a:r>
            <a:r>
              <a:rPr lang="ru-RU" dirty="0" err="1"/>
              <a:t>policy</a:t>
            </a:r>
            <a:r>
              <a:rPr lang="ru-RU" dirty="0"/>
              <a:t> позволяет управлять стратегией выполнения алгоритмов</a:t>
            </a:r>
          </a:p>
          <a:p>
            <a:r>
              <a:rPr lang="ru-RU" dirty="0"/>
              <a:t>Производительность параллельных программ зависит от:</a:t>
            </a:r>
          </a:p>
          <a:p>
            <a:pPr lvl="1"/>
            <a:r>
              <a:rPr lang="ru-RU" dirty="0"/>
              <a:t>размера задачи</a:t>
            </a:r>
          </a:p>
          <a:p>
            <a:pPr lvl="1"/>
            <a:r>
              <a:rPr lang="ru-RU" dirty="0"/>
              <a:t>накладных расходов на распараллеливание</a:t>
            </a:r>
          </a:p>
          <a:p>
            <a:pPr lvl="1"/>
            <a:r>
              <a:rPr lang="ru-RU" dirty="0"/>
              <a:t>синхронизации и </a:t>
            </a:r>
            <a:r>
              <a:rPr lang="ru-RU" dirty="0" err="1"/>
              <a:t>contention</a:t>
            </a:r>
            <a:endParaRPr lang="ru-RU" dirty="0"/>
          </a:p>
          <a:p>
            <a:pPr lvl="1"/>
            <a:r>
              <a:rPr lang="ru-RU" dirty="0"/>
              <a:t>работы кешей и локальности данных</a:t>
            </a:r>
          </a:p>
          <a:p>
            <a:pPr lvl="1"/>
            <a:r>
              <a:rPr lang="ru-RU" dirty="0"/>
              <a:t>пропускной способности памяти</a:t>
            </a:r>
          </a:p>
          <a:p>
            <a:pPr lvl="1"/>
            <a:r>
              <a:rPr lang="ru-RU" dirty="0"/>
              <a:t>равномерности распределения нагрузки</a:t>
            </a:r>
          </a:p>
          <a:p>
            <a:pPr lvl="1"/>
            <a:r>
              <a:rPr lang="ru-RU" dirty="0"/>
              <a:t>количества потоков и архитектуры процессора</a:t>
            </a:r>
          </a:p>
          <a:p>
            <a:r>
              <a:rPr lang="ru-RU" dirty="0"/>
              <a:t>Эффективная параллельная программа требует понимания как алгоритмов, так и архитектуры компьютера.</a:t>
            </a:r>
          </a:p>
        </p:txBody>
      </p:sp>
    </p:spTree>
    <p:extLst>
      <p:ext uri="{BB962C8B-B14F-4D97-AF65-F5344CB8AC3E}">
        <p14:creationId xmlns:p14="http://schemas.microsoft.com/office/powerpoint/2010/main" val="6758116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7A5F2-8E48-CE68-098E-97BD444C1A13}"/>
              </a:ext>
            </a:extLst>
          </p:cNvPr>
          <p:cNvSpPr>
            <a:spLocks noGrp="1"/>
          </p:cNvSpPr>
          <p:nvPr>
            <p:ph type="title"/>
          </p:nvPr>
        </p:nvSpPr>
        <p:spPr/>
        <p:txBody>
          <a:bodyPr/>
          <a:lstStyle/>
          <a:p>
            <a:r>
              <a:rPr lang="ru-RU" dirty="0"/>
              <a:t>Список литературы</a:t>
            </a:r>
            <a:endParaRPr lang="en-US" dirty="0"/>
          </a:p>
        </p:txBody>
      </p:sp>
      <p:sp>
        <p:nvSpPr>
          <p:cNvPr id="3" name="Content Placeholder 2">
            <a:extLst>
              <a:ext uri="{FF2B5EF4-FFF2-40B4-BE49-F238E27FC236}">
                <a16:creationId xmlns:a16="http://schemas.microsoft.com/office/drawing/2014/main" id="{2C660341-E35E-08A7-47CB-C35363D0487F}"/>
              </a:ext>
            </a:extLst>
          </p:cNvPr>
          <p:cNvSpPr>
            <a:spLocks noGrp="1"/>
          </p:cNvSpPr>
          <p:nvPr>
            <p:ph idx="1"/>
          </p:nvPr>
        </p:nvSpPr>
        <p:spPr/>
        <p:txBody>
          <a:bodyPr>
            <a:normAutofit/>
          </a:bodyPr>
          <a:lstStyle/>
          <a:p>
            <a:r>
              <a:rPr lang="en-US" dirty="0"/>
              <a:t>Williams Anthony, “C++ Concurrency in Action, 2</a:t>
            </a:r>
            <a:r>
              <a:rPr lang="en-US" baseline="30000" dirty="0"/>
              <a:t>nd</a:t>
            </a:r>
            <a:r>
              <a:rPr lang="en-US" dirty="0"/>
              <a:t> Edition”</a:t>
            </a:r>
            <a:endParaRPr lang="ru-RU" dirty="0"/>
          </a:p>
          <a:p>
            <a:r>
              <a:rPr lang="en-US" dirty="0"/>
              <a:t>Maurice Herlihy, Nir Shavit “The Art of Multiprocessor Programming”</a:t>
            </a:r>
          </a:p>
          <a:p>
            <a:r>
              <a:rPr lang="en-US" dirty="0">
                <a:hlinkClick r:id="rId2"/>
              </a:rPr>
              <a:t>Execution policy</a:t>
            </a:r>
            <a:endParaRPr lang="en-US" dirty="0"/>
          </a:p>
          <a:p>
            <a:endParaRPr lang="en-US" dirty="0"/>
          </a:p>
        </p:txBody>
      </p:sp>
    </p:spTree>
    <p:extLst>
      <p:ext uri="{BB962C8B-B14F-4D97-AF65-F5344CB8AC3E}">
        <p14:creationId xmlns:p14="http://schemas.microsoft.com/office/powerpoint/2010/main" val="19691376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58A16-D3F9-CF1C-55F9-85E43B6F8704}"/>
              </a:ext>
            </a:extLst>
          </p:cNvPr>
          <p:cNvSpPr>
            <a:spLocks noGrp="1"/>
          </p:cNvSpPr>
          <p:nvPr>
            <p:ph type="title"/>
          </p:nvPr>
        </p:nvSpPr>
        <p:spPr/>
        <p:txBody>
          <a:bodyPr/>
          <a:lstStyle/>
          <a:p>
            <a:r>
              <a:rPr lang="ru-RU" dirty="0"/>
              <a:t>Вопросы</a:t>
            </a:r>
            <a:r>
              <a:rPr lang="en-US" dirty="0"/>
              <a:t>?</a:t>
            </a:r>
          </a:p>
        </p:txBody>
      </p:sp>
      <p:sp>
        <p:nvSpPr>
          <p:cNvPr id="3" name="Text Placeholder 2">
            <a:extLst>
              <a:ext uri="{FF2B5EF4-FFF2-40B4-BE49-F238E27FC236}">
                <a16:creationId xmlns:a16="http://schemas.microsoft.com/office/drawing/2014/main" id="{38A820E6-49CD-914B-5655-ECC3ECF465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82594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7882</TotalTime>
  <Words>11676</Words>
  <Application>Microsoft Office PowerPoint</Application>
  <PresentationFormat>Widescreen</PresentationFormat>
  <Paragraphs>1190</Paragraphs>
  <Slides>45</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Aptos Display</vt:lpstr>
      <vt:lpstr>Arial</vt:lpstr>
      <vt:lpstr>Cambria Math</vt:lpstr>
      <vt:lpstr>Consolas</vt:lpstr>
      <vt:lpstr>Office Theme</vt:lpstr>
      <vt:lpstr>Параллельные алгоритмы и оптимизация параллельных программ</vt:lpstr>
      <vt:lpstr>Параллельные алгоритмы и оптимизация параллельных программ</vt:lpstr>
      <vt:lpstr>Генерирование матрицы случайных чисел</vt:lpstr>
      <vt:lpstr>Execution policy (политика исполнения)</vt:lpstr>
      <vt:lpstr>Управление выполнением алгоритма</vt:lpstr>
      <vt:lpstr>Параллельная версия</vt:lpstr>
      <vt:lpstr>Доступные политики выполнения</vt:lpstr>
      <vt:lpstr>Особенности параллельных политик исполнения</vt:lpstr>
      <vt:lpstr>Особенности unseq и par_unseq</vt:lpstr>
      <vt:lpstr>PowerPoint Presentation</vt:lpstr>
      <vt:lpstr>Параллельность ≠ автоматическое ускорение</vt:lpstr>
      <vt:lpstr>Причины отсутствия ускорения</vt:lpstr>
      <vt:lpstr>Слишком маленькая задача</vt:lpstr>
      <vt:lpstr>Накладные расходы на распараллеливание</vt:lpstr>
      <vt:lpstr>Contention на мьютексе</vt:lpstr>
      <vt:lpstr>Atomic Contention</vt:lpstr>
      <vt:lpstr>Алгоритм reduce</vt:lpstr>
      <vt:lpstr>Устраняем contention с reduce</vt:lpstr>
      <vt:lpstr>Принцип работы reduce</vt:lpstr>
      <vt:lpstr>Алгоритм transform_reduce</vt:lpstr>
      <vt:lpstr>Принцип работы reduce</vt:lpstr>
      <vt:lpstr>Скалярное произведение векторов типа double</vt:lpstr>
      <vt:lpstr>Скалярное произведение векторов типа uint32_t</vt:lpstr>
      <vt:lpstr>Иерархия памяти</vt:lpstr>
      <vt:lpstr>Иерархия памяти процессора</vt:lpstr>
      <vt:lpstr>Cache hit и cache miss</vt:lpstr>
      <vt:lpstr>Пространственная и временная локальность</vt:lpstr>
      <vt:lpstr>Обработка матрицы по строкам и столбцам</vt:lpstr>
      <vt:lpstr>Кеш-линии (Cache Lines)</vt:lpstr>
      <vt:lpstr>Последовательный и случайный доступ внутри одной кеш-линии</vt:lpstr>
      <vt:lpstr>Последовательный и случайный доступ в большом массиве</vt:lpstr>
      <vt:lpstr>Кеш и параллельные программы</vt:lpstr>
      <vt:lpstr>Битва за L3 кеш</vt:lpstr>
      <vt:lpstr>Замеры времени работы</vt:lpstr>
      <vt:lpstr>False Sharing</vt:lpstr>
      <vt:lpstr>Иллюстрация False Sharing</vt:lpstr>
      <vt:lpstr>Устраняем False Sharing</vt:lpstr>
      <vt:lpstr>Дисбаланс нагрузки</vt:lpstr>
      <vt:lpstr>Перебор простых чисел</vt:lpstr>
      <vt:lpstr>Параллельный подсчёт простых чисел</vt:lpstr>
      <vt:lpstr>Oversubscription (избыточное число потоков)</vt:lpstr>
      <vt:lpstr>Пример oversubscription</vt:lpstr>
      <vt:lpstr>Итоги</vt:lpstr>
      <vt:lpstr>Список литературы</vt:lpstr>
      <vt:lpstr>Вопросы?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Алексей Малов</cp:lastModifiedBy>
  <cp:revision>239</cp:revision>
  <dcterms:created xsi:type="dcterms:W3CDTF">2025-02-03T14:52:05Z</dcterms:created>
  <dcterms:modified xsi:type="dcterms:W3CDTF">2026-04-11T01:45:02Z</dcterms:modified>
</cp:coreProperties>
</file>