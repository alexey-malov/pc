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sldIdLst>
    <p:sldId id="257" r:id="rId2"/>
    <p:sldId id="287" r:id="rId3"/>
    <p:sldId id="288" r:id="rId4"/>
    <p:sldId id="289" r:id="rId5"/>
    <p:sldId id="304" r:id="rId6"/>
    <p:sldId id="290" r:id="rId7"/>
    <p:sldId id="292" r:id="rId8"/>
    <p:sldId id="293" r:id="rId9"/>
    <p:sldId id="294" r:id="rId10"/>
    <p:sldId id="291" r:id="rId11"/>
    <p:sldId id="295" r:id="rId12"/>
    <p:sldId id="296" r:id="rId13"/>
    <p:sldId id="297" r:id="rId14"/>
    <p:sldId id="298" r:id="rId15"/>
    <p:sldId id="299" r:id="rId16"/>
    <p:sldId id="302" r:id="rId17"/>
    <p:sldId id="303" r:id="rId18"/>
    <p:sldId id="310" r:id="rId19"/>
    <p:sldId id="301" r:id="rId20"/>
    <p:sldId id="331" r:id="rId21"/>
    <p:sldId id="309" r:id="rId22"/>
    <p:sldId id="300" r:id="rId23"/>
    <p:sldId id="305" r:id="rId24"/>
    <p:sldId id="306" r:id="rId25"/>
    <p:sldId id="307" r:id="rId26"/>
    <p:sldId id="308" r:id="rId27"/>
    <p:sldId id="311" r:id="rId28"/>
    <p:sldId id="332" r:id="rId29"/>
    <p:sldId id="333" r:id="rId30"/>
    <p:sldId id="334" r:id="rId31"/>
    <p:sldId id="335" r:id="rId32"/>
    <p:sldId id="313" r:id="rId33"/>
    <p:sldId id="336" r:id="rId34"/>
    <p:sldId id="337" r:id="rId35"/>
    <p:sldId id="338" r:id="rId36"/>
    <p:sldId id="339" r:id="rId37"/>
    <p:sldId id="315" r:id="rId38"/>
    <p:sldId id="329" r:id="rId39"/>
    <p:sldId id="316" r:id="rId40"/>
    <p:sldId id="328" r:id="rId41"/>
    <p:sldId id="317" r:id="rId42"/>
    <p:sldId id="340" r:id="rId43"/>
    <p:sldId id="318" r:id="rId44"/>
    <p:sldId id="341" r:id="rId45"/>
    <p:sldId id="325" r:id="rId46"/>
    <p:sldId id="319" r:id="rId47"/>
    <p:sldId id="330" r:id="rId48"/>
    <p:sldId id="320" r:id="rId49"/>
    <p:sldId id="321" r:id="rId50"/>
    <p:sldId id="322" r:id="rId51"/>
    <p:sldId id="323" r:id="rId52"/>
    <p:sldId id="324" r:id="rId53"/>
    <p:sldId id="326" r:id="rId54"/>
    <p:sldId id="327" r:id="rId55"/>
    <p:sldId id="286" r:id="rId56"/>
    <p:sldId id="28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57"/>
            <p14:sldId id="287"/>
            <p14:sldId id="288"/>
            <p14:sldId id="289"/>
          </p14:sldIdLst>
        </p14:section>
        <p14:section name="Condition variable" id="{53FE4CF1-EC52-49CE-AA2B-DB5CEE0D8D7E}">
          <p14:sldIdLst>
            <p14:sldId id="304"/>
            <p14:sldId id="290"/>
            <p14:sldId id="292"/>
            <p14:sldId id="293"/>
            <p14:sldId id="294"/>
            <p14:sldId id="291"/>
            <p14:sldId id="295"/>
            <p14:sldId id="296"/>
            <p14:sldId id="297"/>
          </p14:sldIdLst>
        </p14:section>
        <p14:section name="std::latch" id="{ED4A5D61-0312-4FF0-8B18-DA0A621E8F37}">
          <p14:sldIdLst>
            <p14:sldId id="298"/>
            <p14:sldId id="299"/>
            <p14:sldId id="302"/>
            <p14:sldId id="303"/>
            <p14:sldId id="310"/>
            <p14:sldId id="301"/>
            <p14:sldId id="331"/>
            <p14:sldId id="309"/>
          </p14:sldIdLst>
        </p14:section>
        <p14:section name="Stop threads" id="{D8C58052-CBC0-460D-A41B-DB802AD5BE53}">
          <p14:sldIdLst>
            <p14:sldId id="300"/>
            <p14:sldId id="305"/>
            <p14:sldId id="306"/>
            <p14:sldId id="307"/>
            <p14:sldId id="308"/>
            <p14:sldId id="311"/>
            <p14:sldId id="332"/>
            <p14:sldId id="333"/>
            <p14:sldId id="334"/>
            <p14:sldId id="335"/>
            <p14:sldId id="313"/>
            <p14:sldId id="336"/>
            <p14:sldId id="337"/>
            <p14:sldId id="338"/>
            <p14:sldId id="339"/>
            <p14:sldId id="315"/>
            <p14:sldId id="329"/>
            <p14:sldId id="316"/>
            <p14:sldId id="328"/>
            <p14:sldId id="317"/>
            <p14:sldId id="340"/>
            <p14:sldId id="318"/>
            <p14:sldId id="341"/>
            <p14:sldId id="325"/>
            <p14:sldId id="319"/>
            <p14:sldId id="330"/>
            <p14:sldId id="320"/>
            <p14:sldId id="321"/>
            <p14:sldId id="322"/>
            <p14:sldId id="323"/>
            <p14:sldId id="324"/>
            <p14:sldId id="326"/>
            <p14:sldId id="327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387" autoAdjust="0"/>
  </p:normalViewPr>
  <p:slideViewPr>
    <p:cSldViewPr snapToGrid="0" showGuides="1">
      <p:cViewPr varScale="1">
        <p:scale>
          <a:sx n="83" d="100"/>
          <a:sy n="83" d="100"/>
        </p:scale>
        <p:origin x="666" y="90"/>
      </p:cViewPr>
      <p:guideLst>
        <p:guide orient="horz" pos="2228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51015F-5479-47AA-B4E2-D75A2A64CC8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3DBCC9-B4A7-40BB-8CA2-E03365135F68}">
      <dgm:prSet phldrT="[Text]" phldr="0"/>
      <dgm:spPr/>
      <dgm:t>
        <a:bodyPr/>
        <a:lstStyle/>
        <a:p>
          <a:r>
            <a:rPr lang="ru-RU" dirty="0"/>
            <a:t>Рабочий поток</a:t>
          </a:r>
          <a:endParaRPr lang="en-US" dirty="0"/>
        </a:p>
      </dgm:t>
    </dgm:pt>
    <dgm:pt modelId="{F49FF289-18AA-4B23-9C24-2884090B634C}" type="parTrans" cxnId="{3636C758-922B-43B4-963B-41742C492BED}">
      <dgm:prSet/>
      <dgm:spPr/>
      <dgm:t>
        <a:bodyPr/>
        <a:lstStyle/>
        <a:p>
          <a:endParaRPr lang="en-US"/>
        </a:p>
      </dgm:t>
    </dgm:pt>
    <dgm:pt modelId="{BE87634F-465F-4C49-86C1-717DBB92CB02}" type="sibTrans" cxnId="{3636C758-922B-43B4-963B-41742C492BED}">
      <dgm:prSet/>
      <dgm:spPr/>
      <dgm:t>
        <a:bodyPr/>
        <a:lstStyle/>
        <a:p>
          <a:endParaRPr lang="en-US"/>
        </a:p>
      </dgm:t>
    </dgm:pt>
    <dgm:pt modelId="{9CBF895A-6D7A-4F91-9BC3-8851CD06252B}">
      <dgm:prSet phldrT="[Text]" phldr="0"/>
      <dgm:spPr/>
      <dgm:t>
        <a:bodyPr/>
        <a:lstStyle/>
        <a:p>
          <a:r>
            <a:rPr lang="ru-RU" dirty="0"/>
            <a:t>Выполняет несколько шагов</a:t>
          </a:r>
          <a:endParaRPr lang="en-US" dirty="0"/>
        </a:p>
      </dgm:t>
    </dgm:pt>
    <dgm:pt modelId="{E0195B19-C1C2-4353-B3C9-5B1357E0049C}" type="parTrans" cxnId="{C93818B1-5536-42F1-8DC7-DC5C145C9832}">
      <dgm:prSet/>
      <dgm:spPr/>
      <dgm:t>
        <a:bodyPr/>
        <a:lstStyle/>
        <a:p>
          <a:endParaRPr lang="en-US"/>
        </a:p>
      </dgm:t>
    </dgm:pt>
    <dgm:pt modelId="{8248BCC0-04E6-4C6A-8EB9-2CFEB74BAE7F}" type="sibTrans" cxnId="{C93818B1-5536-42F1-8DC7-DC5C145C9832}">
      <dgm:prSet/>
      <dgm:spPr/>
      <dgm:t>
        <a:bodyPr/>
        <a:lstStyle/>
        <a:p>
          <a:endParaRPr lang="en-US"/>
        </a:p>
      </dgm:t>
    </dgm:pt>
    <dgm:pt modelId="{6B8937CB-13F4-4C14-9F02-2FFBC7E01FD2}">
      <dgm:prSet phldrT="[Text]" phldr="0"/>
      <dgm:spPr/>
      <dgm:t>
        <a:bodyPr/>
        <a:lstStyle/>
        <a:p>
          <a:r>
            <a:rPr lang="ru-RU" dirty="0"/>
            <a:t>Успех </a:t>
          </a:r>
          <a:r>
            <a:rPr lang="en-US" dirty="0"/>
            <a:t>→</a:t>
          </a:r>
          <a:r>
            <a:rPr lang="ru-RU" dirty="0"/>
            <a:t> результат</a:t>
          </a:r>
          <a:endParaRPr lang="en-US" dirty="0"/>
        </a:p>
      </dgm:t>
    </dgm:pt>
    <dgm:pt modelId="{853641EF-7CEC-4BBF-B1DB-5E6D6DB4135B}" type="parTrans" cxnId="{0EC583B5-AC8A-4022-943F-BB579C63815A}">
      <dgm:prSet/>
      <dgm:spPr/>
      <dgm:t>
        <a:bodyPr/>
        <a:lstStyle/>
        <a:p>
          <a:endParaRPr lang="en-US"/>
        </a:p>
      </dgm:t>
    </dgm:pt>
    <dgm:pt modelId="{CC8E7BDD-2A12-47B3-BDCC-A0DDFB4B86F4}" type="sibTrans" cxnId="{0EC583B5-AC8A-4022-943F-BB579C63815A}">
      <dgm:prSet/>
      <dgm:spPr/>
      <dgm:t>
        <a:bodyPr/>
        <a:lstStyle/>
        <a:p>
          <a:endParaRPr lang="en-US"/>
        </a:p>
      </dgm:t>
    </dgm:pt>
    <dgm:pt modelId="{C9F3DB3A-A269-499F-BA51-B85AB0BC57EB}">
      <dgm:prSet phldrT="[Text]" phldr="0"/>
      <dgm:spPr/>
      <dgm:t>
        <a:bodyPr/>
        <a:lstStyle/>
        <a:p>
          <a:r>
            <a:rPr lang="ru-RU" dirty="0"/>
            <a:t>Ошибка</a:t>
          </a:r>
          <a:r>
            <a:rPr lang="en-US" dirty="0"/>
            <a:t>→</a:t>
          </a:r>
          <a:r>
            <a:rPr lang="ru-RU" dirty="0"/>
            <a:t>исключение</a:t>
          </a:r>
          <a:endParaRPr lang="en-US" dirty="0"/>
        </a:p>
      </dgm:t>
    </dgm:pt>
    <dgm:pt modelId="{DB92B415-D2EF-42F4-AEC6-192125AD8769}" type="parTrans" cxnId="{00FB837E-6F24-4A1C-A1FD-471B8D341BB6}">
      <dgm:prSet/>
      <dgm:spPr/>
      <dgm:t>
        <a:bodyPr/>
        <a:lstStyle/>
        <a:p>
          <a:endParaRPr lang="en-US"/>
        </a:p>
      </dgm:t>
    </dgm:pt>
    <dgm:pt modelId="{F4E37F2E-30CC-4F80-A181-B4D033B86EC1}" type="sibTrans" cxnId="{00FB837E-6F24-4A1C-A1FD-471B8D341BB6}">
      <dgm:prSet/>
      <dgm:spPr/>
      <dgm:t>
        <a:bodyPr/>
        <a:lstStyle/>
        <a:p>
          <a:endParaRPr lang="en-US"/>
        </a:p>
      </dgm:t>
    </dgm:pt>
    <dgm:pt modelId="{CBD3271F-C6A4-4D38-8AD3-FB3A3877B3A9}" type="pres">
      <dgm:prSet presAssocID="{6A51015F-5479-47AA-B4E2-D75A2A64CC83}" presName="vert0" presStyleCnt="0">
        <dgm:presLayoutVars>
          <dgm:dir/>
          <dgm:animOne val="branch"/>
          <dgm:animLvl val="lvl"/>
        </dgm:presLayoutVars>
      </dgm:prSet>
      <dgm:spPr/>
    </dgm:pt>
    <dgm:pt modelId="{49E8A2BD-B86E-4516-A9F1-C3481A3A14AC}" type="pres">
      <dgm:prSet presAssocID="{473DBCC9-B4A7-40BB-8CA2-E03365135F68}" presName="thickLine" presStyleLbl="alignNode1" presStyleIdx="0" presStyleCnt="1"/>
      <dgm:spPr/>
    </dgm:pt>
    <dgm:pt modelId="{2DD4FA21-A495-4D8A-85BD-1BEADD50E9FC}" type="pres">
      <dgm:prSet presAssocID="{473DBCC9-B4A7-40BB-8CA2-E03365135F68}" presName="horz1" presStyleCnt="0"/>
      <dgm:spPr/>
    </dgm:pt>
    <dgm:pt modelId="{5BEF094B-5915-417A-B4D4-C7517D9D9C00}" type="pres">
      <dgm:prSet presAssocID="{473DBCC9-B4A7-40BB-8CA2-E03365135F68}" presName="tx1" presStyleLbl="revTx" presStyleIdx="0" presStyleCnt="4"/>
      <dgm:spPr/>
    </dgm:pt>
    <dgm:pt modelId="{3B42A49E-FD03-4B9E-8508-E68C0A7AAB11}" type="pres">
      <dgm:prSet presAssocID="{473DBCC9-B4A7-40BB-8CA2-E03365135F68}" presName="vert1" presStyleCnt="0"/>
      <dgm:spPr/>
    </dgm:pt>
    <dgm:pt modelId="{A405CCA3-98BD-42B0-9365-1997BF14F754}" type="pres">
      <dgm:prSet presAssocID="{9CBF895A-6D7A-4F91-9BC3-8851CD06252B}" presName="vertSpace2a" presStyleCnt="0"/>
      <dgm:spPr/>
    </dgm:pt>
    <dgm:pt modelId="{C610AD8D-1EB7-410B-9B09-A3FC5F6F32AD}" type="pres">
      <dgm:prSet presAssocID="{9CBF895A-6D7A-4F91-9BC3-8851CD06252B}" presName="horz2" presStyleCnt="0"/>
      <dgm:spPr/>
    </dgm:pt>
    <dgm:pt modelId="{44588FC6-CFB9-41E9-8C15-959C7DC5F288}" type="pres">
      <dgm:prSet presAssocID="{9CBF895A-6D7A-4F91-9BC3-8851CD06252B}" presName="horzSpace2" presStyleCnt="0"/>
      <dgm:spPr/>
    </dgm:pt>
    <dgm:pt modelId="{965E9FAD-943D-4858-8B64-8F4D38727DC7}" type="pres">
      <dgm:prSet presAssocID="{9CBF895A-6D7A-4F91-9BC3-8851CD06252B}" presName="tx2" presStyleLbl="revTx" presStyleIdx="1" presStyleCnt="4"/>
      <dgm:spPr/>
    </dgm:pt>
    <dgm:pt modelId="{C0C6D17F-94AB-420B-A037-B2E08BB839EF}" type="pres">
      <dgm:prSet presAssocID="{9CBF895A-6D7A-4F91-9BC3-8851CD06252B}" presName="vert2" presStyleCnt="0"/>
      <dgm:spPr/>
    </dgm:pt>
    <dgm:pt modelId="{9D3C6740-BB7C-4F30-9385-DBEF299BEDED}" type="pres">
      <dgm:prSet presAssocID="{9CBF895A-6D7A-4F91-9BC3-8851CD06252B}" presName="thinLine2b" presStyleLbl="callout" presStyleIdx="0" presStyleCnt="3"/>
      <dgm:spPr/>
    </dgm:pt>
    <dgm:pt modelId="{55D69DC8-E9A5-4FE5-81BB-2CA60D99C454}" type="pres">
      <dgm:prSet presAssocID="{9CBF895A-6D7A-4F91-9BC3-8851CD06252B}" presName="vertSpace2b" presStyleCnt="0"/>
      <dgm:spPr/>
    </dgm:pt>
    <dgm:pt modelId="{112AC2CA-5FC6-4139-AA3C-0DE5BA917C72}" type="pres">
      <dgm:prSet presAssocID="{6B8937CB-13F4-4C14-9F02-2FFBC7E01FD2}" presName="horz2" presStyleCnt="0"/>
      <dgm:spPr/>
    </dgm:pt>
    <dgm:pt modelId="{61545BDC-9061-4841-B295-E34C50A00198}" type="pres">
      <dgm:prSet presAssocID="{6B8937CB-13F4-4C14-9F02-2FFBC7E01FD2}" presName="horzSpace2" presStyleCnt="0"/>
      <dgm:spPr/>
    </dgm:pt>
    <dgm:pt modelId="{40235D76-479F-4FF4-9E52-B08B1C46B00B}" type="pres">
      <dgm:prSet presAssocID="{6B8937CB-13F4-4C14-9F02-2FFBC7E01FD2}" presName="tx2" presStyleLbl="revTx" presStyleIdx="2" presStyleCnt="4"/>
      <dgm:spPr/>
    </dgm:pt>
    <dgm:pt modelId="{77B9F6C2-7701-47BA-9DEE-C075D48B1DFB}" type="pres">
      <dgm:prSet presAssocID="{6B8937CB-13F4-4C14-9F02-2FFBC7E01FD2}" presName="vert2" presStyleCnt="0"/>
      <dgm:spPr/>
    </dgm:pt>
    <dgm:pt modelId="{38D1ACF3-6DA8-4B04-B6B7-7E5F47FDA3A7}" type="pres">
      <dgm:prSet presAssocID="{6B8937CB-13F4-4C14-9F02-2FFBC7E01FD2}" presName="thinLine2b" presStyleLbl="callout" presStyleIdx="1" presStyleCnt="3"/>
      <dgm:spPr/>
    </dgm:pt>
    <dgm:pt modelId="{6F9E62CA-4D84-4B73-BD36-9F67AF3C46C2}" type="pres">
      <dgm:prSet presAssocID="{6B8937CB-13F4-4C14-9F02-2FFBC7E01FD2}" presName="vertSpace2b" presStyleCnt="0"/>
      <dgm:spPr/>
    </dgm:pt>
    <dgm:pt modelId="{B58A9EBC-D19E-4460-99DF-62DB855DD114}" type="pres">
      <dgm:prSet presAssocID="{C9F3DB3A-A269-499F-BA51-B85AB0BC57EB}" presName="horz2" presStyleCnt="0"/>
      <dgm:spPr/>
    </dgm:pt>
    <dgm:pt modelId="{7BC4E753-5CA0-4A57-90F2-A182DAF6BEDA}" type="pres">
      <dgm:prSet presAssocID="{C9F3DB3A-A269-499F-BA51-B85AB0BC57EB}" presName="horzSpace2" presStyleCnt="0"/>
      <dgm:spPr/>
    </dgm:pt>
    <dgm:pt modelId="{0870FD21-7EBA-4A66-95B8-2D894486FFBE}" type="pres">
      <dgm:prSet presAssocID="{C9F3DB3A-A269-499F-BA51-B85AB0BC57EB}" presName="tx2" presStyleLbl="revTx" presStyleIdx="3" presStyleCnt="4"/>
      <dgm:spPr/>
    </dgm:pt>
    <dgm:pt modelId="{C6BB1FBC-C112-4683-B09E-1877A86BF7B8}" type="pres">
      <dgm:prSet presAssocID="{C9F3DB3A-A269-499F-BA51-B85AB0BC57EB}" presName="vert2" presStyleCnt="0"/>
      <dgm:spPr/>
    </dgm:pt>
    <dgm:pt modelId="{D768B4FD-B7A4-45A2-BD41-BD1C2E92A7DA}" type="pres">
      <dgm:prSet presAssocID="{C9F3DB3A-A269-499F-BA51-B85AB0BC57EB}" presName="thinLine2b" presStyleLbl="callout" presStyleIdx="2" presStyleCnt="3"/>
      <dgm:spPr/>
    </dgm:pt>
    <dgm:pt modelId="{C07F7005-7B5F-461E-B8E4-72EF88D706FA}" type="pres">
      <dgm:prSet presAssocID="{C9F3DB3A-A269-499F-BA51-B85AB0BC57EB}" presName="vertSpace2b" presStyleCnt="0"/>
      <dgm:spPr/>
    </dgm:pt>
  </dgm:ptLst>
  <dgm:cxnLst>
    <dgm:cxn modelId="{50A5BC01-217F-471A-AEB3-E9AF7BE286A1}" type="presOf" srcId="{473DBCC9-B4A7-40BB-8CA2-E03365135F68}" destId="{5BEF094B-5915-417A-B4D4-C7517D9D9C00}" srcOrd="0" destOrd="0" presId="urn:microsoft.com/office/officeart/2008/layout/LinedList"/>
    <dgm:cxn modelId="{DB9D2916-5B0E-4D0D-A5DA-EA31612EF6B2}" type="presOf" srcId="{6A51015F-5479-47AA-B4E2-D75A2A64CC83}" destId="{CBD3271F-C6A4-4D38-8AD3-FB3A3877B3A9}" srcOrd="0" destOrd="0" presId="urn:microsoft.com/office/officeart/2008/layout/LinedList"/>
    <dgm:cxn modelId="{3636C758-922B-43B4-963B-41742C492BED}" srcId="{6A51015F-5479-47AA-B4E2-D75A2A64CC83}" destId="{473DBCC9-B4A7-40BB-8CA2-E03365135F68}" srcOrd="0" destOrd="0" parTransId="{F49FF289-18AA-4B23-9C24-2884090B634C}" sibTransId="{BE87634F-465F-4C49-86C1-717DBB92CB02}"/>
    <dgm:cxn modelId="{00FB837E-6F24-4A1C-A1FD-471B8D341BB6}" srcId="{473DBCC9-B4A7-40BB-8CA2-E03365135F68}" destId="{C9F3DB3A-A269-499F-BA51-B85AB0BC57EB}" srcOrd="2" destOrd="0" parTransId="{DB92B415-D2EF-42F4-AEC6-192125AD8769}" sibTransId="{F4E37F2E-30CC-4F80-A181-B4D033B86EC1}"/>
    <dgm:cxn modelId="{A1649788-EAE2-42B0-9460-B2852E4B5C7B}" type="presOf" srcId="{9CBF895A-6D7A-4F91-9BC3-8851CD06252B}" destId="{965E9FAD-943D-4858-8B64-8F4D38727DC7}" srcOrd="0" destOrd="0" presId="urn:microsoft.com/office/officeart/2008/layout/LinedList"/>
    <dgm:cxn modelId="{C93818B1-5536-42F1-8DC7-DC5C145C9832}" srcId="{473DBCC9-B4A7-40BB-8CA2-E03365135F68}" destId="{9CBF895A-6D7A-4F91-9BC3-8851CD06252B}" srcOrd="0" destOrd="0" parTransId="{E0195B19-C1C2-4353-B3C9-5B1357E0049C}" sibTransId="{8248BCC0-04E6-4C6A-8EB9-2CFEB74BAE7F}"/>
    <dgm:cxn modelId="{0EC583B5-AC8A-4022-943F-BB579C63815A}" srcId="{473DBCC9-B4A7-40BB-8CA2-E03365135F68}" destId="{6B8937CB-13F4-4C14-9F02-2FFBC7E01FD2}" srcOrd="1" destOrd="0" parTransId="{853641EF-7CEC-4BBF-B1DB-5E6D6DB4135B}" sibTransId="{CC8E7BDD-2A12-47B3-BDCC-A0DDFB4B86F4}"/>
    <dgm:cxn modelId="{AD55D3D7-486C-4F8A-B7E9-C14411C0EA6A}" type="presOf" srcId="{6B8937CB-13F4-4C14-9F02-2FFBC7E01FD2}" destId="{40235D76-479F-4FF4-9E52-B08B1C46B00B}" srcOrd="0" destOrd="0" presId="urn:microsoft.com/office/officeart/2008/layout/LinedList"/>
    <dgm:cxn modelId="{6A2387F9-4EAD-484C-A9E7-671ED7FEC4D6}" type="presOf" srcId="{C9F3DB3A-A269-499F-BA51-B85AB0BC57EB}" destId="{0870FD21-7EBA-4A66-95B8-2D894486FFBE}" srcOrd="0" destOrd="0" presId="urn:microsoft.com/office/officeart/2008/layout/LinedList"/>
    <dgm:cxn modelId="{817E1794-4D8C-4CC5-B462-47BD1F388EDE}" type="presParOf" srcId="{CBD3271F-C6A4-4D38-8AD3-FB3A3877B3A9}" destId="{49E8A2BD-B86E-4516-A9F1-C3481A3A14AC}" srcOrd="0" destOrd="0" presId="urn:microsoft.com/office/officeart/2008/layout/LinedList"/>
    <dgm:cxn modelId="{D358BE67-ED6F-45F7-BDA3-25B3C9E4F2C8}" type="presParOf" srcId="{CBD3271F-C6A4-4D38-8AD3-FB3A3877B3A9}" destId="{2DD4FA21-A495-4D8A-85BD-1BEADD50E9FC}" srcOrd="1" destOrd="0" presId="urn:microsoft.com/office/officeart/2008/layout/LinedList"/>
    <dgm:cxn modelId="{944D11DE-0840-4C8D-AAB1-A6C6584CA8D5}" type="presParOf" srcId="{2DD4FA21-A495-4D8A-85BD-1BEADD50E9FC}" destId="{5BEF094B-5915-417A-B4D4-C7517D9D9C00}" srcOrd="0" destOrd="0" presId="urn:microsoft.com/office/officeart/2008/layout/LinedList"/>
    <dgm:cxn modelId="{19B2230B-D65C-4463-88BA-0DBA6853D424}" type="presParOf" srcId="{2DD4FA21-A495-4D8A-85BD-1BEADD50E9FC}" destId="{3B42A49E-FD03-4B9E-8508-E68C0A7AAB11}" srcOrd="1" destOrd="0" presId="urn:microsoft.com/office/officeart/2008/layout/LinedList"/>
    <dgm:cxn modelId="{7976B614-6B95-4D73-9D7F-E8BE63BE60D6}" type="presParOf" srcId="{3B42A49E-FD03-4B9E-8508-E68C0A7AAB11}" destId="{A405CCA3-98BD-42B0-9365-1997BF14F754}" srcOrd="0" destOrd="0" presId="urn:microsoft.com/office/officeart/2008/layout/LinedList"/>
    <dgm:cxn modelId="{C3433175-AECE-4B14-875E-30CF48133428}" type="presParOf" srcId="{3B42A49E-FD03-4B9E-8508-E68C0A7AAB11}" destId="{C610AD8D-1EB7-410B-9B09-A3FC5F6F32AD}" srcOrd="1" destOrd="0" presId="urn:microsoft.com/office/officeart/2008/layout/LinedList"/>
    <dgm:cxn modelId="{C4914425-3571-4FB4-8CF3-741C02FF299A}" type="presParOf" srcId="{C610AD8D-1EB7-410B-9B09-A3FC5F6F32AD}" destId="{44588FC6-CFB9-41E9-8C15-959C7DC5F288}" srcOrd="0" destOrd="0" presId="urn:microsoft.com/office/officeart/2008/layout/LinedList"/>
    <dgm:cxn modelId="{E4D79510-7853-4C57-9A9A-F95238424768}" type="presParOf" srcId="{C610AD8D-1EB7-410B-9B09-A3FC5F6F32AD}" destId="{965E9FAD-943D-4858-8B64-8F4D38727DC7}" srcOrd="1" destOrd="0" presId="urn:microsoft.com/office/officeart/2008/layout/LinedList"/>
    <dgm:cxn modelId="{16BF5789-C378-40C4-AC0E-A22DE25B0550}" type="presParOf" srcId="{C610AD8D-1EB7-410B-9B09-A3FC5F6F32AD}" destId="{C0C6D17F-94AB-420B-A037-B2E08BB839EF}" srcOrd="2" destOrd="0" presId="urn:microsoft.com/office/officeart/2008/layout/LinedList"/>
    <dgm:cxn modelId="{3861008C-9153-4C9F-9DC4-7731293F6A74}" type="presParOf" srcId="{3B42A49E-FD03-4B9E-8508-E68C0A7AAB11}" destId="{9D3C6740-BB7C-4F30-9385-DBEF299BEDED}" srcOrd="2" destOrd="0" presId="urn:microsoft.com/office/officeart/2008/layout/LinedList"/>
    <dgm:cxn modelId="{AC9336BF-9DDF-47FD-A820-1C15BA3B8BDB}" type="presParOf" srcId="{3B42A49E-FD03-4B9E-8508-E68C0A7AAB11}" destId="{55D69DC8-E9A5-4FE5-81BB-2CA60D99C454}" srcOrd="3" destOrd="0" presId="urn:microsoft.com/office/officeart/2008/layout/LinedList"/>
    <dgm:cxn modelId="{333CEB83-A44A-43B7-9279-62465D29AA47}" type="presParOf" srcId="{3B42A49E-FD03-4B9E-8508-E68C0A7AAB11}" destId="{112AC2CA-5FC6-4139-AA3C-0DE5BA917C72}" srcOrd="4" destOrd="0" presId="urn:microsoft.com/office/officeart/2008/layout/LinedList"/>
    <dgm:cxn modelId="{DF0C5079-78EC-4EB5-9515-8B25E1E68B74}" type="presParOf" srcId="{112AC2CA-5FC6-4139-AA3C-0DE5BA917C72}" destId="{61545BDC-9061-4841-B295-E34C50A00198}" srcOrd="0" destOrd="0" presId="urn:microsoft.com/office/officeart/2008/layout/LinedList"/>
    <dgm:cxn modelId="{8AAD0F65-1EA7-4C94-AD0F-AF21DA7FBFDD}" type="presParOf" srcId="{112AC2CA-5FC6-4139-AA3C-0DE5BA917C72}" destId="{40235D76-479F-4FF4-9E52-B08B1C46B00B}" srcOrd="1" destOrd="0" presId="urn:microsoft.com/office/officeart/2008/layout/LinedList"/>
    <dgm:cxn modelId="{871C879D-E7ED-4DE1-858C-DA543C4FBCF1}" type="presParOf" srcId="{112AC2CA-5FC6-4139-AA3C-0DE5BA917C72}" destId="{77B9F6C2-7701-47BA-9DEE-C075D48B1DFB}" srcOrd="2" destOrd="0" presId="urn:microsoft.com/office/officeart/2008/layout/LinedList"/>
    <dgm:cxn modelId="{9E16E856-D30B-4879-A521-2582AFD6CE33}" type="presParOf" srcId="{3B42A49E-FD03-4B9E-8508-E68C0A7AAB11}" destId="{38D1ACF3-6DA8-4B04-B6B7-7E5F47FDA3A7}" srcOrd="5" destOrd="0" presId="urn:microsoft.com/office/officeart/2008/layout/LinedList"/>
    <dgm:cxn modelId="{01D99529-1867-40E6-B096-3C249F282919}" type="presParOf" srcId="{3B42A49E-FD03-4B9E-8508-E68C0A7AAB11}" destId="{6F9E62CA-4D84-4B73-BD36-9F67AF3C46C2}" srcOrd="6" destOrd="0" presId="urn:microsoft.com/office/officeart/2008/layout/LinedList"/>
    <dgm:cxn modelId="{4F04255D-6E57-4412-BD75-D40E12262BB3}" type="presParOf" srcId="{3B42A49E-FD03-4B9E-8508-E68C0A7AAB11}" destId="{B58A9EBC-D19E-4460-99DF-62DB855DD114}" srcOrd="7" destOrd="0" presId="urn:microsoft.com/office/officeart/2008/layout/LinedList"/>
    <dgm:cxn modelId="{B8402355-D888-4437-80AF-DE6C966B172D}" type="presParOf" srcId="{B58A9EBC-D19E-4460-99DF-62DB855DD114}" destId="{7BC4E753-5CA0-4A57-90F2-A182DAF6BEDA}" srcOrd="0" destOrd="0" presId="urn:microsoft.com/office/officeart/2008/layout/LinedList"/>
    <dgm:cxn modelId="{DA54D0C4-9769-4A1D-9198-E186C75D54B5}" type="presParOf" srcId="{B58A9EBC-D19E-4460-99DF-62DB855DD114}" destId="{0870FD21-7EBA-4A66-95B8-2D894486FFBE}" srcOrd="1" destOrd="0" presId="urn:microsoft.com/office/officeart/2008/layout/LinedList"/>
    <dgm:cxn modelId="{AFE13C58-CEB3-4903-85B5-201564CBC5B8}" type="presParOf" srcId="{B58A9EBC-D19E-4460-99DF-62DB855DD114}" destId="{C6BB1FBC-C112-4683-B09E-1877A86BF7B8}" srcOrd="2" destOrd="0" presId="urn:microsoft.com/office/officeart/2008/layout/LinedList"/>
    <dgm:cxn modelId="{43288736-1928-43D6-9D47-AA0D0B46BAFB}" type="presParOf" srcId="{3B42A49E-FD03-4B9E-8508-E68C0A7AAB11}" destId="{D768B4FD-B7A4-45A2-BD41-BD1C2E92A7DA}" srcOrd="8" destOrd="0" presId="urn:microsoft.com/office/officeart/2008/layout/LinedList"/>
    <dgm:cxn modelId="{916B0001-6939-4997-924A-E8D468D641BB}" type="presParOf" srcId="{3B42A49E-FD03-4B9E-8508-E68C0A7AAB11}" destId="{C07F7005-7B5F-461E-B8E4-72EF88D706F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8A2BD-B86E-4516-A9F1-C3481A3A14AC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F094B-5915-417A-B4D4-C7517D9D9C00}">
      <dsp:nvSpPr>
        <dsp:cNvPr id="0" name=""/>
        <dsp:cNvSpPr/>
      </dsp:nvSpPr>
      <dsp:spPr>
        <a:xfrm>
          <a:off x="0" y="0"/>
          <a:ext cx="10363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Рабочий поток</a:t>
          </a:r>
          <a:endParaRPr lang="en-US" sz="1800" kern="1200" dirty="0"/>
        </a:p>
      </dsp:txBody>
      <dsp:txXfrm>
        <a:off x="0" y="0"/>
        <a:ext cx="1036320" cy="4351338"/>
      </dsp:txXfrm>
    </dsp:sp>
    <dsp:sp modelId="{965E9FAD-943D-4858-8B64-8F4D38727DC7}">
      <dsp:nvSpPr>
        <dsp:cNvPr id="0" name=""/>
        <dsp:cNvSpPr/>
      </dsp:nvSpPr>
      <dsp:spPr>
        <a:xfrm>
          <a:off x="1114044" y="67989"/>
          <a:ext cx="406755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Выполняет несколько шагов</a:t>
          </a:r>
          <a:endParaRPr lang="en-US" sz="3000" kern="1200" dirty="0"/>
        </a:p>
      </dsp:txBody>
      <dsp:txXfrm>
        <a:off x="1114044" y="67989"/>
        <a:ext cx="4067556" cy="1359793"/>
      </dsp:txXfrm>
    </dsp:sp>
    <dsp:sp modelId="{9D3C6740-BB7C-4F30-9385-DBEF299BEDED}">
      <dsp:nvSpPr>
        <dsp:cNvPr id="0" name=""/>
        <dsp:cNvSpPr/>
      </dsp:nvSpPr>
      <dsp:spPr>
        <a:xfrm>
          <a:off x="1036320" y="1427782"/>
          <a:ext cx="4145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35D76-479F-4FF4-9E52-B08B1C46B00B}">
      <dsp:nvSpPr>
        <dsp:cNvPr id="0" name=""/>
        <dsp:cNvSpPr/>
      </dsp:nvSpPr>
      <dsp:spPr>
        <a:xfrm>
          <a:off x="1114044" y="1495772"/>
          <a:ext cx="406755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Успех </a:t>
          </a:r>
          <a:r>
            <a:rPr lang="en-US" sz="3000" kern="1200" dirty="0"/>
            <a:t>→</a:t>
          </a:r>
          <a:r>
            <a:rPr lang="ru-RU" sz="3000" kern="1200" dirty="0"/>
            <a:t> результат</a:t>
          </a:r>
          <a:endParaRPr lang="en-US" sz="3000" kern="1200" dirty="0"/>
        </a:p>
      </dsp:txBody>
      <dsp:txXfrm>
        <a:off x="1114044" y="1495772"/>
        <a:ext cx="4067556" cy="1359793"/>
      </dsp:txXfrm>
    </dsp:sp>
    <dsp:sp modelId="{38D1ACF3-6DA8-4B04-B6B7-7E5F47FDA3A7}">
      <dsp:nvSpPr>
        <dsp:cNvPr id="0" name=""/>
        <dsp:cNvSpPr/>
      </dsp:nvSpPr>
      <dsp:spPr>
        <a:xfrm>
          <a:off x="1036320" y="2855565"/>
          <a:ext cx="4145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0FD21-7EBA-4A66-95B8-2D894486FFBE}">
      <dsp:nvSpPr>
        <dsp:cNvPr id="0" name=""/>
        <dsp:cNvSpPr/>
      </dsp:nvSpPr>
      <dsp:spPr>
        <a:xfrm>
          <a:off x="1114044" y="2923555"/>
          <a:ext cx="406755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Ошибка</a:t>
          </a:r>
          <a:r>
            <a:rPr lang="en-US" sz="3000" kern="1200" dirty="0"/>
            <a:t>→</a:t>
          </a:r>
          <a:r>
            <a:rPr lang="ru-RU" sz="3000" kern="1200" dirty="0"/>
            <a:t>исключение</a:t>
          </a:r>
          <a:endParaRPr lang="en-US" sz="3000" kern="1200" dirty="0"/>
        </a:p>
      </dsp:txBody>
      <dsp:txXfrm>
        <a:off x="1114044" y="2923555"/>
        <a:ext cx="4067556" cy="1359793"/>
      </dsp:txXfrm>
    </dsp:sp>
    <dsp:sp modelId="{D768B4FD-B7A4-45A2-BD41-BD1C2E92A7DA}">
      <dsp:nvSpPr>
        <dsp:cNvPr id="0" name=""/>
        <dsp:cNvSpPr/>
      </dsp:nvSpPr>
      <dsp:spPr>
        <a:xfrm>
          <a:off x="1036320" y="4283348"/>
          <a:ext cx="4145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FB55F-6A40-4B48-8E84-03104FFED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5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Предположим, вы путешествуете на ночном поезде. Один из способов убедиться, что вы выйдете на правильной станции, — не спать всю ночь и обращать внимание на то, где останавливается поезд. </a:t>
            </a:r>
            <a:endParaRPr lang="en-US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endParaRPr lang="en-US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Вы не пропустите свою станцию, но устанете, когда доберетесь туда. Кроме того, вы можете посмотреть расписание, чтобы узнать, когда должен прибыть поезд, поставить будильник немного раньше и лечь спать. Это было бы нормально; Вы не пропустите свою остановку, но если поезд задержится, вы проснетесь слишком рано. </a:t>
            </a:r>
            <a:endParaRPr lang="en-US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Также существует вероятность того, что батарейки вашего будильника разрядятся, и вы будете спать слишком долго и пропустите свою станцию. Было бы идеально, если бы вы могли лечь спать и попросить кого-то или что-то разбудить вас, когда поезд прибывает на вашу станцию, когда бы она ни была.</a:t>
            </a:r>
          </a:p>
          <a:p>
            <a:endParaRPr lang="ru-RU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Как это связано с потоками? Что ж, если один поток ждет второго потока для выполнения задачи, у него есть несколько вариантов.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Во-первых, он может продолжать проверять флаг в общих данных (защищенных мьютексом) и заставить второй поток установить флаг, когда он завершит задачу.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Это расточительно по двум причинам: поток тратит ценное время на повторную проверку флага, и когда мьютекс заблокирован ожидающим потоком, он не может быть заблокирован никаким другим потоком.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Оба эти фактора работают против потока, выполняющего ожидание: если ожидающий поток выполняется, это ограничивает ресурсы выполнения, доступные для выполнения ожидаемого потока, и в то время как ожидающий поток заблокировал мьютекс, защищающий флаг, чтобы проверить его, ожидаемый поток не может заблокировать мьютекс, чтобы установить флаг, когда он будет завершен.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 Это похоже на то, как если бы вы не спали всю ночь, разговаривая с машинистом поезда: ему приходится вести поезд медленнее, потому что вы постоянно отвлекаете его, поэтому дорога занимает больше времени.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1A1A1A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A1A1A"/>
                </a:solidFill>
                <a:effectLst/>
                <a:latin typeface="Segoe UI" panose="020B0502040204020203" pitchFamily="34" charset="0"/>
              </a:rPr>
              <a:t>Аналогичным образом, ожидающий поток потребляет ресурсы, которые могли бы быть использованы другими потоками в системе, и может в конечном итоге ожидать дольше, чем это необходимо.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5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самый наивный способ ожидания события между потоками — </a:t>
            </a:r>
            <a:r>
              <a:rPr lang="ru-RU" b="1" dirty="0"/>
              <a:t>активное ожидание</a:t>
            </a:r>
            <a:r>
              <a:rPr lang="ru-RU" dirty="0"/>
              <a:t> (</a:t>
            </a:r>
            <a:r>
              <a:rPr lang="ru-RU" dirty="0" err="1"/>
              <a:t>busy</a:t>
            </a:r>
            <a:r>
              <a:rPr lang="ru-RU" dirty="0"/>
              <a:t> </a:t>
            </a:r>
            <a:r>
              <a:rPr lang="ru-RU" dirty="0" err="1"/>
              <a:t>waiting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WaitForFlag</a:t>
            </a:r>
            <a:r>
              <a:rPr lang="ru-RU" dirty="0"/>
              <a:t> в бесконечном цикле захватывает мьютекс, проверяет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</a:t>
            </a:r>
            <a:r>
              <a:rPr lang="ru-RU" dirty="0"/>
              <a:t> и, если он ещё не установлен, сразу повторяет всё заново. Поток не спит и не блокируется — он постоянно крутится и проверяет условие.</a:t>
            </a:r>
          </a:p>
          <a:p>
            <a:endParaRPr lang="ru-RU" dirty="0"/>
          </a:p>
          <a:p>
            <a:r>
              <a:rPr lang="ru-RU" dirty="0"/>
              <a:t>Посмотрите на вывод: почти 30 миллионов проверок за одну секунду. Это означает, что поток-потребитель просто сжигает процессорное время впустую.</a:t>
            </a:r>
          </a:p>
          <a:p>
            <a:endParaRPr lang="ru-RU" dirty="0"/>
          </a:p>
          <a:p>
            <a:r>
              <a:rPr lang="ru-RU" dirty="0"/>
              <a:t>Кроме того, он постоянно захватывает и освобождает мьютекс, создавая лишнюю конкуренцию. Более того, активное ожидание может замедлять поток-производитель, потому что потребитель занимает CPU и регулярно перехватывает мьютекс.</a:t>
            </a:r>
          </a:p>
          <a:p>
            <a:endParaRPr lang="ru-RU" dirty="0"/>
          </a:p>
          <a:p>
            <a:r>
              <a:rPr lang="ru-RU" dirty="0"/>
              <a:t>Идея здесь простая: такой способ работает, но он крайне неэффективен. Дальше мы попробуем улучшить этот подход и перейти к более правильному механизму ожидания события.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улучшаем предыдущий вариант: поток по-прежнему проверяет флаг в цикле, но между проверками освобождает мьютекс и засыпает на 100 мс.</a:t>
            </a:r>
          </a:p>
          <a:p>
            <a:endParaRPr lang="ru-RU" dirty="0"/>
          </a:p>
          <a:p>
            <a:r>
              <a:rPr lang="ru-RU" dirty="0"/>
              <a:t>Теперь это не активное ожидание, а </a:t>
            </a:r>
            <a:r>
              <a:rPr lang="ru-RU" dirty="0" err="1"/>
              <a:t>polling</a:t>
            </a:r>
            <a:r>
              <a:rPr lang="ru-RU" dirty="0"/>
              <a:t> с паузами. Посмотрите на вывод — всего 11 проверок вместо десятков миллионов. Поток больше не сжигает CPU впустую.</a:t>
            </a:r>
          </a:p>
          <a:p>
            <a:r>
              <a:rPr lang="ru-RU" dirty="0"/>
              <a:t>Но появляется другая проблема — нужно правильно выбрать время сна.</a:t>
            </a:r>
          </a:p>
          <a:p>
            <a:br>
              <a:rPr lang="ru-RU" dirty="0"/>
            </a:br>
            <a:r>
              <a:rPr lang="ru-RU" dirty="0"/>
              <a:t>Слишком короткий интервал — снова лишняя нагрузка.</a:t>
            </a:r>
            <a:br>
              <a:rPr lang="ru-RU" dirty="0"/>
            </a:br>
            <a:r>
              <a:rPr lang="ru-RU" dirty="0"/>
              <a:t>Слишком длинный — поток может “проспать” момент готовности данных и проснуться с задержкой.</a:t>
            </a:r>
          </a:p>
          <a:p>
            <a:endParaRPr lang="ru-RU" dirty="0"/>
          </a:p>
          <a:p>
            <a:r>
              <a:rPr lang="ru-RU" dirty="0"/>
              <a:t>Это лучше, чем </a:t>
            </a:r>
            <a:r>
              <a:rPr lang="ru-RU" dirty="0" err="1"/>
              <a:t>busy</a:t>
            </a:r>
            <a:r>
              <a:rPr lang="ru-RU" dirty="0"/>
              <a:t> </a:t>
            </a:r>
            <a:r>
              <a:rPr lang="ru-RU" dirty="0" err="1"/>
              <a:t>waiting</a:t>
            </a:r>
            <a:r>
              <a:rPr lang="ru-RU" dirty="0"/>
              <a:t>, но всё ещё не идеальное решение. Нам нужен механизм, который разбудит поток ровно тогда, когда условие станет истинным.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54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88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 два варианта ожидания: активное ожидание и </a:t>
            </a:r>
            <a:r>
              <a:rPr lang="ru-RU" dirty="0" err="1"/>
              <a:t>polling</a:t>
            </a:r>
            <a:r>
              <a:rPr lang="ru-RU" dirty="0"/>
              <a:t> со сном. Оба варианта работают, но оба — компромиссные.</a:t>
            </a:r>
          </a:p>
          <a:p>
            <a:endParaRPr lang="ru-RU" dirty="0"/>
          </a:p>
          <a:p>
            <a:r>
              <a:rPr lang="ru-RU" dirty="0"/>
              <a:t>Правильное решение — не проверять условие вручную, а </a:t>
            </a:r>
            <a:r>
              <a:rPr lang="ru-RU" b="1" dirty="0"/>
              <a:t>ждать само событие</a:t>
            </a:r>
            <a:r>
              <a:rPr lang="ru-RU" dirty="0"/>
              <a:t>. Для этого в стандартной библиотеке есть условные переменные.</a:t>
            </a:r>
          </a:p>
          <a:p>
            <a:endParaRPr lang="ru-RU" dirty="0"/>
          </a:p>
          <a:p>
            <a:r>
              <a:rPr lang="ru-RU" dirty="0"/>
              <a:t>Идея простая: поток может заблокироваться и уснуть до тех пор, пока другой поток не сообщит, что условие изменилось. При этом во время ожидания мьютекс автоматически освобождается, чтобы другие потоки могли продолжать работу.</a:t>
            </a:r>
          </a:p>
          <a:p>
            <a:endParaRPr lang="ru-RU" dirty="0"/>
          </a:p>
          <a:p>
            <a:r>
              <a:rPr lang="ru-RU" dirty="0"/>
              <a:t>Когда состояние изменено,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и ожидающие потоки пробуждаются.</a:t>
            </a:r>
          </a:p>
          <a:p>
            <a:endParaRPr lang="ru-RU" dirty="0"/>
          </a:p>
          <a:p>
            <a:r>
              <a:rPr lang="ru-RU" dirty="0"/>
              <a:t>Это уже не </a:t>
            </a:r>
            <a:r>
              <a:rPr lang="ru-RU" dirty="0" err="1"/>
              <a:t>polling</a:t>
            </a:r>
            <a:r>
              <a:rPr lang="ru-RU" dirty="0"/>
              <a:t>. Поток не проверяет условие каждые N миллисекунд — он спит до тех пор, пока его явно не разбудят. Это эффективный и правильный способ синхронизации событий между потоками.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0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правильный шаблон использования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waitingThread</a:t>
            </a:r>
            <a:r>
              <a:rPr lang="ru-RU" dirty="0"/>
              <a:t> захватывает мьютекс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ru-RU" dirty="0"/>
              <a:t> и вызывает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cv.wait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[&amp;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{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});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будет спать до тех пор, пока предикат не вернёт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 Во время ожидания мьютекс автоматически освобождается, а при пробуждении снова захватывается.</a:t>
            </a:r>
          </a:p>
          <a:p>
            <a:r>
              <a:rPr lang="ru-RU" dirty="0"/>
              <a:t>Через секунду основной поток под защитой мьютекса устанавливает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чтобы разбудить ожидающий поток.</a:t>
            </a:r>
          </a:p>
          <a:p>
            <a:endParaRPr lang="ru-RU" dirty="0"/>
          </a:p>
          <a:p>
            <a:r>
              <a:rPr lang="ru-RU" dirty="0"/>
              <a:t>Важно запомнить шаблон: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состояние меняем под мьютексом,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всегда используем с предикатом.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9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важная особенность условных переменных — возможны так называемые ложные пробуждения.</a:t>
            </a:r>
          </a:p>
          <a:p>
            <a:endParaRPr lang="ru-RU" dirty="0"/>
          </a:p>
          <a:p>
            <a:r>
              <a:rPr lang="ru-RU" dirty="0"/>
              <a:t>Это означает, что поток может проснуться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, даже если никто не вызывал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и условие всё ещё не выполнено. Это не ошибка программы — это допустимое поведение стандарта.</a:t>
            </a:r>
          </a:p>
          <a:p>
            <a:endParaRPr lang="ru-RU" dirty="0"/>
          </a:p>
          <a:p>
            <a:r>
              <a:rPr lang="ru-RU" dirty="0"/>
              <a:t>Причины связаны с реализацией на уровне операционной системы и библиотек. Поэтому мы </a:t>
            </a:r>
            <a:r>
              <a:rPr lang="ru-RU" b="1" dirty="0"/>
              <a:t>никогда не должны предполагать</a:t>
            </a:r>
            <a:r>
              <a:rPr lang="ru-RU" dirty="0"/>
              <a:t>, что пробуждение означает выполнение условия.</a:t>
            </a:r>
          </a:p>
          <a:p>
            <a:endParaRPr lang="ru-RU" dirty="0"/>
          </a:p>
          <a:p>
            <a:r>
              <a:rPr lang="ru-RU" dirty="0"/>
              <a:t>Именно поэтому правильный способ ожидания —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с предикатом. В этом случае библиотека сама повторно проверяет условие и, если оно ложно, снова переводит поток в состояние ожидания.</a:t>
            </a:r>
          </a:p>
          <a:p>
            <a:endParaRPr lang="ru-RU" dirty="0"/>
          </a:p>
          <a:p>
            <a:r>
              <a:rPr lang="ru-RU" dirty="0"/>
              <a:t>Важно также, чтобы предикат не имел побочных эффектов, потому что он может вызываться несколько раз.</a:t>
            </a:r>
          </a:p>
          <a:p>
            <a:endParaRPr lang="ru-RU" dirty="0"/>
          </a:p>
          <a:p>
            <a:r>
              <a:rPr lang="ru-RU" dirty="0"/>
              <a:t>Главное правило: пробуждение — это повод проверить условие, а не гарантия того, что оно выполнено.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0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того, </a:t>
            </a:r>
            <a:r>
              <a:rPr lang="ru-RU" b="1" dirty="0"/>
              <a:t>как делать нельзя</a:t>
            </a:r>
            <a:r>
              <a:rPr lang="ru-RU" dirty="0"/>
              <a:t>.</a:t>
            </a:r>
          </a:p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cv.wait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без предиката. Поток просто засыпает и продолжает выполнение после пробуждения, предполагая, что условие выполнено.</a:t>
            </a:r>
          </a:p>
          <a:p>
            <a:endParaRPr lang="ru-RU" dirty="0"/>
          </a:p>
          <a:p>
            <a:r>
              <a:rPr lang="ru-RU" dirty="0"/>
              <a:t>Но из-за ложных пробуждений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может завершиться даже без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В этом случае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ru-RU" dirty="0"/>
              <a:t> всё ещё может быть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 выстрелит.</a:t>
            </a:r>
          </a:p>
          <a:p>
            <a:endParaRPr lang="ru-RU" dirty="0"/>
          </a:p>
          <a:p>
            <a:r>
              <a:rPr lang="ru-RU" dirty="0"/>
              <a:t>Поэтому правило простое: </a:t>
            </a:r>
            <a:r>
              <a:rPr lang="ru-RU" b="1" dirty="0"/>
              <a:t>никогда не используйте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b="1" dirty="0"/>
              <a:t> без проверки условия.</a:t>
            </a:r>
            <a:br>
              <a:rPr lang="ru-RU" dirty="0"/>
            </a:br>
            <a:r>
              <a:rPr lang="ru-RU" dirty="0"/>
              <a:t>Всегда применяйте версию с предикатом или проверяйте условие в цикле.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18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уже корректная реализация ожидания события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Потребитель захватывает мьютекс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readyCV.wait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предикат)</a:t>
            </a:r>
            <a:r>
              <a:rPr lang="ru-RU" dirty="0"/>
              <a:t>. Поток засыпает и автоматически освобождает мьютекс.</a:t>
            </a:r>
          </a:p>
          <a:p>
            <a:r>
              <a:rPr lang="ru-RU" dirty="0"/>
              <a:t>Когда производитель подготовит данные, он под защитой мьютекса устанавливает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dataIsReady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пробуждения предикат проверяется снова, и только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dataIsReady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поток продолжает выполнение. Обратите внимание: при выходе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мьютекс снова захвачен текущим потоком.</a:t>
            </a:r>
          </a:p>
          <a:p>
            <a:endParaRPr lang="ru-RU" dirty="0"/>
          </a:p>
          <a:p>
            <a:r>
              <a:rPr lang="ru-RU" dirty="0"/>
              <a:t>В результате — всего несколько проверок вместо миллионов и никакого лишнего расхода CPU. Это правильный и эффективный способ синхронизации.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65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88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</a:t>
            </a:r>
            <a:r>
              <a:rPr lang="ru-RU" dirty="0" err="1"/>
              <a:t>потокобезопасного</a:t>
            </a:r>
            <a:r>
              <a:rPr lang="ru-RU" dirty="0"/>
              <a:t> стека с ожиданием данных.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добавляет элемент под защитой мьютекса, а затем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чтобы разбудить один из потоков, ожидающих появления данных.</a:t>
            </a:r>
          </a:p>
          <a:p>
            <a:endParaRPr lang="ru-RU" dirty="0"/>
          </a:p>
          <a:p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WaitAndPop</a:t>
            </a:r>
            <a:r>
              <a:rPr lang="ru-RU" dirty="0"/>
              <a:t> реализуют блокирующее извлечение. Поток захватывает мьютекс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с предикатом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m_stack.empty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Если стек пуст, поток засыпает и освобождает мьютекс. Как только другой поток добавит элемент и вызовет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ожидающий поток проснётся, снова захватит мьютекс и продолжит выполнение.</a:t>
            </a:r>
          </a:p>
          <a:p>
            <a:endParaRPr lang="ru-RU" dirty="0"/>
          </a:p>
          <a:p>
            <a:r>
              <a:rPr lang="ru-RU" dirty="0"/>
              <a:t>Обратите внимание: проверка условия происходит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, поэтому код корректно работает даже при ложных пробуждениях.</a:t>
            </a:r>
          </a:p>
          <a:p>
            <a:endParaRPr lang="ru-RU" dirty="0"/>
          </a:p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, поэтому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 применяется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condition_variable_any</a:t>
            </a:r>
            <a:r>
              <a:rPr lang="ru-RU" dirty="0"/>
              <a:t>, которая может работать с любым типом мьютекса.</a:t>
            </a:r>
          </a:p>
          <a:p>
            <a:endParaRPr lang="ru-RU" dirty="0"/>
          </a:p>
          <a:p>
            <a:r>
              <a:rPr lang="ru-RU" dirty="0"/>
              <a:t>Это типичный пример шаблона «производитель–потребитель», где поток блокируется до появления данных, а не занимается активным ожиданием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2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использование нашего </a:t>
            </a:r>
            <a:r>
              <a:rPr lang="ru-RU" dirty="0" err="1"/>
              <a:t>потокобезопасного</a:t>
            </a:r>
            <a:r>
              <a:rPr lang="ru-RU" dirty="0"/>
              <a:t> стека в модели «производитель–потребитель».</a:t>
            </a:r>
          </a:p>
          <a:p>
            <a:endParaRPr lang="ru-RU" dirty="0"/>
          </a:p>
          <a:p>
            <a:r>
              <a:rPr lang="ru-RU" dirty="0"/>
              <a:t>Производитель добавляет элементы в стек каждые 200 миллисекунд. Потребитель извлекает элементы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WaitAndPop</a:t>
            </a:r>
            <a:r>
              <a:rPr lang="ru-RU" dirty="0"/>
              <a:t>. Если стек пуст, поток автоматически блокируется и ждёт появления данных.</a:t>
            </a:r>
          </a:p>
          <a:p>
            <a:endParaRPr lang="ru-RU" dirty="0"/>
          </a:p>
          <a:p>
            <a:r>
              <a:rPr lang="ru-RU" dirty="0"/>
              <a:t>Обратите внимание на вывод: значения идут не по порядку. Это нормально — мы используем стек, то есть структуру LIFO.</a:t>
            </a:r>
          </a:p>
          <a:p>
            <a:r>
              <a:rPr lang="ru-RU" dirty="0"/>
              <a:t>Главное здесь — потребитель не крутится в ожидании и не проверяет стек вручную. Он просто блокируется до появления элемента. Это и есть правильная организация синхронизации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24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04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</a:t>
            </a:r>
            <a:r>
              <a:rPr lang="ru-RU" dirty="0"/>
              <a:t> — это простой примитив синхронизации, который работает как одноразовая защёлка.</a:t>
            </a:r>
          </a:p>
          <a:p>
            <a:endParaRPr lang="ru-RU" dirty="0"/>
          </a:p>
          <a:p>
            <a:r>
              <a:rPr lang="ru-RU" dirty="0"/>
              <a:t>При создании мы задаём количество событий, которых нужно дождаться. Внутри хранится счётчик. Каждый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count_down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уменьшает его на единицу. Когда счётчик достигает нуля, все потоки, вызвавшие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продолжают выполнение.</a:t>
            </a:r>
          </a:p>
          <a:p>
            <a:endParaRPr lang="ru-RU" dirty="0"/>
          </a:p>
          <a:p>
            <a:r>
              <a:rPr lang="ru-RU" dirty="0"/>
              <a:t>Важно понимать: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</a:t>
            </a:r>
            <a:r>
              <a:rPr lang="ru-RU" dirty="0"/>
              <a:t> — одноразовый механизм. После того как счётчик стал равен нулю, его нельзя «перезапустить».</a:t>
            </a:r>
          </a:p>
          <a:p>
            <a:endParaRPr lang="ru-RU" dirty="0"/>
          </a:p>
          <a:p>
            <a:r>
              <a:rPr lang="ru-RU" dirty="0"/>
              <a:t>Типичный сценарий — дождаться завершения нескольких задач, прежде чем продолжить выполнение, например, перед переходом к следующему этапу работы.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практическую задачу.</a:t>
            </a:r>
          </a:p>
          <a:p>
            <a:endParaRPr lang="ru-RU" dirty="0"/>
          </a:p>
          <a:p>
            <a:r>
              <a:rPr lang="ru-RU" dirty="0"/>
              <a:t>У нас есть 20 подарков и три эльфа, которые упаковывают их параллельно. Каждый эльф работает с разной скоростью, поэтому мы не знаем заранее, кто закончит последним.</a:t>
            </a:r>
          </a:p>
          <a:p>
            <a:endParaRPr lang="ru-RU" dirty="0"/>
          </a:p>
          <a:p>
            <a:r>
              <a:rPr lang="ru-RU" dirty="0"/>
              <a:t>При этом Санта должен начать доставку только тогда, когда будут упакованы все 20 подарков — ни раньше и ни позже.</a:t>
            </a:r>
          </a:p>
          <a:p>
            <a:endParaRPr lang="ru-RU" dirty="0"/>
          </a:p>
          <a:p>
            <a:r>
              <a:rPr lang="ru-RU" dirty="0"/>
              <a:t>Нам нужно организовать синхронизацию так, чтобы поток Санты автоматически продолжил работу ровно в тот момент, когда последний подарок будет готов.</a:t>
            </a:r>
          </a:p>
          <a:p>
            <a:endParaRPr lang="ru-RU" dirty="0"/>
          </a:p>
          <a:p>
            <a:r>
              <a:rPr lang="ru-RU" dirty="0"/>
              <a:t>Это типичная задача ожидания завершения набора параллельных операций — и здесь нам отлично подойдёт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58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</a:t>
            </a:r>
            <a:r>
              <a:rPr lang="ru-RU" dirty="0"/>
              <a:t> используется для ожидания завершения всех задач.</a:t>
            </a:r>
          </a:p>
          <a:p>
            <a:r>
              <a:rPr lang="ru-RU" dirty="0"/>
              <a:t>Мы создаём защёлку со значением 20 — по количеству подарков. Каждый раз, когда эльф упаковывает подарок, он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latch.count_down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уменьшая счётчик.</a:t>
            </a:r>
          </a:p>
          <a:p>
            <a:endParaRPr lang="ru-RU" dirty="0"/>
          </a:p>
          <a:p>
            <a:r>
              <a:rPr lang="ru-RU" dirty="0"/>
              <a:t>Поток Санты просто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latch.wait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блокируется до тех пор, пока счётчик не станет равен нулю — то есть пока не будет упакован последний подарок.</a:t>
            </a:r>
          </a:p>
          <a:p>
            <a:endParaRPr lang="ru-RU" dirty="0"/>
          </a:p>
          <a:p>
            <a:r>
              <a:rPr lang="ru-RU" dirty="0"/>
              <a:t>Как только это происходит, Санта начинает доставку. Никаких флагов, циклов ожидания или условных переменных — простая и понятная синхронизация завершения набора параллельных задач.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07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7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ru-RU" dirty="0"/>
              <a:t> используется, когда нужно синхронизировать группу потоков по фазам выполнения.</a:t>
            </a:r>
          </a:p>
          <a:p>
            <a:endParaRPr lang="ru-RU" dirty="0"/>
          </a:p>
          <a:p>
            <a:r>
              <a:rPr lang="ru-RU" dirty="0"/>
              <a:t>Каждый поток выполняет часть работы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Потоки блокируются, пока все участники не достигнут барьера. Только после этого они продолжают выполнение.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latch</a:t>
            </a:r>
            <a:r>
              <a:rPr lang="ru-RU" dirty="0"/>
              <a:t>, барьер можно использовать многократно — он автоматически переходит к следующей фазе.</a:t>
            </a:r>
          </a:p>
          <a:p>
            <a:endParaRPr lang="ru-RU" dirty="0"/>
          </a:p>
          <a:p>
            <a:r>
              <a:rPr lang="ru-RU" dirty="0"/>
              <a:t>Дополнительно можно задать завершающую функцию, которая выполнится один раз в момент, когда последний поток достигнет барьера.</a:t>
            </a:r>
          </a:p>
          <a:p>
            <a:endParaRPr lang="ru-RU" dirty="0"/>
          </a:p>
          <a:p>
            <a:r>
              <a:rPr lang="ru-RU" dirty="0"/>
              <a:t>Это удобно, когда несколько потоков работают параллельно, но должны двигаться вперёд синхронно, шаг за шагом.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19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57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три рабочих работают по фазам: сначала готовят хот-доги, затем едят их.</a:t>
            </a:r>
          </a:p>
          <a:p>
            <a:endParaRPr lang="ru-RU" dirty="0"/>
          </a:p>
          <a:p>
            <a:r>
              <a:rPr lang="ru-RU" dirty="0"/>
              <a:t>После завершения первой фазы каждый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Никто не начинает есть, пока все трое не закончат готовку. Когда последний поток достигает барьера, выполняется завершающая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OnCompletion</a:t>
            </a:r>
            <a:r>
              <a:rPr lang="ru-RU" dirty="0"/>
              <a:t>, после чего начинается следующая фаза.</a:t>
            </a:r>
          </a:p>
          <a:p>
            <a:endParaRPr lang="ru-RU" dirty="0"/>
          </a:p>
          <a:p>
            <a:r>
              <a:rPr lang="ru-RU" dirty="0"/>
              <a:t>Затем всё повторяется для второй фазы — после еды снова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ru-RU" dirty="0"/>
              <a:t> позволяет синхронизировать потоки по этапам работы и гарантировать, что они движутся вперёд синхронно.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020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28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C++20 появился механизм кооперативной остановки потоков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 управляет состоянием остановки. Когда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всем связанным токенам передаётся сигнал о необходимости завершения.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 передаётся в поток и позволяет проверить, был ли запрошен стоп,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stop_requested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поддерживает этот механизм автоматически: он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 внутри себя и может передать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 в функцию потока.</a:t>
            </a:r>
          </a:p>
          <a:p>
            <a:endParaRPr lang="ru-RU" dirty="0"/>
          </a:p>
          <a:p>
            <a:r>
              <a:rPr lang="ru-RU" dirty="0"/>
              <a:t>Более того, при уничтожении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запрос на остановку отправляется автоматически.</a:t>
            </a:r>
          </a:p>
          <a:p>
            <a:endParaRPr lang="ru-RU" dirty="0"/>
          </a:p>
          <a:p>
            <a:r>
              <a:rPr lang="ru-RU" dirty="0"/>
              <a:t>Важно понимать: это не принудительное завершение. Поток должен сам периодически проверять токен и корректно завершать работу.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61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поток периодически </a:t>
            </a:r>
            <a:r>
              <a:rPr lang="ru-RU" dirty="0" err="1"/>
              <a:t>проверяет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stopToken.stop_requested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цикле.</a:t>
            </a:r>
          </a:p>
          <a:p>
            <a:endParaRPr lang="ru-RU" dirty="0"/>
          </a:p>
          <a:p>
            <a:r>
              <a:rPr lang="ru-RU" dirty="0"/>
              <a:t>Главный поток ждёт три секунды, затем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worker.request_stop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После этого флаг остановки устанавливается, условие цикла становится ложным, и поток корректно завершает работу.</a:t>
            </a:r>
          </a:p>
          <a:p>
            <a:endParaRPr lang="ru-RU" dirty="0"/>
          </a:p>
          <a:p>
            <a:r>
              <a:rPr lang="ru-RU" dirty="0"/>
              <a:t>Важно, что это кооперативная остановка: поток сам решает, где и как проверять токен и завершаться.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не вызвать явно, его автоматически вызовет деструктор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2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можно остановить сразу группу потоков с помощью одного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 и передаём его токен нескольким потокам: Ивану, Петру и </a:t>
            </a:r>
            <a:r>
              <a:rPr lang="ru-RU" dirty="0" err="1"/>
              <a:t>Supervisor’у</a:t>
            </a:r>
            <a:r>
              <a:rPr lang="ru-RU" dirty="0"/>
              <a:t>. Все они периодически проверяют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stop_requested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своём рабочем цикле.</a:t>
            </a:r>
          </a:p>
          <a:p>
            <a:endParaRPr lang="ru-RU" dirty="0"/>
          </a:p>
          <a:p>
            <a:r>
              <a:rPr lang="ru-RU" dirty="0"/>
              <a:t>Через секунду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stopSource.request_stop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После этого сигнал остановки получают все связанные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, и каждый поток корректно завершает выполнение.</a:t>
            </a:r>
          </a:p>
          <a:p>
            <a:endParaRPr lang="ru-RU" dirty="0"/>
          </a:p>
          <a:p>
            <a:r>
              <a:rPr lang="ru-RU" dirty="0"/>
              <a:t>Обратите внимание: мы не управляем потоками по отдельности. Один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распространяется на всех, кто использует токен, полученный из этого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удобный способ централизованно останавливать группу связанных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633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stop_callback</a:t>
            </a:r>
            <a:r>
              <a:rPr lang="ru-RU" dirty="0"/>
              <a:t>.</a:t>
            </a:r>
          </a:p>
          <a:p>
            <a:r>
              <a:rPr lang="ru-RU" dirty="0"/>
              <a:t>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stop_callback</a:t>
            </a:r>
            <a:r>
              <a:rPr lang="ru-RU" dirty="0"/>
              <a:t>, передавая 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 и функцию, которая должна выполниться при запросе остановки. Как только для связанного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будет вызван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вручную или автоматически в деструкторе — этот </a:t>
            </a:r>
            <a:r>
              <a:rPr lang="ru-RU" dirty="0" err="1"/>
              <a:t>колбэк</a:t>
            </a:r>
            <a:r>
              <a:rPr lang="ru-RU" dirty="0"/>
              <a:t> выполнится.</a:t>
            </a:r>
          </a:p>
          <a:p>
            <a:endParaRPr lang="ru-RU" dirty="0"/>
          </a:p>
          <a:p>
            <a:r>
              <a:rPr lang="ru-RU" dirty="0"/>
              <a:t>В примере </a:t>
            </a:r>
            <a:r>
              <a:rPr lang="ru-RU" dirty="0" err="1"/>
              <a:t>callback</a:t>
            </a:r>
            <a:r>
              <a:rPr lang="ru-RU" dirty="0"/>
              <a:t> печатает сообщение «Stop </a:t>
            </a:r>
            <a:r>
              <a:rPr lang="ru-RU" dirty="0" err="1"/>
              <a:t>requested</a:t>
            </a:r>
            <a:r>
              <a:rPr lang="ru-RU" dirty="0"/>
              <a:t>», после чего рабочий цикл завершается и поток корректно выходит.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stop_callback</a:t>
            </a:r>
            <a:r>
              <a:rPr lang="ru-RU" dirty="0"/>
              <a:t> удобен, когда нужно выполнить дополнительное действие при остановке: например, разбудить поток, освободить ресурс или зафиксировать лог. Это способ реактивно отреагировать на запрос остановки, а не только периодически проверять флаг.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082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184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умеем запускать потоки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. Но на практике поток редко нужен сам по себе.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Обычно мы запускаем поток для того, чтобы выполнить какую-то задачу: например, сделать вычисление, обработать данные или загрузить информацию в фоне.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результат этой задачи нам понадобится позже. Например, мы запускаем вычисление, продолжаем выполнять другие действия, а затем хотим получить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Возникает вопрос: </a:t>
            </a:r>
            <a:r>
              <a:rPr lang="ru-RU" b="1" dirty="0"/>
              <a:t>как правильно передать результат работы фоновой задачи обратно в основной поток?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767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Самый простой способ — использовать общую переменную. Мы запускаем поток, он записывает результат в переменную, затем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читаем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здесь возникает несколько проблем.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Во-первых, появляется общее состояние, которое нужно синхронизировать.</a:t>
            </a:r>
            <a:br>
              <a:rPr lang="ru-RU" dirty="0"/>
            </a:br>
            <a:r>
              <a:rPr lang="ru-RU" dirty="0"/>
              <a:t>Во-вторых, что делать, если фоновая задача завершилась исключением?</a:t>
            </a:r>
            <a:br>
              <a:rPr lang="ru-RU" dirty="0"/>
            </a:br>
            <a:r>
              <a:rPr lang="ru-RU" dirty="0"/>
              <a:t>И наконец, нам приходится самим управлять временем жизни потока.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такой подход работает, но он довольно низкоуровневый и легко приводит к ошибкам.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15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Поэтому стандартная библиотека предлагает более удобный и безопасный механизм — асинхронные задачи.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. Она запускает функцию и возвращает специальный объект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можно представить как </a:t>
            </a:r>
            <a:r>
              <a:rPr lang="ru-RU" b="1" dirty="0"/>
              <a:t>обещание результата в будущем</a:t>
            </a:r>
            <a:r>
              <a:rPr lang="ru-RU" dirty="0"/>
              <a:t>. Мы запускаем вычисление, получаем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продолжаем выполнять программу, а когда результат понадобится —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задача ещё не завершилась,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подождёт. Если внутри задачи произошло исключение, оно будет передано в поток, который вызвал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решает сразу несколько задач: запуск вычисления, ожидание результата и безопасную передачу исключений.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63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Что здесь происходит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запускает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ru-RU" dirty="0"/>
              <a:t>.</a:t>
            </a:r>
          </a:p>
          <a:p>
            <a:r>
              <a:rPr lang="ru-RU" dirty="0"/>
              <a:t>Возвращается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Основной поток может выполнять другие действия.</a:t>
            </a:r>
          </a:p>
          <a:p>
            <a:r>
              <a:rPr lang="ru-RU" dirty="0"/>
              <a:t>Когда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поток:</a:t>
            </a:r>
          </a:p>
          <a:p>
            <a:pPr lvl="1"/>
            <a:r>
              <a:rPr lang="ru-RU" dirty="0"/>
              <a:t>либо сразу получает результат,</a:t>
            </a:r>
          </a:p>
          <a:p>
            <a:pPr lvl="1"/>
            <a:r>
              <a:rPr lang="ru-RU" dirty="0"/>
              <a:t>либо ждёт завершения вычисления.</a:t>
            </a:r>
          </a:p>
          <a:p>
            <a:r>
              <a:rPr lang="ru-RU" b="1" dirty="0"/>
              <a:t>Важное отличие от наивного варианта</a:t>
            </a:r>
          </a:p>
          <a:p>
            <a:r>
              <a:rPr lang="en-US" dirty="0"/>
              <a:t>- </a:t>
            </a:r>
            <a:r>
              <a:rPr lang="ru-RU" dirty="0"/>
              <a:t>нет общей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endParaRPr lang="ru-RU" dirty="0"/>
          </a:p>
          <a:p>
            <a:r>
              <a:rPr lang="en-US" dirty="0"/>
              <a:t>- </a:t>
            </a:r>
            <a:r>
              <a:rPr lang="ru-RU" dirty="0"/>
              <a:t>не нужно вручную управлять потоком</a:t>
            </a:r>
          </a:p>
          <a:p>
            <a:r>
              <a:rPr lang="en-US" dirty="0"/>
              <a:t>- </a:t>
            </a:r>
            <a:r>
              <a:rPr lang="ru-RU" dirty="0"/>
              <a:t>исключения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автоматически передаются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425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запускаем несколько асинхронных задач.</a:t>
            </a:r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Multiply</a:t>
            </a:r>
            <a:r>
              <a:rPr lang="ru-RU" dirty="0"/>
              <a:t> выполняются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...)</a:t>
            </a:r>
            <a:r>
              <a:rPr lang="ru-RU" dirty="0"/>
              <a:t>, поэтому они запускаются в отдельных потоках. Результаты их работы представлены объектами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мы вызываем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f1.get()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f2.get()</a:t>
            </a:r>
            <a:r>
              <a:rPr lang="ru-RU" dirty="0"/>
              <a:t>, основной поток ждёт завершения этих вычислений и получает их результаты. Эти результаты используются для запуска следующей асинхронной задачи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f4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f3</a:t>
            </a:r>
            <a:r>
              <a:rPr lang="ru-RU" dirty="0"/>
              <a:t>: 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deferred</a:t>
            </a:r>
            <a:r>
              <a:rPr lang="ru-RU" dirty="0"/>
              <a:t>. В этом режиме функция не запускается в отдельном потоке. Она выполнится только тогда, когда мы вызовем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и выполнится в том же потоке, который вызвал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позволяет строить цепочки вычислений и управлять тем, когда и где именно будет выполняться задача.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683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с политикой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, задача гарантированно выполняется асинхронно — то есть не в том потоке, который вызвал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стандарт не определяет, как именно будет организовано выполнение. Реализация может создать новый поток, а может использовать внутренний пул потоков.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деталь реализации стандартной библиотеки. С точки зрения программиста важно другое: мы не управляем потоком напрямую, не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dirty="0"/>
              <a:t> и не заботимся о времени его жизни. Мы просто получаем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и можем позже извлечь результат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58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запускаем 20 асинхронных задач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. Каждая задача просто выводит идентификатор потока, в котором она выполняется.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 на вывод. Мы видим, что разные задачи иногда выполняются в одних и тех же потоках. Например, задачи 1 и 4 имеют одинаковый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. Это означает, что реализация стандартной библиотеки </a:t>
            </a:r>
            <a:r>
              <a:rPr lang="ru-RU" b="1" dirty="0"/>
              <a:t>не создаёт новый поток для каждой задачи</a:t>
            </a:r>
            <a:r>
              <a:rPr lang="ru-RU" dirty="0"/>
              <a:t>, а может использовать </a:t>
            </a:r>
            <a:r>
              <a:rPr lang="ru-RU" b="1" dirty="0"/>
              <a:t>пул потоков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запускает задачи асинхронно, но управление потоками остаётся внутри стандартной библиотеки. Она сама решает, создавать ли новый поток или использовать уже существующий.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Главный поток в конце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для каждого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чтобы дождаться завершения всех фоновых задач.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000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9433-C10C-DE57-AF1C-51B71CC2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1C0B9-9D0B-FE8E-1866-88C0CD565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5911-DFAB-9C27-01CE-77C0AA720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используем другую политику запуска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deferred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режиме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</a:t>
            </a:r>
            <a:r>
              <a:rPr lang="ru-RU" b="1" dirty="0"/>
              <a:t>не запускает задачу сразу и не создаёт поток</a:t>
            </a:r>
            <a:r>
              <a:rPr lang="ru-RU" dirty="0"/>
              <a:t>. Вместо этого выполнение функции откладывается. Функция будет вызвана только тогда, когда мы обратимся к результату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Посмотрите на вывод: все задачи выполняются в </a:t>
            </a:r>
            <a:r>
              <a:rPr lang="ru-RU" b="1" dirty="0"/>
              <a:t>том же потоке</a:t>
            </a:r>
            <a:r>
              <a:rPr lang="ru-RU" dirty="0"/>
              <a:t>, что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Это видно по одинаковому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. То есть фактически никакого параллелизма здесь нет — задачи выполняются последовательно, в момент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deferred</a:t>
            </a:r>
            <a:r>
              <a:rPr lang="ru-RU" dirty="0"/>
              <a:t> — это способ </a:t>
            </a:r>
            <a:r>
              <a:rPr lang="ru-RU" b="1" dirty="0"/>
              <a:t>отложить выполнение функции</a:t>
            </a:r>
            <a:r>
              <a:rPr lang="ru-RU" dirty="0"/>
              <a:t>, а не выполнить её в фоне. Иногда это полезно, например, когда мы хотим вычислять результат только если он действительно понадобится.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98574-13E9-8ED1-4FCB-5D024A749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800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— удобный способ запустить задачу и получить результат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Но у него есть важное ограничение: задача запускается сразу.</a:t>
            </a:r>
          </a:p>
          <a:p>
            <a:endParaRPr lang="ru-RU" dirty="0"/>
          </a:p>
          <a:p>
            <a:r>
              <a:rPr lang="ru-RU" dirty="0"/>
              <a:t>Иногда это неудобно. Представьте, что один поток создаёт задачи и помещает их в очередь, а рабочие потоки извлекают задачи из этой очереди и выполняют их. В такой архитектуре нам нужно сначала создать задачу, получить связанный с ней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а выполнить её позже.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этого не позволяет. Он сразу запускает функцию.</a:t>
            </a:r>
          </a:p>
          <a:p>
            <a:endParaRPr lang="ru-RU" dirty="0"/>
          </a:p>
          <a:p>
            <a:r>
              <a:rPr lang="ru-RU" dirty="0"/>
              <a:t>Нам нужен объект, который хранит функцию, связан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и может быть запущен позже. Для этого в стандартной библиотеке существует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98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— это объект, который представляет задачу с результатом.</a:t>
            </a:r>
          </a:p>
          <a:p>
            <a:endParaRPr lang="ru-RU" dirty="0"/>
          </a:p>
          <a:p>
            <a:r>
              <a:rPr lang="ru-RU" dirty="0"/>
              <a:t>Он оборачивает некоторый вызываемый объект — функцию, лямбду или функтор — и связывает его с объектом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Через этот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мы позже можем получить результат выполнения задачи.</a:t>
            </a:r>
          </a:p>
          <a:p>
            <a:endParaRPr lang="ru-RU" dirty="0"/>
          </a:p>
          <a:p>
            <a:r>
              <a:rPr lang="ru-RU" dirty="0"/>
              <a:t>Главное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в том,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</a:t>
            </a:r>
            <a:r>
              <a:rPr lang="ru-RU" b="1" dirty="0"/>
              <a:t>не запускает функцию автоматически</a:t>
            </a:r>
            <a:r>
              <a:rPr lang="ru-RU" dirty="0"/>
              <a:t>. Мы создаём объект задачи, получаем связанный с ней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а затем можем выполнить задачу в любой момент — например, передать её в поток или положить в очередь задач.</a:t>
            </a:r>
          </a:p>
          <a:p>
            <a:endParaRPr lang="ru-RU" dirty="0"/>
          </a:p>
          <a:p>
            <a:r>
              <a:rPr lang="ru-RU" dirty="0"/>
              <a:t>Если во время выполнения функции происходит исключение, оно автоматически сохраняется и будет выброшено 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Таким образом, результат и ошибки безопасно передаются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1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 примерное внутреннее устройство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Ключевая идея здесь — </a:t>
            </a:r>
            <a:r>
              <a:rPr lang="ru-RU" b="1" dirty="0"/>
              <a:t>общее состояние</a:t>
            </a:r>
            <a:r>
              <a:rPr lang="ru-RU" dirty="0"/>
              <a:t>, которое разделяется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Это состояние хранит либо результат вычисления, либо исключение, если оно произошло.</a:t>
            </a:r>
          </a:p>
          <a:p>
            <a:endParaRPr lang="ru-RU" dirty="0"/>
          </a:p>
          <a:p>
            <a:r>
              <a:rPr lang="ru-RU" dirty="0"/>
              <a:t>Слева у нас находится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 Он содержит вызываемый объект — функцию или лямбду — и предоставляет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который запускает эту функцию. Когда задача выполняется, её результат помещается в общее состояние.</a:t>
            </a:r>
          </a:p>
          <a:p>
            <a:endParaRPr lang="ru-RU" dirty="0"/>
          </a:p>
          <a:p>
            <a:r>
              <a:rPr lang="ru-RU" dirty="0"/>
              <a:t>Справа находится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который связан с тем же самым состоянием. Когда в другом потоке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он получает результат из этого общего состояния или выбрасывает сохранённое исключение.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отвечает за </a:t>
            </a:r>
            <a:r>
              <a:rPr lang="ru-RU" b="1" dirty="0"/>
              <a:t>выполнение задачи и установку результата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— за </a:t>
            </a:r>
            <a:r>
              <a:rPr lang="ru-RU" b="1" dirty="0"/>
              <a:t>получение этого результата в другом потоке</a:t>
            </a:r>
            <a:r>
              <a:rPr lang="ru-RU" dirty="0"/>
              <a:t>. Общее состояние служит каналом передачи данных между ними.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901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для выполнения функции в другом потоке и получения её результата.</a:t>
            </a:r>
          </a:p>
          <a:p>
            <a:endParaRPr lang="ru-RU" dirty="0"/>
          </a:p>
          <a:p>
            <a:r>
              <a:rPr lang="ru-RU" dirty="0"/>
              <a:t>Сначала мы создаём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, передавая ему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.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указывает сигнатуру функции: она принимает два аргумента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Этот метод возвращает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который будет связан с результатом выполнения задачи.</a:t>
            </a:r>
          </a:p>
          <a:p>
            <a:endParaRPr lang="ru-RU" dirty="0"/>
          </a:p>
          <a:p>
            <a:r>
              <a:rPr lang="ru-RU" dirty="0"/>
              <a:t>Далее мы запускаем новый 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и передаём в него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 Обратите внимание, что задача передаётся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— перемещаемый, но не копируемый объект. Поток вызывает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, тем самым выполняя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функция завершается, её результат помещается в общее состояние, связанное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После этого в главном потоке мы можем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получить вычисленное значение.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позволяет связать выполнение функции в одном потоке с получением результата в другом.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48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показана типичная ошибка при работе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и получаем связанный с ней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Но после этого </a:t>
            </a:r>
            <a:r>
              <a:rPr lang="ru-RU" b="1" dirty="0"/>
              <a:t>задача никогда не запускается</a:t>
            </a:r>
            <a:r>
              <a:rPr lang="ru-RU" dirty="0"/>
              <a:t> — мы не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не передаём её в поток.</a:t>
            </a:r>
          </a:p>
          <a:p>
            <a:endParaRPr lang="ru-RU" dirty="0"/>
          </a:p>
          <a:p>
            <a:r>
              <a:rPr lang="ru-RU" dirty="0"/>
              <a:t>Тем не менее в главном потоке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ждёт, пока в общем состоянии не появится результат вычисления. Но так как задача никогда не выполняется, результат никогда не будет установлен.</a:t>
            </a:r>
          </a:p>
          <a:p>
            <a:endParaRPr lang="ru-RU" dirty="0"/>
          </a:p>
          <a:p>
            <a:r>
              <a:rPr lang="ru-RU" dirty="0"/>
              <a:t>В итоге поток, вызвавший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будет </a:t>
            </a:r>
            <a:r>
              <a:rPr lang="ru-RU" b="1" dirty="0"/>
              <a:t>ждать бесконечно</a:t>
            </a:r>
            <a:r>
              <a:rPr lang="ru-RU" dirty="0"/>
              <a:t>. Программа фактически зависает.</a:t>
            </a:r>
          </a:p>
          <a:p>
            <a:endParaRPr lang="ru-RU" dirty="0"/>
          </a:p>
          <a:p>
            <a:r>
              <a:rPr lang="ru-RU" dirty="0"/>
              <a:t>Важно помнить: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блокируется до тех пор, пока результат не будет установлен.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обязательно должна быть выполнена — напрямую или в другом потоке.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177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исключения передаются из фонового потока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</a:t>
            </a:r>
            <a:r>
              <a:rPr lang="ru-RU" dirty="0"/>
              <a:t> выбрасывает исключение, если происходит деление на ноль. Мы оборачиваем эту функцию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, получаем связанный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а затем запускаем задачу в отдельном потоке.</a:t>
            </a:r>
          </a:p>
          <a:p>
            <a:endParaRPr lang="ru-RU" dirty="0"/>
          </a:p>
          <a:p>
            <a:r>
              <a:rPr lang="ru-RU" dirty="0"/>
              <a:t>Когда функция выполняется, внутри неё происходит исключение. Оно </a:t>
            </a:r>
            <a:r>
              <a:rPr lang="ru-RU" b="1" dirty="0"/>
              <a:t>не теряется и не приводит к аварийному завершению программы</a:t>
            </a:r>
            <a:r>
              <a:rPr lang="ru-RU" dirty="0"/>
              <a:t>. Вместо этого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перехватывает исключение и сохраняет его в общем состоянии, связанном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Позже, когда в главном потоке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это исключение повторно выбрасывается уже в этом потоке. Поэтому мы можем перехватить его обычным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служит не только для передачи результата вычисления, но и для безопасной передачи исключений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32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использовали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 В обоих случаях результат вычисления автоматически устанавливается после выполнения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бывают ситуации, когда это неудобно. Например, когда поток выполняет несколько шагов работы, взаимодействует с внешним API или должен по-разному завершиться в зависимости от условий.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таких случаях нам может понадобиться </a:t>
            </a:r>
            <a:r>
              <a:rPr lang="ru-RU" b="1" dirty="0"/>
              <a:t>самим установить результат вычисления</a:t>
            </a:r>
            <a:r>
              <a:rPr lang="ru-RU" dirty="0"/>
              <a:t> или передать исключение. То есть поток выполняет какую-то работу и в нужный момент сообщает: вот результат, или произошла ошибка.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в стандартной библиотеке есть ещё один механизм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 Он позволяет вручную установить значение или исключение, которое затем можно получить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489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— это механизм, который позволяет вручную установить результат вычисления.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, где результат устанавливается автоматически после выполнения функции, здесь мы сами решаем, когда именно результат будет готов. Мы можем установить значение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set_value</a:t>
            </a:r>
            <a:r>
              <a:rPr lang="ru-RU" dirty="0"/>
              <a:t> или передать исключение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set_exception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связан с объектом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через общее состояние. Поток, выполняющий работу, устанавливает результат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а другой поток получает его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удобно использовать в ситуациях, когда результат появляется не в результате вызова одной функции, а после выполнения некоторой логики внутри потока или после наступления какого-то события.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076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как связаны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Оба объекта разделяют </a:t>
            </a:r>
            <a:r>
              <a:rPr lang="ru-RU" b="1" dirty="0"/>
              <a:t>общее состояние</a:t>
            </a:r>
            <a:r>
              <a:rPr lang="ru-RU" dirty="0"/>
              <a:t>, которое хранит либо результат вычисления, либо исключение. Это общее состояние можно рассматривать как канал передачи данных между потоками.</a:t>
            </a:r>
          </a:p>
          <a:p>
            <a:endParaRPr lang="ru-RU" dirty="0"/>
          </a:p>
          <a:p>
            <a:r>
              <a:rPr lang="ru-RU" dirty="0"/>
              <a:t>С одной стороны находится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 Поток, выполняющий работу, устанавливает результат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set_value</a:t>
            </a:r>
            <a:r>
              <a:rPr lang="ru-RU" dirty="0"/>
              <a:t>, либо передаёт исключение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set_exception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 другой стороны находится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Поток, ожидающий результат,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получает либо значение, либо исключение.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отвечает за </a:t>
            </a:r>
            <a:r>
              <a:rPr lang="ru-RU" b="1" dirty="0"/>
              <a:t>установку результата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— за </a:t>
            </a:r>
            <a:r>
              <a:rPr lang="ru-RU" b="1" dirty="0"/>
              <a:t>его получение</a:t>
            </a:r>
            <a:r>
              <a:rPr lang="ru-RU" dirty="0"/>
              <a:t>. Они связаны через общее состояние и позволяют безопасно передавать данные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36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можно установить либо результат вычисления, либо исключение.</a:t>
            </a:r>
          </a:p>
          <a:p>
            <a:endParaRPr lang="ru-RU" dirty="0"/>
          </a:p>
          <a:p>
            <a:r>
              <a:rPr lang="ru-RU" dirty="0"/>
              <a:t>Здесь важно отметить, что </a:t>
            </a:r>
            <a:r>
              <a:rPr lang="ru-RU" b="1" dirty="0"/>
              <a:t>всё происходит в одном потоке</a:t>
            </a:r>
            <a:r>
              <a:rPr lang="ru-RU" dirty="0"/>
              <a:t> — это просто демонстрация механизма передачи значения или исключения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пытаемся взять первый элемент из пустого вектора.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выбрасывает исключение. Мы перехватываем его и сохраняем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set_exception</a:t>
            </a:r>
            <a:r>
              <a:rPr lang="ru-RU" dirty="0"/>
              <a:t>, передав текущий объект исключения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current_exception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бы операция прошла успешно, мы бы установили значение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получаем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связанный с этим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и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Поскольку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было сохранено исключение, оно повторно выбрасывается 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перехватывается во втором блоке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позволяют передавать не только результат вычисления, но и исключения — даже если вычисление происходит в другом потоке. В данном примере для простоты всё показано в одном потоке.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7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используется для передачи результата из фонового потока.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</a:t>
            </a:r>
            <a:r>
              <a:rPr lang="ru-RU" dirty="0"/>
              <a:t> выполняется в отдельном потоке. Она получает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в зависимости от результата работы либо устанавливает значение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set_value</a:t>
            </a:r>
            <a:r>
              <a:rPr lang="ru-RU" dirty="0"/>
              <a:t>, либо устанавливает исключение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set_exception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сначала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затем получаем связанный с ним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После этого передаём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в поток. Обратите внимание, что объект передаётся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нельзя копировать — только перемещать.</a:t>
            </a:r>
          </a:p>
          <a:p>
            <a:endParaRPr lang="ru-RU" dirty="0"/>
          </a:p>
          <a:p>
            <a:r>
              <a:rPr lang="ru-RU" dirty="0"/>
              <a:t>Когда поток завершает вычисление, он устанавливает результат или исключение. В главном потоке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который либо возвращает результат вычисления, либо повторно выбрасывает исключение.</a:t>
            </a:r>
          </a:p>
          <a:p>
            <a:endParaRPr lang="ru-RU" dirty="0"/>
          </a:p>
          <a:p>
            <a:r>
              <a:rPr lang="ru-RU" dirty="0"/>
              <a:t>В примере показаны оба случая: в первом вызове деление проходит успешно и возвращается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lang="ru-RU" dirty="0"/>
              <a:t>. Во втором случае происходит деление на ноль, поток устанавливает исключение, и 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оно выбрасывается в главном потоке.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26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ситуацию, которая называется </a:t>
            </a:r>
            <a:r>
              <a:rPr lang="ru-RU" b="1" dirty="0" err="1"/>
              <a:t>broken</a:t>
            </a:r>
            <a:r>
              <a:rPr lang="ru-RU" b="1" dirty="0"/>
              <a:t> </a:t>
            </a:r>
            <a:r>
              <a:rPr lang="ru-RU" b="1" dirty="0" err="1"/>
              <a:t>promise</a:t>
            </a:r>
            <a:r>
              <a:rPr lang="ru-RU" dirty="0"/>
              <a:t> — «нарушенное обещание».</a:t>
            </a:r>
          </a:p>
          <a:p>
            <a:endParaRPr lang="ru-RU" dirty="0"/>
          </a:p>
          <a:p>
            <a:r>
              <a:rPr lang="ru-RU" dirty="0"/>
              <a:t>Мы создаём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получаем связанный с ним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Но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выходит из области видимости и уничтожается </a:t>
            </a:r>
            <a:r>
              <a:rPr lang="ru-RU" b="1" dirty="0"/>
              <a:t>до того, как в него было установлено значение или исключение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Общее состояние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при этом всё ещё существует, но результат так и не был установлен. Когда в дальнейшем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future.get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библиотека обнаруживает, что источник результата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— уже уничтожен.</a:t>
            </a:r>
          </a:p>
          <a:p>
            <a:endParaRPr lang="ru-RU" dirty="0"/>
          </a:p>
          <a:p>
            <a:r>
              <a:rPr lang="ru-RU" dirty="0"/>
              <a:t>В этой ситуации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выбрасывает исключение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future_error</a:t>
            </a:r>
            <a:r>
              <a:rPr lang="ru-RU" dirty="0"/>
              <a:t> с кодом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future_errc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broken_promise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защитный механизм: он сообщает, что вычисление, от которого ожидался результат, </a:t>
            </a:r>
            <a:r>
              <a:rPr lang="ru-RU" b="1" dirty="0"/>
              <a:t>никогда не завершится</a:t>
            </a:r>
            <a:r>
              <a:rPr lang="ru-RU" dirty="0"/>
              <a:t>, потому что объект, который должен был установить результат, уже уничтожен.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743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запускали задачи напрямую в потоках. Но на практике часто используется другая архитектура: один поток создаёт задачи, а другие потоки выполняют их.</a:t>
            </a:r>
          </a:p>
          <a:p>
            <a:endParaRPr lang="ru-RU" dirty="0"/>
          </a:p>
          <a:p>
            <a:r>
              <a:rPr lang="ru-RU" dirty="0"/>
              <a:t>Для этого удобно использовать очередь задач. Когда появляется новая работа, мы оборачиваем функцию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и получаем связанный с ней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можно будет позже получить результат выполнения.</a:t>
            </a:r>
          </a:p>
          <a:p>
            <a:endParaRPr lang="ru-RU" dirty="0"/>
          </a:p>
          <a:p>
            <a:r>
              <a:rPr lang="ru-RU" dirty="0"/>
              <a:t>Затем мы помещаем эту задачу в </a:t>
            </a:r>
            <a:r>
              <a:rPr lang="ru-RU" dirty="0" err="1"/>
              <a:t>потокобезопасную</a:t>
            </a:r>
            <a:r>
              <a:rPr lang="ru-RU" dirty="0"/>
              <a:t> очередь. Рабочий поток извлекает задачи из очереди и выполняет их. При выполнении задачи автоматически устанавливается результат, который можно получить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позволяет отделить </a:t>
            </a:r>
            <a:r>
              <a:rPr lang="ru-RU" b="1" dirty="0"/>
              <a:t>создание задачи</a:t>
            </a:r>
            <a:r>
              <a:rPr lang="ru-RU" dirty="0"/>
              <a:t>, </a:t>
            </a:r>
            <a:r>
              <a:rPr lang="ru-RU" b="1" dirty="0"/>
              <a:t>её выполнение</a:t>
            </a:r>
            <a:r>
              <a:rPr lang="ru-RU" dirty="0"/>
              <a:t> и </a:t>
            </a:r>
            <a:r>
              <a:rPr lang="ru-RU" b="1" dirty="0"/>
              <a:t>получение результата</a:t>
            </a:r>
            <a:r>
              <a:rPr lang="ru-RU" dirty="0"/>
              <a:t>. Это основа для реализации </a:t>
            </a:r>
            <a:r>
              <a:rPr lang="ru-RU" dirty="0" err="1"/>
              <a:t>executors</a:t>
            </a:r>
            <a:r>
              <a:rPr lang="ru-RU" dirty="0"/>
              <a:t> и пулов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117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общая идея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ThreadExecutor</a:t>
            </a:r>
            <a:r>
              <a:rPr lang="ru-RU" dirty="0"/>
              <a:t>.</a:t>
            </a:r>
          </a:p>
          <a:p>
            <a:r>
              <a:rPr lang="ru-RU" dirty="0"/>
              <a:t>Этот класс реализует </a:t>
            </a:r>
            <a:r>
              <a:rPr lang="ru-RU" b="1" dirty="0"/>
              <a:t>очень простой исполнитель задач</a:t>
            </a:r>
            <a:r>
              <a:rPr lang="ru-RU" dirty="0"/>
              <a:t> — один рабочий поток и очередь задач. Основная идея такая: другие потоки могут добавлять задачи в очередь, а рабочий поток будет их по очереди выполнять.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Внутри класса есть несколько ключевых компонентов.</a:t>
            </a:r>
            <a:br>
              <a:rPr lang="ru-RU" dirty="0"/>
            </a:br>
            <a:r>
              <a:rPr lang="ru-RU" dirty="0"/>
              <a:t>Во-первых,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m_tasks</a:t>
            </a:r>
            <a:r>
              <a:rPr lang="ru-RU" dirty="0"/>
              <a:t> — это очередь задач. Каждая задача представляет собой вызываемый объект без параметров.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. Они используются для синхронизации доступа к очереди задач и для уведомления рабочего потока о появлении новой работы.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И, наконец,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m_thread</a:t>
            </a:r>
            <a:r>
              <a:rPr lang="ru-RU" dirty="0"/>
              <a:t> — это сам рабочий поток. В конструкторе он запускает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ThreadProc</a:t>
            </a:r>
            <a:r>
              <a:rPr lang="ru-RU" dirty="0"/>
              <a:t>, которая будет извлекать задачи из очереди и выполнять их.</a:t>
            </a:r>
          </a:p>
          <a:p>
            <a:endParaRPr lang="ru-RU" dirty="0"/>
          </a:p>
          <a:p>
            <a:r>
              <a:rPr lang="ru-RU" dirty="0"/>
              <a:t>В деструкторе мы посылаем потоку сигнал остановки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dirty="0"/>
              <a:t> и уведомляем условную переменную, чтобы поток проснулся, если он ждёт новых задач.</a:t>
            </a:r>
          </a:p>
          <a:p>
            <a:endParaRPr lang="ru-RU" dirty="0"/>
          </a:p>
          <a:p>
            <a:r>
              <a:rPr lang="ru-RU" dirty="0"/>
              <a:t>Таким образом, этот класс реализует базовую модель </a:t>
            </a:r>
            <a:r>
              <a:rPr lang="ru-RU" b="1" dirty="0" err="1"/>
              <a:t>producer</a:t>
            </a:r>
            <a:r>
              <a:rPr lang="ru-RU" b="1" dirty="0"/>
              <a:t>–</a:t>
            </a:r>
            <a:r>
              <a:rPr lang="ru-RU" b="1" dirty="0" err="1"/>
              <a:t>consumer</a:t>
            </a:r>
            <a:r>
              <a:rPr lang="ru-RU" dirty="0"/>
              <a:t>: одни потоки добавляют задачи, другой поток их выполняет.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093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ThreadExecutor</a:t>
            </a:r>
            <a:r>
              <a:rPr lang="ru-RU" dirty="0"/>
              <a:t> добавляется новая задача.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ExecuteAsync</a:t>
            </a:r>
            <a:r>
              <a:rPr lang="ru-RU" dirty="0"/>
              <a:t> принимает некоторый вызываемый объект — например, лямбду. Мы оборачиваем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 Это позволяет связать выполнение задачи с объектом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через который можно получить результат.</a:t>
            </a:r>
          </a:p>
          <a:p>
            <a:endParaRPr lang="ru-RU" dirty="0"/>
          </a:p>
          <a:p>
            <a:r>
              <a:rPr lang="ru-RU" dirty="0"/>
              <a:t>Затем мы извлекаем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. Этот объект будет возвращён вызывающему коду, чтобы позже можно было получить результат вычисления.</a:t>
            </a:r>
          </a:p>
          <a:p>
            <a:endParaRPr lang="ru-RU" dirty="0"/>
          </a:p>
          <a:p>
            <a:r>
              <a:rPr lang="ru-RU" dirty="0"/>
              <a:t>После этого задача помещается в очередь. Доступ к очереди защищён мьютексом, поэтому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задача добавлена,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условной переменной. Это пробуждает рабочий поток, если он в данный момент ждёт появления новых задач.</a:t>
            </a:r>
          </a:p>
          <a:p>
            <a:endParaRPr lang="ru-RU" dirty="0"/>
          </a:p>
          <a:p>
            <a:r>
              <a:rPr lang="ru-RU" dirty="0"/>
              <a:t>В итоге вызывающий код получает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а сама задача отправляется на выполнение в фоновый поток.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237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показывает, как работает рабочий поток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ThreadExecutor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ThreadProc</a:t>
            </a:r>
            <a:r>
              <a:rPr lang="ru-RU" dirty="0"/>
              <a:t> выполняется в отдельном потоке и постоянно ждёт появления новых задач в очереди. Для этого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Поток захватывает мьютекс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, который блокирует поток до тех пор, пока не появится задача в очереди или не будет запрошена остановка.</a:t>
            </a:r>
          </a:p>
          <a:p>
            <a:endParaRPr lang="ru-RU" dirty="0"/>
          </a:p>
          <a:p>
            <a:r>
              <a:rPr lang="ru-RU" dirty="0"/>
              <a:t>Если задач нет и был получен сигнал остановки, поток завершает работу.</a:t>
            </a:r>
          </a:p>
          <a:p>
            <a:endParaRPr lang="ru-RU" dirty="0"/>
          </a:p>
          <a:p>
            <a:r>
              <a:rPr lang="ru-RU" dirty="0"/>
              <a:t>Когда в очереди появляется задача, поток извлекает её, освобождает мьютекс и выполняет задачу. Освобождение мьютекса перед выполнением важно, чтобы другие потоки могли добавлять новые задачи в очередь.</a:t>
            </a:r>
          </a:p>
          <a:p>
            <a:endParaRPr lang="ru-RU" dirty="0"/>
          </a:p>
          <a:p>
            <a:r>
              <a:rPr lang="ru-RU" dirty="0"/>
              <a:t>После выполнения задача автоматически устанавливает результат в связанный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и вызывающий код сможет получить его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ThreadExecutor</a:t>
            </a:r>
            <a:r>
              <a:rPr lang="ru-RU" dirty="0"/>
              <a:t> реализует простой механизм выполнения асинхронных задач через очередь и рабочий поток.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908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вспомогательный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FunctionWrapper</a:t>
            </a:r>
            <a:r>
              <a:rPr lang="ru-RU" dirty="0"/>
              <a:t>, который используется для хранения задач в очереди.</a:t>
            </a:r>
          </a:p>
          <a:p>
            <a:endParaRPr lang="ru-RU" dirty="0"/>
          </a:p>
          <a:p>
            <a:r>
              <a:rPr lang="ru-RU" dirty="0"/>
              <a:t>Проблема заключается в том,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 является </a:t>
            </a:r>
            <a:r>
              <a:rPr lang="ru-RU" b="1" dirty="0"/>
              <a:t>перемещаемым, но не копируемым объектом</a:t>
            </a:r>
            <a:r>
              <a:rPr lang="ru-RU" dirty="0"/>
              <a:t>.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ru-RU" dirty="0"/>
              <a:t> не подходит для хранения таких объектов, потому что он требует </a:t>
            </a:r>
            <a:r>
              <a:rPr lang="ru-RU" dirty="0" err="1"/>
              <a:t>копируемости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используется собственная обёртка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FunctionWrapper</a:t>
            </a:r>
            <a:r>
              <a:rPr lang="ru-RU" dirty="0"/>
              <a:t>. Она реализует </a:t>
            </a:r>
            <a:r>
              <a:rPr lang="ru-RU" b="1" dirty="0" err="1"/>
              <a:t>type</a:t>
            </a:r>
            <a:r>
              <a:rPr lang="ru-RU" b="1" dirty="0"/>
              <a:t> </a:t>
            </a:r>
            <a:r>
              <a:rPr lang="ru-RU" b="1" dirty="0" err="1"/>
              <a:t>erasure</a:t>
            </a:r>
            <a:r>
              <a:rPr lang="ru-RU" dirty="0"/>
              <a:t>: внутри хранится указатель на базовый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ImplBase</a:t>
            </a:r>
            <a:r>
              <a:rPr lang="ru-RU" dirty="0"/>
              <a:t>, а конкретный тип функции скрыт внутри шаблонной реализации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FunctionWrapper</a:t>
            </a:r>
            <a:r>
              <a:rPr lang="ru-RU" dirty="0"/>
              <a:t>, переданная функция или задача сохраняется внутри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</a:t>
            </a:r>
            <a:r>
              <a:rPr lang="ru-RU" dirty="0"/>
              <a:t>. Позже, когда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управление передаётся методу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, который просто вызывает сохранённую функцию.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FunctionWrapper</a:t>
            </a:r>
            <a:r>
              <a:rPr lang="ru-RU" dirty="0"/>
              <a:t> позволяет хранить в одной очереди </a:t>
            </a:r>
            <a:r>
              <a:rPr lang="ru-RU" b="1" dirty="0"/>
              <a:t>разные типы задач</a:t>
            </a:r>
            <a:r>
              <a:rPr lang="ru-RU" dirty="0"/>
              <a:t>, включая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packaged_task</a:t>
            </a:r>
            <a:r>
              <a:rPr lang="ru-RU" dirty="0"/>
              <a:t>, и при этом поддерживает перемещение, но запрещает копирование. Это делает его удобным контейнером для очереди задач нашего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ThreadExecutor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487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использовали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для получения результата асинхронной задачи. Но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есть важное ограничение: результат можно получить только один раз.</a:t>
            </a:r>
          </a:p>
          <a:p>
            <a:endParaRPr lang="ru-RU" dirty="0"/>
          </a:p>
          <a:p>
            <a:r>
              <a:rPr lang="ru-RU" dirty="0"/>
              <a:t>Когда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значение извлекается из общего состояния, и после этого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становится </a:t>
            </a:r>
            <a:r>
              <a:rPr lang="ru-RU" dirty="0" err="1"/>
              <a:t>невалидным</a:t>
            </a:r>
            <a:r>
              <a:rPr lang="ru-RU" dirty="0"/>
              <a:t>. Кроме того, безопасно использовать один и тот же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из нескольких потоков нельзя.</a:t>
            </a:r>
          </a:p>
          <a:p>
            <a:endParaRPr lang="ru-RU" dirty="0"/>
          </a:p>
          <a:p>
            <a:r>
              <a:rPr lang="ru-RU" dirty="0"/>
              <a:t>Если же результат вычисления нужен </a:t>
            </a:r>
            <a:r>
              <a:rPr lang="ru-RU" b="1" dirty="0"/>
              <a:t>нескольким потокам</a:t>
            </a:r>
            <a:r>
              <a:rPr lang="ru-RU" dirty="0"/>
              <a:t>,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. 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, он копируемый, и его можно передавать в разные потоки. Каждый поток может иметь свою копию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и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независимо.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позволяет реализовать сценарий </a:t>
            </a:r>
            <a:r>
              <a:rPr lang="ru-RU" b="1" dirty="0"/>
              <a:t>один вычисляет — многие читают результат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63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позволяет нескольким задачам использовать один и тот же результат вычисления.</a:t>
            </a:r>
          </a:p>
          <a:p>
            <a:endParaRPr lang="ru-RU" dirty="0"/>
          </a:p>
          <a:p>
            <a:r>
              <a:rPr lang="ru-RU" dirty="0"/>
              <a:t>Сначала мы запускаем две асинхронные задачи, которые возвращают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</a:t>
            </a:r>
            <a:r>
              <a:rPr lang="ru-RU" dirty="0"/>
              <a:t>. Сразу после этого вызываем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чтобы преобразовать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. Это позволит передавать результат в несколько других задач.</a:t>
            </a:r>
          </a:p>
          <a:p>
            <a:endParaRPr lang="ru-RU" dirty="0"/>
          </a:p>
          <a:p>
            <a:r>
              <a:rPr lang="ru-RU" dirty="0"/>
              <a:t>Далее создаётся задача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f3</a:t>
            </a:r>
            <a:r>
              <a:rPr lang="ru-RU" dirty="0"/>
              <a:t>, которая получает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и складывает их значения. Результат этой задачи снова превращается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, чтобы его можно было использовать повторно.</a:t>
            </a:r>
          </a:p>
          <a:p>
            <a:endParaRPr lang="ru-RU" dirty="0"/>
          </a:p>
          <a:p>
            <a:r>
              <a:rPr lang="ru-RU" dirty="0"/>
              <a:t>Затем создаётся задача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f4</a:t>
            </a:r>
            <a:r>
              <a:rPr lang="ru-RU" dirty="0"/>
              <a:t>, которая использует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f2</a:t>
            </a:r>
            <a:r>
              <a:rPr lang="ru-RU" dirty="0"/>
              <a:t> и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f3</a:t>
            </a:r>
            <a:r>
              <a:rPr lang="ru-RU" dirty="0"/>
              <a:t> и перемножает их.</a:t>
            </a:r>
          </a:p>
          <a:p>
            <a:endParaRPr lang="ru-RU" dirty="0"/>
          </a:p>
          <a:p>
            <a:r>
              <a:rPr lang="ru-RU" dirty="0"/>
              <a:t>Обратите внимание, что значение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можно получать много раз — разные задачи могут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независимо друг от друга. В конце главная функция получает результат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f3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f4</a:t>
            </a:r>
            <a:r>
              <a:rPr lang="ru-RU" dirty="0"/>
              <a:t> и выводит их.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shared_future</a:t>
            </a:r>
            <a:r>
              <a:rPr lang="ru-RU" dirty="0"/>
              <a:t> позволяет строить </a:t>
            </a:r>
            <a:r>
              <a:rPr lang="ru-RU" b="1" dirty="0"/>
              <a:t>граф вычислений</a:t>
            </a:r>
            <a:r>
              <a:rPr lang="ru-RU" dirty="0"/>
              <a:t>, где результат одной задачи используется несколькими другими задачами.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814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3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8497-FF2D-4297-947F-6DF5C0201AD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7F25-E901-4B59-841A-D241B6F4A9B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D25B-1CC8-495C-9DC6-D707747D7889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2920-FDC5-4921-9363-F44EBFE11BE2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8C03-7098-4D07-AC96-5916D5510B17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6BF4-BDF4-4753-8535-119F1907E495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6E06E-D03A-41E2-8495-D80153399BE0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23F3-13A9-4288-AFB1-19BE92A76B54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29D4-A282-4D06-8314-3E0DC2A32609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329D-F8B7-4984-9105-8CEFE4FF1D4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494A1-BB17-412C-AAF7-3A2D4DB4CEA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5708B-E533-4C33-828D-5DF08E5073C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latch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stop_toke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pp/thread/stop_source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stop_callbac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TYTqP8x9P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Gd1ssznn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ej4sjbas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condition_variable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99E1-33FD-FB31-1D48-33E0470F1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Синхронизация операций между потоками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F72C58-DE2E-FD38-CE09-FF26B15B6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512E-9C5A-EDC8-2268-8E0C6667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Ожидание наступления события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979D40-D84B-2EDD-5807-663DD7A9E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8144" y="1825625"/>
            <a:ext cx="7735711" cy="435133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EBE5B-B280-72AE-8C63-E4092ADE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3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4535EB-51BB-5CA0-75BD-D728E178855E}"/>
              </a:ext>
            </a:extLst>
          </p:cNvPr>
          <p:cNvSpPr txBox="1"/>
          <p:nvPr/>
        </p:nvSpPr>
        <p:spPr>
          <a:xfrm>
            <a:off x="0" y="0"/>
            <a:ext cx="12192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WaitForFlag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; ++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m };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(condition)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std::mutex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data;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consumer{ [&amp;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Consumer is waiting for data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 =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WaitForFlag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Consumer checked flag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count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times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data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producer{ [&amp;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is preparing data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data =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has prepared data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has set the </a:t>
            </a:r>
            <a:r>
              <a:rPr lang="en-US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flag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87E0E-54E0-E9AF-B909-FB9863378448}"/>
              </a:ext>
            </a:extLst>
          </p:cNvPr>
          <p:cNvSpPr txBox="1"/>
          <p:nvPr/>
        </p:nvSpPr>
        <p:spPr>
          <a:xfrm>
            <a:off x="6580772" y="4911559"/>
            <a:ext cx="5476875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Consumer is waiting for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is preparing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prepared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set the </a:t>
            </a:r>
            <a:r>
              <a:rPr lang="en-US" dirty="0" err="1">
                <a:latin typeface="Consolas" panose="020B0609020204030204" pitchFamily="49" charset="0"/>
              </a:rPr>
              <a:t>dataIsReady</a:t>
            </a:r>
            <a:r>
              <a:rPr lang="en-US" dirty="0">
                <a:latin typeface="Consolas" panose="020B0609020204030204" pitchFamily="49" charset="0"/>
              </a:rPr>
              <a:t> flag</a:t>
            </a:r>
          </a:p>
          <a:p>
            <a:r>
              <a:rPr lang="en-US" dirty="0">
                <a:latin typeface="Consolas" panose="020B0609020204030204" pitchFamily="49" charset="0"/>
              </a:rPr>
              <a:t>Consumer checked flag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29996159</a:t>
            </a:r>
            <a:r>
              <a:rPr lang="en-US" dirty="0">
                <a:latin typeface="Consolas" panose="020B0609020204030204" pitchFamily="49" charset="0"/>
              </a:rPr>
              <a:t> times</a:t>
            </a:r>
          </a:p>
          <a:p>
            <a:r>
              <a:rPr lang="en-US" dirty="0">
                <a:latin typeface="Consolas" panose="020B0609020204030204" pitchFamily="49" charset="0"/>
              </a:rPr>
              <a:t>Hello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7FA59-D6F0-EFAE-2439-33CFDDCD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4B1C-CB08-0E61-503D-AF23F673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Чередуем проверку флага со сном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17FFC-BE17-AFE2-917F-EF354E06110C}"/>
              </a:ext>
            </a:extLst>
          </p:cNvPr>
          <p:cNvSpPr txBox="1"/>
          <p:nvPr/>
        </p:nvSpPr>
        <p:spPr>
          <a:xfrm>
            <a:off x="838200" y="169068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WaitForFlag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Захватываем мьютекс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 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Проверяем наступление условия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 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Захватываем мьютекс перед следующей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проверой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условия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 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мьютекс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Спим, чтобы не тратить время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CPU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checkCount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F5355-425A-1EEF-D4C3-ABFC38CEE979}"/>
              </a:ext>
            </a:extLst>
          </p:cNvPr>
          <p:cNvSpPr txBox="1"/>
          <p:nvPr/>
        </p:nvSpPr>
        <p:spPr>
          <a:xfrm>
            <a:off x="6241143" y="4950323"/>
            <a:ext cx="5689600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Consumer is waiting for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is preparing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prepared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set the </a:t>
            </a:r>
            <a:r>
              <a:rPr lang="en-US" dirty="0" err="1">
                <a:latin typeface="Consolas" panose="020B0609020204030204" pitchFamily="49" charset="0"/>
              </a:rPr>
              <a:t>dataIsReady</a:t>
            </a:r>
            <a:r>
              <a:rPr lang="en-US" dirty="0">
                <a:latin typeface="Consolas" panose="020B0609020204030204" pitchFamily="49" charset="0"/>
              </a:rPr>
              <a:t> flag</a:t>
            </a:r>
          </a:p>
          <a:p>
            <a:r>
              <a:rPr lang="en-US" dirty="0">
                <a:latin typeface="Consolas" panose="020B0609020204030204" pitchFamily="49" charset="0"/>
              </a:rPr>
              <a:t>Consumer checked flag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11</a:t>
            </a:r>
            <a:r>
              <a:rPr lang="en-US" dirty="0">
                <a:latin typeface="Consolas" panose="020B0609020204030204" pitchFamily="49" charset="0"/>
              </a:rPr>
              <a:t> times</a:t>
            </a:r>
          </a:p>
          <a:p>
            <a:r>
              <a:rPr lang="en-US" dirty="0">
                <a:latin typeface="Consolas" panose="020B0609020204030204" pitchFamily="49" charset="0"/>
              </a:rPr>
              <a:t>Hello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D2D1C-928F-7485-2D94-16E2BC93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2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13AD-A93A-0EB4-9A82-E9AA6E68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Условные переменные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587C7-3170-0FBB-F3FC-B002DB1A7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305CA-E7B8-88E3-68BC-6504EFF7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2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2C73-87E9-AEC9-0156-9DDF3B83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Условные переменные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6267-8D9F-7765-DBC6-B6FDD8AA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Условная переменная — механизм ожидания события</a:t>
            </a:r>
            <a:endParaRPr lang="ru-RU" dirty="0"/>
          </a:p>
          <a:p>
            <a:pPr lvl="1"/>
            <a:r>
              <a:rPr lang="ru-RU" dirty="0"/>
              <a:t>Позволяет потокам:</a:t>
            </a:r>
          </a:p>
          <a:p>
            <a:pPr lvl="2"/>
            <a:r>
              <a:rPr lang="ru-RU" dirty="0"/>
              <a:t>блокироваться до наступления условия</a:t>
            </a:r>
          </a:p>
          <a:p>
            <a:pPr lvl="2"/>
            <a:r>
              <a:rPr lang="ru-RU" dirty="0"/>
              <a:t>автоматически освобождать мьютекс во время ожидания </a:t>
            </a:r>
          </a:p>
          <a:p>
            <a:pPr lvl="2"/>
            <a:r>
              <a:rPr lang="ru-RU" dirty="0"/>
              <a:t>пробуждаться по уведомлению другого потока</a:t>
            </a:r>
          </a:p>
          <a:p>
            <a:r>
              <a:rPr lang="ru-RU" b="1" dirty="0"/>
              <a:t>В стандартной библиотеке C++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condition_variable</a:t>
            </a:r>
            <a:r>
              <a:rPr lang="ru-RU" dirty="0"/>
              <a:t> → работает с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unique_lock</a:t>
            </a:r>
            <a:r>
              <a:rPr lang="ru-RU" dirty="0"/>
              <a:t>&lt;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mutex</a:t>
            </a:r>
            <a:r>
              <a:rPr lang="ru-RU" dirty="0"/>
              <a:t>&gt;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condition_variable_any</a:t>
            </a:r>
            <a:r>
              <a:rPr lang="ru-RU" dirty="0"/>
              <a:t> → работает с любым типом, имеющим </a:t>
            </a:r>
            <a:r>
              <a:rPr lang="ru-RU" dirty="0" err="1"/>
              <a:t>lock</a:t>
            </a:r>
            <a:r>
              <a:rPr lang="ru-RU" dirty="0"/>
              <a:t>() / </a:t>
            </a:r>
            <a:r>
              <a:rPr lang="ru-RU" dirty="0" err="1"/>
              <a:t>unlock</a:t>
            </a:r>
            <a:r>
              <a:rPr lang="ru-RU" dirty="0"/>
              <a:t>()</a:t>
            </a:r>
          </a:p>
          <a:p>
            <a:r>
              <a:rPr lang="ru-RU" b="1" dirty="0"/>
              <a:t>Основные операции</a:t>
            </a:r>
          </a:p>
          <a:p>
            <a:pPr lvl="1"/>
            <a:r>
              <a:rPr lang="ru-RU" dirty="0" err="1"/>
              <a:t>wait</a:t>
            </a:r>
            <a:r>
              <a:rPr lang="ru-RU" dirty="0"/>
              <a:t>(...) — ожидание условия</a:t>
            </a:r>
          </a:p>
          <a:p>
            <a:pPr lvl="1"/>
            <a:r>
              <a:rPr lang="ru-RU" dirty="0" err="1"/>
              <a:t>notify_one</a:t>
            </a:r>
            <a:r>
              <a:rPr lang="ru-RU" dirty="0"/>
              <a:t>() — разбудить один поток</a:t>
            </a:r>
          </a:p>
          <a:p>
            <a:pPr lvl="1"/>
            <a:r>
              <a:rPr lang="ru-RU" dirty="0" err="1"/>
              <a:t>notify_all</a:t>
            </a:r>
            <a:r>
              <a:rPr lang="ru-RU" dirty="0"/>
              <a:t>() — разбудить все ожидающие потоки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07E9E-A75E-FD17-0B58-07FB26C0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6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4159-AEA8-BF5F-B5FE-1A454FD7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 err="1"/>
              <a:t>condition_variable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56873-5825-8282-E55C-079641C3DF3D}"/>
              </a:ext>
            </a:extLst>
          </p:cNvPr>
          <p:cNvSpPr txBox="1"/>
          <p:nvPr/>
        </p:nvSpPr>
        <p:spPr>
          <a:xfrm>
            <a:off x="838199" y="1690688"/>
            <a:ext cx="1070978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waitingThread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Ждём, пока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flag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не будет равен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Waiting complete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Уведомляем ожидающий поток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C114A-73E6-8CB0-87B8-03D471AF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8135-B992-AD56-637C-74E99C0D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Ложные пробуждения</a:t>
            </a:r>
            <a:r>
              <a:rPr lang="en-US" dirty="0"/>
              <a:t> (spurious wakeups)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C3DA-7826-54BF-FA7D-18BF23281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Ложное пробуждение</a:t>
            </a:r>
            <a:r>
              <a:rPr lang="ru-RU" dirty="0"/>
              <a:t> — ситуация, когда поток выходит из </a:t>
            </a:r>
            <a:r>
              <a:rPr lang="ru-RU" dirty="0" err="1"/>
              <a:t>wait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условие всё ещё не выполнено.</a:t>
            </a:r>
          </a:p>
          <a:p>
            <a:r>
              <a:rPr lang="ru-RU" b="1" dirty="0"/>
              <a:t>Почему это возможно?</a:t>
            </a:r>
          </a:p>
          <a:p>
            <a:pPr lvl="1"/>
            <a:r>
              <a:rPr lang="ru-RU" dirty="0"/>
              <a:t>Особенности реализации ОС</a:t>
            </a:r>
          </a:p>
          <a:p>
            <a:pPr lvl="1"/>
            <a:r>
              <a:rPr lang="ru-RU" dirty="0"/>
              <a:t>Оптимизации на уровне библиотек</a:t>
            </a:r>
          </a:p>
          <a:p>
            <a:pPr lvl="1"/>
            <a:r>
              <a:rPr lang="ru-RU" dirty="0"/>
              <a:t>Поток может проснуться без </a:t>
            </a:r>
            <a:r>
              <a:rPr lang="ru-RU" dirty="0" err="1"/>
              <a:t>notify_one</a:t>
            </a:r>
            <a:r>
              <a:rPr lang="ru-RU" dirty="0"/>
              <a:t>() / </a:t>
            </a:r>
            <a:r>
              <a:rPr lang="ru-RU" dirty="0" err="1"/>
              <a:t>notify_all</a:t>
            </a:r>
            <a:r>
              <a:rPr lang="ru-RU" dirty="0"/>
              <a:t>()</a:t>
            </a:r>
          </a:p>
          <a:p>
            <a:r>
              <a:rPr lang="ru-RU" b="1" dirty="0"/>
              <a:t>Как правильно работать?</a:t>
            </a:r>
          </a:p>
          <a:p>
            <a:pPr lvl="1"/>
            <a:r>
              <a:rPr lang="ru-RU" dirty="0"/>
              <a:t>✅ Всегда использовать </a:t>
            </a:r>
            <a:r>
              <a:rPr lang="ru-RU" dirty="0" err="1"/>
              <a:t>wait</a:t>
            </a:r>
            <a:r>
              <a:rPr lang="ru-RU" dirty="0"/>
              <a:t> с предикатом</a:t>
            </a:r>
          </a:p>
          <a:p>
            <a:pPr lvl="1"/>
            <a:r>
              <a:rPr lang="ru-RU" dirty="0"/>
              <a:t>✅ Проверять условие после пробуждения</a:t>
            </a:r>
          </a:p>
          <a:p>
            <a:pPr lvl="1"/>
            <a:r>
              <a:rPr lang="ru-RU" dirty="0"/>
              <a:t>❌ Не полагаться на одно только уведомление</a:t>
            </a:r>
          </a:p>
          <a:p>
            <a:pPr lvl="1"/>
            <a:r>
              <a:rPr lang="ru-RU" dirty="0"/>
              <a:t>❌ Не делать предикат с побочными эффектами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622E4-1A00-38A3-E8B4-145E4580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8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16129-8A57-D020-244D-93AE8C4E6004}"/>
              </a:ext>
            </a:extLst>
          </p:cNvPr>
          <p:cNvSpPr txBox="1"/>
          <p:nvPr/>
        </p:nvSpPr>
        <p:spPr>
          <a:xfrm>
            <a:off x="0" y="221226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waitingThread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cv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Никогда так не делайте,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wait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может завершиться до получения уведомления</a:t>
            </a:r>
            <a:endParaRPr lang="ru-RU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Условие (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flag == true)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может не сработать</a:t>
            </a:r>
            <a:endParaRPr lang="ru-RU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Уведомляем ожидающий поток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16C275-DEA8-CCC8-0B69-0E593B1E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DF7259-2705-907C-F8E7-2273664018D5}"/>
              </a:ext>
            </a:extLst>
          </p:cNvPr>
          <p:cNvSpPr txBox="1"/>
          <p:nvPr/>
        </p:nvSpPr>
        <p:spPr>
          <a:xfrm>
            <a:off x="-1" y="0"/>
            <a:ext cx="12772103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std::mutex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data;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condition_variable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readyCV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Условная переменная, сообщающая о готовности данных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consumer{ [&amp;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readyCV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Consumer is waiting for data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readyCV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checkCounter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Функция-предикат</a:t>
            </a: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Ожидание продолжается, пока предикат не вернёт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});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выходе из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wait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мьютекс будет заблокирован текущим потоком</a:t>
            </a: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Consumer checked flag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times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data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producer{ [&amp;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readyCV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is preparing data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data =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has prepared data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Producer has set the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dataIsReady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flag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readyCV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Уведомляем ожидающий поток о готовности</a:t>
            </a: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2FA2B-2C8F-1CD3-EE76-5CFC0344DD30}"/>
              </a:ext>
            </a:extLst>
          </p:cNvPr>
          <p:cNvSpPr txBox="1"/>
          <p:nvPr/>
        </p:nvSpPr>
        <p:spPr>
          <a:xfrm>
            <a:off x="7108724" y="4977947"/>
            <a:ext cx="4950542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Consumer is waiting for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is preparing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prepared data</a:t>
            </a:r>
          </a:p>
          <a:p>
            <a:r>
              <a:rPr lang="en-US" dirty="0">
                <a:latin typeface="Consolas" panose="020B0609020204030204" pitchFamily="49" charset="0"/>
              </a:rPr>
              <a:t>Producer has set the </a:t>
            </a:r>
            <a:r>
              <a:rPr lang="en-US" dirty="0" err="1">
                <a:latin typeface="Consolas" panose="020B0609020204030204" pitchFamily="49" charset="0"/>
              </a:rPr>
              <a:t>dataIsReady</a:t>
            </a:r>
            <a:r>
              <a:rPr lang="en-US" dirty="0">
                <a:latin typeface="Consolas" panose="020B0609020204030204" pitchFamily="49" charset="0"/>
              </a:rPr>
              <a:t> flag</a:t>
            </a:r>
          </a:p>
          <a:p>
            <a:r>
              <a:rPr lang="en-US" dirty="0">
                <a:latin typeface="Consolas" panose="020B0609020204030204" pitchFamily="49" charset="0"/>
              </a:rPr>
              <a:t>Consumer checked flag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</a:rPr>
              <a:t> times</a:t>
            </a:r>
          </a:p>
          <a:p>
            <a:r>
              <a:rPr lang="en-US" dirty="0">
                <a:latin typeface="Consolas" panose="020B0609020204030204" pitchFamily="49" charset="0"/>
              </a:rPr>
              <a:t>Hello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F61AF-69CB-00B5-26FD-E7FCB7E1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7158-C300-6C40-D7BB-28EF34D6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с ожиданием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079DD-9158-D57B-704A-57B5F0B9A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7A84C-4BD3-3AB3-8336-0F8EC554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05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B5084-59EE-1B1F-18B4-E42BA67664D1}"/>
              </a:ext>
            </a:extLst>
          </p:cNvPr>
          <p:cNvSpPr txBox="1"/>
          <p:nvPr/>
        </p:nvSpPr>
        <p:spPr>
          <a:xfrm>
            <a:off x="-2459" y="0"/>
            <a:ext cx="10994309" cy="6950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std::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lock_guard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m_mutex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m_stack.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(std::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m_dataCond.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notify_one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Уведомляем ожидающий поток о появлении данных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WaitAndPop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m_dataCond.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[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{ </a:t>
            </a:r>
            <a:r>
              <a:rPr lang="en-US" sz="14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!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empty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});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WaitAndPop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m_dataCond.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lk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[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{ </a:t>
            </a:r>
            <a:r>
              <a:rPr lang="en-US" sz="14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!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empty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});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is_nothrow_move_constructible_v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ru-RU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использования с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требуется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condition_variable_any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condition_variable_any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m_dataCond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7B99CE-E0A6-30D9-0100-CDE459AA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4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7FB10D-F4AA-BB82-D636-589534C42941}"/>
              </a:ext>
            </a:extLst>
          </p:cNvPr>
          <p:cNvSpPr txBox="1"/>
          <p:nvPr/>
        </p:nvSpPr>
        <p:spPr>
          <a:xfrm>
            <a:off x="471948" y="368711"/>
            <a:ext cx="1069258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WaitAndPop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0A1F8-126D-8407-2214-2F8EFDECA434}"/>
              </a:ext>
            </a:extLst>
          </p:cNvPr>
          <p:cNvSpPr txBox="1"/>
          <p:nvPr/>
        </p:nvSpPr>
        <p:spPr>
          <a:xfrm>
            <a:off x="7635978" y="3626967"/>
            <a:ext cx="4251222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</a:t>
            </a:r>
          </a:p>
          <a:p>
            <a:r>
              <a:rPr lang="en-US" dirty="0">
                <a:latin typeface="Consolas" panose="020B0609020204030204" pitchFamily="49" charset="0"/>
              </a:rPr>
              <a:t>2</a:t>
            </a:r>
          </a:p>
          <a:p>
            <a:r>
              <a:rPr lang="en-US" dirty="0">
                <a:latin typeface="Consolas" panose="020B0609020204030204" pitchFamily="49" charset="0"/>
              </a:rPr>
              <a:t>4</a:t>
            </a:r>
          </a:p>
          <a:p>
            <a:r>
              <a:rPr lang="en-US" dirty="0">
                <a:latin typeface="Consolas" panose="020B0609020204030204" pitchFamily="49" charset="0"/>
              </a:rPr>
              <a:t>7</a:t>
            </a:r>
          </a:p>
          <a:p>
            <a:r>
              <a:rPr lang="en-US" dirty="0">
                <a:latin typeface="Consolas" panose="020B0609020204030204" pitchFamily="49" charset="0"/>
              </a:rPr>
              <a:t>9</a:t>
            </a:r>
          </a:p>
          <a:p>
            <a:r>
              <a:rPr lang="en-US" dirty="0">
                <a:latin typeface="Consolas" panose="020B0609020204030204" pitchFamily="49" charset="0"/>
              </a:rPr>
              <a:t>8</a:t>
            </a:r>
          </a:p>
          <a:p>
            <a:r>
              <a:rPr lang="en-US" dirty="0">
                <a:latin typeface="Consolas" panose="020B0609020204030204" pitchFamily="49" charset="0"/>
              </a:rPr>
              <a:t>6</a:t>
            </a:r>
          </a:p>
          <a:p>
            <a:r>
              <a:rPr lang="en-US" dirty="0">
                <a:latin typeface="Consolas" panose="020B0609020204030204" pitchFamily="49" charset="0"/>
              </a:rPr>
              <a:t>5</a:t>
            </a:r>
          </a:p>
          <a:p>
            <a:r>
              <a:rPr lang="en-US" dirty="0">
                <a:latin typeface="Consolas" panose="020B0609020204030204" pitchFamily="49" charset="0"/>
              </a:rPr>
              <a:t>3</a:t>
            </a:r>
          </a:p>
          <a:p>
            <a:r>
              <a:rPr lang="en-US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140D2A-8E30-4979-863F-6363517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9F30-C4AA-0602-2188-DA1363AC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std::latch (</a:t>
            </a:r>
            <a:r>
              <a:rPr lang="ru-RU" dirty="0"/>
              <a:t>защёлка)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F120D-780E-4D4E-94D2-7919B8F24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6D91D-1C20-8C1D-9059-576E2148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09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54030A-9963-7B1D-A9F7-6D58668EB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std::latch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087598-DC6F-1F8A-9003-031A7DCBF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Одноразовый примитив синхронизации</a:t>
            </a:r>
          </a:p>
          <a:p>
            <a:pPr lvl="1"/>
            <a:r>
              <a:rPr lang="ru-RU" dirty="0"/>
              <a:t>Имеет внутренний счётчик</a:t>
            </a:r>
          </a:p>
          <a:p>
            <a:pPr lvl="1"/>
            <a:r>
              <a:rPr lang="ru-RU" dirty="0"/>
              <a:t>Инициализируется фиксированным значением</a:t>
            </a:r>
          </a:p>
          <a:p>
            <a:pPr lvl="1"/>
            <a:r>
              <a:rPr lang="ru-RU" dirty="0"/>
              <a:t>Счётчик можно только уменьшать</a:t>
            </a:r>
          </a:p>
          <a:p>
            <a:r>
              <a:rPr lang="ru-RU" dirty="0"/>
              <a:t>Основные операции</a:t>
            </a:r>
          </a:p>
          <a:p>
            <a:pPr lvl="1"/>
            <a:r>
              <a:rPr lang="ru-RU" dirty="0" err="1"/>
              <a:t>count_down</a:t>
            </a:r>
            <a:r>
              <a:rPr lang="ru-RU" dirty="0"/>
              <a:t>() — уменьшить счётчик</a:t>
            </a:r>
          </a:p>
          <a:p>
            <a:pPr lvl="1"/>
            <a:r>
              <a:rPr lang="ru-RU" dirty="0" err="1"/>
              <a:t>wait</a:t>
            </a:r>
            <a:r>
              <a:rPr lang="ru-RU" dirty="0"/>
              <a:t>() — ждать, пока счётчик станет равен 0</a:t>
            </a:r>
          </a:p>
          <a:p>
            <a:pPr lvl="1"/>
            <a:r>
              <a:rPr lang="ru-RU" dirty="0" err="1"/>
              <a:t>arrive_and_wait</a:t>
            </a:r>
            <a:r>
              <a:rPr lang="ru-RU" dirty="0"/>
              <a:t>() — уменьшить и ждать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Используется </a:t>
            </a:r>
            <a:r>
              <a:rPr lang="ru-RU" b="1" dirty="0"/>
              <a:t>один раз</a:t>
            </a:r>
            <a:endParaRPr lang="ru-RU" dirty="0"/>
          </a:p>
          <a:p>
            <a:pPr lvl="1"/>
            <a:r>
              <a:rPr lang="ru-RU" dirty="0"/>
              <a:t>После достижения нуля повторно использовать нельзя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FA33C3-5212-FF4B-59DF-883EF6AD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97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1692-E09D-1DCF-5422-841BCA4B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«Эльфы и </a:t>
            </a:r>
            <a:r>
              <a:rPr lang="ru-RU" strike="sngStrike" dirty="0"/>
              <a:t>Сатана</a:t>
            </a:r>
            <a:r>
              <a:rPr lang="ru-RU" dirty="0"/>
              <a:t> Санта»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B16F-880A-BB71-2E02-9B94B190C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Исходные данные:</a:t>
            </a:r>
          </a:p>
          <a:p>
            <a:pPr lvl="1"/>
            <a:r>
              <a:rPr lang="ru-RU" dirty="0"/>
              <a:t>🎁 20 подарков</a:t>
            </a:r>
          </a:p>
          <a:p>
            <a:pPr lvl="1"/>
            <a:r>
              <a:rPr lang="ru-RU" dirty="0"/>
              <a:t>🧝 3 эльфа</a:t>
            </a:r>
          </a:p>
          <a:p>
            <a:pPr lvl="1"/>
            <a:r>
              <a:rPr lang="ru-RU" dirty="0"/>
              <a:t>⏱ Каждый эльф работает со своей скоростью</a:t>
            </a:r>
          </a:p>
          <a:p>
            <a:r>
              <a:rPr lang="ru-RU" b="1" dirty="0"/>
              <a:t>Требование</a:t>
            </a:r>
          </a:p>
          <a:p>
            <a:pPr lvl="1"/>
            <a:r>
              <a:rPr lang="ru-RU" dirty="0"/>
              <a:t>Санта 🎅 должен начать доставку </a:t>
            </a:r>
            <a:r>
              <a:rPr lang="ru-RU" b="1" dirty="0"/>
              <a:t>только после того, как все 20 подарков будут упакованы.</a:t>
            </a:r>
            <a:endParaRPr lang="ru-RU" dirty="0"/>
          </a:p>
          <a:p>
            <a:r>
              <a:rPr lang="ru-RU" b="1" dirty="0"/>
              <a:t>Вопрос</a:t>
            </a:r>
          </a:p>
          <a:p>
            <a:pPr lvl="1"/>
            <a:r>
              <a:rPr lang="ru-RU" dirty="0"/>
              <a:t>Как корректно синхронизировать работу потоков, чтобы Санта поехал ровно в тот момент, когда последний подарок будет готов?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8C0A1-4557-15C1-5D3D-F88CE4A2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10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650C35-6774-5287-A6A1-1148F38E1F3D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latch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latch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gifts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santaClaus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latch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Ждем завершения обработки подарков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Santa delivers the gifts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elves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elves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200ms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Elf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have packed the gift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gift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latch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count_down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Elf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goes home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46EBA-6842-131C-DA4E-E3C8494F328F}"/>
              </a:ext>
            </a:extLst>
          </p:cNvPr>
          <p:cNvSpPr txBox="1"/>
          <p:nvPr/>
        </p:nvSpPr>
        <p:spPr>
          <a:xfrm>
            <a:off x="8140985" y="132735"/>
            <a:ext cx="3880201" cy="48936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Elf 1 have packed the gift 1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2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4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have packed the gift 3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6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5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8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have packed the gift 7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9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10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13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12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have packed the gift 11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14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17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15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have packed the gift 16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have packed the gift 18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have packed the gift 19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have packed the gift 20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Santa delivers the gifts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1 goes home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2 goes home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Elf 3 goes home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B4868-5FDD-4BA5-D234-819324E5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0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8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1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4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7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3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60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90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2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500"/>
                            </p:stCondLst>
                            <p:childTnLst>
                              <p:par>
                                <p:cTn id="1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8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100"/>
                            </p:stCondLst>
                            <p:childTnLst>
                              <p:par>
                                <p:cTn id="1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40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700"/>
                            </p:stCondLst>
                            <p:childTnLst>
                              <p:par>
                                <p:cTn id="1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60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C4AD-F2FD-6CD7-9700-410EEC049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9BA4E-1D24-98EF-C345-620FDF393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C4392-4891-3C64-154E-87B49EE2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06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E7D8-A3EF-9AC7-55FA-168D3B2B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14991-1BEC-B36E-590C-4A854D528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Примитив фазовой синхронизации</a:t>
            </a:r>
            <a:endParaRPr lang="ru-RU" b="1" dirty="0"/>
          </a:p>
          <a:p>
            <a:pPr lvl="1"/>
            <a:r>
              <a:rPr lang="ru-RU" dirty="0"/>
              <a:t>Участвует фиксированное количество потоков</a:t>
            </a:r>
          </a:p>
          <a:p>
            <a:pPr lvl="1"/>
            <a:r>
              <a:rPr lang="ru-RU" dirty="0"/>
              <a:t>Каждый поток сообщает о достижении барьера → </a:t>
            </a:r>
            <a:r>
              <a:rPr lang="ru-RU" dirty="0" err="1"/>
              <a:t>arrive</a:t>
            </a:r>
            <a:r>
              <a:rPr lang="ru-RU" dirty="0"/>
              <a:t>()</a:t>
            </a:r>
          </a:p>
          <a:p>
            <a:pPr lvl="1"/>
            <a:r>
              <a:rPr lang="ru-RU" dirty="0"/>
              <a:t>Все потоки продолжают работу только после того, как</a:t>
            </a:r>
            <a:br>
              <a:rPr lang="ru-RU" dirty="0"/>
            </a:br>
            <a:r>
              <a:rPr lang="ru-RU" b="1" dirty="0"/>
              <a:t>каждый</a:t>
            </a:r>
            <a:r>
              <a:rPr lang="ru-RU" dirty="0"/>
              <a:t> достиг барьера</a:t>
            </a:r>
          </a:p>
          <a:p>
            <a:r>
              <a:rPr lang="ru-RU" dirty="0"/>
              <a:t>Основные операции</a:t>
            </a:r>
          </a:p>
          <a:p>
            <a:pPr lvl="1"/>
            <a:r>
              <a:rPr lang="ru-RU" dirty="0" err="1"/>
              <a:t>arrive</a:t>
            </a:r>
            <a:r>
              <a:rPr lang="ru-RU" dirty="0"/>
              <a:t>() — отметить достижение барьера</a:t>
            </a:r>
          </a:p>
          <a:p>
            <a:pPr lvl="1"/>
            <a:r>
              <a:rPr lang="ru-RU" dirty="0" err="1"/>
              <a:t>arrive_and_wait</a:t>
            </a:r>
            <a:r>
              <a:rPr lang="ru-RU" dirty="0"/>
              <a:t>() — отметить и ждать остальных</a:t>
            </a:r>
          </a:p>
          <a:p>
            <a:pPr lvl="1"/>
            <a:r>
              <a:rPr lang="ru-RU" dirty="0"/>
              <a:t>Возможен </a:t>
            </a:r>
            <a:r>
              <a:rPr lang="ru-RU" b="1" dirty="0"/>
              <a:t>завершающий шаг</a:t>
            </a:r>
            <a:r>
              <a:rPr lang="ru-RU" dirty="0"/>
              <a:t> (</a:t>
            </a:r>
            <a:r>
              <a:rPr lang="ru-RU" dirty="0" err="1"/>
              <a:t>completion</a:t>
            </a:r>
            <a:r>
              <a:rPr lang="ru-RU" dirty="0"/>
              <a:t> </a:t>
            </a:r>
            <a:r>
              <a:rPr lang="ru-RU" dirty="0" err="1"/>
              <a:t>function</a:t>
            </a:r>
            <a:r>
              <a:rPr lang="ru-RU" dirty="0"/>
              <a:t>)</a:t>
            </a:r>
          </a:p>
          <a:p>
            <a:r>
              <a:rPr lang="ru-RU" dirty="0"/>
              <a:t>Главное отличие от </a:t>
            </a:r>
            <a:r>
              <a:rPr lang="ru-RU" dirty="0" err="1"/>
              <a:t>latch</a:t>
            </a:r>
            <a:endParaRPr lang="ru-RU" dirty="0"/>
          </a:p>
          <a:p>
            <a:pPr lvl="1"/>
            <a:r>
              <a:rPr lang="ru-RU" dirty="0" err="1"/>
              <a:t>barrier</a:t>
            </a:r>
            <a:r>
              <a:rPr lang="ru-RU" dirty="0"/>
              <a:t> — </a:t>
            </a:r>
            <a:r>
              <a:rPr lang="ru-RU" b="1" dirty="0"/>
              <a:t>многоразовый</a:t>
            </a:r>
            <a:r>
              <a:rPr lang="ru-RU" dirty="0"/>
              <a:t> (по фазам)</a:t>
            </a:r>
          </a:p>
          <a:p>
            <a:pPr lvl="1"/>
            <a:r>
              <a:rPr lang="ru-RU" dirty="0" err="1"/>
              <a:t>latch</a:t>
            </a:r>
            <a:r>
              <a:rPr lang="ru-RU" dirty="0"/>
              <a:t> — одноразовый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E9C8E-C388-A15B-DC5C-00C4D4B7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80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E2F6CB-EA59-8383-DF4F-F2DFC3C6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барьера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5A711B-F30C-9679-932A-7C041BCDBB46}"/>
              </a:ext>
            </a:extLst>
          </p:cNvPr>
          <p:cNvGrpSpPr/>
          <p:nvPr/>
        </p:nvGrpSpPr>
        <p:grpSpPr>
          <a:xfrm>
            <a:off x="1826376" y="2467495"/>
            <a:ext cx="8526039" cy="4149436"/>
            <a:chOff x="1826376" y="2467495"/>
            <a:chExt cx="6734175" cy="327737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0AFAE52-FE06-2C30-6906-F1A0F3DDE02E}"/>
                </a:ext>
              </a:extLst>
            </p:cNvPr>
            <p:cNvCxnSpPr>
              <a:cxnSpLocks/>
            </p:cNvCxnSpPr>
            <p:nvPr/>
          </p:nvCxnSpPr>
          <p:spPr>
            <a:xfrm>
              <a:off x="1826376" y="3058045"/>
              <a:ext cx="6734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9450BB0-6B92-C968-3509-573EB19B5A52}"/>
                </a:ext>
              </a:extLst>
            </p:cNvPr>
            <p:cNvCxnSpPr>
              <a:cxnSpLocks/>
            </p:cNvCxnSpPr>
            <p:nvPr/>
          </p:nvCxnSpPr>
          <p:spPr>
            <a:xfrm>
              <a:off x="1826376" y="3591445"/>
              <a:ext cx="666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D9C9374-106E-8323-AE95-9829E0674425}"/>
                </a:ext>
              </a:extLst>
            </p:cNvPr>
            <p:cNvCxnSpPr>
              <a:cxnSpLocks/>
            </p:cNvCxnSpPr>
            <p:nvPr/>
          </p:nvCxnSpPr>
          <p:spPr>
            <a:xfrm>
              <a:off x="1826376" y="4124845"/>
              <a:ext cx="666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74FCDB-2FC0-3DA1-56D5-1D80645F6C9E}"/>
                </a:ext>
              </a:extLst>
            </p:cNvPr>
            <p:cNvCxnSpPr/>
            <p:nvPr/>
          </p:nvCxnSpPr>
          <p:spPr>
            <a:xfrm>
              <a:off x="3712320" y="24674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666327-0F3F-EF80-2DA0-76542F2B949B}"/>
                </a:ext>
              </a:extLst>
            </p:cNvPr>
            <p:cNvSpPr/>
            <p:nvPr/>
          </p:nvSpPr>
          <p:spPr>
            <a:xfrm>
              <a:off x="2207376" y="2905645"/>
              <a:ext cx="533400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674979-CC63-FE63-2639-40E11E2D3B63}"/>
                </a:ext>
              </a:extLst>
            </p:cNvPr>
            <p:cNvSpPr/>
            <p:nvPr/>
          </p:nvSpPr>
          <p:spPr>
            <a:xfrm>
              <a:off x="2397876" y="3450951"/>
              <a:ext cx="1276347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84EB3C-BE13-54AF-6791-A9391EE26159}"/>
                </a:ext>
              </a:extLst>
            </p:cNvPr>
            <p:cNvSpPr/>
            <p:nvPr/>
          </p:nvSpPr>
          <p:spPr>
            <a:xfrm>
              <a:off x="2121654" y="3996257"/>
              <a:ext cx="1276347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8F1E80D-6608-AFB5-6DB8-FF37D4ADDE20}"/>
                </a:ext>
              </a:extLst>
            </p:cNvPr>
            <p:cNvCxnSpPr/>
            <p:nvPr/>
          </p:nvCxnSpPr>
          <p:spPr>
            <a:xfrm flipV="1">
              <a:off x="3169401" y="4277244"/>
              <a:ext cx="228600" cy="61912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4B14F8-535B-6D1C-DECF-34CBD8060EF2}"/>
                </a:ext>
              </a:extLst>
            </p:cNvPr>
            <p:cNvSpPr txBox="1"/>
            <p:nvPr/>
          </p:nvSpPr>
          <p:spPr>
            <a:xfrm>
              <a:off x="2235954" y="5020195"/>
              <a:ext cx="1771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barrier.arrive</a:t>
              </a:r>
              <a:r>
                <a:rPr lang="en-US" dirty="0"/>
                <a:t>()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EEC92A0-E94A-C65C-0C2F-8F599E1E793A}"/>
                </a:ext>
              </a:extLst>
            </p:cNvPr>
            <p:cNvCxnSpPr/>
            <p:nvPr/>
          </p:nvCxnSpPr>
          <p:spPr>
            <a:xfrm>
              <a:off x="4156820" y="24674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54C206-78D1-B81E-502E-262D1AD0E38E}"/>
                </a:ext>
              </a:extLst>
            </p:cNvPr>
            <p:cNvSpPr/>
            <p:nvPr/>
          </p:nvSpPr>
          <p:spPr>
            <a:xfrm>
              <a:off x="3753605" y="3461032"/>
              <a:ext cx="365121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8DCD96-9182-00EE-A96F-D91E4DEEE52B}"/>
                </a:ext>
              </a:extLst>
            </p:cNvPr>
            <p:cNvSpPr txBox="1"/>
            <p:nvPr/>
          </p:nvSpPr>
          <p:spPr>
            <a:xfrm>
              <a:off x="4156820" y="5098539"/>
              <a:ext cx="17716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Завершающий шаг</a:t>
              </a:r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1C61BE5-CA4C-0321-3FCB-934E7708A7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1542" y="3800998"/>
              <a:ext cx="508003" cy="137159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4E15FAA-B57B-0319-7FB8-F218C2F086BA}"/>
                </a:ext>
              </a:extLst>
            </p:cNvPr>
            <p:cNvSpPr/>
            <p:nvPr/>
          </p:nvSpPr>
          <p:spPr>
            <a:xfrm>
              <a:off x="4188576" y="2908978"/>
              <a:ext cx="2270118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051E299-B990-1D58-0969-92BDE353F4EB}"/>
                </a:ext>
              </a:extLst>
            </p:cNvPr>
            <p:cNvSpPr/>
            <p:nvPr/>
          </p:nvSpPr>
          <p:spPr>
            <a:xfrm>
              <a:off x="4188577" y="3461032"/>
              <a:ext cx="1787520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4B063D-3AB3-96BD-00B0-F4D905A199C0}"/>
                </a:ext>
              </a:extLst>
            </p:cNvPr>
            <p:cNvSpPr/>
            <p:nvPr/>
          </p:nvSpPr>
          <p:spPr>
            <a:xfrm>
              <a:off x="4188577" y="3998402"/>
              <a:ext cx="3009898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C21E9C-5F38-705B-45BF-C256043C34C8}"/>
                </a:ext>
              </a:extLst>
            </p:cNvPr>
            <p:cNvCxnSpPr/>
            <p:nvPr/>
          </p:nvCxnSpPr>
          <p:spPr>
            <a:xfrm>
              <a:off x="7258795" y="24674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D19629-A270-78CB-5C7B-9CE8D259A8F0}"/>
                </a:ext>
              </a:extLst>
            </p:cNvPr>
            <p:cNvCxnSpPr/>
            <p:nvPr/>
          </p:nvCxnSpPr>
          <p:spPr>
            <a:xfrm>
              <a:off x="7703295" y="24674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253B72B-DC73-B4B3-F265-298F6CC28117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6814288" y="4277244"/>
              <a:ext cx="384187" cy="100703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43886D-6C2F-D0C1-A270-B4BE3EA71B61}"/>
                </a:ext>
              </a:extLst>
            </p:cNvPr>
            <p:cNvSpPr txBox="1"/>
            <p:nvPr/>
          </p:nvSpPr>
          <p:spPr>
            <a:xfrm>
              <a:off x="5928465" y="5284276"/>
              <a:ext cx="1771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barrier.arrive</a:t>
              </a:r>
              <a:r>
                <a:rPr lang="en-US" dirty="0"/>
                <a:t>()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532188F-142D-A517-F38B-9FAF1359F1E0}"/>
                </a:ext>
              </a:extLst>
            </p:cNvPr>
            <p:cNvSpPr/>
            <p:nvPr/>
          </p:nvSpPr>
          <p:spPr>
            <a:xfrm>
              <a:off x="7298485" y="4001537"/>
              <a:ext cx="365121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FDFA75-93DF-9401-6465-0ADB6DA6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17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35347C-9840-13C0-A6F5-DBF3BDF35DFA}"/>
              </a:ext>
            </a:extLst>
          </p:cNvPr>
          <p:cNvSpPr txBox="1"/>
          <p:nvPr/>
        </p:nvSpPr>
        <p:spPr>
          <a:xfrm>
            <a:off x="1" y="0"/>
            <a:ext cx="11364686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OnCompletion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----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----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workerNames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Caroline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ssize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workerNames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&amp;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OnCompletion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thread id: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preparing a hot dog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 prepared the hot dog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остальные потоки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eating the hot dog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 eaten the hot dog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остальные потоки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workerNames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2EB2F-9C41-188A-AF03-8E387BDEF1E9}"/>
              </a:ext>
            </a:extLst>
          </p:cNvPr>
          <p:cNvSpPr txBox="1"/>
          <p:nvPr/>
        </p:nvSpPr>
        <p:spPr>
          <a:xfrm>
            <a:off x="8519886" y="3103126"/>
            <a:ext cx="3672113" cy="37548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Bob thread id: 27180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Bob is preparing a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Alice thread id: 23304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Alice is preparing a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Caroline thread id: 26368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Caroline is preparing a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Alice has prepared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Bob has prepared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Caroline has prepared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---- 26368 ----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Alice is eating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Caroline is eating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Bob is eating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Bob has eaten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Caroline has eaten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Alice has eaten the hot dog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---- 23304 ----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07F043-26B5-E405-9678-7996AB3A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5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B1FEA3-15E8-5EAE-405D-F91ADEA6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Остановка работы потоков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EAB18B-EF49-4816-928B-8BBBD5334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0150ED-B6CE-A4E3-7DEF-3E8CF86B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47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26EEB4-CD56-6FF0-0F1A-8FC3009E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stop_token</a:t>
            </a:r>
            <a:r>
              <a:rPr lang="ru-RU" dirty="0"/>
              <a:t> и </a:t>
            </a:r>
            <a:r>
              <a:rPr lang="en-US" dirty="0">
                <a:hlinkClick r:id="rId4"/>
              </a:rPr>
              <a:t>std::</a:t>
            </a:r>
            <a:r>
              <a:rPr lang="en-US" dirty="0" err="1">
                <a:hlinkClick r:id="rId4"/>
              </a:rPr>
              <a:t>stop_source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E3301F-EB8B-5F6E-3D03-24F580FD1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Механизм кооперативной остановки потоков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stop_source</a:t>
            </a:r>
            <a:endParaRPr lang="ru-RU" dirty="0"/>
          </a:p>
          <a:p>
            <a:pPr lvl="2"/>
            <a:r>
              <a:rPr lang="ru-RU" dirty="0"/>
              <a:t>управляет состоянием остановки</a:t>
            </a:r>
          </a:p>
          <a:p>
            <a:pPr lvl="2"/>
            <a:r>
              <a:rPr lang="ru-RU" dirty="0"/>
              <a:t>вызывает </a:t>
            </a:r>
            <a:r>
              <a:rPr lang="en-US" dirty="0" err="1"/>
              <a:t>request_stop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stop_token</a:t>
            </a:r>
            <a:endParaRPr lang="ru-RU" dirty="0"/>
          </a:p>
          <a:p>
            <a:pPr lvl="2"/>
            <a:r>
              <a:rPr lang="ru-RU" dirty="0"/>
              <a:t>передаётся потоку</a:t>
            </a:r>
          </a:p>
          <a:p>
            <a:pPr lvl="2"/>
            <a:r>
              <a:rPr lang="ru-RU" dirty="0"/>
              <a:t>позволяет проверить </a:t>
            </a:r>
            <a:r>
              <a:rPr lang="en-US" dirty="0" err="1"/>
              <a:t>stop_requested</a:t>
            </a:r>
            <a:r>
              <a:rPr lang="en-US" dirty="0"/>
              <a:t>()</a:t>
            </a:r>
          </a:p>
          <a:p>
            <a:r>
              <a:rPr lang="ru-RU" dirty="0"/>
              <a:t>Поддержка в </a:t>
            </a:r>
            <a:r>
              <a:rPr lang="en-US" dirty="0"/>
              <a:t>std::</a:t>
            </a:r>
            <a:r>
              <a:rPr lang="en-US" dirty="0" err="1"/>
              <a:t>jthread</a:t>
            </a:r>
            <a:endParaRPr lang="en-US" dirty="0"/>
          </a:p>
          <a:p>
            <a:pPr lvl="1"/>
            <a:r>
              <a:rPr lang="ru-RU" dirty="0"/>
              <a:t>Внутри </a:t>
            </a:r>
            <a:r>
              <a:rPr lang="en-US" dirty="0" err="1"/>
              <a:t>jthread</a:t>
            </a:r>
            <a:r>
              <a:rPr lang="en-US" dirty="0"/>
              <a:t> </a:t>
            </a:r>
            <a:r>
              <a:rPr lang="ru-RU" dirty="0"/>
              <a:t>автоматически хранится </a:t>
            </a:r>
            <a:r>
              <a:rPr lang="en-US" dirty="0" err="1"/>
              <a:t>stop_source</a:t>
            </a:r>
            <a:endParaRPr lang="en-US" dirty="0"/>
          </a:p>
          <a:p>
            <a:pPr lvl="1"/>
            <a:r>
              <a:rPr lang="ru-RU" dirty="0"/>
              <a:t>Функция потока может принимать </a:t>
            </a:r>
            <a:r>
              <a:rPr lang="en-US" dirty="0"/>
              <a:t>std::</a:t>
            </a:r>
            <a:r>
              <a:rPr lang="en-US" dirty="0" err="1"/>
              <a:t>stop_token</a:t>
            </a:r>
            <a:r>
              <a:rPr lang="en-US" dirty="0"/>
              <a:t> </a:t>
            </a:r>
            <a:r>
              <a:rPr lang="ru-RU" dirty="0"/>
              <a:t>первым аргументом</a:t>
            </a:r>
          </a:p>
          <a:p>
            <a:pPr lvl="1"/>
            <a:r>
              <a:rPr lang="ru-RU" dirty="0"/>
              <a:t>При уничтожении </a:t>
            </a:r>
            <a:r>
              <a:rPr lang="en-US" dirty="0" err="1"/>
              <a:t>jthread</a:t>
            </a:r>
            <a:r>
              <a:rPr lang="en-US" dirty="0"/>
              <a:t> </a:t>
            </a:r>
            <a:r>
              <a:rPr lang="ru-RU" dirty="0"/>
              <a:t>автоматически вызывается </a:t>
            </a:r>
            <a:r>
              <a:rPr lang="en-US" dirty="0" err="1"/>
              <a:t>request_stop</a:t>
            </a:r>
            <a:r>
              <a:rPr lang="en-US" dirty="0"/>
              <a:t>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9015C-AE3B-D76D-64B5-74D9B37C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62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EE68C5-ACDE-21AD-AECD-2FE0F488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Останавливаем поток вызовом метода </a:t>
            </a:r>
            <a:r>
              <a:rPr lang="en-US" dirty="0" err="1"/>
              <a:t>request_stop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91642-E908-1DC2-9DE3-4F5824102667}"/>
              </a:ext>
            </a:extLst>
          </p:cNvPr>
          <p:cNvSpPr txBox="1"/>
          <p:nvPr/>
        </p:nvSpPr>
        <p:spPr>
          <a:xfrm>
            <a:off x="838200" y="2066921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!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Worker works: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Worker has finished working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 вызвать явно, то это сделает деструктор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72B3E-5701-C023-3CA7-ACAA9E02AB68}"/>
              </a:ext>
            </a:extLst>
          </p:cNvPr>
          <p:cNvSpPr txBox="1"/>
          <p:nvPr/>
        </p:nvSpPr>
        <p:spPr>
          <a:xfrm>
            <a:off x="8107925" y="4461550"/>
            <a:ext cx="3779275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Worker works: 1</a:t>
            </a:r>
          </a:p>
          <a:p>
            <a:r>
              <a:rPr lang="en-US" dirty="0">
                <a:latin typeface="Consolas" panose="020B0609020204030204" pitchFamily="49" charset="0"/>
              </a:rPr>
              <a:t>Worker works: 2</a:t>
            </a:r>
          </a:p>
          <a:p>
            <a:r>
              <a:rPr lang="en-US" dirty="0">
                <a:latin typeface="Consolas" panose="020B0609020204030204" pitchFamily="49" charset="0"/>
              </a:rPr>
              <a:t>Worker works: 3</a:t>
            </a:r>
          </a:p>
          <a:p>
            <a:r>
              <a:rPr lang="en-US" dirty="0">
                <a:latin typeface="Consolas" panose="020B0609020204030204" pitchFamily="49" charset="0"/>
              </a:rPr>
              <a:t>Worker works: 4</a:t>
            </a:r>
          </a:p>
          <a:p>
            <a:r>
              <a:rPr lang="en-US" dirty="0">
                <a:latin typeface="Consolas" panose="020B0609020204030204" pitchFamily="49" charset="0"/>
              </a:rPr>
              <a:t>Worker works: 5</a:t>
            </a:r>
          </a:p>
          <a:p>
            <a:r>
              <a:rPr lang="en-US" dirty="0">
                <a:latin typeface="Consolas" panose="020B0609020204030204" pitchFamily="49" charset="0"/>
              </a:rPr>
              <a:t>Worker works: 6</a:t>
            </a:r>
          </a:p>
          <a:p>
            <a:r>
              <a:rPr lang="en-US" dirty="0">
                <a:latin typeface="Consolas" panose="020B0609020204030204" pitchFamily="49" charset="0"/>
              </a:rPr>
              <a:t>Worker has finished working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0FFA9-F7F1-FCB0-444F-19226BEF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8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D924F-03F3-660D-6971-29F3B9A2250F}"/>
              </a:ext>
            </a:extLst>
          </p:cNvPr>
          <p:cNvSpPr txBox="1"/>
          <p:nvPr/>
        </p:nvSpPr>
        <p:spPr>
          <a:xfrm>
            <a:off x="0" y="1"/>
            <a:ext cx="973455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works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finished working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[](std::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Peter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stopSource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supervisor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stopSource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Supervisor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STOP!!!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stopSource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0D84B-B2E2-D87B-B321-2F8096FBF1BC}"/>
              </a:ext>
            </a:extLst>
          </p:cNvPr>
          <p:cNvSpPr txBox="1"/>
          <p:nvPr/>
        </p:nvSpPr>
        <p:spPr>
          <a:xfrm>
            <a:off x="8305800" y="346292"/>
            <a:ext cx="367665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Supervisor works</a:t>
            </a:r>
          </a:p>
          <a:p>
            <a:r>
              <a:rPr lang="en-US" dirty="0">
                <a:latin typeface="Consolas" panose="020B0609020204030204" pitchFamily="49" charset="0"/>
              </a:rPr>
              <a:t>Ivan works</a:t>
            </a:r>
          </a:p>
          <a:p>
            <a:r>
              <a:rPr lang="en-US" dirty="0">
                <a:latin typeface="Consolas" panose="020B0609020204030204" pitchFamily="49" charset="0"/>
              </a:rPr>
              <a:t>Peter works</a:t>
            </a:r>
          </a:p>
          <a:p>
            <a:r>
              <a:rPr lang="en-US" dirty="0">
                <a:latin typeface="Consolas" panose="020B0609020204030204" pitchFamily="49" charset="0"/>
              </a:rPr>
              <a:t>Peter works</a:t>
            </a:r>
          </a:p>
          <a:p>
            <a:r>
              <a:rPr lang="en-US" dirty="0">
                <a:latin typeface="Consolas" panose="020B0609020204030204" pitchFamily="49" charset="0"/>
              </a:rPr>
              <a:t>Supervisor works</a:t>
            </a:r>
          </a:p>
          <a:p>
            <a:r>
              <a:rPr lang="en-US" dirty="0">
                <a:latin typeface="Consolas" panose="020B0609020204030204" pitchFamily="49" charset="0"/>
              </a:rPr>
              <a:t>Ivan works</a:t>
            </a:r>
          </a:p>
          <a:p>
            <a:r>
              <a:rPr lang="en-US" dirty="0">
                <a:latin typeface="Consolas" panose="020B0609020204030204" pitchFamily="49" charset="0"/>
              </a:rPr>
              <a:t>Ivan works</a:t>
            </a:r>
          </a:p>
          <a:p>
            <a:r>
              <a:rPr lang="en-US" dirty="0">
                <a:latin typeface="Consolas" panose="020B0609020204030204" pitchFamily="49" charset="0"/>
              </a:rPr>
              <a:t>Peter works</a:t>
            </a:r>
          </a:p>
          <a:p>
            <a:r>
              <a:rPr lang="en-US" dirty="0">
                <a:latin typeface="Consolas" panose="020B0609020204030204" pitchFamily="49" charset="0"/>
              </a:rPr>
              <a:t>Supervisor works</a:t>
            </a:r>
          </a:p>
          <a:p>
            <a:r>
              <a:rPr lang="en-US" dirty="0">
                <a:latin typeface="Consolas" panose="020B0609020204030204" pitchFamily="49" charset="0"/>
              </a:rPr>
              <a:t>Ivan works</a:t>
            </a:r>
          </a:p>
          <a:p>
            <a:r>
              <a:rPr lang="en-US" dirty="0">
                <a:latin typeface="Consolas" panose="020B0609020204030204" pitchFamily="49" charset="0"/>
              </a:rPr>
              <a:t>Peter works</a:t>
            </a:r>
          </a:p>
          <a:p>
            <a:r>
              <a:rPr lang="en-US" dirty="0">
                <a:latin typeface="Consolas" panose="020B0609020204030204" pitchFamily="49" charset="0"/>
              </a:rPr>
              <a:t>Supervisor works</a:t>
            </a:r>
          </a:p>
          <a:p>
            <a:r>
              <a:rPr lang="en-US" dirty="0">
                <a:latin typeface="Consolas" panose="020B0609020204030204" pitchFamily="49" charset="0"/>
              </a:rPr>
              <a:t>STOP!!!</a:t>
            </a:r>
          </a:p>
          <a:p>
            <a:r>
              <a:rPr lang="en-US" dirty="0">
                <a:latin typeface="Consolas" panose="020B0609020204030204" pitchFamily="49" charset="0"/>
              </a:rPr>
              <a:t>Peter finished working</a:t>
            </a:r>
          </a:p>
          <a:p>
            <a:r>
              <a:rPr lang="en-US" dirty="0">
                <a:latin typeface="Consolas" panose="020B0609020204030204" pitchFamily="49" charset="0"/>
              </a:rPr>
              <a:t>Supervisor finished working</a:t>
            </a:r>
          </a:p>
          <a:p>
            <a:r>
              <a:rPr lang="en-US" dirty="0">
                <a:latin typeface="Consolas" panose="020B0609020204030204" pitchFamily="49" charset="0"/>
              </a:rPr>
              <a:t>Ivan finished working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7A70C-C256-2C91-6E44-D9D44414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9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45E8AD-1217-ECCF-8EFD-A5F058D65049}"/>
              </a:ext>
            </a:extLst>
          </p:cNvPr>
          <p:cNvSpPr txBox="1"/>
          <p:nvPr/>
        </p:nvSpPr>
        <p:spPr>
          <a:xfrm>
            <a:off x="838200" y="1943101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[](std::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Stop requested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Worker has finished working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5EBFE-8686-C58A-0E23-86908C17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stop_callback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B0898-97AF-AE98-AB57-01080803BDBD}"/>
              </a:ext>
            </a:extLst>
          </p:cNvPr>
          <p:cNvSpPr txBox="1"/>
          <p:nvPr/>
        </p:nvSpPr>
        <p:spPr>
          <a:xfrm>
            <a:off x="7315200" y="5821085"/>
            <a:ext cx="41910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Stop requested</a:t>
            </a:r>
          </a:p>
          <a:p>
            <a:r>
              <a:rPr lang="en-US" dirty="0">
                <a:latin typeface="Consolas" panose="020B0609020204030204" pitchFamily="49" charset="0"/>
              </a:rPr>
              <a:t>Worker has finished working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B54CE-36FC-BC19-33C1-340499FB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7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97541B-5CAC-39F6-6EA9-331404FE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результатов фоновых задач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FB886-AC62-FDC1-32B6-314A635B2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BA0E1-59B8-B474-3908-AD710205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81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B157-B425-D268-463D-B0EDBDE1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асинхронные задачи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D585-2D44-D928-84A1-57FBDB52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Мы умеем запускать потоки: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jthread</a:t>
            </a:r>
            <a:r>
              <a:rPr lang="ru-RU" dirty="0"/>
              <a:t> </a:t>
            </a:r>
            <a:r>
              <a:rPr lang="ru-RU" dirty="0" err="1"/>
              <a:t>worker</a:t>
            </a:r>
            <a:r>
              <a:rPr lang="ru-RU" dirty="0"/>
              <a:t>(...);</a:t>
            </a:r>
          </a:p>
          <a:p>
            <a:r>
              <a:rPr lang="ru-RU" dirty="0"/>
              <a:t>Но обычно поток запускают </a:t>
            </a:r>
            <a:r>
              <a:rPr lang="ru-RU" b="1" dirty="0"/>
              <a:t>для выполнения задачи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вычисление</a:t>
            </a:r>
          </a:p>
          <a:p>
            <a:pPr lvl="1"/>
            <a:r>
              <a:rPr lang="ru-RU" dirty="0"/>
              <a:t>загрузка данных</a:t>
            </a:r>
          </a:p>
          <a:p>
            <a:pPr lvl="1"/>
            <a:r>
              <a:rPr lang="ru-RU" dirty="0"/>
              <a:t>обработка запроса</a:t>
            </a:r>
          </a:p>
          <a:p>
            <a:pPr lvl="1"/>
            <a:r>
              <a:rPr lang="ru-RU" dirty="0"/>
              <a:t>работа в фоне</a:t>
            </a:r>
          </a:p>
          <a:p>
            <a:r>
              <a:rPr lang="ru-RU" dirty="0"/>
              <a:t>И </a:t>
            </a:r>
            <a:r>
              <a:rPr lang="ru-RU" b="1" dirty="0"/>
              <a:t>результат этой задачи понадобится позже</a:t>
            </a:r>
            <a:r>
              <a:rPr lang="ru-RU" dirty="0"/>
              <a:t>.</a:t>
            </a:r>
          </a:p>
          <a:p>
            <a:r>
              <a:rPr lang="ru-RU" b="1" dirty="0"/>
              <a:t>Проблема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как безопасно получить результат работы фоновой задачи?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6FB0A-42D7-8BEF-4B0E-DB74BB51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49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4C1E-1FAC-C2FE-67C1-2EE029B0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Наивный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FE22-F498-3D18-45AB-9BFFD06C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21288" cy="4351338"/>
          </a:xfrm>
        </p:spPr>
        <p:txBody>
          <a:bodyPr/>
          <a:lstStyle/>
          <a:p>
            <a:r>
              <a:rPr lang="ru-RU" dirty="0"/>
              <a:t>Использовать общую переменную</a:t>
            </a:r>
          </a:p>
          <a:p>
            <a:r>
              <a:rPr lang="ru-RU" dirty="0"/>
              <a:t>Проблемы</a:t>
            </a:r>
          </a:p>
          <a:p>
            <a:pPr lvl="1"/>
            <a:r>
              <a:rPr lang="ru-RU" dirty="0"/>
              <a:t>требуется общая память</a:t>
            </a:r>
          </a:p>
          <a:p>
            <a:pPr lvl="1"/>
            <a:r>
              <a:rPr lang="ru-RU" dirty="0"/>
              <a:t>нужна синхронизация</a:t>
            </a:r>
          </a:p>
          <a:p>
            <a:pPr lvl="1"/>
            <a:r>
              <a:rPr lang="ru-RU" dirty="0"/>
              <a:t>сложно передавать исключения</a:t>
            </a:r>
          </a:p>
          <a:p>
            <a:pPr lvl="1"/>
            <a:r>
              <a:rPr lang="ru-RU" dirty="0"/>
              <a:t>нужно управлять временем жизни потока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2AC62-B7E6-3807-AA8B-17CA857AC3DA}"/>
              </a:ext>
            </a:extLst>
          </p:cNvPr>
          <p:cNvSpPr txBox="1"/>
          <p:nvPr/>
        </p:nvSpPr>
        <p:spPr>
          <a:xfrm>
            <a:off x="5803900" y="1613909"/>
            <a:ext cx="60071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(std::chrono::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([&amp;] {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Выполняем какие-то другие задачи в главном потоке,</a:t>
            </a:r>
          </a:p>
          <a:p>
            <a:pPr>
              <a:buNone/>
            </a:pP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пока работает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worker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результат, полученный от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worker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9F22B-9726-0D30-6517-88270C48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4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B281-E8FA-AC1E-D750-9D91C964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Более высокоуровневый механизм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1278-68C1-9B0C-E6B2-3B9755EF4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Стандартная библиотека C++ предлагает более высокий уровень абстракции: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async</a:t>
            </a:r>
            <a:endParaRPr lang="ru-RU" dirty="0"/>
          </a:p>
          <a:p>
            <a:r>
              <a:rPr lang="ru-RU" dirty="0"/>
              <a:t>Позволяет:</a:t>
            </a:r>
          </a:p>
          <a:p>
            <a:pPr lvl="1"/>
            <a:r>
              <a:rPr lang="ru-RU" dirty="0"/>
              <a:t>запустить функцию асинхронно</a:t>
            </a:r>
          </a:p>
          <a:p>
            <a:pPr lvl="1"/>
            <a:r>
              <a:rPr lang="ru-RU" dirty="0"/>
              <a:t>получить объект</a:t>
            </a:r>
            <a:r>
              <a:rPr lang="ru-RU" b="1" dirty="0"/>
              <a:t> </a:t>
            </a:r>
            <a:r>
              <a:rPr lang="ru-RU" b="1" dirty="0" err="1"/>
              <a:t>future</a:t>
            </a:r>
            <a:endParaRPr lang="ru-RU" dirty="0"/>
          </a:p>
          <a:p>
            <a:pPr lvl="1"/>
            <a:r>
              <a:rPr lang="ru-RU" dirty="0"/>
              <a:t>позже получить результат вычисления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future = std::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async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(f);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future.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dirty="0"/>
          </a:p>
          <a:p>
            <a:r>
              <a:rPr lang="ru-RU" dirty="0"/>
              <a:t>Что такое </a:t>
            </a:r>
            <a:r>
              <a:rPr lang="ru-RU" dirty="0" err="1"/>
              <a:t>future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future</a:t>
            </a:r>
            <a:r>
              <a:rPr lang="ru-RU" dirty="0"/>
              <a:t>&lt;T&gt; — объект, который представляет результат вычисления в будущем.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22A4A-3253-0E23-003C-5411D924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8BCCC-3807-7261-1B94-482B16A4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1A7E6-9A98-94AF-B516-85A2B706A129}"/>
              </a:ext>
            </a:extLst>
          </p:cNvPr>
          <p:cNvSpPr txBox="1"/>
          <p:nvPr/>
        </p:nvSpPr>
        <p:spPr>
          <a:xfrm>
            <a:off x="4097866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https://godbolt.org/z/TYTqP8x9P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592AA-FDA6-A956-B083-A69696402644}"/>
              </a:ext>
            </a:extLst>
          </p:cNvPr>
          <p:cNvSpPr txBox="1"/>
          <p:nvPr/>
        </p:nvSpPr>
        <p:spPr>
          <a:xfrm>
            <a:off x="380999" y="42882"/>
            <a:ext cx="10761133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Compute()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"Start computations in thread 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&lt;&lt;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get_id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(std::chrono::seconds(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"Finish computations\n"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Запускаем вычисление асинхронно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future = std::async(std::launch::async, Compute);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Выполняем какие-то другие задачи в главном потоке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thread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get_id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is doing other work...\n"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результат вычисления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результат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 result: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result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FE49F-53BA-B265-83DC-769D20A34257}"/>
              </a:ext>
            </a:extLst>
          </p:cNvPr>
          <p:cNvSpPr txBox="1"/>
          <p:nvPr/>
        </p:nvSpPr>
        <p:spPr>
          <a:xfrm>
            <a:off x="6650568" y="2047786"/>
            <a:ext cx="5541432" cy="954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Main thread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136724865234752</a:t>
            </a:r>
            <a:r>
              <a:rPr lang="en-US" sz="1400" dirty="0">
                <a:latin typeface="Consolas" panose="020B0609020204030204" pitchFamily="49" charset="0"/>
              </a:rPr>
              <a:t> is doing other work...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Start computations in thread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136724862727744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Finish computations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Use result: 42</a:t>
            </a:r>
          </a:p>
        </p:txBody>
      </p:sp>
    </p:spTree>
    <p:extLst>
      <p:ext uri="{BB962C8B-B14F-4D97-AF65-F5344CB8AC3E}">
        <p14:creationId xmlns:p14="http://schemas.microsoft.com/office/powerpoint/2010/main" val="33877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726BF-B27C-FDA7-D353-C596B36A0778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Adding. Thread id: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Added, result=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Multiplying. Thread id: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Multiplied, result: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thread id: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::deferred,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86788-FBFC-A04C-7661-AEF836C0AEFF}"/>
              </a:ext>
            </a:extLst>
          </p:cNvPr>
          <p:cNvSpPr txBox="1"/>
          <p:nvPr/>
        </p:nvSpPr>
        <p:spPr>
          <a:xfrm>
            <a:off x="8490857" y="3108374"/>
            <a:ext cx="3701143" cy="3539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Main thread id: </a:t>
            </a: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</a:rPr>
              <a:t>38288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Adding. Thread id: 19396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Multiplying. Thread id: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11760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Added, result=7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Multiplied, result: 30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Adding. Thread id: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11760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Added, result=37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Adding. Thread id: </a:t>
            </a: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</a:rPr>
              <a:t>38288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Added, result=5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9006C-A766-9233-2A51-109F9D3A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9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39E713-B667-2ED5-5CD8-84693B82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выполняется </a:t>
            </a:r>
            <a:r>
              <a:rPr lang="en-US" dirty="0"/>
              <a:t>async(launch::async)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846EF-9707-900E-96BC-917FA2865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Выполнение задач с </a:t>
            </a:r>
            <a:r>
              <a:rPr lang="ru-RU" b="1" dirty="0" err="1"/>
              <a:t>launch</a:t>
            </a:r>
            <a:r>
              <a:rPr lang="ru-RU" b="1" dirty="0"/>
              <a:t>::</a:t>
            </a:r>
            <a:r>
              <a:rPr lang="ru-RU" b="1" dirty="0" err="1"/>
              <a:t>async</a:t>
            </a:r>
            <a:endParaRPr lang="ru-RU" b="1" dirty="0"/>
          </a:p>
          <a:p>
            <a:pPr lvl="1"/>
            <a:r>
              <a:rPr lang="ru-RU" dirty="0" err="1"/>
              <a:t>auto</a:t>
            </a:r>
            <a:r>
              <a:rPr lang="ru-RU" dirty="0"/>
              <a:t> f =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async</a:t>
            </a:r>
            <a:r>
              <a:rPr lang="ru-RU" dirty="0"/>
              <a:t>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launch</a:t>
            </a:r>
            <a:r>
              <a:rPr lang="ru-RU" dirty="0"/>
              <a:t>::</a:t>
            </a:r>
            <a:r>
              <a:rPr lang="ru-RU" dirty="0" err="1"/>
              <a:t>async</a:t>
            </a:r>
            <a:r>
              <a:rPr lang="ru-RU" dirty="0"/>
              <a:t>, </a:t>
            </a:r>
            <a:r>
              <a:rPr lang="ru-RU" dirty="0" err="1"/>
              <a:t>Compute</a:t>
            </a:r>
            <a:r>
              <a:rPr lang="ru-RU" dirty="0"/>
              <a:t>);</a:t>
            </a:r>
          </a:p>
          <a:p>
            <a:pPr lvl="1"/>
            <a:r>
              <a:rPr lang="ru-RU" dirty="0"/>
              <a:t>Функция запускается в </a:t>
            </a:r>
            <a:r>
              <a:rPr lang="ru-RU" b="1" dirty="0"/>
              <a:t>отдельном потоке</a:t>
            </a:r>
          </a:p>
          <a:p>
            <a:pPr lvl="1"/>
            <a:r>
              <a:rPr lang="ru-RU" dirty="0"/>
              <a:t>Потоком управляет реализация стандартной библиотеки</a:t>
            </a:r>
          </a:p>
          <a:p>
            <a:r>
              <a:rPr lang="ru-RU" b="1" dirty="0"/>
              <a:t>Как это может быть реализовано</a:t>
            </a:r>
          </a:p>
          <a:p>
            <a:pPr lvl="1"/>
            <a:r>
              <a:rPr lang="ru-RU" dirty="0"/>
              <a:t>Реализация может:</a:t>
            </a:r>
          </a:p>
          <a:p>
            <a:pPr lvl="2"/>
            <a:r>
              <a:rPr lang="ru-RU" dirty="0"/>
              <a:t>создать новый поток</a:t>
            </a:r>
          </a:p>
          <a:p>
            <a:pPr lvl="2"/>
            <a:r>
              <a:rPr lang="ru-RU" dirty="0"/>
              <a:t>использовать внутренний пул потоков</a:t>
            </a:r>
          </a:p>
          <a:p>
            <a:pPr lvl="1"/>
            <a:r>
              <a:rPr lang="ru-RU" dirty="0"/>
              <a:t>Это деталь реализации, стандарт не фиксирует конкретный механизм.</a:t>
            </a:r>
          </a:p>
          <a:p>
            <a:r>
              <a:rPr lang="ru-RU" b="1" dirty="0"/>
              <a:t>Что важно программисту</a:t>
            </a:r>
          </a:p>
          <a:p>
            <a:pPr lvl="1"/>
            <a:r>
              <a:rPr lang="ru-RU" dirty="0"/>
              <a:t>не нужно управлять потоком</a:t>
            </a:r>
          </a:p>
          <a:p>
            <a:pPr lvl="1"/>
            <a:r>
              <a:rPr lang="ru-RU" dirty="0"/>
              <a:t>не нужно вызывать </a:t>
            </a:r>
            <a:r>
              <a:rPr lang="ru-RU" dirty="0" err="1"/>
              <a:t>join</a:t>
            </a:r>
            <a:r>
              <a:rPr lang="ru-RU" dirty="0"/>
              <a:t>()</a:t>
            </a:r>
          </a:p>
          <a:p>
            <a:pPr lvl="1"/>
            <a:r>
              <a:rPr lang="ru-RU" dirty="0"/>
              <a:t>результат получается через </a:t>
            </a:r>
            <a:r>
              <a:rPr lang="ru-RU" dirty="0" err="1"/>
              <a:t>future</a:t>
            </a:r>
            <a:r>
              <a:rPr lang="ru-RU" dirty="0"/>
              <a:t>::</a:t>
            </a:r>
            <a:r>
              <a:rPr lang="ru-RU" dirty="0" err="1"/>
              <a:t>get</a:t>
            </a:r>
            <a:r>
              <a:rPr lang="ru-RU" dirty="0"/>
              <a:t>()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CAA6D-8321-2D5B-C09A-74084804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59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84B11C-5315-FECE-0707-A874E9C5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</a:t>
            </a:r>
            <a:r>
              <a:rPr lang="en-US" dirty="0"/>
              <a:t>std::async</a:t>
            </a:r>
            <a:r>
              <a:rPr lang="ru-RU" dirty="0"/>
              <a:t> в пуле потоков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2787-761F-61D0-D566-CCCCDF8D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20CF1-F63E-6156-BACC-51E396249DD3}"/>
              </a:ext>
            </a:extLst>
          </p:cNvPr>
          <p:cNvSpPr txBox="1"/>
          <p:nvPr/>
        </p:nvSpPr>
        <p:spPr>
          <a:xfrm>
            <a:off x="838199" y="1690688"/>
            <a:ext cx="83339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PrintThreadId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"Task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taskIndex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thread id: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thread id: “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std::vector&lt;std::future&lt;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futures;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futures.reserve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futures.push_back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(std::async(std::launch::async,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PrintThreadId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future : futures)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future.get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каждой задачи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F012F-5599-21A7-47E5-C2CFE04EB5D5}"/>
              </a:ext>
            </a:extLst>
          </p:cNvPr>
          <p:cNvSpPr txBox="1"/>
          <p:nvPr/>
        </p:nvSpPr>
        <p:spPr>
          <a:xfrm>
            <a:off x="9172121" y="1906131"/>
            <a:ext cx="2874735" cy="46166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Main thread id: 32612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1, thread id: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54244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2, thread id: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1712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3, thread id: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37608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4, thread id: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54244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8, thread id: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9488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5, thread id: 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62868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7, thread id: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37608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6, thread id: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1712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14, thread id: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24592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10, thread id: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9488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12, thread id: 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62868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11, thread id: </a:t>
            </a:r>
            <a:r>
              <a:rPr lang="en-US" sz="1400" dirty="0">
                <a:solidFill>
                  <a:srgbClr val="00FF00"/>
                </a:solidFill>
                <a:latin typeface="Consolas" panose="020B0609020204030204" pitchFamily="49" charset="0"/>
              </a:rPr>
              <a:t>5488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13, thread id: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37608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9, thread id: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54244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15, thread id: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1712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16, thread id: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24592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17, thread id: 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9488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18, thread id: 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62868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19, thread id: </a:t>
            </a:r>
            <a:r>
              <a:rPr lang="en-US" sz="1400" dirty="0">
                <a:solidFill>
                  <a:srgbClr val="00FF00"/>
                </a:solidFill>
                <a:latin typeface="Consolas" panose="020B0609020204030204" pitchFamily="49" charset="0"/>
              </a:rPr>
              <a:t>5488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20, thread id: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37608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2B4AB-7F90-862D-67A3-FCD65ECE90EE}"/>
              </a:ext>
            </a:extLst>
          </p:cNvPr>
          <p:cNvSpPr txBox="1"/>
          <p:nvPr/>
        </p:nvSpPr>
        <p:spPr>
          <a:xfrm>
            <a:off x="4108452" y="6308209"/>
            <a:ext cx="4053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https://godbolt.org/z/zGd1ssznn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7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4AD9-DF65-C736-12BE-1B2A81E8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45D95F-EBC0-6125-8A68-978E721E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</a:t>
            </a:r>
            <a:r>
              <a:rPr lang="en-US" dirty="0"/>
              <a:t>std::async</a:t>
            </a:r>
            <a:r>
              <a:rPr lang="ru-RU" dirty="0"/>
              <a:t> </a:t>
            </a:r>
            <a:r>
              <a:rPr lang="en-US" dirty="0"/>
              <a:t>c launch::deferred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D98E-B33D-1324-3414-FE2549E0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95AC9-8646-1324-FF80-18DCAF148364}"/>
              </a:ext>
            </a:extLst>
          </p:cNvPr>
          <p:cNvSpPr txBox="1"/>
          <p:nvPr/>
        </p:nvSpPr>
        <p:spPr>
          <a:xfrm>
            <a:off x="838199" y="1690688"/>
            <a:ext cx="83339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PrintThreadId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"Task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taskIndex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thread id: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thread id: “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std::vector&lt;std::future&lt;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futures;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futures.reserve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futures.push_back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(std::async(std::launch::</a:t>
            </a:r>
            <a:r>
              <a:rPr lang="en-US" sz="14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deferred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PrintThreadId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future : futures)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future.get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каждой задачи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E0D31-35C8-5572-378B-2354085AB101}"/>
              </a:ext>
            </a:extLst>
          </p:cNvPr>
          <p:cNvSpPr txBox="1"/>
          <p:nvPr/>
        </p:nvSpPr>
        <p:spPr>
          <a:xfrm>
            <a:off x="9172121" y="1906131"/>
            <a:ext cx="2874735" cy="46166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Main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2,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3,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4,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5,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6,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7,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8,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9,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10,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11,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12,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13,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14,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15,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16,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17,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18,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19, thread id: 57104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Task 20, thread id: 57104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4E3C2-7B0E-52AB-FF82-A984063C8F11}"/>
              </a:ext>
            </a:extLst>
          </p:cNvPr>
          <p:cNvSpPr txBox="1"/>
          <p:nvPr/>
        </p:nvSpPr>
        <p:spPr>
          <a:xfrm>
            <a:off x="4108452" y="6308209"/>
            <a:ext cx="4053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https://godbolt.org/z/ej4sjbasP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5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E30479-2AE9-0B3C-4A37-949F8A2C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</a:t>
            </a:r>
            <a:r>
              <a:rPr lang="en-US" dirty="0"/>
              <a:t>std::async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213153-868E-F878-3563-53200DAE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std::async </a:t>
            </a:r>
            <a:r>
              <a:rPr lang="ru-RU" dirty="0"/>
              <a:t>запускает задачу сразу</a:t>
            </a:r>
          </a:p>
          <a:p>
            <a:pPr lvl="1"/>
            <a:r>
              <a:rPr lang="en-US" dirty="0"/>
              <a:t>auto f = std::async(std::launch::async, Compute);</a:t>
            </a:r>
          </a:p>
          <a:p>
            <a:r>
              <a:rPr lang="ru-RU" dirty="0"/>
              <a:t>Иногда нужно:</a:t>
            </a:r>
          </a:p>
          <a:p>
            <a:pPr lvl="1"/>
            <a:r>
              <a:rPr lang="ru-RU" dirty="0"/>
              <a:t>создать задачу</a:t>
            </a:r>
          </a:p>
          <a:p>
            <a:pPr lvl="1"/>
            <a:r>
              <a:rPr lang="ru-RU" dirty="0"/>
              <a:t>получить </a:t>
            </a:r>
            <a:r>
              <a:rPr lang="ru-RU" dirty="0" err="1"/>
              <a:t>future</a:t>
            </a:r>
            <a:endParaRPr lang="ru-RU" dirty="0"/>
          </a:p>
          <a:p>
            <a:pPr lvl="1"/>
            <a:r>
              <a:rPr lang="ru-RU" dirty="0"/>
              <a:t>запустить задачу позже</a:t>
            </a:r>
          </a:p>
          <a:p>
            <a:r>
              <a:rPr lang="ru-RU" dirty="0"/>
              <a:t>Например:</a:t>
            </a:r>
          </a:p>
          <a:p>
            <a:pPr lvl="1"/>
            <a:r>
              <a:rPr lang="ru-RU" dirty="0"/>
              <a:t>поток</a:t>
            </a:r>
            <a:r>
              <a:rPr lang="en-US" dirty="0"/>
              <a:t>-producer</a:t>
            </a:r>
            <a:r>
              <a:rPr lang="ru-RU" dirty="0"/>
              <a:t> помещает задачи в очередь, а рабочие потоки извлекают из очереди и выполняют</a:t>
            </a:r>
          </a:p>
          <a:p>
            <a:pPr lvl="1"/>
            <a:r>
              <a:rPr lang="ru-RU" dirty="0"/>
              <a:t>Нужно сперва создать задачу, получить </a:t>
            </a:r>
            <a:r>
              <a:rPr lang="en-US" dirty="0"/>
              <a:t>future</a:t>
            </a:r>
            <a:r>
              <a:rPr lang="ru-RU" dirty="0"/>
              <a:t>, а запустить исполнение позже</a:t>
            </a:r>
          </a:p>
          <a:p>
            <a:r>
              <a:rPr lang="ru-RU" dirty="0"/>
              <a:t>Решение: класс </a:t>
            </a:r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packaged_task</a:t>
            </a:r>
            <a:r>
              <a:rPr lang="ru-RU" dirty="0"/>
              <a:t>, который объединяет:</a:t>
            </a:r>
          </a:p>
          <a:p>
            <a:pPr lvl="1"/>
            <a:r>
              <a:rPr lang="ru-RU" dirty="0"/>
              <a:t>функцию</a:t>
            </a:r>
          </a:p>
          <a:p>
            <a:pPr lvl="1"/>
            <a:r>
              <a:rPr lang="ru-RU" dirty="0" err="1"/>
              <a:t>future</a:t>
            </a:r>
            <a:endParaRPr lang="ru-RU" dirty="0"/>
          </a:p>
          <a:p>
            <a:pPr lvl="1"/>
            <a:r>
              <a:rPr lang="ru-RU" dirty="0"/>
              <a:t>возможность запустить задачу позже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EF50E-8325-0034-DB0C-82720164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65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E755-2EAF-8BB7-E991-308E6CE5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packaged_task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DDB2-C0B1-59F4-57F0-0B67E1D0B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Объект, представляющий </a:t>
            </a:r>
            <a:r>
              <a:rPr lang="ru-RU" b="1" dirty="0"/>
              <a:t>задачу с результатом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packaged_task</a:t>
            </a:r>
            <a:r>
              <a:rPr lang="ru-RU" dirty="0"/>
              <a:t>&lt;R(</a:t>
            </a:r>
            <a:r>
              <a:rPr lang="ru-RU" dirty="0" err="1"/>
              <a:t>Args</a:t>
            </a:r>
            <a:r>
              <a:rPr lang="ru-RU" dirty="0"/>
              <a:t>...)&gt;</a:t>
            </a:r>
          </a:p>
          <a:p>
            <a:r>
              <a:rPr lang="ru-RU" dirty="0"/>
              <a:t>Свойства</a:t>
            </a:r>
          </a:p>
          <a:p>
            <a:pPr lvl="1"/>
            <a:r>
              <a:rPr lang="ru-RU" dirty="0"/>
              <a:t>хранит </a:t>
            </a:r>
            <a:r>
              <a:rPr lang="ru-RU" b="1" dirty="0" err="1"/>
              <a:t>Callable</a:t>
            </a:r>
            <a:r>
              <a:rPr lang="ru-RU" dirty="0"/>
              <a:t>-объект (функцию, лямбду, функтор)</a:t>
            </a:r>
          </a:p>
          <a:p>
            <a:pPr lvl="1"/>
            <a:r>
              <a:rPr lang="ru-RU" dirty="0"/>
              <a:t>связан с </a:t>
            </a:r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future</a:t>
            </a:r>
            <a:endParaRPr lang="ru-RU" b="1" dirty="0"/>
          </a:p>
          <a:p>
            <a:pPr lvl="1"/>
            <a:r>
              <a:rPr lang="ru-RU" dirty="0"/>
              <a:t>может быть запущен позже</a:t>
            </a:r>
          </a:p>
          <a:p>
            <a:r>
              <a:rPr lang="ru-RU" dirty="0"/>
              <a:t>Использование:</a:t>
            </a:r>
          </a:p>
          <a:p>
            <a:pPr lvl="1"/>
            <a:r>
              <a:rPr lang="ru-RU" dirty="0"/>
              <a:t>Создаём </a:t>
            </a:r>
            <a:r>
              <a:rPr lang="ru-RU" dirty="0" err="1"/>
              <a:t>packaged_task</a:t>
            </a:r>
            <a:endParaRPr lang="ru-RU" dirty="0"/>
          </a:p>
          <a:p>
            <a:pPr lvl="1"/>
            <a:r>
              <a:rPr lang="ru-RU" dirty="0"/>
              <a:t>Получаем </a:t>
            </a:r>
            <a:r>
              <a:rPr lang="ru-RU" dirty="0" err="1"/>
              <a:t>future</a:t>
            </a:r>
            <a:endParaRPr lang="ru-RU" dirty="0"/>
          </a:p>
          <a:p>
            <a:pPr lvl="1"/>
            <a:r>
              <a:rPr lang="ru-RU" dirty="0"/>
              <a:t>Выполняем задачу (например, в другом потоке)</a:t>
            </a:r>
          </a:p>
          <a:p>
            <a:r>
              <a:rPr lang="ru-RU" dirty="0"/>
              <a:t>Гарантии:</a:t>
            </a:r>
          </a:p>
          <a:p>
            <a:pPr lvl="1"/>
            <a:r>
              <a:rPr lang="ru-RU" dirty="0"/>
              <a:t>результат доступен через </a:t>
            </a:r>
            <a:r>
              <a:rPr lang="ru-RU" dirty="0" err="1"/>
              <a:t>future</a:t>
            </a:r>
            <a:endParaRPr lang="ru-RU" dirty="0"/>
          </a:p>
          <a:p>
            <a:pPr lvl="1"/>
            <a:r>
              <a:rPr lang="ru-RU" dirty="0"/>
              <a:t>исключения автоматически передаются в </a:t>
            </a:r>
            <a:r>
              <a:rPr lang="ru-RU" dirty="0" err="1"/>
              <a:t>future</a:t>
            </a:r>
            <a:r>
              <a:rPr lang="ru-RU" dirty="0"/>
              <a:t>::</a:t>
            </a:r>
            <a:r>
              <a:rPr lang="ru-RU" dirty="0" err="1"/>
              <a:t>get</a:t>
            </a:r>
            <a:r>
              <a:rPr lang="ru-RU" dirty="0"/>
              <a:t>()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919BE-2A1F-1CB4-A8EE-1992889E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02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39F388-D53F-D597-C7FD-A1C520BA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Примерное устройство </a:t>
            </a:r>
            <a:r>
              <a:rPr lang="en-US" dirty="0" err="1"/>
              <a:t>packaged_task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46314E-DEE5-39E6-6629-DFBCEFED3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603" y="2514134"/>
            <a:ext cx="6517276" cy="291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13DE9-182F-4EEE-FE17-83C23CBEC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7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744A3-D4CF-57CA-EF67-C96D556F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функции в другом потоке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46BEF-6903-F1F7-6D32-9F02746C6D43}"/>
              </a:ext>
            </a:extLst>
          </p:cNvPr>
          <p:cNvSpPr txBox="1"/>
          <p:nvPr/>
        </p:nvSpPr>
        <p:spPr>
          <a:xfrm>
            <a:off x="838200" y="1991032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packaged_task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968A6-BC51-8D0E-2910-70205D711892}"/>
              </a:ext>
            </a:extLst>
          </p:cNvPr>
          <p:cNvSpPr txBox="1"/>
          <p:nvPr/>
        </p:nvSpPr>
        <p:spPr>
          <a:xfrm>
            <a:off x="8141110" y="5646872"/>
            <a:ext cx="380508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 thread id:25916</a:t>
            </a:r>
          </a:p>
          <a:p>
            <a:r>
              <a:rPr lang="en-US" dirty="0">
                <a:latin typeface="Consolas" panose="020B0609020204030204" pitchFamily="49" charset="0"/>
              </a:rPr>
              <a:t>Add thread id:25948</a:t>
            </a:r>
          </a:p>
          <a:p>
            <a:r>
              <a:rPr lang="en-US" dirty="0">
                <a:latin typeface="Consolas" panose="020B0609020204030204" pitchFamily="49" charset="0"/>
              </a:rPr>
              <a:t>30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59343-5D76-D1AC-613D-C0BDF102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7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8F49-36F3-BDEC-31D1-C575F4DE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  <a:r>
              <a:rPr lang="ru-RU" dirty="0"/>
              <a:t> при получении результата незапущенной </a:t>
            </a:r>
            <a:r>
              <a:rPr lang="en-US" dirty="0" err="1"/>
              <a:t>packaged_task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DDC88-A9C7-7B07-7876-3366C5C0DA16}"/>
              </a:ext>
            </a:extLst>
          </p:cNvPr>
          <p:cNvSpPr txBox="1"/>
          <p:nvPr/>
        </p:nvSpPr>
        <p:spPr>
          <a:xfrm>
            <a:off x="838200" y="1929160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packaged_task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будет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deadlock,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как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запущена.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AD58C-949E-E5F3-A204-89F93AD4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50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1237-0299-9710-BEBC-45EDE760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исключения из фонового потока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195FB-BD3B-2799-5481-860C3FEB7ECB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Division by zero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ru-RU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packaged_task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EEB36-764C-280C-5721-F7E6E5F85013}"/>
              </a:ext>
            </a:extLst>
          </p:cNvPr>
          <p:cNvSpPr txBox="1"/>
          <p:nvPr/>
        </p:nvSpPr>
        <p:spPr>
          <a:xfrm>
            <a:off x="7591733" y="5569545"/>
            <a:ext cx="3602293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 thread id:4924</a:t>
            </a:r>
          </a:p>
          <a:p>
            <a:r>
              <a:rPr lang="en-US" dirty="0">
                <a:latin typeface="Consolas" panose="020B0609020204030204" pitchFamily="49" charset="0"/>
              </a:rPr>
              <a:t>Divide thread id:11912</a:t>
            </a:r>
          </a:p>
          <a:p>
            <a:r>
              <a:rPr lang="en-US" dirty="0">
                <a:latin typeface="Consolas" panose="020B0609020204030204" pitchFamily="49" charset="0"/>
              </a:rPr>
              <a:t>Division by zero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AB06F-B50E-7668-2F42-F0C1C34D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54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B044B4-E020-BCF4-F87F-9F76995A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 err="1"/>
              <a:t>packaged_task</a:t>
            </a:r>
            <a:r>
              <a:rPr lang="ru-RU" dirty="0"/>
              <a:t> недостаточно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0E0086-6DE7-64AA-B1FE-FA58AFD9B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Иногда результат устанавливает не сама функция</a:t>
            </a:r>
          </a:p>
          <a:p>
            <a:pPr lvl="1"/>
            <a:r>
              <a:rPr lang="ru-RU" dirty="0"/>
              <a:t>Не всегда удобно оборачивать вычисление в </a:t>
            </a:r>
            <a:r>
              <a:rPr lang="ru-RU" dirty="0" err="1"/>
              <a:t>packaged_task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Иногда нужно:</a:t>
            </a:r>
          </a:p>
          <a:p>
            <a:pPr lvl="2"/>
            <a:r>
              <a:rPr lang="ru-RU" dirty="0"/>
              <a:t>выполнить сложную последовательность действий</a:t>
            </a:r>
          </a:p>
          <a:p>
            <a:pPr lvl="2"/>
            <a:r>
              <a:rPr lang="ru-RU" dirty="0"/>
              <a:t>получить результат из другого API</a:t>
            </a:r>
          </a:p>
          <a:p>
            <a:pPr lvl="2"/>
            <a:r>
              <a:rPr lang="ru-RU" dirty="0"/>
              <a:t>обработать несколько возможных исходов</a:t>
            </a:r>
          </a:p>
          <a:p>
            <a:r>
              <a:rPr lang="ru-RU" dirty="0"/>
              <a:t>Нам нужен механизм</a:t>
            </a:r>
          </a:p>
          <a:p>
            <a:pPr lvl="1"/>
            <a:r>
              <a:rPr lang="ru-RU" dirty="0"/>
              <a:t>вручную установить результат</a:t>
            </a:r>
          </a:p>
          <a:p>
            <a:pPr lvl="1"/>
            <a:r>
              <a:rPr lang="ru-RU" dirty="0"/>
              <a:t>или передать исключение</a:t>
            </a:r>
          </a:p>
          <a:p>
            <a:pPr lvl="1"/>
            <a:r>
              <a:rPr lang="ru-RU" dirty="0"/>
              <a:t>результат должен быть доступен через </a:t>
            </a:r>
            <a:r>
              <a:rPr lang="ru-RU" dirty="0" err="1"/>
              <a:t>future</a:t>
            </a:r>
            <a:endParaRPr lang="ru-RU" dirty="0"/>
          </a:p>
          <a:p>
            <a:r>
              <a:rPr lang="ru-RU" dirty="0"/>
              <a:t>Решение: </a:t>
            </a:r>
            <a:r>
              <a:rPr lang="en-US" dirty="0"/>
              <a:t>std::promise</a:t>
            </a:r>
            <a:endParaRPr lang="ru-RU" dirty="0"/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E48DCF-EC21-F220-111F-E2625FA0C6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3571563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B750C3-5BD2-09E8-FBAA-5CE2165D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87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8908-A918-68F2-4143-64A1FAC2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F341-D92B-31E4-8DB4-3F3AF233E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67738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Механизм ручной установки результата вычисления</a:t>
            </a:r>
          </a:p>
          <a:p>
            <a:r>
              <a:rPr lang="ru-RU" dirty="0"/>
              <a:t>Возможности</a:t>
            </a:r>
          </a:p>
          <a:p>
            <a:pPr lvl="1"/>
            <a:r>
              <a:rPr lang="en-US" dirty="0" err="1"/>
              <a:t>set_value</a:t>
            </a:r>
            <a:r>
              <a:rPr lang="en-US" dirty="0"/>
              <a:t>(value) — </a:t>
            </a:r>
            <a:r>
              <a:rPr lang="ru-RU" dirty="0"/>
              <a:t>установить результат</a:t>
            </a:r>
          </a:p>
          <a:p>
            <a:pPr lvl="1"/>
            <a:r>
              <a:rPr lang="en-US" dirty="0" err="1"/>
              <a:t>set_exception</a:t>
            </a:r>
            <a:r>
              <a:rPr lang="en-US" dirty="0"/>
              <a:t>(</a:t>
            </a:r>
            <a:r>
              <a:rPr lang="en-US" dirty="0" err="1"/>
              <a:t>exception_ptr</a:t>
            </a:r>
            <a:r>
              <a:rPr lang="en-US" dirty="0"/>
              <a:t>) — </a:t>
            </a:r>
            <a:r>
              <a:rPr lang="ru-RU" dirty="0"/>
              <a:t>передать исключение</a:t>
            </a:r>
          </a:p>
          <a:p>
            <a:pPr lvl="1"/>
            <a:r>
              <a:rPr lang="en-US" dirty="0" err="1"/>
              <a:t>get_future</a:t>
            </a:r>
            <a:r>
              <a:rPr lang="en-US" dirty="0"/>
              <a:t>() — </a:t>
            </a:r>
            <a:r>
              <a:rPr lang="ru-RU" dirty="0"/>
              <a:t>получить связанный </a:t>
            </a:r>
            <a:r>
              <a:rPr lang="en-US" dirty="0"/>
              <a:t>std::future</a:t>
            </a:r>
            <a:endParaRPr lang="ru-RU" dirty="0"/>
          </a:p>
          <a:p>
            <a:r>
              <a:rPr lang="ru-RU" dirty="0"/>
              <a:t>Используется, когда результат:</a:t>
            </a:r>
          </a:p>
          <a:p>
            <a:pPr lvl="1"/>
            <a:r>
              <a:rPr lang="ru-RU" dirty="0"/>
              <a:t>появляется внутри потока</a:t>
            </a:r>
          </a:p>
          <a:p>
            <a:pPr lvl="1"/>
            <a:r>
              <a:rPr lang="ru-RU" dirty="0"/>
              <a:t>или внешнего события</a:t>
            </a:r>
          </a:p>
          <a:p>
            <a:pPr lvl="1"/>
            <a:r>
              <a:rPr lang="ru-RU" dirty="0"/>
              <a:t>и его нужно передать через </a:t>
            </a:r>
            <a:r>
              <a:rPr lang="ru-RU" dirty="0" err="1"/>
              <a:t>future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D7A8B-CA57-5EBA-4ADF-D7843228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43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56F3AE-9CA3-6508-3CF1-F2E40F31E590}"/>
              </a:ext>
            </a:extLst>
          </p:cNvPr>
          <p:cNvCxnSpPr/>
          <p:nvPr/>
        </p:nvCxnSpPr>
        <p:spPr>
          <a:xfrm>
            <a:off x="8331200" y="1959429"/>
            <a:ext cx="0" cy="421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C53589-D1F8-CF82-E133-F762FF65242B}"/>
              </a:ext>
            </a:extLst>
          </p:cNvPr>
          <p:cNvCxnSpPr/>
          <p:nvPr/>
        </p:nvCxnSpPr>
        <p:spPr>
          <a:xfrm>
            <a:off x="10922000" y="1942823"/>
            <a:ext cx="0" cy="421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C083EB-14BE-C928-8037-51E5E3BCACA0}"/>
              </a:ext>
            </a:extLst>
          </p:cNvPr>
          <p:cNvSpPr txBox="1"/>
          <p:nvPr/>
        </p:nvSpPr>
        <p:spPr>
          <a:xfrm>
            <a:off x="7220857" y="1573491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Worker thread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E3417-AF6B-67FA-7E8D-23122853266C}"/>
              </a:ext>
            </a:extLst>
          </p:cNvPr>
          <p:cNvSpPr txBox="1"/>
          <p:nvPr/>
        </p:nvSpPr>
        <p:spPr>
          <a:xfrm>
            <a:off x="9706429" y="1573491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 thread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7DEEEA-0585-E8E6-A241-037484CBA48F}"/>
              </a:ext>
            </a:extLst>
          </p:cNvPr>
          <p:cNvSpPr/>
          <p:nvPr/>
        </p:nvSpPr>
        <p:spPr>
          <a:xfrm>
            <a:off x="7721579" y="2899054"/>
            <a:ext cx="1248242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215662-1CBB-9AEC-DFAD-2E771646FAF1}"/>
              </a:ext>
            </a:extLst>
          </p:cNvPr>
          <p:cNvSpPr/>
          <p:nvPr/>
        </p:nvSpPr>
        <p:spPr>
          <a:xfrm>
            <a:off x="9082308" y="4338147"/>
            <a:ext cx="1248242" cy="774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54507D-0EAC-6C70-287C-96CC81FA47C7}"/>
              </a:ext>
            </a:extLst>
          </p:cNvPr>
          <p:cNvSpPr/>
          <p:nvPr/>
        </p:nvSpPr>
        <p:spPr>
          <a:xfrm>
            <a:off x="10297879" y="2925738"/>
            <a:ext cx="1248242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future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555C-008E-DF98-F8AD-BBDB6CCA622E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8345700" y="3264179"/>
            <a:ext cx="1360729" cy="1073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6022CD-F699-52F3-4E12-6606CC73C6B1}"/>
              </a:ext>
            </a:extLst>
          </p:cNvPr>
          <p:cNvCxnSpPr>
            <a:stCxn id="15" idx="2"/>
          </p:cNvCxnSpPr>
          <p:nvPr/>
        </p:nvCxnSpPr>
        <p:spPr>
          <a:xfrm flipH="1">
            <a:off x="9811657" y="3290863"/>
            <a:ext cx="1110343" cy="1047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28EB82-B253-5116-9ABC-4337ADC287F0}"/>
              </a:ext>
            </a:extLst>
          </p:cNvPr>
          <p:cNvSpPr txBox="1"/>
          <p:nvPr/>
        </p:nvSpPr>
        <p:spPr>
          <a:xfrm>
            <a:off x="6676571" y="3992616"/>
            <a:ext cx="23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p.set_value</a:t>
            </a:r>
            <a:r>
              <a:rPr lang="en-US" dirty="0"/>
              <a:t>(…)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7BB21A-A0CE-883C-F2D1-2D6AAFB7D8E1}"/>
              </a:ext>
            </a:extLst>
          </p:cNvPr>
          <p:cNvSpPr txBox="1"/>
          <p:nvPr/>
        </p:nvSpPr>
        <p:spPr>
          <a:xfrm>
            <a:off x="10922000" y="3992616"/>
            <a:ext cx="161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f.get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28669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46FF20-2C20-EAB8-4BA6-1D71AF02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между </a:t>
            </a:r>
            <a:r>
              <a:rPr lang="en-US" dirty="0"/>
              <a:t>future </a:t>
            </a:r>
            <a:r>
              <a:rPr lang="ru-RU" dirty="0"/>
              <a:t>и </a:t>
            </a:r>
            <a:r>
              <a:rPr lang="en-US" dirty="0"/>
              <a:t>promise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CD14E-2D7A-284B-8466-15318EE4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44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A72DFA1-FC6C-C43B-A94E-C337D0258C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008" y="1825625"/>
            <a:ext cx="909398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884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E392EB-8CD9-79EB-FA7C-FD03D349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значения или исключения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DB904-E882-83E7-156A-9E370D8120A1}"/>
              </a:ext>
            </a:extLst>
          </p:cNvPr>
          <p:cNvSpPr txBox="1"/>
          <p:nvPr/>
        </p:nvSpPr>
        <p:spPr>
          <a:xfrm>
            <a:off x="838200" y="1690687"/>
            <a:ext cx="106698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string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string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string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set_exception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current_exception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string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2B98D-F286-C396-15A6-B6192B3BD3C0}"/>
              </a:ext>
            </a:extLst>
          </p:cNvPr>
          <p:cNvSpPr txBox="1"/>
          <p:nvPr/>
        </p:nvSpPr>
        <p:spPr>
          <a:xfrm>
            <a:off x="8042817" y="5938004"/>
            <a:ext cx="392244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invalid vector subscript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C2FC8-8CA6-8ADE-A427-2A66BDD1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766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FB6132-0115-3F64-3FB3-84EA8D330431}"/>
              </a:ext>
            </a:extLst>
          </p:cNvPr>
          <p:cNvSpPr txBox="1"/>
          <p:nvPr/>
        </p:nvSpPr>
        <p:spPr>
          <a:xfrm>
            <a:off x="1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Divide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make_exception_ptr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Division by zero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thread id: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7F8AA-89B1-5A9F-E900-75308141A62F}"/>
              </a:ext>
            </a:extLst>
          </p:cNvPr>
          <p:cNvSpPr txBox="1"/>
          <p:nvPr/>
        </p:nvSpPr>
        <p:spPr>
          <a:xfrm>
            <a:off x="8399207" y="5153316"/>
            <a:ext cx="3389671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 thread id:24688</a:t>
            </a:r>
          </a:p>
          <a:p>
            <a:r>
              <a:rPr lang="en-US" dirty="0">
                <a:latin typeface="Consolas" panose="020B0609020204030204" pitchFamily="49" charset="0"/>
              </a:rPr>
              <a:t>Divide thread id:13188</a:t>
            </a:r>
          </a:p>
          <a:p>
            <a:r>
              <a:rPr lang="en-US" dirty="0">
                <a:latin typeface="Consolas" panose="020B0609020204030204" pitchFamily="49" charset="0"/>
              </a:rPr>
              <a:t>7</a:t>
            </a:r>
          </a:p>
          <a:p>
            <a:r>
              <a:rPr lang="en-US" dirty="0">
                <a:latin typeface="Consolas" panose="020B0609020204030204" pitchFamily="49" charset="0"/>
              </a:rPr>
              <a:t>Divide thread id:27196</a:t>
            </a:r>
          </a:p>
          <a:p>
            <a:r>
              <a:rPr lang="en-US" dirty="0">
                <a:latin typeface="Consolas" panose="020B0609020204030204" pitchFamily="49" charset="0"/>
              </a:rPr>
              <a:t>Division by zero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0814B2-3F41-E983-7788-BF92607B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1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AED6-3943-26D0-C2AB-D7BD8989A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Broken promise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9B6E0-6D1B-A088-9BB4-EAFE3DEC9BB6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promise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разрушен до установки исключения или значения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future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future_error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future_errc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broken_promise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678C72-553A-44E2-8B93-036AC0D1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881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A065-9B9D-DBCB-2F2D-3198A38D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функций в другом потоке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C892C-A6C2-894E-CEE1-2482D77F6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Идея: очередь задач + рабочий поток</a:t>
            </a:r>
          </a:p>
          <a:p>
            <a:pPr lvl="1"/>
            <a:r>
              <a:rPr lang="ru-RU" dirty="0"/>
              <a:t>Оборачиваем функцию в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packaged_task</a:t>
            </a:r>
            <a:endParaRPr lang="ru-RU" dirty="0"/>
          </a:p>
          <a:p>
            <a:pPr lvl="1"/>
            <a:r>
              <a:rPr lang="ru-RU" dirty="0"/>
              <a:t>Получаем связанный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future</a:t>
            </a:r>
            <a:endParaRPr lang="ru-RU" dirty="0"/>
          </a:p>
          <a:p>
            <a:pPr lvl="1"/>
            <a:r>
              <a:rPr lang="ru-RU" dirty="0"/>
              <a:t>Помещаем задачу в </a:t>
            </a:r>
            <a:r>
              <a:rPr lang="ru-RU" dirty="0" err="1"/>
              <a:t>потокобезопасную</a:t>
            </a:r>
            <a:r>
              <a:rPr lang="ru-RU" dirty="0"/>
              <a:t> очередь</a:t>
            </a:r>
          </a:p>
          <a:p>
            <a:pPr lvl="1"/>
            <a:r>
              <a:rPr lang="ru-RU" dirty="0"/>
              <a:t>Рабочий поток извлекает задачи из очереди и выполняет их</a:t>
            </a:r>
          </a:p>
          <a:p>
            <a:r>
              <a:rPr lang="ru-RU" dirty="0"/>
              <a:t>Это позволяет</a:t>
            </a:r>
          </a:p>
          <a:p>
            <a:pPr lvl="1"/>
            <a:r>
              <a:rPr lang="ru-RU" dirty="0"/>
              <a:t>отделить создание задачи от её выполнения</a:t>
            </a:r>
          </a:p>
          <a:p>
            <a:pPr lvl="1"/>
            <a:r>
              <a:rPr lang="ru-RU" dirty="0"/>
              <a:t>выполнять задачи в другом потоке</a:t>
            </a:r>
          </a:p>
          <a:p>
            <a:pPr lvl="1"/>
            <a:r>
              <a:rPr lang="ru-RU" dirty="0"/>
              <a:t>получать результат через </a:t>
            </a:r>
            <a:r>
              <a:rPr lang="ru-RU" dirty="0" err="1"/>
              <a:t>future</a:t>
            </a:r>
            <a:endParaRPr lang="ru-RU" dirty="0"/>
          </a:p>
          <a:p>
            <a:r>
              <a:rPr lang="ru-RU" dirty="0"/>
              <a:t>Замечание</a:t>
            </a:r>
          </a:p>
          <a:p>
            <a:pPr lvl="1"/>
            <a:r>
              <a:rPr lang="ru-RU" dirty="0" err="1"/>
              <a:t>packaged_task</a:t>
            </a:r>
            <a:r>
              <a:rPr lang="ru-RU" dirty="0"/>
              <a:t> — перемещаемый, но не копируемый объект.</a:t>
            </a:r>
          </a:p>
          <a:p>
            <a:pPr lvl="1"/>
            <a:r>
              <a:rPr lang="ru-RU" dirty="0"/>
              <a:t>Поэтому в очереди задач используется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move_only_function</a:t>
            </a:r>
            <a:r>
              <a:rPr lang="ru-RU" dirty="0"/>
              <a:t> (C++23)</a:t>
            </a:r>
            <a:br>
              <a:rPr lang="ru-RU" dirty="0"/>
            </a:br>
            <a:r>
              <a:rPr lang="ru-RU" dirty="0"/>
              <a:t>или его аналог.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148C9-3F5A-BF4C-3DFB-D567EBAF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55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627CA3-D140-5EB6-F7DB-07015B9F5865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bind_front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ThreadProc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m_tasksUpdated.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std::queue&lt;std::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move_only_function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&lt;void()&gt;&gt;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m_tasksUpdated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57DFF15-FF2B-4EE2-E3B5-85327AFD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 err="1"/>
              <a:t>ThreadExecutor</a:t>
            </a:r>
            <a:r>
              <a:rPr lang="en-US" dirty="0"/>
              <a:t> – </a:t>
            </a:r>
            <a:r>
              <a:rPr lang="ru-RU" dirty="0"/>
              <a:t>общая концепция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501AB-1BA9-06C3-10B3-EA99D78A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85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5B8B-ECF0-086D-3497-55B34694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Помещение задачи на исполнение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06F56-82F0-2BCA-9C4D-D1D041D38466}"/>
              </a:ext>
            </a:extLst>
          </p:cNvPr>
          <p:cNvSpPr txBox="1"/>
          <p:nvPr/>
        </p:nvSpPr>
        <p:spPr>
          <a:xfrm>
            <a:off x="838200" y="2074146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packaged_task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invoke_result_t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m_tasksUpdated.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390B-76BD-DC57-FA1C-E2B2BD37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F1B3-7075-02D8-CD39-0F48BFA2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функций в фоновом потоке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145B3-016D-B00C-932A-CDD9366EB8E8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ThreadExecutor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ThreadProc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m_tasksUpdated.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||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m_tasks.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FCC54F-F7FE-D371-A9A9-F234A446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8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F8E8A0-01F7-660E-2A55-0C12BE8B4F5C}"/>
              </a:ext>
            </a:extLst>
          </p:cNvPr>
          <p:cNvSpPr txBox="1"/>
          <p:nvPr/>
        </p:nvSpPr>
        <p:spPr>
          <a:xfrm>
            <a:off x="-1" y="0"/>
            <a:ext cx="1198756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ru-RU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&gt;&gt;(std::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{}</a:t>
            </a:r>
          </a:p>
          <a:p>
            <a:pPr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FunctionWrapper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operator()()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ImplBase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ImplBase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ImplBase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ImplBase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m_impl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891F44-FADB-DDA4-FEE2-A4E8B92A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8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D2EC-979A-DF32-34E8-FA51B7F5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Ожидание результата в нескольких потоках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9A07C-3496-4CF2-DD00-99027560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future</a:t>
            </a:r>
            <a:endParaRPr lang="ru-RU" b="1" dirty="0"/>
          </a:p>
          <a:p>
            <a:pPr lvl="1"/>
            <a:r>
              <a:rPr lang="ru-RU" dirty="0"/>
              <a:t>результат можно получить </a:t>
            </a:r>
            <a:r>
              <a:rPr lang="ru-RU" b="1" dirty="0"/>
              <a:t>только один раз</a:t>
            </a:r>
            <a:endParaRPr lang="ru-RU" dirty="0"/>
          </a:p>
          <a:p>
            <a:pPr lvl="1"/>
            <a:r>
              <a:rPr lang="ru-RU" dirty="0"/>
              <a:t>после вызова </a:t>
            </a:r>
            <a:r>
              <a:rPr lang="ru-RU" dirty="0" err="1"/>
              <a:t>future</a:t>
            </a:r>
            <a:r>
              <a:rPr lang="ru-RU" dirty="0"/>
              <a:t>::</a:t>
            </a:r>
            <a:r>
              <a:rPr lang="ru-RU" dirty="0" err="1"/>
              <a:t>get</a:t>
            </a:r>
            <a:r>
              <a:rPr lang="ru-RU" dirty="0"/>
              <a:t>() объект становится </a:t>
            </a:r>
            <a:r>
              <a:rPr lang="ru-RU" dirty="0" err="1"/>
              <a:t>невалидным</a:t>
            </a:r>
            <a:endParaRPr lang="ru-RU" dirty="0"/>
          </a:p>
          <a:p>
            <a:pPr lvl="1"/>
            <a:r>
              <a:rPr lang="ru-RU" dirty="0"/>
              <a:t>одновременный доступ из нескольких потоков небезопасен</a:t>
            </a:r>
          </a:p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shared_future</a:t>
            </a:r>
            <a:endParaRPr lang="ru-RU" b="1" dirty="0"/>
          </a:p>
          <a:p>
            <a:pPr lvl="1"/>
            <a:r>
              <a:rPr lang="ru-RU" dirty="0"/>
              <a:t>Позволяет получать результат в нескольких потоках</a:t>
            </a:r>
          </a:p>
          <a:p>
            <a:pPr lvl="1"/>
            <a:r>
              <a:rPr lang="ru-RU" dirty="0" err="1"/>
              <a:t>get</a:t>
            </a:r>
            <a:r>
              <a:rPr lang="ru-RU" dirty="0"/>
              <a:t>() можно вызывать </a:t>
            </a:r>
            <a:r>
              <a:rPr lang="ru-RU" b="1" dirty="0"/>
              <a:t>много раз</a:t>
            </a:r>
            <a:endParaRPr lang="ru-RU" dirty="0"/>
          </a:p>
          <a:p>
            <a:pPr lvl="1"/>
            <a:r>
              <a:rPr lang="ru-RU" dirty="0"/>
              <a:t>объект </a:t>
            </a:r>
            <a:r>
              <a:rPr lang="ru-RU" b="1" dirty="0"/>
              <a:t>копируемый</a:t>
            </a:r>
            <a:endParaRPr lang="ru-RU" dirty="0"/>
          </a:p>
          <a:p>
            <a:pPr lvl="1"/>
            <a:r>
              <a:rPr lang="ru-RU" dirty="0"/>
              <a:t>разные потоки могут использовать </a:t>
            </a:r>
            <a:r>
              <a:rPr lang="ru-RU" b="1" dirty="0"/>
              <a:t>свои копии </a:t>
            </a:r>
            <a:r>
              <a:rPr lang="ru-RU" b="1" dirty="0" err="1"/>
              <a:t>shared_future</a:t>
            </a:r>
            <a:endParaRPr lang="ru-RU" dirty="0"/>
          </a:p>
          <a:p>
            <a:r>
              <a:rPr lang="ru-RU" b="1" dirty="0"/>
              <a:t>Преобразование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future</a:t>
            </a:r>
            <a:r>
              <a:rPr lang="ru-RU" dirty="0"/>
              <a:t>&lt;</a:t>
            </a:r>
            <a:r>
              <a:rPr lang="ru-RU" dirty="0" err="1"/>
              <a:t>int</a:t>
            </a:r>
            <a:r>
              <a:rPr lang="ru-RU" dirty="0"/>
              <a:t>&gt; f = ...;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shared_future</a:t>
            </a:r>
            <a:r>
              <a:rPr lang="ru-RU" dirty="0"/>
              <a:t>&lt;</a:t>
            </a:r>
            <a:r>
              <a:rPr lang="ru-RU" dirty="0" err="1"/>
              <a:t>int</a:t>
            </a:r>
            <a:r>
              <a:rPr lang="ru-RU" dirty="0"/>
              <a:t>&gt; </a:t>
            </a:r>
            <a:r>
              <a:rPr lang="ru-RU" dirty="0" err="1"/>
              <a:t>sf</a:t>
            </a:r>
            <a:r>
              <a:rPr lang="ru-RU" dirty="0"/>
              <a:t> = </a:t>
            </a:r>
            <a:r>
              <a:rPr lang="ru-RU" dirty="0" err="1"/>
              <a:t>f.share</a:t>
            </a:r>
            <a:r>
              <a:rPr lang="ru-RU" dirty="0"/>
              <a:t>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6D72-6EDB-C905-7B0A-AA34C543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4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6D751D-B62F-ECE1-EC3C-63E4370D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 err="1"/>
              <a:t>shared_future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4AA11-9934-0CA5-9863-EA9336B39081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 []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 []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f3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[](std::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  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::async,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[](std::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shared_future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f3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f3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3AB137-3B6D-57A7-D75A-55162D19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2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conditional_variable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D61ED-4F3F-028F-1A1D-043F3326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034BB-85A4-98E0-ADF7-3C562730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7726</TotalTime>
  <Words>13029</Words>
  <Application>Microsoft Office PowerPoint</Application>
  <PresentationFormat>Widescreen</PresentationFormat>
  <Paragraphs>1482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Aptos Display</vt:lpstr>
      <vt:lpstr>Arial</vt:lpstr>
      <vt:lpstr>Consolas</vt:lpstr>
      <vt:lpstr>Segoe UI</vt:lpstr>
      <vt:lpstr>Office Theme</vt:lpstr>
      <vt:lpstr>Синхронизация операций между потоками</vt:lpstr>
      <vt:lpstr>Ожидание наступления события</vt:lpstr>
      <vt:lpstr>PowerPoint Presentation</vt:lpstr>
      <vt:lpstr>Чередуем проверку флага со сном</vt:lpstr>
      <vt:lpstr>Условные переменные</vt:lpstr>
      <vt:lpstr>Условные переменные</vt:lpstr>
      <vt:lpstr>Использование condition_variable</vt:lpstr>
      <vt:lpstr>Ложные пробуждения (spurious wakeups)</vt:lpstr>
      <vt:lpstr>PowerPoint Presentation</vt:lpstr>
      <vt:lpstr>PowerPoint Presentation</vt:lpstr>
      <vt:lpstr>Стек с ожиданием</vt:lpstr>
      <vt:lpstr>PowerPoint Presentation</vt:lpstr>
      <vt:lpstr>PowerPoint Presentation</vt:lpstr>
      <vt:lpstr>std::latch (защёлка)</vt:lpstr>
      <vt:lpstr>std::latch</vt:lpstr>
      <vt:lpstr>Задача «Эльфы и Сатана Санта»</vt:lpstr>
      <vt:lpstr>PowerPoint Presentation</vt:lpstr>
      <vt:lpstr>Барьер</vt:lpstr>
      <vt:lpstr>Барьер</vt:lpstr>
      <vt:lpstr>Пример барьера</vt:lpstr>
      <vt:lpstr>PowerPoint Presentation</vt:lpstr>
      <vt:lpstr>Остановка работы потоков</vt:lpstr>
      <vt:lpstr>std::stop_token и std::stop_source</vt:lpstr>
      <vt:lpstr>Останавливаем поток вызовом метода request_stop</vt:lpstr>
      <vt:lpstr>PowerPoint Presentation</vt:lpstr>
      <vt:lpstr>std::stop_callback</vt:lpstr>
      <vt:lpstr>Получение результатов фоновых задач</vt:lpstr>
      <vt:lpstr>Зачем нужны асинхронные задачи?</vt:lpstr>
      <vt:lpstr>Наивный подход</vt:lpstr>
      <vt:lpstr>Более высокоуровневый механизм</vt:lpstr>
      <vt:lpstr>PowerPoint Presentation</vt:lpstr>
      <vt:lpstr>PowerPoint Presentation</vt:lpstr>
      <vt:lpstr>Где выполняется async(launch::async)</vt:lpstr>
      <vt:lpstr>Выполнение std::async в пуле потоков</vt:lpstr>
      <vt:lpstr>Выполнение std::async c launch::deferred</vt:lpstr>
      <vt:lpstr>Ограничения std::async</vt:lpstr>
      <vt:lpstr>packaged_task</vt:lpstr>
      <vt:lpstr>Примерное устройство packaged_task</vt:lpstr>
      <vt:lpstr>Вызов функции в другом потоке</vt:lpstr>
      <vt:lpstr>Deadlock при получении результата незапущенной packaged_task</vt:lpstr>
      <vt:lpstr>Передача исключения из фонового потока</vt:lpstr>
      <vt:lpstr>Когда packaged_task недостаточно</vt:lpstr>
      <vt:lpstr>promise</vt:lpstr>
      <vt:lpstr>Связь между future и promise</vt:lpstr>
      <vt:lpstr>Установка значения или исключения</vt:lpstr>
      <vt:lpstr>PowerPoint Presentation</vt:lpstr>
      <vt:lpstr>Broken promise</vt:lpstr>
      <vt:lpstr>Выполнение функций в другом потоке</vt:lpstr>
      <vt:lpstr>Класс ThreadExecutor – общая концепция</vt:lpstr>
      <vt:lpstr>Помещение задачи на исполнение</vt:lpstr>
      <vt:lpstr>Выполнение функций в фоновом потоке</vt:lpstr>
      <vt:lpstr>PowerPoint Presentation</vt:lpstr>
      <vt:lpstr>Ожидание результата в нескольких потоках</vt:lpstr>
      <vt:lpstr>Пример использования shared_future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112</cp:revision>
  <dcterms:created xsi:type="dcterms:W3CDTF">2025-02-03T14:52:05Z</dcterms:created>
  <dcterms:modified xsi:type="dcterms:W3CDTF">2026-05-07T21:51:43Z</dcterms:modified>
</cp:coreProperties>
</file>