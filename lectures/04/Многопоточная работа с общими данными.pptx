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19" r:id="rId2"/>
    <p:sldId id="266" r:id="rId3"/>
    <p:sldId id="274" r:id="rId4"/>
    <p:sldId id="279" r:id="rId5"/>
    <p:sldId id="284" r:id="rId6"/>
    <p:sldId id="310" r:id="rId7"/>
    <p:sldId id="271" r:id="rId8"/>
    <p:sldId id="273" r:id="rId9"/>
    <p:sldId id="268" r:id="rId10"/>
    <p:sldId id="275" r:id="rId11"/>
    <p:sldId id="269" r:id="rId12"/>
    <p:sldId id="270" r:id="rId13"/>
    <p:sldId id="276" r:id="rId14"/>
    <p:sldId id="278" r:id="rId15"/>
    <p:sldId id="281" r:id="rId16"/>
    <p:sldId id="280" r:id="rId17"/>
    <p:sldId id="288" r:id="rId18"/>
    <p:sldId id="277" r:id="rId19"/>
    <p:sldId id="290" r:id="rId20"/>
    <p:sldId id="289" r:id="rId21"/>
    <p:sldId id="291" r:id="rId22"/>
    <p:sldId id="315" r:id="rId23"/>
    <p:sldId id="316" r:id="rId24"/>
    <p:sldId id="286" r:id="rId25"/>
    <p:sldId id="314" r:id="rId26"/>
    <p:sldId id="285" r:id="rId27"/>
    <p:sldId id="287" r:id="rId28"/>
    <p:sldId id="282" r:id="rId29"/>
    <p:sldId id="294" r:id="rId30"/>
    <p:sldId id="313" r:id="rId31"/>
    <p:sldId id="317" r:id="rId32"/>
    <p:sldId id="293" r:id="rId33"/>
    <p:sldId id="295" r:id="rId34"/>
    <p:sldId id="297" r:id="rId35"/>
    <p:sldId id="296" r:id="rId36"/>
    <p:sldId id="298" r:id="rId37"/>
    <p:sldId id="299" r:id="rId38"/>
    <p:sldId id="300" r:id="rId39"/>
    <p:sldId id="318" r:id="rId40"/>
    <p:sldId id="309" r:id="rId41"/>
    <p:sldId id="301" r:id="rId42"/>
    <p:sldId id="302" r:id="rId43"/>
    <p:sldId id="303" r:id="rId44"/>
    <p:sldId id="304" r:id="rId45"/>
    <p:sldId id="306" r:id="rId46"/>
    <p:sldId id="305" r:id="rId47"/>
    <p:sldId id="311" r:id="rId48"/>
    <p:sldId id="312" r:id="rId49"/>
    <p:sldId id="307" r:id="rId50"/>
    <p:sldId id="272" r:id="rId51"/>
    <p:sldId id="308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319"/>
            <p14:sldId id="266"/>
            <p14:sldId id="274"/>
            <p14:sldId id="279"/>
            <p14:sldId id="284"/>
          </p14:sldIdLst>
        </p14:section>
        <p14:section name="Гонка данных" id="{ABE47D00-98A1-4B0A-829B-259EE91554EF}">
          <p14:sldIdLst>
            <p14:sldId id="310"/>
            <p14:sldId id="271"/>
            <p14:sldId id="273"/>
            <p14:sldId id="268"/>
            <p14:sldId id="275"/>
            <p14:sldId id="269"/>
            <p14:sldId id="270"/>
            <p14:sldId id="276"/>
            <p14:sldId id="278"/>
            <p14:sldId id="281"/>
            <p14:sldId id="280"/>
          </p14:sldIdLst>
        </p14:section>
        <p14:section name="Отношение happens-before" id="{D39ED908-BCCD-43C4-BF2E-2A908CA2D16A}">
          <p14:sldIdLst>
            <p14:sldId id="288"/>
            <p14:sldId id="277"/>
            <p14:sldId id="290"/>
            <p14:sldId id="289"/>
            <p14:sldId id="291"/>
            <p14:sldId id="315"/>
            <p14:sldId id="316"/>
            <p14:sldId id="286"/>
            <p14:sldId id="314"/>
            <p14:sldId id="285"/>
            <p14:sldId id="287"/>
            <p14:sldId id="282"/>
            <p14:sldId id="294"/>
            <p14:sldId id="313"/>
            <p14:sldId id="317"/>
          </p14:sldIdLst>
        </p14:section>
        <p14:section name="Защита данных при помощи мьютекса" id="{49510269-3447-4E61-A896-6E954AEB2026}">
          <p14:sldIdLst>
            <p14:sldId id="293"/>
            <p14:sldId id="295"/>
            <p14:sldId id="297"/>
            <p14:sldId id="296"/>
            <p14:sldId id="298"/>
            <p14:sldId id="299"/>
            <p14:sldId id="300"/>
            <p14:sldId id="318"/>
          </p14:sldIdLst>
        </p14:section>
        <p14:section name="Дизайн потокобезопасных классов" id="{831053DB-AAD5-4502-BA93-0854E13DEAE5}">
          <p14:sldIdLst>
            <p14:sldId id="309"/>
            <p14:sldId id="301"/>
            <p14:sldId id="302"/>
            <p14:sldId id="303"/>
            <p14:sldId id="304"/>
            <p14:sldId id="306"/>
            <p14:sldId id="305"/>
            <p14:sldId id="311"/>
            <p14:sldId id="312"/>
            <p14:sldId id="307"/>
            <p14:sldId id="272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9CFA"/>
    <a:srgbClr val="F6BFA0"/>
    <a:srgbClr val="00FF00"/>
    <a:srgbClr val="6699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7143" autoAdjust="0"/>
  </p:normalViewPr>
  <p:slideViewPr>
    <p:cSldViewPr snapToGrid="0" showGuides="1">
      <p:cViewPr varScale="1">
        <p:scale>
          <a:sx n="51" d="100"/>
          <a:sy n="51" d="100"/>
        </p:scale>
        <p:origin x="2832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9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прошлой лекции мы научились запускать потоки, передавать им функции, управлять временем жизни,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По сути, мы научились выполнять несколько фрагментов программы конкурентно в рамках одного процесса.</a:t>
            </a:r>
          </a:p>
          <a:p>
            <a:r>
              <a:rPr lang="ru-RU" dirty="0"/>
              <a:t>Это даёт нам важное преимущество: все потоки работают в одном адресном пространстве.</a:t>
            </a:r>
          </a:p>
          <a:p>
            <a:br>
              <a:rPr lang="ru-RU" dirty="0"/>
            </a:br>
            <a:r>
              <a:rPr lang="ru-RU" dirty="0"/>
              <a:t>Они могут пользоваться общими глобальными объектами, динамической памятью, структурами данных.</a:t>
            </a:r>
          </a:p>
          <a:p>
            <a:r>
              <a:rPr lang="ru-RU" dirty="0"/>
              <a:t>И здесь начинается самое интересное.</a:t>
            </a:r>
          </a:p>
          <a:p>
            <a:endParaRPr lang="ru-RU" dirty="0"/>
          </a:p>
          <a:p>
            <a:r>
              <a:rPr lang="ru-RU" dirty="0"/>
              <a:t>Пока потоки работают с независимыми данными — всё просто.</a:t>
            </a:r>
          </a:p>
          <a:p>
            <a:br>
              <a:rPr lang="ru-RU" dirty="0"/>
            </a:br>
            <a:r>
              <a:rPr lang="ru-RU" dirty="0"/>
              <a:t>Но как только они начинают обращаться к одной и той же памяти, результат программы может начать зависеть от порядка выполнения инструкций.</a:t>
            </a:r>
          </a:p>
          <a:p>
            <a:endParaRPr lang="ru-RU" dirty="0"/>
          </a:p>
          <a:p>
            <a:r>
              <a:rPr lang="ru-RU" dirty="0"/>
              <a:t>Иногда это просто изменяет порядок действий. А иногда приводит к нарушению инвариантов и даже к неопределённому поведению.</a:t>
            </a:r>
          </a:p>
          <a:p>
            <a:endParaRPr lang="ru-RU" dirty="0"/>
          </a:p>
          <a:p>
            <a:r>
              <a:rPr lang="ru-RU" dirty="0"/>
              <a:t>Сегодня мы переходим от механики создания потоков к фундаментальному вопросу:</a:t>
            </a:r>
          </a:p>
          <a:p>
            <a:r>
              <a:rPr lang="ru-RU" dirty="0"/>
              <a:t>Как писать корректный многопоточный код?</a:t>
            </a:r>
            <a:br>
              <a:rPr lang="ru-RU" dirty="0"/>
            </a:br>
            <a:r>
              <a:rPr lang="ru-RU" dirty="0"/>
              <a:t>Когда возникает гонка данных?</a:t>
            </a:r>
            <a:br>
              <a:rPr lang="ru-RU" dirty="0"/>
            </a:br>
            <a:r>
              <a:rPr lang="ru-RU" dirty="0"/>
              <a:t>И как защитить программу от этих проблем?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36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Представим что вы идете в кино. Зал большой и билеты продаются в двух кассах. Если кто-то, кроме вас в другой кассе покупает билеты, то может оказаться, что вы пытаетесь купить билеты на одни и те же места. То, какие места вам достанутся и достанутся ли вообще, зависит от порядка приобретения билетов.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ru-RU" dirty="0"/>
              <a:t>В случае конкурентности состояние гонки возникает, когда результат зависит от относительного порядка выполнения операций в двух или более потоках. Потоки соревнуются в выполнении этих операций.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09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Инвариант – это концепция, которая помогает программистам делать суждения о коде. Это утверждения, которые должны быть истинными для некоторой структуры данных. Например, для двусвязного списка истинным будет утверждение о том, что если элемент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 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ссылается на элемент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B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как на следующий, то элемент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B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ссылается на элемент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как на предыдущий.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Инварианты могут нарушаться в процессе модификации объектов, особенно, если происходит модификация сразу нескольких значений. Например при удалении элемента, выделенного красным, шаги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B 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и С нарушена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консистентность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ссылок. В конце удаления инвариант восстанавливается.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Если код в одном потоке будет проходить по узлу двусвязного списка, пока код из другого потока частично выполнил удаление узла и инвариант нарушен, это вызовет проблемы: либо будут прочитаны неверные данные, либо произойдёт крах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83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Большую часть времени это безобидно, так как приемлемыми являются все возможные варианты, даже если они могут изменяться при другом порядке операций.</a:t>
            </a:r>
          </a:p>
          <a:p>
            <a:endParaRPr lang="ru-RU" dirty="0"/>
          </a:p>
          <a:p>
            <a:r>
              <a:rPr lang="ru-RU" dirty="0"/>
              <a:t> Например, если два потока добавляют элементы в очередь для обработки, нас может устроить любой порядок выполнения, при условии, если сохраняются инварианты в нашей программе.</a:t>
            </a:r>
          </a:p>
          <a:p>
            <a:endParaRPr lang="ru-RU" dirty="0"/>
          </a:p>
          <a:p>
            <a:r>
              <a:rPr lang="ru-RU" dirty="0"/>
              <a:t>А вот когда состояние гонки приводит к нарушенным инвариантам, начинаются проблемы. Говоря о состоянии гонки мы обычно подразумеваем ситуацию, создающую проблемы.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90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47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Поток исполнения — это независимый поток управления внутри процесса. Он начинается с некоторой </a:t>
            </a:r>
            <a:r>
              <a:rPr lang="ru-RU" dirty="0" err="1"/>
              <a:t>верхнеуровневой</a:t>
            </a:r>
            <a:r>
              <a:rPr lang="ru-RU" dirty="0"/>
              <a:t> функции и далее выполняет все функции, которые из неё вызываются.</a:t>
            </a:r>
          </a:p>
          <a:p>
            <a:endParaRPr lang="ru-RU" dirty="0"/>
          </a:p>
          <a:p>
            <a:r>
              <a:rPr lang="ru-RU" dirty="0"/>
              <a:t>Когда мы 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, мы запускаем новую такую ветку исполнения. У неё есть свой стек, свои регистры, но при этом она работает в том же адресном пространстве процесса.</a:t>
            </a:r>
          </a:p>
          <a:p>
            <a:endParaRPr lang="ru-RU" dirty="0"/>
          </a:p>
          <a:p>
            <a:r>
              <a:rPr lang="ru-RU" dirty="0"/>
              <a:t>Это означает очень важную вещь: все потоки разделяют память. Глобальные объекты, динамическая память, объекты, на которые переданы ссылки или указатели, доступны из любого потока.</a:t>
            </a:r>
          </a:p>
          <a:p>
            <a:endParaRPr lang="ru-RU" dirty="0"/>
          </a:p>
          <a:p>
            <a:r>
              <a:rPr lang="ru-RU" dirty="0"/>
              <a:t>Формально мы даже можем передать ссылку или указатель на автоматическую переменную одного потока в другой поток. Язык это не запрещает. Но корректность такого доступа зависит от времени жизни объекта и наличия синхронизации. Именно здесь начинаются потенциальные проблемы.</a:t>
            </a:r>
          </a:p>
          <a:p>
            <a:endParaRPr lang="ru-RU" dirty="0"/>
          </a:p>
          <a:p>
            <a:r>
              <a:rPr lang="ru-RU" dirty="0"/>
              <a:t>Также стоит помнить, что обработчики сигналов операционной системы выполняются в контексте одного из потоков процесса. При этом стандарт не гарантирует, в каком именно потоке будет вызван обработчик, если сигнал не был инициирован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слайд подводит нас к ключевой мысли: потоки изолированы по управлению, но не изолированы по памяти. А значит, совместный доступ к данным — это не исключение, а норма. И именно поэтому нам нужно строго понимать правила работы с общей памятью.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32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я хочу показать важную мысль: язык C++ не запрещает одному потоку обращаться к автоматическим переменным другого потока.</a:t>
            </a:r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создаётся локальная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. Это автоматическая переменная, она находится на стеке потока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мы создаём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th1</a:t>
            </a:r>
            <a:r>
              <a:rPr lang="ru-RU" dirty="0"/>
              <a:t> и передаём в лямбду ссылку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. Новый поток изменяет эту переменную. После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мы гарантируем, что поток завершился, и только потом читаем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. Поэтому здесь всё корректно, и мы видим значение 1.</a:t>
            </a:r>
          </a:p>
          <a:p>
            <a:endParaRPr lang="ru-RU" dirty="0"/>
          </a:p>
          <a:p>
            <a:r>
              <a:rPr lang="ru-RU" dirty="0"/>
              <a:t>Далее создаётся второй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th2</a:t>
            </a:r>
            <a:r>
              <a:rPr lang="ru-RU" dirty="0"/>
              <a:t>, которому мы передаём указатель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. Он вызывает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</a:t>
            </a:r>
            <a:r>
              <a:rPr lang="ru-RU" dirty="0"/>
              <a:t>, которая увеличивает значение переменной.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мы снова читаем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и получаем 2.</a:t>
            </a:r>
          </a:p>
          <a:p>
            <a:endParaRPr lang="ru-RU" dirty="0"/>
          </a:p>
          <a:p>
            <a:r>
              <a:rPr lang="ru-RU" dirty="0"/>
              <a:t>Что важно понять: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физически находится на стеке потока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но другой поток спокойно может к ней обращаться через ссылку или указатель. Язык это допускает.</a:t>
            </a:r>
          </a:p>
          <a:p>
            <a:endParaRPr lang="ru-RU" dirty="0"/>
          </a:p>
          <a:p>
            <a:r>
              <a:rPr lang="ru-RU" dirty="0"/>
              <a:t>Однако корректность здесь обеспечивается двумя вещами. Во-первых,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то есть ждём завершения потока до чтения значения. Во-вторых, в каждый момент времени переменную модифицирует только один поток.</a:t>
            </a:r>
          </a:p>
          <a:p>
            <a:endParaRPr lang="ru-RU" dirty="0"/>
          </a:p>
          <a:p>
            <a:r>
              <a:rPr lang="ru-RU" dirty="0"/>
              <a:t>Если бы мы убрали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попытались одновременно изменять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ru-RU" dirty="0"/>
              <a:t> из нескольких потоков, возникла бы гонка данных и неопределённое поведение.</a:t>
            </a:r>
          </a:p>
          <a:p>
            <a:endParaRPr lang="ru-RU" dirty="0"/>
          </a:p>
          <a:p>
            <a:r>
              <a:rPr lang="ru-RU" dirty="0"/>
              <a:t>Этот пример демонстрирует ключевую особенность модели памяти: изоляция потоков касается только стека и регистров, но не памяти, на которую у нас есть ссылка или указатель. А значит, безопасность доступа к таким данным полностью ложится на программиста.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73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Синхронизация нужна не всегда. Она требуется только тогда, когда несколько потоков обращаются к одной и той же области памяти, и хотя бы один из них выполняет запись.</a:t>
            </a:r>
          </a:p>
          <a:p>
            <a:endParaRPr lang="ru-RU" dirty="0"/>
          </a:p>
          <a:p>
            <a:r>
              <a:rPr lang="ru-RU" dirty="0"/>
              <a:t>Если же потоки работают с разными объектами и их области памяти не пересекаются, никакой дополнительной синхронизации не требуется.</a:t>
            </a:r>
          </a:p>
          <a:p>
            <a:endParaRPr lang="ru-RU" dirty="0"/>
          </a:p>
          <a:p>
            <a:r>
              <a:rPr lang="ru-RU" dirty="0"/>
              <a:t>Например, два потока могут использовать разные экземпляры одного и того же класса. Они могут работать с разными элементами массива. Они могут изменять свои собственные локальные переменные. В этих случаях память физически различна, и конфликта не возникает.</a:t>
            </a:r>
          </a:p>
          <a:p>
            <a:endParaRPr lang="ru-RU" dirty="0"/>
          </a:p>
          <a:p>
            <a:r>
              <a:rPr lang="ru-RU" dirty="0"/>
              <a:t>Ключевой критерий — это не логическая связь объектов, а совпадение области памяти. Если память не пересекается, нет конфликта, нет гонки данных и нет необходимости в синхронизации.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97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50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формально говорить о гонке данных, нам нужно понять, что такое конфликтующие вычисления.</a:t>
            </a:r>
          </a:p>
          <a:p>
            <a:r>
              <a:rPr lang="ru-RU" dirty="0"/>
              <a:t>Два вычисления конфликтуют, если они обращаются к одной и той же области памяти и при этом хотя бы одно из них выполняет запись. Запись — это любое изменение значения объекта.</a:t>
            </a:r>
          </a:p>
          <a:p>
            <a:endParaRPr lang="ru-RU" dirty="0"/>
          </a:p>
          <a:p>
            <a:r>
              <a:rPr lang="ru-RU" dirty="0"/>
              <a:t>Кроме того, конфликтом считается ситуация, когда одно из вычислений создаёт или уничтожает объект в некоторой области памяти, а другое обращается к этой же области. Изменение времени жизни объекта — это тоже модификация состояния памяти.</a:t>
            </a:r>
          </a:p>
          <a:p>
            <a:endParaRPr lang="ru-RU" dirty="0"/>
          </a:p>
          <a:p>
            <a:r>
              <a:rPr lang="ru-RU" dirty="0"/>
              <a:t>Важно запомнить простое правило. Если оба потока только читают одну и ту же переменную — конфликта нет. Если хотя бы один поток пишет — возникает конфликт. Если оба пишут — тоже конфликт.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12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применим только что введённое определение конфликта к этому примеру.</a:t>
            </a:r>
          </a:p>
          <a:p>
            <a:r>
              <a:rPr lang="ru-RU" dirty="0"/>
              <a:t>Сначала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 В программе есть несколько обращений к ней.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5</a:t>
            </a:r>
            <a:r>
              <a:rPr lang="ru-RU" dirty="0"/>
              <a:t> — это запись.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incrementA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внутри себя выполняет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++a</a:t>
            </a:r>
            <a:r>
              <a:rPr lang="ru-RU" dirty="0"/>
              <a:t>, то есть тоже запись. Затем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 + 1)</a:t>
            </a:r>
            <a:r>
              <a:rPr lang="ru-RU" dirty="0"/>
              <a:t> — это чтение.</a:t>
            </a:r>
          </a:p>
          <a:p>
            <a:endParaRPr lang="ru-RU" dirty="0"/>
          </a:p>
          <a:p>
            <a:r>
              <a:rPr lang="ru-RU" dirty="0"/>
              <a:t>С точки зрения определения, запись и запись в одну и ту же область памяти конфликтуют. Запись и чтение тоже конфликтуют. Поэтому между этими операциями над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есть конфликты вычислений.</a:t>
            </a:r>
          </a:p>
          <a:p>
            <a:endParaRPr lang="ru-RU" dirty="0"/>
          </a:p>
          <a:p>
            <a:r>
              <a:rPr lang="ru-RU" dirty="0"/>
              <a:t>Однако важно заметить, что весь этот код выполняется в одном потоке. А внутри одного потока операции упорядочены отношением </a:t>
            </a:r>
            <a:r>
              <a:rPr lang="ru-RU" dirty="0" err="1"/>
              <a:t>sequenced-before</a:t>
            </a:r>
            <a:r>
              <a:rPr lang="ru-RU" dirty="0"/>
              <a:t>. Значит, несмотря на наличие конфликтов, гонки данных здесь нет.</a:t>
            </a:r>
          </a:p>
          <a:p>
            <a:r>
              <a:rPr lang="ru-RU" dirty="0"/>
              <a:t>Теперь посмотрим на переменную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 В последней строке мы видим два чтения: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 + 1)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 - 1)</a:t>
            </a:r>
            <a:r>
              <a:rPr lang="ru-RU" dirty="0"/>
              <a:t>. Это чтение и чтение из одной области памяти. По нашему правилу, чтение плюс чтение не образуют конфликта.</a:t>
            </a:r>
          </a:p>
          <a:p>
            <a:endParaRPr lang="ru-RU" dirty="0"/>
          </a:p>
          <a:p>
            <a:r>
              <a:rPr lang="ru-RU" dirty="0"/>
              <a:t>Даже если бы стандарт не гарантировал порядок вычисления этих двух подвыражений, здесь нет записи, а значит нет конфликта и, тем более, нет гонки данных.</a:t>
            </a:r>
          </a:p>
          <a:p>
            <a:endParaRPr lang="ru-RU" dirty="0"/>
          </a:p>
          <a:p>
            <a:r>
              <a:rPr lang="ru-RU" dirty="0"/>
              <a:t>Этот пример важен для понимания: наличие конфликта вычислений само по себе не означает ошибку. Ошибка возникает только тогда, когда конфликтующие вычисления происходят в разных потоках и между ними нет отношения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17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можем сформулировать определение гонки данных в терминах стандарта C++.</a:t>
            </a:r>
          </a:p>
          <a:p>
            <a:endParaRPr lang="ru-RU" dirty="0"/>
          </a:p>
          <a:p>
            <a:r>
              <a:rPr lang="ru-RU" dirty="0"/>
              <a:t>Гонка данных возникает, когда есть конфликтующие вычисления, то есть два обращения к одной и той же области памяти, и хотя бы одно из них — запись. Эти вычисления происходят в разных потоках. Между ними нет отношения </a:t>
            </a:r>
            <a:r>
              <a:rPr lang="ru-RU" dirty="0" err="1"/>
              <a:t>happens-before</a:t>
            </a:r>
            <a:r>
              <a:rPr lang="ru-RU" dirty="0"/>
              <a:t>, то есть стандарт не устанавливает никакого гарантированного порядка видимости. И при этом операции не являются атомарными.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все эти условия выполняются одновременно, программа содержит гонку данных.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Самое важное следствие — поведение такой программы </a:t>
            </a:r>
            <a:r>
              <a:rPr lang="ru-RU" dirty="0" err="1"/>
              <a:t>неопределено</a:t>
            </a:r>
            <a:r>
              <a:rPr lang="ru-RU" dirty="0"/>
              <a:t>. Это не просто «иногда неправильно считает». Стандарт разрешает компилятору и процессору вести себя произвольно. Программа может давать разные результаты на разных запусках, на разных уровнях оптимизации и даже на одном и том же компьютере.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понимать: неопределённое поведение возникает не из-за «плохого планировщика» или «особенностей железа», а потому что стандарт снимает любые гарантии в присутствии гонки данных.</a:t>
            </a:r>
          </a:p>
          <a:p>
            <a:r>
              <a:rPr lang="ru-RU" dirty="0"/>
              <a:t>Всё дальнейшее обсуждение синхронизации — это способы обеспечить отсутствие гонки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7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нас есть общая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, которая захватывается по ссылке и используется в двух потоках. Первый поток миллион раз увеличивает её, второй поток миллион раз уменьшает.</a:t>
            </a:r>
          </a:p>
          <a:p>
            <a:endParaRPr lang="ru-RU" dirty="0"/>
          </a:p>
          <a:p>
            <a:r>
              <a:rPr lang="ru-RU" dirty="0"/>
              <a:t>Интуитивно можно ожидать, что итоговое значение будет равно нулю: столько же инкрементов, сколько декрементов. Однако на практике программа может вывести практически любое число, и оно может отличаться от запуска к запуску.</a:t>
            </a:r>
          </a:p>
          <a:p>
            <a:endParaRPr lang="ru-RU" dirty="0"/>
          </a:p>
          <a:p>
            <a:r>
              <a:rPr lang="ru-RU" dirty="0"/>
              <a:t>Почему так происходит?</a:t>
            </a:r>
          </a:p>
          <a:p>
            <a:r>
              <a:rPr lang="ru-RU" dirty="0"/>
              <a:t>Операция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 не является атомарной. Она состоит из нескольких шагов: прочитать значение из памяти, увеличить его и записать обратно. Аналогично работает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оба потока выполняют эти шаги одновременно, их действия могут перемешаться. Например, оба потока могут прочитать одно и то же значение, затем каждый изменить его по-своему и записать результат. В итоге одно из изменений «потеряется».</a:t>
            </a:r>
          </a:p>
          <a:p>
            <a:endParaRPr lang="ru-RU" dirty="0"/>
          </a:p>
          <a:p>
            <a:r>
              <a:rPr lang="ru-RU" dirty="0"/>
              <a:t>С точки зрения стандарта C++, здесь выполняются все условия гонки данных: есть конфликтующие вычисления, они происходят в разных потоках, между ними нет отношения </a:t>
            </a:r>
            <a:r>
              <a:rPr lang="ru-RU" dirty="0" err="1"/>
              <a:t>happens-before</a:t>
            </a:r>
            <a:r>
              <a:rPr lang="ru-RU" dirty="0"/>
              <a:t>, и операции не являются атомарными. Следовательно, поведение программы </a:t>
            </a:r>
            <a:r>
              <a:rPr lang="ru-RU" dirty="0" err="1"/>
              <a:t>неопределено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подчеркнуть: неопределённое поведение означает, что стандарт не гарантирует вообще ничего. Это не просто «логическая ошибка» или «потеря нескольких инкрементов». Компилятор вправе оптимизировать код так, как будто других потоков не существует.</a:t>
            </a:r>
          </a:p>
          <a:p>
            <a:endParaRPr lang="ru-RU" dirty="0"/>
          </a:p>
          <a:p>
            <a:r>
              <a:rPr lang="ru-RU" dirty="0"/>
              <a:t>Этот пример показывает, что совместный доступ к общей переменной без синхронизации — это фундаментальная ошибка в многопоточном коде.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75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36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примера со счётчиком у многих возникает естественная мысль: а что если объявить переменную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ru-RU" dirty="0"/>
              <a:t>? Возможно, это заставит компилятор «не оптимизировать» доступы и проблема исчезнет.</a:t>
            </a:r>
          </a:p>
          <a:p>
            <a:r>
              <a:rPr lang="ru-RU" dirty="0"/>
              <a:t>В этом примере мы сделали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 волатильным и снова запускаем два потока, которые увеличивают и уменьшают его значение миллион раз.</a:t>
            </a:r>
          </a:p>
          <a:p>
            <a:endParaRPr lang="ru-RU" dirty="0"/>
          </a:p>
          <a:p>
            <a:r>
              <a:rPr lang="ru-RU" dirty="0"/>
              <a:t>Однако результат остаётся непредсказуемым. Гонка данных никуда не исчезает.</a:t>
            </a:r>
          </a:p>
          <a:p>
            <a:r>
              <a:rPr lang="ru-RU" dirty="0"/>
              <a:t>Почему?</a:t>
            </a:r>
          </a:p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ru-RU" dirty="0"/>
              <a:t> в C++ не предназначено для синхронизации потоков. Оно всего лишь запрещает компилятору удалять или объединять обращения к переменной и предполагает, что значение может измениться «извне» программы — например, из-за работы с памятью устройств или сигналами.</a:t>
            </a:r>
          </a:p>
          <a:p>
            <a:r>
              <a:rPr lang="ru-RU" dirty="0"/>
              <a:t>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ru-RU" dirty="0"/>
              <a:t> не делает операции атомарными.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1</a:t>
            </a:r>
            <a:r>
              <a:rPr lang="ru-RU" dirty="0"/>
              <a:t> по-прежнему состоит из чтения, изменения и записи. Эти шаги могут перемешиваться между потоками. Кроме того,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ru-RU" dirty="0"/>
              <a:t> не устанавливает отношение </a:t>
            </a:r>
            <a:r>
              <a:rPr lang="ru-RU" dirty="0" err="1"/>
              <a:t>happens-before</a:t>
            </a:r>
            <a:r>
              <a:rPr lang="ru-RU" dirty="0"/>
              <a:t> и не гарантирует </a:t>
            </a:r>
            <a:r>
              <a:rPr lang="ru-RU" dirty="0" err="1"/>
              <a:t>межпоточной</a:t>
            </a:r>
            <a:r>
              <a:rPr lang="ru-RU" dirty="0"/>
              <a:t> видимости в смысле модели памяти C++.</a:t>
            </a:r>
          </a:p>
          <a:p>
            <a:endParaRPr lang="ru-RU" dirty="0"/>
          </a:p>
          <a:p>
            <a:r>
              <a:rPr lang="ru-RU" dirty="0"/>
              <a:t>Поэтому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ru-RU" dirty="0"/>
              <a:t> для защиты общих данных — это распространённое заблуждение.</a:t>
            </a:r>
          </a:p>
          <a:p>
            <a:r>
              <a:rPr lang="ru-RU" dirty="0"/>
              <a:t>Если нам нужна корректная работа с общей переменной, мы должны использовать либо мьютексы, либо атомарные типы из библиотеки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 Именно они встроены в модель памяти C++ и обеспечивают необходимые гарантии.</a:t>
            </a:r>
          </a:p>
          <a:p>
            <a:r>
              <a:rPr lang="ru-RU" dirty="0"/>
              <a:t>Главный вывод: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ru-RU" dirty="0"/>
              <a:t> — это не инструмент многопоточности. Не используйте его для синхронизации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40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39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о гонке данных и о том, что она возникает, если между конфликтующими вычислениями нет отношения </a:t>
            </a:r>
            <a:r>
              <a:rPr lang="ru-RU" dirty="0" err="1"/>
              <a:t>happens-before</a:t>
            </a:r>
            <a:r>
              <a:rPr lang="ru-RU" dirty="0"/>
              <a:t>. Теперь нужно понять, что это за отношение.</a:t>
            </a:r>
          </a:p>
          <a:p>
            <a:endParaRPr lang="ru-RU" dirty="0"/>
          </a:p>
          <a:p>
            <a:r>
              <a:rPr lang="ru-RU" dirty="0" err="1"/>
              <a:t>Happens-before</a:t>
            </a:r>
            <a:r>
              <a:rPr lang="ru-RU" dirty="0"/>
              <a:t> — это формальная гарантия порядка и видимости в модели памяти C++. Если операция A </a:t>
            </a:r>
            <a:r>
              <a:rPr lang="ru-RU" dirty="0" err="1"/>
              <a:t>happens-before</a:t>
            </a:r>
            <a:r>
              <a:rPr lang="ru-RU" dirty="0"/>
              <a:t> операции B, это означает две вещи. Во-первых, A логически завершится раньше B. Во-вторых, все изменения памяти, сделанные в A, будут гарантированно видны в B.</a:t>
            </a:r>
          </a:p>
          <a:p>
            <a:endParaRPr lang="ru-RU" dirty="0"/>
          </a:p>
          <a:p>
            <a:r>
              <a:rPr lang="ru-RU" dirty="0"/>
              <a:t>Это ключевой механизм, который позволяет нам писать корректный многопоточный код.</a:t>
            </a:r>
          </a:p>
          <a:p>
            <a:r>
              <a:rPr lang="ru-RU" dirty="0"/>
              <a:t>Откуда берётся </a:t>
            </a:r>
            <a:r>
              <a:rPr lang="ru-RU" dirty="0" err="1"/>
              <a:t>happens-before</a:t>
            </a:r>
            <a:r>
              <a:rPr lang="ru-RU" dirty="0"/>
              <a:t>?</a:t>
            </a:r>
          </a:p>
          <a:p>
            <a:endParaRPr lang="ru-RU" dirty="0"/>
          </a:p>
          <a:p>
            <a:r>
              <a:rPr lang="ru-RU" dirty="0"/>
              <a:t>Во-первых, внутри одного потока действует отношение </a:t>
            </a:r>
            <a:r>
              <a:rPr lang="ru-RU" dirty="0" err="1"/>
              <a:t>sequenced-before</a:t>
            </a:r>
            <a:r>
              <a:rPr lang="ru-RU" dirty="0"/>
              <a:t>. Операции в пределах одного потока упорядочены программным порядком, за исключением некоторых нюансов вычисления выражений.</a:t>
            </a:r>
          </a:p>
          <a:p>
            <a:endParaRPr lang="ru-RU" dirty="0"/>
          </a:p>
          <a:p>
            <a:r>
              <a:rPr lang="ru-RU" dirty="0"/>
              <a:t>Во-вторых, </a:t>
            </a:r>
            <a:r>
              <a:rPr lang="ru-RU" dirty="0" err="1"/>
              <a:t>happens-before</a:t>
            </a:r>
            <a:r>
              <a:rPr lang="ru-RU" dirty="0"/>
              <a:t> возникает между потоками, когда используется механизм синхронизации. Например, освобождение мьютекса синхронизируется с его последующим захватом. Завершение потока синхронизируется с успешным возвратом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Эти связи образуют отношение </a:t>
            </a:r>
            <a:r>
              <a:rPr lang="ru-RU" dirty="0" err="1"/>
              <a:t>synchronizes-with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И, наконец, </a:t>
            </a:r>
            <a:r>
              <a:rPr lang="ru-RU" dirty="0" err="1"/>
              <a:t>happens-before</a:t>
            </a:r>
            <a:r>
              <a:rPr lang="ru-RU" dirty="0"/>
              <a:t> транзитивно. Если A </a:t>
            </a:r>
            <a:r>
              <a:rPr lang="ru-RU" dirty="0" err="1"/>
              <a:t>happens-before</a:t>
            </a:r>
            <a:r>
              <a:rPr lang="ru-RU" dirty="0"/>
              <a:t> B, а B </a:t>
            </a:r>
            <a:r>
              <a:rPr lang="ru-RU" dirty="0" err="1"/>
              <a:t>happens-before</a:t>
            </a:r>
            <a:r>
              <a:rPr lang="ru-RU" dirty="0"/>
              <a:t> C, то A </a:t>
            </a:r>
            <a:r>
              <a:rPr lang="ru-RU" dirty="0" err="1"/>
              <a:t>happens-before</a:t>
            </a:r>
            <a:r>
              <a:rPr lang="ru-RU" dirty="0"/>
              <a:t> C. Благодаря этому можно строить цепочки гарантий через несколько операций и потоков.</a:t>
            </a:r>
          </a:p>
          <a:p>
            <a:endParaRPr lang="ru-RU" dirty="0"/>
          </a:p>
          <a:p>
            <a:r>
              <a:rPr lang="ru-RU" dirty="0"/>
              <a:t>Вся модель корректности многопоточного кода в C++ построена вокруг этого отношения. Наша задача — обеспечить его наличие между всеми конфликтующими обращениями к общей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7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96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Отношение </a:t>
            </a:r>
            <a:r>
              <a:rPr lang="ru-RU" dirty="0" err="1"/>
              <a:t>sequenced-before</a:t>
            </a:r>
            <a:r>
              <a:rPr lang="ru-RU" dirty="0"/>
              <a:t> — это базовое отношение порядка внутри одного потока исполнения.</a:t>
            </a:r>
          </a:p>
          <a:p>
            <a:r>
              <a:rPr lang="ru-RU" dirty="0"/>
              <a:t>Оно говорит о том, что одна операция гарантированно выполняется раньше другой в рамках одного потока. Это не вопрос планировщика и не вопрос процессора — это требование языка.</a:t>
            </a:r>
          </a:p>
          <a:p>
            <a:endParaRPr lang="ru-RU" dirty="0"/>
          </a:p>
          <a:p>
            <a:r>
              <a:rPr lang="ru-RU" dirty="0"/>
              <a:t>На схеме операция A упорядочена перед операцией B. Это означает, что в рамках этого потока выполнение A завершится до того, как начнётся выполнение B.</a:t>
            </a:r>
          </a:p>
          <a:p>
            <a:endParaRPr lang="ru-RU" dirty="0"/>
          </a:p>
          <a:p>
            <a:r>
              <a:rPr lang="ru-RU" dirty="0"/>
              <a:t>Важно понимать, что </a:t>
            </a:r>
            <a:r>
              <a:rPr lang="ru-RU" dirty="0" err="1"/>
              <a:t>sequenced-before</a:t>
            </a:r>
            <a:r>
              <a:rPr lang="ru-RU" dirty="0"/>
              <a:t> — это свойство абстрактной модели выполнения программы. Компилятор и процессор могут выполнять инструкции вне строгого текстового порядка, но результат должен быть таким, как если бы операции, связанные отношением </a:t>
            </a:r>
            <a:r>
              <a:rPr lang="ru-RU" dirty="0" err="1"/>
              <a:t>sequenced-before</a:t>
            </a:r>
            <a:r>
              <a:rPr lang="ru-RU" dirty="0"/>
              <a:t>, произошли в указанном порядке.</a:t>
            </a:r>
          </a:p>
          <a:p>
            <a:endParaRPr lang="ru-RU" dirty="0"/>
          </a:p>
          <a:p>
            <a:r>
              <a:rPr lang="ru-RU" dirty="0"/>
              <a:t>Рассмотрим пример. В коде сначала вычисляется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+ 10</a:t>
            </a:r>
            <a:r>
              <a:rPr lang="ru-RU" dirty="0"/>
              <a:t>, затем результат присваивается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 Вычисление выражения упорядочено перед модификацией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. Это гарантируется языком.</a:t>
            </a:r>
          </a:p>
          <a:p>
            <a:endParaRPr lang="ru-RU" dirty="0"/>
          </a:p>
          <a:p>
            <a:r>
              <a:rPr lang="ru-RU" dirty="0"/>
              <a:t>Именно из отношения </a:t>
            </a:r>
            <a:r>
              <a:rPr lang="ru-RU" dirty="0" err="1"/>
              <a:t>sequenced-before</a:t>
            </a:r>
            <a:r>
              <a:rPr lang="ru-RU" dirty="0"/>
              <a:t> внутри потока строится более общее отношение </a:t>
            </a:r>
            <a:r>
              <a:rPr lang="ru-RU" dirty="0" err="1"/>
              <a:t>happens-before</a:t>
            </a:r>
            <a:r>
              <a:rPr lang="ru-RU" dirty="0"/>
              <a:t>. </a:t>
            </a:r>
            <a:r>
              <a:rPr lang="ru-RU" dirty="0" err="1"/>
              <a:t>Внутрипоточный</a:t>
            </a:r>
            <a:r>
              <a:rPr lang="ru-RU" dirty="0"/>
              <a:t> порядок — это фундамент, на который затем накладывается </a:t>
            </a:r>
            <a:r>
              <a:rPr lang="ru-RU" dirty="0" err="1"/>
              <a:t>межпоточная</a:t>
            </a:r>
            <a:r>
              <a:rPr lang="ru-RU" dirty="0"/>
              <a:t> синхронизация.</a:t>
            </a:r>
          </a:p>
          <a:p>
            <a:endParaRPr lang="ru-RU" dirty="0"/>
          </a:p>
          <a:p>
            <a:r>
              <a:rPr lang="ru-RU" dirty="0"/>
              <a:t>Важно также помнить, что </a:t>
            </a:r>
            <a:r>
              <a:rPr lang="ru-RU" dirty="0" err="1"/>
              <a:t>sequenced-before</a:t>
            </a:r>
            <a:r>
              <a:rPr lang="ru-RU" dirty="0"/>
              <a:t> действует только внутри одного потока. Между разными потоками никакого автоматического порядка не существует, если мы явно не используем механизмы синхронизации.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6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нужен для того, чтобы показать: даже внутри одного потока порядок вычислений не всегда совпадает с тем, как мы читаем код слева направо.</a:t>
            </a:r>
          </a:p>
          <a:p>
            <a:endParaRPr lang="ru-RU" dirty="0"/>
          </a:p>
          <a:p>
            <a:r>
              <a:rPr lang="ru-RU" dirty="0"/>
              <a:t>У нас есть глобальная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и три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ru-RU" dirty="0"/>
              <a:t>, каждая из которых изменяет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. В выражении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выполняется присваивание: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 = f() + h(g()) + x;</a:t>
            </a:r>
            <a:endParaRPr lang="ru-RU" dirty="0"/>
          </a:p>
          <a:p>
            <a:r>
              <a:rPr lang="ru-RU" dirty="0"/>
              <a:t>Начнём с того, что здесь гарантировано. Вызов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g()</a:t>
            </a:r>
            <a:r>
              <a:rPr lang="ru-RU" dirty="0"/>
              <a:t> происходит до вызова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h()</a:t>
            </a:r>
            <a:r>
              <a:rPr lang="ru-RU" dirty="0"/>
              <a:t>, потому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g()</a:t>
            </a:r>
            <a:r>
              <a:rPr lang="ru-RU" dirty="0"/>
              <a:t> вычисляется как аргумент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ru-RU" dirty="0"/>
              <a:t>. Вычисление аргументов функции упорядочено перед началом выполнения самой функции. Значит,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g()</a:t>
            </a:r>
            <a:r>
              <a:rPr lang="ru-RU" dirty="0"/>
              <a:t> </a:t>
            </a:r>
            <a:r>
              <a:rPr lang="ru-RU" dirty="0" err="1"/>
              <a:t>sequenced-before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Далее, всё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f() + h(g()) + x</a:t>
            </a:r>
            <a:r>
              <a:rPr lang="ru-RU" dirty="0"/>
              <a:t> полностью вычисляется до того, как произойдёт модификация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в левой части присваивания. Это тоже гарантируется языком: сначала вычисляется правая часть, затем выполняется присваивание.</a:t>
            </a:r>
          </a:p>
          <a:p>
            <a:endParaRPr lang="ru-RU" dirty="0"/>
          </a:p>
          <a:p>
            <a:r>
              <a:rPr lang="ru-RU" dirty="0"/>
              <a:t>Но при этом между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f()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h(g())</a:t>
            </a:r>
            <a:r>
              <a:rPr lang="ru-RU" dirty="0"/>
              <a:t> и чтением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внутри этого выражения порядок не определён. Стандарт не фиксирует, какая из этих частей будет вычислена первой. Компилятор может выбрать любой порядок вычисления операндов оператора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означает, что даже в однопоточной программе разные подвыражения могут быть не упорядочены друг относительно друга, если между ними нет явной зависимости.</a:t>
            </a:r>
          </a:p>
          <a:p>
            <a:endParaRPr lang="ru-RU" dirty="0"/>
          </a:p>
          <a:p>
            <a:r>
              <a:rPr lang="ru-RU" dirty="0"/>
              <a:t>Важно подчеркнуть: несмотря на отсутствие фиксированного порядка вычисления подвыражений, всё это происходит внутри одного потока. Поэтому здесь нет гонки данных. Все операции связаны отношением </a:t>
            </a:r>
            <a:r>
              <a:rPr lang="ru-RU" dirty="0" err="1"/>
              <a:t>sequenced-before</a:t>
            </a:r>
            <a:r>
              <a:rPr lang="ru-RU" dirty="0"/>
              <a:t> через структуру полного выражения, и программа остаётся корректной с точки зрения модели памяти.</a:t>
            </a:r>
          </a:p>
          <a:p>
            <a:endParaRPr lang="ru-RU" dirty="0"/>
          </a:p>
          <a:p>
            <a:r>
              <a:rPr lang="ru-RU" dirty="0"/>
              <a:t>Этот пример показывает, что понятие упорядоченности в C++ тоньше, чем просто «строка за строкой», и его нужно учитывать при анализе многопоточного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250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того как мы ввели </a:t>
            </a:r>
            <a:r>
              <a:rPr lang="ru-RU" dirty="0" err="1"/>
              <a:t>sequenced-before</a:t>
            </a:r>
            <a:r>
              <a:rPr lang="ru-RU" dirty="0"/>
              <a:t> и </a:t>
            </a:r>
            <a:r>
              <a:rPr lang="ru-RU" dirty="0" err="1"/>
              <a:t>synchronizes-with</a:t>
            </a:r>
            <a:r>
              <a:rPr lang="ru-RU" dirty="0"/>
              <a:t>, стандарт определяет более общее отношение —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Интуитивно это способ объединить </a:t>
            </a:r>
            <a:r>
              <a:rPr lang="ru-RU" dirty="0" err="1"/>
              <a:t>внутрипоточный</a:t>
            </a:r>
            <a:r>
              <a:rPr lang="ru-RU" dirty="0"/>
              <a:t> порядок и </a:t>
            </a:r>
            <a:r>
              <a:rPr lang="ru-RU" dirty="0" err="1"/>
              <a:t>межпоточную</a:t>
            </a:r>
            <a:r>
              <a:rPr lang="ru-RU" dirty="0"/>
              <a:t> синхронизацию в единую систему.</a:t>
            </a:r>
          </a:p>
          <a:p>
            <a:r>
              <a:rPr lang="ru-RU" dirty="0"/>
              <a:t>Если операция A </a:t>
            </a:r>
            <a:r>
              <a:rPr lang="ru-RU" dirty="0" err="1"/>
              <a:t>sequenced-before</a:t>
            </a:r>
            <a:r>
              <a:rPr lang="ru-RU" dirty="0"/>
              <a:t> B, то есть выполняется раньше в рамках одного потока, то A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B.</a:t>
            </a:r>
          </a:p>
          <a:p>
            <a:r>
              <a:rPr lang="ru-RU" dirty="0"/>
              <a:t>Если операция A </a:t>
            </a:r>
            <a:r>
              <a:rPr lang="ru-RU" dirty="0" err="1"/>
              <a:t>synchronizes-with</a:t>
            </a:r>
            <a:r>
              <a:rPr lang="ru-RU" dirty="0"/>
              <a:t> B, например освобождение мьютекса и его последующий захват в другом потоке, то между ними тоже возникает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И самое важное — это транзитивность. Если A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X, а X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B, то A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B. Именно это позволяет нам строить цепочки гарантий через несколько потоков.</a:t>
            </a:r>
          </a:p>
          <a:p>
            <a:r>
              <a:rPr lang="ru-RU" dirty="0"/>
              <a:t>Посмотрите на схему. Чёрные стрелки — это прямые точки синхронизации между потоками. Красные стрелки — это логическое распространение порядка через транзитивность. Даже если между A и F нет прямой синхронизации, она может возникать через промежуточные операции.</a:t>
            </a:r>
          </a:p>
          <a:p>
            <a:endParaRPr lang="ru-RU" dirty="0"/>
          </a:p>
          <a:p>
            <a:r>
              <a:rPr lang="ru-RU" dirty="0"/>
              <a:t>На практике это означает следующее: если мы один раз правильно установили точку синхронизации, то гарантии видимости распространяются дальше по цепочке выполнения.</a:t>
            </a:r>
          </a:p>
          <a:p>
            <a:endParaRPr lang="ru-RU" dirty="0"/>
          </a:p>
          <a:p>
            <a:r>
              <a:rPr lang="ru-RU" dirty="0"/>
              <a:t>Для повседневного программирования важно понимать идею, а не запоминать формальное определение.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— это способ сказать: «между этими операциями есть гарантированный порядок и гарантированная видимость изменений».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39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Стандарт C++ вводит ещё одно отношение — </a:t>
            </a:r>
            <a:r>
              <a:rPr lang="ru-RU" dirty="0" err="1"/>
              <a:t>strongly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. Оно похоже на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, но накладывает более сильные гарантии.</a:t>
            </a:r>
          </a:p>
          <a:p>
            <a:endParaRPr lang="ru-RU" dirty="0"/>
          </a:p>
          <a:p>
            <a:r>
              <a:rPr lang="ru-RU" dirty="0"/>
              <a:t>Если A </a:t>
            </a:r>
            <a:r>
              <a:rPr lang="ru-RU" dirty="0" err="1"/>
              <a:t>strongly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B, это означает, что порядок между этими операциями согласован глобально. Все потоки будут «согласны» с тем, что A произошло раньше B. Этот порядок не может быть разрушен оптимизациями компилятора или переупорядочиванием на уровне процессора.</a:t>
            </a:r>
          </a:p>
          <a:p>
            <a:endParaRPr lang="ru-RU" dirty="0"/>
          </a:p>
          <a:p>
            <a:r>
              <a:rPr lang="ru-RU" dirty="0"/>
              <a:t>Проще говоря, это более строгая форма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На практике </a:t>
            </a:r>
            <a:r>
              <a:rPr lang="ru-RU" dirty="0" err="1"/>
              <a:t>strongly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возникает, когда используется последовательная консистентность — например, при работе с атомарными операциями с </a:t>
            </a:r>
            <a:r>
              <a:rPr lang="ru-RU" dirty="0" err="1"/>
              <a:t>memory_order_seq_cst</a:t>
            </a:r>
            <a:r>
              <a:rPr lang="ru-RU" dirty="0"/>
              <a:t>. Именно там важно, чтобы все потоки наблюдали единый глобальный порядок операций.</a:t>
            </a:r>
          </a:p>
          <a:p>
            <a:endParaRPr lang="ru-RU" dirty="0"/>
          </a:p>
          <a:p>
            <a:r>
              <a:rPr lang="ru-RU" dirty="0"/>
              <a:t>На текущем этапе нам важно понять идею: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обеспечивает порядок и видимость по цепочке, а </a:t>
            </a:r>
            <a:r>
              <a:rPr lang="ru-RU" dirty="0" err="1"/>
              <a:t>strongly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дополнительно гарантирует, что этот порядок одинаков для всех потоков.</a:t>
            </a:r>
          </a:p>
          <a:p>
            <a:endParaRPr lang="ru-RU" dirty="0"/>
          </a:p>
          <a:p>
            <a:r>
              <a:rPr lang="ru-RU" dirty="0"/>
              <a:t>Подробно разбирать это отношение имеет смысл при изучении атомарных типов и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. Сейчас достаточно понимать, что это усиленная форма </a:t>
            </a:r>
            <a:r>
              <a:rPr lang="ru-RU" dirty="0" err="1"/>
              <a:t>межпоточного</a:t>
            </a:r>
            <a:r>
              <a:rPr lang="ru-RU" dirty="0"/>
              <a:t> порядка, необходимая для строго согласованных атомарных операций.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037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о </a:t>
            </a:r>
            <a:r>
              <a:rPr lang="ru-RU" dirty="0" err="1"/>
              <a:t>happens-before</a:t>
            </a:r>
            <a:r>
              <a:rPr lang="ru-RU" dirty="0"/>
              <a:t> как о логическом отношении порядка. Теперь важно понять, как оно возникает между потоками.</a:t>
            </a:r>
          </a:p>
          <a:p>
            <a:endParaRPr lang="ru-RU" dirty="0"/>
          </a:p>
          <a:p>
            <a:r>
              <a:rPr lang="ru-RU" dirty="0"/>
              <a:t>Внутри одного потока порядок задаётся отношением </a:t>
            </a:r>
            <a:r>
              <a:rPr lang="ru-RU" dirty="0" err="1"/>
              <a:t>sequenced-before</a:t>
            </a:r>
            <a:r>
              <a:rPr lang="ru-RU" dirty="0"/>
              <a:t>. Но между потоками никакого автоматического порядка нет. Его нужно создать явно.</a:t>
            </a:r>
          </a:p>
          <a:p>
            <a:endParaRPr lang="ru-RU" dirty="0"/>
          </a:p>
          <a:p>
            <a:r>
              <a:rPr lang="ru-RU" dirty="0" err="1"/>
              <a:t>Межпоточное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возникает тогда, когда есть операция синхронизации. Например, освобождение мьютекса синхронизируется с его последующим захватом. Завершение потока синхронизируется с успешным возвратом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Атомарные операции также могут устанавливать такую связь.</a:t>
            </a:r>
          </a:p>
          <a:p>
            <a:endParaRPr lang="ru-RU" dirty="0"/>
          </a:p>
          <a:p>
            <a:r>
              <a:rPr lang="ru-RU" dirty="0"/>
              <a:t>Синхронизация создаёт своего рода «мост» между потоками. Всё, что произошло до точки синхронизации в одном потоке, становится видимым после соответствующей точки синхронизации в другом потоке.</a:t>
            </a:r>
          </a:p>
          <a:p>
            <a:r>
              <a:rPr lang="ru-RU" dirty="0"/>
              <a:t>И, как и в случае с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, это отношение транзитивно. Если A синхронизируется с X, а X упорядочено перед B в другом потоке, то A </a:t>
            </a:r>
            <a:r>
              <a:rPr lang="ru-RU" dirty="0" err="1"/>
              <a:t>happens-before</a:t>
            </a:r>
            <a:r>
              <a:rPr lang="ru-RU" dirty="0"/>
              <a:t> B.</a:t>
            </a:r>
          </a:p>
          <a:p>
            <a:endParaRPr lang="ru-RU" dirty="0"/>
          </a:p>
          <a:p>
            <a:r>
              <a:rPr lang="ru-RU" dirty="0"/>
              <a:t>На практике это означает следующее: если мы правильно используем механизмы синхронизации, то мы можем гарантировать не только отсутствие гонки данных, но и корректную передачу изменений памяти между потоками.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852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умеем создавать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, но теперь посмотрим на это с точки зрения модели памяти.</a:t>
            </a:r>
          </a:p>
          <a:p>
            <a:r>
              <a:rPr lang="ru-RU" dirty="0"/>
              <a:t>Когда мы вызываем конструктор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, происходит две вещи: создаётся объект и запускается новый поток исполнения, в котором будет вызвана функция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Стандарт даёт нам важную гарантию. Завершение вызова конструктора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синхронизируется с началом выполнения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ru-RU" dirty="0"/>
              <a:t> в новом потоке.</a:t>
            </a:r>
          </a:p>
          <a:p>
            <a:endParaRPr lang="ru-RU" dirty="0"/>
          </a:p>
          <a:p>
            <a:r>
              <a:rPr lang="ru-RU" dirty="0"/>
              <a:t>Это означает следующее: все изменения памяти, которые произошли до создания потока, гарантированно будут видны в новом потоке.</a:t>
            </a:r>
          </a:p>
          <a:p>
            <a:endParaRPr lang="ru-RU" dirty="0"/>
          </a:p>
          <a:p>
            <a:r>
              <a:rPr lang="ru-RU" dirty="0"/>
              <a:t>Например, если мы подготовили какие-то данные перед запуском потока, то внутри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lang="ru-RU" dirty="0"/>
              <a:t> мы увидим их корректное состояние. Нам не нужно дополнительно синхронизировать сам факт передачи этих начальных значений.</a:t>
            </a:r>
          </a:p>
          <a:p>
            <a:endParaRPr lang="ru-RU" dirty="0"/>
          </a:p>
          <a:p>
            <a:r>
              <a:rPr lang="ru-RU" dirty="0"/>
              <a:t>Это первая точка </a:t>
            </a:r>
            <a:r>
              <a:rPr lang="ru-RU" dirty="0" err="1"/>
              <a:t>межпоточной</a:t>
            </a:r>
            <a:r>
              <a:rPr lang="ru-RU" dirty="0"/>
              <a:t> синхронизации, с которой мы сталкиваемся. Она формирует </a:t>
            </a:r>
            <a:r>
              <a:rPr lang="ru-RU" dirty="0" err="1"/>
              <a:t>happens-before</a:t>
            </a:r>
            <a:r>
              <a:rPr lang="ru-RU" dirty="0"/>
              <a:t> от кода до создания потока к коду внутри нового потока.</a:t>
            </a:r>
          </a:p>
          <a:p>
            <a:endParaRPr lang="ru-RU" dirty="0"/>
          </a:p>
          <a:p>
            <a:r>
              <a:rPr lang="ru-RU" dirty="0"/>
              <a:t>Важно понимать, что эта гарантия касается только момента запуска. Дальнейшая работа потоков уже требует явной синхронизации, если они обращаются к общим данным.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681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делает две важные вещи.</a:t>
            </a:r>
          </a:p>
          <a:p>
            <a:r>
              <a:rPr lang="ru-RU" dirty="0"/>
              <a:t>Во-первых, он блокирует текущий поток до тех пор, пока связанный поток не завершится. Это то, что обычно понимают под ожиданием завершения.</a:t>
            </a:r>
          </a:p>
          <a:p>
            <a:endParaRPr lang="ru-RU" dirty="0"/>
          </a:p>
          <a:p>
            <a:r>
              <a:rPr lang="ru-RU" dirty="0"/>
              <a:t>Но с точки зрения модели памяти важнее другое. Стандарт гарантирует, что завершение потока синхронизируется с успешным возвратом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означает, что все изменения памяти, которые были сделаны внутри потока, гарантированно будут видны после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Другими словами,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создаёт </a:t>
            </a:r>
            <a:r>
              <a:rPr lang="ru-RU" dirty="0" err="1"/>
              <a:t>happens-before</a:t>
            </a:r>
            <a:r>
              <a:rPr lang="ru-RU" dirty="0"/>
              <a:t> от конца работы потока к коду, который выполняется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Именно поэтому в типичных примерах мы читаем общие данные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Это корректно, потому что у нас есть точка синхронизации.</a:t>
            </a:r>
          </a:p>
          <a:p>
            <a:endParaRPr lang="ru-RU" dirty="0"/>
          </a:p>
          <a:p>
            <a:r>
              <a:rPr lang="ru-RU" dirty="0"/>
              <a:t>Есть ещё один важный момент.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не синхронизирует доступ к самому объекту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. Если два потока одновременно вызовут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для одного и того же объекта, это приведёт к гонке данных и неопределённому поведению.</a:t>
            </a:r>
          </a:p>
          <a:p>
            <a:endParaRPr lang="ru-RU" dirty="0"/>
          </a:p>
          <a:p>
            <a:r>
              <a:rPr lang="ru-RU" dirty="0"/>
              <a:t>Поэтому правило простое: один поток — один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для конкретного объекта потока.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это не только механизм ожидания, но и фундаментальная точка </a:t>
            </a:r>
            <a:r>
              <a:rPr lang="ru-RU" dirty="0" err="1"/>
              <a:t>межпоточной</a:t>
            </a:r>
            <a:r>
              <a:rPr lang="ru-RU" dirty="0"/>
              <a:t> синхронизации.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9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Разберёмся, что происходит в этой программе.</a:t>
            </a:r>
          </a:p>
          <a:p>
            <a:r>
              <a:rPr lang="ru-RU" dirty="0"/>
              <a:t>В потоке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создаётся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t1</a:t>
            </a:r>
            <a:r>
              <a:rPr lang="ru-RU" dirty="0"/>
              <a:t>, который печатает «1». После создания потока основной поток продолжает выполнение и печатает «2». Затем вызывается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, после чего печатается «3».</a:t>
            </a:r>
          </a:p>
          <a:p>
            <a:r>
              <a:rPr lang="ru-RU" dirty="0"/>
              <a:t>Теперь посмотрим на гарантии порядка.</a:t>
            </a:r>
          </a:p>
          <a:p>
            <a:endParaRPr lang="ru-RU" dirty="0"/>
          </a:p>
          <a:p>
            <a:r>
              <a:rPr lang="ru-RU" dirty="0"/>
              <a:t>Завершение конструктора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синхронизируется с началом выполнения функции в новом потоке. Это означает, что код внутри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не начнёт выполняться до завершения создания объекта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Далее, завершение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синхронизируется с успешным возвратом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Это означает, что печать «1» произойдёт до того, как выполнение дойдёт до печати «3».</a:t>
            </a:r>
          </a:p>
          <a:p>
            <a:endParaRPr lang="ru-RU" dirty="0"/>
          </a:p>
          <a:p>
            <a:r>
              <a:rPr lang="ru-RU" dirty="0"/>
              <a:t>Таким образом, между выводом «1» и «3» есть отношение </a:t>
            </a:r>
            <a:r>
              <a:rPr lang="ru-RU" dirty="0" err="1"/>
              <a:t>happens-before</a:t>
            </a:r>
            <a:r>
              <a:rPr lang="ru-RU" dirty="0"/>
              <a:t>: «1» гарантированно будет выведена до «3».</a:t>
            </a:r>
          </a:p>
          <a:p>
            <a:endParaRPr lang="ru-RU" dirty="0"/>
          </a:p>
          <a:p>
            <a:r>
              <a:rPr lang="ru-RU" dirty="0"/>
              <a:t>А вот между «1» и «2» никакого отношения </a:t>
            </a:r>
            <a:r>
              <a:rPr lang="ru-RU" dirty="0" err="1"/>
              <a:t>happens-before</a:t>
            </a:r>
            <a:r>
              <a:rPr lang="ru-RU" dirty="0"/>
              <a:t> нет. После создания потока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выполняются конкурентно. Планировщик может дать процессор сначала новому потоку, а может — основному.</a:t>
            </a:r>
          </a:p>
          <a:p>
            <a:endParaRPr lang="ru-RU" dirty="0"/>
          </a:p>
          <a:p>
            <a:r>
              <a:rPr lang="ru-RU" dirty="0"/>
              <a:t>Поэтому возможны два корректных варианта вывода: либо «1» успевает напечататься раньше «2», и тогда мы увидим 123, либо основной поток печатает «2» раньше, и тогда получаем 213.</a:t>
            </a:r>
          </a:p>
          <a:p>
            <a:endParaRPr lang="ru-RU" dirty="0"/>
          </a:p>
          <a:p>
            <a:r>
              <a:rPr lang="ru-RU" dirty="0"/>
              <a:t>Вариант 231 невозможен, потому что «3» печатается только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гарантирует завершение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, то есть печать «1» уже должна была произойти.</a:t>
            </a:r>
          </a:p>
          <a:p>
            <a:endParaRPr lang="ru-RU" dirty="0"/>
          </a:p>
          <a:p>
            <a:r>
              <a:rPr lang="ru-RU" dirty="0"/>
              <a:t>Этот пример хорошо иллюстрирует,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это точка </a:t>
            </a:r>
            <a:r>
              <a:rPr lang="ru-RU" dirty="0" err="1"/>
              <a:t>межпоточной</a:t>
            </a:r>
            <a:r>
              <a:rPr lang="ru-RU" dirty="0"/>
              <a:t> синхронизации, а между независимыми операциями разных потоков порядок по умолчанию не определён.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366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изменили структуру программы по сравнению с предыдущим вариантом со счётчиком.</a:t>
            </a:r>
          </a:p>
          <a:p>
            <a:r>
              <a:rPr lang="ru-RU" dirty="0"/>
              <a:t>Раньше оба потока работали одновременно, и между их операциями не было отношения </a:t>
            </a:r>
            <a:r>
              <a:rPr lang="ru-RU" dirty="0" err="1"/>
              <a:t>happens-before</a:t>
            </a:r>
            <a:r>
              <a:rPr lang="ru-RU" dirty="0"/>
              <a:t>. Это приводило к гонке данных и неопределённому поведению.</a:t>
            </a:r>
          </a:p>
          <a:p>
            <a:endParaRPr lang="ru-RU" dirty="0"/>
          </a:p>
          <a:p>
            <a:r>
              <a:rPr lang="ru-RU" dirty="0"/>
              <a:t>Теперь мы делаем иначе. Сначала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, который увеличивает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. Затем мы вызываем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 и дожидаемся его завершения. Только после этого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, который уменьшает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.</a:t>
            </a:r>
          </a:p>
          <a:p>
            <a:r>
              <a:rPr lang="ru-RU" dirty="0"/>
              <a:t>Что это означает с точки зрения модели памяти?</a:t>
            </a:r>
          </a:p>
          <a:p>
            <a:endParaRPr lang="ru-RU" dirty="0"/>
          </a:p>
          <a:p>
            <a:r>
              <a:rPr lang="ru-RU" dirty="0"/>
              <a:t>Завершение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синхронизируется с возвратом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. Далее запуск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происходит после возврата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Следовательно, все изменения, сделанные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, гарантированно происходят до начала выполнения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. Между ними возникает отношение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потоки больше не выполняются конкурентно. Они работают последовательно: сначала полностью выполняется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, затем полностью выполняется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мы вызываем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t2.join()</a:t>
            </a:r>
            <a:r>
              <a:rPr lang="ru-RU" dirty="0"/>
              <a:t>. Завершение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синхронизируется с возвратом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поэтому все изменения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, сделанные во втором потоке, гарантированно видны перед чтением и выводом.</a:t>
            </a:r>
          </a:p>
          <a:p>
            <a:endParaRPr lang="ru-RU" dirty="0"/>
          </a:p>
          <a:p>
            <a:r>
              <a:rPr lang="ru-RU" dirty="0"/>
              <a:t>В итоге программа становится корректной с точки зрения модели памяти. Гонки данных здесь нет, потому что конфликтующие операции больше не происходят одновременно. Мы фактически превратили конкурентную программу в последовательную за счёт явной синхронизации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пример хорошо показывает, что </a:t>
            </a:r>
            <a:r>
              <a:rPr lang="ru-RU" dirty="0" err="1"/>
              <a:t>happens-before</a:t>
            </a:r>
            <a:r>
              <a:rPr lang="ru-RU" dirty="0"/>
              <a:t> можно построить не только с помощью мьютексов, но и просто правильно расставляя точки ожидания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824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сложнее предыдущих и хорошо тренирует умение строить цепочки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Начнём с внутреннего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ru-RU" dirty="0"/>
              <a:t>. В нём сначала печатается «A». Затем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который печатает «B». После этого в том же потоке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ru-RU" dirty="0"/>
              <a:t> печатается «C», затем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который печатает «D», затем печатается «E». После этого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это точка X — и затем печатается «F». Завершение всего тела лямбды обозначено как Y.</a:t>
            </a:r>
          </a:p>
          <a:p>
            <a:r>
              <a:rPr lang="ru-RU" dirty="0"/>
              <a:t>Теперь разберём гарантии.</a:t>
            </a:r>
          </a:p>
          <a:p>
            <a:endParaRPr lang="ru-RU" dirty="0"/>
          </a:p>
          <a:p>
            <a:r>
              <a:rPr lang="ru-RU" dirty="0"/>
              <a:t>Во-первых, внутри каждого потока действует </a:t>
            </a:r>
            <a:r>
              <a:rPr lang="ru-RU" dirty="0" err="1"/>
              <a:t>sequenced-before</a:t>
            </a:r>
            <a:r>
              <a:rPr lang="ru-RU" dirty="0"/>
              <a:t>. Значит, в потоке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ru-RU" dirty="0"/>
              <a:t> операция «A» происходит до «C», «C» — до «E», «E» —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до «F». Это обычный </a:t>
            </a:r>
            <a:r>
              <a:rPr lang="ru-RU" dirty="0" err="1"/>
              <a:t>внутрипоточный</a:t>
            </a:r>
            <a:r>
              <a:rPr lang="ru-RU" dirty="0"/>
              <a:t> порядок.</a:t>
            </a:r>
          </a:p>
          <a:p>
            <a:endParaRPr lang="ru-RU" dirty="0"/>
          </a:p>
          <a:p>
            <a:r>
              <a:rPr lang="ru-RU" dirty="0"/>
              <a:t>Во-вторых, завершение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который печатает «B», синхронизируется с возвратом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точке X. Это означает, что «B» </a:t>
            </a:r>
            <a:r>
              <a:rPr lang="ru-RU" dirty="0" err="1"/>
              <a:t>happens-before</a:t>
            </a:r>
            <a:r>
              <a:rPr lang="ru-RU" dirty="0"/>
              <a:t> X. А поскольку X </a:t>
            </a:r>
            <a:r>
              <a:rPr lang="ru-RU" dirty="0" err="1"/>
              <a:t>sequenced-before</a:t>
            </a:r>
            <a:r>
              <a:rPr lang="ru-RU" dirty="0"/>
              <a:t> «F», то «B» </a:t>
            </a:r>
            <a:r>
              <a:rPr lang="ru-RU" dirty="0" err="1"/>
              <a:t>happens-before</a:t>
            </a:r>
            <a:r>
              <a:rPr lang="ru-RU" dirty="0"/>
              <a:t> «F».</a:t>
            </a:r>
          </a:p>
          <a:p>
            <a:endParaRPr lang="ru-RU" dirty="0"/>
          </a:p>
          <a:p>
            <a:r>
              <a:rPr lang="ru-RU" dirty="0"/>
              <a:t>Аналогично,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, печатающий «D», завершится в какой-то момент. Его завершение синхронизируется с уничтожением объекта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при выходе из области видимости, то есть к моменту Y. Следовательно, «D» </a:t>
            </a:r>
            <a:r>
              <a:rPr lang="ru-RU" dirty="0" err="1"/>
              <a:t>happens-before</a:t>
            </a:r>
            <a:r>
              <a:rPr lang="ru-RU" dirty="0"/>
              <a:t> Y.</a:t>
            </a:r>
          </a:p>
          <a:p>
            <a:endParaRPr lang="ru-RU" dirty="0"/>
          </a:p>
          <a:p>
            <a:r>
              <a:rPr lang="ru-RU" dirty="0"/>
              <a:t>Далее, завершение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ru-RU" dirty="0"/>
              <a:t> синхронизируется с возвратом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t.join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точке Z. Это означает, что всё, что произошло в потоке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ru-RU" dirty="0"/>
              <a:t> до его завершения, </a:t>
            </a:r>
            <a:r>
              <a:rPr lang="ru-RU" dirty="0" err="1"/>
              <a:t>happens-before</a:t>
            </a:r>
            <a:r>
              <a:rPr lang="ru-RU" dirty="0"/>
              <a:t> Z. А Z </a:t>
            </a:r>
            <a:r>
              <a:rPr lang="ru-RU" dirty="0" err="1"/>
              <a:t>sequenced-before</a:t>
            </a:r>
            <a:r>
              <a:rPr lang="ru-RU" dirty="0"/>
              <a:t> «H», значит все эти операции </a:t>
            </a:r>
            <a:r>
              <a:rPr lang="ru-RU" dirty="0" err="1"/>
              <a:t>happens-before</a:t>
            </a:r>
            <a:r>
              <a:rPr lang="ru-RU" dirty="0"/>
              <a:t> «H».</a:t>
            </a:r>
          </a:p>
          <a:p>
            <a:endParaRPr lang="ru-RU" dirty="0"/>
          </a:p>
          <a:p>
            <a:r>
              <a:rPr lang="ru-RU" dirty="0"/>
              <a:t>При этом вывод «G» происходит в основном потоке до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t.join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поэтому между «G» и операциями 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ru-RU" dirty="0"/>
              <a:t> нет отношения </a:t>
            </a:r>
            <a:r>
              <a:rPr lang="ru-RU" dirty="0" err="1"/>
              <a:t>happens-before</a:t>
            </a:r>
            <a:r>
              <a:rPr lang="ru-RU" dirty="0"/>
              <a:t>. «G» может появиться в любом месте относительно «A», «C», «E» и так далее, за исключением тех случаев, где порядок фиксируется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чтобы ответить на вопрос «между какими операциями есть </a:t>
            </a:r>
            <a:r>
              <a:rPr lang="ru-RU" dirty="0" err="1"/>
              <a:t>happens-before</a:t>
            </a:r>
            <a:r>
              <a:rPr lang="ru-RU" dirty="0"/>
              <a:t>», нужно искать точки синхронизации — вызовы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и затем распространять порядок транзитивно через </a:t>
            </a:r>
            <a:r>
              <a:rPr lang="ru-RU" dirty="0" err="1"/>
              <a:t>sequenced-before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пример показывает, что анализ многопоточной программы — это построение графа зависимостей. Если мы видим цепочку </a:t>
            </a:r>
            <a:r>
              <a:rPr lang="ru-RU" dirty="0" err="1"/>
              <a:t>synchronizes-with</a:t>
            </a:r>
            <a:r>
              <a:rPr lang="ru-RU" dirty="0"/>
              <a:t> и </a:t>
            </a:r>
            <a:r>
              <a:rPr lang="ru-RU" dirty="0" err="1"/>
              <a:t>sequenced-before</a:t>
            </a:r>
            <a:r>
              <a:rPr lang="ru-RU" dirty="0"/>
              <a:t>, мы можем вывести </a:t>
            </a:r>
            <a:r>
              <a:rPr lang="ru-RU" dirty="0" err="1"/>
              <a:t>happens-before</a:t>
            </a:r>
            <a:r>
              <a:rPr lang="ru-RU" dirty="0"/>
              <a:t> и гарантировать порядок и видимость изменений.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042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Разберём этот пример внимательно.</a:t>
            </a:r>
          </a:p>
          <a:p>
            <a:endParaRPr lang="ru-RU" dirty="0"/>
          </a:p>
          <a:p>
            <a:r>
              <a:rPr lang="ru-RU" dirty="0"/>
              <a:t>В начале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создаётся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, равная 0. Затем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, который увеличивает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на 1. После этого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. 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сначала вызывается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, а затем выполняется умножение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*= 2</a:t>
            </a:r>
            <a:r>
              <a:rPr lang="ru-RU" dirty="0"/>
              <a:t>.</a:t>
            </a:r>
          </a:p>
          <a:p>
            <a:r>
              <a:rPr lang="ru-RU" dirty="0"/>
              <a:t>Важно понять порядок.</a:t>
            </a:r>
          </a:p>
          <a:p>
            <a:endParaRPr lang="ru-RU" dirty="0"/>
          </a:p>
          <a:p>
            <a:r>
              <a:rPr lang="ru-RU" dirty="0"/>
              <a:t>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выполняет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1</a:t>
            </a:r>
            <a:r>
              <a:rPr lang="ru-RU" dirty="0"/>
              <a:t>. Когда он завершится, его завершение синхронизируется с возвратом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 внутри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. Это создаёт отношение </a:t>
            </a:r>
            <a:r>
              <a:rPr lang="ru-RU" dirty="0" err="1"/>
              <a:t>happens-before</a:t>
            </a:r>
            <a:r>
              <a:rPr lang="ru-RU" dirty="0"/>
              <a:t> между инкрементом и дальнейшим кодом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.</a:t>
            </a:r>
          </a:p>
          <a:p>
            <a:r>
              <a:rPr lang="ru-RU" dirty="0"/>
              <a:t>То есть операция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1</a:t>
            </a:r>
            <a:r>
              <a:rPr lang="ru-RU" dirty="0"/>
              <a:t> гарантированно происходит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*= 2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Далее, завершение потока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синхронизируется с возвратом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t2.join()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Значит, умножение гарантированно произойдёт до чтения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и вывода результата.</a:t>
            </a:r>
          </a:p>
          <a:p>
            <a:endParaRPr lang="ru-RU" dirty="0"/>
          </a:p>
          <a:p>
            <a:r>
              <a:rPr lang="ru-RU" dirty="0"/>
              <a:t>Теперь посмотрим на возможные значения. Сначала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равен 0.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увеличивает его до 1.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после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 умножает это значение на 2. Получается 2. Это единственный возможный корректный результат.</a:t>
            </a:r>
          </a:p>
          <a:p>
            <a:endParaRPr lang="ru-RU" dirty="0"/>
          </a:p>
          <a:p>
            <a:r>
              <a:rPr lang="ru-RU" dirty="0"/>
              <a:t>Важно заметить, что здесь нет гонки данных. Хотя оба потока обращаются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, между операциями есть отношение </a:t>
            </a:r>
            <a:r>
              <a:rPr lang="ru-RU" dirty="0" err="1"/>
              <a:t>happens-before</a:t>
            </a:r>
            <a:r>
              <a:rPr lang="ru-RU" dirty="0"/>
              <a:t> благодаря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Инкремент полностью завершится до умножения.</a:t>
            </a:r>
          </a:p>
          <a:p>
            <a:endParaRPr lang="ru-RU" dirty="0"/>
          </a:p>
          <a:p>
            <a:r>
              <a:rPr lang="ru-RU" dirty="0"/>
              <a:t>Этот пример показывает,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может использоваться не только в основном потоке, но и внутри другого потока для построения строгого порядка выполнения между ними. Благодаря этому мы можем обеспечить корректную последовательность операций даже в многопоточной программе.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138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Разберём эту программу пошагово.</a:t>
            </a:r>
          </a:p>
          <a:p>
            <a:endParaRPr lang="ru-RU" dirty="0"/>
          </a:p>
          <a:p>
            <a:r>
              <a:rPr lang="ru-RU" dirty="0"/>
              <a:t>В начале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инициализируется значением 1. Затем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, который выполняет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+= 1</a:t>
            </a:r>
            <a:r>
              <a:rPr lang="ru-RU" dirty="0"/>
              <a:t>. После этого создаётся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. 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создаётся ещё один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t3</a:t>
            </a:r>
            <a:r>
              <a:rPr lang="ru-RU" dirty="0"/>
              <a:t>, который делает паузу на одну секунду и затем выполняет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*= 3</a:t>
            </a:r>
            <a:r>
              <a:rPr lang="ru-RU" dirty="0"/>
              <a:t>. После создания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t3</a:t>
            </a:r>
            <a:r>
              <a:rPr lang="ru-RU" dirty="0"/>
              <a:t>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вызывает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, а затем выполняет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конце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вызывается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t2.join()</a:t>
            </a:r>
            <a:r>
              <a:rPr lang="ru-RU" dirty="0"/>
              <a:t>, после чего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выводится.</a:t>
            </a:r>
          </a:p>
          <a:p>
            <a:endParaRPr lang="ru-RU" dirty="0"/>
          </a:p>
          <a:p>
            <a:r>
              <a:rPr lang="ru-RU" dirty="0"/>
              <a:t>Теперь ключевой вопрос: есть ли здесь гарантированный порядок между всеми операциями над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?</a:t>
            </a:r>
          </a:p>
          <a:p>
            <a:endParaRPr lang="ru-RU" dirty="0"/>
          </a:p>
          <a:p>
            <a:r>
              <a:rPr lang="ru-RU" dirty="0"/>
              <a:t>Инкремент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гарантированно завершится до строки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, потому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вызывает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t1.join()</a:t>
            </a:r>
            <a:r>
              <a:rPr lang="ru-RU" dirty="0"/>
              <a:t>. Здесь есть отношение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Однако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t3</a:t>
            </a:r>
            <a:r>
              <a:rPr lang="ru-RU" dirty="0"/>
              <a:t> никак не синхронизирован ни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, ни с операцией возведения в квадрат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. Да,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t3</a:t>
            </a:r>
            <a:r>
              <a:rPr lang="ru-RU" dirty="0"/>
              <a:t> есть задержка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sleep_for</a:t>
            </a:r>
            <a:r>
              <a:rPr lang="ru-RU" dirty="0"/>
              <a:t>, но задержка не является механизмом синхронизации. Она не создаёт </a:t>
            </a:r>
            <a:r>
              <a:rPr lang="ru-RU" dirty="0" err="1"/>
              <a:t>happens-before</a:t>
            </a:r>
            <a:r>
              <a:rPr lang="ru-RU" dirty="0"/>
              <a:t> относительно других потоков.</a:t>
            </a:r>
          </a:p>
          <a:p>
            <a:endParaRPr lang="ru-RU" dirty="0"/>
          </a:p>
          <a:p>
            <a:r>
              <a:rPr lang="ru-RU" dirty="0"/>
              <a:t>В результате операции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*= 3</a:t>
            </a:r>
            <a:r>
              <a:rPr lang="ru-RU" dirty="0"/>
              <a:t>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t3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могут выполняться конкурентно. Оба потока изменяют одну и ту же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, и между этими изменениями нет отношения </a:t>
            </a:r>
            <a:r>
              <a:rPr lang="ru-RU" dirty="0" err="1"/>
              <a:t>happens-before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в программе возможна гонка данных.</a:t>
            </a:r>
          </a:p>
          <a:p>
            <a:endParaRPr lang="ru-RU" dirty="0"/>
          </a:p>
          <a:p>
            <a:r>
              <a:rPr lang="ru-RU" dirty="0"/>
              <a:t>Следовательно, поведение программы становится неопределённым. Результат может зависеть от планировщика, от времени выполнения, от уровня оптимизации компилятора. Даже добавленная задержка не гарантирует определённого порядка выполнения.</a:t>
            </a:r>
          </a:p>
          <a:p>
            <a:endParaRPr lang="ru-RU" dirty="0"/>
          </a:p>
          <a:p>
            <a:r>
              <a:rPr lang="ru-RU" dirty="0"/>
              <a:t>Этот пример демонстрирует важный принцип: временная задержка не является синхронизацией. Единственный способ гарантировать порядок между потоками — использовать механизмы, которые устанавливают отношение </a:t>
            </a:r>
            <a:r>
              <a:rPr lang="ru-RU" dirty="0" err="1"/>
              <a:t>happens-before</a:t>
            </a:r>
            <a:r>
              <a:rPr lang="ru-RU" dirty="0"/>
              <a:t>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dirty="0"/>
              <a:t>, мьютексы или атомарные операции.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01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573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о том, как обнаружить гонку данных и как формально описывается отношение </a:t>
            </a:r>
            <a:r>
              <a:rPr lang="ru-RU" dirty="0" err="1"/>
              <a:t>happens-before</a:t>
            </a:r>
            <a:r>
              <a:rPr lang="ru-RU" dirty="0"/>
              <a:t>. Теперь переходим к инструменту, который позволяет это отношение устанавливать на практике.</a:t>
            </a:r>
          </a:p>
          <a:p>
            <a:endParaRPr lang="ru-RU" dirty="0"/>
          </a:p>
          <a:p>
            <a:r>
              <a:rPr lang="ru-RU" dirty="0"/>
              <a:t>Мьютекс — это примитив взаимного исключения. Его задача проста: гарантировать, что в критической секции в каждый момент времени находится только один поток.</a:t>
            </a:r>
          </a:p>
          <a:p>
            <a:endParaRPr lang="ru-RU" dirty="0"/>
          </a:p>
          <a:p>
            <a:r>
              <a:rPr lang="ru-RU" dirty="0"/>
              <a:t>Когда поток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он захватывает мьютекс. Если другой поток уже владеет им, текущий поток будет ждать. Когда владелец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мьютекс освобождается, и один из ожидающих потоков может продолжить выполнение.</a:t>
            </a:r>
          </a:p>
          <a:p>
            <a:endParaRPr lang="ru-RU" dirty="0"/>
          </a:p>
          <a:p>
            <a:r>
              <a:rPr lang="ru-RU" dirty="0"/>
              <a:t>С точки зрения модели памяти важно следующее: освобождение мьютекса </a:t>
            </a:r>
            <a:r>
              <a:rPr lang="ru-RU" dirty="0" err="1"/>
              <a:t>synchronizes-with</a:t>
            </a:r>
            <a:r>
              <a:rPr lang="ru-RU" dirty="0"/>
              <a:t> его последующим захватом в другом потоке. Это означает, что все изменения, сделанные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будут видны после успешного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другом потоке.</a:t>
            </a:r>
          </a:p>
          <a:p>
            <a:endParaRPr lang="ru-RU" dirty="0"/>
          </a:p>
          <a:p>
            <a:r>
              <a:rPr lang="ru-RU" dirty="0"/>
              <a:t>Таким образом, мьютекс не только запрещает одновременный доступ, но и создаёт </a:t>
            </a:r>
            <a:r>
              <a:rPr lang="ru-RU" dirty="0" err="1"/>
              <a:t>happens-before</a:t>
            </a:r>
            <a:r>
              <a:rPr lang="ru-RU" dirty="0"/>
              <a:t> между потоками.</a:t>
            </a:r>
          </a:p>
          <a:p>
            <a:endParaRPr lang="ru-RU" dirty="0"/>
          </a:p>
          <a:p>
            <a:r>
              <a:rPr lang="ru-RU" dirty="0"/>
              <a:t>На практике мы редко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напрямую. Вместо этого используется RAII-обёртка,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ru-RU" dirty="0"/>
              <a:t>, которая автоматически захватывает мьютекс при создании и освобождает его при выходе из области видимости. Это защищает от утечек блокировки при исключениях или раннем выходе из функции.</a:t>
            </a:r>
          </a:p>
          <a:p>
            <a:endParaRPr lang="ru-RU" dirty="0"/>
          </a:p>
          <a:p>
            <a:r>
              <a:rPr lang="ru-RU" dirty="0"/>
              <a:t>Именно через мьютексы строится большинство </a:t>
            </a:r>
            <a:r>
              <a:rPr lang="ru-RU" dirty="0" err="1"/>
              <a:t>потокобезопасных</a:t>
            </a:r>
            <a:r>
              <a:rPr lang="ru-RU" dirty="0"/>
              <a:t> структур данных в классическом многопоточном программировании.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87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601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вернёмся к нашему примеру со счётчиком и сделаем его корректным.</a:t>
            </a:r>
          </a:p>
          <a:p>
            <a:endParaRPr lang="ru-RU" dirty="0"/>
          </a:p>
          <a:p>
            <a:r>
              <a:rPr lang="ru-RU" dirty="0"/>
              <a:t>У нас есть общий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 и два потока: один увеличивает его, второй уменьшает. Разница по сравнению с предыдущим вариантом в том, что теперь доступ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 защищён мьютексом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первом потоке мы вручную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m.lock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затем изменяем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, и после этого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m.unlock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Это означает, что в каждый момент времени только один поток может находиться внутри этой критической секции.</a:t>
            </a:r>
          </a:p>
          <a:p>
            <a:endParaRPr lang="ru-RU" dirty="0"/>
          </a:p>
          <a:p>
            <a:r>
              <a:rPr lang="ru-RU" dirty="0"/>
              <a:t>Во втором потоке используется более правильный подход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. При создании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lk</a:t>
            </a:r>
            <a:r>
              <a:rPr lang="ru-RU" dirty="0"/>
              <a:t> мьютекс автоматически захватывается, а при выходе из области видимости — автоматически освобождается. Это защищает нас от забытых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от проблем при исключениях.</a:t>
            </a:r>
          </a:p>
          <a:p>
            <a:endParaRPr lang="ru-RU" dirty="0"/>
          </a:p>
          <a:p>
            <a:r>
              <a:rPr lang="ru-RU" dirty="0"/>
              <a:t>С точки зрения модели памяти самое важное — это гарантия </a:t>
            </a:r>
            <a:r>
              <a:rPr lang="ru-RU" dirty="0" err="1"/>
              <a:t>happens-before</a:t>
            </a:r>
            <a:r>
              <a:rPr lang="ru-RU" dirty="0"/>
              <a:t>. Освобождение мьютекса в одном потоке </a:t>
            </a:r>
            <a:r>
              <a:rPr lang="ru-RU" dirty="0" err="1"/>
              <a:t>synchronizes-with</a:t>
            </a:r>
            <a:r>
              <a:rPr lang="ru-RU" dirty="0"/>
              <a:t> последующим успешным захватом мьютекса в другом потоке. Это означает, что все изменения, сделанные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гарантированно будут видны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другом потоке.</a:t>
            </a:r>
          </a:p>
          <a:p>
            <a:endParaRPr lang="ru-RU" dirty="0"/>
          </a:p>
          <a:p>
            <a:r>
              <a:rPr lang="ru-RU" dirty="0"/>
              <a:t>Таким образом, инкремент и декремент больше не могут выполняться одновременно. Они строго чередуются в критической секции. Гонки данных больше нет, и программа становится корректной.</a:t>
            </a:r>
          </a:p>
          <a:p>
            <a:endParaRPr lang="ru-RU" dirty="0"/>
          </a:p>
          <a:p>
            <a:r>
              <a:rPr lang="ru-RU" dirty="0"/>
              <a:t>При этом порядок выполнения инкрементов и декрементов всё ещё может отличаться от запуска к запуску — это зависит от планировщика. Но теперь любой допустимый порядок приводит к корректному результату, потому что в каждый момент времени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 изменяется только одним потоком.</a:t>
            </a:r>
          </a:p>
          <a:p>
            <a:endParaRPr lang="ru-RU" dirty="0"/>
          </a:p>
          <a:p>
            <a:r>
              <a:rPr lang="ru-RU" dirty="0"/>
              <a:t>Этот пример показывает две вещи. Во-первых, мьютекс устраняет гонку данных. Во-вторых, RAII-обёртки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 — это предпочтительный способ работы с мьютексами в современном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35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пример </a:t>
            </a:r>
            <a:r>
              <a:rPr lang="ru-RU" dirty="0" err="1"/>
              <a:t>потокобезопасного</a:t>
            </a:r>
            <a:r>
              <a:rPr lang="ru-RU" dirty="0"/>
              <a:t> класса. Все методы, которые обращаются к данным, защищены мьютексом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m_mutex</a:t>
            </a:r>
            <a:r>
              <a:rPr lang="ru-RU" dirty="0"/>
              <a:t>. При входе в метод создаётся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, который захватывает мьютекс, а при выходе автоматически его освобождает.</a:t>
            </a:r>
          </a:p>
          <a:p>
            <a:endParaRPr lang="ru-RU" dirty="0"/>
          </a:p>
          <a:p>
            <a:r>
              <a:rPr lang="ru-RU" dirty="0"/>
              <a:t>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GetIntData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SetIntData</a:t>
            </a:r>
            <a:r>
              <a:rPr lang="ru-RU" dirty="0"/>
              <a:t> работают корректно: доступ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m_intData</a:t>
            </a:r>
            <a:r>
              <a:rPr lang="ru-RU" dirty="0"/>
              <a:t> защищён, инварианты объекта не нарушаются. Аналогично устроены методы для строки.</a:t>
            </a:r>
          </a:p>
          <a:p>
            <a:endParaRPr lang="ru-RU" dirty="0"/>
          </a:p>
          <a:p>
            <a:r>
              <a:rPr lang="ru-RU" dirty="0"/>
              <a:t>Теперь возникает естественный вопрос.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GetStringData</a:t>
            </a:r>
            <a:r>
              <a:rPr lang="ru-RU" dirty="0"/>
              <a:t> мы возвращаем строку по значению, то есть происходит копирование. Почему бы не вернуть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, чтобы избежать копирования?</a:t>
            </a:r>
          </a:p>
          <a:p>
            <a:endParaRPr lang="ru-RU" dirty="0"/>
          </a:p>
          <a:p>
            <a:r>
              <a:rPr lang="ru-RU" dirty="0"/>
              <a:t>Ответ связан со временем жизни блокировки.</a:t>
            </a:r>
          </a:p>
          <a:p>
            <a:endParaRPr lang="ru-RU" dirty="0"/>
          </a:p>
          <a:p>
            <a:r>
              <a:rPr lang="ru-RU" dirty="0"/>
              <a:t>Посмотрите внимательно: мьютекс захватывается в начале метода и освобождается в конце метода, когда уничтожается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. Если мы вернём ссылку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m_stringData</a:t>
            </a:r>
            <a:r>
              <a:rPr lang="ru-RU" dirty="0"/>
              <a:t>, то блокировка уже будет снята к моменту, когда вызывающий код начнёт пользоваться этой ссылкой.</a:t>
            </a:r>
          </a:p>
          <a:p>
            <a:endParaRPr lang="ru-RU" dirty="0"/>
          </a:p>
          <a:p>
            <a:r>
              <a:rPr lang="ru-RU" dirty="0"/>
              <a:t>Это означает, что другой поток может изменить строку сразу после выхода из метода. В результате вызывающий код получит ссылку на объект, который уже может быть изменён конкурентно. Это нарушает </a:t>
            </a:r>
            <a:r>
              <a:rPr lang="ru-RU" dirty="0" err="1"/>
              <a:t>потокобезопасность</a:t>
            </a:r>
            <a:r>
              <a:rPr lang="ru-RU" dirty="0"/>
              <a:t> и может привести к гонке данных.</a:t>
            </a:r>
          </a:p>
          <a:p>
            <a:endParaRPr lang="ru-RU" dirty="0"/>
          </a:p>
          <a:p>
            <a:r>
              <a:rPr lang="ru-RU" dirty="0"/>
              <a:t>Другими словами, мы защищаем данные только на время выполнения метода. После выхода из метода защита исчезает. Если мы возвращаем копию, вызывающий поток работает со своей собственной строкой, и дальнейшие изменения внутри объекта ему не мешают.</a:t>
            </a:r>
          </a:p>
          <a:p>
            <a:endParaRPr lang="ru-RU" dirty="0"/>
          </a:p>
          <a:p>
            <a:r>
              <a:rPr lang="ru-RU" dirty="0"/>
              <a:t>Это важный принцип проектирования </a:t>
            </a:r>
            <a:r>
              <a:rPr lang="ru-RU" dirty="0" err="1"/>
              <a:t>потокобезопасных</a:t>
            </a:r>
            <a:r>
              <a:rPr lang="ru-RU" dirty="0"/>
              <a:t> классов: не возвращайте ссылки или указатели на внутренние данные, если вы не можете гарантировать, что защита будет сохраняться во время их использования.</a:t>
            </a:r>
          </a:p>
          <a:p>
            <a:endParaRPr lang="ru-RU" dirty="0"/>
          </a:p>
          <a:p>
            <a:r>
              <a:rPr lang="ru-RU" dirty="0" err="1"/>
              <a:t>Потокобезопасность</a:t>
            </a:r>
            <a:r>
              <a:rPr lang="ru-RU" dirty="0"/>
              <a:t> — это не только про мьютекс внутри метода, но и про то, какой контракт вы предоставляете пользователю вашего класса.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935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 допускает только одного владельца в каждый момент времени. Это означает, что даже если несколько потоков просто читают данные и не изменяют их, они всё равно будут блокировать друг друга. Иногда это излишне.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 решает эту проблему. Он поддерживает два режима работы.</a:t>
            </a:r>
          </a:p>
          <a:p>
            <a:endParaRPr lang="ru-RU" dirty="0"/>
          </a:p>
          <a:p>
            <a:r>
              <a:rPr lang="ru-RU" dirty="0"/>
              <a:t>Первый режим — совместный, или </a:t>
            </a:r>
            <a:r>
              <a:rPr lang="ru-RU" dirty="0" err="1"/>
              <a:t>shared</a:t>
            </a:r>
            <a:r>
              <a:rPr lang="ru-RU" dirty="0"/>
              <a:t>. В этом режиме несколько потоков могут одновременно владеть мьютексом, если они только читают данные. Для этого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lock_shared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RAII-обёртка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shared_lock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Второй режим — эксклюзивный. Он используется для записи. В этом режиме только один поток может владеть мьютексом, и ни один поток не может иметь </a:t>
            </a:r>
            <a:r>
              <a:rPr lang="ru-RU" dirty="0" err="1"/>
              <a:t>shared</a:t>
            </a:r>
            <a:r>
              <a:rPr lang="ru-RU" dirty="0"/>
              <a:t>-доступ одновременно. Здесь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RAII-обёртки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 реализует классическую модель «читатели и писатели»: много потоков могут читать параллельно, но запись всегда выполняется эксклюзивно.</a:t>
            </a:r>
          </a:p>
          <a:p>
            <a:endParaRPr lang="ru-RU" dirty="0"/>
          </a:p>
          <a:p>
            <a:r>
              <a:rPr lang="ru-RU" dirty="0"/>
              <a:t>Однако важно понимать одну деталь: стандарт не гарантирует справедливость, или честность, распределения блокировки. Если потоков-читателей много и они постоянно захватывают </a:t>
            </a:r>
            <a:r>
              <a:rPr lang="ru-RU" dirty="0" err="1"/>
              <a:t>shared</a:t>
            </a:r>
            <a:r>
              <a:rPr lang="ru-RU" dirty="0"/>
              <a:t>-доступ, поток-писатель может долго ждать своей очереди. В некоторых реализациях это может привести к голоданию писателя.</a:t>
            </a:r>
          </a:p>
          <a:p>
            <a:endParaRPr lang="ru-RU" dirty="0"/>
          </a:p>
          <a:p>
            <a:r>
              <a:rPr lang="ru-RU" dirty="0"/>
              <a:t>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 имеет смысл использовать в сценариях, где чтений существенно больше, чем записей, и где возможная задержка записи допустима.</a:t>
            </a:r>
          </a:p>
          <a:p>
            <a:endParaRPr lang="ru-RU" dirty="0"/>
          </a:p>
          <a:p>
            <a:r>
              <a:rPr lang="ru-RU" dirty="0"/>
              <a:t>С точки зрения модели памяти гарантия остаётся той же: освобождение блокировки, будь то </a:t>
            </a:r>
            <a:r>
              <a:rPr lang="ru-RU" dirty="0" err="1"/>
              <a:t>shared</a:t>
            </a:r>
            <a:r>
              <a:rPr lang="ru-RU" dirty="0"/>
              <a:t> или эксклюзивной, синхронизируется с последующим успешным захватом соответствующего режима в другом потоке.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632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 пример </a:t>
            </a:r>
            <a:r>
              <a:rPr lang="ru-RU" dirty="0" err="1"/>
              <a:t>потокобезопасного</a:t>
            </a:r>
            <a:r>
              <a:rPr lang="ru-RU" dirty="0"/>
              <a:t> счётчика, построенного с использованием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Decrement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Reset</a:t>
            </a:r>
            <a:r>
              <a:rPr lang="ru-RU" dirty="0"/>
              <a:t> используют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ru-RU" dirty="0"/>
              <a:t>, то есть захватывают мьютекс в эксклюзивном режиме. Это означает, что в момент изменения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m_value</a:t>
            </a:r>
            <a:r>
              <a:rPr lang="ru-RU" dirty="0"/>
              <a:t> никакой другой поток не может ни читать, ни писать это значение.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dirty="0"/>
              <a:t>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shared_lock</a:t>
            </a:r>
            <a:r>
              <a:rPr lang="ru-RU" dirty="0"/>
              <a:t>. Это совместный режим. Несколько потоков могут одновременно читать значение счётчика, если в этот момент нет записи.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мы реализуем модель «много читателей — один писатель». Записи защищены эксклюзивной блокировкой, а чтения могут выполняться параллельно.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lang="ru-RU" dirty="0"/>
              <a:t> миллион раз увеличивает счётчик. Поток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периодически читает его значение и выводит. Одновременно основной поток тоже читает значение.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Благодаря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 чтения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dirty="0"/>
              <a:t> могут выполняться параллельно между собой. Если в этот момент нет записи, несколько потоков могут одновременно находиться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dirty="0"/>
              <a:t>. Когда же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</a:t>
            </a:r>
            <a:r>
              <a:rPr lang="ru-RU" dirty="0"/>
              <a:t>, он получает эксклюзивную блокировку, и все читатели временно ждут.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каждое чтение и каждая запись защищены, поэтому гонки данных здесь нет. Однако значения, которые выводятся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t2</a:t>
            </a:r>
            <a:r>
              <a:rPr lang="ru-RU" dirty="0"/>
              <a:t> и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могут отличаться от запуска к запуску, потому что инкременты выполняются конкурентно с чтениями. Это корректное поведение: мы видим различные промежуточные состояния счётчика, но они всегда согласованные.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Этот пример показывает, как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 можно повысить степень параллелизма по сравнению с обычным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, когда чтения существенно преобладают над записями.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630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</a:t>
            </a:r>
            <a:r>
              <a:rPr lang="ru-RU" dirty="0"/>
              <a:t>синхронизируется с </a:t>
            </a:r>
            <a:r>
              <a:rPr lang="en-US" dirty="0"/>
              <a:t>A</a:t>
            </a:r>
            <a:r>
              <a:rPr lang="ru-RU" dirty="0"/>
              <a:t>, так как завершение конструктора </a:t>
            </a:r>
            <a:r>
              <a:rPr lang="en-US" dirty="0"/>
              <a:t>t1</a:t>
            </a:r>
            <a:r>
              <a:rPr lang="ru-RU" dirty="0"/>
              <a:t> синхронизируется с вызовом функции потока.</a:t>
            </a:r>
            <a:endParaRPr lang="en-US" dirty="0"/>
          </a:p>
          <a:p>
            <a:r>
              <a:rPr lang="en-US" dirty="0"/>
              <a:t>L </a:t>
            </a:r>
            <a:r>
              <a:rPr lang="ru-RU" dirty="0"/>
              <a:t>синхронизируется с </a:t>
            </a:r>
            <a:r>
              <a:rPr lang="en-US" dirty="0"/>
              <a:t>G</a:t>
            </a:r>
            <a:r>
              <a:rPr lang="ru-RU" dirty="0"/>
              <a:t> по этой же причине</a:t>
            </a:r>
          </a:p>
          <a:p>
            <a:r>
              <a:rPr lang="en-US" dirty="0"/>
              <a:t>K </a:t>
            </a:r>
            <a:r>
              <a:rPr lang="ru-RU" dirty="0"/>
              <a:t>синхронизируется с </a:t>
            </a:r>
            <a:r>
              <a:rPr lang="en-US" dirty="0"/>
              <a:t>P</a:t>
            </a:r>
            <a:r>
              <a:rPr lang="ru-RU" dirty="0"/>
              <a:t>, так как завершение потока синхронизируется с завершением </a:t>
            </a:r>
            <a:r>
              <a:rPr lang="en-US" dirty="0"/>
              <a:t>join</a:t>
            </a:r>
            <a:r>
              <a:rPr lang="ru-RU" dirty="0"/>
              <a:t>, вызванным в деструкторе </a:t>
            </a:r>
            <a:r>
              <a:rPr lang="en-US" dirty="0"/>
              <a:t>t2</a:t>
            </a:r>
            <a:endParaRPr lang="ru-RU" dirty="0"/>
          </a:p>
          <a:p>
            <a:r>
              <a:rPr lang="en-US" dirty="0"/>
              <a:t>E </a:t>
            </a:r>
            <a:r>
              <a:rPr lang="ru-RU" dirty="0"/>
              <a:t>синхронизируется с </a:t>
            </a:r>
            <a:r>
              <a:rPr lang="en-US" dirty="0"/>
              <a:t>R</a:t>
            </a:r>
            <a:r>
              <a:rPr lang="ru-RU" dirty="0"/>
              <a:t>, так как завершение потока синхронизируется с </a:t>
            </a:r>
            <a:r>
              <a:rPr lang="en-US" dirty="0"/>
              <a:t>join</a:t>
            </a:r>
            <a:r>
              <a:rPr lang="ru-RU" dirty="0"/>
              <a:t>, вызванным в деструкторе </a:t>
            </a:r>
            <a:r>
              <a:rPr lang="en-US" dirty="0"/>
              <a:t>t1</a:t>
            </a:r>
          </a:p>
          <a:p>
            <a:r>
              <a:rPr lang="en-US" dirty="0"/>
              <a:t>D </a:t>
            </a:r>
            <a:r>
              <a:rPr lang="ru-RU" dirty="0"/>
              <a:t>синхронизируется с </a:t>
            </a:r>
            <a:r>
              <a:rPr lang="en-US" dirty="0"/>
              <a:t>M</a:t>
            </a:r>
            <a:r>
              <a:rPr lang="ru-RU" dirty="0"/>
              <a:t>, так как освобождение мьютекса </a:t>
            </a:r>
            <a:r>
              <a:rPr lang="en-US" dirty="0"/>
              <a:t>m1 </a:t>
            </a:r>
            <a:r>
              <a:rPr lang="ru-RU" dirty="0"/>
              <a:t>синхронизируется с его захватом</a:t>
            </a:r>
            <a:endParaRPr lang="en-US" dirty="0"/>
          </a:p>
          <a:p>
            <a:r>
              <a:rPr lang="en-US" dirty="0"/>
              <a:t>O</a:t>
            </a:r>
            <a:r>
              <a:rPr lang="ru-RU" dirty="0"/>
              <a:t> синхронизируется с </a:t>
            </a:r>
            <a:r>
              <a:rPr lang="en-US" dirty="0"/>
              <a:t>B</a:t>
            </a:r>
            <a:r>
              <a:rPr lang="ru-RU" dirty="0"/>
              <a:t>, так как освобождение мьютекса </a:t>
            </a:r>
            <a:r>
              <a:rPr lang="en-US" dirty="0"/>
              <a:t>lk3</a:t>
            </a:r>
            <a:r>
              <a:rPr lang="ru-RU" dirty="0"/>
              <a:t> в конце </a:t>
            </a:r>
            <a:r>
              <a:rPr lang="en-US" dirty="0"/>
              <a:t>main </a:t>
            </a:r>
            <a:r>
              <a:rPr lang="ru-RU" dirty="0"/>
              <a:t>синхронизируется с его захватом в </a:t>
            </a:r>
            <a:r>
              <a:rPr lang="en-US" dirty="0"/>
              <a:t>B</a:t>
            </a:r>
          </a:p>
          <a:p>
            <a:endParaRPr lang="ru-RU" dirty="0"/>
          </a:p>
          <a:p>
            <a:r>
              <a:rPr lang="ru-RU" dirty="0"/>
              <a:t>Мы видим первую возможную последовательность обращений к </a:t>
            </a:r>
            <a:r>
              <a:rPr lang="en-US" dirty="0"/>
              <a:t>x </a:t>
            </a:r>
            <a:r>
              <a:rPr lang="ru-RU" dirty="0"/>
              <a:t>(красные стрелки):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сперва</a:t>
            </a:r>
            <a:r>
              <a:rPr lang="en-US" dirty="0"/>
              <a:t> </a:t>
            </a:r>
            <a:r>
              <a:rPr lang="ru-RU" dirty="0"/>
              <a:t>в главном потоке </a:t>
            </a:r>
            <a:r>
              <a:rPr lang="en-US" dirty="0"/>
              <a:t>lk3 </a:t>
            </a:r>
            <a:r>
              <a:rPr lang="ru-RU" dirty="0"/>
              <a:t>захватит </a:t>
            </a:r>
            <a:r>
              <a:rPr lang="en-US" dirty="0"/>
              <a:t>m1</a:t>
            </a:r>
            <a:r>
              <a:rPr lang="ru-RU" dirty="0"/>
              <a:t> и прочитает </a:t>
            </a:r>
            <a:r>
              <a:rPr lang="en-US" dirty="0"/>
              <a:t>x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затем </a:t>
            </a:r>
            <a:r>
              <a:rPr lang="en-US" dirty="0"/>
              <a:t>lk1 </a:t>
            </a:r>
            <a:r>
              <a:rPr lang="ru-RU" dirty="0"/>
              <a:t>захватит </a:t>
            </a:r>
            <a:r>
              <a:rPr lang="en-US" dirty="0"/>
              <a:t>m1</a:t>
            </a:r>
            <a:r>
              <a:rPr lang="ru-RU" dirty="0"/>
              <a:t> и выполнит инкремент.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Вторая возможная последовательность обращений к </a:t>
            </a:r>
            <a:r>
              <a:rPr lang="en-US" dirty="0"/>
              <a:t>x (</a:t>
            </a:r>
            <a:r>
              <a:rPr lang="ru-RU" dirty="0"/>
              <a:t>зелёные стрелки).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 потоке </a:t>
            </a:r>
            <a:r>
              <a:rPr lang="en-US" dirty="0"/>
              <a:t>t1</a:t>
            </a:r>
            <a:r>
              <a:rPr lang="ru-RU" dirty="0"/>
              <a:t> </a:t>
            </a:r>
            <a:r>
              <a:rPr lang="en-US" dirty="0"/>
              <a:t>lk1</a:t>
            </a:r>
            <a:r>
              <a:rPr lang="ru-RU" dirty="0"/>
              <a:t> захватит мьютекс и сделает инкремент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Потом </a:t>
            </a:r>
            <a:r>
              <a:rPr lang="en-US" dirty="0"/>
              <a:t>lk3 </a:t>
            </a:r>
            <a:r>
              <a:rPr lang="ru-RU" dirty="0"/>
              <a:t>в главном потоке захватит мьютекс и сделает инкремент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Но у нас есть еще поток </a:t>
            </a:r>
            <a:r>
              <a:rPr lang="en-US" dirty="0"/>
              <a:t>t2</a:t>
            </a:r>
            <a:r>
              <a:rPr lang="ru-RU" dirty="0"/>
              <a:t>, в котором захватывается мьютекс </a:t>
            </a:r>
            <a:r>
              <a:rPr lang="en-US" dirty="0"/>
              <a:t>m2 </a:t>
            </a:r>
            <a:r>
              <a:rPr lang="ru-RU" dirty="0"/>
              <a:t>и происходит инкремент. Однако из-за того, что </a:t>
            </a:r>
            <a:r>
              <a:rPr lang="en-US" dirty="0"/>
              <a:t>m2</a:t>
            </a:r>
            <a:r>
              <a:rPr lang="ru-RU" dirty="0"/>
              <a:t> – это другой мьютекс, его захват и освобождение никак не упорядочены относительно захвата мьютекса </a:t>
            </a:r>
            <a:r>
              <a:rPr lang="en-US" dirty="0"/>
              <a:t>m1</a:t>
            </a:r>
            <a:r>
              <a:rPr lang="ru-RU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Из-за этого возможны состояния гонки</a:t>
            </a:r>
            <a:r>
              <a:rPr lang="en-US" dirty="0"/>
              <a:t> </a:t>
            </a:r>
            <a:r>
              <a:rPr lang="ru-RU" dirty="0"/>
              <a:t>на переменной </a:t>
            </a:r>
            <a:r>
              <a:rPr lang="en-US" dirty="0"/>
              <a:t>x</a:t>
            </a:r>
            <a:r>
              <a:rPr lang="ru-RU" dirty="0"/>
              <a:t>:</a:t>
            </a:r>
          </a:p>
          <a:p>
            <a:pPr marL="171450" indent="-171450">
              <a:buFontTx/>
              <a:buChar char="-"/>
            </a:pPr>
            <a:r>
              <a:rPr lang="ru-RU" dirty="0"/>
              <a:t>между точками </a:t>
            </a:r>
            <a:r>
              <a:rPr lang="en-US" dirty="0"/>
              <a:t>C </a:t>
            </a:r>
            <a:r>
              <a:rPr lang="ru-RU" dirty="0"/>
              <a:t>и </a:t>
            </a:r>
            <a:r>
              <a:rPr lang="en-US" dirty="0"/>
              <a:t>I</a:t>
            </a:r>
            <a:r>
              <a:rPr lang="ru-RU" dirty="0"/>
              <a:t> (инкремент в потоке </a:t>
            </a:r>
            <a:r>
              <a:rPr lang="en-US" dirty="0"/>
              <a:t>t1 </a:t>
            </a:r>
            <a:r>
              <a:rPr lang="ru-RU" dirty="0"/>
              <a:t>и </a:t>
            </a:r>
            <a:r>
              <a:rPr lang="en-US" dirty="0"/>
              <a:t>t2</a:t>
            </a:r>
            <a:endParaRPr lang="ru-RU" dirty="0"/>
          </a:p>
          <a:p>
            <a:pPr marL="171450" indent="-171450">
              <a:buFontTx/>
              <a:buChar char="-"/>
            </a:pPr>
            <a:r>
              <a:rPr lang="ru-RU" dirty="0"/>
              <a:t>Между точками </a:t>
            </a:r>
            <a:r>
              <a:rPr lang="en-US" dirty="0"/>
              <a:t>N </a:t>
            </a:r>
            <a:r>
              <a:rPr lang="ru-RU" dirty="0"/>
              <a:t>и </a:t>
            </a:r>
            <a:r>
              <a:rPr lang="en-US" dirty="0"/>
              <a:t>I</a:t>
            </a:r>
            <a:r>
              <a:rPr lang="ru-RU" dirty="0"/>
              <a:t> (инкремент в потоке </a:t>
            </a:r>
            <a:r>
              <a:rPr lang="en-US" dirty="0"/>
              <a:t>t2</a:t>
            </a:r>
            <a:r>
              <a:rPr lang="ru-RU" dirty="0"/>
              <a:t> и чтение в </a:t>
            </a:r>
            <a:r>
              <a:rPr lang="ru-RU" dirty="0" err="1"/>
              <a:t>главом</a:t>
            </a:r>
            <a:r>
              <a:rPr lang="ru-RU" dirty="0"/>
              <a:t> потоке)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052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067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первый взгляд класс выглядит корректным: все методы защищены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используют эксклюзивную блокировку,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IsEmpty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dirty="0"/>
              <a:t> — совместную. Формально гонки данных внутри методов нет.</a:t>
            </a:r>
          </a:p>
          <a:p>
            <a:r>
              <a:rPr lang="ru-RU" dirty="0"/>
              <a:t>Но посмотрите внимательно на сигнатуру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Метод возвращает </a:t>
            </a:r>
            <a:r>
              <a:rPr lang="ru-RU" b="1" dirty="0"/>
              <a:t>константную ссылку</a:t>
            </a:r>
            <a:r>
              <a:rPr lang="ru-RU" dirty="0"/>
              <a:t> на внутренний элемент стека.</a:t>
            </a:r>
          </a:p>
          <a:p>
            <a:r>
              <a:rPr lang="ru-RU" dirty="0"/>
              <a:t>Что происходит дальше? В потребителе мы вызываем: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stack.GetTop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stack.Pop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Проблема в том,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захватывает блокировку только на время выполнения метода. Как только метод завершился,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shared_lock</a:t>
            </a:r>
            <a:r>
              <a:rPr lang="ru-RU" dirty="0"/>
              <a:t> уничтожается и мьютекс освобождается.</a:t>
            </a:r>
          </a:p>
          <a:p>
            <a:r>
              <a:rPr lang="ru-RU" dirty="0"/>
              <a:t>Но возвращённая ссылка продолжает существовать.</a:t>
            </a:r>
          </a:p>
          <a:p>
            <a:r>
              <a:rPr lang="ru-RU" dirty="0"/>
              <a:t>Теперь возможен следующий сценарий:</a:t>
            </a:r>
          </a:p>
          <a:p>
            <a:r>
              <a:rPr lang="ru-RU" dirty="0"/>
              <a:t>Поток 1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получает ссылку на верхний элемент. Метод завершается, блокировка снята. Затем поток 2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удаляет этот элемент из стека. После этого поток 1 использует ссылку, которая теперь указывает на уже удалённый объект.</a:t>
            </a:r>
          </a:p>
          <a:p>
            <a:r>
              <a:rPr lang="ru-RU" dirty="0"/>
              <a:t>Это классическая висячая ссылка и неопределённое поведение. Именно отсюда может возникать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SIGSEGV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понимать: даже если методы по отдельности </a:t>
            </a:r>
            <a:r>
              <a:rPr lang="ru-RU" dirty="0" err="1"/>
              <a:t>потокобезопасны</a:t>
            </a:r>
            <a:r>
              <a:rPr lang="ru-RU" dirty="0"/>
              <a:t>, возвращение ссылки на внутренние данные разрушает </a:t>
            </a:r>
            <a:r>
              <a:rPr lang="ru-RU" dirty="0" err="1"/>
              <a:t>потокобезопасность</a:t>
            </a:r>
            <a:r>
              <a:rPr lang="ru-RU" dirty="0"/>
              <a:t> класса. Мы защищаем доступ к данным, но не защищаем время жизни объекта, на который возвращаем ссылку.</a:t>
            </a:r>
          </a:p>
          <a:p>
            <a:endParaRPr lang="ru-RU" dirty="0"/>
          </a:p>
          <a:p>
            <a:r>
              <a:rPr lang="ru-RU" dirty="0"/>
              <a:t>Главный вывод: никогда не возвращайте ссылки или указатели на внутренние данные </a:t>
            </a:r>
            <a:r>
              <a:rPr lang="ru-RU" dirty="0" err="1"/>
              <a:t>потокобезопасного</a:t>
            </a:r>
            <a:r>
              <a:rPr lang="ru-RU" dirty="0"/>
              <a:t> класса, если вы не можете гарантировать, что защита будет сохраняться во время их использования.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181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исправили первую проблему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значение по копии, а не ссылку. Казалось бы, всё стало безопасно.</a:t>
            </a:r>
          </a:p>
          <a:p>
            <a:r>
              <a:rPr lang="ru-RU" dirty="0"/>
              <a:t>Но посмотрите внимательно на клиентский код.</a:t>
            </a:r>
          </a:p>
          <a:p>
            <a:r>
              <a:rPr lang="ru-RU" dirty="0"/>
              <a:t>В потребителе используется конструкция: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затем, если стек не пустой,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после этого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Каждый из этих методов по отдельности защищён мьютексом. Однако между вызовами блокировка снимается. Это три независимые операции.</a:t>
            </a:r>
          </a:p>
          <a:p>
            <a:r>
              <a:rPr lang="ru-RU" dirty="0"/>
              <a:t>Представим ситуацию.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Поток 1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получает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. Метод завершился,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shared_lock</a:t>
            </a:r>
            <a:r>
              <a:rPr lang="ru-RU" dirty="0"/>
              <a:t> уничтожен, мьютекс освобождён. В этот момент поток 2 успевает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удалить последний элемент из стека.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Теперь поток 1 продолжает выполнение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Внутри метода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m_stack.empty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  <a:r>
              <a:rPr lang="ru-RU" dirty="0"/>
              <a:t>, и он срабатывает. Если бы не было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dirty="0"/>
              <a:t>, мы получили бы неопределённое поведение.</a:t>
            </a:r>
          </a:p>
          <a:p>
            <a:r>
              <a:rPr lang="ru-RU" dirty="0"/>
              <a:t>Это классическая ситуация </a:t>
            </a:r>
            <a:r>
              <a:rPr lang="ru-RU" dirty="0" err="1"/>
              <a:t>check-then-act</a:t>
            </a:r>
            <a:r>
              <a:rPr lang="ru-RU" dirty="0"/>
              <a:t> </a:t>
            </a:r>
            <a:r>
              <a:rPr lang="ru-RU" dirty="0" err="1"/>
              <a:t>race</a:t>
            </a:r>
            <a:r>
              <a:rPr lang="ru-RU" dirty="0"/>
              <a:t>: мы проверили условие, но к моменту действия условие уже стало ложным.</a:t>
            </a:r>
          </a:p>
          <a:p>
            <a:endParaRPr lang="ru-RU" dirty="0"/>
          </a:p>
          <a:p>
            <a:r>
              <a:rPr lang="ru-RU" dirty="0"/>
              <a:t>Здесь нет гонки данных в формальном смысле — каждый метод корректно синхронизирован. Но есть логическая гонка на уровне API. Между проверкой и использованием состояние объекта может измениться.</a:t>
            </a:r>
          </a:p>
          <a:p>
            <a:endParaRPr lang="ru-RU" dirty="0"/>
          </a:p>
          <a:p>
            <a:r>
              <a:rPr lang="ru-RU" dirty="0"/>
              <a:t>Вывод очень важный: </a:t>
            </a:r>
            <a:r>
              <a:rPr lang="ru-RU" dirty="0" err="1"/>
              <a:t>потокобезопасные</a:t>
            </a:r>
            <a:r>
              <a:rPr lang="ru-RU" dirty="0"/>
              <a:t> методы не гарантируют </a:t>
            </a:r>
            <a:r>
              <a:rPr lang="ru-RU" dirty="0" err="1"/>
              <a:t>потокобезопасность</a:t>
            </a:r>
            <a:r>
              <a:rPr lang="ru-RU" dirty="0"/>
              <a:t> последовательности вызовов. Если логически операции должны быть неделимыми, их нужно объединять в одну функцию внутри класса.</a:t>
            </a:r>
          </a:p>
          <a:p>
            <a:endParaRPr lang="ru-RU" dirty="0"/>
          </a:p>
          <a:p>
            <a:r>
              <a:rPr lang="ru-RU" dirty="0"/>
              <a:t>В данном случае правильным решением будет метод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</a:t>
            </a:r>
            <a:r>
              <a:rPr lang="ru-RU" dirty="0"/>
              <a:t>, который под одной блокировкой проверит, есть ли элемент, и сразу же его извлечёт.</a:t>
            </a:r>
          </a:p>
          <a:p>
            <a:endParaRPr lang="ru-RU" dirty="0"/>
          </a:p>
          <a:p>
            <a:r>
              <a:rPr lang="ru-RU" dirty="0"/>
              <a:t>Именно поэтому проектирование </a:t>
            </a:r>
            <a:r>
              <a:rPr lang="ru-RU" dirty="0" err="1"/>
              <a:t>потокобезопасного</a:t>
            </a:r>
            <a:r>
              <a:rPr lang="ru-RU" dirty="0"/>
              <a:t> API требует другого мышления: нужно защищать не только данные, но и инварианты и логические операции над ними.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101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600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49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исправили первую проблему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значение по копии, а не ссылку. Казалось бы, всё стало безопасно.</a:t>
            </a:r>
          </a:p>
          <a:p>
            <a:r>
              <a:rPr lang="ru-RU" dirty="0"/>
              <a:t>Но посмотрите внимательно на клиентский код.</a:t>
            </a:r>
          </a:p>
          <a:p>
            <a:r>
              <a:rPr lang="ru-RU" dirty="0"/>
              <a:t>В потребителе используется конструкция:</a:t>
            </a:r>
          </a:p>
          <a:p>
            <a:r>
              <a:rPr lang="ru-RU" dirty="0"/>
              <a:t>сначала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затем, если стек не пустой,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после этого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Каждый из этих методов по отдельности защищён мьютексом. Однако между вызовами блокировка снимается. Это три независимые операции.</a:t>
            </a:r>
          </a:p>
          <a:p>
            <a:r>
              <a:rPr lang="ru-RU" dirty="0"/>
              <a:t>Представим ситуацию.</a:t>
            </a:r>
          </a:p>
          <a:p>
            <a:r>
              <a:rPr lang="ru-RU" dirty="0"/>
              <a:t>Поток 1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получает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. Метод завершился,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shared_lock</a:t>
            </a:r>
            <a:r>
              <a:rPr lang="ru-RU" dirty="0"/>
              <a:t> уничтожен, мьютекс освобождён. В этот момент поток 2 успевает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удалить последний элемент из стека.</a:t>
            </a:r>
          </a:p>
          <a:p>
            <a:r>
              <a:rPr lang="ru-RU" dirty="0"/>
              <a:t>Теперь поток 1 продолжает выполнение 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Внутри метода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m_stack.empty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  <a:r>
              <a:rPr lang="ru-RU" dirty="0"/>
              <a:t>, и он срабатывает. Если бы не было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dirty="0"/>
              <a:t>, мы получили бы неопределённое поведение.</a:t>
            </a:r>
          </a:p>
          <a:p>
            <a:endParaRPr lang="ru-RU" dirty="0"/>
          </a:p>
          <a:p>
            <a:r>
              <a:rPr lang="ru-RU" dirty="0"/>
              <a:t>Это классическая ситуация </a:t>
            </a:r>
            <a:r>
              <a:rPr lang="ru-RU" dirty="0" err="1"/>
              <a:t>check-then-act</a:t>
            </a:r>
            <a:r>
              <a:rPr lang="ru-RU" dirty="0"/>
              <a:t> </a:t>
            </a:r>
            <a:r>
              <a:rPr lang="ru-RU" dirty="0" err="1"/>
              <a:t>race</a:t>
            </a:r>
            <a:r>
              <a:rPr lang="ru-RU" dirty="0"/>
              <a:t>: мы проверили условие, но к моменту действия условие уже стало ложным.</a:t>
            </a:r>
          </a:p>
          <a:p>
            <a:endParaRPr lang="ru-RU" dirty="0"/>
          </a:p>
          <a:p>
            <a:r>
              <a:rPr lang="ru-RU" dirty="0"/>
              <a:t>Здесь нет гонки данных в формальном смысле — каждый метод корректно синхронизирован. Но есть логическая гонка на уровне API. Между проверкой и использованием состояние объекта может измениться.</a:t>
            </a:r>
          </a:p>
          <a:p>
            <a:endParaRPr lang="ru-RU" dirty="0"/>
          </a:p>
          <a:p>
            <a:r>
              <a:rPr lang="ru-RU" dirty="0"/>
              <a:t>Вывод очень важный: </a:t>
            </a:r>
            <a:r>
              <a:rPr lang="ru-RU" dirty="0" err="1"/>
              <a:t>потокобезопасные</a:t>
            </a:r>
            <a:r>
              <a:rPr lang="ru-RU" dirty="0"/>
              <a:t> методы не гарантируют </a:t>
            </a:r>
            <a:r>
              <a:rPr lang="ru-RU" dirty="0" err="1"/>
              <a:t>потокобезопасность</a:t>
            </a:r>
            <a:r>
              <a:rPr lang="ru-RU" dirty="0"/>
              <a:t> последовательности вызовов. Если логически операции должны быть неделимыми, их нужно объединять в одну функцию внутри класса.</a:t>
            </a:r>
          </a:p>
          <a:p>
            <a:endParaRPr lang="ru-RU" dirty="0"/>
          </a:p>
          <a:p>
            <a:r>
              <a:rPr lang="ru-RU" dirty="0"/>
              <a:t>В данном случае правильным решением будет метод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</a:t>
            </a:r>
            <a:r>
              <a:rPr lang="ru-RU" dirty="0"/>
              <a:t>, который под одной блокировкой проверит, есть ли элемент, и сразу же его извлечёт.</a:t>
            </a:r>
          </a:p>
          <a:p>
            <a:endParaRPr lang="ru-RU" dirty="0"/>
          </a:p>
          <a:p>
            <a:r>
              <a:rPr lang="ru-RU" dirty="0"/>
              <a:t>Именно поэтому проектирование </a:t>
            </a:r>
            <a:r>
              <a:rPr lang="ru-RU" dirty="0" err="1"/>
              <a:t>потокобезопасного</a:t>
            </a:r>
            <a:r>
              <a:rPr lang="ru-RU" dirty="0"/>
              <a:t> API требует другого мышления: нужно защищать не только данные, но и инварианты и логические операции над ними.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701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891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93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392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подведём итог сегодняшней лекции.</a:t>
            </a:r>
          </a:p>
          <a:p>
            <a:r>
              <a:rPr lang="ru-RU" dirty="0"/>
              <a:t>Мы увидели, что в рамках одного процесса все потоки разделяют общее адресное пространство. Это мощный механизм: мы можем легко передавать данные между потоками без сериализации и IPC. Именно это и является одним из главных преимуществ многопоточности по сравнению с </a:t>
            </a:r>
            <a:r>
              <a:rPr lang="ru-RU" dirty="0" err="1"/>
              <a:t>многопроцессной</a:t>
            </a:r>
            <a:r>
              <a:rPr lang="ru-RU" dirty="0"/>
              <a:t> моделью.</a:t>
            </a:r>
          </a:p>
          <a:p>
            <a:endParaRPr lang="ru-RU" dirty="0"/>
          </a:p>
          <a:p>
            <a:r>
              <a:rPr lang="ru-RU" dirty="0"/>
              <a:t>Но эта же особенность становится источником проблем. Если несколько потоков одновременно обращаются к одной и той же памяти, возникает риск гонки данных. А гонка данных в C++ — это не просто логическая ошибка, это неопределённое поведение. Программа может работать «почти всегда», а может внезапно падать или выдавать странные результаты.</a:t>
            </a:r>
          </a:p>
          <a:p>
            <a:endParaRPr lang="ru-RU" dirty="0"/>
          </a:p>
          <a:p>
            <a:r>
              <a:rPr lang="ru-RU" dirty="0"/>
              <a:t>Мы формально определили, что гонка данных возникает, когда есть конфликтующие вычисления и между ними нет отношения </a:t>
            </a:r>
            <a:r>
              <a:rPr lang="ru-RU" dirty="0" err="1"/>
              <a:t>happens-before</a:t>
            </a:r>
            <a:r>
              <a:rPr lang="ru-RU" dirty="0"/>
              <a:t>. Именно </a:t>
            </a:r>
            <a:r>
              <a:rPr lang="ru-RU" dirty="0" err="1"/>
              <a:t>happens-before</a:t>
            </a:r>
            <a:r>
              <a:rPr lang="ru-RU" dirty="0"/>
              <a:t> даёт нам гарантию видимости изменений и упорядоченности операций.</a:t>
            </a:r>
          </a:p>
          <a:p>
            <a:endParaRPr lang="ru-RU" dirty="0"/>
          </a:p>
          <a:p>
            <a:r>
              <a:rPr lang="ru-RU" dirty="0"/>
              <a:t>Мы увидели, как это отношение формируется: через </a:t>
            </a:r>
            <a:r>
              <a:rPr lang="ru-RU" dirty="0" err="1"/>
              <a:t>sequenced-before</a:t>
            </a:r>
            <a:r>
              <a:rPr lang="ru-RU" dirty="0"/>
              <a:t> внутри одного потока, через </a:t>
            </a:r>
            <a:r>
              <a:rPr lang="ru-RU" dirty="0" err="1"/>
              <a:t>synchronizes-with</a:t>
            </a:r>
            <a:r>
              <a:rPr lang="ru-RU" dirty="0"/>
              <a:t> между потоками,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мьютекса.</a:t>
            </a:r>
          </a:p>
          <a:p>
            <a:endParaRPr lang="ru-RU" dirty="0"/>
          </a:p>
          <a:p>
            <a:r>
              <a:rPr lang="ru-RU" dirty="0"/>
              <a:t>Мьютексы и другие примитивы синхронизации позволяют нам явно создавать эти связи и защищать инварианты наших структур данных.</a:t>
            </a:r>
          </a:p>
          <a:p>
            <a:endParaRPr lang="ru-RU" dirty="0"/>
          </a:p>
          <a:p>
            <a:r>
              <a:rPr lang="ru-RU" dirty="0"/>
              <a:t>Однако на этом история не заканчивается. Даже если отдельные методы класса </a:t>
            </a:r>
            <a:r>
              <a:rPr lang="ru-RU" dirty="0" err="1"/>
              <a:t>потокобезопасны</a:t>
            </a:r>
            <a:r>
              <a:rPr lang="ru-RU" dirty="0"/>
              <a:t>, это не гарантирует </a:t>
            </a:r>
            <a:r>
              <a:rPr lang="ru-RU" dirty="0" err="1"/>
              <a:t>потокобезопасность</a:t>
            </a:r>
            <a:r>
              <a:rPr lang="ru-RU" dirty="0"/>
              <a:t> его интерфейса. Мы столкнулись с API Race — ситуацией, когда логически неделимая операция разбита на несколько вызовов, и между ними может вмешаться другой поток.</a:t>
            </a:r>
          </a:p>
          <a:p>
            <a:endParaRPr lang="ru-RU" dirty="0"/>
          </a:p>
          <a:p>
            <a:r>
              <a:rPr lang="ru-RU" dirty="0"/>
              <a:t>Главный вывод: многопоточное программирование требует не только правильного использования примитивов синхронизации, но и другого мышления при проектировании API. Нужно защищать не строки кода, а инварианты и логические операции над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13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2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utility/program/rais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b8eaGnzh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58xzee4c7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Y5zjohr8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jthread/jthread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jthread/join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b9x15cT6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shared_mutex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faK5fq7G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qzE6rqhd9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MY8P3YcGf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Gs88688s9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multithread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cppreference.com/w/cpp/thread/mutex" TargetMode="External"/><Relationship Id="rId5" Type="http://schemas.openxmlformats.org/officeDocument/2006/relationships/hyperlink" Target="https://en.cppreference.com/w/cpp/atomic/memory_order" TargetMode="External"/><Relationship Id="rId4" Type="http://schemas.openxmlformats.org/officeDocument/2006/relationships/hyperlink" Target="https://en.cppreference.com/w/cpp/language/eval_order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91369B-F571-7D58-BF98-CDFC0BD3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Многопоточность и общие данные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550DE-4AD8-E7A2-2366-7CFF006AA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8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5F21-5CC2-C8ED-CA61-77BB0DF9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Многопоточная работа с общими данными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4A708-E4E0-4341-FCB7-13EA77A3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Плюс многопоточности:</a:t>
            </a:r>
            <a:endParaRPr lang="ru-RU" dirty="0"/>
          </a:p>
          <a:p>
            <a:pPr lvl="1"/>
            <a:r>
              <a:rPr lang="ru-RU" dirty="0"/>
              <a:t>Общее адресное пространство</a:t>
            </a:r>
          </a:p>
          <a:p>
            <a:pPr lvl="1"/>
            <a:r>
              <a:rPr lang="ru-RU" dirty="0"/>
              <a:t>Лёгкий доступ к общим данным</a:t>
            </a:r>
          </a:p>
          <a:p>
            <a:r>
              <a:rPr lang="ru-RU" b="1" dirty="0"/>
              <a:t>Обратная сторона:</a:t>
            </a:r>
            <a:endParaRPr lang="ru-RU" dirty="0"/>
          </a:p>
          <a:p>
            <a:pPr lvl="1"/>
            <a:r>
              <a:rPr lang="ru-RU" dirty="0"/>
              <a:t>Несколько потоков могут одновременно изменять одну и ту же память</a:t>
            </a:r>
          </a:p>
          <a:p>
            <a:r>
              <a:rPr lang="ru-RU" b="1" dirty="0"/>
              <a:t>Сегодня разберём:</a:t>
            </a:r>
            <a:endParaRPr lang="ru-RU" dirty="0"/>
          </a:p>
          <a:p>
            <a:pPr lvl="1"/>
            <a:r>
              <a:rPr lang="ru-RU" dirty="0"/>
              <a:t>Когда возникает гонка данных</a:t>
            </a:r>
          </a:p>
          <a:p>
            <a:pPr lvl="1"/>
            <a:r>
              <a:rPr lang="ru-RU" dirty="0"/>
              <a:t>Почему это приводит к неопределённому поведению</a:t>
            </a:r>
          </a:p>
          <a:p>
            <a:pPr lvl="1"/>
            <a:r>
              <a:rPr lang="ru-RU" dirty="0"/>
              <a:t>Как обеспечить корректность многопоточного кода</a:t>
            </a:r>
          </a:p>
        </p:txBody>
      </p:sp>
    </p:spTree>
    <p:extLst>
      <p:ext uri="{BB962C8B-B14F-4D97-AF65-F5344CB8AC3E}">
        <p14:creationId xmlns:p14="http://schemas.microsoft.com/office/powerpoint/2010/main" val="1283286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A14185-9EAE-E411-E227-B25D85CC1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8915879-A429-2F79-6B5F-3C21800B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Состояние гонки</a:t>
            </a:r>
            <a:endParaRPr 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3DBE4-5DCD-22F9-0EBF-C9CE221C6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78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0122-DF63-CB5B-8D07-BAE92E08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Операция удаления элемента из двусвязного списка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0E28A-45C7-8C5A-9B7E-E784621529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Инвариант списка:</a:t>
            </a:r>
          </a:p>
          <a:p>
            <a:pPr lvl="1"/>
            <a:r>
              <a:rPr lang="ru-RU" dirty="0"/>
              <a:t>если </a:t>
            </a:r>
            <a:r>
              <a:rPr lang="ru-RU" dirty="0" err="1"/>
              <a:t>A.next</a:t>
            </a:r>
            <a:r>
              <a:rPr lang="ru-RU" dirty="0"/>
              <a:t> = B, то </a:t>
            </a:r>
            <a:r>
              <a:rPr lang="ru-RU" dirty="0" err="1"/>
              <a:t>B.prev</a:t>
            </a:r>
            <a:r>
              <a:rPr lang="ru-RU" dirty="0"/>
              <a:t> = A</a:t>
            </a:r>
          </a:p>
          <a:p>
            <a:r>
              <a:rPr lang="ru-RU" dirty="0"/>
              <a:t>При удалении узла инвариант </a:t>
            </a:r>
            <a:r>
              <a:rPr lang="ru-RU" b="1" dirty="0"/>
              <a:t>временно нарушается</a:t>
            </a:r>
            <a:endParaRPr lang="ru-RU" dirty="0"/>
          </a:p>
          <a:p>
            <a:pPr lvl="1"/>
            <a:r>
              <a:rPr lang="ru-RU" dirty="0"/>
              <a:t>В </a:t>
            </a:r>
            <a:r>
              <a:rPr lang="ru-RU" dirty="0" err="1"/>
              <a:t>воемя</a:t>
            </a:r>
            <a:r>
              <a:rPr lang="ru-RU" dirty="0"/>
              <a:t> шагов B и C: ссылки становятся </a:t>
            </a:r>
            <a:r>
              <a:rPr lang="ru-RU" dirty="0" err="1"/>
              <a:t>неконсистентными</a:t>
            </a:r>
            <a:endParaRPr lang="ru-RU" dirty="0"/>
          </a:p>
          <a:p>
            <a:r>
              <a:rPr lang="ru-RU" dirty="0"/>
              <a:t>В конце операции инвариант восстанавливается</a:t>
            </a:r>
          </a:p>
          <a:p>
            <a:r>
              <a:rPr lang="ru-RU" dirty="0"/>
              <a:t>Конкурентный доступ к узлу в </a:t>
            </a:r>
            <a:r>
              <a:rPr lang="ru-RU" dirty="0" err="1"/>
              <a:t>неконсистентном</a:t>
            </a:r>
            <a:r>
              <a:rPr lang="ru-RU" dirty="0"/>
              <a:t> состоянии может вызывать ошибки или крах программы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38DCFF-32CB-331E-271D-725C97B215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18918" y="1825625"/>
            <a:ext cx="34881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6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F7832-45D4-4B72-BADE-A619FA28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состояния гонки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278A-7F28-1075-3A55-6C8C7FE3B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Безобидное состояние гонки</a:t>
            </a:r>
          </a:p>
          <a:p>
            <a:pPr lvl="1"/>
            <a:r>
              <a:rPr lang="ru-RU" dirty="0"/>
              <a:t>Результат выполнения программы отличается от того, как как будут выполняться операции в разных потоках, но не происходят нарушения инвариантов или баги в программе</a:t>
            </a:r>
          </a:p>
          <a:p>
            <a:r>
              <a:rPr lang="ru-RU" dirty="0"/>
              <a:t>Проблематичное состояние гонки</a:t>
            </a:r>
          </a:p>
          <a:p>
            <a:pPr lvl="1"/>
            <a:r>
              <a:rPr lang="ru-RU" dirty="0"/>
              <a:t>Сопровождается нарушением инвариантов, нестабильным поведением программы, неверными результатами работы программы</a:t>
            </a:r>
          </a:p>
          <a:p>
            <a:r>
              <a:rPr lang="ru-RU" dirty="0"/>
              <a:t>В </a:t>
            </a:r>
            <a:r>
              <a:rPr lang="en-US" dirty="0"/>
              <a:t>C++</a:t>
            </a:r>
            <a:r>
              <a:rPr lang="ru-RU" dirty="0"/>
              <a:t> описывается гонка данных </a:t>
            </a:r>
            <a:r>
              <a:rPr lang="en-US" dirty="0"/>
              <a:t>(data race)</a:t>
            </a:r>
            <a:endParaRPr lang="ru-RU" dirty="0"/>
          </a:p>
          <a:p>
            <a:r>
              <a:rPr lang="en-US" dirty="0"/>
              <a:t>Race Condition </a:t>
            </a:r>
            <a:r>
              <a:rPr lang="ru-RU" dirty="0"/>
              <a:t>!=</a:t>
            </a:r>
            <a:r>
              <a:rPr lang="en-US" dirty="0"/>
              <a:t> Data Race</a:t>
            </a:r>
          </a:p>
          <a:p>
            <a:pPr lvl="1"/>
            <a:r>
              <a:rPr lang="en-US" dirty="0"/>
              <a:t>Race condition – </a:t>
            </a:r>
            <a:r>
              <a:rPr lang="ru-RU" dirty="0"/>
              <a:t>зависимость результата от порядка</a:t>
            </a:r>
          </a:p>
          <a:p>
            <a:pPr lvl="1"/>
            <a:r>
              <a:rPr lang="en-US" dirty="0" err="1"/>
              <a:t>DataRace</a:t>
            </a:r>
            <a:r>
              <a:rPr lang="en-US" dirty="0"/>
              <a:t> – </a:t>
            </a:r>
            <a:r>
              <a:rPr lang="ru-RU" dirty="0"/>
              <a:t>формальный термин в </a:t>
            </a:r>
            <a:r>
              <a:rPr lang="en-US" dirty="0"/>
              <a:t>C++ </a:t>
            </a:r>
            <a:r>
              <a:rPr lang="ru-RU" dirty="0"/>
              <a:t>(конфликтующие доступы без синхронизации - </a:t>
            </a:r>
            <a:r>
              <a:rPr lang="en-US" dirty="0"/>
              <a:t>UB</a:t>
            </a:r>
          </a:p>
        </p:txBody>
      </p:sp>
    </p:spTree>
    <p:extLst>
      <p:ext uri="{BB962C8B-B14F-4D97-AF65-F5344CB8AC3E}">
        <p14:creationId xmlns:p14="http://schemas.microsoft.com/office/powerpoint/2010/main" val="1161393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7F3A50-433F-C03E-9B91-F9A62BAD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Гонка данных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160C74-9ADD-D5F2-02D3-2E663D6D0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9F547-93B9-ED85-C957-33C84718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</a:t>
            </a:r>
            <a:r>
              <a:rPr lang="en-US" dirty="0"/>
              <a:t> </a:t>
            </a:r>
            <a:r>
              <a:rPr lang="ru-RU" dirty="0"/>
              <a:t>исполнения </a:t>
            </a:r>
            <a:r>
              <a:rPr lang="en-US" dirty="0"/>
              <a:t>(Thread of execution)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D36C1-7E6F-81F7-826F-B8379F330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Поток исполнения (</a:t>
            </a:r>
            <a:r>
              <a:rPr lang="ru-RU" b="1" dirty="0" err="1"/>
              <a:t>Thread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execution</a:t>
            </a:r>
            <a:r>
              <a:rPr lang="ru-RU" b="1" dirty="0"/>
              <a:t>)</a:t>
            </a:r>
          </a:p>
          <a:p>
            <a:pPr lvl="1"/>
            <a:r>
              <a:rPr lang="ru-RU" dirty="0"/>
              <a:t>Независимый поток управления внутри процесса</a:t>
            </a:r>
          </a:p>
          <a:p>
            <a:pPr lvl="1"/>
            <a:r>
              <a:rPr lang="ru-RU" dirty="0"/>
              <a:t>Начинается с </a:t>
            </a:r>
            <a:r>
              <a:rPr lang="ru-RU" dirty="0" err="1"/>
              <a:t>верхнеуровневой</a:t>
            </a:r>
            <a:r>
              <a:rPr lang="ru-RU" dirty="0"/>
              <a:t> функции потока</a:t>
            </a:r>
          </a:p>
          <a:p>
            <a:pPr lvl="1"/>
            <a:r>
              <a:rPr lang="ru-RU" dirty="0"/>
              <a:t>Создаётся с помощью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thread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jthread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async</a:t>
            </a:r>
            <a:r>
              <a:rPr lang="ru-RU" dirty="0"/>
              <a:t> и др.</a:t>
            </a:r>
          </a:p>
          <a:p>
            <a:r>
              <a:rPr lang="ru-RU" b="1" dirty="0"/>
              <a:t>Важно:</a:t>
            </a:r>
            <a:endParaRPr lang="ru-RU" dirty="0"/>
          </a:p>
          <a:p>
            <a:pPr lvl="1"/>
            <a:r>
              <a:rPr lang="ru-RU" dirty="0"/>
              <a:t>Потоки разделяют адресное пространство процесса</a:t>
            </a:r>
          </a:p>
          <a:p>
            <a:pPr lvl="1"/>
            <a:r>
              <a:rPr lang="ru-RU" dirty="0"/>
              <a:t>Любой поток может обращаться к общим объектам</a:t>
            </a:r>
          </a:p>
          <a:p>
            <a:pPr lvl="1"/>
            <a:r>
              <a:rPr lang="ru-RU" dirty="0"/>
              <a:t>Корректность доступа требует синхронизации</a:t>
            </a:r>
          </a:p>
          <a:p>
            <a:r>
              <a:rPr lang="ru-RU" b="1" dirty="0"/>
              <a:t>Дополнительно:</a:t>
            </a:r>
            <a:endParaRPr lang="ru-RU" dirty="0"/>
          </a:p>
          <a:p>
            <a:pPr lvl="1"/>
            <a:r>
              <a:rPr lang="ru-RU" dirty="0"/>
              <a:t>Обработчики сигналов ОС выполняются в одном из потоков</a:t>
            </a:r>
          </a:p>
          <a:p>
            <a:pPr lvl="1"/>
            <a:r>
              <a:rPr lang="ru-RU" dirty="0"/>
              <a:t>Не гарантируется, в каком именно потоке будет вызван обработчик сигнала (если </a:t>
            </a:r>
            <a:r>
              <a:rPr lang="ru-RU" dirty="0" err="1"/>
              <a:t>вызыван</a:t>
            </a:r>
            <a:r>
              <a:rPr lang="ru-RU" dirty="0"/>
              <a:t> не через </a:t>
            </a:r>
            <a:r>
              <a:rPr lang="en-US" dirty="0">
                <a:hlinkClick r:id="rId3"/>
              </a:rPr>
              <a:t>std::raise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22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34389C-6935-4F05-A3B4-5E48827DB8E8}"/>
              </a:ext>
            </a:extLst>
          </p:cNvPr>
          <p:cNvSpPr txBox="1"/>
          <p:nvPr/>
        </p:nvSpPr>
        <p:spPr>
          <a:xfrm>
            <a:off x="838199" y="1779687"/>
            <a:ext cx="699238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++(*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Переменная на стеке главного потока</a:t>
            </a:r>
            <a:endParaRPr lang="en-US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Now n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Now n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DAD3FCB-02C5-FA69-302C-984E509A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автоматическим переменным другого потока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3A53A-D904-6040-4CEB-60B20CE83A9B}"/>
              </a:ext>
            </a:extLst>
          </p:cNvPr>
          <p:cNvSpPr txBox="1"/>
          <p:nvPr/>
        </p:nvSpPr>
        <p:spPr>
          <a:xfrm>
            <a:off x="7340252" y="1779687"/>
            <a:ext cx="2326709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 = 0</a:t>
            </a:r>
          </a:p>
          <a:p>
            <a:r>
              <a:rPr lang="en-US" dirty="0">
                <a:latin typeface="Consolas" panose="020B0609020204030204" pitchFamily="49" charset="0"/>
              </a:rPr>
              <a:t>Now n = 1</a:t>
            </a:r>
          </a:p>
          <a:p>
            <a:r>
              <a:rPr lang="en-US" dirty="0">
                <a:latin typeface="Consolas" panose="020B0609020204030204" pitchFamily="49" charset="0"/>
              </a:rPr>
              <a:t>Now n =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E7D1B4-2F69-2C85-CA21-6AA3C491A624}"/>
              </a:ext>
            </a:extLst>
          </p:cNvPr>
          <p:cNvSpPr txBox="1"/>
          <p:nvPr/>
        </p:nvSpPr>
        <p:spPr>
          <a:xfrm>
            <a:off x="7340252" y="6308209"/>
            <a:ext cx="3682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https://godbolt.org/z/nb8eaGnzh</a:t>
            </a:r>
            <a:r>
              <a:rPr lang="en-US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495D56-069B-ADB1-8C7C-91F3664DA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706" y="3275759"/>
            <a:ext cx="2695951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2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FF12-E691-4299-4AA0-B1BD6B4B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данным из разных потоков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25AA-E600-4CE8-F3B0-E3BBC6849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Доступ к данным из разных потоков</a:t>
            </a:r>
          </a:p>
          <a:p>
            <a:pPr lvl="1"/>
            <a:r>
              <a:rPr lang="ru-RU" dirty="0"/>
              <a:t>Синхронизация </a:t>
            </a:r>
            <a:r>
              <a:rPr lang="ru-RU" b="1" dirty="0"/>
              <a:t>не требуется</a:t>
            </a:r>
            <a:r>
              <a:rPr lang="ru-RU" dirty="0"/>
              <a:t>, если:</a:t>
            </a:r>
          </a:p>
          <a:p>
            <a:pPr lvl="1"/>
            <a:r>
              <a:rPr lang="ru-RU" dirty="0"/>
              <a:t>Потоки работают с </a:t>
            </a:r>
            <a:r>
              <a:rPr lang="ru-RU" b="1" dirty="0"/>
              <a:t>разными объектами</a:t>
            </a:r>
            <a:endParaRPr lang="ru-RU" dirty="0"/>
          </a:p>
          <a:p>
            <a:pPr lvl="1"/>
            <a:r>
              <a:rPr lang="ru-RU" dirty="0"/>
              <a:t>Области памяти </a:t>
            </a:r>
            <a:r>
              <a:rPr lang="ru-RU" b="1" dirty="0"/>
              <a:t>не пересекаются</a:t>
            </a:r>
            <a:endParaRPr lang="ru-RU" dirty="0"/>
          </a:p>
          <a:p>
            <a:pPr lvl="1"/>
            <a:r>
              <a:rPr lang="ru-RU" dirty="0"/>
              <a:t>Нет совместного доступа к одной и той же переменной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Разные экземпляры одного класса</a:t>
            </a:r>
          </a:p>
          <a:p>
            <a:pPr lvl="1"/>
            <a:r>
              <a:rPr lang="ru-RU" dirty="0"/>
              <a:t>Разные элементы массива</a:t>
            </a:r>
          </a:p>
          <a:p>
            <a:pPr lvl="1"/>
            <a:r>
              <a:rPr lang="ru-RU" dirty="0"/>
              <a:t>Независимые локальные переменные потоков</a:t>
            </a:r>
          </a:p>
        </p:txBody>
      </p:sp>
    </p:spTree>
    <p:extLst>
      <p:ext uri="{BB962C8B-B14F-4D97-AF65-F5344CB8AC3E}">
        <p14:creationId xmlns:p14="http://schemas.microsoft.com/office/powerpoint/2010/main" val="132322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4161C7-A81A-D48B-9E90-62D7F59B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Разные потоки работают с разными данными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64253-315D-3B89-E9BF-0BB4ED4E85B6}"/>
              </a:ext>
            </a:extLst>
          </p:cNvPr>
          <p:cNvSpPr txBox="1"/>
          <p:nvPr/>
        </p:nvSpPr>
        <p:spPr>
          <a:xfrm>
            <a:off x="838200" y="2091521"/>
            <a:ext cx="83026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please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 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 };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 b +=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 };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thanks!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9614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6C1B-7FF2-2516-FA2B-DD27146E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Конфликты при вычислении выражений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E406-E7B2-7AF5-45F7-C887D4731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Два вычисления </a:t>
            </a:r>
            <a:r>
              <a:rPr lang="ru-RU" b="1" dirty="0"/>
              <a:t>конфликтуют</a:t>
            </a:r>
            <a:r>
              <a:rPr lang="ru-RU" dirty="0"/>
              <a:t>, если они обращаются</a:t>
            </a:r>
            <a:br>
              <a:rPr lang="ru-RU" dirty="0"/>
            </a:br>
            <a:r>
              <a:rPr lang="ru-RU" dirty="0"/>
              <a:t>к </a:t>
            </a:r>
            <a:r>
              <a:rPr lang="ru-RU" b="1" dirty="0"/>
              <a:t>одной и той же области памяти</a:t>
            </a:r>
            <a:r>
              <a:rPr lang="ru-RU" dirty="0"/>
              <a:t>, и при этом:</a:t>
            </a:r>
          </a:p>
          <a:p>
            <a:pPr lvl="1"/>
            <a:r>
              <a:rPr lang="ru-RU" dirty="0"/>
              <a:t>хотя бы одно выполняет </a:t>
            </a:r>
            <a:r>
              <a:rPr lang="ru-RU" b="1" dirty="0"/>
              <a:t>запись</a:t>
            </a:r>
            <a:r>
              <a:rPr lang="ru-RU" dirty="0"/>
              <a:t>, или</a:t>
            </a:r>
          </a:p>
          <a:p>
            <a:pPr lvl="1"/>
            <a:r>
              <a:rPr lang="ru-RU" dirty="0"/>
              <a:t>хотя бы одно </a:t>
            </a:r>
            <a:r>
              <a:rPr lang="ru-RU" b="1" dirty="0"/>
              <a:t>создаёт или уничтожает объект</a:t>
            </a:r>
            <a:endParaRPr lang="ru-RU" dirty="0"/>
          </a:p>
          <a:p>
            <a:r>
              <a:rPr lang="ru-RU" dirty="0"/>
              <a:t>Проще:</a:t>
            </a:r>
          </a:p>
          <a:p>
            <a:pPr lvl="1"/>
            <a:r>
              <a:rPr lang="ru-RU" dirty="0"/>
              <a:t>чтение + чтение → не конфликт</a:t>
            </a:r>
          </a:p>
          <a:p>
            <a:pPr lvl="1"/>
            <a:r>
              <a:rPr lang="ru-RU" dirty="0"/>
              <a:t>чтение + запись → конфликт</a:t>
            </a:r>
          </a:p>
          <a:p>
            <a:pPr lvl="1"/>
            <a:r>
              <a:rPr lang="ru-RU" dirty="0"/>
              <a:t>запись + запись → конфликт</a:t>
            </a:r>
          </a:p>
          <a:p>
            <a:pPr lvl="1"/>
            <a:r>
              <a:rPr lang="ru-RU" dirty="0"/>
              <a:t>изменение времени жизни объекта → конфликт</a:t>
            </a:r>
          </a:p>
        </p:txBody>
      </p:sp>
    </p:spTree>
    <p:extLst>
      <p:ext uri="{BB962C8B-B14F-4D97-AF65-F5344CB8AC3E}">
        <p14:creationId xmlns:p14="http://schemas.microsoft.com/office/powerpoint/2010/main" val="840618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A07AD0-A3EA-ECFD-BBA4-45871EDE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Найдите здесь конфликты при вычислении выражений над переменными </a:t>
            </a:r>
            <a:r>
              <a:rPr lang="en-US" dirty="0"/>
              <a:t>a </a:t>
            </a:r>
            <a:r>
              <a:rPr lang="ru-RU" dirty="0"/>
              <a:t>и </a:t>
            </a:r>
            <a:r>
              <a:rPr lang="en-US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68875-2D9A-CAC9-AAEE-1332A5C01028}"/>
              </a:ext>
            </a:extLst>
          </p:cNvPr>
          <p:cNvSpPr txBox="1"/>
          <p:nvPr/>
        </p:nvSpPr>
        <p:spPr>
          <a:xfrm>
            <a:off x="838201" y="2066469"/>
            <a:ext cx="105155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incrementA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Запись в переменную `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a`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incrementA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Запись в переменную `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a`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переменной `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a`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Два чтения из переменной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75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A7FE-867B-2BCD-55BB-C5239969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Гонка данных (</a:t>
            </a:r>
            <a:r>
              <a:rPr lang="en-US" dirty="0"/>
              <a:t>data race)</a:t>
            </a:r>
            <a:r>
              <a:rPr lang="ru-RU" dirty="0"/>
              <a:t> в </a:t>
            </a:r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8CAC6-B7E6-C494-27FF-D2655B689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Гонка данных возникает, если:</a:t>
            </a:r>
          </a:p>
          <a:p>
            <a:pPr lvl="1"/>
            <a:r>
              <a:rPr lang="ru-RU" dirty="0"/>
              <a:t>Есть </a:t>
            </a:r>
            <a:r>
              <a:rPr lang="ru-RU" b="1" dirty="0"/>
              <a:t>конфликтующие вычисления</a:t>
            </a:r>
            <a:endParaRPr lang="ru-RU" dirty="0"/>
          </a:p>
          <a:p>
            <a:pPr lvl="1"/>
            <a:r>
              <a:rPr lang="ru-RU" dirty="0"/>
              <a:t>Они выполняются в </a:t>
            </a:r>
            <a:r>
              <a:rPr lang="ru-RU" b="1" dirty="0"/>
              <a:t>разных потоках</a:t>
            </a:r>
            <a:endParaRPr lang="ru-RU" dirty="0"/>
          </a:p>
          <a:p>
            <a:pPr lvl="1"/>
            <a:r>
              <a:rPr lang="ru-RU" dirty="0"/>
              <a:t>Между ними </a:t>
            </a:r>
            <a:r>
              <a:rPr lang="ru-RU" b="1" dirty="0"/>
              <a:t>нет отношения </a:t>
            </a:r>
            <a:r>
              <a:rPr lang="ru-RU" b="1" dirty="0" err="1"/>
              <a:t>happens-before</a:t>
            </a:r>
            <a:endParaRPr lang="ru-RU" dirty="0"/>
          </a:p>
          <a:p>
            <a:pPr lvl="1"/>
            <a:r>
              <a:rPr lang="ru-RU" dirty="0"/>
              <a:t>И они не являются </a:t>
            </a:r>
            <a:r>
              <a:rPr lang="ru-RU" b="1" dirty="0"/>
              <a:t>атомарными</a:t>
            </a:r>
            <a:endParaRPr lang="ru-RU" dirty="0"/>
          </a:p>
          <a:p>
            <a:r>
              <a:rPr lang="ru-RU" dirty="0"/>
              <a:t>Результат: </a:t>
            </a:r>
            <a:r>
              <a:rPr lang="ru-RU" b="1" dirty="0" err="1"/>
              <a:t>неопределеное</a:t>
            </a:r>
            <a:r>
              <a:rPr lang="ru-RU" b="1" dirty="0"/>
              <a:t> поведение (</a:t>
            </a:r>
            <a:r>
              <a:rPr lang="ru-RU" b="1" dirty="0" err="1"/>
              <a:t>Undefined</a:t>
            </a:r>
            <a:r>
              <a:rPr lang="ru-RU" b="1" dirty="0"/>
              <a:t> </a:t>
            </a:r>
            <a:r>
              <a:rPr lang="ru-RU" b="1" dirty="0" err="1"/>
              <a:t>Behavior</a:t>
            </a:r>
            <a:r>
              <a:rPr lang="ru-RU" b="1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024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86C444-7D8A-ECF9-6BF4-375BE337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Гонка данных при доступе к общей переменной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78265-D4CB-14AD-D38A-B27F664C7019}"/>
              </a:ext>
            </a:extLst>
          </p:cNvPr>
          <p:cNvSpPr txBox="1"/>
          <p:nvPr/>
        </p:nvSpPr>
        <p:spPr>
          <a:xfrm>
            <a:off x="838200" y="1690689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--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080AD-D6BD-7EFB-90AF-E31087684AB7}"/>
              </a:ext>
            </a:extLst>
          </p:cNvPr>
          <p:cNvSpPr txBox="1"/>
          <p:nvPr/>
        </p:nvSpPr>
        <p:spPr>
          <a:xfrm>
            <a:off x="7105388" y="6308209"/>
            <a:ext cx="3942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https://godbolt.org/z/58xzee4c7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E8847A-831C-B289-E245-23022740A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88" y="1543420"/>
            <a:ext cx="2705478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9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8CEE-03E8-35C7-0ECA-4642D58D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потоков программы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73388-B3E8-1778-663B-39F44B3B43D6}"/>
              </a:ext>
            </a:extLst>
          </p:cNvPr>
          <p:cNvSpPr txBox="1"/>
          <p:nvPr/>
        </p:nvSpPr>
        <p:spPr>
          <a:xfrm>
            <a:off x="838200" y="2040680"/>
            <a:ext cx="5512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++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76E81-BE04-ABE0-9C9C-7EADAE82F9A9}"/>
              </a:ext>
            </a:extLst>
          </p:cNvPr>
          <p:cNvSpPr txBox="1"/>
          <p:nvPr/>
        </p:nvSpPr>
        <p:spPr>
          <a:xfrm>
            <a:off x="6092867" y="2040680"/>
            <a:ext cx="5260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};</a:t>
            </a:r>
          </a:p>
        </p:txBody>
      </p:sp>
      <p:sp>
        <p:nvSpPr>
          <p:cNvPr id="7" name="T1-Read">
            <a:extLst>
              <a:ext uri="{FF2B5EF4-FFF2-40B4-BE49-F238E27FC236}">
                <a16:creationId xmlns:a16="http://schemas.microsoft.com/office/drawing/2014/main" id="{6F0043AF-4DE5-E33B-343D-1EFAD0229BD6}"/>
              </a:ext>
            </a:extLst>
          </p:cNvPr>
          <p:cNvSpPr/>
          <p:nvPr/>
        </p:nvSpPr>
        <p:spPr>
          <a:xfrm>
            <a:off x="838200" y="3439805"/>
            <a:ext cx="3870542" cy="43841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Прочитать значение из памяти</a:t>
            </a:r>
            <a:endParaRPr lang="en-US" dirty="0"/>
          </a:p>
        </p:txBody>
      </p:sp>
      <p:sp>
        <p:nvSpPr>
          <p:cNvPr id="8" name="T1-Inc">
            <a:extLst>
              <a:ext uri="{FF2B5EF4-FFF2-40B4-BE49-F238E27FC236}">
                <a16:creationId xmlns:a16="http://schemas.microsoft.com/office/drawing/2014/main" id="{2B8D8F7D-CF6A-7A6A-FCB1-9ADF8D73641F}"/>
              </a:ext>
            </a:extLst>
          </p:cNvPr>
          <p:cNvSpPr/>
          <p:nvPr/>
        </p:nvSpPr>
        <p:spPr>
          <a:xfrm>
            <a:off x="838200" y="3878216"/>
            <a:ext cx="3870542" cy="43841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Увеличить значение</a:t>
            </a:r>
            <a:endParaRPr lang="en-US" dirty="0"/>
          </a:p>
        </p:txBody>
      </p:sp>
      <p:sp>
        <p:nvSpPr>
          <p:cNvPr id="9" name="T1-Write">
            <a:extLst>
              <a:ext uri="{FF2B5EF4-FFF2-40B4-BE49-F238E27FC236}">
                <a16:creationId xmlns:a16="http://schemas.microsoft.com/office/drawing/2014/main" id="{C0FC8E52-C745-FDF3-1922-022CB05C6D20}"/>
              </a:ext>
            </a:extLst>
          </p:cNvPr>
          <p:cNvSpPr/>
          <p:nvPr/>
        </p:nvSpPr>
        <p:spPr>
          <a:xfrm>
            <a:off x="838200" y="4311775"/>
            <a:ext cx="3870542" cy="43841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Записать значение в память</a:t>
            </a:r>
            <a:endParaRPr lang="en-US" dirty="0"/>
          </a:p>
        </p:txBody>
      </p:sp>
      <p:sp>
        <p:nvSpPr>
          <p:cNvPr id="10" name="T2-Read">
            <a:extLst>
              <a:ext uri="{FF2B5EF4-FFF2-40B4-BE49-F238E27FC236}">
                <a16:creationId xmlns:a16="http://schemas.microsoft.com/office/drawing/2014/main" id="{DFAF1B3C-5CFC-64A4-EBAF-1B3C6921F4F0}"/>
              </a:ext>
            </a:extLst>
          </p:cNvPr>
          <p:cNvSpPr/>
          <p:nvPr/>
        </p:nvSpPr>
        <p:spPr>
          <a:xfrm>
            <a:off x="6096000" y="3439805"/>
            <a:ext cx="3870542" cy="43841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Прочитать значение из памяти</a:t>
            </a:r>
            <a:endParaRPr lang="en-US" dirty="0"/>
          </a:p>
        </p:txBody>
      </p:sp>
      <p:sp>
        <p:nvSpPr>
          <p:cNvPr id="11" name="T2-Dec">
            <a:extLst>
              <a:ext uri="{FF2B5EF4-FFF2-40B4-BE49-F238E27FC236}">
                <a16:creationId xmlns:a16="http://schemas.microsoft.com/office/drawing/2014/main" id="{885238C4-68D0-6A41-BC57-8455BE6BFF53}"/>
              </a:ext>
            </a:extLst>
          </p:cNvPr>
          <p:cNvSpPr/>
          <p:nvPr/>
        </p:nvSpPr>
        <p:spPr>
          <a:xfrm>
            <a:off x="6096000" y="3887611"/>
            <a:ext cx="3870542" cy="43841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Уменьшить значение</a:t>
            </a:r>
            <a:endParaRPr lang="en-US" dirty="0"/>
          </a:p>
        </p:txBody>
      </p:sp>
      <p:sp>
        <p:nvSpPr>
          <p:cNvPr id="12" name="T2-Write">
            <a:extLst>
              <a:ext uri="{FF2B5EF4-FFF2-40B4-BE49-F238E27FC236}">
                <a16:creationId xmlns:a16="http://schemas.microsoft.com/office/drawing/2014/main" id="{289042B3-938D-DE68-4059-3B9F830D85E9}"/>
              </a:ext>
            </a:extLst>
          </p:cNvPr>
          <p:cNvSpPr/>
          <p:nvPr/>
        </p:nvSpPr>
        <p:spPr>
          <a:xfrm>
            <a:off x="6096000" y="4326022"/>
            <a:ext cx="3870542" cy="43841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Записать значение в память</a:t>
            </a:r>
            <a:endParaRPr lang="en-US" dirty="0"/>
          </a:p>
        </p:txBody>
      </p:sp>
      <p:sp>
        <p:nvSpPr>
          <p:cNvPr id="13" name="Counter-0">
            <a:extLst>
              <a:ext uri="{FF2B5EF4-FFF2-40B4-BE49-F238E27FC236}">
                <a16:creationId xmlns:a16="http://schemas.microsoft.com/office/drawing/2014/main" id="{DCDEF0CD-4C69-3B2A-69C5-8B75D0AED7B1}"/>
              </a:ext>
            </a:extLst>
          </p:cNvPr>
          <p:cNvSpPr/>
          <p:nvPr/>
        </p:nvSpPr>
        <p:spPr>
          <a:xfrm>
            <a:off x="5065211" y="6000850"/>
            <a:ext cx="1029222" cy="7070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4" name="Counter-1">
            <a:extLst>
              <a:ext uri="{FF2B5EF4-FFF2-40B4-BE49-F238E27FC236}">
                <a16:creationId xmlns:a16="http://schemas.microsoft.com/office/drawing/2014/main" id="{0E4B7D96-6FFC-C28D-3556-07F5BF17E577}"/>
              </a:ext>
            </a:extLst>
          </p:cNvPr>
          <p:cNvSpPr/>
          <p:nvPr/>
        </p:nvSpPr>
        <p:spPr>
          <a:xfrm>
            <a:off x="5065211" y="6000850"/>
            <a:ext cx="1029222" cy="7070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Counter-minus1">
            <a:extLst>
              <a:ext uri="{FF2B5EF4-FFF2-40B4-BE49-F238E27FC236}">
                <a16:creationId xmlns:a16="http://schemas.microsoft.com/office/drawing/2014/main" id="{16B632A0-3442-E422-681C-54D57C1E72F3}"/>
              </a:ext>
            </a:extLst>
          </p:cNvPr>
          <p:cNvSpPr/>
          <p:nvPr/>
        </p:nvSpPr>
        <p:spPr>
          <a:xfrm>
            <a:off x="5065211" y="6000850"/>
            <a:ext cx="1029222" cy="7070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11055-1D59-4E12-4E5C-883EDFDE3161}"/>
              </a:ext>
            </a:extLst>
          </p:cNvPr>
          <p:cNvSpPr txBox="1"/>
          <p:nvPr/>
        </p:nvSpPr>
        <p:spPr>
          <a:xfrm>
            <a:off x="3732756" y="6169719"/>
            <a:ext cx="1397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Counter:</a:t>
            </a:r>
          </a:p>
        </p:txBody>
      </p:sp>
      <p:sp>
        <p:nvSpPr>
          <p:cNvPr id="17" name="T1-Val-0">
            <a:extLst>
              <a:ext uri="{FF2B5EF4-FFF2-40B4-BE49-F238E27FC236}">
                <a16:creationId xmlns:a16="http://schemas.microsoft.com/office/drawing/2014/main" id="{B4F3B3B1-59FF-907D-9BB2-F0FAC3637258}"/>
              </a:ext>
            </a:extLst>
          </p:cNvPr>
          <p:cNvSpPr/>
          <p:nvPr/>
        </p:nvSpPr>
        <p:spPr>
          <a:xfrm>
            <a:off x="4708742" y="3439805"/>
            <a:ext cx="589768" cy="438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9" name="T1-Val-1">
            <a:extLst>
              <a:ext uri="{FF2B5EF4-FFF2-40B4-BE49-F238E27FC236}">
                <a16:creationId xmlns:a16="http://schemas.microsoft.com/office/drawing/2014/main" id="{A1C99E8B-80D5-9DFD-4CCD-FD8E7BF6442E}"/>
              </a:ext>
            </a:extLst>
          </p:cNvPr>
          <p:cNvSpPr/>
          <p:nvPr/>
        </p:nvSpPr>
        <p:spPr>
          <a:xfrm>
            <a:off x="4708742" y="3878216"/>
            <a:ext cx="589768" cy="438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T2-Val-0">
            <a:extLst>
              <a:ext uri="{FF2B5EF4-FFF2-40B4-BE49-F238E27FC236}">
                <a16:creationId xmlns:a16="http://schemas.microsoft.com/office/drawing/2014/main" id="{4454F22E-E737-E391-5CBD-C073DFBB0148}"/>
              </a:ext>
            </a:extLst>
          </p:cNvPr>
          <p:cNvSpPr/>
          <p:nvPr/>
        </p:nvSpPr>
        <p:spPr>
          <a:xfrm>
            <a:off x="9975415" y="3438568"/>
            <a:ext cx="589768" cy="438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1" name="T2-Val-minus1">
            <a:extLst>
              <a:ext uri="{FF2B5EF4-FFF2-40B4-BE49-F238E27FC236}">
                <a16:creationId xmlns:a16="http://schemas.microsoft.com/office/drawing/2014/main" id="{D3B2B30F-C703-158E-D08D-5AD7C5973FE0}"/>
              </a:ext>
            </a:extLst>
          </p:cNvPr>
          <p:cNvSpPr/>
          <p:nvPr/>
        </p:nvSpPr>
        <p:spPr>
          <a:xfrm>
            <a:off x="9975415" y="3887611"/>
            <a:ext cx="589768" cy="438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18562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8D55-C5F6-8815-3538-45783A97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Быть может, спасёт </a:t>
            </a:r>
            <a:r>
              <a:rPr lang="en-US" dirty="0"/>
              <a:t>volatile?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6302A-0D68-2198-7D2D-ED7AA9F99390}"/>
              </a:ext>
            </a:extLst>
          </p:cNvPr>
          <p:cNvSpPr txBox="1"/>
          <p:nvPr/>
        </p:nvSpPr>
        <p:spPr>
          <a:xfrm>
            <a:off x="838200" y="1690689"/>
            <a:ext cx="11049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адеемся на чудо, делая переменную волатильной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counter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counter -=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counter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C2EB0-47E8-CDED-83A4-B838C3D0C752}"/>
              </a:ext>
            </a:extLst>
          </p:cNvPr>
          <p:cNvSpPr txBox="1"/>
          <p:nvPr/>
        </p:nvSpPr>
        <p:spPr>
          <a:xfrm>
            <a:off x="7055285" y="6308209"/>
            <a:ext cx="3366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https://godbolt.org/z/Y5zjohr81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D3E748-BA09-2B3F-45FA-57B713593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354" y="2490412"/>
            <a:ext cx="2657846" cy="26768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5C6C23-DBE7-64C2-19BB-A072E8572150}"/>
              </a:ext>
            </a:extLst>
          </p:cNvPr>
          <p:cNvSpPr/>
          <p:nvPr/>
        </p:nvSpPr>
        <p:spPr>
          <a:xfrm>
            <a:off x="3453008" y="4854161"/>
            <a:ext cx="5602787" cy="12585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Ключевое слово </a:t>
            </a:r>
            <a:r>
              <a:rPr lang="en-US" dirty="0"/>
              <a:t>volatile </a:t>
            </a:r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никогда не предназначалось для решения проблем многопоточного выполнения.</a:t>
            </a:r>
          </a:p>
          <a:p>
            <a:pPr algn="ctr"/>
            <a:r>
              <a:rPr lang="ru-RU" dirty="0"/>
              <a:t>Не используйте его для этих целей.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6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7CA154-5916-C5A7-51ED-F50FB47B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Отношение </a:t>
            </a:r>
            <a:r>
              <a:rPr lang="en-US" dirty="0"/>
              <a:t>Happens-before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3145F-2F4E-1933-8080-DA9424B73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04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8FC8-A8B2-24E2-B64F-1355C993C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Отношение </a:t>
            </a:r>
            <a:r>
              <a:rPr lang="en-US" dirty="0"/>
              <a:t>Happens-before (</a:t>
            </a:r>
            <a:r>
              <a:rPr lang="ru-RU" dirty="0"/>
              <a:t>«происходит до»)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89E5-65E5-CF14-8FAE-6A20A90B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Happens-before — </a:t>
            </a:r>
            <a:r>
              <a:rPr lang="ru-RU" b="1" dirty="0"/>
              <a:t>это гарантия порядка и видимости.</a:t>
            </a:r>
            <a:endParaRPr lang="ru-RU" dirty="0"/>
          </a:p>
          <a:p>
            <a:r>
              <a:rPr lang="ru-RU" dirty="0"/>
              <a:t>Если </a:t>
            </a:r>
            <a:r>
              <a:rPr lang="en-US" dirty="0"/>
              <a:t>A happens-before B, </a:t>
            </a:r>
            <a:r>
              <a:rPr lang="ru-RU" dirty="0"/>
              <a:t>то:</a:t>
            </a:r>
          </a:p>
          <a:p>
            <a:pPr lvl="1"/>
            <a:r>
              <a:rPr lang="en-US" dirty="0"/>
              <a:t>A </a:t>
            </a:r>
            <a:r>
              <a:rPr lang="ru-RU" dirty="0"/>
              <a:t>завершится раньше </a:t>
            </a:r>
            <a:r>
              <a:rPr lang="en-US" dirty="0"/>
              <a:t>B</a:t>
            </a:r>
          </a:p>
          <a:p>
            <a:pPr lvl="1"/>
            <a:r>
              <a:rPr lang="ru-RU" dirty="0"/>
              <a:t>Все эффекты </a:t>
            </a:r>
            <a:r>
              <a:rPr lang="en-US" dirty="0"/>
              <a:t>A </a:t>
            </a:r>
            <a:r>
              <a:rPr lang="ru-RU" dirty="0"/>
              <a:t>будут видны в </a:t>
            </a:r>
            <a:r>
              <a:rPr lang="en-US" dirty="0"/>
              <a:t>B</a:t>
            </a:r>
          </a:p>
          <a:p>
            <a:r>
              <a:rPr lang="en-US" dirty="0"/>
              <a:t>Happens-before </a:t>
            </a:r>
            <a:r>
              <a:rPr lang="ru-RU" dirty="0"/>
              <a:t>возникает, если:</a:t>
            </a:r>
          </a:p>
          <a:p>
            <a:pPr lvl="1"/>
            <a:r>
              <a:rPr lang="en-US" dirty="0"/>
              <a:t>A </a:t>
            </a:r>
            <a:r>
              <a:rPr lang="ru-RU" dirty="0"/>
              <a:t>упорядочено перед </a:t>
            </a:r>
            <a:r>
              <a:rPr lang="en-US" dirty="0"/>
              <a:t>B </a:t>
            </a:r>
            <a:r>
              <a:rPr lang="ru-RU" dirty="0"/>
              <a:t>в одном потоке (</a:t>
            </a:r>
            <a:r>
              <a:rPr lang="en-US" i="1" dirty="0"/>
              <a:t>sequenced-before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</a:t>
            </a:r>
            <a:r>
              <a:rPr lang="ru-RU" dirty="0"/>
              <a:t>синхронизируется с </a:t>
            </a:r>
            <a:r>
              <a:rPr lang="en-US" dirty="0"/>
              <a:t>B </a:t>
            </a:r>
            <a:r>
              <a:rPr lang="ru-RU" dirty="0"/>
              <a:t>между потоками (</a:t>
            </a:r>
            <a:r>
              <a:rPr lang="en-US" i="1" dirty="0"/>
              <a:t>synchronizes-with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Отношение следует транзитивно через другие 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3371574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BFFB-1755-54DE-DE04-134F7247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Отношение </a:t>
            </a:r>
            <a:r>
              <a:rPr lang="en-US" dirty="0"/>
              <a:t>sequenced-before</a:t>
            </a:r>
            <a:r>
              <a:rPr lang="ru-RU" dirty="0"/>
              <a:t> (упорядочено перед)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36D8-9CDB-7EAB-0CB6-40D5936F7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Это отношение определяет, что одна операция </a:t>
            </a:r>
            <a:r>
              <a:rPr lang="ru-RU" b="1" dirty="0"/>
              <a:t>гарантированно выполняется перед другой</a:t>
            </a:r>
            <a:r>
              <a:rPr lang="ru-RU" dirty="0"/>
              <a:t> в пределах </a:t>
            </a:r>
            <a:r>
              <a:rPr lang="ru-RU" b="1" dirty="0"/>
              <a:t>одного потока</a:t>
            </a:r>
          </a:p>
          <a:p>
            <a:pPr lvl="1"/>
            <a:r>
              <a:rPr lang="ru-RU" dirty="0"/>
              <a:t>Это означает, что в программе не может быть ситуации когда вторая операция выполнится раньше первой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/>
              <a:t>Вычисление аргументов функции упорядочено до вызова самой функции</a:t>
            </a:r>
          </a:p>
          <a:p>
            <a:pPr lvl="1"/>
            <a:r>
              <a:rPr lang="ru-RU" dirty="0"/>
              <a:t>Вычисление значения и побочные эффекты полного выражения упорядочены до вычисления значения и побочных эффектов следующего полного выражения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226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6D5F-40FE-BB8D-6160-0E91995B5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Отношение </a:t>
            </a:r>
            <a:r>
              <a:rPr lang="en-US" dirty="0"/>
              <a:t>sequenced-before (</a:t>
            </a:r>
            <a:r>
              <a:rPr lang="ru-RU" dirty="0"/>
              <a:t>Упорядочено перед)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96CA27-A4B5-E273-69E4-D8919763BE91}"/>
              </a:ext>
            </a:extLst>
          </p:cNvPr>
          <p:cNvCxnSpPr/>
          <p:nvPr/>
        </p:nvCxnSpPr>
        <p:spPr>
          <a:xfrm>
            <a:off x="1991638" y="2605414"/>
            <a:ext cx="70772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36929E0-5F6A-9ED0-7493-D04C3A1E5165}"/>
              </a:ext>
            </a:extLst>
          </p:cNvPr>
          <p:cNvSpPr txBox="1"/>
          <p:nvPr/>
        </p:nvSpPr>
        <p:spPr>
          <a:xfrm>
            <a:off x="9331890" y="2389247"/>
            <a:ext cx="241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 </a:t>
            </a:r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492812-0782-F12F-F9AD-094137B7C4A6}"/>
              </a:ext>
            </a:extLst>
          </p:cNvPr>
          <p:cNvSpPr/>
          <p:nvPr/>
        </p:nvSpPr>
        <p:spPr>
          <a:xfrm>
            <a:off x="2993721" y="2389247"/>
            <a:ext cx="369331" cy="369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7D0523-B9DC-5857-A763-8F4BE0D20785}"/>
              </a:ext>
            </a:extLst>
          </p:cNvPr>
          <p:cNvSpPr/>
          <p:nvPr/>
        </p:nvSpPr>
        <p:spPr>
          <a:xfrm>
            <a:off x="4824609" y="2389247"/>
            <a:ext cx="369331" cy="3693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CE3FC-B56C-C31E-D811-2FC768014F73}"/>
              </a:ext>
            </a:extLst>
          </p:cNvPr>
          <p:cNvSpPr txBox="1"/>
          <p:nvPr/>
        </p:nvSpPr>
        <p:spPr>
          <a:xfrm>
            <a:off x="2167003" y="3306871"/>
            <a:ext cx="541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ru-RU" dirty="0"/>
              <a:t>упорядочено перед </a:t>
            </a:r>
            <a:r>
              <a:rPr lang="en-US" dirty="0"/>
              <a:t>B (A sequenced before 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FEC2FB-E1B9-F958-7BE2-8E07D2BB0E66}"/>
              </a:ext>
            </a:extLst>
          </p:cNvPr>
          <p:cNvSpPr txBox="1"/>
          <p:nvPr/>
        </p:nvSpPr>
        <p:spPr>
          <a:xfrm>
            <a:off x="1318364" y="4808783"/>
            <a:ext cx="8765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(a + 10) упорядочено перед модификацией b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117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FA04B8-41C4-67A8-760F-E0E21734DC5C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+=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g()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упорядочено перед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h().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f() + h(g()) + x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упорядочено перед модификацией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f(), h()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чтение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упорядочены друг относитель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н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 друга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+ x;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4408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24F0-5EE9-9B8A-FA9C-245B3B17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Отношение </a:t>
            </a:r>
            <a:r>
              <a:rPr lang="en-US" dirty="0"/>
              <a:t>simply happens-before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6D680-2871-2C67-11AF-83635D35D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75914"/>
          </a:xfrm>
        </p:spPr>
        <p:txBody>
          <a:bodyPr>
            <a:normAutofit fontScale="92500"/>
          </a:bodyPr>
          <a:lstStyle/>
          <a:p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— это расширение порядка выполнения.</a:t>
            </a:r>
          </a:p>
          <a:p>
            <a:pPr lvl="1"/>
            <a:r>
              <a:rPr lang="ru-RU" dirty="0"/>
              <a:t>A </a:t>
            </a:r>
            <a:r>
              <a:rPr lang="ru-RU" dirty="0" err="1"/>
              <a:t>simply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B, если:</a:t>
            </a:r>
          </a:p>
          <a:p>
            <a:pPr lvl="2"/>
            <a:r>
              <a:rPr lang="ru-RU" dirty="0"/>
              <a:t>A </a:t>
            </a:r>
            <a:r>
              <a:rPr lang="ru-RU" dirty="0" err="1"/>
              <a:t>sequenced-before</a:t>
            </a:r>
            <a:r>
              <a:rPr lang="ru-RU" dirty="0"/>
              <a:t> B (внутри одного потока)</a:t>
            </a:r>
          </a:p>
          <a:p>
            <a:pPr lvl="2"/>
            <a:r>
              <a:rPr lang="ru-RU" dirty="0"/>
              <a:t>A </a:t>
            </a:r>
            <a:r>
              <a:rPr lang="ru-RU" dirty="0" err="1"/>
              <a:t>synchronizes-with</a:t>
            </a:r>
            <a:r>
              <a:rPr lang="ru-RU" dirty="0"/>
              <a:t> B (между потоками)</a:t>
            </a:r>
          </a:p>
          <a:p>
            <a:pPr lvl="2"/>
            <a:r>
              <a:rPr lang="ru-RU" dirty="0"/>
              <a:t>Порядок получается транзитивно через другие операции</a:t>
            </a:r>
          </a:p>
          <a:p>
            <a:r>
              <a:rPr lang="ru-RU" dirty="0"/>
              <a:t>Порядок и видимость распространяются по цепочке операций.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5F4548-94D9-D7E6-1FDB-1212F3E4FF41}"/>
              </a:ext>
            </a:extLst>
          </p:cNvPr>
          <p:cNvCxnSpPr>
            <a:cxnSpLocks/>
          </p:cNvCxnSpPr>
          <p:nvPr/>
        </p:nvCxnSpPr>
        <p:spPr>
          <a:xfrm>
            <a:off x="933214" y="4972094"/>
            <a:ext cx="70772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73DBB0-968E-A6C1-18D7-990CAAACC5FD}"/>
              </a:ext>
            </a:extLst>
          </p:cNvPr>
          <p:cNvCxnSpPr>
            <a:cxnSpLocks/>
          </p:cNvCxnSpPr>
          <p:nvPr/>
        </p:nvCxnSpPr>
        <p:spPr>
          <a:xfrm>
            <a:off x="933214" y="6136533"/>
            <a:ext cx="70772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B923ED7-3E06-2F1D-5FC6-06A7901F6C91}"/>
              </a:ext>
            </a:extLst>
          </p:cNvPr>
          <p:cNvSpPr/>
          <p:nvPr/>
        </p:nvSpPr>
        <p:spPr>
          <a:xfrm>
            <a:off x="1915920" y="4787429"/>
            <a:ext cx="369331" cy="369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1614B2-706C-3622-1263-FC1EDB62D75F}"/>
              </a:ext>
            </a:extLst>
          </p:cNvPr>
          <p:cNvSpPr/>
          <p:nvPr/>
        </p:nvSpPr>
        <p:spPr>
          <a:xfrm>
            <a:off x="1916370" y="5951868"/>
            <a:ext cx="369331" cy="36933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10068A-2BC4-A40D-0B2D-647B1E25EB70}"/>
              </a:ext>
            </a:extLst>
          </p:cNvPr>
          <p:cNvCxnSpPr>
            <a:cxnSpLocks/>
            <a:stCxn id="11" idx="4"/>
            <a:endCxn id="9" idx="0"/>
          </p:cNvCxnSpPr>
          <p:nvPr/>
        </p:nvCxnSpPr>
        <p:spPr>
          <a:xfrm flipH="1">
            <a:off x="3553874" y="5156760"/>
            <a:ext cx="1" cy="7951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0B99854-D48B-5A38-0A1F-B73D8CD07F4C}"/>
              </a:ext>
            </a:extLst>
          </p:cNvPr>
          <p:cNvSpPr/>
          <p:nvPr/>
        </p:nvSpPr>
        <p:spPr>
          <a:xfrm>
            <a:off x="3369208" y="5951868"/>
            <a:ext cx="369331" cy="36933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5F6A10-6122-1DA8-C105-8707FF704003}"/>
              </a:ext>
            </a:extLst>
          </p:cNvPr>
          <p:cNvSpPr/>
          <p:nvPr/>
        </p:nvSpPr>
        <p:spPr>
          <a:xfrm>
            <a:off x="4527435" y="5951868"/>
            <a:ext cx="369331" cy="36933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48E0BA-554F-6C12-CFDA-CD91034744A9}"/>
              </a:ext>
            </a:extLst>
          </p:cNvPr>
          <p:cNvSpPr/>
          <p:nvPr/>
        </p:nvSpPr>
        <p:spPr>
          <a:xfrm>
            <a:off x="3369209" y="4787429"/>
            <a:ext cx="369331" cy="369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95B3F7-64D0-4599-F508-2BA7501305F5}"/>
              </a:ext>
            </a:extLst>
          </p:cNvPr>
          <p:cNvSpPr/>
          <p:nvPr/>
        </p:nvSpPr>
        <p:spPr>
          <a:xfrm>
            <a:off x="4527435" y="4787429"/>
            <a:ext cx="369331" cy="369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8" name="Straight Arrow Connector 36">
            <a:extLst>
              <a:ext uri="{FF2B5EF4-FFF2-40B4-BE49-F238E27FC236}">
                <a16:creationId xmlns:a16="http://schemas.microsoft.com/office/drawing/2014/main" id="{67DB9876-0FBF-B3CF-6011-23304225F759}"/>
              </a:ext>
            </a:extLst>
          </p:cNvPr>
          <p:cNvCxnSpPr>
            <a:cxnSpLocks/>
            <a:stCxn id="7" idx="4"/>
            <a:endCxn id="9" idx="4"/>
          </p:cNvCxnSpPr>
          <p:nvPr/>
        </p:nvCxnSpPr>
        <p:spPr>
          <a:xfrm rot="16200000" flipH="1">
            <a:off x="2827455" y="5594780"/>
            <a:ext cx="12700" cy="1452838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6">
            <a:extLst>
              <a:ext uri="{FF2B5EF4-FFF2-40B4-BE49-F238E27FC236}">
                <a16:creationId xmlns:a16="http://schemas.microsoft.com/office/drawing/2014/main" id="{BA74ACFB-1DBA-43DF-14DD-2891F40EF21D}"/>
              </a:ext>
            </a:extLst>
          </p:cNvPr>
          <p:cNvCxnSpPr>
            <a:cxnSpLocks/>
            <a:stCxn id="9" idx="4"/>
            <a:endCxn id="10" idx="4"/>
          </p:cNvCxnSpPr>
          <p:nvPr/>
        </p:nvCxnSpPr>
        <p:spPr>
          <a:xfrm rot="16200000" flipH="1">
            <a:off x="4132987" y="5742085"/>
            <a:ext cx="12700" cy="115822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6">
            <a:extLst>
              <a:ext uri="{FF2B5EF4-FFF2-40B4-BE49-F238E27FC236}">
                <a16:creationId xmlns:a16="http://schemas.microsoft.com/office/drawing/2014/main" id="{4EBD42D5-0B1A-C101-A624-B074E16C7E19}"/>
              </a:ext>
            </a:extLst>
          </p:cNvPr>
          <p:cNvCxnSpPr>
            <a:cxnSpLocks/>
            <a:stCxn id="6" idx="0"/>
            <a:endCxn id="11" idx="0"/>
          </p:cNvCxnSpPr>
          <p:nvPr/>
        </p:nvCxnSpPr>
        <p:spPr>
          <a:xfrm rot="5400000" flipH="1" flipV="1">
            <a:off x="2827230" y="4060785"/>
            <a:ext cx="12700" cy="1453289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6">
            <a:extLst>
              <a:ext uri="{FF2B5EF4-FFF2-40B4-BE49-F238E27FC236}">
                <a16:creationId xmlns:a16="http://schemas.microsoft.com/office/drawing/2014/main" id="{00066179-93FD-8AA4-92C0-70411E781BAC}"/>
              </a:ext>
            </a:extLst>
          </p:cNvPr>
          <p:cNvCxnSpPr>
            <a:cxnSpLocks/>
            <a:stCxn id="11" idx="0"/>
            <a:endCxn id="12" idx="0"/>
          </p:cNvCxnSpPr>
          <p:nvPr/>
        </p:nvCxnSpPr>
        <p:spPr>
          <a:xfrm rot="5400000" flipH="1" flipV="1">
            <a:off x="4132988" y="4208316"/>
            <a:ext cx="12700" cy="1158226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36">
            <a:extLst>
              <a:ext uri="{FF2B5EF4-FFF2-40B4-BE49-F238E27FC236}">
                <a16:creationId xmlns:a16="http://schemas.microsoft.com/office/drawing/2014/main" id="{84DE40BA-49DB-8FDE-CFB8-1DD161A6BD68}"/>
              </a:ext>
            </a:extLst>
          </p:cNvPr>
          <p:cNvCxnSpPr>
            <a:cxnSpLocks/>
            <a:stCxn id="11" idx="5"/>
            <a:endCxn id="9" idx="7"/>
          </p:cNvCxnSpPr>
          <p:nvPr/>
        </p:nvCxnSpPr>
        <p:spPr>
          <a:xfrm rot="5400000">
            <a:off x="3232812" y="5554314"/>
            <a:ext cx="903282" cy="1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36">
            <a:extLst>
              <a:ext uri="{FF2B5EF4-FFF2-40B4-BE49-F238E27FC236}">
                <a16:creationId xmlns:a16="http://schemas.microsoft.com/office/drawing/2014/main" id="{B027B3E4-838E-C1D7-094E-6623D8D7A406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 rot="16200000" flipH="1">
            <a:off x="2375588" y="4958248"/>
            <a:ext cx="903282" cy="1192131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36">
            <a:extLst>
              <a:ext uri="{FF2B5EF4-FFF2-40B4-BE49-F238E27FC236}">
                <a16:creationId xmlns:a16="http://schemas.microsoft.com/office/drawing/2014/main" id="{9E3B8F02-C6C7-C3B0-AD22-A27FE35D1853}"/>
              </a:ext>
            </a:extLst>
          </p:cNvPr>
          <p:cNvCxnSpPr>
            <a:cxnSpLocks/>
            <a:stCxn id="11" idx="6"/>
            <a:endCxn id="10" idx="0"/>
          </p:cNvCxnSpPr>
          <p:nvPr/>
        </p:nvCxnSpPr>
        <p:spPr>
          <a:xfrm>
            <a:off x="3738540" y="4972095"/>
            <a:ext cx="973561" cy="979773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36">
            <a:extLst>
              <a:ext uri="{FF2B5EF4-FFF2-40B4-BE49-F238E27FC236}">
                <a16:creationId xmlns:a16="http://schemas.microsoft.com/office/drawing/2014/main" id="{AB99E741-1096-337F-4D36-5230A5B836F7}"/>
              </a:ext>
            </a:extLst>
          </p:cNvPr>
          <p:cNvCxnSpPr>
            <a:cxnSpLocks/>
            <a:stCxn id="6" idx="0"/>
            <a:endCxn id="12" idx="0"/>
          </p:cNvCxnSpPr>
          <p:nvPr/>
        </p:nvCxnSpPr>
        <p:spPr>
          <a:xfrm rot="5400000" flipH="1" flipV="1">
            <a:off x="3406343" y="3481672"/>
            <a:ext cx="12700" cy="2611515"/>
          </a:xfrm>
          <a:prstGeom prst="curvedConnector3">
            <a:avLst>
              <a:gd name="adj1" fmla="val 342855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36">
            <a:extLst>
              <a:ext uri="{FF2B5EF4-FFF2-40B4-BE49-F238E27FC236}">
                <a16:creationId xmlns:a16="http://schemas.microsoft.com/office/drawing/2014/main" id="{D402F8AE-71A1-911C-1FAF-767AEF961DD4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2285251" y="4972095"/>
            <a:ext cx="2296271" cy="1033860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36">
            <a:extLst>
              <a:ext uri="{FF2B5EF4-FFF2-40B4-BE49-F238E27FC236}">
                <a16:creationId xmlns:a16="http://schemas.microsoft.com/office/drawing/2014/main" id="{DB9D449E-A6C0-FD4D-E52E-41F54E4D9270}"/>
              </a:ext>
            </a:extLst>
          </p:cNvPr>
          <p:cNvCxnSpPr>
            <a:cxnSpLocks/>
            <a:stCxn id="7" idx="4"/>
            <a:endCxn id="10" idx="4"/>
          </p:cNvCxnSpPr>
          <p:nvPr/>
        </p:nvCxnSpPr>
        <p:spPr>
          <a:xfrm rot="16200000" flipH="1">
            <a:off x="3406568" y="5015666"/>
            <a:ext cx="12700" cy="2611065"/>
          </a:xfrm>
          <a:prstGeom prst="curvedConnector3">
            <a:avLst>
              <a:gd name="adj1" fmla="val 28285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A8AE20A-E1A3-CA66-526B-9FC9DDC9BE86}"/>
              </a:ext>
            </a:extLst>
          </p:cNvPr>
          <p:cNvCxnSpPr>
            <a:cxnSpLocks/>
          </p:cNvCxnSpPr>
          <p:nvPr/>
        </p:nvCxnSpPr>
        <p:spPr>
          <a:xfrm>
            <a:off x="8325205" y="5283701"/>
            <a:ext cx="110793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56B5E34-DE1F-F7F3-711B-BAD9AC8DA3EE}"/>
              </a:ext>
            </a:extLst>
          </p:cNvPr>
          <p:cNvSpPr txBox="1"/>
          <p:nvPr/>
        </p:nvSpPr>
        <p:spPr>
          <a:xfrm>
            <a:off x="9568543" y="5104090"/>
            <a:ext cx="262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synchronizes-with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D3E309-8FEB-5AA9-8821-085DCC15FF5A}"/>
              </a:ext>
            </a:extLst>
          </p:cNvPr>
          <p:cNvSpPr txBox="1"/>
          <p:nvPr/>
        </p:nvSpPr>
        <p:spPr>
          <a:xfrm>
            <a:off x="9568543" y="5624599"/>
            <a:ext cx="262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simply happens-before</a:t>
            </a:r>
          </a:p>
        </p:txBody>
      </p:sp>
      <p:cxnSp>
        <p:nvCxnSpPr>
          <p:cNvPr id="76" name="Straight Arrow Connector 36">
            <a:extLst>
              <a:ext uri="{FF2B5EF4-FFF2-40B4-BE49-F238E27FC236}">
                <a16:creationId xmlns:a16="http://schemas.microsoft.com/office/drawing/2014/main" id="{2E7D70C2-4BB3-7843-5FD3-1094E8689265}"/>
              </a:ext>
            </a:extLst>
          </p:cNvPr>
          <p:cNvCxnSpPr>
            <a:cxnSpLocks/>
          </p:cNvCxnSpPr>
          <p:nvPr/>
        </p:nvCxnSpPr>
        <p:spPr>
          <a:xfrm>
            <a:off x="8325205" y="5844190"/>
            <a:ext cx="11079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33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50A3-4329-FA19-8AC3-99A9B522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Отношение </a:t>
            </a:r>
            <a:r>
              <a:rPr lang="en-US" dirty="0"/>
              <a:t>strongly happens-before (</a:t>
            </a:r>
            <a:r>
              <a:rPr lang="ru-RU" dirty="0"/>
              <a:t>происходит строго до)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3034-38F8-5B7B-5767-F6F4EDA69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Strongly</a:t>
            </a:r>
            <a:r>
              <a:rPr lang="ru-RU" b="1" dirty="0"/>
              <a:t> </a:t>
            </a:r>
            <a:r>
              <a:rPr lang="ru-RU" b="1" dirty="0" err="1"/>
              <a:t>happens-before</a:t>
            </a:r>
            <a:r>
              <a:rPr lang="ru-RU" b="1" dirty="0"/>
              <a:t> — это глобально согласованный порядок.</a:t>
            </a:r>
            <a:endParaRPr lang="ru-RU" dirty="0"/>
          </a:p>
          <a:p>
            <a:r>
              <a:rPr lang="ru-RU" dirty="0"/>
              <a:t>Если A </a:t>
            </a:r>
            <a:r>
              <a:rPr lang="ru-RU" dirty="0" err="1"/>
              <a:t>strongly</a:t>
            </a:r>
            <a:r>
              <a:rPr lang="ru-RU" dirty="0"/>
              <a:t> </a:t>
            </a:r>
            <a:r>
              <a:rPr lang="ru-RU" dirty="0" err="1"/>
              <a:t>happens-before</a:t>
            </a:r>
            <a:r>
              <a:rPr lang="ru-RU" dirty="0"/>
              <a:t> B, то:</a:t>
            </a:r>
          </a:p>
          <a:p>
            <a:pPr lvl="1"/>
            <a:r>
              <a:rPr lang="ru-RU" dirty="0"/>
              <a:t>A гарантированно выполняется раньше B</a:t>
            </a:r>
          </a:p>
          <a:p>
            <a:pPr lvl="1"/>
            <a:r>
              <a:rPr lang="ru-RU" dirty="0"/>
              <a:t>Все потоки «видят» этот порядок одинаково</a:t>
            </a:r>
          </a:p>
          <a:p>
            <a:pPr lvl="1"/>
            <a:r>
              <a:rPr lang="ru-RU" dirty="0"/>
              <a:t>Нарушить этот порядок нельзя ни оптимизацией, ни переупорядочиванием</a:t>
            </a:r>
          </a:p>
          <a:p>
            <a:r>
              <a:rPr lang="ru-RU" dirty="0"/>
              <a:t>Возникает, когда:</a:t>
            </a:r>
          </a:p>
          <a:p>
            <a:pPr lvl="1"/>
            <a:r>
              <a:rPr lang="ru-RU" dirty="0"/>
              <a:t>порядок задан внутри потока (</a:t>
            </a:r>
            <a:r>
              <a:rPr lang="ru-RU" i="1" dirty="0" err="1"/>
              <a:t>sequenced-before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используется синхронизация с </a:t>
            </a:r>
            <a:r>
              <a:rPr lang="ru-RU" b="1" dirty="0"/>
              <a:t>последовательно консистентными атомарными операциями</a:t>
            </a:r>
            <a:endParaRPr lang="ru-RU" dirty="0"/>
          </a:p>
          <a:p>
            <a:pPr lvl="1"/>
            <a:r>
              <a:rPr lang="ru-RU" dirty="0"/>
              <a:t>порядок распространяется транзитивно</a:t>
            </a:r>
          </a:p>
          <a:p>
            <a:r>
              <a:rPr lang="ru-RU" dirty="0"/>
              <a:t>Подробно — при изучении атомарных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3983361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84EF-0DBD-C471-01E3-112649D6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Межпоточное</a:t>
            </a:r>
            <a:r>
              <a:rPr lang="ru-RU" dirty="0"/>
              <a:t> отношение </a:t>
            </a:r>
            <a:r>
              <a:rPr lang="en-US" dirty="0"/>
              <a:t>happens before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9EC65-9357-5C3D-CA83-DF5E2B1C9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A </a:t>
            </a:r>
            <a:r>
              <a:rPr lang="ru-RU" dirty="0" err="1"/>
              <a:t>happens-before</a:t>
            </a:r>
            <a:r>
              <a:rPr lang="ru-RU" dirty="0"/>
              <a:t> B в другом потоке, если:</a:t>
            </a:r>
          </a:p>
          <a:p>
            <a:pPr lvl="1"/>
            <a:r>
              <a:rPr lang="ru-RU" dirty="0"/>
              <a:t>A </a:t>
            </a:r>
            <a:r>
              <a:rPr lang="ru-RU" b="1" dirty="0"/>
              <a:t>синхронизируется</a:t>
            </a:r>
            <a:r>
              <a:rPr lang="ru-RU" dirty="0"/>
              <a:t> с B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mutex</a:t>
            </a:r>
            <a:r>
              <a:rPr lang="ru-RU" dirty="0"/>
              <a:t>, </a:t>
            </a:r>
            <a:r>
              <a:rPr lang="ru-RU" dirty="0" err="1"/>
              <a:t>join</a:t>
            </a:r>
            <a:r>
              <a:rPr lang="ru-RU" dirty="0"/>
              <a:t>, атомарные операции и т.д.)</a:t>
            </a:r>
          </a:p>
          <a:p>
            <a:pPr lvl="1"/>
            <a:r>
              <a:rPr lang="ru-RU" dirty="0"/>
              <a:t>Порядок распространяется </a:t>
            </a:r>
            <a:r>
              <a:rPr lang="ru-RU" b="1" dirty="0"/>
              <a:t>транзитивно</a:t>
            </a:r>
            <a:r>
              <a:rPr lang="ru-RU" dirty="0"/>
              <a:t> через другие операции</a:t>
            </a:r>
          </a:p>
          <a:p>
            <a:r>
              <a:rPr lang="ru-RU" dirty="0"/>
              <a:t>Интуиция:</a:t>
            </a:r>
          </a:p>
          <a:p>
            <a:pPr lvl="1"/>
            <a:r>
              <a:rPr lang="ru-RU" dirty="0"/>
              <a:t>Синхронизация создаёт «мост» между потоками, по которому передаются порядок и видимость изменений.</a:t>
            </a:r>
          </a:p>
        </p:txBody>
      </p:sp>
    </p:spTree>
    <p:extLst>
      <p:ext uri="{BB962C8B-B14F-4D97-AF65-F5344CB8AC3E}">
        <p14:creationId xmlns:p14="http://schemas.microsoft.com/office/powerpoint/2010/main" val="2774283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7F56-565F-3DD9-3EEC-51F33908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hlinkClick r:id="rId3"/>
              </a:rPr>
              <a:t>jthread</a:t>
            </a:r>
            <a:r>
              <a:rPr lang="en-US" dirty="0">
                <a:hlinkClick r:id="rId3"/>
              </a:rPr>
              <a:t>::</a:t>
            </a:r>
            <a:r>
              <a:rPr lang="en-US" dirty="0" err="1">
                <a:hlinkClick r:id="rId3"/>
              </a:rPr>
              <a:t>jthread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0BD7-4390-EAD3-D191-9AB495A34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F, 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</a:t>
            </a:r>
            <a:r>
              <a:rPr lang="en-US" b="0" i="0" dirty="0">
                <a:solidFill>
                  <a:srgbClr val="00004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004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i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Создаёт новый поток исполнения</a:t>
            </a:r>
          </a:p>
          <a:p>
            <a:pPr lvl="1"/>
            <a:r>
              <a:rPr lang="ru-RU" dirty="0"/>
              <a:t>Запускает функцию f в этом потоке</a:t>
            </a:r>
          </a:p>
          <a:p>
            <a:r>
              <a:rPr lang="ru-RU" b="1" dirty="0"/>
              <a:t>Гарантия модели памяти:</a:t>
            </a:r>
            <a:endParaRPr lang="ru-RU" dirty="0"/>
          </a:p>
          <a:p>
            <a:pPr lvl="1"/>
            <a:r>
              <a:rPr lang="ru-RU" dirty="0"/>
              <a:t>Завершение конструктора </a:t>
            </a:r>
            <a:r>
              <a:rPr lang="ru-RU" dirty="0" err="1"/>
              <a:t>jthread</a:t>
            </a:r>
            <a:r>
              <a:rPr lang="ru-RU" dirty="0"/>
              <a:t> </a:t>
            </a:r>
            <a:r>
              <a:rPr lang="ru-RU" b="1" dirty="0" err="1"/>
              <a:t>synchronizes-with</a:t>
            </a:r>
            <a:r>
              <a:rPr lang="ru-RU" dirty="0"/>
              <a:t> началом выполнения f в новом потоке.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Всё, что произошло до создания </a:t>
            </a:r>
            <a:r>
              <a:rPr lang="ru-RU" dirty="0" err="1"/>
              <a:t>jthread</a:t>
            </a:r>
            <a:r>
              <a:rPr lang="ru-RU" dirty="0"/>
              <a:t>, видимо в новом потоке.</a:t>
            </a:r>
          </a:p>
        </p:txBody>
      </p:sp>
    </p:spTree>
    <p:extLst>
      <p:ext uri="{BB962C8B-B14F-4D97-AF65-F5344CB8AC3E}">
        <p14:creationId xmlns:p14="http://schemas.microsoft.com/office/powerpoint/2010/main" val="1727077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E930CC-9A27-A214-2B19-5298E977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std::[j]thread::join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7D6C8-7EEB-40AF-E604-5B2FD070C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Блокирует текущий поток до завершения связанного потока</a:t>
            </a:r>
          </a:p>
          <a:p>
            <a:r>
              <a:rPr lang="ru-RU" b="1" dirty="0"/>
              <a:t>Гарантия модели памяти:</a:t>
            </a:r>
            <a:endParaRPr lang="ru-RU" dirty="0"/>
          </a:p>
          <a:p>
            <a:pPr lvl="1"/>
            <a:r>
              <a:rPr lang="ru-RU" dirty="0"/>
              <a:t>Завершение потока </a:t>
            </a:r>
            <a:r>
              <a:rPr lang="ru-RU" b="1" dirty="0" err="1"/>
              <a:t>synchronizes-with</a:t>
            </a:r>
            <a:r>
              <a:rPr lang="ru-RU" dirty="0"/>
              <a:t> успешным возвратом из </a:t>
            </a:r>
            <a:r>
              <a:rPr lang="ru-RU" dirty="0" err="1"/>
              <a:t>join</a:t>
            </a:r>
            <a:r>
              <a:rPr lang="ru-RU" dirty="0"/>
              <a:t>()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Все изменения, сделанные в потоке,</a:t>
            </a:r>
            <a:br>
              <a:rPr lang="ru-RU" dirty="0"/>
            </a:br>
            <a:r>
              <a:rPr lang="ru-RU" dirty="0"/>
              <a:t>будут видны после </a:t>
            </a:r>
            <a:r>
              <a:rPr lang="ru-RU" dirty="0" err="1"/>
              <a:t>join</a:t>
            </a:r>
            <a:r>
              <a:rPr lang="ru-RU" dirty="0"/>
              <a:t>()</a:t>
            </a:r>
          </a:p>
          <a:p>
            <a:r>
              <a:rPr lang="ru-RU" b="1" dirty="0" err="1"/>
              <a:t>join</a:t>
            </a:r>
            <a:r>
              <a:rPr lang="ru-RU" b="1" dirty="0"/>
              <a:t>() нельзя вызывать конкурентно для одного и того же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44293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71C247-9699-DA11-B1F6-3F2BAECA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выведет эта программа</a:t>
            </a:r>
            <a:r>
              <a:rPr lang="en-US" dirty="0"/>
              <a:t>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AA7C09-36B1-FFC1-F319-AEA38EF0E773}"/>
              </a:ext>
            </a:extLst>
          </p:cNvPr>
          <p:cNvCxnSpPr>
            <a:cxnSpLocks/>
          </p:cNvCxnSpPr>
          <p:nvPr/>
        </p:nvCxnSpPr>
        <p:spPr>
          <a:xfrm>
            <a:off x="939452" y="1862891"/>
            <a:ext cx="70772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0B216F-9DD8-8590-9715-636693BDCFC4}"/>
              </a:ext>
            </a:extLst>
          </p:cNvPr>
          <p:cNvCxnSpPr>
            <a:cxnSpLocks/>
          </p:cNvCxnSpPr>
          <p:nvPr/>
        </p:nvCxnSpPr>
        <p:spPr>
          <a:xfrm>
            <a:off x="939452" y="3234158"/>
            <a:ext cx="70772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0543F22-24B9-B303-C304-01C6F2CD89B9}"/>
              </a:ext>
            </a:extLst>
          </p:cNvPr>
          <p:cNvSpPr txBox="1"/>
          <p:nvPr/>
        </p:nvSpPr>
        <p:spPr>
          <a:xfrm>
            <a:off x="8279704" y="1648217"/>
            <a:ext cx="241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</a:t>
            </a:r>
            <a:r>
              <a:rPr lang="en-US" dirty="0"/>
              <a:t> 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DEB986-DD66-4C7A-25E3-33905CA25E40}"/>
              </a:ext>
            </a:extLst>
          </p:cNvPr>
          <p:cNvSpPr txBox="1"/>
          <p:nvPr/>
        </p:nvSpPr>
        <p:spPr>
          <a:xfrm>
            <a:off x="8279704" y="2989060"/>
            <a:ext cx="241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 </a:t>
            </a:r>
            <a:r>
              <a:rPr lang="en-US" dirty="0"/>
              <a:t>t1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65FB9C-978F-F47E-15CF-AC8DB71D118C}"/>
              </a:ext>
            </a:extLst>
          </p:cNvPr>
          <p:cNvSpPr/>
          <p:nvPr/>
        </p:nvSpPr>
        <p:spPr>
          <a:xfrm>
            <a:off x="1922158" y="1678226"/>
            <a:ext cx="369331" cy="369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CC40FB-8538-50AB-38C9-7E74E2457BC3}"/>
              </a:ext>
            </a:extLst>
          </p:cNvPr>
          <p:cNvSpPr/>
          <p:nvPr/>
        </p:nvSpPr>
        <p:spPr>
          <a:xfrm>
            <a:off x="1922608" y="3049493"/>
            <a:ext cx="369331" cy="36933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BF81A4-FBEA-A921-75EC-ABCCA45E737F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2106824" y="2047557"/>
            <a:ext cx="450" cy="10019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020069C-1AF2-4EB9-387B-C376AE1F42E9}"/>
              </a:ext>
            </a:extLst>
          </p:cNvPr>
          <p:cNvSpPr txBox="1"/>
          <p:nvPr/>
        </p:nvSpPr>
        <p:spPr>
          <a:xfrm>
            <a:off x="838200" y="3764845"/>
            <a:ext cx="102003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[] {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A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E21F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C</a:t>
            </a:r>
            <a:endParaRPr lang="ru-RU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4FB6E2-5377-A2B4-F5C6-725BC110C626}"/>
              </a:ext>
            </a:extLst>
          </p:cNvPr>
          <p:cNvSpPr/>
          <p:nvPr/>
        </p:nvSpPr>
        <p:spPr>
          <a:xfrm>
            <a:off x="3406583" y="3049493"/>
            <a:ext cx="369331" cy="36933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1F4B1D-5228-74F1-0A09-87063BD3F680}"/>
              </a:ext>
            </a:extLst>
          </p:cNvPr>
          <p:cNvSpPr/>
          <p:nvPr/>
        </p:nvSpPr>
        <p:spPr>
          <a:xfrm>
            <a:off x="4533673" y="3049493"/>
            <a:ext cx="369331" cy="36933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4F77CA8-2EF0-8782-E274-3342728CC20F}"/>
              </a:ext>
            </a:extLst>
          </p:cNvPr>
          <p:cNvSpPr/>
          <p:nvPr/>
        </p:nvSpPr>
        <p:spPr>
          <a:xfrm>
            <a:off x="3375447" y="1678226"/>
            <a:ext cx="369331" cy="369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65B8246-CA93-3A03-1305-76D80AAFFD85}"/>
              </a:ext>
            </a:extLst>
          </p:cNvPr>
          <p:cNvSpPr/>
          <p:nvPr/>
        </p:nvSpPr>
        <p:spPr>
          <a:xfrm>
            <a:off x="4483732" y="1678226"/>
            <a:ext cx="369331" cy="369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68D03E-89AB-4249-E96A-E95E579FF89D}"/>
              </a:ext>
            </a:extLst>
          </p:cNvPr>
          <p:cNvCxnSpPr>
            <a:cxnSpLocks/>
            <a:stCxn id="12" idx="0"/>
            <a:endCxn id="15" idx="4"/>
          </p:cNvCxnSpPr>
          <p:nvPr/>
        </p:nvCxnSpPr>
        <p:spPr>
          <a:xfrm flipH="1" flipV="1">
            <a:off x="4668398" y="2047557"/>
            <a:ext cx="49941" cy="100193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4DC28FB-3235-8BF2-5020-91F96ABCCCF4}"/>
              </a:ext>
            </a:extLst>
          </p:cNvPr>
          <p:cNvSpPr/>
          <p:nvPr/>
        </p:nvSpPr>
        <p:spPr>
          <a:xfrm>
            <a:off x="5880864" y="1678226"/>
            <a:ext cx="369331" cy="369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904A35-8C9D-5CAB-5B88-0A9A7C2926EB}"/>
              </a:ext>
            </a:extLst>
          </p:cNvPr>
          <p:cNvCxnSpPr>
            <a:cxnSpLocks/>
            <a:stCxn id="10" idx="6"/>
            <a:endCxn id="11" idx="6"/>
          </p:cNvCxnSpPr>
          <p:nvPr/>
        </p:nvCxnSpPr>
        <p:spPr>
          <a:xfrm>
            <a:off x="2291489" y="1862892"/>
            <a:ext cx="450" cy="1371267"/>
          </a:xfrm>
          <a:prstGeom prst="curvedConnector3">
            <a:avLst>
              <a:gd name="adj1" fmla="val 509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36">
            <a:extLst>
              <a:ext uri="{FF2B5EF4-FFF2-40B4-BE49-F238E27FC236}">
                <a16:creationId xmlns:a16="http://schemas.microsoft.com/office/drawing/2014/main" id="{9871393F-9028-5B6E-D8F4-BD9E7F20FD66}"/>
              </a:ext>
            </a:extLst>
          </p:cNvPr>
          <p:cNvCxnSpPr>
            <a:cxnSpLocks/>
            <a:stCxn id="12" idx="6"/>
            <a:endCxn id="33" idx="6"/>
          </p:cNvCxnSpPr>
          <p:nvPr/>
        </p:nvCxnSpPr>
        <p:spPr>
          <a:xfrm flipV="1">
            <a:off x="4903004" y="1862892"/>
            <a:ext cx="1347191" cy="1371267"/>
          </a:xfrm>
          <a:prstGeom prst="curvedConnector3">
            <a:avLst>
              <a:gd name="adj1" fmla="val 11696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36">
            <a:extLst>
              <a:ext uri="{FF2B5EF4-FFF2-40B4-BE49-F238E27FC236}">
                <a16:creationId xmlns:a16="http://schemas.microsoft.com/office/drawing/2014/main" id="{7FDBEA0E-C0CF-38F0-E6A8-57D2A38F32AD}"/>
              </a:ext>
            </a:extLst>
          </p:cNvPr>
          <p:cNvCxnSpPr>
            <a:cxnSpLocks/>
            <a:stCxn id="12" idx="2"/>
            <a:endCxn id="15" idx="2"/>
          </p:cNvCxnSpPr>
          <p:nvPr/>
        </p:nvCxnSpPr>
        <p:spPr>
          <a:xfrm rot="10800000">
            <a:off x="4483733" y="1862893"/>
            <a:ext cx="49941" cy="1371267"/>
          </a:xfrm>
          <a:prstGeom prst="curvedConnector3">
            <a:avLst>
              <a:gd name="adj1" fmla="val 55774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36">
            <a:extLst>
              <a:ext uri="{FF2B5EF4-FFF2-40B4-BE49-F238E27FC236}">
                <a16:creationId xmlns:a16="http://schemas.microsoft.com/office/drawing/2014/main" id="{3F5C3B07-BCF9-F0B4-5264-31D645A9D5BE}"/>
              </a:ext>
            </a:extLst>
          </p:cNvPr>
          <p:cNvCxnSpPr>
            <a:cxnSpLocks/>
            <a:stCxn id="10" idx="6"/>
            <a:endCxn id="5" idx="1"/>
          </p:cNvCxnSpPr>
          <p:nvPr/>
        </p:nvCxnSpPr>
        <p:spPr>
          <a:xfrm>
            <a:off x="2291489" y="1862892"/>
            <a:ext cx="1169181" cy="124068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F57309-A218-BC66-26EE-2E849B720E91}"/>
              </a:ext>
            </a:extLst>
          </p:cNvPr>
          <p:cNvCxnSpPr>
            <a:cxnSpLocks/>
          </p:cNvCxnSpPr>
          <p:nvPr/>
        </p:nvCxnSpPr>
        <p:spPr>
          <a:xfrm>
            <a:off x="7171767" y="4140182"/>
            <a:ext cx="110793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D7B5394-55CE-6D6C-9762-6C09E00F35C3}"/>
              </a:ext>
            </a:extLst>
          </p:cNvPr>
          <p:cNvSpPr txBox="1"/>
          <p:nvPr/>
        </p:nvSpPr>
        <p:spPr>
          <a:xfrm>
            <a:off x="8415105" y="3960571"/>
            <a:ext cx="262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synchronizes-with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F52358-8946-1C6D-CE79-A8263A5848BC}"/>
              </a:ext>
            </a:extLst>
          </p:cNvPr>
          <p:cNvSpPr txBox="1"/>
          <p:nvPr/>
        </p:nvSpPr>
        <p:spPr>
          <a:xfrm>
            <a:off x="8415105" y="4481080"/>
            <a:ext cx="2623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happens-before</a:t>
            </a:r>
          </a:p>
        </p:txBody>
      </p:sp>
      <p:cxnSp>
        <p:nvCxnSpPr>
          <p:cNvPr id="57" name="Straight Arrow Connector 36">
            <a:extLst>
              <a:ext uri="{FF2B5EF4-FFF2-40B4-BE49-F238E27FC236}">
                <a16:creationId xmlns:a16="http://schemas.microsoft.com/office/drawing/2014/main" id="{47E471F4-C0E9-EB72-ECDA-8C657B0D9C89}"/>
              </a:ext>
            </a:extLst>
          </p:cNvPr>
          <p:cNvCxnSpPr>
            <a:cxnSpLocks/>
          </p:cNvCxnSpPr>
          <p:nvPr/>
        </p:nvCxnSpPr>
        <p:spPr>
          <a:xfrm>
            <a:off x="7171767" y="4700671"/>
            <a:ext cx="11079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36">
            <a:extLst>
              <a:ext uri="{FF2B5EF4-FFF2-40B4-BE49-F238E27FC236}">
                <a16:creationId xmlns:a16="http://schemas.microsoft.com/office/drawing/2014/main" id="{5A33249A-8779-4F79-C0A4-CD4DC1A8B7C3}"/>
              </a:ext>
            </a:extLst>
          </p:cNvPr>
          <p:cNvCxnSpPr>
            <a:cxnSpLocks/>
            <a:stCxn id="10" idx="0"/>
            <a:endCxn id="14" idx="0"/>
          </p:cNvCxnSpPr>
          <p:nvPr/>
        </p:nvCxnSpPr>
        <p:spPr>
          <a:xfrm rot="5400000" flipH="1" flipV="1">
            <a:off x="2833468" y="951582"/>
            <a:ext cx="12700" cy="1453289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36">
            <a:extLst>
              <a:ext uri="{FF2B5EF4-FFF2-40B4-BE49-F238E27FC236}">
                <a16:creationId xmlns:a16="http://schemas.microsoft.com/office/drawing/2014/main" id="{8F73D84C-EA59-AE8D-5F7F-1FA64530185A}"/>
              </a:ext>
            </a:extLst>
          </p:cNvPr>
          <p:cNvCxnSpPr>
            <a:cxnSpLocks/>
            <a:stCxn id="14" idx="0"/>
            <a:endCxn id="15" idx="0"/>
          </p:cNvCxnSpPr>
          <p:nvPr/>
        </p:nvCxnSpPr>
        <p:spPr>
          <a:xfrm rot="5400000" flipH="1" flipV="1">
            <a:off x="4114255" y="1124084"/>
            <a:ext cx="12700" cy="110828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36">
            <a:extLst>
              <a:ext uri="{FF2B5EF4-FFF2-40B4-BE49-F238E27FC236}">
                <a16:creationId xmlns:a16="http://schemas.microsoft.com/office/drawing/2014/main" id="{9A6662AE-E428-91FB-E87C-BC998BEA9FDB}"/>
              </a:ext>
            </a:extLst>
          </p:cNvPr>
          <p:cNvCxnSpPr>
            <a:cxnSpLocks/>
            <a:stCxn id="15" idx="0"/>
            <a:endCxn id="33" idx="0"/>
          </p:cNvCxnSpPr>
          <p:nvPr/>
        </p:nvCxnSpPr>
        <p:spPr>
          <a:xfrm rot="5400000" flipH="1" flipV="1">
            <a:off x="5366964" y="979660"/>
            <a:ext cx="12700" cy="1397132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36">
            <a:extLst>
              <a:ext uri="{FF2B5EF4-FFF2-40B4-BE49-F238E27FC236}">
                <a16:creationId xmlns:a16="http://schemas.microsoft.com/office/drawing/2014/main" id="{BA6A7E37-587B-828D-1F1E-E98BF5C1A526}"/>
              </a:ext>
            </a:extLst>
          </p:cNvPr>
          <p:cNvCxnSpPr>
            <a:cxnSpLocks/>
            <a:stCxn id="11" idx="4"/>
            <a:endCxn id="5" idx="4"/>
          </p:cNvCxnSpPr>
          <p:nvPr/>
        </p:nvCxnSpPr>
        <p:spPr>
          <a:xfrm rot="16200000" flipH="1">
            <a:off x="2849261" y="2676836"/>
            <a:ext cx="12700" cy="148397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36">
            <a:extLst>
              <a:ext uri="{FF2B5EF4-FFF2-40B4-BE49-F238E27FC236}">
                <a16:creationId xmlns:a16="http://schemas.microsoft.com/office/drawing/2014/main" id="{36E78D29-2E28-769A-96F8-FFDF82A3922A}"/>
              </a:ext>
            </a:extLst>
          </p:cNvPr>
          <p:cNvCxnSpPr>
            <a:cxnSpLocks/>
            <a:stCxn id="5" idx="4"/>
            <a:endCxn id="12" idx="4"/>
          </p:cNvCxnSpPr>
          <p:nvPr/>
        </p:nvCxnSpPr>
        <p:spPr>
          <a:xfrm rot="16200000" flipH="1">
            <a:off x="4154794" y="2855279"/>
            <a:ext cx="12700" cy="1127090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BE65BC4-C0F6-D351-348B-7C873CA4AFA9}"/>
              </a:ext>
            </a:extLst>
          </p:cNvPr>
          <p:cNvSpPr/>
          <p:nvPr/>
        </p:nvSpPr>
        <p:spPr>
          <a:xfrm>
            <a:off x="6498771" y="5508170"/>
            <a:ext cx="3701143" cy="939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Возможный вывод программы:</a:t>
            </a:r>
          </a:p>
          <a:p>
            <a:r>
              <a:rPr lang="ru-RU" dirty="0"/>
              <a:t>123</a:t>
            </a:r>
          </a:p>
          <a:p>
            <a:r>
              <a:rPr lang="ru-RU" dirty="0"/>
              <a:t>213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9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E333-D33A-2FB7-1ED4-D0790566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Переносим ожидание завершения потока </a:t>
            </a:r>
            <a:r>
              <a:rPr lang="en-US" dirty="0"/>
              <a:t>t1 </a:t>
            </a:r>
            <a:r>
              <a:rPr lang="ru-RU" dirty="0"/>
              <a:t>до запуска потока </a:t>
            </a:r>
            <a:r>
              <a:rPr lang="en-US" dirty="0"/>
              <a:t>t2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3CAB2-E1BF-4805-D821-AA1E21D88EE4}"/>
              </a:ext>
            </a:extLst>
          </p:cNvPr>
          <p:cNvSpPr txBox="1"/>
          <p:nvPr/>
        </p:nvSpPr>
        <p:spPr>
          <a:xfrm>
            <a:off x="838200" y="1779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t1{ [&amp;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++counter;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t1.join() happens-before 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происходит до) запуска потока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t2{ [&amp;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--counter;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t2.join() happens-before 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происходит до) чтения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counter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counter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559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74F8-2D5C-97D1-A7F0-CF67EE56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Между какими операциями есть отношение </a:t>
            </a:r>
            <a:r>
              <a:rPr lang="en-US" dirty="0"/>
              <a:t>happens-before?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CF25C-CB9B-5CF3-F6F7-B9B9C5CC0323}"/>
              </a:ext>
            </a:extLst>
          </p:cNvPr>
          <p:cNvSpPr txBox="1"/>
          <p:nvPr/>
        </p:nvSpPr>
        <p:spPr>
          <a:xfrm>
            <a:off x="838199" y="1690688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Z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2ED12E-6898-1DAD-8AE2-3D0555718D14}"/>
              </a:ext>
            </a:extLst>
          </p:cNvPr>
          <p:cNvSpPr/>
          <p:nvPr/>
        </p:nvSpPr>
        <p:spPr>
          <a:xfrm>
            <a:off x="8734357" y="1795770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6EF439-CBFB-CADB-CC00-4914F3D79177}"/>
              </a:ext>
            </a:extLst>
          </p:cNvPr>
          <p:cNvSpPr/>
          <p:nvPr/>
        </p:nvSpPr>
        <p:spPr>
          <a:xfrm>
            <a:off x="7790961" y="2699264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5226E7-EA27-6F9A-FF05-F3BE3C1E3A11}"/>
              </a:ext>
            </a:extLst>
          </p:cNvPr>
          <p:cNvSpPr/>
          <p:nvPr/>
        </p:nvSpPr>
        <p:spPr>
          <a:xfrm>
            <a:off x="9768807" y="2643662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6C2453-0216-B11D-BA49-A1FACD8560BA}"/>
              </a:ext>
            </a:extLst>
          </p:cNvPr>
          <p:cNvSpPr/>
          <p:nvPr/>
        </p:nvSpPr>
        <p:spPr>
          <a:xfrm>
            <a:off x="10568829" y="3382020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A56F85-9301-0D1B-BAB6-276B3CA8955A}"/>
              </a:ext>
            </a:extLst>
          </p:cNvPr>
          <p:cNvSpPr/>
          <p:nvPr/>
        </p:nvSpPr>
        <p:spPr>
          <a:xfrm>
            <a:off x="8719613" y="3409482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F2E05C-F298-EBBE-C0C5-975C7FC9F0AA}"/>
              </a:ext>
            </a:extLst>
          </p:cNvPr>
          <p:cNvSpPr/>
          <p:nvPr/>
        </p:nvSpPr>
        <p:spPr>
          <a:xfrm>
            <a:off x="8883471" y="4614447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E97598-B5AC-7BD2-6288-98D7CA19725B}"/>
              </a:ext>
            </a:extLst>
          </p:cNvPr>
          <p:cNvSpPr/>
          <p:nvPr/>
        </p:nvSpPr>
        <p:spPr>
          <a:xfrm>
            <a:off x="10319105" y="6214031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49B84B-7795-62EF-4EBF-0773D99C1C64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9129947" y="2191360"/>
            <a:ext cx="706733" cy="520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69D7AF-81D2-2D89-A5E4-C6069D753675}"/>
              </a:ext>
            </a:extLst>
          </p:cNvPr>
          <p:cNvCxnSpPr>
            <a:cxnSpLocks/>
            <a:stCxn id="9" idx="3"/>
            <a:endCxn id="11" idx="7"/>
          </p:cNvCxnSpPr>
          <p:nvPr/>
        </p:nvCxnSpPr>
        <p:spPr>
          <a:xfrm flipH="1">
            <a:off x="9115203" y="3039252"/>
            <a:ext cx="721477" cy="438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A436A077-EBF9-1205-E90B-66AF757099BE}"/>
              </a:ext>
            </a:extLst>
          </p:cNvPr>
          <p:cNvSpPr/>
          <p:nvPr/>
        </p:nvSpPr>
        <p:spPr>
          <a:xfrm>
            <a:off x="11342484" y="4450588"/>
            <a:ext cx="463463" cy="463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A07AD82-8CB4-8038-5249-BF3A5000B3AC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8186551" y="2191360"/>
            <a:ext cx="615679" cy="575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52D9DB6-D354-06A5-DABC-85B72B1E3202}"/>
              </a:ext>
            </a:extLst>
          </p:cNvPr>
          <p:cNvCxnSpPr>
            <a:cxnSpLocks/>
            <a:stCxn id="9" idx="5"/>
            <a:endCxn id="10" idx="1"/>
          </p:cNvCxnSpPr>
          <p:nvPr/>
        </p:nvCxnSpPr>
        <p:spPr>
          <a:xfrm>
            <a:off x="10164397" y="3039252"/>
            <a:ext cx="472305" cy="410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051198-BB39-73E8-FF75-1E9ED99AF8E0}"/>
              </a:ext>
            </a:extLst>
          </p:cNvPr>
          <p:cNvCxnSpPr>
            <a:cxnSpLocks/>
            <a:stCxn id="57" idx="5"/>
            <a:endCxn id="12" idx="1"/>
          </p:cNvCxnSpPr>
          <p:nvPr/>
        </p:nvCxnSpPr>
        <p:spPr>
          <a:xfrm>
            <a:off x="8393394" y="4452830"/>
            <a:ext cx="557950" cy="229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4668DBC-F5E3-80B7-5737-DB3CD5B49616}"/>
              </a:ext>
            </a:extLst>
          </p:cNvPr>
          <p:cNvSpPr/>
          <p:nvPr/>
        </p:nvSpPr>
        <p:spPr>
          <a:xfrm>
            <a:off x="7997804" y="4057240"/>
            <a:ext cx="463463" cy="46346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16A52C5-A708-A309-AD46-E52A585D1CC5}"/>
              </a:ext>
            </a:extLst>
          </p:cNvPr>
          <p:cNvCxnSpPr>
            <a:cxnSpLocks/>
            <a:stCxn id="11" idx="3"/>
            <a:endCxn id="57" idx="7"/>
          </p:cNvCxnSpPr>
          <p:nvPr/>
        </p:nvCxnSpPr>
        <p:spPr>
          <a:xfrm flipH="1">
            <a:off x="8393394" y="3805072"/>
            <a:ext cx="394092" cy="320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FAAE0AF-B1F1-43E8-0467-85E316CC8D60}"/>
              </a:ext>
            </a:extLst>
          </p:cNvPr>
          <p:cNvCxnSpPr>
            <a:cxnSpLocks/>
            <a:stCxn id="8" idx="4"/>
            <a:endCxn id="57" idx="1"/>
          </p:cNvCxnSpPr>
          <p:nvPr/>
        </p:nvCxnSpPr>
        <p:spPr>
          <a:xfrm>
            <a:off x="8022693" y="3162727"/>
            <a:ext cx="42984" cy="96238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234C2157-9456-E32B-1E37-C62901298336}"/>
              </a:ext>
            </a:extLst>
          </p:cNvPr>
          <p:cNvSpPr/>
          <p:nvPr/>
        </p:nvSpPr>
        <p:spPr>
          <a:xfrm>
            <a:off x="10087373" y="4603659"/>
            <a:ext cx="463463" cy="46346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2672A7C-B313-DB40-4A04-383B05EB9440}"/>
              </a:ext>
            </a:extLst>
          </p:cNvPr>
          <p:cNvCxnSpPr>
            <a:cxnSpLocks/>
            <a:stCxn id="10" idx="4"/>
            <a:endCxn id="78" idx="7"/>
          </p:cNvCxnSpPr>
          <p:nvPr/>
        </p:nvCxnSpPr>
        <p:spPr>
          <a:xfrm flipH="1">
            <a:off x="10482963" y="3845483"/>
            <a:ext cx="317598" cy="8260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251F166-214F-873A-4E3D-4A6E23F80E91}"/>
              </a:ext>
            </a:extLst>
          </p:cNvPr>
          <p:cNvCxnSpPr>
            <a:cxnSpLocks/>
            <a:stCxn id="12" idx="6"/>
            <a:endCxn id="78" idx="2"/>
          </p:cNvCxnSpPr>
          <p:nvPr/>
        </p:nvCxnSpPr>
        <p:spPr>
          <a:xfrm flipV="1">
            <a:off x="9346934" y="4835391"/>
            <a:ext cx="740439" cy="10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1149E3B4-1E17-DCEA-0BDE-B18F1A5213AE}"/>
              </a:ext>
            </a:extLst>
          </p:cNvPr>
          <p:cNvSpPr/>
          <p:nvPr/>
        </p:nvSpPr>
        <p:spPr>
          <a:xfrm>
            <a:off x="10954202" y="5381745"/>
            <a:ext cx="463463" cy="46346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49D07173-7CD3-7F10-369C-8E819EAF4D8C}"/>
              </a:ext>
            </a:extLst>
          </p:cNvPr>
          <p:cNvCxnSpPr>
            <a:cxnSpLocks/>
            <a:stCxn id="32" idx="3"/>
            <a:endCxn id="102" idx="0"/>
          </p:cNvCxnSpPr>
          <p:nvPr/>
        </p:nvCxnSpPr>
        <p:spPr>
          <a:xfrm flipH="1">
            <a:off x="11185934" y="4846178"/>
            <a:ext cx="224423" cy="535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554D611-49E3-F6E1-F257-80846944D8F3}"/>
              </a:ext>
            </a:extLst>
          </p:cNvPr>
          <p:cNvCxnSpPr>
            <a:cxnSpLocks/>
            <a:stCxn id="78" idx="5"/>
            <a:endCxn id="102" idx="1"/>
          </p:cNvCxnSpPr>
          <p:nvPr/>
        </p:nvCxnSpPr>
        <p:spPr>
          <a:xfrm>
            <a:off x="10482963" y="4999249"/>
            <a:ext cx="539112" cy="4503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CDE167E-460B-CC01-3F11-F315DC2E3BA5}"/>
              </a:ext>
            </a:extLst>
          </p:cNvPr>
          <p:cNvCxnSpPr>
            <a:cxnSpLocks/>
            <a:stCxn id="102" idx="3"/>
            <a:endCxn id="13" idx="7"/>
          </p:cNvCxnSpPr>
          <p:nvPr/>
        </p:nvCxnSpPr>
        <p:spPr>
          <a:xfrm flipH="1">
            <a:off x="10714695" y="5777335"/>
            <a:ext cx="307380" cy="504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49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92C4-9A15-CA57-DD0A-28B3DA6BB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Какой результат выведет программа</a:t>
            </a:r>
            <a:r>
              <a:rPr lang="en-US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CA81F-3084-553F-C84C-6BE9D2B99D79}"/>
              </a:ext>
            </a:extLst>
          </p:cNvPr>
          <p:cNvSpPr txBox="1"/>
          <p:nvPr/>
        </p:nvSpPr>
        <p:spPr>
          <a:xfrm>
            <a:off x="838200" y="1779687"/>
            <a:ext cx="54151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t1{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[&amp;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{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B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value +=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D</a:t>
            </a:r>
            <a:endParaRPr lang="en-US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t2{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[&amp;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] {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// F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// G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    value *=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// H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// I</a:t>
            </a:r>
            <a:endParaRPr lang="en-US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J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value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649387-7C9E-9A28-D00B-DB08D6F9D4C3}"/>
              </a:ext>
            </a:extLst>
          </p:cNvPr>
          <p:cNvCxnSpPr/>
          <p:nvPr/>
        </p:nvCxnSpPr>
        <p:spPr>
          <a:xfrm>
            <a:off x="7347131" y="1690688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EA7693-5147-313C-31F5-204534641548}"/>
              </a:ext>
            </a:extLst>
          </p:cNvPr>
          <p:cNvCxnSpPr/>
          <p:nvPr/>
        </p:nvCxnSpPr>
        <p:spPr>
          <a:xfrm>
            <a:off x="8603178" y="1690688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9C08D28-1A93-4418-F121-2001E26DD851}"/>
              </a:ext>
            </a:extLst>
          </p:cNvPr>
          <p:cNvSpPr/>
          <p:nvPr/>
        </p:nvSpPr>
        <p:spPr>
          <a:xfrm>
            <a:off x="7167131" y="1877658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5BA275-7930-C6D4-3619-9EE5B1EA11BE}"/>
              </a:ext>
            </a:extLst>
          </p:cNvPr>
          <p:cNvCxnSpPr/>
          <p:nvPr/>
        </p:nvCxnSpPr>
        <p:spPr>
          <a:xfrm>
            <a:off x="10200921" y="1690688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523FF52-03CE-268D-7F45-3A76FE588DD9}"/>
              </a:ext>
            </a:extLst>
          </p:cNvPr>
          <p:cNvSpPr/>
          <p:nvPr/>
        </p:nvSpPr>
        <p:spPr>
          <a:xfrm>
            <a:off x="7167131" y="2656251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F070C0-82AF-161B-AF8B-6405B28CFB4A}"/>
              </a:ext>
            </a:extLst>
          </p:cNvPr>
          <p:cNvSpPr/>
          <p:nvPr/>
        </p:nvSpPr>
        <p:spPr>
          <a:xfrm>
            <a:off x="7167131" y="3434844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J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DD71F9-A4B5-B7C6-A2CC-55E072167474}"/>
              </a:ext>
            </a:extLst>
          </p:cNvPr>
          <p:cNvSpPr/>
          <p:nvPr/>
        </p:nvSpPr>
        <p:spPr>
          <a:xfrm>
            <a:off x="7167131" y="4213437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D5EE0A-A440-1058-4325-B957B62F9394}"/>
              </a:ext>
            </a:extLst>
          </p:cNvPr>
          <p:cNvSpPr/>
          <p:nvPr/>
        </p:nvSpPr>
        <p:spPr>
          <a:xfrm>
            <a:off x="7167131" y="4992030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F04725-05F7-D4F3-F93F-FE24340B5B32}"/>
              </a:ext>
            </a:extLst>
          </p:cNvPr>
          <p:cNvSpPr/>
          <p:nvPr/>
        </p:nvSpPr>
        <p:spPr>
          <a:xfrm>
            <a:off x="8423178" y="1877658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0F26F1A-8150-63DB-13CB-5E011C1164A6}"/>
              </a:ext>
            </a:extLst>
          </p:cNvPr>
          <p:cNvSpPr/>
          <p:nvPr/>
        </p:nvSpPr>
        <p:spPr>
          <a:xfrm>
            <a:off x="8423178" y="3161359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0B80C2-8A18-EF27-6661-E48E088EFCF1}"/>
              </a:ext>
            </a:extLst>
          </p:cNvPr>
          <p:cNvSpPr/>
          <p:nvPr/>
        </p:nvSpPr>
        <p:spPr>
          <a:xfrm>
            <a:off x="8423178" y="3859810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BABB24-C0C5-28E2-A09D-B06D182FE6C3}"/>
              </a:ext>
            </a:extLst>
          </p:cNvPr>
          <p:cNvSpPr/>
          <p:nvPr/>
        </p:nvSpPr>
        <p:spPr>
          <a:xfrm>
            <a:off x="10039224" y="1877658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F99D090-8831-F459-80DF-585153A53D7B}"/>
              </a:ext>
            </a:extLst>
          </p:cNvPr>
          <p:cNvSpPr/>
          <p:nvPr/>
        </p:nvSpPr>
        <p:spPr>
          <a:xfrm>
            <a:off x="10039224" y="2772062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C5946EF-2022-DF49-75CE-798BFBADAC17}"/>
              </a:ext>
            </a:extLst>
          </p:cNvPr>
          <p:cNvSpPr/>
          <p:nvPr/>
        </p:nvSpPr>
        <p:spPr>
          <a:xfrm>
            <a:off x="10039224" y="3614844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161E11-9629-AF9E-61AE-F05956CF3951}"/>
              </a:ext>
            </a:extLst>
          </p:cNvPr>
          <p:cNvCxnSpPr>
            <a:cxnSpLocks/>
            <a:stCxn id="11" idx="7"/>
            <a:endCxn id="15" idx="3"/>
          </p:cNvCxnSpPr>
          <p:nvPr/>
        </p:nvCxnSpPr>
        <p:spPr>
          <a:xfrm flipV="1">
            <a:off x="7474410" y="2184937"/>
            <a:ext cx="1001489" cy="52403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5A8552-34DC-A35A-3586-C17EB67B15AA}"/>
              </a:ext>
            </a:extLst>
          </p:cNvPr>
          <p:cNvCxnSpPr>
            <a:cxnSpLocks/>
            <a:stCxn id="12" idx="7"/>
            <a:endCxn id="18" idx="3"/>
          </p:cNvCxnSpPr>
          <p:nvPr/>
        </p:nvCxnSpPr>
        <p:spPr>
          <a:xfrm flipV="1">
            <a:off x="7474410" y="2184937"/>
            <a:ext cx="2617535" cy="130262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075055D7-6203-254D-87AB-EB407C641238}"/>
              </a:ext>
            </a:extLst>
          </p:cNvPr>
          <p:cNvSpPr/>
          <p:nvPr/>
        </p:nvSpPr>
        <p:spPr>
          <a:xfrm>
            <a:off x="10020921" y="4382462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FF76B06-B35B-9A9B-4760-353486842A8B}"/>
              </a:ext>
            </a:extLst>
          </p:cNvPr>
          <p:cNvCxnSpPr>
            <a:cxnSpLocks/>
            <a:stCxn id="35" idx="2"/>
            <a:endCxn id="13" idx="6"/>
          </p:cNvCxnSpPr>
          <p:nvPr/>
        </p:nvCxnSpPr>
        <p:spPr>
          <a:xfrm flipH="1" flipV="1">
            <a:off x="7527131" y="4393437"/>
            <a:ext cx="2493790" cy="1690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872A9A-8D86-DA23-D500-3B28D1044DA8}"/>
              </a:ext>
            </a:extLst>
          </p:cNvPr>
          <p:cNvCxnSpPr>
            <a:cxnSpLocks/>
            <a:stCxn id="17" idx="7"/>
            <a:endCxn id="19" idx="3"/>
          </p:cNvCxnSpPr>
          <p:nvPr/>
        </p:nvCxnSpPr>
        <p:spPr>
          <a:xfrm flipV="1">
            <a:off x="8730457" y="3079341"/>
            <a:ext cx="1361488" cy="83319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A67BA4-805A-9E08-0309-EFF5E641CEF4}"/>
              </a:ext>
            </a:extLst>
          </p:cNvPr>
          <p:cNvCxnSpPr>
            <a:cxnSpLocks/>
            <a:stCxn id="5" idx="5"/>
            <a:endCxn id="16" idx="1"/>
          </p:cNvCxnSpPr>
          <p:nvPr/>
        </p:nvCxnSpPr>
        <p:spPr>
          <a:xfrm rot="16200000" flipH="1">
            <a:off x="7460583" y="2198763"/>
            <a:ext cx="1029143" cy="1001489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4">
            <a:extLst>
              <a:ext uri="{FF2B5EF4-FFF2-40B4-BE49-F238E27FC236}">
                <a16:creationId xmlns:a16="http://schemas.microsoft.com/office/drawing/2014/main" id="{D0775ED2-7025-8F40-C3E4-52E35D705424}"/>
              </a:ext>
            </a:extLst>
          </p:cNvPr>
          <p:cNvCxnSpPr>
            <a:cxnSpLocks/>
            <a:stCxn id="16" idx="5"/>
            <a:endCxn id="20" idx="2"/>
          </p:cNvCxnSpPr>
          <p:nvPr/>
        </p:nvCxnSpPr>
        <p:spPr>
          <a:xfrm rot="16200000" flipH="1">
            <a:off x="9221737" y="2977357"/>
            <a:ext cx="326206" cy="1308767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4">
            <a:extLst>
              <a:ext uri="{FF2B5EF4-FFF2-40B4-BE49-F238E27FC236}">
                <a16:creationId xmlns:a16="http://schemas.microsoft.com/office/drawing/2014/main" id="{2DC270F5-F47D-C673-7591-FB1AE0B7FDC6}"/>
              </a:ext>
            </a:extLst>
          </p:cNvPr>
          <p:cNvCxnSpPr>
            <a:cxnSpLocks/>
            <a:stCxn id="20" idx="3"/>
            <a:endCxn id="14" idx="7"/>
          </p:cNvCxnSpPr>
          <p:nvPr/>
        </p:nvCxnSpPr>
        <p:spPr>
          <a:xfrm rot="5400000">
            <a:off x="8221864" y="3174670"/>
            <a:ext cx="1122628" cy="2617535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0C58E45-148E-C1EA-92C0-F4A699860527}"/>
              </a:ext>
            </a:extLst>
          </p:cNvPr>
          <p:cNvSpPr/>
          <p:nvPr/>
        </p:nvSpPr>
        <p:spPr>
          <a:xfrm>
            <a:off x="8958943" y="5812971"/>
            <a:ext cx="2068285" cy="679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Результат: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7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35" grpId="0" animBg="1"/>
      <p:bldP spid="5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5485-507C-C228-B006-BB785CC9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Какой результат выведет программа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0D4C-A354-99B4-AB7A-66EED08998F5}"/>
              </a:ext>
            </a:extLst>
          </p:cNvPr>
          <p:cNvSpPr txBox="1"/>
          <p:nvPr/>
        </p:nvSpPr>
        <p:spPr>
          <a:xfrm>
            <a:off x="1" y="1690687"/>
            <a:ext cx="6096000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int value = 1; // A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t1{ 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[&amp;</a:t>
            </a:r>
            <a:r>
              <a:rPr lang="en-US" sz="17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{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B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 += 1; // C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D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E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t2{ 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[&amp;</a:t>
            </a:r>
            <a:r>
              <a:rPr lang="en-US" sz="1700" b="0" dirty="0">
                <a:solidFill>
                  <a:srgbClr val="808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t1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, &amp;</a:t>
            </a:r>
            <a:r>
              <a:rPr lang="en-US" sz="1700" b="0" dirty="0">
                <a:solidFill>
                  <a:srgbClr val="808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] {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F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  std::</a:t>
            </a:r>
            <a:r>
              <a:rPr lang="en-US" sz="1700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t3{ 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[&amp;</a:t>
            </a:r>
            <a:r>
              <a:rPr lang="en-US" sz="1700" b="0" dirty="0">
                <a:solidFill>
                  <a:srgbClr val="808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] {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// G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         std::</a:t>
            </a:r>
            <a:r>
              <a:rPr lang="en-US" sz="17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this_thread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4531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sleep_for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98658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1s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// H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         </a:t>
            </a:r>
            <a:r>
              <a:rPr lang="en-US" sz="1700" b="0" dirty="0">
                <a:solidFill>
                  <a:srgbClr val="FF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value *= 3; // I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       }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// J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  };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K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1F377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t1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.</a:t>
            </a:r>
            <a:r>
              <a:rPr lang="en-US" sz="1700" b="0" dirty="0">
                <a:solidFill>
                  <a:srgbClr val="74531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join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();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L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value = value * value; // M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   }</a:t>
            </a:r>
            <a:r>
              <a:rPr lang="en-US" sz="17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N</a:t>
            </a:r>
            <a:endParaRPr lang="en-US" sz="17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7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&lt;&lt; value &lt;&lt; "\n"; // Q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// R</a:t>
            </a:r>
            <a:endParaRPr lang="en-US" sz="17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406F9B-D76F-FDF7-514A-85DF1F1E0393}"/>
              </a:ext>
            </a:extLst>
          </p:cNvPr>
          <p:cNvCxnSpPr>
            <a:cxnSpLocks/>
          </p:cNvCxnSpPr>
          <p:nvPr/>
        </p:nvCxnSpPr>
        <p:spPr>
          <a:xfrm>
            <a:off x="6487160" y="1728019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8BE081-2DE4-2B7D-6144-484D81FECA37}"/>
              </a:ext>
            </a:extLst>
          </p:cNvPr>
          <p:cNvCxnSpPr>
            <a:cxnSpLocks/>
          </p:cNvCxnSpPr>
          <p:nvPr/>
        </p:nvCxnSpPr>
        <p:spPr>
          <a:xfrm>
            <a:off x="7743207" y="1728019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F821B4-4B28-D25E-725F-9D76BB7A4EE4}"/>
              </a:ext>
            </a:extLst>
          </p:cNvPr>
          <p:cNvCxnSpPr>
            <a:cxnSpLocks/>
          </p:cNvCxnSpPr>
          <p:nvPr/>
        </p:nvCxnSpPr>
        <p:spPr>
          <a:xfrm>
            <a:off x="8864435" y="1728019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9D9BDD-297B-C109-2E14-5D7B99B0C15C}"/>
              </a:ext>
            </a:extLst>
          </p:cNvPr>
          <p:cNvCxnSpPr>
            <a:cxnSpLocks/>
          </p:cNvCxnSpPr>
          <p:nvPr/>
        </p:nvCxnSpPr>
        <p:spPr>
          <a:xfrm>
            <a:off x="9985663" y="1728019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CD41D78-39EE-DD96-A182-3C061B93D6A9}"/>
              </a:ext>
            </a:extLst>
          </p:cNvPr>
          <p:cNvSpPr/>
          <p:nvPr/>
        </p:nvSpPr>
        <p:spPr>
          <a:xfrm>
            <a:off x="6307160" y="1823227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BBFC14-9525-28EA-9730-B45693344F96}"/>
              </a:ext>
            </a:extLst>
          </p:cNvPr>
          <p:cNvSpPr/>
          <p:nvPr/>
        </p:nvSpPr>
        <p:spPr>
          <a:xfrm>
            <a:off x="6307160" y="2694084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FF847C-9286-5413-59F0-B2700B565AB0}"/>
              </a:ext>
            </a:extLst>
          </p:cNvPr>
          <p:cNvSpPr/>
          <p:nvPr/>
        </p:nvSpPr>
        <p:spPr>
          <a:xfrm>
            <a:off x="6307160" y="3564941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B2C253-671E-65CC-5AB1-B8CD9DA6C6FB}"/>
              </a:ext>
            </a:extLst>
          </p:cNvPr>
          <p:cNvSpPr/>
          <p:nvPr/>
        </p:nvSpPr>
        <p:spPr>
          <a:xfrm>
            <a:off x="6307160" y="4435798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4597CE-4E0B-EB87-2D4C-930CF4FA250A}"/>
              </a:ext>
            </a:extLst>
          </p:cNvPr>
          <p:cNvSpPr/>
          <p:nvPr/>
        </p:nvSpPr>
        <p:spPr>
          <a:xfrm>
            <a:off x="6307160" y="5306655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DC2B58-E65C-07A4-8343-37BD4180831B}"/>
              </a:ext>
            </a:extLst>
          </p:cNvPr>
          <p:cNvSpPr/>
          <p:nvPr/>
        </p:nvSpPr>
        <p:spPr>
          <a:xfrm>
            <a:off x="7563207" y="1823227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87F06F-3292-D0CA-C766-F7CF0F48EEBF}"/>
              </a:ext>
            </a:extLst>
          </p:cNvPr>
          <p:cNvSpPr/>
          <p:nvPr/>
        </p:nvSpPr>
        <p:spPr>
          <a:xfrm>
            <a:off x="7563207" y="2694084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E4A3CB-0E5B-6556-04CD-182D793D26D9}"/>
              </a:ext>
            </a:extLst>
          </p:cNvPr>
          <p:cNvSpPr/>
          <p:nvPr/>
        </p:nvSpPr>
        <p:spPr>
          <a:xfrm>
            <a:off x="7563207" y="3564941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30A0D18-BD4B-C39D-1C77-C8E8C3D6D70B}"/>
              </a:ext>
            </a:extLst>
          </p:cNvPr>
          <p:cNvSpPr/>
          <p:nvPr/>
        </p:nvSpPr>
        <p:spPr>
          <a:xfrm>
            <a:off x="8684435" y="1823227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13F3615-95BC-00AE-C293-C5C90F18553F}"/>
              </a:ext>
            </a:extLst>
          </p:cNvPr>
          <p:cNvSpPr/>
          <p:nvPr/>
        </p:nvSpPr>
        <p:spPr>
          <a:xfrm>
            <a:off x="8684435" y="2694084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8D5448-85C9-9EA1-5DE9-5FCA994D50CF}"/>
              </a:ext>
            </a:extLst>
          </p:cNvPr>
          <p:cNvSpPr/>
          <p:nvPr/>
        </p:nvSpPr>
        <p:spPr>
          <a:xfrm>
            <a:off x="8684435" y="3564941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EDE837-C906-C821-570B-6BE89922E36E}"/>
              </a:ext>
            </a:extLst>
          </p:cNvPr>
          <p:cNvSpPr/>
          <p:nvPr/>
        </p:nvSpPr>
        <p:spPr>
          <a:xfrm>
            <a:off x="8684435" y="4435798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4329E17-3F91-A2DC-323C-7909A3339D49}"/>
              </a:ext>
            </a:extLst>
          </p:cNvPr>
          <p:cNvSpPr/>
          <p:nvPr/>
        </p:nvSpPr>
        <p:spPr>
          <a:xfrm>
            <a:off x="8684435" y="5306655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22EB471-7FC4-1830-0CA5-5C74544D73D0}"/>
              </a:ext>
            </a:extLst>
          </p:cNvPr>
          <p:cNvSpPr/>
          <p:nvPr/>
        </p:nvSpPr>
        <p:spPr>
          <a:xfrm>
            <a:off x="9805663" y="1823227"/>
            <a:ext cx="360000" cy="3600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236B26D-D639-D52A-A169-574250B68D67}"/>
              </a:ext>
            </a:extLst>
          </p:cNvPr>
          <p:cNvSpPr/>
          <p:nvPr/>
        </p:nvSpPr>
        <p:spPr>
          <a:xfrm>
            <a:off x="9805663" y="2694084"/>
            <a:ext cx="360000" cy="3600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DC93BD6-BC66-E949-7E0B-7A31F847BC72}"/>
              </a:ext>
            </a:extLst>
          </p:cNvPr>
          <p:cNvSpPr/>
          <p:nvPr/>
        </p:nvSpPr>
        <p:spPr>
          <a:xfrm>
            <a:off x="9805663" y="3564941"/>
            <a:ext cx="360000" cy="3600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CE922B-B733-A9D4-266A-A945C7320ED2}"/>
              </a:ext>
            </a:extLst>
          </p:cNvPr>
          <p:cNvSpPr/>
          <p:nvPr/>
        </p:nvSpPr>
        <p:spPr>
          <a:xfrm>
            <a:off x="9805663" y="4435798"/>
            <a:ext cx="360000" cy="360000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58DD16-B79D-4656-DB8E-F16EE32AB393}"/>
              </a:ext>
            </a:extLst>
          </p:cNvPr>
          <p:cNvCxnSpPr>
            <a:cxnSpLocks/>
            <a:stCxn id="18" idx="6"/>
            <a:endCxn id="23" idx="2"/>
          </p:cNvCxnSpPr>
          <p:nvPr/>
        </p:nvCxnSpPr>
        <p:spPr>
          <a:xfrm>
            <a:off x="7923207" y="3744941"/>
            <a:ext cx="76122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F9F2DFD5-E0A6-743B-81F4-9436588F6485}"/>
              </a:ext>
            </a:extLst>
          </p:cNvPr>
          <p:cNvSpPr/>
          <p:nvPr/>
        </p:nvSpPr>
        <p:spPr>
          <a:xfrm>
            <a:off x="6307160" y="6177512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41" name="Straight Arrow Connector 29">
            <a:extLst>
              <a:ext uri="{FF2B5EF4-FFF2-40B4-BE49-F238E27FC236}">
                <a16:creationId xmlns:a16="http://schemas.microsoft.com/office/drawing/2014/main" id="{71083E3F-201A-7377-337B-95869BBA33BC}"/>
              </a:ext>
            </a:extLst>
          </p:cNvPr>
          <p:cNvCxnSpPr>
            <a:cxnSpLocks/>
            <a:stCxn id="25" idx="2"/>
            <a:endCxn id="14" idx="6"/>
          </p:cNvCxnSpPr>
          <p:nvPr/>
        </p:nvCxnSpPr>
        <p:spPr>
          <a:xfrm flipH="1" flipV="1">
            <a:off x="6667160" y="4615798"/>
            <a:ext cx="2017275" cy="87085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29">
            <a:extLst>
              <a:ext uri="{FF2B5EF4-FFF2-40B4-BE49-F238E27FC236}">
                <a16:creationId xmlns:a16="http://schemas.microsoft.com/office/drawing/2014/main" id="{DEE796E0-1908-E873-1030-1664A8CC2917}"/>
              </a:ext>
            </a:extLst>
          </p:cNvPr>
          <p:cNvCxnSpPr>
            <a:cxnSpLocks/>
            <a:stCxn id="12" idx="7"/>
            <a:endCxn id="16" idx="3"/>
          </p:cNvCxnSpPr>
          <p:nvPr/>
        </p:nvCxnSpPr>
        <p:spPr>
          <a:xfrm flipV="1">
            <a:off x="6614439" y="2130506"/>
            <a:ext cx="1001489" cy="616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29">
            <a:extLst>
              <a:ext uri="{FF2B5EF4-FFF2-40B4-BE49-F238E27FC236}">
                <a16:creationId xmlns:a16="http://schemas.microsoft.com/office/drawing/2014/main" id="{BDE21E16-B557-FF09-AE38-8F9B416BDC84}"/>
              </a:ext>
            </a:extLst>
          </p:cNvPr>
          <p:cNvCxnSpPr>
            <a:cxnSpLocks/>
            <a:stCxn id="13" idx="0"/>
            <a:endCxn id="21" idx="3"/>
          </p:cNvCxnSpPr>
          <p:nvPr/>
        </p:nvCxnSpPr>
        <p:spPr>
          <a:xfrm rot="5400000" flipH="1" flipV="1">
            <a:off x="6894941" y="1722726"/>
            <a:ext cx="1434435" cy="2249996"/>
          </a:xfrm>
          <a:prstGeom prst="curvedConnector3">
            <a:avLst>
              <a:gd name="adj1" fmla="val 72767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29">
            <a:extLst>
              <a:ext uri="{FF2B5EF4-FFF2-40B4-BE49-F238E27FC236}">
                <a16:creationId xmlns:a16="http://schemas.microsoft.com/office/drawing/2014/main" id="{6B37A19A-97AB-DA46-3588-7632EAA72CE2}"/>
              </a:ext>
            </a:extLst>
          </p:cNvPr>
          <p:cNvCxnSpPr>
            <a:cxnSpLocks/>
            <a:stCxn id="22" idx="7"/>
            <a:endCxn id="26" idx="3"/>
          </p:cNvCxnSpPr>
          <p:nvPr/>
        </p:nvCxnSpPr>
        <p:spPr>
          <a:xfrm flipV="1">
            <a:off x="8991714" y="2130506"/>
            <a:ext cx="866670" cy="616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21F2C6D-95DB-74EA-0770-819C8D8B3DF2}"/>
              </a:ext>
            </a:extLst>
          </p:cNvPr>
          <p:cNvSpPr txBox="1"/>
          <p:nvPr/>
        </p:nvSpPr>
        <p:spPr>
          <a:xfrm>
            <a:off x="6061682" y="1402638"/>
            <a:ext cx="87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988F8B-C232-50DE-5104-C7FF519734F2}"/>
              </a:ext>
            </a:extLst>
          </p:cNvPr>
          <p:cNvSpPr txBox="1"/>
          <p:nvPr/>
        </p:nvSpPr>
        <p:spPr>
          <a:xfrm>
            <a:off x="7306948" y="1402638"/>
            <a:ext cx="87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3EECC0-93C3-69BC-951E-2C6C5F1F1246}"/>
              </a:ext>
            </a:extLst>
          </p:cNvPr>
          <p:cNvSpPr txBox="1"/>
          <p:nvPr/>
        </p:nvSpPr>
        <p:spPr>
          <a:xfrm>
            <a:off x="8428175" y="1402638"/>
            <a:ext cx="87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9F65D1-93E5-A362-4339-AF52F4C9A9F2}"/>
              </a:ext>
            </a:extLst>
          </p:cNvPr>
          <p:cNvSpPr txBox="1"/>
          <p:nvPr/>
        </p:nvSpPr>
        <p:spPr>
          <a:xfrm>
            <a:off x="9549402" y="1402638"/>
            <a:ext cx="87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t3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F31E0EB-1CF8-763B-7E17-8D538697F293}"/>
              </a:ext>
            </a:extLst>
          </p:cNvPr>
          <p:cNvCxnSpPr>
            <a:cxnSpLocks/>
            <a:stCxn id="29" idx="3"/>
            <a:endCxn id="25" idx="7"/>
          </p:cNvCxnSpPr>
          <p:nvPr/>
        </p:nvCxnSpPr>
        <p:spPr>
          <a:xfrm flipH="1">
            <a:off x="8991714" y="4743077"/>
            <a:ext cx="866670" cy="6162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44">
            <a:extLst>
              <a:ext uri="{FF2B5EF4-FFF2-40B4-BE49-F238E27FC236}">
                <a16:creationId xmlns:a16="http://schemas.microsoft.com/office/drawing/2014/main" id="{C49B2C1F-A556-9ED9-16D9-28EAC4165F62}"/>
              </a:ext>
            </a:extLst>
          </p:cNvPr>
          <p:cNvCxnSpPr>
            <a:cxnSpLocks/>
            <a:stCxn id="11" idx="4"/>
            <a:endCxn id="17" idx="1"/>
          </p:cNvCxnSpPr>
          <p:nvPr/>
        </p:nvCxnSpPr>
        <p:spPr>
          <a:xfrm rot="16200000" flipH="1">
            <a:off x="6769755" y="1900632"/>
            <a:ext cx="563578" cy="1128768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44">
            <a:extLst>
              <a:ext uri="{FF2B5EF4-FFF2-40B4-BE49-F238E27FC236}">
                <a16:creationId xmlns:a16="http://schemas.microsoft.com/office/drawing/2014/main" id="{E5CD2BF9-C58E-BFB5-6BC2-E7E5BB0DCFE7}"/>
              </a:ext>
            </a:extLst>
          </p:cNvPr>
          <p:cNvCxnSpPr>
            <a:cxnSpLocks/>
            <a:stCxn id="17" idx="6"/>
            <a:endCxn id="24" idx="2"/>
          </p:cNvCxnSpPr>
          <p:nvPr/>
        </p:nvCxnSpPr>
        <p:spPr>
          <a:xfrm>
            <a:off x="7923207" y="2874084"/>
            <a:ext cx="761228" cy="1741714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44">
            <a:extLst>
              <a:ext uri="{FF2B5EF4-FFF2-40B4-BE49-F238E27FC236}">
                <a16:creationId xmlns:a16="http://schemas.microsoft.com/office/drawing/2014/main" id="{296C4AA9-DF99-8F11-2907-C82DE7B74103}"/>
              </a:ext>
            </a:extLst>
          </p:cNvPr>
          <p:cNvCxnSpPr>
            <a:cxnSpLocks/>
            <a:stCxn id="11" idx="6"/>
            <a:endCxn id="28" idx="2"/>
          </p:cNvCxnSpPr>
          <p:nvPr/>
        </p:nvCxnSpPr>
        <p:spPr>
          <a:xfrm>
            <a:off x="6667160" y="2003227"/>
            <a:ext cx="3138503" cy="1741714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44">
            <a:extLst>
              <a:ext uri="{FF2B5EF4-FFF2-40B4-BE49-F238E27FC236}">
                <a16:creationId xmlns:a16="http://schemas.microsoft.com/office/drawing/2014/main" id="{EAF5F09B-BC10-B8C4-6A58-D468A44274B2}"/>
              </a:ext>
            </a:extLst>
          </p:cNvPr>
          <p:cNvCxnSpPr>
            <a:cxnSpLocks/>
            <a:stCxn id="24" idx="3"/>
            <a:endCxn id="15" idx="7"/>
          </p:cNvCxnSpPr>
          <p:nvPr/>
        </p:nvCxnSpPr>
        <p:spPr>
          <a:xfrm rot="5400000">
            <a:off x="7367649" y="3989868"/>
            <a:ext cx="616299" cy="2122717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44">
            <a:extLst>
              <a:ext uri="{FF2B5EF4-FFF2-40B4-BE49-F238E27FC236}">
                <a16:creationId xmlns:a16="http://schemas.microsoft.com/office/drawing/2014/main" id="{F72FDE67-F2DF-7899-FBFD-89798127FCCD}"/>
              </a:ext>
            </a:extLst>
          </p:cNvPr>
          <p:cNvCxnSpPr>
            <a:cxnSpLocks/>
            <a:stCxn id="28" idx="4"/>
            <a:endCxn id="15" idx="6"/>
          </p:cNvCxnSpPr>
          <p:nvPr/>
        </p:nvCxnSpPr>
        <p:spPr>
          <a:xfrm rot="5400000">
            <a:off x="7545555" y="3046547"/>
            <a:ext cx="1561714" cy="3318503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BEE06000-D408-A782-F3D5-DBB06D3F7714}"/>
              </a:ext>
            </a:extLst>
          </p:cNvPr>
          <p:cNvSpPr/>
          <p:nvPr/>
        </p:nvSpPr>
        <p:spPr>
          <a:xfrm rot="17462688">
            <a:off x="8525990" y="1667611"/>
            <a:ext cx="667386" cy="3312563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BC41707-365B-4608-05C0-E20D6A12E444}"/>
              </a:ext>
            </a:extLst>
          </p:cNvPr>
          <p:cNvSpPr/>
          <p:nvPr/>
        </p:nvSpPr>
        <p:spPr>
          <a:xfrm rot="13907140">
            <a:off x="9105993" y="2993024"/>
            <a:ext cx="667386" cy="232197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7D15EE0-6AF8-DE76-1BBF-6827421274CF}"/>
              </a:ext>
            </a:extLst>
          </p:cNvPr>
          <p:cNvSpPr/>
          <p:nvPr/>
        </p:nvSpPr>
        <p:spPr>
          <a:xfrm>
            <a:off x="9220200" y="6096000"/>
            <a:ext cx="2786742" cy="6576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 программе возможно состояние гонки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4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0" grpId="0" animBg="1"/>
      <p:bldP spid="95" grpId="0" animBg="1"/>
      <p:bldP spid="96" grpId="0" animBg="1"/>
      <p:bldP spid="9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7FFA47-1B4B-06B0-53D3-4920D058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данных при помощи мьютекса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E402-9C12-7555-B536-E458E2934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80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DF8B45-2479-F9A1-CD3A-8BC270E61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Мьютекс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598506-F88B-D4C2-9261-E6604BF96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Мьютекс — это примитив взаимного исключения.</a:t>
            </a:r>
          </a:p>
          <a:p>
            <a:r>
              <a:rPr lang="ru-RU" dirty="0"/>
              <a:t>Назначение:</a:t>
            </a:r>
          </a:p>
          <a:p>
            <a:pPr lvl="1"/>
            <a:r>
              <a:rPr lang="ru-RU" dirty="0"/>
              <a:t>Защитить общий ресурс от одновременного доступа</a:t>
            </a:r>
          </a:p>
          <a:p>
            <a:pPr lvl="1"/>
            <a:r>
              <a:rPr lang="ru-RU" dirty="0"/>
              <a:t>Обеспечить отношение </a:t>
            </a:r>
            <a:r>
              <a:rPr lang="ru-RU" dirty="0" err="1"/>
              <a:t>happens-before</a:t>
            </a:r>
            <a:r>
              <a:rPr lang="ru-RU" dirty="0"/>
              <a:t> между потоками</a:t>
            </a:r>
          </a:p>
          <a:p>
            <a:r>
              <a:rPr lang="ru-RU" dirty="0"/>
              <a:t>Поведение:</a:t>
            </a:r>
          </a:p>
          <a:p>
            <a:pPr lvl="1"/>
            <a:r>
              <a:rPr lang="ru-RU" dirty="0"/>
              <a:t>Поток захватывает мьютекс (</a:t>
            </a:r>
            <a:r>
              <a:rPr lang="ru-RU" dirty="0" err="1"/>
              <a:t>lock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Другие потоки ждут освобождения (</a:t>
            </a:r>
            <a:r>
              <a:rPr lang="ru-RU" dirty="0" err="1"/>
              <a:t>unlock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Освобождение мьютекса </a:t>
            </a:r>
            <a:r>
              <a:rPr lang="ru-RU" dirty="0" err="1"/>
              <a:t>synchronizes-with</a:t>
            </a:r>
            <a:r>
              <a:rPr lang="ru-RU" dirty="0"/>
              <a:t> его последующим захватом</a:t>
            </a:r>
          </a:p>
          <a:p>
            <a:r>
              <a:rPr lang="ru-RU" dirty="0"/>
              <a:t>Рекомендуется использовать RAII: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lock_guard</a:t>
            </a:r>
            <a:endParaRPr lang="ru-RU" dirty="0"/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unique_lock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3051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F0C3-2A25-FB23-35EF-A6632681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класса </a:t>
            </a:r>
            <a:r>
              <a:rPr lang="en-US" dirty="0"/>
              <a:t>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0D2E-71D9-6900-BA2B-DCABCC897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операции:</a:t>
            </a:r>
          </a:p>
          <a:p>
            <a:pPr lvl="1"/>
            <a:r>
              <a:rPr lang="ru-RU" dirty="0" err="1"/>
              <a:t>lock</a:t>
            </a:r>
            <a:r>
              <a:rPr lang="ru-RU" dirty="0"/>
              <a:t>() — захватить мьютекс (блокирует поток)</a:t>
            </a:r>
          </a:p>
          <a:p>
            <a:pPr lvl="1"/>
            <a:r>
              <a:rPr lang="ru-RU" dirty="0" err="1"/>
              <a:t>try_lock</a:t>
            </a:r>
            <a:r>
              <a:rPr lang="ru-RU" dirty="0"/>
              <a:t>() — попытаться захватить без ожидания</a:t>
            </a:r>
          </a:p>
          <a:p>
            <a:pPr lvl="1"/>
            <a:r>
              <a:rPr lang="ru-RU" dirty="0" err="1"/>
              <a:t>unlock</a:t>
            </a:r>
            <a:r>
              <a:rPr lang="ru-RU" dirty="0"/>
              <a:t>() — освободить мьютекс</a:t>
            </a:r>
          </a:p>
          <a:p>
            <a:r>
              <a:rPr lang="ru-RU" dirty="0"/>
              <a:t>Гарантия модели памяти:</a:t>
            </a:r>
          </a:p>
          <a:p>
            <a:pPr lvl="1"/>
            <a:r>
              <a:rPr lang="ru-RU" dirty="0" err="1"/>
              <a:t>unlock</a:t>
            </a:r>
            <a:r>
              <a:rPr lang="ru-RU" dirty="0"/>
              <a:t>() </a:t>
            </a:r>
            <a:r>
              <a:rPr lang="ru-RU" b="1" dirty="0" err="1"/>
              <a:t>synchronizes-with</a:t>
            </a:r>
            <a:r>
              <a:rPr lang="ru-RU" b="1" dirty="0"/>
              <a:t> </a:t>
            </a:r>
            <a:r>
              <a:rPr lang="ru-RU" dirty="0"/>
              <a:t>успешным </a:t>
            </a:r>
            <a:r>
              <a:rPr lang="ru-RU" dirty="0" err="1"/>
              <a:t>lock</a:t>
            </a:r>
            <a:r>
              <a:rPr lang="ru-RU" dirty="0"/>
              <a:t>() на том же мьютексе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Все изменения до </a:t>
            </a:r>
            <a:r>
              <a:rPr lang="ru-RU" dirty="0" err="1"/>
              <a:t>unlock</a:t>
            </a:r>
            <a:r>
              <a:rPr lang="ru-RU" dirty="0"/>
              <a:t>() будут видны после </a:t>
            </a:r>
            <a:r>
              <a:rPr lang="ru-RU" dirty="0" err="1"/>
              <a:t>lock</a:t>
            </a:r>
            <a:r>
              <a:rPr lang="ru-RU" dirty="0"/>
              <a:t>() в другом потоке</a:t>
            </a:r>
          </a:p>
        </p:txBody>
      </p:sp>
    </p:spTree>
    <p:extLst>
      <p:ext uri="{BB962C8B-B14F-4D97-AF65-F5344CB8AC3E}">
        <p14:creationId xmlns:p14="http://schemas.microsoft.com/office/powerpoint/2010/main" val="298496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ABA716-873B-917F-826B-FBC76433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Делаем безопасной работу со счётчиком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0FD869-B33A-E814-5AC3-818BA2ED6BB0}"/>
              </a:ext>
            </a:extLst>
          </p:cNvPr>
          <p:cNvSpPr txBox="1"/>
          <p:nvPr/>
        </p:nvSpPr>
        <p:spPr>
          <a:xfrm>
            <a:off x="838199" y="1690687"/>
            <a:ext cx="1051560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++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Привязываем вызов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lock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и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unlock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к времени жизни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lk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--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8DA2E7-DEB0-B12B-9655-087C38CB5462}"/>
              </a:ext>
            </a:extLst>
          </p:cNvPr>
          <p:cNvGrpSpPr/>
          <p:nvPr/>
        </p:nvGrpSpPr>
        <p:grpSpPr>
          <a:xfrm>
            <a:off x="6674368" y="1764109"/>
            <a:ext cx="5377539" cy="1422122"/>
            <a:chOff x="6262008" y="2436837"/>
            <a:chExt cx="5377539" cy="14221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A287F4-7B68-43EC-35A1-B82FF0AA6414}"/>
                </a:ext>
              </a:extLst>
            </p:cNvPr>
            <p:cNvSpPr txBox="1"/>
            <p:nvPr/>
          </p:nvSpPr>
          <p:spPr>
            <a:xfrm>
              <a:off x="6262009" y="2783567"/>
              <a:ext cx="166551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 err="1">
                  <a:solidFill>
                    <a:srgbClr val="1F377F"/>
                  </a:solidFill>
                  <a:effectLst/>
                  <a:latin typeface="Consolas" panose="020B0609020204030204" pitchFamily="49" charset="0"/>
                </a:rPr>
                <a:t>m</a:t>
              </a: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 err="1">
                  <a:solidFill>
                    <a:srgbClr val="74531F"/>
                  </a:solidFill>
                  <a:effectLst/>
                  <a:latin typeface="Consolas" panose="020B0609020204030204" pitchFamily="49" charset="0"/>
                </a:rPr>
                <a:t>lock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++</a:t>
              </a:r>
              <a:r>
                <a:rPr lang="en-US" b="0" dirty="0">
                  <a:solidFill>
                    <a:srgbClr val="1F377F"/>
                  </a:solidFill>
                  <a:effectLst/>
                  <a:latin typeface="Consolas" panose="020B0609020204030204" pitchFamily="49" charset="0"/>
                </a:rPr>
                <a:t>counter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0" dirty="0" err="1">
                  <a:solidFill>
                    <a:srgbClr val="1F377F"/>
                  </a:solidFill>
                  <a:effectLst/>
                  <a:latin typeface="Consolas" panose="020B0609020204030204" pitchFamily="49" charset="0"/>
                </a:rPr>
                <a:t>m</a:t>
              </a: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 err="1">
                  <a:solidFill>
                    <a:srgbClr val="74531F"/>
                  </a:solidFill>
                  <a:effectLst/>
                  <a:latin typeface="Consolas" panose="020B0609020204030204" pitchFamily="49" charset="0"/>
                </a:rPr>
                <a:t>unlock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BA6A25-30CD-7807-AAE0-0390FBD23507}"/>
                </a:ext>
              </a:extLst>
            </p:cNvPr>
            <p:cNvSpPr txBox="1"/>
            <p:nvPr/>
          </p:nvSpPr>
          <p:spPr>
            <a:xfrm>
              <a:off x="10063843" y="2783567"/>
              <a:ext cx="157570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dirty="0" err="1">
                  <a:solidFill>
                    <a:srgbClr val="1F377F"/>
                  </a:solidFill>
                  <a:effectLst/>
                  <a:latin typeface="Consolas" panose="020B0609020204030204" pitchFamily="49" charset="0"/>
                </a:rPr>
                <a:t>m</a:t>
              </a: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 err="1">
                  <a:solidFill>
                    <a:srgbClr val="74531F"/>
                  </a:solidFill>
                  <a:effectLst/>
                  <a:latin typeface="Consolas" panose="020B0609020204030204" pitchFamily="49" charset="0"/>
                </a:rPr>
                <a:t>lock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--</a:t>
              </a:r>
              <a:r>
                <a:rPr lang="en-US" b="0" dirty="0">
                  <a:solidFill>
                    <a:srgbClr val="1F377F"/>
                  </a:solidFill>
                  <a:effectLst/>
                  <a:latin typeface="Consolas" panose="020B0609020204030204" pitchFamily="49" charset="0"/>
                </a:rPr>
                <a:t>counter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0" dirty="0" err="1">
                  <a:solidFill>
                    <a:srgbClr val="1F377F"/>
                  </a:solidFill>
                  <a:effectLst/>
                  <a:latin typeface="Consolas" panose="020B0609020204030204" pitchFamily="49" charset="0"/>
                </a:rPr>
                <a:t>m</a:t>
              </a:r>
              <a:r>
                <a:rPr lang="en-US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 err="1">
                  <a:solidFill>
                    <a:srgbClr val="74531F"/>
                  </a:solidFill>
                  <a:effectLst/>
                  <a:latin typeface="Consolas" panose="020B0609020204030204" pitchFamily="49" charset="0"/>
                </a:rPr>
                <a:t>unlock</a:t>
              </a:r>
              <a:r>
                <a:rPr 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38391A6-9993-5A2A-3097-F8FCC9AAA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7523" y="2997896"/>
              <a:ext cx="2136319" cy="578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93BB5AD-26DB-C28E-1AEE-38662D5633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0248" y="2997896"/>
              <a:ext cx="2563594" cy="5225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411085-00B6-324C-8F0C-3D1448B769F6}"/>
                </a:ext>
              </a:extLst>
            </p:cNvPr>
            <p:cNvSpPr txBox="1"/>
            <p:nvPr/>
          </p:nvSpPr>
          <p:spPr>
            <a:xfrm>
              <a:off x="7700965" y="2742306"/>
              <a:ext cx="17852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happens-before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49F12C-CE16-199F-38D6-04DDAD7A2F65}"/>
                </a:ext>
              </a:extLst>
            </p:cNvPr>
            <p:cNvSpPr txBox="1"/>
            <p:nvPr/>
          </p:nvSpPr>
          <p:spPr>
            <a:xfrm>
              <a:off x="7746209" y="3520405"/>
              <a:ext cx="19213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happens-before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D3A2DE-7B73-DA25-876D-2BB2FBAF7418}"/>
                </a:ext>
              </a:extLst>
            </p:cNvPr>
            <p:cNvSpPr txBox="1"/>
            <p:nvPr/>
          </p:nvSpPr>
          <p:spPr>
            <a:xfrm>
              <a:off x="6262008" y="2461004"/>
              <a:ext cx="1151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Поток </a:t>
              </a:r>
              <a:r>
                <a:rPr lang="en-US" dirty="0"/>
                <a:t>t1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2D01FA-EA13-3A6F-087A-28F098DE9C8F}"/>
                </a:ext>
              </a:extLst>
            </p:cNvPr>
            <p:cNvSpPr txBox="1"/>
            <p:nvPr/>
          </p:nvSpPr>
          <p:spPr>
            <a:xfrm>
              <a:off x="10063842" y="2436837"/>
              <a:ext cx="11511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Поток </a:t>
              </a:r>
              <a:r>
                <a:rPr lang="en-US" dirty="0"/>
                <a:t>t2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1417FB6-18D1-4E62-2DB9-EC55EEEC20D9}"/>
              </a:ext>
            </a:extLst>
          </p:cNvPr>
          <p:cNvSpPr txBox="1"/>
          <p:nvPr/>
        </p:nvSpPr>
        <p:spPr>
          <a:xfrm>
            <a:off x="6095999" y="6229060"/>
            <a:ext cx="336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https://godbolt.org/z/8b9x15cT6</a:t>
            </a:r>
            <a:r>
              <a:rPr lang="en-US" dirty="0"/>
              <a:t>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36CB0E4-1E16-CFD1-2580-30A9DBF93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102" y="5093891"/>
            <a:ext cx="1673805" cy="170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1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52F340-E08C-2B32-FC69-9549FEAC4AC9}"/>
              </a:ext>
            </a:extLst>
          </p:cNvPr>
          <p:cNvSpPr txBox="1"/>
          <p:nvPr/>
        </p:nvSpPr>
        <p:spPr>
          <a:xfrm>
            <a:off x="653143" y="0"/>
            <a:ext cx="10515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TSObject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GetIntData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m_intData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SetIntData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m_intData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GetStringData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m_stringData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SetStringData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m_stringData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m_intData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m_stringData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C9C7A2F-96EB-CBDC-3539-40D8198B320A}"/>
              </a:ext>
            </a:extLst>
          </p:cNvPr>
          <p:cNvSpPr/>
          <p:nvPr/>
        </p:nvSpPr>
        <p:spPr>
          <a:xfrm>
            <a:off x="7039429" y="2873829"/>
            <a:ext cx="4717142" cy="1030514"/>
          </a:xfrm>
          <a:prstGeom prst="wedgeRectCallout">
            <a:avLst>
              <a:gd name="adj1" fmla="val -74372"/>
              <a:gd name="adj2" fmla="val -205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 почему бы здесь не вернуть константную ссылку на </a:t>
            </a:r>
            <a:r>
              <a:rPr lang="en-US" dirty="0" err="1"/>
              <a:t>m_stringData</a:t>
            </a:r>
            <a:r>
              <a:rPr lang="ru-RU" dirty="0"/>
              <a:t>, чтобы не копировать каждый раз строку</a:t>
            </a:r>
            <a:r>
              <a:rPr lang="en-US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42102B-56B0-5148-D51A-AEBBBF8028CC}"/>
              </a:ext>
            </a:extLst>
          </p:cNvPr>
          <p:cNvSpPr/>
          <p:nvPr/>
        </p:nvSpPr>
        <p:spPr>
          <a:xfrm>
            <a:off x="6429829" y="5297714"/>
            <a:ext cx="5326742" cy="10014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Не возвращайте ссылки на данные внутри класса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26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DEF1-3B52-B097-6B96-587B0F53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shared_mutex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7AF82-ADB4-6AF2-DB92-1277657C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Мьютекс с двумя режимами доступа:</a:t>
            </a:r>
          </a:p>
          <a:p>
            <a:pPr lvl="1"/>
            <a:r>
              <a:rPr lang="ru-RU" b="1" dirty="0"/>
              <a:t>Совместный (</a:t>
            </a:r>
            <a:r>
              <a:rPr lang="en-US" b="1" dirty="0"/>
              <a:t>shared)</a:t>
            </a:r>
            <a:endParaRPr lang="en-US" dirty="0"/>
          </a:p>
          <a:p>
            <a:pPr lvl="2"/>
            <a:r>
              <a:rPr lang="ru-RU" dirty="0"/>
              <a:t>Несколько потоков могут читать одновременно</a:t>
            </a:r>
          </a:p>
          <a:p>
            <a:pPr lvl="2"/>
            <a:r>
              <a:rPr lang="en-US" dirty="0" err="1"/>
              <a:t>lock_shared</a:t>
            </a:r>
            <a:r>
              <a:rPr lang="en-US" dirty="0"/>
              <a:t>() / </a:t>
            </a:r>
            <a:r>
              <a:rPr lang="en-US" dirty="0" err="1"/>
              <a:t>unlock_shared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RAII: std::</a:t>
            </a:r>
            <a:r>
              <a:rPr lang="en-US" dirty="0" err="1"/>
              <a:t>shared_lock</a:t>
            </a:r>
            <a:endParaRPr lang="en-US" dirty="0"/>
          </a:p>
          <a:p>
            <a:pPr lvl="1"/>
            <a:r>
              <a:rPr lang="ru-RU" b="1" dirty="0"/>
              <a:t>Эксклюзивный (</a:t>
            </a:r>
            <a:r>
              <a:rPr lang="en-US" b="1" dirty="0"/>
              <a:t>unique)</a:t>
            </a:r>
            <a:endParaRPr lang="en-US" dirty="0"/>
          </a:p>
          <a:p>
            <a:pPr lvl="2"/>
            <a:r>
              <a:rPr lang="ru-RU" dirty="0"/>
              <a:t>Только один поток может изменять данные</a:t>
            </a:r>
          </a:p>
          <a:p>
            <a:pPr lvl="2"/>
            <a:r>
              <a:rPr lang="en-US" dirty="0"/>
              <a:t>lock() / unlock()</a:t>
            </a:r>
          </a:p>
          <a:p>
            <a:pPr lvl="2"/>
            <a:r>
              <a:rPr lang="en-US" dirty="0"/>
              <a:t>RAII: std::</a:t>
            </a:r>
            <a:r>
              <a:rPr lang="en-US" dirty="0" err="1"/>
              <a:t>unique_lock</a:t>
            </a:r>
            <a:r>
              <a:rPr lang="en-US" dirty="0"/>
              <a:t>, std::</a:t>
            </a:r>
            <a:r>
              <a:rPr lang="en-US" dirty="0" err="1"/>
              <a:t>lock_guard</a:t>
            </a:r>
            <a:endParaRPr lang="en-US" dirty="0"/>
          </a:p>
          <a:p>
            <a:r>
              <a:rPr lang="ru-RU" dirty="0"/>
              <a:t>Типичный сценарий: «Много читателей — редкие записи»</a:t>
            </a:r>
          </a:p>
        </p:txBody>
      </p:sp>
    </p:spTree>
    <p:extLst>
      <p:ext uri="{BB962C8B-B14F-4D97-AF65-F5344CB8AC3E}">
        <p14:creationId xmlns:p14="http://schemas.microsoft.com/office/powerpoint/2010/main" val="3645787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C26E89-847D-8ED0-0711-49944ABCE53E}"/>
              </a:ext>
            </a:extLst>
          </p:cNvPr>
          <p:cNvSpPr txBox="1"/>
          <p:nvPr/>
        </p:nvSpPr>
        <p:spPr>
          <a:xfrm>
            <a:off x="0" y="0"/>
            <a:ext cx="6096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TSCounter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 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++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Decrement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--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6C278-5753-1A9C-7CA8-5BBCD6E07906}"/>
              </a:ext>
            </a:extLst>
          </p:cNvPr>
          <p:cNvSpPr txBox="1"/>
          <p:nvPr/>
        </p:nvSpPr>
        <p:spPr>
          <a:xfrm>
            <a:off x="6095998" y="0"/>
            <a:ext cx="609600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t2: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E21F1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  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main: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E21F1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611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Isosceles Triangle 129">
            <a:extLst>
              <a:ext uri="{FF2B5EF4-FFF2-40B4-BE49-F238E27FC236}">
                <a16:creationId xmlns:a16="http://schemas.microsoft.com/office/drawing/2014/main" id="{CA0D1ED8-87EA-F21B-9BC1-6DDFA58E9E81}"/>
              </a:ext>
            </a:extLst>
          </p:cNvPr>
          <p:cNvSpPr/>
          <p:nvPr/>
        </p:nvSpPr>
        <p:spPr>
          <a:xfrm rot="18093520">
            <a:off x="6513779" y="2884751"/>
            <a:ext cx="3492784" cy="1336730"/>
          </a:xfrm>
          <a:prstGeom prst="triangle">
            <a:avLst>
              <a:gd name="adj" fmla="val 50738"/>
            </a:avLst>
          </a:prstGeom>
          <a:solidFill>
            <a:srgbClr val="C29CFA">
              <a:alpha val="4078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Isosceles Triangle 128">
            <a:extLst>
              <a:ext uri="{FF2B5EF4-FFF2-40B4-BE49-F238E27FC236}">
                <a16:creationId xmlns:a16="http://schemas.microsoft.com/office/drawing/2014/main" id="{390A2068-D161-6231-98BA-5D4F6FFB40A6}"/>
              </a:ext>
            </a:extLst>
          </p:cNvPr>
          <p:cNvSpPr/>
          <p:nvPr/>
        </p:nvSpPr>
        <p:spPr>
          <a:xfrm rot="9193793">
            <a:off x="7917523" y="2785888"/>
            <a:ext cx="2110265" cy="2205903"/>
          </a:xfrm>
          <a:prstGeom prst="triangle">
            <a:avLst>
              <a:gd name="adj" fmla="val 50738"/>
            </a:avLst>
          </a:prstGeom>
          <a:solidFill>
            <a:srgbClr val="F6BFA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2A6DB-EA25-30C7-9C45-1C9B9FA1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выведет эта программа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FCFC8-6FA7-7615-48C6-F132DEB00B1E}"/>
              </a:ext>
            </a:extLst>
          </p:cNvPr>
          <p:cNvSpPr txBox="1"/>
          <p:nvPr/>
        </p:nvSpPr>
        <p:spPr>
          <a:xfrm>
            <a:off x="838199" y="1690688"/>
            <a:ext cx="52578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m1;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m2;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[] {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A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lk1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 m1 };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B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++x;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// C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// D: lk1.~lock_guard();</a:t>
            </a:r>
          </a:p>
          <a:p>
            <a:r>
              <a:rPr lang="en-US" sz="1600" dirty="0">
                <a:solidFill>
                  <a:srgbClr val="008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    // E: return;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[] {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</a:t>
            </a:r>
            <a:r>
              <a:rPr lang="en-US" sz="1600" dirty="0">
                <a:solidFill>
                  <a:srgbClr val="008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G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lk2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 m2 };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H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FF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++x;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// I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    // J: lk2.~lock_guard();</a:t>
            </a:r>
          </a:p>
          <a:p>
            <a:r>
              <a:rPr lang="en-US" sz="1600" dirty="0">
                <a:solidFill>
                  <a:srgbClr val="008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       // K: return;</a:t>
            </a:r>
            <a:endParaRPr lang="en-US" sz="1600" b="0" dirty="0">
              <a:solidFill>
                <a:srgbClr val="000000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L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m1 };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M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// O: lk3.~lock_guard();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// P: t2.~jthread();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R: t1.~jthread N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main arrow">
            <a:extLst>
              <a:ext uri="{FF2B5EF4-FFF2-40B4-BE49-F238E27FC236}">
                <a16:creationId xmlns:a16="http://schemas.microsoft.com/office/drawing/2014/main" id="{887313E5-19DA-AE71-2992-AE433CF256B7}"/>
              </a:ext>
            </a:extLst>
          </p:cNvPr>
          <p:cNvCxnSpPr>
            <a:cxnSpLocks/>
          </p:cNvCxnSpPr>
          <p:nvPr/>
        </p:nvCxnSpPr>
        <p:spPr>
          <a:xfrm>
            <a:off x="7989389" y="1682509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1 arrow">
            <a:extLst>
              <a:ext uri="{FF2B5EF4-FFF2-40B4-BE49-F238E27FC236}">
                <a16:creationId xmlns:a16="http://schemas.microsoft.com/office/drawing/2014/main" id="{27C6F42F-74EA-F839-BC66-F977BFD748A0}"/>
              </a:ext>
            </a:extLst>
          </p:cNvPr>
          <p:cNvCxnSpPr>
            <a:cxnSpLocks/>
          </p:cNvCxnSpPr>
          <p:nvPr/>
        </p:nvCxnSpPr>
        <p:spPr>
          <a:xfrm>
            <a:off x="9245436" y="1682509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BF7EFAA-9DCA-87D5-49F0-98DEDC3D8E1B}"/>
              </a:ext>
            </a:extLst>
          </p:cNvPr>
          <p:cNvSpPr/>
          <p:nvPr/>
        </p:nvSpPr>
        <p:spPr>
          <a:xfrm>
            <a:off x="7809389" y="1777717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438B1E-0EE0-1E2F-0203-DEEAF764C789}"/>
              </a:ext>
            </a:extLst>
          </p:cNvPr>
          <p:cNvSpPr/>
          <p:nvPr/>
        </p:nvSpPr>
        <p:spPr>
          <a:xfrm>
            <a:off x="7809389" y="2466129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3C22ADC-C0D6-80CA-83DB-B1E0154C440C}"/>
              </a:ext>
            </a:extLst>
          </p:cNvPr>
          <p:cNvSpPr/>
          <p:nvPr/>
        </p:nvSpPr>
        <p:spPr>
          <a:xfrm>
            <a:off x="7804067" y="3187680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DD5E66-A215-61D2-CC92-A971AF0BCD4A}"/>
              </a:ext>
            </a:extLst>
          </p:cNvPr>
          <p:cNvSpPr/>
          <p:nvPr/>
        </p:nvSpPr>
        <p:spPr>
          <a:xfrm>
            <a:off x="7809388" y="3984683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462708-0B2F-8B97-0A80-706D2E2B54A1}"/>
              </a:ext>
            </a:extLst>
          </p:cNvPr>
          <p:cNvSpPr/>
          <p:nvPr/>
        </p:nvSpPr>
        <p:spPr>
          <a:xfrm>
            <a:off x="7809389" y="4834407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E21DCD-E5CB-09E4-0056-F37778B2DEEC}"/>
              </a:ext>
            </a:extLst>
          </p:cNvPr>
          <p:cNvSpPr/>
          <p:nvPr/>
        </p:nvSpPr>
        <p:spPr>
          <a:xfrm>
            <a:off x="9065436" y="1777717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43D5FF-95F4-9D4C-0FAC-57FB975382A3}"/>
              </a:ext>
            </a:extLst>
          </p:cNvPr>
          <p:cNvSpPr/>
          <p:nvPr/>
        </p:nvSpPr>
        <p:spPr>
          <a:xfrm>
            <a:off x="9065436" y="2648574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25E4A7-FA57-C24E-9BF0-548082F419A1}"/>
              </a:ext>
            </a:extLst>
          </p:cNvPr>
          <p:cNvSpPr/>
          <p:nvPr/>
        </p:nvSpPr>
        <p:spPr>
          <a:xfrm>
            <a:off x="9065436" y="3519431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9" name="main">
            <a:extLst>
              <a:ext uri="{FF2B5EF4-FFF2-40B4-BE49-F238E27FC236}">
                <a16:creationId xmlns:a16="http://schemas.microsoft.com/office/drawing/2014/main" id="{AD31341E-8E99-CE0E-EC94-6754B85C9BCF}"/>
              </a:ext>
            </a:extLst>
          </p:cNvPr>
          <p:cNvSpPr txBox="1"/>
          <p:nvPr/>
        </p:nvSpPr>
        <p:spPr>
          <a:xfrm>
            <a:off x="7553130" y="1320958"/>
            <a:ext cx="87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23" name="t2 Arrow">
            <a:extLst>
              <a:ext uri="{FF2B5EF4-FFF2-40B4-BE49-F238E27FC236}">
                <a16:creationId xmlns:a16="http://schemas.microsoft.com/office/drawing/2014/main" id="{2416175F-D50F-882A-66C4-589DFC252CBE}"/>
              </a:ext>
            </a:extLst>
          </p:cNvPr>
          <p:cNvCxnSpPr>
            <a:cxnSpLocks/>
          </p:cNvCxnSpPr>
          <p:nvPr/>
        </p:nvCxnSpPr>
        <p:spPr>
          <a:xfrm>
            <a:off x="10501483" y="1682509"/>
            <a:ext cx="0" cy="5025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497F9EE-E41E-2CD9-0BAB-01B1F3CAC181}"/>
              </a:ext>
            </a:extLst>
          </p:cNvPr>
          <p:cNvSpPr/>
          <p:nvPr/>
        </p:nvSpPr>
        <p:spPr>
          <a:xfrm>
            <a:off x="10321483" y="1777717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B98850-699F-41CE-95A6-01D14F74617B}"/>
              </a:ext>
            </a:extLst>
          </p:cNvPr>
          <p:cNvSpPr/>
          <p:nvPr/>
        </p:nvSpPr>
        <p:spPr>
          <a:xfrm>
            <a:off x="10321483" y="2648574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B60970-5737-1B5D-04E2-680D9AC31F0D}"/>
              </a:ext>
            </a:extLst>
          </p:cNvPr>
          <p:cNvSpPr/>
          <p:nvPr/>
        </p:nvSpPr>
        <p:spPr>
          <a:xfrm>
            <a:off x="10321483" y="3519431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1677102-AA1D-53E7-B8B2-3D2711FCAF58}"/>
              </a:ext>
            </a:extLst>
          </p:cNvPr>
          <p:cNvSpPr/>
          <p:nvPr/>
        </p:nvSpPr>
        <p:spPr>
          <a:xfrm>
            <a:off x="9063841" y="4390288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58A0111-8E25-79C0-3FA3-C498DB50364F}"/>
              </a:ext>
            </a:extLst>
          </p:cNvPr>
          <p:cNvSpPr/>
          <p:nvPr/>
        </p:nvSpPr>
        <p:spPr>
          <a:xfrm>
            <a:off x="10322483" y="4390288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</a:t>
            </a:r>
          </a:p>
        </p:txBody>
      </p:sp>
      <p:cxnSp>
        <p:nvCxnSpPr>
          <p:cNvPr id="29" name="F sync with A">
            <a:extLst>
              <a:ext uri="{FF2B5EF4-FFF2-40B4-BE49-F238E27FC236}">
                <a16:creationId xmlns:a16="http://schemas.microsoft.com/office/drawing/2014/main" id="{53AD361E-3A5B-C2B5-0608-D8ED038A890C}"/>
              </a:ext>
            </a:extLst>
          </p:cNvPr>
          <p:cNvCxnSpPr>
            <a:cxnSpLocks/>
            <a:stCxn id="9" idx="6"/>
            <a:endCxn id="14" idx="2"/>
          </p:cNvCxnSpPr>
          <p:nvPr/>
        </p:nvCxnSpPr>
        <p:spPr>
          <a:xfrm>
            <a:off x="8169389" y="1957717"/>
            <a:ext cx="89604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 sync with G">
            <a:extLst>
              <a:ext uri="{FF2B5EF4-FFF2-40B4-BE49-F238E27FC236}">
                <a16:creationId xmlns:a16="http://schemas.microsoft.com/office/drawing/2014/main" id="{39BAB039-2707-331D-F219-8B9BDB9B200D}"/>
              </a:ext>
            </a:extLst>
          </p:cNvPr>
          <p:cNvCxnSpPr>
            <a:cxnSpLocks/>
            <a:stCxn id="10" idx="7"/>
            <a:endCxn id="24" idx="2"/>
          </p:cNvCxnSpPr>
          <p:nvPr/>
        </p:nvCxnSpPr>
        <p:spPr>
          <a:xfrm flipV="1">
            <a:off x="8116668" y="1957717"/>
            <a:ext cx="2204815" cy="56113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K sync with P">
            <a:extLst>
              <a:ext uri="{FF2B5EF4-FFF2-40B4-BE49-F238E27FC236}">
                <a16:creationId xmlns:a16="http://schemas.microsoft.com/office/drawing/2014/main" id="{C6DF3D1C-94C8-3836-D504-F407D6AFB5AA}"/>
              </a:ext>
            </a:extLst>
          </p:cNvPr>
          <p:cNvCxnSpPr>
            <a:cxnSpLocks/>
            <a:stCxn id="57" idx="2"/>
            <a:endCxn id="48" idx="6"/>
          </p:cNvCxnSpPr>
          <p:nvPr/>
        </p:nvCxnSpPr>
        <p:spPr>
          <a:xfrm flipH="1">
            <a:off x="8162494" y="5597007"/>
            <a:ext cx="2158989" cy="372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 sync with R">
            <a:extLst>
              <a:ext uri="{FF2B5EF4-FFF2-40B4-BE49-F238E27FC236}">
                <a16:creationId xmlns:a16="http://schemas.microsoft.com/office/drawing/2014/main" id="{1425560B-377A-EA6B-1D7C-87AED433A306}"/>
              </a:ext>
            </a:extLst>
          </p:cNvPr>
          <p:cNvCxnSpPr>
            <a:cxnSpLocks/>
            <a:stCxn id="58" idx="3"/>
            <a:endCxn id="49" idx="7"/>
          </p:cNvCxnSpPr>
          <p:nvPr/>
        </p:nvCxnSpPr>
        <p:spPr>
          <a:xfrm flipH="1">
            <a:off x="8116667" y="5413977"/>
            <a:ext cx="994594" cy="73382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 sync with M">
            <a:extLst>
              <a:ext uri="{FF2B5EF4-FFF2-40B4-BE49-F238E27FC236}">
                <a16:creationId xmlns:a16="http://schemas.microsoft.com/office/drawing/2014/main" id="{B389E7F7-DA5D-931C-36A2-01B0965A1F4D}"/>
              </a:ext>
            </a:extLst>
          </p:cNvPr>
          <p:cNvCxnSpPr>
            <a:cxnSpLocks/>
            <a:stCxn id="27" idx="1"/>
            <a:endCxn id="11" idx="5"/>
          </p:cNvCxnSpPr>
          <p:nvPr/>
        </p:nvCxnSpPr>
        <p:spPr>
          <a:xfrm flipH="1" flipV="1">
            <a:off x="8111346" y="3494959"/>
            <a:ext cx="1005216" cy="9480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O sync with B">
            <a:extLst>
              <a:ext uri="{FF2B5EF4-FFF2-40B4-BE49-F238E27FC236}">
                <a16:creationId xmlns:a16="http://schemas.microsoft.com/office/drawing/2014/main" id="{DF4E702E-1C63-ECCA-2B5C-659A1CEF6C64}"/>
              </a:ext>
            </a:extLst>
          </p:cNvPr>
          <p:cNvCxnSpPr>
            <a:cxnSpLocks/>
            <a:stCxn id="13" idx="7"/>
            <a:endCxn id="15" idx="3"/>
          </p:cNvCxnSpPr>
          <p:nvPr/>
        </p:nvCxnSpPr>
        <p:spPr>
          <a:xfrm flipV="1">
            <a:off x="8116668" y="2955853"/>
            <a:ext cx="1001489" cy="19312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1">
            <a:extLst>
              <a:ext uri="{FF2B5EF4-FFF2-40B4-BE49-F238E27FC236}">
                <a16:creationId xmlns:a16="http://schemas.microsoft.com/office/drawing/2014/main" id="{804268BD-FDFB-07D4-3D0E-CA087745B3FC}"/>
              </a:ext>
            </a:extLst>
          </p:cNvPr>
          <p:cNvSpPr txBox="1"/>
          <p:nvPr/>
        </p:nvSpPr>
        <p:spPr>
          <a:xfrm>
            <a:off x="8776649" y="1320958"/>
            <a:ext cx="87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37" name="t2">
            <a:extLst>
              <a:ext uri="{FF2B5EF4-FFF2-40B4-BE49-F238E27FC236}">
                <a16:creationId xmlns:a16="http://schemas.microsoft.com/office/drawing/2014/main" id="{F682E16E-FDAA-8FB8-EEE7-88D7CD1F7F27}"/>
              </a:ext>
            </a:extLst>
          </p:cNvPr>
          <p:cNvSpPr txBox="1"/>
          <p:nvPr/>
        </p:nvSpPr>
        <p:spPr>
          <a:xfrm>
            <a:off x="10066515" y="1320958"/>
            <a:ext cx="872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t2</a:t>
            </a:r>
          </a:p>
        </p:txBody>
      </p:sp>
      <p:cxnSp>
        <p:nvCxnSpPr>
          <p:cNvPr id="38" name="N HB O">
            <a:extLst>
              <a:ext uri="{FF2B5EF4-FFF2-40B4-BE49-F238E27FC236}">
                <a16:creationId xmlns:a16="http://schemas.microsoft.com/office/drawing/2014/main" id="{285EAF6B-E4FF-E021-0268-C9A121721B1D}"/>
              </a:ext>
            </a:extLst>
          </p:cNvPr>
          <p:cNvCxnSpPr>
            <a:cxnSpLocks/>
            <a:stCxn id="12" idx="2"/>
            <a:endCxn id="13" idx="2"/>
          </p:cNvCxnSpPr>
          <p:nvPr/>
        </p:nvCxnSpPr>
        <p:spPr>
          <a:xfrm rot="10800000" flipH="1" flipV="1">
            <a:off x="7809387" y="4164683"/>
            <a:ext cx="1" cy="849724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4891DBE-2AF0-8230-8D22-A8C3396C2FB8}"/>
              </a:ext>
            </a:extLst>
          </p:cNvPr>
          <p:cNvSpPr/>
          <p:nvPr/>
        </p:nvSpPr>
        <p:spPr>
          <a:xfrm>
            <a:off x="7802494" y="5454278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4A4D31-3F89-2F98-7899-46E94C74F910}"/>
              </a:ext>
            </a:extLst>
          </p:cNvPr>
          <p:cNvSpPr/>
          <p:nvPr/>
        </p:nvSpPr>
        <p:spPr>
          <a:xfrm>
            <a:off x="7809388" y="6095077"/>
            <a:ext cx="360000" cy="36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0F1C3AC-CC12-BD1D-C055-B8BF7B85312C}"/>
              </a:ext>
            </a:extLst>
          </p:cNvPr>
          <p:cNvSpPr/>
          <p:nvPr/>
        </p:nvSpPr>
        <p:spPr>
          <a:xfrm>
            <a:off x="10321483" y="5417007"/>
            <a:ext cx="360000" cy="360000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227E617-E7DA-DD1C-827D-22B7BF469D8A}"/>
              </a:ext>
            </a:extLst>
          </p:cNvPr>
          <p:cNvSpPr/>
          <p:nvPr/>
        </p:nvSpPr>
        <p:spPr>
          <a:xfrm>
            <a:off x="9058540" y="5106698"/>
            <a:ext cx="360000" cy="360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67" name="O HB B">
            <a:extLst>
              <a:ext uri="{FF2B5EF4-FFF2-40B4-BE49-F238E27FC236}">
                <a16:creationId xmlns:a16="http://schemas.microsoft.com/office/drawing/2014/main" id="{2FA1590B-2E1F-CA6E-9FB7-38A19FDCDC5A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 flipV="1">
            <a:off x="8169389" y="2828574"/>
            <a:ext cx="896047" cy="2185833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B HB C red">
            <a:extLst>
              <a:ext uri="{FF2B5EF4-FFF2-40B4-BE49-F238E27FC236}">
                <a16:creationId xmlns:a16="http://schemas.microsoft.com/office/drawing/2014/main" id="{67BB43B2-FA85-218D-61CB-92B43F8C1F60}"/>
              </a:ext>
            </a:extLst>
          </p:cNvPr>
          <p:cNvCxnSpPr>
            <a:cxnSpLocks/>
            <a:stCxn id="15" idx="6"/>
            <a:endCxn id="16" idx="6"/>
          </p:cNvCxnSpPr>
          <p:nvPr/>
        </p:nvCxnSpPr>
        <p:spPr>
          <a:xfrm>
            <a:off x="9425436" y="2828574"/>
            <a:ext cx="12700" cy="87085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 HB D">
            <a:extLst>
              <a:ext uri="{FF2B5EF4-FFF2-40B4-BE49-F238E27FC236}">
                <a16:creationId xmlns:a16="http://schemas.microsoft.com/office/drawing/2014/main" id="{6339294B-20CC-F314-1599-432F48235C99}"/>
              </a:ext>
            </a:extLst>
          </p:cNvPr>
          <p:cNvCxnSpPr>
            <a:cxnSpLocks/>
            <a:stCxn id="16" idx="6"/>
            <a:endCxn id="27" idx="6"/>
          </p:cNvCxnSpPr>
          <p:nvPr/>
        </p:nvCxnSpPr>
        <p:spPr>
          <a:xfrm flipH="1">
            <a:off x="9423841" y="3699431"/>
            <a:ext cx="1595" cy="870857"/>
          </a:xfrm>
          <a:prstGeom prst="curvedConnector3">
            <a:avLst>
              <a:gd name="adj1" fmla="val -1433228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D HB M">
            <a:extLst>
              <a:ext uri="{FF2B5EF4-FFF2-40B4-BE49-F238E27FC236}">
                <a16:creationId xmlns:a16="http://schemas.microsoft.com/office/drawing/2014/main" id="{172CF5AA-D73B-2719-D840-8BFF3C3AE2EA}"/>
              </a:ext>
            </a:extLst>
          </p:cNvPr>
          <p:cNvCxnSpPr>
            <a:cxnSpLocks/>
            <a:stCxn id="27" idx="2"/>
            <a:endCxn id="11" idx="6"/>
          </p:cNvCxnSpPr>
          <p:nvPr/>
        </p:nvCxnSpPr>
        <p:spPr>
          <a:xfrm rot="10800000">
            <a:off x="8164067" y="3367680"/>
            <a:ext cx="899774" cy="1202608"/>
          </a:xfrm>
          <a:prstGeom prst="curvedConnector3">
            <a:avLst>
              <a:gd name="adj1" fmla="val 50000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M HB N green">
            <a:extLst>
              <a:ext uri="{FF2B5EF4-FFF2-40B4-BE49-F238E27FC236}">
                <a16:creationId xmlns:a16="http://schemas.microsoft.com/office/drawing/2014/main" id="{BA4542BE-2F8B-949D-053C-67FBE23C3476}"/>
              </a:ext>
            </a:extLst>
          </p:cNvPr>
          <p:cNvCxnSpPr>
            <a:cxnSpLocks/>
            <a:stCxn id="11" idx="2"/>
            <a:endCxn id="12" idx="2"/>
          </p:cNvCxnSpPr>
          <p:nvPr/>
        </p:nvCxnSpPr>
        <p:spPr>
          <a:xfrm rot="10800000" flipH="1" flipV="1">
            <a:off x="7804066" y="3367679"/>
            <a:ext cx="5321" cy="797003"/>
          </a:xfrm>
          <a:prstGeom prst="curvedConnector3">
            <a:avLst>
              <a:gd name="adj1" fmla="val -10940951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B HB C green">
            <a:extLst>
              <a:ext uri="{FF2B5EF4-FFF2-40B4-BE49-F238E27FC236}">
                <a16:creationId xmlns:a16="http://schemas.microsoft.com/office/drawing/2014/main" id="{B48183A4-1EE5-19FA-E730-E7D897C7D6FD}"/>
              </a:ext>
            </a:extLst>
          </p:cNvPr>
          <p:cNvCxnSpPr>
            <a:cxnSpLocks/>
            <a:stCxn id="15" idx="6"/>
            <a:endCxn id="16" idx="6"/>
          </p:cNvCxnSpPr>
          <p:nvPr/>
        </p:nvCxnSpPr>
        <p:spPr>
          <a:xfrm>
            <a:off x="9425436" y="2828574"/>
            <a:ext cx="12700" cy="870857"/>
          </a:xfrm>
          <a:prstGeom prst="curvedConnector3">
            <a:avLst>
              <a:gd name="adj1" fmla="val 3816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M HB N red">
            <a:extLst>
              <a:ext uri="{FF2B5EF4-FFF2-40B4-BE49-F238E27FC236}">
                <a16:creationId xmlns:a16="http://schemas.microsoft.com/office/drawing/2014/main" id="{D918EE54-289A-6580-6E4F-B4B94B95323C}"/>
              </a:ext>
            </a:extLst>
          </p:cNvPr>
          <p:cNvCxnSpPr>
            <a:cxnSpLocks/>
            <a:stCxn id="11" idx="2"/>
            <a:endCxn id="12" idx="2"/>
          </p:cNvCxnSpPr>
          <p:nvPr/>
        </p:nvCxnSpPr>
        <p:spPr>
          <a:xfrm rot="10800000" flipH="1" flipV="1">
            <a:off x="7804066" y="3367679"/>
            <a:ext cx="5321" cy="797003"/>
          </a:xfrm>
          <a:prstGeom prst="curvedConnector3">
            <a:avLst>
              <a:gd name="adj1" fmla="val -521270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F HB B">
            <a:extLst>
              <a:ext uri="{FF2B5EF4-FFF2-40B4-BE49-F238E27FC236}">
                <a16:creationId xmlns:a16="http://schemas.microsoft.com/office/drawing/2014/main" id="{89179A55-E54C-E113-0DD2-AFE17E248ECE}"/>
              </a:ext>
            </a:extLst>
          </p:cNvPr>
          <p:cNvCxnSpPr>
            <a:cxnSpLocks/>
            <a:stCxn id="9" idx="5"/>
            <a:endCxn id="15" idx="1"/>
          </p:cNvCxnSpPr>
          <p:nvPr/>
        </p:nvCxnSpPr>
        <p:spPr>
          <a:xfrm rot="16200000" flipH="1">
            <a:off x="8309263" y="1892400"/>
            <a:ext cx="616299" cy="1001489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F HB M">
            <a:extLst>
              <a:ext uri="{FF2B5EF4-FFF2-40B4-BE49-F238E27FC236}">
                <a16:creationId xmlns:a16="http://schemas.microsoft.com/office/drawing/2014/main" id="{D4731C7A-49F7-584A-3A80-CA3088814D80}"/>
              </a:ext>
            </a:extLst>
          </p:cNvPr>
          <p:cNvCxnSpPr>
            <a:cxnSpLocks/>
            <a:stCxn id="9" idx="2"/>
            <a:endCxn id="11" idx="2"/>
          </p:cNvCxnSpPr>
          <p:nvPr/>
        </p:nvCxnSpPr>
        <p:spPr>
          <a:xfrm rot="10800000" flipV="1">
            <a:off x="7804067" y="1957716"/>
            <a:ext cx="5322" cy="1409963"/>
          </a:xfrm>
          <a:prstGeom prst="curvedConnector3">
            <a:avLst>
              <a:gd name="adj1" fmla="val 439537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F HB G">
            <a:extLst>
              <a:ext uri="{FF2B5EF4-FFF2-40B4-BE49-F238E27FC236}">
                <a16:creationId xmlns:a16="http://schemas.microsoft.com/office/drawing/2014/main" id="{CC7EA872-D10C-831C-B206-E51B020DEA2D}"/>
              </a:ext>
            </a:extLst>
          </p:cNvPr>
          <p:cNvCxnSpPr>
            <a:cxnSpLocks/>
            <a:stCxn id="10" idx="7"/>
            <a:endCxn id="24" idx="1"/>
          </p:cNvCxnSpPr>
          <p:nvPr/>
        </p:nvCxnSpPr>
        <p:spPr>
          <a:xfrm rot="5400000" flipH="1" flipV="1">
            <a:off x="8901230" y="1045876"/>
            <a:ext cx="688412" cy="2257536"/>
          </a:xfrm>
          <a:prstGeom prst="curvedConnector3">
            <a:avLst>
              <a:gd name="adj1" fmla="val 140865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G HB I">
            <a:extLst>
              <a:ext uri="{FF2B5EF4-FFF2-40B4-BE49-F238E27FC236}">
                <a16:creationId xmlns:a16="http://schemas.microsoft.com/office/drawing/2014/main" id="{68F5E6EA-4FDE-8B62-2CBC-655D31D81639}"/>
              </a:ext>
            </a:extLst>
          </p:cNvPr>
          <p:cNvCxnSpPr>
            <a:cxnSpLocks/>
            <a:stCxn id="24" idx="6"/>
            <a:endCxn id="26" idx="6"/>
          </p:cNvCxnSpPr>
          <p:nvPr/>
        </p:nvCxnSpPr>
        <p:spPr>
          <a:xfrm>
            <a:off x="10681483" y="1957717"/>
            <a:ext cx="12700" cy="1741714"/>
          </a:xfrm>
          <a:prstGeom prst="curvedConnector3">
            <a:avLst>
              <a:gd name="adj1" fmla="val 180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93903AE8-1397-2666-2995-E1D76B31E9D7}"/>
              </a:ext>
            </a:extLst>
          </p:cNvPr>
          <p:cNvSpPr/>
          <p:nvPr/>
        </p:nvSpPr>
        <p:spPr>
          <a:xfrm rot="16200000">
            <a:off x="9549083" y="2653196"/>
            <a:ext cx="667386" cy="206161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65BEA5B-5F34-EE38-7CA3-F3EB7BB5D949}"/>
              </a:ext>
            </a:extLst>
          </p:cNvPr>
          <p:cNvSpPr/>
          <p:nvPr/>
        </p:nvSpPr>
        <p:spPr>
          <a:xfrm rot="15596148">
            <a:off x="9003402" y="2293858"/>
            <a:ext cx="665375" cy="3293189"/>
          </a:xfrm>
          <a:custGeom>
            <a:avLst/>
            <a:gdLst>
              <a:gd name="connsiteX0" fmla="*/ 0 w 667386"/>
              <a:gd name="connsiteY0" fmla="*/ 1733790 h 3467580"/>
              <a:gd name="connsiteX1" fmla="*/ 333693 w 667386"/>
              <a:gd name="connsiteY1" fmla="*/ 0 h 3467580"/>
              <a:gd name="connsiteX2" fmla="*/ 667386 w 667386"/>
              <a:gd name="connsiteY2" fmla="*/ 1733790 h 3467580"/>
              <a:gd name="connsiteX3" fmla="*/ 333693 w 667386"/>
              <a:gd name="connsiteY3" fmla="*/ 3467580 h 3467580"/>
              <a:gd name="connsiteX4" fmla="*/ 0 w 667386"/>
              <a:gd name="connsiteY4" fmla="*/ 1733790 h 3467580"/>
              <a:gd name="connsiteX0" fmla="*/ 0 w 368784"/>
              <a:gd name="connsiteY0" fmla="*/ 1733790 h 3467580"/>
              <a:gd name="connsiteX1" fmla="*/ 333693 w 368784"/>
              <a:gd name="connsiteY1" fmla="*/ 0 h 3467580"/>
              <a:gd name="connsiteX2" fmla="*/ 358754 w 368784"/>
              <a:gd name="connsiteY2" fmla="*/ 1728543 h 3467580"/>
              <a:gd name="connsiteX3" fmla="*/ 333693 w 368784"/>
              <a:gd name="connsiteY3" fmla="*/ 3467580 h 3467580"/>
              <a:gd name="connsiteX4" fmla="*/ 0 w 368784"/>
              <a:gd name="connsiteY4" fmla="*/ 1733790 h 3467580"/>
              <a:gd name="connsiteX0" fmla="*/ 0 w 368784"/>
              <a:gd name="connsiteY0" fmla="*/ 1733790 h 3467580"/>
              <a:gd name="connsiteX1" fmla="*/ 333693 w 368784"/>
              <a:gd name="connsiteY1" fmla="*/ 0 h 3467580"/>
              <a:gd name="connsiteX2" fmla="*/ 358754 w 368784"/>
              <a:gd name="connsiteY2" fmla="*/ 1728543 h 3467580"/>
              <a:gd name="connsiteX3" fmla="*/ 333693 w 368784"/>
              <a:gd name="connsiteY3" fmla="*/ 3467580 h 3467580"/>
              <a:gd name="connsiteX4" fmla="*/ 0 w 368784"/>
              <a:gd name="connsiteY4" fmla="*/ 1733790 h 3467580"/>
              <a:gd name="connsiteX0" fmla="*/ 0 w 402670"/>
              <a:gd name="connsiteY0" fmla="*/ 1733790 h 3467580"/>
              <a:gd name="connsiteX1" fmla="*/ 333693 w 402670"/>
              <a:gd name="connsiteY1" fmla="*/ 0 h 3467580"/>
              <a:gd name="connsiteX2" fmla="*/ 358754 w 402670"/>
              <a:gd name="connsiteY2" fmla="*/ 1728543 h 3467580"/>
              <a:gd name="connsiteX3" fmla="*/ 333693 w 402670"/>
              <a:gd name="connsiteY3" fmla="*/ 3467580 h 3467580"/>
              <a:gd name="connsiteX4" fmla="*/ 0 w 402670"/>
              <a:gd name="connsiteY4" fmla="*/ 1733790 h 3467580"/>
              <a:gd name="connsiteX0" fmla="*/ 0 w 356280"/>
              <a:gd name="connsiteY0" fmla="*/ 1733791 h 3467582"/>
              <a:gd name="connsiteX1" fmla="*/ 333693 w 356280"/>
              <a:gd name="connsiteY1" fmla="*/ 1 h 3467582"/>
              <a:gd name="connsiteX2" fmla="*/ 272593 w 356280"/>
              <a:gd name="connsiteY2" fmla="*/ 1725634 h 3467582"/>
              <a:gd name="connsiteX3" fmla="*/ 333693 w 356280"/>
              <a:gd name="connsiteY3" fmla="*/ 3467581 h 3467582"/>
              <a:gd name="connsiteX4" fmla="*/ 0 w 356280"/>
              <a:gd name="connsiteY4" fmla="*/ 1733791 h 3467582"/>
              <a:gd name="connsiteX0" fmla="*/ 0 w 345669"/>
              <a:gd name="connsiteY0" fmla="*/ 1733791 h 3467582"/>
              <a:gd name="connsiteX1" fmla="*/ 333693 w 345669"/>
              <a:gd name="connsiteY1" fmla="*/ 1 h 3467582"/>
              <a:gd name="connsiteX2" fmla="*/ 272593 w 345669"/>
              <a:gd name="connsiteY2" fmla="*/ 1725634 h 3467582"/>
              <a:gd name="connsiteX3" fmla="*/ 333693 w 345669"/>
              <a:gd name="connsiteY3" fmla="*/ 3467581 h 3467582"/>
              <a:gd name="connsiteX4" fmla="*/ 0 w 345669"/>
              <a:gd name="connsiteY4" fmla="*/ 1733791 h 3467582"/>
              <a:gd name="connsiteX0" fmla="*/ 16106 w 538263"/>
              <a:gd name="connsiteY0" fmla="*/ 1733791 h 3505572"/>
              <a:gd name="connsiteX1" fmla="*/ 349799 w 538263"/>
              <a:gd name="connsiteY1" fmla="*/ 1 h 3505572"/>
              <a:gd name="connsiteX2" fmla="*/ 288699 w 538263"/>
              <a:gd name="connsiteY2" fmla="*/ 1725634 h 3505572"/>
              <a:gd name="connsiteX3" fmla="*/ 349799 w 538263"/>
              <a:gd name="connsiteY3" fmla="*/ 3467581 h 3505572"/>
              <a:gd name="connsiteX4" fmla="*/ 16106 w 538263"/>
              <a:gd name="connsiteY4" fmla="*/ 1733791 h 3505572"/>
              <a:gd name="connsiteX0" fmla="*/ 1727 w 665013"/>
              <a:gd name="connsiteY0" fmla="*/ 1733791 h 3465148"/>
              <a:gd name="connsiteX1" fmla="*/ 335420 w 665013"/>
              <a:gd name="connsiteY1" fmla="*/ 1 h 3465148"/>
              <a:gd name="connsiteX2" fmla="*/ 274320 w 665013"/>
              <a:gd name="connsiteY2" fmla="*/ 1725634 h 3465148"/>
              <a:gd name="connsiteX3" fmla="*/ 502130 w 665013"/>
              <a:gd name="connsiteY3" fmla="*/ 3435256 h 3465148"/>
              <a:gd name="connsiteX4" fmla="*/ 1727 w 665013"/>
              <a:gd name="connsiteY4" fmla="*/ 1733791 h 3465148"/>
              <a:gd name="connsiteX0" fmla="*/ 40020 w 703306"/>
              <a:gd name="connsiteY0" fmla="*/ 1742892 h 3474249"/>
              <a:gd name="connsiteX1" fmla="*/ 373713 w 703306"/>
              <a:gd name="connsiteY1" fmla="*/ 9102 h 3474249"/>
              <a:gd name="connsiteX2" fmla="*/ 312613 w 703306"/>
              <a:gd name="connsiteY2" fmla="*/ 1734735 h 3474249"/>
              <a:gd name="connsiteX3" fmla="*/ 540423 w 703306"/>
              <a:gd name="connsiteY3" fmla="*/ 3444357 h 3474249"/>
              <a:gd name="connsiteX4" fmla="*/ 40020 w 703306"/>
              <a:gd name="connsiteY4" fmla="*/ 1742892 h 3474249"/>
              <a:gd name="connsiteX0" fmla="*/ 4906 w 665375"/>
              <a:gd name="connsiteY0" fmla="*/ 1562378 h 3293189"/>
              <a:gd name="connsiteX1" fmla="*/ 454954 w 665375"/>
              <a:gd name="connsiteY1" fmla="*/ 10212 h 3293189"/>
              <a:gd name="connsiteX2" fmla="*/ 277499 w 665375"/>
              <a:gd name="connsiteY2" fmla="*/ 1554221 h 3293189"/>
              <a:gd name="connsiteX3" fmla="*/ 505309 w 665375"/>
              <a:gd name="connsiteY3" fmla="*/ 3263843 h 3293189"/>
              <a:gd name="connsiteX4" fmla="*/ 4906 w 665375"/>
              <a:gd name="connsiteY4" fmla="*/ 1562378 h 329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375" h="3293189">
                <a:moveTo>
                  <a:pt x="4906" y="1562378"/>
                </a:moveTo>
                <a:cubicBezTo>
                  <a:pt x="-3486" y="1020106"/>
                  <a:pt x="-50127" y="-119539"/>
                  <a:pt x="454954" y="10212"/>
                </a:cubicBezTo>
                <a:cubicBezTo>
                  <a:pt x="960035" y="139963"/>
                  <a:pt x="269107" y="1011949"/>
                  <a:pt x="277499" y="1554221"/>
                </a:cubicBezTo>
                <a:cubicBezTo>
                  <a:pt x="285891" y="2096493"/>
                  <a:pt x="966269" y="3014287"/>
                  <a:pt x="505309" y="3263843"/>
                </a:cubicBezTo>
                <a:cubicBezTo>
                  <a:pt x="44349" y="3513399"/>
                  <a:pt x="13298" y="2104650"/>
                  <a:pt x="4906" y="1562378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2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29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8" grpId="0" animBg="1"/>
      <p:bldP spid="49" grpId="0" animBg="1"/>
      <p:bldP spid="57" grpId="0" animBg="1"/>
      <p:bldP spid="58" grpId="0" animBg="1"/>
      <p:bldP spid="127" grpId="0" animBg="1"/>
      <p:bldP spid="1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4B7C-F487-0615-9171-8DA6D2DC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Дизайн </a:t>
            </a:r>
            <a:r>
              <a:rPr lang="ru-RU" dirty="0" err="1"/>
              <a:t>потокобезопасных</a:t>
            </a:r>
            <a:r>
              <a:rPr lang="ru-RU" dirty="0"/>
              <a:t> классов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C4CD6-AB05-A308-6ED2-4505DB837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91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094A4E-F0A0-609C-5868-2723D907E8DE}"/>
              </a:ext>
            </a:extLst>
          </p:cNvPr>
          <p:cNvSpPr txBox="1"/>
          <p:nvPr/>
        </p:nvSpPr>
        <p:spPr>
          <a:xfrm>
            <a:off x="0" y="0"/>
            <a:ext cx="535577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5E132-59BB-E500-387F-CC6ECE2A102F}"/>
              </a:ext>
            </a:extLst>
          </p:cNvPr>
          <p:cNvSpPr txBox="1"/>
          <p:nvPr/>
        </p:nvSpPr>
        <p:spPr>
          <a:xfrm>
            <a:off x="6095999" y="0"/>
            <a:ext cx="609600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consumer1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44362C-78C3-B8A8-842B-C995225BBB7D}"/>
              </a:ext>
            </a:extLst>
          </p:cNvPr>
          <p:cNvSpPr/>
          <p:nvPr/>
        </p:nvSpPr>
        <p:spPr>
          <a:xfrm>
            <a:off x="8665029" y="5994400"/>
            <a:ext cx="3352800" cy="745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Какие проблемы вы видите в этом коде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6238E6-8A03-730B-0E86-942527E27785}"/>
              </a:ext>
            </a:extLst>
          </p:cNvPr>
          <p:cNvSpPr txBox="1"/>
          <p:nvPr/>
        </p:nvSpPr>
        <p:spPr>
          <a:xfrm>
            <a:off x="4909461" y="6488668"/>
            <a:ext cx="3581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https://godbolt.org/z/8faK5fq7G</a:t>
            </a:r>
            <a:r>
              <a:rPr lang="en-US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C3BF9F-3A04-7E2D-6817-0EF7058E8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227" y="2956024"/>
            <a:ext cx="1567544" cy="158458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A4EF7B6-14A7-C476-D20C-5809470322C5}"/>
              </a:ext>
            </a:extLst>
          </p:cNvPr>
          <p:cNvSpPr/>
          <p:nvPr/>
        </p:nvSpPr>
        <p:spPr>
          <a:xfrm>
            <a:off x="7619998" y="4644571"/>
            <a:ext cx="4394197" cy="5152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Program terminated with signal: SIGSEGV</a:t>
            </a:r>
          </a:p>
        </p:txBody>
      </p:sp>
    </p:spTree>
    <p:extLst>
      <p:ext uri="{BB962C8B-B14F-4D97-AF65-F5344CB8AC3E}">
        <p14:creationId xmlns:p14="http://schemas.microsoft.com/office/powerpoint/2010/main" val="2628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2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2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2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F1827-F385-CD71-1153-4DAA3BFE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1C279B-4E9C-27DA-DBE2-2BA892E16DCD}"/>
              </a:ext>
            </a:extLst>
          </p:cNvPr>
          <p:cNvSpPr txBox="1"/>
          <p:nvPr/>
        </p:nvSpPr>
        <p:spPr>
          <a:xfrm>
            <a:off x="0" y="0"/>
            <a:ext cx="535577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template &lt;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void Push(T value) {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m_stack.push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(std::move(value));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bool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() const {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    return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m_stack.empty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8A1BFF"/>
                </a:solidFill>
                <a:latin typeface="Consolas" panose="020B0609020204030204" pitchFamily="49" charset="0"/>
              </a:rPr>
              <a:t>assert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m_stack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empty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std::stack&lt;T&gt;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mutable std::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A2972-880C-ED12-0797-6879AEC76EB0}"/>
              </a:ext>
            </a:extLst>
          </p:cNvPr>
          <p:cNvSpPr txBox="1"/>
          <p:nvPr/>
        </p:nvSpPr>
        <p:spPr>
          <a:xfrm>
            <a:off x="6095999" y="0"/>
            <a:ext cx="609600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consumer1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65C34-256A-5FF4-1B46-C5B525749E18}"/>
              </a:ext>
            </a:extLst>
          </p:cNvPr>
          <p:cNvSpPr/>
          <p:nvPr/>
        </p:nvSpPr>
        <p:spPr>
          <a:xfrm>
            <a:off x="8665029" y="5994400"/>
            <a:ext cx="3352800" cy="745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Остались ли ещё проблемы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28F1C-49F7-F2B7-B672-7AC7B394271C}"/>
              </a:ext>
            </a:extLst>
          </p:cNvPr>
          <p:cNvSpPr txBox="1"/>
          <p:nvPr/>
        </p:nvSpPr>
        <p:spPr>
          <a:xfrm>
            <a:off x="4909461" y="6475547"/>
            <a:ext cx="3581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https://godbolt.org/z/qzE6rqhd9</a:t>
            </a:r>
            <a:r>
              <a:rPr lang="en-US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62416-EC36-CD1F-CB39-90D52A8B8246}"/>
              </a:ext>
            </a:extLst>
          </p:cNvPr>
          <p:cNvSpPr/>
          <p:nvPr/>
        </p:nvSpPr>
        <p:spPr>
          <a:xfrm>
            <a:off x="203200" y="382453"/>
            <a:ext cx="11321143" cy="9289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output.s</a:t>
            </a:r>
            <a:r>
              <a:rPr lang="en-US" dirty="0"/>
              <a:t>: /app/example.cpp:35: T </a:t>
            </a:r>
            <a:r>
              <a:rPr lang="en-US" dirty="0" err="1"/>
              <a:t>TSStack</a:t>
            </a:r>
            <a:r>
              <a:rPr lang="en-US" dirty="0"/>
              <a:t>&lt;T&gt;::</a:t>
            </a:r>
            <a:r>
              <a:rPr lang="en-US" dirty="0" err="1"/>
              <a:t>GetTop</a:t>
            </a:r>
            <a:r>
              <a:rPr lang="en-US" dirty="0"/>
              <a:t>() const [with T = int]: Assertion `!</a:t>
            </a:r>
            <a:r>
              <a:rPr lang="en-US" dirty="0" err="1"/>
              <a:t>m_stack.empty</a:t>
            </a:r>
            <a:r>
              <a:rPr lang="en-US" dirty="0"/>
              <a:t>()' failed.</a:t>
            </a:r>
          </a:p>
          <a:p>
            <a:r>
              <a:rPr lang="en-US" dirty="0"/>
              <a:t>Program terminated with signal: SIGSEGV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9A3BF8-8052-7828-BD86-7665E23DB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417" y="2901669"/>
            <a:ext cx="1402814" cy="139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12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036700-BC49-77E3-7EB7-124E714B9A0C}"/>
              </a:ext>
            </a:extLst>
          </p:cNvPr>
          <p:cNvSpPr/>
          <p:nvPr/>
        </p:nvSpPr>
        <p:spPr>
          <a:xfrm>
            <a:off x="209320" y="3558448"/>
            <a:ext cx="11843133" cy="2644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C91DF-054A-9D2E-E719-12E0482E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Состояние гонки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ru-RU" dirty="0" err="1"/>
              <a:t>потокобезопасном</a:t>
            </a:r>
            <a:r>
              <a:rPr lang="ru-RU" dirty="0"/>
              <a:t> объекте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4813-72F4-5B36-6DF9-AB2B862A0748}"/>
              </a:ext>
            </a:extLst>
          </p:cNvPr>
          <p:cNvSpPr txBox="1"/>
          <p:nvPr/>
        </p:nvSpPr>
        <p:spPr>
          <a:xfrm>
            <a:off x="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93CFE-BABD-001F-3950-700CF4147D1F}"/>
              </a:ext>
            </a:extLst>
          </p:cNvPr>
          <p:cNvSpPr txBox="1"/>
          <p:nvPr/>
        </p:nvSpPr>
        <p:spPr>
          <a:xfrm>
            <a:off x="6096000" y="269033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46D5C-3A44-37EE-CD39-8A8F0D424F55}"/>
              </a:ext>
            </a:extLst>
          </p:cNvPr>
          <p:cNvSpPr txBox="1"/>
          <p:nvPr/>
        </p:nvSpPr>
        <p:spPr>
          <a:xfrm>
            <a:off x="-32657" y="2327479"/>
            <a:ext cx="1741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 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E2C86-B857-36A2-0AE9-C4D8AE2487EE}"/>
              </a:ext>
            </a:extLst>
          </p:cNvPr>
          <p:cNvSpPr txBox="1"/>
          <p:nvPr/>
        </p:nvSpPr>
        <p:spPr>
          <a:xfrm>
            <a:off x="6128657" y="2321004"/>
            <a:ext cx="1741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 2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09C6D1-FD54-00FB-CD27-42BC767B3C9D}"/>
              </a:ext>
            </a:extLst>
          </p:cNvPr>
          <p:cNvSpPr/>
          <p:nvPr/>
        </p:nvSpPr>
        <p:spPr>
          <a:xfrm>
            <a:off x="4065224" y="5049014"/>
            <a:ext cx="661012" cy="605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415C5-4E84-6D8B-FD34-C56A6CE7A471}"/>
              </a:ext>
            </a:extLst>
          </p:cNvPr>
          <p:cNvSpPr txBox="1"/>
          <p:nvPr/>
        </p:nvSpPr>
        <p:spPr>
          <a:xfrm>
            <a:off x="2666082" y="5167312"/>
            <a:ext cx="1399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 size: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15FAC3-2F8F-046C-B5F2-E7C165E6A27B}"/>
              </a:ext>
            </a:extLst>
          </p:cNvPr>
          <p:cNvSpPr/>
          <p:nvPr/>
        </p:nvSpPr>
        <p:spPr>
          <a:xfrm>
            <a:off x="4065224" y="5049014"/>
            <a:ext cx="661012" cy="605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242B78-136B-3760-F5EA-8F5CE60018F9}"/>
              </a:ext>
            </a:extLst>
          </p:cNvPr>
          <p:cNvSpPr/>
          <p:nvPr/>
        </p:nvSpPr>
        <p:spPr>
          <a:xfrm>
            <a:off x="435428" y="5926578"/>
            <a:ext cx="11321143" cy="7303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output.s</a:t>
            </a:r>
            <a:r>
              <a:rPr lang="en-US" dirty="0"/>
              <a:t>: /app/example.cpp:35: T </a:t>
            </a:r>
            <a:r>
              <a:rPr lang="en-US" dirty="0" err="1"/>
              <a:t>TSStack</a:t>
            </a:r>
            <a:r>
              <a:rPr lang="en-US" dirty="0"/>
              <a:t>&lt;T&gt;::</a:t>
            </a:r>
            <a:r>
              <a:rPr lang="en-US" dirty="0" err="1"/>
              <a:t>GetTop</a:t>
            </a:r>
            <a:r>
              <a:rPr lang="en-US" dirty="0"/>
              <a:t>() const [with T = int]: Assertion `!</a:t>
            </a:r>
            <a:r>
              <a:rPr lang="en-US" dirty="0" err="1"/>
              <a:t>m_stack.empty</a:t>
            </a:r>
            <a:r>
              <a:rPr lang="en-US" dirty="0"/>
              <a:t>()' failed.</a:t>
            </a:r>
          </a:p>
          <a:p>
            <a:r>
              <a:rPr lang="en-US" dirty="0"/>
              <a:t>Program terminated with signal: SIGSEGV</a:t>
            </a:r>
          </a:p>
        </p:txBody>
      </p:sp>
    </p:spTree>
    <p:extLst>
      <p:ext uri="{BB962C8B-B14F-4D97-AF65-F5344CB8AC3E}">
        <p14:creationId xmlns:p14="http://schemas.microsoft.com/office/powerpoint/2010/main" val="19734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495F-B2B7-9CD3-7175-9F988E4E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7D55AE-F064-996D-F94F-B5B243FE5F7E}"/>
              </a:ext>
            </a:extLst>
          </p:cNvPr>
          <p:cNvSpPr txBox="1"/>
          <p:nvPr/>
        </p:nvSpPr>
        <p:spPr>
          <a:xfrm>
            <a:off x="0" y="0"/>
            <a:ext cx="560758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template &lt;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void Push(T value) {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m_stack.push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(std::move(value));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bool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() const {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return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m_stack.empty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m_stack.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throw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std::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logic_error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Stack is empty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 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m_stack.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throw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std::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logic_error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Stack is empty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std::stack&lt;T&gt;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mutable std::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FFC7E-387B-7748-B13B-4FD662D09468}"/>
              </a:ext>
            </a:extLst>
          </p:cNvPr>
          <p:cNvSpPr txBox="1"/>
          <p:nvPr/>
        </p:nvSpPr>
        <p:spPr>
          <a:xfrm>
            <a:off x="6096001" y="1"/>
            <a:ext cx="6096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int main() {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TSStack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&lt;int&gt; stack;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std::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jthread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 producer{ [&amp;stack] {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  for (int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 &lt; 11'000'000; ++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   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stack.Push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} };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exceptionCount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mutex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auto consume = [&amp;stack, &amp;m, &amp;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exceptionCount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] {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  for (int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 &lt; 10'000'000; ++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stack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std::ignore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stack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GetTop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stack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Pop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}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exception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std::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lock_guard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lk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++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exceptionCount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}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};</a:t>
            </a:r>
          </a:p>
          <a:p>
            <a:b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std::</a:t>
            </a:r>
            <a:r>
              <a:rPr lang="en-US" sz="1600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jthread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 consumer1{ consume };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consume();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  consumer1.join();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exceptionCount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ECD563-D4A7-4371-D6EB-86E007BE31A4}"/>
              </a:ext>
            </a:extLst>
          </p:cNvPr>
          <p:cNvSpPr/>
          <p:nvPr/>
        </p:nvSpPr>
        <p:spPr>
          <a:xfrm>
            <a:off x="8458201" y="4720590"/>
            <a:ext cx="3581398" cy="547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Хотим ли мы такой код писать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CBE33-53F0-6C2B-F105-865F04BC0200}"/>
              </a:ext>
            </a:extLst>
          </p:cNvPr>
          <p:cNvSpPr txBox="1"/>
          <p:nvPr/>
        </p:nvSpPr>
        <p:spPr>
          <a:xfrm>
            <a:off x="6774182" y="6488668"/>
            <a:ext cx="3581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https://godbolt.org/z/MY8P3YcGf</a:t>
            </a:r>
            <a:r>
              <a:rPr lang="en-US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3C3395-6D1C-4124-4E75-BF53CA4B1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4068" y="5445700"/>
            <a:ext cx="1367932" cy="136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6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5091-28FF-34CB-ED75-938626E0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Race</a:t>
            </a:r>
            <a:r>
              <a:rPr lang="ru-RU" dirty="0"/>
              <a:t> (Гонка на уровне интерфейса)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EEBD-B81E-827E-BB6A-75735627B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API Race</a:t>
            </a:r>
            <a:r>
              <a:rPr lang="ru-RU" dirty="0"/>
              <a:t> — это состояние гонки, возникающее из-за некорректного дизайна интерфейса, даже если отдельные методы </a:t>
            </a:r>
            <a:r>
              <a:rPr lang="ru-RU" dirty="0" err="1"/>
              <a:t>потокобезопасны</a:t>
            </a:r>
            <a:r>
              <a:rPr lang="ru-RU" dirty="0"/>
              <a:t>.</a:t>
            </a:r>
          </a:p>
          <a:p>
            <a:r>
              <a:rPr lang="ru-RU" b="1" dirty="0"/>
              <a:t>Проблема:</a:t>
            </a:r>
            <a:endParaRPr lang="ru-RU" dirty="0"/>
          </a:p>
          <a:p>
            <a:pPr lvl="1"/>
            <a:r>
              <a:rPr lang="ru-RU" dirty="0"/>
              <a:t>Методы класса </a:t>
            </a:r>
            <a:r>
              <a:rPr lang="ru-RU" dirty="0" err="1"/>
              <a:t>потокобезопасны</a:t>
            </a:r>
            <a:r>
              <a:rPr lang="ru-RU" dirty="0"/>
              <a:t> по отдельности</a:t>
            </a:r>
          </a:p>
          <a:p>
            <a:pPr lvl="1"/>
            <a:r>
              <a:rPr lang="ru-RU" dirty="0"/>
              <a:t>Но последовательность вызовов не является атомарной</a:t>
            </a:r>
          </a:p>
          <a:p>
            <a:pPr lvl="1"/>
            <a:r>
              <a:rPr lang="ru-RU" dirty="0"/>
              <a:t>Между вызовами состояние объекта может измениться</a:t>
            </a:r>
          </a:p>
          <a:p>
            <a:r>
              <a:rPr lang="ru-RU" b="1" dirty="0"/>
              <a:t>Пример:</a:t>
            </a:r>
            <a:endParaRPr lang="ru-RU" dirty="0"/>
          </a:p>
          <a:p>
            <a:pPr lvl="1"/>
            <a:r>
              <a:rPr lang="ru-RU" dirty="0" err="1"/>
              <a:t>if</a:t>
            </a:r>
            <a:r>
              <a:rPr lang="ru-RU" dirty="0"/>
              <a:t> (!</a:t>
            </a:r>
            <a:r>
              <a:rPr lang="ru-RU" dirty="0" err="1"/>
              <a:t>stack.IsEmpty</a:t>
            </a:r>
            <a:r>
              <a:rPr lang="ru-RU" dirty="0"/>
              <a:t>()) {</a:t>
            </a:r>
            <a:br>
              <a:rPr lang="ru-RU" dirty="0"/>
            </a:br>
            <a:r>
              <a:rPr lang="ru-RU" dirty="0"/>
              <a:t>    </a:t>
            </a:r>
            <a:r>
              <a:rPr lang="ru-RU" dirty="0" err="1"/>
              <a:t>auto</a:t>
            </a:r>
            <a:r>
              <a:rPr lang="ru-RU" dirty="0"/>
              <a:t> v = </a:t>
            </a:r>
            <a:r>
              <a:rPr lang="ru-RU" dirty="0" err="1"/>
              <a:t>stack.GetTop</a:t>
            </a:r>
            <a:r>
              <a:rPr lang="ru-RU" dirty="0"/>
              <a:t>();</a:t>
            </a:r>
            <a:br>
              <a:rPr lang="ru-RU" dirty="0"/>
            </a:br>
            <a:r>
              <a:rPr lang="ru-RU" dirty="0"/>
              <a:t>    </a:t>
            </a:r>
            <a:r>
              <a:rPr lang="ru-RU" dirty="0" err="1"/>
              <a:t>stack.Pop</a:t>
            </a:r>
            <a:r>
              <a:rPr lang="ru-RU" dirty="0"/>
              <a:t>();</a:t>
            </a:r>
            <a:br>
              <a:rPr lang="ru-RU" dirty="0"/>
            </a:br>
            <a:r>
              <a:rPr lang="ru-RU" dirty="0"/>
              <a:t>}</a:t>
            </a:r>
          </a:p>
          <a:p>
            <a:pPr lvl="1"/>
            <a:r>
              <a:rPr lang="ru-RU" dirty="0"/>
              <a:t>Между </a:t>
            </a:r>
            <a:r>
              <a:rPr lang="ru-RU" dirty="0" err="1"/>
              <a:t>IsEmpty</a:t>
            </a:r>
            <a:r>
              <a:rPr lang="ru-RU" dirty="0"/>
              <a:t>() и </a:t>
            </a:r>
            <a:r>
              <a:rPr lang="ru-RU" dirty="0" err="1"/>
              <a:t>Pop</a:t>
            </a:r>
            <a:r>
              <a:rPr lang="ru-RU" dirty="0"/>
              <a:t>() другой поток может изменить стек</a:t>
            </a:r>
          </a:p>
          <a:p>
            <a:r>
              <a:rPr lang="ru-RU" dirty="0"/>
              <a:t>Логически неделимые операции должны быть объединены внутри класса. Например: </a:t>
            </a:r>
            <a:r>
              <a:rPr lang="ru-RU" dirty="0" err="1"/>
              <a:t>bool</a:t>
            </a:r>
            <a:r>
              <a:rPr lang="ru-RU" dirty="0"/>
              <a:t> </a:t>
            </a:r>
            <a:r>
              <a:rPr lang="ru-RU" dirty="0" err="1"/>
              <a:t>TryPop</a:t>
            </a:r>
            <a:r>
              <a:rPr lang="ru-RU" dirty="0"/>
              <a:t>(T&amp; </a:t>
            </a:r>
            <a:r>
              <a:rPr lang="ru-RU" dirty="0" err="1"/>
              <a:t>value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0377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9CACDF-5DD4-C881-4FEF-48236A45437E}"/>
              </a:ext>
            </a:extLst>
          </p:cNvPr>
          <p:cNvSpPr txBox="1"/>
          <p:nvPr/>
        </p:nvSpPr>
        <p:spPr>
          <a:xfrm>
            <a:off x="1" y="-1"/>
            <a:ext cx="547165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4BB78-05C9-01E3-1D4F-75911C8DB6C3}"/>
              </a:ext>
            </a:extLst>
          </p:cNvPr>
          <p:cNvSpPr txBox="1"/>
          <p:nvPr/>
        </p:nvSpPr>
        <p:spPr>
          <a:xfrm>
            <a:off x="0" y="6488668"/>
            <a:ext cx="4303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https://godbolt.org/z/Gs88688s9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4914F-2CE5-3ACD-63E3-861D5AB213FD}"/>
              </a:ext>
            </a:extLst>
          </p:cNvPr>
          <p:cNvSpPr txBox="1"/>
          <p:nvPr/>
        </p:nvSpPr>
        <p:spPr>
          <a:xfrm>
            <a:off x="6096000" y="-6311"/>
            <a:ext cx="60824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TryGetTop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optional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TryGetTop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shared_lock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lk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m_mutex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m_stack.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empty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nullopt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m_stack.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6F711A-D7A6-0428-7160-4447217B2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101" y="4142996"/>
            <a:ext cx="2676899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4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8D24CC-FA0F-FFD2-52E6-E375DF737254}"/>
              </a:ext>
            </a:extLst>
          </p:cNvPr>
          <p:cNvSpPr txBox="1"/>
          <p:nvPr/>
        </p:nvSpPr>
        <p:spPr>
          <a:xfrm>
            <a:off x="0" y="0"/>
            <a:ext cx="7433187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is_nothrow_move_assignable_v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700" dirty="0">
                <a:solidFill>
                  <a:srgbClr val="8F08C4"/>
                </a:solidFill>
                <a:latin typeface="Consolas" panose="020B0609020204030204" pitchFamily="49" charset="0"/>
              </a:rPr>
              <a:t>    return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is_nothrow_move_constructible_v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75737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D2AB41-F62C-1C1C-2CB6-8A0ED9ADB983}"/>
              </a:ext>
            </a:extLst>
          </p:cNvPr>
          <p:cNvSpPr txBox="1"/>
          <p:nvPr/>
        </p:nvSpPr>
        <p:spPr>
          <a:xfrm>
            <a:off x="1275733" y="0"/>
            <a:ext cx="8354963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producer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11'000'000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};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10'000'000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TryGetTop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use value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optional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TryGetTop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use value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};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10'000'000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// use value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199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70D2-9FF2-607D-ED55-E438DE5D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335E2-AF0B-DB11-42AD-735ABFD78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рамках одного процесса возможна работа с общими данными из разных потоков</a:t>
            </a:r>
          </a:p>
          <a:p>
            <a:r>
              <a:rPr lang="ru-RU" dirty="0"/>
              <a:t>Неаккуратная работа с общими данными вызывает гонку данных</a:t>
            </a:r>
          </a:p>
          <a:p>
            <a:r>
              <a:rPr lang="ru-RU" dirty="0"/>
              <a:t>Гонка данных отсутствует, когда между конфликтующими вычислениями есть отношение </a:t>
            </a:r>
            <a:r>
              <a:rPr lang="en-US" dirty="0"/>
              <a:t>happens-before</a:t>
            </a:r>
          </a:p>
          <a:p>
            <a:r>
              <a:rPr lang="ru-RU" dirty="0"/>
              <a:t>Мьютексы и другие синхронизирующие примитивы помогают защититься от гонки данных</a:t>
            </a:r>
          </a:p>
          <a:p>
            <a:r>
              <a:rPr lang="ru-RU" dirty="0" err="1"/>
              <a:t>Потокобезопасные</a:t>
            </a:r>
            <a:r>
              <a:rPr lang="ru-RU" dirty="0"/>
              <a:t> классы требуют иного подхода к проектированию </a:t>
            </a:r>
            <a:r>
              <a:rPr lang="en-US" dirty="0"/>
              <a:t>API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68971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A5F2-8E48-CE68-098E-97BD444C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0341-E35E-08A7-47CB-C35363D0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Multithreaded execution and data races: </a:t>
            </a:r>
            <a:r>
              <a:rPr lang="en-US" dirty="0">
                <a:hlinkClick r:id="rId3"/>
              </a:rPr>
              <a:t>https://en.cppreference.com/w/cpp/language/multithread</a:t>
            </a:r>
            <a:endParaRPr lang="en-US" dirty="0"/>
          </a:p>
          <a:p>
            <a:r>
              <a:rPr lang="en-US" dirty="0"/>
              <a:t>C++ Order of evaluation</a:t>
            </a:r>
            <a:br>
              <a:rPr lang="en-US" dirty="0"/>
            </a:br>
            <a:r>
              <a:rPr lang="en-US" dirty="0">
                <a:hlinkClick r:id="rId4"/>
              </a:rPr>
              <a:t>https://en.cppreference.com/w/cpp/language/eval_order</a:t>
            </a:r>
            <a:endParaRPr lang="ru-RU" dirty="0"/>
          </a:p>
          <a:p>
            <a:r>
              <a:rPr lang="en-US" dirty="0"/>
              <a:t>C++ Memory order</a:t>
            </a:r>
            <a:br>
              <a:rPr lang="en-US" dirty="0"/>
            </a:br>
            <a:r>
              <a:rPr lang="en-US" dirty="0">
                <a:hlinkClick r:id="rId5"/>
              </a:rPr>
              <a:t>https://en.cppreference.com/w/cpp/atomic/memory_order</a:t>
            </a:r>
            <a:endParaRPr lang="en-US" dirty="0"/>
          </a:p>
          <a:p>
            <a:r>
              <a:rPr lang="en-US" dirty="0"/>
              <a:t>C++ Mutex</a:t>
            </a:r>
            <a:br>
              <a:rPr lang="en-US" dirty="0"/>
            </a:br>
            <a:r>
              <a:rPr lang="en-US" dirty="0">
                <a:hlinkClick r:id="rId6"/>
              </a:rPr>
              <a:t>https://en.cppreference.com/w/cpp/thread/mutex</a:t>
            </a:r>
            <a:endParaRPr lang="ru-RU" dirty="0"/>
          </a:p>
          <a:p>
            <a:r>
              <a:rPr lang="en-US" dirty="0"/>
              <a:t>Williams Anthony, “C++ Concurrency in Action, 2</a:t>
            </a:r>
            <a:r>
              <a:rPr lang="en-US" baseline="30000" dirty="0"/>
              <a:t>nd</a:t>
            </a:r>
            <a:r>
              <a:rPr lang="en-US" dirty="0"/>
              <a:t> Edition”</a:t>
            </a:r>
            <a:endParaRPr lang="ru-RU" dirty="0"/>
          </a:p>
          <a:p>
            <a:r>
              <a:rPr lang="en-US" dirty="0"/>
              <a:t>Maurice Herlihy, Nir Shavit “The Art of Multiprocessor Programming”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376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7E24-DBCC-7F85-C7EF-3D43F5148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CFE67-65CF-ADAB-EDEE-962BEBB98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48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</TotalTime>
  <Words>13251</Words>
  <Application>Microsoft Office PowerPoint</Application>
  <PresentationFormat>Widescreen</PresentationFormat>
  <Paragraphs>1377</Paragraphs>
  <Slides>51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Consolas</vt:lpstr>
      <vt:lpstr>Georgia</vt:lpstr>
      <vt:lpstr>Impact</vt:lpstr>
      <vt:lpstr>Office Theme</vt:lpstr>
      <vt:lpstr>Многопоточность и общие данные</vt:lpstr>
      <vt:lpstr>Многопоточная работа с общими данными</vt:lpstr>
      <vt:lpstr>Состояние гонки</vt:lpstr>
      <vt:lpstr>Операция удаления элемента из двусвязного списка</vt:lpstr>
      <vt:lpstr>Виды состояния гонки</vt:lpstr>
      <vt:lpstr>Гонка данных</vt:lpstr>
      <vt:lpstr>Поток исполнения (Thread of execution)</vt:lpstr>
      <vt:lpstr>Доступ к автоматическим переменным другого потока</vt:lpstr>
      <vt:lpstr>Доступ к данным из разных потоков</vt:lpstr>
      <vt:lpstr>Разные потоки работают с разными данными</vt:lpstr>
      <vt:lpstr>Конфликты при вычислении выражений</vt:lpstr>
      <vt:lpstr>Найдите здесь конфликты при вычислении выражений над переменными a и b</vt:lpstr>
      <vt:lpstr>Гонка данных (data race) в C++</vt:lpstr>
      <vt:lpstr>Гонка данных при доступе к общей переменной</vt:lpstr>
      <vt:lpstr>Выполнение потоков программы</vt:lpstr>
      <vt:lpstr>Быть может, спасёт volatile?</vt:lpstr>
      <vt:lpstr>Отношение Happens-before</vt:lpstr>
      <vt:lpstr>Отношение Happens-before («происходит до»)</vt:lpstr>
      <vt:lpstr>Отношение sequenced-before (упорядочено перед)</vt:lpstr>
      <vt:lpstr>Отношение sequenced-before (Упорядочено перед)</vt:lpstr>
      <vt:lpstr>PowerPoint Presentation</vt:lpstr>
      <vt:lpstr>Отношение simply happens-before</vt:lpstr>
      <vt:lpstr>Отношение strongly happens-before (происходит строго до)</vt:lpstr>
      <vt:lpstr>Межпоточное отношение happens before</vt:lpstr>
      <vt:lpstr>jthread::jthread</vt:lpstr>
      <vt:lpstr>std::[j]thread::join</vt:lpstr>
      <vt:lpstr>Что выведет эта программа?</vt:lpstr>
      <vt:lpstr>Переносим ожидание завершения потока t1 до запуска потока t2</vt:lpstr>
      <vt:lpstr>Между какими операциями есть отношение happens-before?</vt:lpstr>
      <vt:lpstr>Какой результат выведет программа?</vt:lpstr>
      <vt:lpstr>Какой результат выведет программа?</vt:lpstr>
      <vt:lpstr>Защита данных при помощи мьютекса</vt:lpstr>
      <vt:lpstr>Мьютекс</vt:lpstr>
      <vt:lpstr>Интерфейс класса mutex</vt:lpstr>
      <vt:lpstr>Делаем безопасной работу со счётчиком</vt:lpstr>
      <vt:lpstr>PowerPoint Presentation</vt:lpstr>
      <vt:lpstr>std::shared_mutex</vt:lpstr>
      <vt:lpstr>PowerPoint Presentation</vt:lpstr>
      <vt:lpstr>Что выведет эта программа?</vt:lpstr>
      <vt:lpstr>Дизайн потокобезопасных классов</vt:lpstr>
      <vt:lpstr>PowerPoint Presentation</vt:lpstr>
      <vt:lpstr>PowerPoint Presentation</vt:lpstr>
      <vt:lpstr>Состояние гонки на потокобезопасном объекте</vt:lpstr>
      <vt:lpstr>PowerPoint Presentation</vt:lpstr>
      <vt:lpstr>API Race (Гонка на уровне интерфейса)</vt:lpstr>
      <vt:lpstr>PowerPoint Presentation</vt:lpstr>
      <vt:lpstr>PowerPoint Presentation</vt:lpstr>
      <vt:lpstr>PowerPoint Presentation</vt:lpstr>
      <vt:lpstr>Итоги</vt:lpstr>
      <vt:lpstr>Список литературы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99</cp:revision>
  <dcterms:created xsi:type="dcterms:W3CDTF">2025-02-03T14:52:05Z</dcterms:created>
  <dcterms:modified xsi:type="dcterms:W3CDTF">2026-02-20T18:07:15Z</dcterms:modified>
</cp:coreProperties>
</file>