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95" r:id="rId2"/>
    <p:sldId id="341" r:id="rId3"/>
    <p:sldId id="303" r:id="rId4"/>
    <p:sldId id="296" r:id="rId5"/>
    <p:sldId id="297" r:id="rId6"/>
    <p:sldId id="342" r:id="rId7"/>
    <p:sldId id="304" r:id="rId8"/>
    <p:sldId id="306" r:id="rId9"/>
    <p:sldId id="308" r:id="rId10"/>
    <p:sldId id="307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43" r:id="rId19"/>
    <p:sldId id="316" r:id="rId20"/>
    <p:sldId id="299" r:id="rId21"/>
    <p:sldId id="344" r:id="rId22"/>
    <p:sldId id="302" r:id="rId23"/>
    <p:sldId id="301" r:id="rId24"/>
    <p:sldId id="318" r:id="rId25"/>
    <p:sldId id="317" r:id="rId26"/>
    <p:sldId id="319" r:id="rId27"/>
    <p:sldId id="320" r:id="rId28"/>
    <p:sldId id="322" r:id="rId29"/>
    <p:sldId id="323" r:id="rId30"/>
    <p:sldId id="321" r:id="rId31"/>
    <p:sldId id="324" r:id="rId32"/>
    <p:sldId id="325" r:id="rId33"/>
    <p:sldId id="327" r:id="rId34"/>
    <p:sldId id="326" r:id="rId35"/>
    <p:sldId id="328" r:id="rId36"/>
    <p:sldId id="329" r:id="rId37"/>
    <p:sldId id="330" r:id="rId38"/>
    <p:sldId id="331" r:id="rId39"/>
    <p:sldId id="332" r:id="rId40"/>
    <p:sldId id="345" r:id="rId41"/>
    <p:sldId id="334" r:id="rId42"/>
    <p:sldId id="335" r:id="rId43"/>
    <p:sldId id="346" r:id="rId44"/>
    <p:sldId id="337" r:id="rId45"/>
    <p:sldId id="338" r:id="rId46"/>
    <p:sldId id="339" r:id="rId47"/>
    <p:sldId id="340" r:id="rId48"/>
    <p:sldId id="347" r:id="rId49"/>
    <p:sldId id="286" r:id="rId50"/>
    <p:sldId id="28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21D366-7321-4E9E-B471-1AF82A17AE44}">
          <p14:sldIdLst>
            <p14:sldId id="295"/>
            <p14:sldId id="341"/>
            <p14:sldId id="303"/>
            <p14:sldId id="296"/>
            <p14:sldId id="297"/>
            <p14:sldId id="342"/>
            <p14:sldId id="304"/>
            <p14:sldId id="306"/>
            <p14:sldId id="308"/>
            <p14:sldId id="307"/>
            <p14:sldId id="309"/>
            <p14:sldId id="310"/>
            <p14:sldId id="311"/>
            <p14:sldId id="312"/>
            <p14:sldId id="313"/>
            <p14:sldId id="314"/>
            <p14:sldId id="315"/>
            <p14:sldId id="343"/>
            <p14:sldId id="316"/>
            <p14:sldId id="299"/>
            <p14:sldId id="344"/>
            <p14:sldId id="302"/>
            <p14:sldId id="301"/>
            <p14:sldId id="318"/>
            <p14:sldId id="317"/>
            <p14:sldId id="319"/>
            <p14:sldId id="320"/>
            <p14:sldId id="322"/>
            <p14:sldId id="323"/>
            <p14:sldId id="321"/>
            <p14:sldId id="324"/>
            <p14:sldId id="325"/>
            <p14:sldId id="327"/>
            <p14:sldId id="326"/>
            <p14:sldId id="328"/>
            <p14:sldId id="329"/>
            <p14:sldId id="330"/>
            <p14:sldId id="331"/>
            <p14:sldId id="332"/>
            <p14:sldId id="345"/>
            <p14:sldId id="334"/>
            <p14:sldId id="335"/>
            <p14:sldId id="346"/>
            <p14:sldId id="337"/>
            <p14:sldId id="338"/>
            <p14:sldId id="339"/>
            <p14:sldId id="340"/>
            <p14:sldId id="347"/>
            <p14:sldId id="286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60654" autoAdjust="0"/>
  </p:normalViewPr>
  <p:slideViewPr>
    <p:cSldViewPr snapToGrid="0" showGuides="1">
      <p:cViewPr varScale="1">
        <p:scale>
          <a:sx n="55" d="100"/>
          <a:sy n="55" d="100"/>
        </p:scale>
        <p:origin x="2670" y="282"/>
      </p:cViewPr>
      <p:guideLst>
        <p:guide orient="horz" pos="2205"/>
        <p:guide pos="379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81A67-A27B-4083-940C-241E42A8E89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D86D-1409-43B0-8811-9A559436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93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Процессор выполняет программу, инструкции и данные которой находятся в оперативной памяти.</a:t>
            </a:r>
          </a:p>
          <a:p>
            <a:br>
              <a:rPr lang="ru-RU" dirty="0"/>
            </a:br>
            <a:r>
              <a:rPr lang="ru-RU" dirty="0"/>
              <a:t>Но есть фундаментальная проблема: процессоры стали намного быстрее, чем память.</a:t>
            </a:r>
          </a:p>
          <a:p>
            <a:endParaRPr lang="ru-RU" dirty="0"/>
          </a:p>
          <a:p>
            <a:r>
              <a:rPr lang="ru-RU" dirty="0"/>
              <a:t>Доступ к оперативной памяти — это дорогая операция, которая может занимать сотни тактов.</a:t>
            </a:r>
          </a:p>
          <a:p>
            <a:br>
              <a:rPr lang="ru-RU" dirty="0"/>
            </a:br>
            <a:r>
              <a:rPr lang="ru-RU" dirty="0"/>
              <a:t>Из-за этого процессор может простаивать, ожидая данные.</a:t>
            </a:r>
          </a:p>
          <a:p>
            <a:r>
              <a:rPr lang="ru-RU" dirty="0"/>
              <a:t>Чтобы решить эту проблему, используется кэш-память — несколько уровней быстрой памяти рядом с ядром.</a:t>
            </a:r>
          </a:p>
          <a:p>
            <a:br>
              <a:rPr lang="ru-RU" dirty="0"/>
            </a:br>
            <a:r>
              <a:rPr lang="ru-RU" dirty="0"/>
              <a:t>Чем ближе кэш к процессору, тем быстрее доступ, но тем меньше его размер.</a:t>
            </a:r>
          </a:p>
          <a:p>
            <a:endParaRPr lang="ru-RU" dirty="0"/>
          </a:p>
          <a:p>
            <a:r>
              <a:rPr lang="ru-RU" dirty="0"/>
              <a:t>Поэтому современные процессоры работают не напрямую с оперативной памятью, а в основном с кэшами.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10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Посмотрите на этот график — здесь показана стоимость разных операций в тактах процессора.</a:t>
            </a:r>
          </a:p>
          <a:p>
            <a:r>
              <a:rPr lang="ru-RU" dirty="0"/>
              <a:t>Вычисления — даже достаточно сложные — стоят относительно дёшево.</a:t>
            </a:r>
            <a:br>
              <a:rPr lang="ru-RU" dirty="0"/>
            </a:br>
            <a:r>
              <a:rPr lang="ru-RU" dirty="0"/>
              <a:t>Например, сложение, умножение, даже деление — это единицы или десятки тактов.</a:t>
            </a:r>
          </a:p>
          <a:p>
            <a:r>
              <a:rPr lang="ru-RU" dirty="0"/>
              <a:t>А вот доступ к памяти — совсем другая история.</a:t>
            </a:r>
            <a:br>
              <a:rPr lang="ru-RU" dirty="0"/>
            </a:br>
            <a:r>
              <a:rPr lang="ru-RU" dirty="0"/>
              <a:t>Если данные в L1 — это быстро.</a:t>
            </a:r>
            <a:br>
              <a:rPr lang="ru-RU" dirty="0"/>
            </a:br>
            <a:r>
              <a:rPr lang="ru-RU" dirty="0"/>
              <a:t>Но чем дальше — L2, L3, оперативная память — тем дороже становится доступ.</a:t>
            </a:r>
          </a:p>
          <a:p>
            <a:r>
              <a:rPr lang="ru-RU" dirty="0"/>
              <a:t>И в итоге чтение из RAM может стоить </a:t>
            </a:r>
            <a:r>
              <a:rPr lang="ru-RU" b="1" dirty="0"/>
              <a:t>на порядки дороже</a:t>
            </a:r>
            <a:r>
              <a:rPr lang="ru-RU" dirty="0"/>
              <a:t>, чем арифметические операции.</a:t>
            </a:r>
          </a:p>
          <a:p>
            <a:r>
              <a:rPr lang="ru-RU" dirty="0"/>
              <a:t>👉 Главный вывод:</a:t>
            </a:r>
            <a:br>
              <a:rPr lang="ru-RU" dirty="0"/>
            </a:br>
            <a:r>
              <a:rPr lang="ru-RU" dirty="0"/>
              <a:t>в современных программах часто важно не столько </a:t>
            </a:r>
            <a:r>
              <a:rPr lang="ru-RU" i="1" dirty="0"/>
              <a:t>что считать</a:t>
            </a:r>
            <a:r>
              <a:rPr lang="ru-RU" dirty="0"/>
              <a:t>, сколько </a:t>
            </a:r>
            <a:r>
              <a:rPr lang="ru-RU" i="1" dirty="0"/>
              <a:t>откуда читать данные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17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упрощённая схема современной системы памяти.</a:t>
            </a:r>
          </a:p>
          <a:p>
            <a:r>
              <a:rPr lang="ru-RU" dirty="0"/>
              <a:t>У процессора есть несколько ядер, и у каждого ядра есть свои уровни кэша — обычно L1 и L2.</a:t>
            </a:r>
            <a:br>
              <a:rPr lang="ru-RU" dirty="0"/>
            </a:br>
            <a:r>
              <a:rPr lang="ru-RU" dirty="0"/>
              <a:t>Эти кэши быстрые и находятся максимально близко к ядру.</a:t>
            </a:r>
          </a:p>
          <a:p>
            <a:r>
              <a:rPr lang="ru-RU" dirty="0"/>
              <a:t>Кроме того, есть общий для всех ядер кэш более высокого уровня — L3.</a:t>
            </a:r>
            <a:br>
              <a:rPr lang="ru-RU" dirty="0"/>
            </a:br>
            <a:r>
              <a:rPr lang="ru-RU" dirty="0"/>
              <a:t>Он больше по размеру, но медленнее.</a:t>
            </a:r>
          </a:p>
          <a:p>
            <a:r>
              <a:rPr lang="ru-RU" dirty="0"/>
              <a:t>И уже за пределами процессора находится оперативная память — она самая большая, но и самая медленная.</a:t>
            </a:r>
          </a:p>
          <a:p>
            <a:r>
              <a:rPr lang="ru-RU" dirty="0"/>
              <a:t>Когда программа выполняется, процессор старается работать с данными в своих кэшах.</a:t>
            </a:r>
            <a:br>
              <a:rPr lang="ru-RU" dirty="0"/>
            </a:br>
            <a:r>
              <a:rPr lang="ru-RU" dirty="0"/>
              <a:t>Обращение к оперативной памяти происходит только если данных нет в кэше.</a:t>
            </a:r>
          </a:p>
          <a:p>
            <a:r>
              <a:rPr lang="ru-RU" dirty="0"/>
              <a:t>Важно: у каждого ядра есть </a:t>
            </a:r>
            <a:r>
              <a:rPr lang="ru-RU" b="1" dirty="0"/>
              <a:t>свои локальные кэши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И это означает, что одно и то же значение может находиться сразу в нескольких местах.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90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Кэш ограничен по размеру, поэтому возникает вопрос: куда именно помещать данные из памяти.</a:t>
            </a:r>
          </a:p>
          <a:p>
            <a:r>
              <a:rPr lang="ru-RU" dirty="0"/>
              <a:t>Есть несколько подходов.</a:t>
            </a:r>
          </a:p>
          <a:p>
            <a:endParaRPr lang="ru-RU" dirty="0"/>
          </a:p>
          <a:p>
            <a:r>
              <a:rPr lang="ru-RU" dirty="0"/>
              <a:t>В самом простом варианте — </a:t>
            </a:r>
            <a:r>
              <a:rPr lang="ru-RU" dirty="0" err="1"/>
              <a:t>direct-mapped</a:t>
            </a:r>
            <a:r>
              <a:rPr lang="ru-RU" dirty="0"/>
              <a:t> — каждому адресу соответствует строго одно место в кэше. Это быстро, но если разные данные попадают в одну и ту же позицию, они постоянно вытесняют друг друга.</a:t>
            </a:r>
          </a:p>
          <a:p>
            <a:endParaRPr lang="ru-RU" dirty="0"/>
          </a:p>
          <a:p>
            <a:r>
              <a:rPr lang="ru-RU" dirty="0"/>
              <a:t>Другой крайний вариант — </a:t>
            </a:r>
            <a:r>
              <a:rPr lang="ru-RU" dirty="0" err="1"/>
              <a:t>fully-associative</a:t>
            </a:r>
            <a:r>
              <a:rPr lang="ru-RU" dirty="0"/>
              <a:t> — данные можно положить в любое место. Это гибко, но сложно и дорого в реализации.</a:t>
            </a:r>
          </a:p>
          <a:p>
            <a:endParaRPr lang="ru-RU" dirty="0"/>
          </a:p>
          <a:p>
            <a:r>
              <a:rPr lang="ru-RU" dirty="0"/>
              <a:t>Поэтому реальные процессоры используют компромисс — </a:t>
            </a:r>
            <a:r>
              <a:rPr lang="ru-RU" dirty="0" err="1"/>
              <a:t>set-associative</a:t>
            </a:r>
            <a:r>
              <a:rPr lang="ru-RU" dirty="0"/>
              <a:t> кэш.</a:t>
            </a:r>
          </a:p>
          <a:p>
            <a:br>
              <a:rPr lang="ru-RU" dirty="0"/>
            </a:br>
            <a:r>
              <a:rPr lang="ru-RU" dirty="0"/>
              <a:t>У данных есть несколько возможных мест, что уменьшает конфликты и при этом остаётся достаточно быстрым.</a:t>
            </a:r>
          </a:p>
          <a:p>
            <a:endParaRPr lang="ru-RU" dirty="0"/>
          </a:p>
          <a:p>
            <a:r>
              <a:rPr lang="ru-RU" dirty="0"/>
              <a:t>Для нас важно не устройство кэша само по себе, а то, что данные могут вытесняться и перемещаться между кэшами.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2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7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Рассмотрим ОЗУ размером 16 килобайт, организованную по 4-байтным блокам и кэш размером 256 байт. Нам нужно минимум 14 бит, чтобы уникально представить адрес в памяти.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кэше размером 256 байт помещается 64 блока. В результате у нас будет 64 множества.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14 </a:t>
            </a:r>
            <a:r>
              <a:rPr lang="ru-RU" dirty="0"/>
              <a:t>разрядный адрес в ОЗУ делится на Смещение, Индекс и Тег: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Смещение – это номер байта в кэш линии (занимает 2 бита)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Индекс позволяет определить номер набора в кэше. Так как 64 набора, используется 6 индексных бит.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Тег соответствует оставшимся адресным битам, чтобы можно было определить адрес физической памяти. Итого 14-6-2=6 бит отводится на тег.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4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также объем ОЗУ 16 килобайт. Для представления адреса требуется 14 бит.</a:t>
            </a:r>
          </a:p>
          <a:p>
            <a:r>
              <a:rPr lang="ru-RU" dirty="0"/>
              <a:t>кэш занимает 256 байт. Здесь используется 1 набор в кэше, и этот набор содержит 64 кэш-линии размером 4 байта.</a:t>
            </a:r>
          </a:p>
          <a:p>
            <a:r>
              <a:rPr lang="ru-RU" dirty="0"/>
              <a:t>Таким образом любой блок ОЗУ может быть отображён на любую кэш-линию. Выбор кэш-линии определяется политикой вытеснения.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19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используется 16 килобайт ОЗУ  и 2-ассоциативный кэш размером 256 байт.</a:t>
            </a:r>
            <a:r>
              <a:rPr lang="en-US" dirty="0"/>
              <a:t> </a:t>
            </a:r>
            <a:r>
              <a:rPr lang="ru-RU" dirty="0"/>
              <a:t>Каждый блок памяти занимает 4 байта.</a:t>
            </a:r>
          </a:p>
          <a:p>
            <a:r>
              <a:rPr lang="ru-RU" dirty="0"/>
              <a:t>Так как кэш 2-ассоциативный, общее количество линий наборов равно 256</a:t>
            </a:r>
            <a:r>
              <a:rPr lang="en-US" dirty="0"/>
              <a:t>/(4*2)</a:t>
            </a:r>
            <a:r>
              <a:rPr lang="ru-RU" dirty="0"/>
              <a:t>.</a:t>
            </a:r>
          </a:p>
          <a:p>
            <a:r>
              <a:rPr lang="ru-RU" dirty="0"/>
              <a:t>Биты адреса делятся на:</a:t>
            </a:r>
          </a:p>
          <a:p>
            <a:pPr marL="171450" indent="-171450">
              <a:buFontTx/>
              <a:buChar char="-"/>
            </a:pPr>
            <a:r>
              <a:rPr lang="ru-RU" dirty="0"/>
              <a:t>Смещение </a:t>
            </a:r>
            <a:r>
              <a:rPr lang="ru-RU" dirty="0" err="1"/>
              <a:t>внутре</a:t>
            </a:r>
            <a:r>
              <a:rPr lang="ru-RU" dirty="0"/>
              <a:t> кэш-линии (2 бита)</a:t>
            </a:r>
          </a:p>
          <a:p>
            <a:pPr marL="171450" indent="-171450">
              <a:buFontTx/>
              <a:buChar char="-"/>
            </a:pPr>
            <a:r>
              <a:rPr lang="ru-RU" dirty="0"/>
              <a:t>Индекс определяет набор в кэш-линии. Так как здесь 32 набора, то на хранение индекса используется 5 бит.</a:t>
            </a:r>
          </a:p>
          <a:p>
            <a:pPr marL="171450" indent="-171450">
              <a:buFontTx/>
              <a:buChar char="-"/>
            </a:pPr>
            <a:r>
              <a:rPr lang="ru-RU" dirty="0"/>
              <a:t>Тег определяет оставшиеся биты.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11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51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Процессор работает с кэшем не по отдельным переменным, а блоками — так называемыми кэш-линиями.</a:t>
            </a:r>
          </a:p>
          <a:p>
            <a:endParaRPr lang="ru-RU" dirty="0"/>
          </a:p>
          <a:p>
            <a:r>
              <a:rPr lang="ru-RU" dirty="0"/>
              <a:t>Когда процессор впервые обращается к данным, их, скорее всего, нет в кэше.</a:t>
            </a:r>
          </a:p>
          <a:p>
            <a:br>
              <a:rPr lang="ru-RU" dirty="0"/>
            </a:br>
            <a:r>
              <a:rPr lang="ru-RU" dirty="0"/>
              <a:t>Возникает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— и процессору приходится ждать, пока данные загрузятся из памяти. Это может занимать сотни тактов.</a:t>
            </a:r>
          </a:p>
          <a:p>
            <a:endParaRPr lang="ru-RU" dirty="0"/>
          </a:p>
          <a:p>
            <a:r>
              <a:rPr lang="ru-RU" dirty="0"/>
              <a:t>После этого данные попадают в кэш, и повторные обращения к ним становятся очень быстрыми — это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hit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кэш ограничен по размеру.</a:t>
            </a:r>
            <a:br>
              <a:rPr lang="ru-RU" dirty="0"/>
            </a:br>
            <a:r>
              <a:rPr lang="ru-RU" dirty="0"/>
              <a:t>Поэтому, когда он заполняется, новые данные начинают вытеснять старые.</a:t>
            </a:r>
          </a:p>
          <a:p>
            <a:r>
              <a:rPr lang="ru-RU" dirty="0"/>
              <a:t>Причём вытеснение может происходить не только из-за нехватки места, но и из-за особенностей  организации кэша — когда разные адреса конкурируют за одну и ту же позицию.</a:t>
            </a:r>
          </a:p>
          <a:p>
            <a:r>
              <a:rPr lang="ru-RU" dirty="0"/>
              <a:t>Важно: кэш — это динамическая структура, данные в нём постоянно загружаются и вытесняются.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53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 рисунке представлен 2-ассоциативный (2-way) кэш с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cache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line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размером 256 байт. Линия может быть пустой, что соответствует пустой ячейке таблицы.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Числа слева – это адреса, данные которых может содержать ячейка. Так как линии выравнены по 256 байтам, младшие 8 бит адреса равны нулю, и хеш-функция выбирает следующие 4 бита в качестве индекса в хеш-таблице.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Предположим, код программы расположен по адресам 0x43210E00 – 0x43210EFF, а сама программа последовательно обращается к данным по адресам 0x12345000 – 0x12345EFF.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63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7837B-5BA8-A8FE-523D-AE1BE5AE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E7DED-D2E3-52E3-6AD8-0533200FD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5C5C1-5646-436C-08D1-CFE5805BC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Пусть теперь она обращается к адресу 0x12345F00. Этот адрес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хешируется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на линию 0xF и обе ячейки (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ways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) этой линии пусты, так что 256 байт данных можно поместить в одну из них.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64946-24A8-7264-87C9-76E5EFA14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70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6038-A2AD-DFAF-1DFF-79F7CDC1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36BA2-FB79-10CA-C062-11E6FD066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7093F-D39E-0F3C-3205-C92A3BA0C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Если программа обращается по адресу 0x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0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1233000,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хеш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которой равен 0x0, то соответствующие 256-байтные данные могут быть помещены в ячейку 1 (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way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1) линии 0x0.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A29E4-0FC2-B42F-69DA-0D66D4E29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29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06D6-4039-16B9-A966-55A6058F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65679-3CEB-ABA6-0FE0-3888D92CC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0511D-DDAE-FF83-1671-B4C8889ED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Если же программа обращается по адресу 0x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0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1233E00 (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хеш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= 0xE), то одна из линий (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ways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) должна быть вытолкнута из кэша, чтобы освободить место под новые 256 байт данных. Если позже потребуется доступ к этим вытолкнутым данным, — получаем ситуацию промаха. Такой промах называется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associativity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miss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68BA-0105-E9B3-1A4E-8B2A537C5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155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говорили в основном про чтение данных, и там всё относительно просто — данные могут находиться в кэшах нескольких ядер одновременно.</a:t>
            </a:r>
          </a:p>
          <a:p>
            <a:endParaRPr lang="ru-RU" dirty="0"/>
          </a:p>
          <a:p>
            <a:r>
              <a:rPr lang="ru-RU" dirty="0"/>
              <a:t>Но ситуация меняется, когда одно из ядер хочет записать данные.</a:t>
            </a:r>
          </a:p>
          <a:p>
            <a:endParaRPr lang="ru-RU" dirty="0"/>
          </a:p>
          <a:p>
            <a:r>
              <a:rPr lang="ru-RU" dirty="0"/>
              <a:t>В этом случае процессор должен получить эксклюзивный доступ к кэш-линии.</a:t>
            </a:r>
          </a:p>
          <a:p>
            <a:br>
              <a:rPr lang="ru-RU" dirty="0"/>
            </a:br>
            <a:r>
              <a:rPr lang="ru-RU" dirty="0"/>
              <a:t>Это означает, что все остальные ядра должны удалить свои копии этих данных.</a:t>
            </a:r>
          </a:p>
          <a:p>
            <a:endParaRPr lang="ru-RU" dirty="0"/>
          </a:p>
          <a:p>
            <a:r>
              <a:rPr lang="ru-RU" dirty="0"/>
              <a:t>Только после этого запись становится безопасной.</a:t>
            </a:r>
          </a:p>
          <a:p>
            <a:r>
              <a:rPr lang="ru-RU" dirty="0"/>
              <a:t>Из-за этого запись оказывается значительно дороже чтения: нужно отправлять сообщения другим ядрам, ждать их ответа, и только потом выполнять операцию.</a:t>
            </a:r>
          </a:p>
          <a:p>
            <a:endParaRPr lang="ru-RU" dirty="0"/>
          </a:p>
          <a:p>
            <a:r>
              <a:rPr lang="ru-RU" dirty="0"/>
              <a:t>Кроме того, если другое ядро позже захочет прочитать эти данные, ему придётся заново загружать их в кэш — это снова будет промах.</a:t>
            </a:r>
          </a:p>
          <a:p>
            <a:endParaRPr lang="ru-RU" dirty="0"/>
          </a:p>
          <a:p>
            <a:r>
              <a:rPr lang="ru-RU" dirty="0"/>
              <a:t>Именно для управления этим процессом и существуют протоколы когерентности кэшей, такие как MESI.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64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кэши разных ядер оставались согласованными, используется специальный механизм — протокол когерентности.</a:t>
            </a:r>
          </a:p>
          <a:p>
            <a:endParaRPr lang="ru-RU" dirty="0"/>
          </a:p>
          <a:p>
            <a:r>
              <a:rPr lang="ru-RU" dirty="0"/>
              <a:t>Один из самых известных — протокол MESI.</a:t>
            </a:r>
          </a:p>
          <a:p>
            <a:endParaRPr lang="ru-RU" dirty="0"/>
          </a:p>
          <a:p>
            <a:r>
              <a:rPr lang="ru-RU" dirty="0"/>
              <a:t>Его ключевая идея в том, что каждая кэш-линия имеет состояние.</a:t>
            </a:r>
          </a:p>
          <a:p>
            <a:br>
              <a:rPr lang="ru-RU" dirty="0"/>
            </a:br>
            <a:r>
              <a:rPr lang="ru-RU" dirty="0"/>
              <a:t>В зависимости от этого состояния определяется, можно ли читать или записывать данные и есть ли копии у других ядер.</a:t>
            </a:r>
          </a:p>
          <a:p>
            <a:endParaRPr lang="ru-RU" dirty="0"/>
          </a:p>
          <a:p>
            <a:r>
              <a:rPr lang="ru-RU" dirty="0"/>
              <a:t>Например, данные могут быть только у одного ядра, могут быть разделяемыми между несколькими, или могут быть уже устаревшими.</a:t>
            </a:r>
          </a:p>
          <a:p>
            <a:r>
              <a:rPr lang="ru-RU" dirty="0"/>
              <a:t>Когда одно ядро хочет изменить данные, протокол заставляет остальные кэши отказаться от своих копий.</a:t>
            </a:r>
          </a:p>
          <a:p>
            <a:br>
              <a:rPr lang="ru-RU" dirty="0"/>
            </a:br>
            <a:r>
              <a:rPr lang="ru-RU" dirty="0"/>
              <a:t>Таким образом обеспечивается согласованность.</a:t>
            </a:r>
          </a:p>
          <a:p>
            <a:r>
              <a:rPr lang="ru-RU" dirty="0"/>
              <a:t>Важно понимать, что MESI — это упрощённая модель.</a:t>
            </a:r>
            <a:br>
              <a:rPr lang="ru-RU" dirty="0"/>
            </a:br>
            <a:r>
              <a:rPr lang="ru-RU" dirty="0"/>
              <a:t>В реальных процессорах протоколы сложнее, но работают по тем же принципам.</a:t>
            </a:r>
          </a:p>
          <a:p>
            <a:r>
              <a:rPr lang="ru-RU" dirty="0"/>
              <a:t>Дальше мы разберём, как именно происходят переходы между этими состояниями.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50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34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протоколе MESI каждая кэш-линия может находиться в одном из четырёх состояний.</a:t>
            </a:r>
          </a:p>
          <a:p>
            <a:endParaRPr lang="ru-RU" dirty="0"/>
          </a:p>
          <a:p>
            <a:r>
              <a:rPr lang="ru-RU" dirty="0"/>
              <a:t>Если линия в состоянии </a:t>
            </a:r>
            <a:r>
              <a:rPr lang="ru-RU" dirty="0" err="1"/>
              <a:t>Modified</a:t>
            </a:r>
            <a:r>
              <a:rPr lang="ru-RU" dirty="0"/>
              <a:t>, это значит, что данные были изменены и отличаются от памяти. Такое состояние означает, что только это ядро владеет актуальной версией.</a:t>
            </a:r>
          </a:p>
          <a:p>
            <a:endParaRPr lang="ru-RU" dirty="0"/>
          </a:p>
          <a:p>
            <a:r>
              <a:rPr lang="ru-RU" dirty="0"/>
              <a:t>Состояние </a:t>
            </a:r>
            <a:r>
              <a:rPr lang="ru-RU" dirty="0" err="1"/>
              <a:t>Exclusive</a:t>
            </a:r>
            <a:r>
              <a:rPr lang="ru-RU" dirty="0"/>
              <a:t> — похоже, но данные ещё не изменялись. Они совпадают с памятью, и ядро может писать в них без согласования.</a:t>
            </a:r>
          </a:p>
          <a:p>
            <a:endParaRPr lang="ru-RU" dirty="0"/>
          </a:p>
          <a:p>
            <a:r>
              <a:rPr lang="ru-RU" dirty="0"/>
              <a:t>Если линия в состоянии </a:t>
            </a:r>
            <a:r>
              <a:rPr lang="ru-RU" dirty="0" err="1"/>
              <a:t>Shared</a:t>
            </a:r>
            <a:r>
              <a:rPr lang="ru-RU" dirty="0"/>
              <a:t>, это значит, что копии есть у нескольких ядер. Читать можно, но перед записью нужно сначала получить эксклюзивный доступ.</a:t>
            </a:r>
          </a:p>
          <a:p>
            <a:endParaRPr lang="ru-RU" dirty="0"/>
          </a:p>
          <a:p>
            <a:r>
              <a:rPr lang="ru-RU" dirty="0"/>
              <a:t>И наконец, состояние </a:t>
            </a:r>
            <a:r>
              <a:rPr lang="ru-RU" dirty="0" err="1"/>
              <a:t>Invalid</a:t>
            </a:r>
            <a:r>
              <a:rPr lang="ru-RU" dirty="0"/>
              <a:t> означает, что данных нет или они устарели.</a:t>
            </a:r>
          </a:p>
          <a:p>
            <a:endParaRPr lang="ru-RU" dirty="0"/>
          </a:p>
          <a:p>
            <a:r>
              <a:rPr lang="ru-RU" dirty="0"/>
              <a:t>Важный принцип: в каждый момент времени только одно ядро может иметь право изменять данные.</a:t>
            </a:r>
          </a:p>
          <a:p>
            <a:endParaRPr lang="ru-RU" dirty="0"/>
          </a:p>
          <a:p>
            <a:r>
              <a:rPr lang="ru-RU" dirty="0"/>
              <a:t>Обратите внимание: </a:t>
            </a:r>
            <a:r>
              <a:rPr lang="ru-RU" dirty="0" err="1"/>
              <a:t>Modified</a:t>
            </a:r>
            <a:r>
              <a:rPr lang="ru-RU" dirty="0"/>
              <a:t> и </a:t>
            </a:r>
            <a:r>
              <a:rPr lang="ru-RU" dirty="0" err="1"/>
              <a:t>Exclusive</a:t>
            </a:r>
            <a:r>
              <a:rPr lang="ru-RU" dirty="0"/>
              <a:t> — это “владение”, </a:t>
            </a:r>
            <a:r>
              <a:rPr lang="ru-RU" dirty="0" err="1"/>
              <a:t>Shared</a:t>
            </a:r>
            <a:r>
              <a:rPr lang="ru-RU" dirty="0"/>
              <a:t> — это “только чтение”.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64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теперь посмотрим на MESI более интуитивно — что происходит при чтении и записи.</a:t>
            </a:r>
          </a:p>
          <a:p>
            <a:endParaRPr lang="ru-RU" dirty="0"/>
          </a:p>
          <a:p>
            <a:r>
              <a:rPr lang="ru-RU" dirty="0"/>
              <a:t>Когда процессор читает данные, он загружает их в свой кэш.</a:t>
            </a:r>
            <a:br>
              <a:rPr lang="ru-RU" dirty="0"/>
            </a:br>
            <a:r>
              <a:rPr lang="ru-RU" dirty="0"/>
              <a:t>Если ни у кого больше этих данных нет, он получает их в состоянии </a:t>
            </a:r>
            <a:r>
              <a:rPr lang="ru-RU" dirty="0" err="1"/>
              <a:t>Exclusive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копии уже есть у других ядер — тогда в состоянии </a:t>
            </a:r>
            <a:r>
              <a:rPr lang="ru-RU" dirty="0" err="1"/>
              <a:t>Shared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 записью всё сложнее.</a:t>
            </a:r>
            <a:br>
              <a:rPr lang="ru-RU" dirty="0"/>
            </a:br>
            <a:r>
              <a:rPr lang="ru-RU" dirty="0"/>
              <a:t>Чтобы изменить данные, процессор должен получить эксклюзивный доступ.</a:t>
            </a:r>
            <a:br>
              <a:rPr lang="ru-RU" dirty="0"/>
            </a:br>
            <a:r>
              <a:rPr lang="ru-RU" dirty="0"/>
              <a:t>Для этого он отправляет сообщения другим ядрам, и они </a:t>
            </a:r>
            <a:r>
              <a:rPr lang="ru-RU" dirty="0" err="1"/>
              <a:t>инвалидируют</a:t>
            </a:r>
            <a:r>
              <a:rPr lang="ru-RU" dirty="0"/>
              <a:t> свои копии.</a:t>
            </a:r>
          </a:p>
          <a:p>
            <a:r>
              <a:rPr lang="ru-RU" dirty="0"/>
              <a:t>После этого процессор может безопасно записать данные, и кэш-линия переходит в состояние </a:t>
            </a:r>
            <a:r>
              <a:rPr lang="ru-RU" dirty="0" err="1"/>
              <a:t>Modified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же ядро получает сигнал, что кто-то другой изменяет данные, оно должно </a:t>
            </a:r>
            <a:r>
              <a:rPr lang="ru-RU" dirty="0" err="1"/>
              <a:t>инвалидировать</a:t>
            </a:r>
            <a:r>
              <a:rPr lang="ru-RU" dirty="0"/>
              <a:t> свою копию, чтобы не использовать устаревшее значение.</a:t>
            </a:r>
          </a:p>
          <a:p>
            <a:r>
              <a:rPr lang="ru-RU" dirty="0"/>
              <a:t>👉 В итоге получается важное правило:</a:t>
            </a:r>
            <a:br>
              <a:rPr lang="ru-RU" dirty="0"/>
            </a:br>
            <a:r>
              <a:rPr lang="ru-RU" dirty="0"/>
              <a:t>как только одно ядро записывает данные, все остальные теряют свои копии.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50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поддерживать когерентность, кэши не просто хранят данные — они постоянно обмениваются сообщениями.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процессору нужны данные, он отправляет запрос </a:t>
            </a:r>
            <a:r>
              <a:rPr lang="ru-RU" dirty="0" err="1"/>
              <a:t>Read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Ответ может прийти либо из памяти, либо от другого ядра, если у него уже есть актуальная копия.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процессор хочет записать данные, он должен получить эксклюзивный доступ.</a:t>
            </a:r>
            <a:r>
              <a:rPr lang="en-US" dirty="0"/>
              <a:t> </a:t>
            </a:r>
            <a:r>
              <a:rPr lang="ru-RU" dirty="0"/>
              <a:t>Для этого он рассылает сообщения </a:t>
            </a:r>
            <a:r>
              <a:rPr lang="ru-RU" dirty="0" err="1"/>
              <a:t>Invalidate</a:t>
            </a:r>
            <a:r>
              <a:rPr lang="ru-RU" dirty="0"/>
              <a:t>, и другие ядра удаляют свои копии и подтверждают это.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Есть и комбинированный вариант — когда процессор одновременно запрашивает данные и требует удалить копии у других.</a:t>
            </a:r>
            <a:r>
              <a:rPr lang="en-US" dirty="0"/>
              <a:t> </a:t>
            </a:r>
            <a:r>
              <a:rPr lang="ru-RU" dirty="0"/>
              <a:t>Это типичная ситуация перед записью.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данные были изменены, их нужно в какой-то момент записать обратно в память — это делает операция </a:t>
            </a:r>
            <a:r>
              <a:rPr lang="ru-RU" dirty="0" err="1"/>
              <a:t>WriteBack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Важно понимать:</a:t>
            </a:r>
            <a:r>
              <a:rPr lang="en-US" dirty="0"/>
              <a:t> </a:t>
            </a:r>
            <a:r>
              <a:rPr lang="ru-RU" dirty="0"/>
              <a:t>ядра координируют доступ к данным не напрямую через память, а через обмен такими сообщениями.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66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переход из состояния </a:t>
            </a:r>
            <a:r>
              <a:rPr lang="ru-RU" dirty="0" err="1"/>
              <a:t>Modified</a:t>
            </a:r>
            <a:r>
              <a:rPr lang="ru-RU" dirty="0"/>
              <a:t> в </a:t>
            </a:r>
            <a:r>
              <a:rPr lang="ru-RU" dirty="0" err="1"/>
              <a:t>Exclusive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Состояние </a:t>
            </a:r>
            <a:r>
              <a:rPr lang="ru-RU" dirty="0" err="1"/>
              <a:t>Modified</a:t>
            </a:r>
            <a:r>
              <a:rPr lang="ru-RU" dirty="0"/>
              <a:t> означает, что данные были изменены и сейчас отличаются от того, что находится в памяти. Фактически это единственная актуальная копия.</a:t>
            </a:r>
          </a:p>
          <a:p>
            <a:endParaRPr lang="ru-RU" dirty="0"/>
          </a:p>
          <a:p>
            <a:r>
              <a:rPr lang="ru-RU" dirty="0"/>
              <a:t>В какой-то момент эти данные нужно записать обратно в память — это операция </a:t>
            </a:r>
            <a:r>
              <a:rPr lang="ru-RU" dirty="0" err="1"/>
              <a:t>writeback</a:t>
            </a:r>
            <a:r>
              <a:rPr lang="ru-RU" dirty="0"/>
              <a:t>. После записи в память данные становятся согласованными с памятью, но при этом остаются в кэше текущего ядра.</a:t>
            </a:r>
          </a:p>
          <a:p>
            <a:br>
              <a:rPr lang="ru-RU" dirty="0"/>
            </a:br>
            <a:r>
              <a:rPr lang="ru-RU" dirty="0"/>
              <a:t>И тогда кэш-линия переходит в состояние </a:t>
            </a:r>
            <a:r>
              <a:rPr lang="ru-RU" dirty="0" err="1"/>
              <a:t>Exclusive</a:t>
            </a:r>
            <a:r>
              <a:rPr lang="ru-RU" dirty="0"/>
              <a:t>. Это означает, что у нас по-прежнему есть единственная копия, и мы можем продолжать с ней работать, включая запись, без взаимодействия с другими ядрами.</a:t>
            </a:r>
          </a:p>
          <a:p>
            <a:endParaRPr lang="ru-RU" dirty="0"/>
          </a:p>
          <a:p>
            <a:r>
              <a:rPr lang="ru-RU" dirty="0"/>
              <a:t>Важно: этот переход делает данные “видимыми” для всей системы, но не отдаёт владение.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037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один из самых простых и быстрых переходов.</a:t>
            </a:r>
          </a:p>
          <a:p>
            <a:endParaRPr lang="ru-RU" dirty="0"/>
          </a:p>
          <a:p>
            <a:r>
              <a:rPr lang="ru-RU" dirty="0"/>
              <a:t>Если кэш-линия находится в состоянии </a:t>
            </a:r>
            <a:r>
              <a:rPr lang="ru-RU" dirty="0" err="1"/>
              <a:t>Exclusive</a:t>
            </a:r>
            <a:r>
              <a:rPr lang="ru-RU" dirty="0"/>
              <a:t>, это значит, что только это ядро владеет данными, и они согласованы с памятью.</a:t>
            </a:r>
          </a:p>
          <a:p>
            <a:endParaRPr lang="ru-RU" dirty="0"/>
          </a:p>
          <a:p>
            <a:r>
              <a:rPr lang="ru-RU" dirty="0"/>
              <a:t>В этом случае процессор может просто выполнить запись, не взаимодействуя с другими ядрами.</a:t>
            </a:r>
          </a:p>
          <a:p>
            <a:endParaRPr lang="ru-RU" dirty="0"/>
          </a:p>
          <a:p>
            <a:r>
              <a:rPr lang="ru-RU" dirty="0"/>
              <a:t>После этого линия переходит в состояние </a:t>
            </a:r>
            <a:r>
              <a:rPr lang="ru-RU" dirty="0" err="1"/>
              <a:t>Modified</a:t>
            </a:r>
            <a:r>
              <a:rPr lang="ru-RU" dirty="0"/>
              <a:t> — данные изменены и больше не совпадают с памятью.</a:t>
            </a:r>
          </a:p>
          <a:p>
            <a:endParaRPr lang="ru-RU" dirty="0"/>
          </a:p>
          <a:p>
            <a:r>
              <a:rPr lang="ru-RU" dirty="0"/>
              <a:t>Это важный момент: не все записи дорогие — если у нас уже есть эксклюзивный доступ, запись происходит локально и быстро.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91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переход, когда другое ядро запрашивает данные, которыми мы владеем в состоянии </a:t>
            </a:r>
            <a:r>
              <a:rPr lang="ru-RU" dirty="0" err="1"/>
              <a:t>Modified</a:t>
            </a:r>
            <a:r>
              <a:rPr lang="ru-RU" dirty="0"/>
              <a:t>.</a:t>
            </a:r>
          </a:p>
          <a:p>
            <a:r>
              <a:rPr lang="ru-RU" dirty="0"/>
              <a:t>Это значит, что у нас единственная актуальная копия, и она отличается от памяти.</a:t>
            </a:r>
          </a:p>
          <a:p>
            <a:r>
              <a:rPr lang="ru-RU" dirty="0"/>
              <a:t>В этом случае мы должны передать данные запрашивающему ядру — именно мы отправляем актуальное значение.</a:t>
            </a:r>
          </a:p>
          <a:p>
            <a:r>
              <a:rPr lang="ru-RU" dirty="0"/>
              <a:t>После этого мы </a:t>
            </a:r>
            <a:r>
              <a:rPr lang="ru-RU" dirty="0" err="1"/>
              <a:t>инвалидируем</a:t>
            </a:r>
            <a:r>
              <a:rPr lang="ru-RU" dirty="0"/>
              <a:t> свою копию и подтверждаем это.</a:t>
            </a:r>
          </a:p>
          <a:p>
            <a:r>
              <a:rPr lang="ru-RU" dirty="0"/>
              <a:t>В результате кэш-линия переходит в состояние </a:t>
            </a:r>
            <a:r>
              <a:rPr lang="ru-RU" dirty="0" err="1"/>
              <a:t>Invalid</a:t>
            </a:r>
            <a:r>
              <a:rPr lang="ru-RU" dirty="0"/>
              <a:t> — мы больше не владеем этими данными.</a:t>
            </a:r>
          </a:p>
          <a:p>
            <a:r>
              <a:rPr lang="ru-RU" dirty="0"/>
              <a:t>По сути, это передача владения от одного ядра к другому.</a:t>
            </a:r>
          </a:p>
          <a:p>
            <a:r>
              <a:rPr lang="ru-RU" dirty="0"/>
              <a:t>Обратите внимание: память здесь вообще не участвует — данные передаются напрямую между кэшами.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196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переход, когда процессор хочет выполнить атомарную </a:t>
            </a:r>
            <a:r>
              <a:rPr lang="ru-RU" dirty="0" err="1"/>
              <a:t>read-modify-write</a:t>
            </a:r>
            <a:r>
              <a:rPr lang="ru-RU" dirty="0"/>
              <a:t> операцию над данными, которых у него нет в кэше.</a:t>
            </a:r>
          </a:p>
          <a:p>
            <a:endParaRPr lang="ru-RU" dirty="0"/>
          </a:p>
          <a:p>
            <a:r>
              <a:rPr lang="ru-RU" dirty="0"/>
              <a:t>В этом случае он сразу запрашивает данные с </a:t>
            </a:r>
            <a:r>
              <a:rPr lang="ru-RU" dirty="0" err="1"/>
              <a:t>инвалидацией</a:t>
            </a:r>
            <a:r>
              <a:rPr lang="ru-RU" dirty="0"/>
              <a:t> — то есть не просто прочитать, а получить эксклюзивный доступ.</a:t>
            </a:r>
          </a:p>
          <a:p>
            <a:endParaRPr lang="ru-RU" dirty="0"/>
          </a:p>
          <a:p>
            <a:r>
              <a:rPr lang="ru-RU" dirty="0"/>
              <a:t>Дальше процессор получает данные и ждёт, пока все остальные ядра удалят свои копии и подтвердят это.</a:t>
            </a:r>
          </a:p>
          <a:p>
            <a:endParaRPr lang="ru-RU" dirty="0"/>
          </a:p>
          <a:p>
            <a:r>
              <a:rPr lang="ru-RU" dirty="0"/>
              <a:t>Только после этого он может выполнить запись, и кэш-линия переходит в состояние </a:t>
            </a:r>
            <a:r>
              <a:rPr lang="ru-RU" dirty="0" err="1"/>
              <a:t>Modified</a:t>
            </a:r>
            <a:r>
              <a:rPr lang="ru-RU" dirty="0"/>
              <a:t>.</a:t>
            </a:r>
          </a:p>
          <a:p>
            <a:r>
              <a:rPr lang="ru-RU" dirty="0"/>
              <a:t>👉 Это важный момент: такие операции дорогие, потому что требуют согласования со всеми ядрами.</a:t>
            </a:r>
          </a:p>
          <a:p>
            <a:endParaRPr lang="ru-RU" dirty="0"/>
          </a:p>
          <a:p>
            <a:r>
              <a:rPr lang="ru-RU" dirty="0"/>
              <a:t>Это ровно то, что происходит внутри атомарных операций вроде </a:t>
            </a:r>
            <a:r>
              <a:rPr lang="ru-RU" dirty="0" err="1"/>
              <a:t>compare_exchange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464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переход из состояния </a:t>
            </a:r>
            <a:r>
              <a:rPr lang="ru-RU" dirty="0" err="1"/>
              <a:t>Shared</a:t>
            </a:r>
            <a:r>
              <a:rPr lang="ru-RU" dirty="0"/>
              <a:t> в </a:t>
            </a:r>
            <a:r>
              <a:rPr lang="ru-RU" dirty="0" err="1"/>
              <a:t>Modified</a:t>
            </a:r>
            <a:r>
              <a:rPr lang="ru-RU" dirty="0"/>
              <a:t>.</a:t>
            </a:r>
          </a:p>
          <a:p>
            <a:r>
              <a:rPr lang="ru-RU" dirty="0"/>
              <a:t>В состоянии </a:t>
            </a:r>
            <a:r>
              <a:rPr lang="ru-RU" dirty="0" err="1"/>
              <a:t>Shared</a:t>
            </a:r>
            <a:r>
              <a:rPr lang="ru-RU" dirty="0"/>
              <a:t> данные есть не только у нас, но и у других ядер, поэтому мы можем только читать.</a:t>
            </a:r>
          </a:p>
          <a:p>
            <a:endParaRPr lang="ru-RU" dirty="0"/>
          </a:p>
          <a:p>
            <a:r>
              <a:rPr lang="ru-RU" dirty="0"/>
              <a:t>Если мы хотим записать, нужно сначала получить эксклюзивный доступ.</a:t>
            </a:r>
          </a:p>
          <a:p>
            <a:endParaRPr lang="ru-RU" dirty="0"/>
          </a:p>
          <a:p>
            <a:r>
              <a:rPr lang="ru-RU" dirty="0"/>
              <a:t>Для этого процессор отправляет сообщения </a:t>
            </a:r>
            <a:r>
              <a:rPr lang="ru-RU" dirty="0" err="1"/>
              <a:t>invalidate</a:t>
            </a:r>
            <a:r>
              <a:rPr lang="ru-RU" dirty="0"/>
              <a:t>, и все остальные ядра должны удалить свои копии и подтвердить это.</a:t>
            </a:r>
          </a:p>
          <a:p>
            <a:endParaRPr lang="ru-RU" dirty="0"/>
          </a:p>
          <a:p>
            <a:r>
              <a:rPr lang="ru-RU" dirty="0"/>
              <a:t>Только после этого мы можем выполнить запись, и линия переходит в состояние </a:t>
            </a:r>
            <a:r>
              <a:rPr lang="ru-RU" dirty="0" err="1"/>
              <a:t>Modified</a:t>
            </a:r>
            <a:r>
              <a:rPr lang="ru-RU" dirty="0"/>
              <a:t>.</a:t>
            </a:r>
          </a:p>
          <a:p>
            <a:r>
              <a:rPr lang="ru-RU" dirty="0"/>
              <a:t>👉 Важный момент: такая запись дорогая, потому что требует согласования со всеми ядрами.</a:t>
            </a:r>
          </a:p>
          <a:p>
            <a:endParaRPr lang="ru-RU" dirty="0"/>
          </a:p>
          <a:p>
            <a:r>
              <a:rPr lang="ru-RU" dirty="0"/>
              <a:t>Это и есть причина, почему </a:t>
            </a:r>
            <a:r>
              <a:rPr lang="ru-RU" dirty="0" err="1"/>
              <a:t>shared</a:t>
            </a:r>
            <a:r>
              <a:rPr lang="ru-RU" dirty="0"/>
              <a:t>-переменные и </a:t>
            </a:r>
            <a:r>
              <a:rPr lang="ru-RU" dirty="0" err="1"/>
              <a:t>атомики</a:t>
            </a:r>
            <a:r>
              <a:rPr lang="ru-RU" dirty="0"/>
              <a:t> могут сильно тормозить.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63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переход из состояния </a:t>
            </a:r>
            <a:r>
              <a:rPr lang="ru-RU" dirty="0" err="1"/>
              <a:t>Modified</a:t>
            </a:r>
            <a:r>
              <a:rPr lang="ru-RU" dirty="0"/>
              <a:t> в </a:t>
            </a:r>
            <a:r>
              <a:rPr lang="ru-RU" dirty="0" err="1"/>
              <a:t>Shared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У нас есть изменённые данные, и мы являемся единственным владельцем.</a:t>
            </a:r>
          </a:p>
          <a:p>
            <a:r>
              <a:rPr lang="ru-RU" dirty="0"/>
              <a:t>Если другое ядро хочет их прочитать, оно отправляет запрос </a:t>
            </a:r>
            <a:r>
              <a:rPr lang="ru-RU" dirty="0" err="1"/>
              <a:t>Read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Так как у нас самая актуальная версия, именно мы отправляем данные.</a:t>
            </a:r>
          </a:p>
          <a:p>
            <a:endParaRPr lang="ru-RU" dirty="0"/>
          </a:p>
          <a:p>
            <a:r>
              <a:rPr lang="ru-RU" dirty="0"/>
              <a:t>После этого данные становятся доступными сразу в нескольких кэшах, и состояние меняется на </a:t>
            </a:r>
            <a:r>
              <a:rPr lang="ru-RU" dirty="0" err="1"/>
              <a:t>Shared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Иногда при этом данные также записываются обратно в память, чтобы она стала согласованной.</a:t>
            </a:r>
          </a:p>
          <a:p>
            <a:endParaRPr lang="ru-RU" dirty="0"/>
          </a:p>
          <a:p>
            <a:r>
              <a:rPr lang="ru-RU" dirty="0"/>
              <a:t>Важно: мы теряем эксклюзивность — теперь запись этих данных потребует дополнительного согласования.</a:t>
            </a:r>
          </a:p>
          <a:p>
            <a:endParaRPr lang="ru-RU" dirty="0"/>
          </a:p>
          <a:p>
            <a:r>
              <a:rPr lang="ru-RU" dirty="0"/>
              <a:t>Это начало “совместного использования” — а значит потенциальные проблемы с производительностью.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28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переход из состояния </a:t>
            </a:r>
            <a:r>
              <a:rPr lang="ru-RU" dirty="0" err="1"/>
              <a:t>Exclusive</a:t>
            </a:r>
            <a:r>
              <a:rPr lang="ru-RU" dirty="0"/>
              <a:t> в </a:t>
            </a:r>
            <a:r>
              <a:rPr lang="ru-RU" dirty="0" err="1"/>
              <a:t>Shared</a:t>
            </a:r>
            <a:r>
              <a:rPr lang="ru-RU" dirty="0"/>
              <a:t>.</a:t>
            </a:r>
          </a:p>
          <a:p>
            <a:r>
              <a:rPr lang="ru-RU" dirty="0"/>
              <a:t>В состоянии </a:t>
            </a:r>
            <a:r>
              <a:rPr lang="ru-RU" dirty="0" err="1"/>
              <a:t>Exclusive</a:t>
            </a:r>
            <a:r>
              <a:rPr lang="ru-RU" dirty="0"/>
              <a:t> у нас единственная копия данных, но они ещё не изменялись и совпадают с памятью.</a:t>
            </a:r>
          </a:p>
          <a:p>
            <a:endParaRPr lang="ru-RU" dirty="0"/>
          </a:p>
          <a:p>
            <a:r>
              <a:rPr lang="ru-RU" dirty="0"/>
              <a:t>Если другое ядро хочет их прочитать, оно отправляет запрос </a:t>
            </a:r>
            <a:r>
              <a:rPr lang="ru-RU" dirty="0" err="1"/>
              <a:t>Read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Мы можем просто отдать данные и оставить копию у себя.</a:t>
            </a:r>
          </a:p>
          <a:p>
            <a:endParaRPr lang="ru-RU" dirty="0"/>
          </a:p>
          <a:p>
            <a:r>
              <a:rPr lang="ru-RU" dirty="0"/>
              <a:t>После этого данные становятся разделяемыми, и состояние меняется на </a:t>
            </a:r>
            <a:r>
              <a:rPr lang="ru-RU" dirty="0" err="1"/>
              <a:t>Shared</a:t>
            </a:r>
            <a:r>
              <a:rPr lang="ru-RU" dirty="0"/>
              <a:t>.</a:t>
            </a:r>
          </a:p>
          <a:p>
            <a:r>
              <a:rPr lang="ru-RU" dirty="0"/>
              <a:t>👉 Важно:</a:t>
            </a:r>
            <a:br>
              <a:rPr lang="ru-RU" dirty="0"/>
            </a:br>
            <a:r>
              <a:rPr lang="ru-RU" dirty="0"/>
              <a:t>в отличие от случая </a:t>
            </a:r>
            <a:r>
              <a:rPr lang="ru-RU" dirty="0" err="1"/>
              <a:t>Modified</a:t>
            </a:r>
            <a:r>
              <a:rPr lang="ru-RU" dirty="0"/>
              <a:t>, здесь не требуется запись в память — данные уже согласованы.</a:t>
            </a:r>
          </a:p>
          <a:p>
            <a:endParaRPr lang="ru-RU" dirty="0"/>
          </a:p>
          <a:p>
            <a:r>
              <a:rPr lang="ru-RU" dirty="0"/>
              <a:t>Но мы теряем эксклюзивность, и теперь запись этих данных потребует дополнительного согласования.</a:t>
            </a:r>
          </a:p>
          <a:p>
            <a:endParaRPr lang="ru-RU" dirty="0"/>
          </a:p>
          <a:p>
            <a:r>
              <a:rPr lang="ru-RU" dirty="0"/>
              <a:t>Это “безболезненный” </a:t>
            </a:r>
            <a:r>
              <a:rPr lang="ru-RU" dirty="0" err="1"/>
              <a:t>sharing</a:t>
            </a:r>
            <a:r>
              <a:rPr lang="ru-RU" dirty="0"/>
              <a:t> — пока никто не пишет, всё дешево.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223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переход из состояния </a:t>
            </a:r>
            <a:r>
              <a:rPr lang="ru-RU" dirty="0" err="1"/>
              <a:t>Shared</a:t>
            </a:r>
            <a:r>
              <a:rPr lang="ru-RU" dirty="0"/>
              <a:t> в </a:t>
            </a:r>
            <a:r>
              <a:rPr lang="ru-RU" dirty="0" err="1"/>
              <a:t>Exclusive</a:t>
            </a:r>
            <a:r>
              <a:rPr lang="ru-RU" dirty="0"/>
              <a:t>.</a:t>
            </a:r>
          </a:p>
          <a:p>
            <a:r>
              <a:rPr lang="ru-RU" dirty="0"/>
              <a:t>В состоянии </a:t>
            </a:r>
            <a:r>
              <a:rPr lang="ru-RU" dirty="0" err="1"/>
              <a:t>Shared</a:t>
            </a:r>
            <a:r>
              <a:rPr lang="ru-RU" dirty="0"/>
              <a:t> данные есть у нескольких ядер, поэтому мы не можем сразу записывать. Если процессор планирует запись, он сначала должен получить эксклюзивный доступ.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Для этого он отправляет сообщения </a:t>
            </a:r>
            <a:r>
              <a:rPr lang="ru-RU" dirty="0" err="1"/>
              <a:t>invalidate</a:t>
            </a:r>
            <a:r>
              <a:rPr lang="ru-RU" dirty="0"/>
              <a:t>, и другие ядра удаляют свои копии. Когда все подтверждения получены, линия становится </a:t>
            </a:r>
            <a:r>
              <a:rPr lang="ru-RU" dirty="0" err="1"/>
              <a:t>Exclusive</a:t>
            </a:r>
            <a:r>
              <a:rPr lang="ru-RU" dirty="0"/>
              <a:t> — теперь мы единственный владелец.</a:t>
            </a:r>
          </a:p>
          <a:p>
            <a:endParaRPr lang="ru-RU" dirty="0"/>
          </a:p>
          <a:p>
            <a:r>
              <a:rPr lang="ru-RU" dirty="0"/>
              <a:t>Важно, что на этом этапе запись ещё не произошла — это только подготовка к ней. Иногда этот переход может произойти и без сообщений, если другие ядра сами вытеснили данные из своих кэшей.</a:t>
            </a:r>
          </a:p>
          <a:p>
            <a:endParaRPr lang="ru-RU" dirty="0"/>
          </a:p>
          <a:p>
            <a:r>
              <a:rPr lang="ru-RU" dirty="0"/>
              <a:t>Это шаг “захвата владения” перед записью.</a:t>
            </a:r>
          </a:p>
          <a:p>
            <a:endParaRPr lang="ru-RU" dirty="0"/>
          </a:p>
          <a:p>
            <a:r>
              <a:rPr lang="ru-RU" dirty="0"/>
              <a:t>Это как “забронировать ресурс перед изменением”.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321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переход из состояния </a:t>
            </a:r>
            <a:r>
              <a:rPr lang="ru-RU" dirty="0" err="1"/>
              <a:t>Exclusive</a:t>
            </a:r>
            <a:r>
              <a:rPr lang="ru-RU" dirty="0"/>
              <a:t> в </a:t>
            </a:r>
            <a:r>
              <a:rPr lang="ru-RU" dirty="0" err="1"/>
              <a:t>Invalid</a:t>
            </a:r>
            <a:r>
              <a:rPr lang="ru-RU" dirty="0"/>
              <a:t>.</a:t>
            </a:r>
          </a:p>
          <a:p>
            <a:r>
              <a:rPr lang="ru-RU" dirty="0"/>
              <a:t>У нас есть единственная копия данных, но они ещё не изменялись и совпадают с памятью.</a:t>
            </a:r>
          </a:p>
          <a:p>
            <a:endParaRPr lang="ru-RU" dirty="0"/>
          </a:p>
          <a:p>
            <a:r>
              <a:rPr lang="ru-RU" dirty="0"/>
              <a:t>Если другое ядро хочет выполнить запись, оно запрашивает данные с </a:t>
            </a:r>
            <a:r>
              <a:rPr lang="ru-RU" dirty="0" err="1"/>
              <a:t>инвалидацией</a:t>
            </a:r>
            <a:r>
              <a:rPr lang="ru-RU" dirty="0"/>
              <a:t>. В ответ мы передаём данные и удаляем свою копию.</a:t>
            </a:r>
          </a:p>
          <a:p>
            <a:endParaRPr lang="ru-RU" dirty="0"/>
          </a:p>
          <a:p>
            <a:r>
              <a:rPr lang="ru-RU" dirty="0"/>
              <a:t>После этого линия становится </a:t>
            </a:r>
            <a:r>
              <a:rPr lang="ru-RU" dirty="0" err="1"/>
              <a:t>Invalid</a:t>
            </a:r>
            <a:r>
              <a:rPr lang="ru-RU" dirty="0"/>
              <a:t> — мы больше не владеем этими данными. Это означает, что другое ядро получило право на запись.</a:t>
            </a:r>
          </a:p>
          <a:p>
            <a:endParaRPr lang="ru-RU" dirty="0"/>
          </a:p>
          <a:p>
            <a:r>
              <a:rPr lang="ru-RU" dirty="0"/>
              <a:t>Здесь память уже актуальна, поэтому мы просто отдаём данные и “уходим”.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813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переход, когда процессор хочет записать данные, которых у него нет в кэше.</a:t>
            </a:r>
          </a:p>
          <a:p>
            <a:r>
              <a:rPr lang="ru-RU" dirty="0"/>
              <a:t>Он сразу запрашивает кэш-линию с </a:t>
            </a:r>
            <a:r>
              <a:rPr lang="ru-RU" dirty="0" err="1"/>
              <a:t>инвалидацией</a:t>
            </a:r>
            <a:r>
              <a:rPr lang="ru-RU" dirty="0"/>
              <a:t> — то есть не просто читает, а получает эксклюзивный доступ.</a:t>
            </a:r>
          </a:p>
          <a:p>
            <a:endParaRPr lang="ru-RU" dirty="0"/>
          </a:p>
          <a:p>
            <a:r>
              <a:rPr lang="ru-RU" dirty="0"/>
              <a:t>После получения данных и подтверждений от других ядер линия переходит в состояние </a:t>
            </a:r>
            <a:r>
              <a:rPr lang="ru-RU" dirty="0" err="1"/>
              <a:t>Exclusive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запись выполняется локально — через переход в </a:t>
            </a:r>
            <a:r>
              <a:rPr lang="ru-RU" dirty="0" err="1"/>
              <a:t>Modified</a:t>
            </a:r>
            <a:r>
              <a:rPr lang="ru-RU" dirty="0"/>
              <a:t>, уже без дополнительных сообщений.</a:t>
            </a:r>
          </a:p>
          <a:p>
            <a:endParaRPr lang="ru-RU" dirty="0"/>
          </a:p>
          <a:p>
            <a:r>
              <a:rPr lang="ru-RU" dirty="0"/>
              <a:t>Важно: сначала происходит захват владения, и только потом — сама запись.</a:t>
            </a:r>
          </a:p>
          <a:p>
            <a:endParaRPr lang="ru-RU" dirty="0"/>
          </a:p>
          <a:p>
            <a:r>
              <a:rPr lang="ru-RU" dirty="0"/>
              <a:t>Это оптимизация: сначала забрали линию, потом пишем быстро.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878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самый простой и частый случай — обычное чтение данных.</a:t>
            </a:r>
          </a:p>
          <a:p>
            <a:r>
              <a:rPr lang="ru-RU" dirty="0"/>
              <a:t>Если данных нет в кэше, процессор отправляет запрос </a:t>
            </a:r>
            <a:r>
              <a:rPr lang="ru-RU" dirty="0" err="1"/>
              <a:t>Read</a:t>
            </a:r>
            <a:r>
              <a:rPr lang="ru-RU" dirty="0"/>
              <a:t> и получает их либо из памяти, либо из другого кэша.</a:t>
            </a:r>
          </a:p>
          <a:p>
            <a:endParaRPr lang="ru-RU" dirty="0"/>
          </a:p>
          <a:p>
            <a:r>
              <a:rPr lang="ru-RU" dirty="0"/>
              <a:t>После этого линия попадает в состояние </a:t>
            </a:r>
            <a:r>
              <a:rPr lang="ru-RU" dirty="0" err="1"/>
              <a:t>Shared</a:t>
            </a:r>
            <a:r>
              <a:rPr lang="ru-RU" dirty="0"/>
              <a:t>, потому что такие данные могут быть и у других ядер.</a:t>
            </a:r>
          </a:p>
          <a:p>
            <a:endParaRPr lang="ru-RU" dirty="0"/>
          </a:p>
          <a:p>
            <a:r>
              <a:rPr lang="ru-RU" dirty="0"/>
              <a:t>Важно: чтение — это дешёвая операция, потому что не требует согласования с другими ядрами.</a:t>
            </a:r>
          </a:p>
          <a:p>
            <a:endParaRPr lang="ru-RU" dirty="0"/>
          </a:p>
          <a:p>
            <a:r>
              <a:rPr lang="ru-RU" dirty="0"/>
              <a:t>Именно поэтому чтение масштабируется хорошо, а запись — нет.</a:t>
            </a:r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619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переход из состояния </a:t>
            </a:r>
            <a:r>
              <a:rPr lang="ru-RU" dirty="0" err="1"/>
              <a:t>Shared</a:t>
            </a:r>
            <a:r>
              <a:rPr lang="ru-RU" dirty="0"/>
              <a:t> в </a:t>
            </a:r>
            <a:r>
              <a:rPr lang="ru-RU" dirty="0" err="1"/>
              <a:t>Invalid</a:t>
            </a:r>
            <a:r>
              <a:rPr lang="ru-RU" dirty="0"/>
              <a:t>.</a:t>
            </a:r>
          </a:p>
          <a:p>
            <a:r>
              <a:rPr lang="ru-RU" dirty="0"/>
              <a:t>У нас есть копия данных, но она </a:t>
            </a:r>
            <a:r>
              <a:rPr lang="ru-RU" dirty="0" err="1"/>
              <a:t>read-only</a:t>
            </a:r>
            <a:r>
              <a:rPr lang="ru-RU" dirty="0"/>
              <a:t>, потому что такие же копии есть у других ядер.</a:t>
            </a:r>
          </a:p>
          <a:p>
            <a:endParaRPr lang="ru-RU" dirty="0"/>
          </a:p>
          <a:p>
            <a:r>
              <a:rPr lang="ru-RU" dirty="0"/>
              <a:t>Если другое ядро хочет записать эти данные, оно отправляет сообщение </a:t>
            </a:r>
            <a:r>
              <a:rPr lang="ru-RU" dirty="0" err="1"/>
              <a:t>invalidate</a:t>
            </a:r>
            <a:r>
              <a:rPr lang="ru-RU" dirty="0"/>
              <a:t>. Мы получаем его, удаляем свою копию и подтверждаем это.</a:t>
            </a:r>
          </a:p>
          <a:p>
            <a:endParaRPr lang="ru-RU" dirty="0"/>
          </a:p>
          <a:p>
            <a:r>
              <a:rPr lang="ru-RU" dirty="0"/>
              <a:t>После этого линия становится </a:t>
            </a:r>
            <a:r>
              <a:rPr lang="ru-RU" dirty="0" err="1"/>
              <a:t>Invalid</a:t>
            </a:r>
            <a:r>
              <a:rPr lang="ru-RU" dirty="0"/>
              <a:t> — мы больше не можем использовать эти данные.</a:t>
            </a:r>
          </a:p>
          <a:p>
            <a:endParaRPr lang="ru-RU" dirty="0"/>
          </a:p>
          <a:p>
            <a:r>
              <a:rPr lang="ru-RU" dirty="0"/>
              <a:t>Это базовый механизм: когда одно ядро пишет, все остальные теряют свои копии.</a:t>
            </a:r>
          </a:p>
          <a:p>
            <a:endParaRPr lang="ru-RU" dirty="0"/>
          </a:p>
          <a:p>
            <a:r>
              <a:rPr lang="ru-RU" dirty="0"/>
              <a:t>Именно из-за этого </a:t>
            </a:r>
            <a:r>
              <a:rPr lang="ru-RU" dirty="0" err="1"/>
              <a:t>shared</a:t>
            </a:r>
            <a:r>
              <a:rPr lang="ru-RU" dirty="0"/>
              <a:t>-данные “прыгают” между ядрами.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969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понимать, что MESI — это упрощённая модель.</a:t>
            </a:r>
          </a:p>
          <a:p>
            <a:r>
              <a:rPr lang="ru-RU" dirty="0"/>
              <a:t>В реальных процессорах протоколы сложнее и содержат больше состояний.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частности, есть так называемые временные состояния — когда процессор ждёт данные, ожидает подтверждения </a:t>
            </a:r>
            <a:r>
              <a:rPr lang="ru-RU" dirty="0" err="1"/>
              <a:t>инвалидации</a:t>
            </a:r>
            <a:r>
              <a:rPr lang="ru-RU" dirty="0"/>
              <a:t> или обрабатывает сообщения.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состояния нужны, чтобы эффективно работать с задержками и параллельными событиями в системе.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нас важно, что мы используем MESI как модель, но в реальности всё ещё сложнее.</a:t>
            </a:r>
            <a:endParaRPr lang="en-US" dirty="0"/>
          </a:p>
          <a:p>
            <a:endParaRPr lang="en-US" dirty="0"/>
          </a:p>
          <a:p>
            <a:r>
              <a:rPr lang="ru-RU" dirty="0"/>
              <a:t>MESI — это как “учебная версия”, а реальные протоколы — это </a:t>
            </a:r>
            <a:r>
              <a:rPr lang="ru-RU" dirty="0" err="1"/>
              <a:t>production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014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говорили, что кэш ускоряет работу. Это правда — но только если мы уже владеем данными. Если же данные находятся в кэше другого ядра, первая запись становится дорогой.</a:t>
            </a:r>
          </a:p>
          <a:p>
            <a:endParaRPr lang="ru-RU" dirty="0"/>
          </a:p>
          <a:p>
            <a:r>
              <a:rPr lang="ru-RU" dirty="0"/>
              <a:t>Процессор не может сразу записать — он должен сначала получить владение кеш-линией. Для этого он отправляет </a:t>
            </a:r>
            <a:r>
              <a:rPr lang="ru-RU" dirty="0" err="1"/>
              <a:t>invalidate</a:t>
            </a:r>
            <a:r>
              <a:rPr lang="ru-RU" dirty="0"/>
              <a:t> и ждёт, пока другое ядро освободит данные.</a:t>
            </a:r>
          </a:p>
          <a:p>
            <a:endParaRPr lang="ru-RU" dirty="0"/>
          </a:p>
          <a:p>
            <a:r>
              <a:rPr lang="ru-RU" dirty="0"/>
              <a:t>В это время процессор простаивает.</a:t>
            </a:r>
          </a:p>
          <a:p>
            <a:r>
              <a:rPr lang="ru-RU" dirty="0"/>
              <a:t>И это задержка на порядки больше, чем выполнение обычных инструкций.</a:t>
            </a:r>
          </a:p>
          <a:p>
            <a:r>
              <a:rPr lang="ru-RU" dirty="0"/>
              <a:t>При этом важно: мы всё равно перезапишем данные, но ждать передачи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 всё равно приходится.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15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первая запись может заставить процессор ждать.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Чтобы избежать этого простоя, используется буфер записи —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.</a:t>
            </a:r>
          </a:p>
          <a:p>
            <a:r>
              <a:rPr lang="ru-RU" dirty="0"/>
              <a:t>Вместо того чтобы ждать, процессор кладёт операцию записи в буфер и продолжает выполнение.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Параллельно происходит обмен сообщениями, и когда кэш-линия становится доступной, данные из буфера записываются в кэш.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Важно:</a:t>
            </a:r>
            <a:r>
              <a:rPr lang="en-US" dirty="0"/>
              <a:t> </a:t>
            </a:r>
            <a:r>
              <a:rPr lang="ru-RU" dirty="0"/>
              <a:t>с точки зрения программы запись уже произошла, но фактически она ещё не дошла до кэша.</a:t>
            </a:r>
            <a:endParaRPr lang="en-US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563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очень контринтуитивный пример.</a:t>
            </a:r>
          </a:p>
          <a:p>
            <a:endParaRPr lang="ru-RU" dirty="0"/>
          </a:p>
          <a:p>
            <a:r>
              <a:rPr lang="ru-RU" dirty="0"/>
              <a:t>Мы записываем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1</a:t>
            </a:r>
            <a:r>
              <a:rPr lang="ru-RU" dirty="0"/>
              <a:t>, а затем сразу читаем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— и ожидаем получить 1.</a:t>
            </a:r>
          </a:p>
          <a:p>
            <a:r>
              <a:rPr lang="ru-RU" dirty="0"/>
              <a:t>Но из-за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 запись ещё не дошла до кэша.</a:t>
            </a:r>
            <a:br>
              <a:rPr lang="ru-RU" dirty="0"/>
            </a:br>
            <a:r>
              <a:rPr lang="ru-RU" dirty="0"/>
              <a:t>В кэше по-прежнему лежит старое значение — 0.</a:t>
            </a:r>
          </a:p>
          <a:p>
            <a:endParaRPr lang="ru-RU" dirty="0"/>
          </a:p>
          <a:p>
            <a:r>
              <a:rPr lang="ru-RU" dirty="0"/>
              <a:t>Если процессор будет читать только из кэша, он получит неправильный результат. Чтобы этого избежать, процессор читает не только из кэша, но и из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 — это называется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forwarding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Важно: запись не становится мгновенно видимой даже для самого процессора.</a:t>
            </a:r>
          </a:p>
          <a:p>
            <a:endParaRPr lang="ru-RU" dirty="0"/>
          </a:p>
          <a:p>
            <a:r>
              <a:rPr lang="ru-RU" dirty="0"/>
              <a:t>Даже один поток может “увидеть” странное поведение без правильной архитектуры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732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очень важный пример.</a:t>
            </a:r>
          </a:p>
          <a:p>
            <a:r>
              <a:rPr lang="ru-RU" dirty="0"/>
              <a:t>На первый взгляд кажется, что если CPU 1 увидел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== 1</a:t>
            </a:r>
            <a:r>
              <a:rPr lang="ru-RU" dirty="0"/>
              <a:t>, то он обязательно должен увидеть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== 1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это не так.</a:t>
            </a:r>
          </a:p>
          <a:p>
            <a:r>
              <a:rPr lang="ru-RU" dirty="0"/>
              <a:t>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1</a:t>
            </a:r>
            <a:r>
              <a:rPr lang="ru-RU" dirty="0"/>
              <a:t> попадает в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 и ещё не видна другим процессорам.</a:t>
            </a:r>
            <a:br>
              <a:rPr lang="ru-RU" dirty="0"/>
            </a:br>
            <a:r>
              <a:rPr lang="ru-RU" dirty="0"/>
              <a:t>А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 1</a:t>
            </a:r>
            <a:r>
              <a:rPr lang="ru-RU" dirty="0"/>
              <a:t> становится видимой быстрее.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результате CPU 1 может увидеть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== 1</a:t>
            </a:r>
            <a:r>
              <a:rPr lang="ru-RU" dirty="0"/>
              <a:t>, выйти из цикла — и при этом всё ещё видеть старое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 порядок операций в программе не совпадает с тем, что видят другие потоки.</a:t>
            </a:r>
            <a:endParaRPr lang="en-US" dirty="0"/>
          </a:p>
          <a:p>
            <a:endParaRPr lang="en-US" dirty="0"/>
          </a:p>
          <a:p>
            <a:r>
              <a:rPr lang="ru-RU" dirty="0"/>
              <a:t>Без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 этот код — абсолютно легальный и абсолютно неправильный.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393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процессор может нарушать порядок операций из-за оптимизаций, например, из-за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Сам процессор не знает, что переменные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логически связаны.</a:t>
            </a:r>
          </a:p>
          <a:p>
            <a:r>
              <a:rPr lang="ru-RU" dirty="0"/>
              <a:t>Поэтому программист должен явно указать порядок — с помощью барьеров памяти.</a:t>
            </a:r>
          </a:p>
          <a:p>
            <a:endParaRPr lang="ru-RU" dirty="0"/>
          </a:p>
          <a:p>
            <a:r>
              <a:rPr lang="ru-RU" dirty="0"/>
              <a:t>Вставка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smp_mb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говорит процессору: все операции до барьера должны стать видимыми до выполнения операций после него.</a:t>
            </a:r>
          </a:p>
          <a:p>
            <a:endParaRPr lang="ru-RU" dirty="0"/>
          </a:p>
          <a:p>
            <a:r>
              <a:rPr lang="ru-RU" dirty="0"/>
              <a:t>На практике это означает, что процессор должен “сбросить”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порядок операций становится гарантированным, и программа работает корректно.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238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видели, что операции </a:t>
            </a:r>
            <a:r>
              <a:rPr lang="ru-RU" dirty="0" err="1"/>
              <a:t>invalidate</a:t>
            </a:r>
            <a:r>
              <a:rPr lang="ru-RU" dirty="0"/>
              <a:t> могут быть дорогими и вызывать ожидание.</a:t>
            </a:r>
          </a:p>
          <a:p>
            <a:r>
              <a:rPr lang="ru-RU" dirty="0"/>
              <a:t>Чтобы ускорить систему, процессоры используют очередь </a:t>
            </a:r>
            <a:r>
              <a:rPr lang="ru-RU" dirty="0" err="1"/>
              <a:t>инвалидации</a:t>
            </a:r>
            <a:r>
              <a:rPr lang="ru-RU" dirty="0"/>
              <a:t>.</a:t>
            </a:r>
          </a:p>
          <a:p>
            <a:r>
              <a:rPr lang="ru-RU" dirty="0"/>
              <a:t>Вместо того чтобы сразу </a:t>
            </a:r>
            <a:r>
              <a:rPr lang="ru-RU" dirty="0" err="1"/>
              <a:t>инвалидировать</a:t>
            </a:r>
            <a:r>
              <a:rPr lang="ru-RU" dirty="0"/>
              <a:t> кэш-линию, процессор кладёт запрос в очередь и сразу отправляет подтверждение.</a:t>
            </a:r>
          </a:p>
          <a:p>
            <a:r>
              <a:rPr lang="ru-RU" dirty="0"/>
              <a:t>Это позволяет другим процессорам не ждать.</a:t>
            </a:r>
          </a:p>
          <a:p>
            <a:r>
              <a:rPr lang="ru-RU" dirty="0"/>
              <a:t>Но есть важный момент: подтверждение отправлено, а сама </a:t>
            </a:r>
            <a:r>
              <a:rPr lang="ru-RU" dirty="0" err="1"/>
              <a:t>инвалидация</a:t>
            </a:r>
            <a:r>
              <a:rPr lang="ru-RU" dirty="0"/>
              <a:t> ещё не выполнена.</a:t>
            </a:r>
          </a:p>
          <a:p>
            <a:endParaRPr lang="ru-RU" dirty="0"/>
          </a:p>
          <a:p>
            <a:r>
              <a:rPr lang="ru-RU" dirty="0"/>
              <a:t>То есть система работает быстрее, но становится ещё менее “интуитивной”.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766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только что добавили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barrier</a:t>
            </a:r>
            <a:r>
              <a:rPr lang="ru-RU" dirty="0"/>
              <a:t> и ожидаем, что всё станет корректно.</a:t>
            </a:r>
          </a:p>
          <a:p>
            <a:endParaRPr lang="ru-RU" dirty="0"/>
          </a:p>
          <a:p>
            <a:r>
              <a:rPr lang="ru-RU" dirty="0"/>
              <a:t>Но даже этого может быть недостаточно.</a:t>
            </a:r>
          </a:p>
          <a:p>
            <a:r>
              <a:rPr lang="ru-RU" dirty="0"/>
              <a:t>CPU 0 записывает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1</a:t>
            </a:r>
            <a:r>
              <a:rPr lang="ru-RU" dirty="0"/>
              <a:t> и отправляет </a:t>
            </a:r>
            <a:r>
              <a:rPr lang="ru-RU" dirty="0" err="1"/>
              <a:t>invalidate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CPU 1 получает этот </a:t>
            </a:r>
            <a:r>
              <a:rPr lang="ru-RU" dirty="0" err="1"/>
              <a:t>invalidate</a:t>
            </a:r>
            <a:r>
              <a:rPr lang="ru-RU" dirty="0"/>
              <a:t>, но кладёт его в очередь и сразу отправляет подтверждение.</a:t>
            </a:r>
          </a:p>
          <a:p>
            <a:r>
              <a:rPr lang="ru-RU" dirty="0"/>
              <a:t>При этом старая копия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всё ещё остаётся в кэше CPU 1.</a:t>
            </a:r>
          </a:p>
          <a:p>
            <a:endParaRPr lang="ru-RU" dirty="0"/>
          </a:p>
          <a:p>
            <a:r>
              <a:rPr lang="ru-RU" dirty="0"/>
              <a:t>Затем CPU 1 получает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 1</a:t>
            </a:r>
            <a:r>
              <a:rPr lang="ru-RU" dirty="0"/>
              <a:t>, выходит из цикла — и читает старое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r>
              <a:rPr lang="ru-RU" dirty="0"/>
              <a:t>👉 Получается, что подтверждение уже пришло, но </a:t>
            </a:r>
            <a:r>
              <a:rPr lang="ru-RU" dirty="0" err="1"/>
              <a:t>инвалидация</a:t>
            </a:r>
            <a:r>
              <a:rPr lang="ru-RU" dirty="0"/>
              <a:t> ещё не выполнена.</a:t>
            </a:r>
          </a:p>
          <a:p>
            <a:endParaRPr lang="ru-RU" dirty="0"/>
          </a:p>
          <a:p>
            <a:r>
              <a:rPr lang="ru-RU" dirty="0"/>
              <a:t>Именно поэтому одного барьера иногда недостаточно — нужны правильные типы барьеров.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215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4DFAB-6E92-68BF-78F4-024A2736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E8D46-32DA-190D-45E2-75A47E2A6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5803C-F282-EF7C-8FA5-FC841D258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предыдущем примере мы увидели, что одного барьера на записи недостаточно.</a:t>
            </a:r>
          </a:p>
          <a:p>
            <a:endParaRPr lang="ru-RU" dirty="0"/>
          </a:p>
          <a:p>
            <a:r>
              <a:rPr lang="ru-RU" dirty="0"/>
              <a:t>Проблема была в том, что CPU 1 подтверждал </a:t>
            </a:r>
            <a:r>
              <a:rPr lang="ru-RU" dirty="0" err="1"/>
              <a:t>invalidate</a:t>
            </a:r>
            <a:r>
              <a:rPr lang="ru-RU" dirty="0"/>
              <a:t>, но ещё не применил его.</a:t>
            </a:r>
          </a:p>
          <a:p>
            <a:r>
              <a:rPr lang="ru-RU" dirty="0"/>
              <a:t>Теперь мы добавляем барьер на стороне чтения.</a:t>
            </a:r>
          </a:p>
          <a:p>
            <a:endParaRPr lang="ru-RU" dirty="0"/>
          </a:p>
          <a:p>
            <a:r>
              <a:rPr lang="ru-RU" dirty="0"/>
              <a:t>Этот барьер заставляет процессор дождаться, пока все операции из </a:t>
            </a:r>
            <a:r>
              <a:rPr lang="ru-RU" dirty="0" err="1"/>
              <a:t>invalidate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 будут обработаны.</a:t>
            </a:r>
          </a:p>
          <a:p>
            <a:endParaRPr lang="ru-RU" dirty="0"/>
          </a:p>
          <a:p>
            <a:r>
              <a:rPr lang="ru-RU" dirty="0"/>
              <a:t>То есть CPU 1 больше не сможет читать устаревшие данные.</a:t>
            </a:r>
          </a:p>
          <a:p>
            <a:r>
              <a:rPr lang="ru-RU" dirty="0"/>
              <a:t>В результате порядок становится гарантированным, и программа работает корректно.</a:t>
            </a:r>
          </a:p>
          <a:p>
            <a:endParaRPr lang="ru-RU" dirty="0"/>
          </a:p>
          <a:p>
            <a:r>
              <a:rPr lang="ru-RU" dirty="0"/>
              <a:t>Барьер должен быть не только у того, кто пишет, но и у того, кто читает.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8DF47-D414-040D-024B-B350DF6A7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400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Полный барьер упорядочивает все операции — и чтения, и записи.</a:t>
            </a:r>
            <a:br>
              <a:rPr lang="ru-RU" dirty="0"/>
            </a:br>
            <a:r>
              <a:rPr lang="ru-RU" dirty="0"/>
              <a:t>Но это дорого и часто избыточно.</a:t>
            </a:r>
          </a:p>
          <a:p>
            <a:endParaRPr lang="ru-RU" dirty="0"/>
          </a:p>
          <a:p>
            <a:r>
              <a:rPr lang="ru-RU" dirty="0"/>
              <a:t>Во многих случаях нам нужно контролировать только часть операций.</a:t>
            </a:r>
          </a:p>
          <a:p>
            <a:r>
              <a:rPr lang="ru-RU" dirty="0"/>
              <a:t>Например, если проблема в чтении устаревших данных, достаточно </a:t>
            </a:r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barrier</a:t>
            </a:r>
            <a:r>
              <a:rPr lang="ru-RU" dirty="0"/>
              <a:t> — он заставляет процессор дождаться обработки </a:t>
            </a:r>
            <a:r>
              <a:rPr lang="ru-RU" dirty="0" err="1"/>
              <a:t>invalidate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проблема в порядке записей, используется </a:t>
            </a:r>
            <a:r>
              <a:rPr lang="ru-RU" dirty="0" err="1"/>
              <a:t>write</a:t>
            </a:r>
            <a:r>
              <a:rPr lang="ru-RU" dirty="0"/>
              <a:t> </a:t>
            </a:r>
            <a:r>
              <a:rPr lang="ru-RU" dirty="0" err="1"/>
              <a:t>barrier</a:t>
            </a:r>
            <a:r>
              <a:rPr lang="ru-RU" dirty="0"/>
              <a:t> — он управляет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.</a:t>
            </a:r>
          </a:p>
          <a:p>
            <a:r>
              <a:rPr lang="ru-RU" dirty="0"/>
              <a:t>👉 Идея в том, чтобы использовать самый лёгкий барьер, который гарантирует корректность.</a:t>
            </a:r>
          </a:p>
          <a:p>
            <a:endParaRPr lang="ru-RU" dirty="0"/>
          </a:p>
          <a:p>
            <a:r>
              <a:rPr lang="ru-RU" dirty="0"/>
              <a:t>Именно поэтому в C++ есть разные </a:t>
            </a:r>
            <a:r>
              <a:rPr lang="ru-RU" dirty="0" err="1"/>
              <a:t>memory_order</a:t>
            </a:r>
            <a:r>
              <a:rPr lang="ru-RU" dirty="0"/>
              <a:t>, а не только </a:t>
            </a:r>
            <a:r>
              <a:rPr lang="ru-RU" dirty="0" err="1"/>
              <a:t>seq_cst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946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Барьеры чтения и записи позволяют контролировать порядок операций более точно.</a:t>
            </a:r>
          </a:p>
          <a:p>
            <a:r>
              <a:rPr lang="ru-RU" dirty="0" err="1"/>
              <a:t>Write</a:t>
            </a:r>
            <a:r>
              <a:rPr lang="ru-RU" dirty="0"/>
              <a:t> </a:t>
            </a:r>
            <a:r>
              <a:rPr lang="ru-RU" dirty="0" err="1"/>
              <a:t>barrier</a:t>
            </a:r>
            <a:r>
              <a:rPr lang="ru-RU" dirty="0"/>
              <a:t> гарантирует, что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станет видимой до записи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.</a:t>
            </a:r>
          </a:p>
          <a:p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barrier</a:t>
            </a:r>
            <a:r>
              <a:rPr lang="ru-RU" dirty="0"/>
              <a:t> гарантирует, что после того, как мы увидели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мы читаем уже актуальное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r>
              <a:rPr lang="ru-RU" dirty="0"/>
              <a:t>Вместе они образуют классический паттерн:</a:t>
            </a:r>
            <a:br>
              <a:rPr lang="ru-RU" dirty="0"/>
            </a:br>
            <a:r>
              <a:rPr lang="ru-RU" dirty="0"/>
              <a:t>один поток публикует данные, другой — корректно их наблюдает.</a:t>
            </a:r>
          </a:p>
          <a:p>
            <a:r>
              <a:rPr lang="ru-RU" dirty="0"/>
              <a:t>👉 Это более лёгкая альтернатива полному барьеру.</a:t>
            </a:r>
          </a:p>
          <a:p>
            <a:endParaRPr lang="ru-RU" dirty="0"/>
          </a:p>
          <a:p>
            <a:r>
              <a:rPr lang="ru-RU" dirty="0"/>
              <a:t>Это буквально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 из 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533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Барьеры памяти — это способ запретить процессору переупорядочивать операции. Формально: всё, что до барьера, должно завершиться перед тем, как начнётся то, что после него.</a:t>
            </a:r>
          </a:p>
          <a:p>
            <a:endParaRPr lang="ru-RU" dirty="0"/>
          </a:p>
          <a:p>
            <a:r>
              <a:rPr lang="ru-RU" dirty="0"/>
              <a:t>Существует четыре типа барьеров — в зависимости от того, какие операции мы упорядочиваем: чтения или записи.</a:t>
            </a:r>
          </a:p>
          <a:p>
            <a:endParaRPr lang="ru-RU" dirty="0"/>
          </a:p>
          <a:p>
            <a:r>
              <a:rPr lang="ru-RU" dirty="0"/>
              <a:t>Но на практике нам редко нужны все сразу.</a:t>
            </a:r>
            <a:br>
              <a:rPr lang="ru-RU" dirty="0"/>
            </a:br>
            <a:r>
              <a:rPr lang="ru-RU" dirty="0"/>
              <a:t>И здесь появляются более удобные абстракции — </a:t>
            </a:r>
            <a:r>
              <a:rPr lang="ru-RU" b="1" dirty="0" err="1"/>
              <a:t>acquire</a:t>
            </a:r>
            <a:r>
              <a:rPr lang="ru-RU" b="1" dirty="0"/>
              <a:t> и </a:t>
            </a:r>
            <a:r>
              <a:rPr lang="ru-RU" b="1" dirty="0" err="1"/>
              <a:t>release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err="1"/>
              <a:t>Acquire</a:t>
            </a:r>
            <a:r>
              <a:rPr lang="ru-RU" dirty="0"/>
              <a:t> — это барьер на чтение.</a:t>
            </a:r>
            <a:br>
              <a:rPr lang="ru-RU" dirty="0"/>
            </a:br>
            <a:r>
              <a:rPr lang="ru-RU" dirty="0"/>
              <a:t>Он гарантирует, что все операции </a:t>
            </a:r>
            <a:r>
              <a:rPr lang="ru-RU" i="1" dirty="0"/>
              <a:t>после</a:t>
            </a:r>
            <a:r>
              <a:rPr lang="ru-RU" dirty="0"/>
              <a:t> чтения не “обгонят” его.</a:t>
            </a:r>
            <a:br>
              <a:rPr lang="ru-RU" dirty="0"/>
            </a:br>
            <a:r>
              <a:rPr lang="ru-RU" dirty="0"/>
              <a:t>То есть: сначала читаем, потом всё остальное.</a:t>
            </a:r>
          </a:p>
          <a:p>
            <a:endParaRPr lang="ru-RU" dirty="0"/>
          </a:p>
          <a:p>
            <a:r>
              <a:rPr lang="ru-RU" b="1" dirty="0" err="1"/>
              <a:t>Release</a:t>
            </a:r>
            <a:r>
              <a:rPr lang="ru-RU" dirty="0"/>
              <a:t> — это барьер на запись.</a:t>
            </a:r>
            <a:br>
              <a:rPr lang="ru-RU" dirty="0"/>
            </a:br>
            <a:r>
              <a:rPr lang="ru-RU" dirty="0"/>
              <a:t>Он гарантирует, что все операции </a:t>
            </a:r>
            <a:r>
              <a:rPr lang="ru-RU" i="1" dirty="0"/>
              <a:t>до</a:t>
            </a:r>
            <a:r>
              <a:rPr lang="ru-RU" dirty="0"/>
              <a:t> записи завершатся раньше.</a:t>
            </a:r>
            <a:br>
              <a:rPr lang="ru-RU" dirty="0"/>
            </a:br>
            <a:r>
              <a:rPr lang="ru-RU" dirty="0"/>
              <a:t>То есть: сначала всё сделали, потом “публикуем” результат.</a:t>
            </a:r>
          </a:p>
          <a:p>
            <a:endParaRPr lang="ru-RU" dirty="0"/>
          </a:p>
          <a:p>
            <a:r>
              <a:rPr lang="ru-RU" dirty="0"/>
              <a:t>Если посмотреть на картинку:</a:t>
            </a:r>
          </a:p>
          <a:p>
            <a:r>
              <a:rPr lang="ru-RU" dirty="0" err="1"/>
              <a:t>acquire</a:t>
            </a:r>
            <a:r>
              <a:rPr lang="ru-RU" dirty="0"/>
              <a:t> покрывает </a:t>
            </a:r>
            <a:r>
              <a:rPr lang="ru-RU" b="1" dirty="0" err="1"/>
              <a:t>Load→Load</a:t>
            </a:r>
            <a:r>
              <a:rPr lang="ru-RU" b="1" dirty="0"/>
              <a:t> и </a:t>
            </a:r>
            <a:r>
              <a:rPr lang="ru-RU" b="1" dirty="0" err="1"/>
              <a:t>Load→Store</a:t>
            </a:r>
            <a:r>
              <a:rPr lang="ru-RU" dirty="0"/>
              <a:t> </a:t>
            </a:r>
          </a:p>
          <a:p>
            <a:r>
              <a:rPr lang="ru-RU" dirty="0" err="1"/>
              <a:t>release</a:t>
            </a:r>
            <a:r>
              <a:rPr lang="ru-RU" dirty="0"/>
              <a:t> покрывает </a:t>
            </a:r>
            <a:r>
              <a:rPr lang="ru-RU" b="1" dirty="0" err="1"/>
              <a:t>Store→Store</a:t>
            </a:r>
            <a:r>
              <a:rPr lang="ru-RU" b="1" dirty="0"/>
              <a:t> и </a:t>
            </a:r>
            <a:r>
              <a:rPr lang="ru-RU" b="1" dirty="0" err="1"/>
              <a:t>Load→Store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👉 А самый сильный случай — </a:t>
            </a:r>
            <a:r>
              <a:rPr lang="ru-RU" b="1" dirty="0" err="1"/>
              <a:t>Store→Load</a:t>
            </a:r>
            <a:r>
              <a:rPr lang="ru-RU" dirty="0"/>
              <a:t> — сюда не входит, поэтому </a:t>
            </a:r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дешевле полного барьера.</a:t>
            </a:r>
          </a:p>
          <a:p>
            <a:endParaRPr lang="ru-RU" dirty="0"/>
          </a:p>
          <a:p>
            <a:r>
              <a:rPr lang="ru-RU" dirty="0"/>
              <a:t>И именно из этих примитивов потом собираются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 в C++.</a:t>
            </a:r>
          </a:p>
          <a:p>
            <a:br>
              <a:rPr lang="ru-RU" dirty="0"/>
            </a:br>
            <a:r>
              <a:rPr lang="ru-RU" dirty="0" err="1"/>
              <a:t>Acquire</a:t>
            </a:r>
            <a:r>
              <a:rPr lang="ru-RU" dirty="0"/>
              <a:t> — это “прочитал и теперь вижу актуальный мир”,</a:t>
            </a:r>
            <a:br>
              <a:rPr lang="ru-RU" dirty="0"/>
            </a:br>
            <a:r>
              <a:rPr lang="ru-RU" dirty="0" err="1"/>
              <a:t>Release</a:t>
            </a:r>
            <a:r>
              <a:rPr lang="ru-RU" dirty="0"/>
              <a:t> — это “записал и теперь другие могут это увидеть”.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847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мы увидели, что современные процессоры — это не просто «</a:t>
            </a:r>
            <a:r>
              <a:rPr lang="ru-RU" dirty="0" err="1"/>
              <a:t>выполненяют</a:t>
            </a:r>
            <a:r>
              <a:rPr lang="ru-RU" dirty="0"/>
              <a:t> инструкций по порядку».</a:t>
            </a:r>
          </a:p>
          <a:p>
            <a:r>
              <a:rPr lang="ru-RU" dirty="0"/>
              <a:t>Чтобы работать быстро, они используют кэши, буферы и активно переупорядочивают операции.</a:t>
            </a:r>
            <a:br>
              <a:rPr lang="ru-RU" dirty="0"/>
            </a:br>
            <a:r>
              <a:rPr lang="ru-RU" dirty="0"/>
              <a:t>Это даёт огромный выигрыш в производительности, но делает поведение памяти менее очевидным.</a:t>
            </a:r>
          </a:p>
          <a:p>
            <a:endParaRPr lang="ru-RU" dirty="0"/>
          </a:p>
          <a:p>
            <a:r>
              <a:rPr lang="ru-RU" dirty="0"/>
              <a:t>В результате один и тот же код может выполняться не так, как мы ожидаем, особенно в многопоточной среде.</a:t>
            </a:r>
          </a:p>
          <a:p>
            <a:endParaRPr lang="ru-RU" dirty="0"/>
          </a:p>
          <a:p>
            <a:r>
              <a:rPr lang="ru-RU" dirty="0"/>
              <a:t>Поэтому появляются протоколы когерентности и барьеры памяти — инструменты, которые позволяют нам вернуть контроль над порядком операций.</a:t>
            </a:r>
          </a:p>
          <a:p>
            <a:endParaRPr lang="ru-RU" dirty="0"/>
          </a:p>
          <a:p>
            <a:r>
              <a:rPr lang="ru-RU" dirty="0"/>
              <a:t>Главный вывод: мы всегда балансируем между производительностью и предсказуемостью, и понимание этого — ключ к написанию корректного параллельного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6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34B-A6AF-65FD-E801-6AA58D9D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731D-7764-B810-4DE6-EFEC6FF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64FF-4361-8A20-8632-A7357C4E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59B1-BCF5-E9E4-5DC1-A0E7FB3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8E0-C2F7-7889-A85C-AEB7F30C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129-36EC-F59A-E517-4AE8C0F4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0D9-C1D5-53E2-6F3E-B5D41EE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264F9-DAD5-4879-8AB1-37BF95F4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5842-F7DB-7A7D-1C0E-AFFCBC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19B0-0BDE-6FEA-C9CE-9D47CC28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7F7-76ED-7011-F138-E869A524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DBCF-9801-0CD0-80D6-3F447D74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A715-0CC9-5B9C-18CF-61BDF80E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B509-CF39-AD98-5B9F-6F587A46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C96F-9DB3-A7C7-7684-A6D19B1E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9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21478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108421"/>
            <a:ext cx="10515600" cy="2068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16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093F-8967-AE7C-5F1B-469F7B5F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1410-333F-199D-FAEF-B7E8E224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0024-0881-46A2-51B7-982D4F4C5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088-D942-59C3-B01C-15738ADE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CBFD-239F-B16A-FB41-D184A8113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BE7A7-F321-1F82-486C-840159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27A04-391E-89F7-BFFA-811FB328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C0C-4462-0CE6-C0CF-4B724D6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ED1-E045-5879-2239-6CF5C40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1E778-7F1D-EF5E-EEF7-4818E0F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EFE2F-792D-2D06-A5D4-438C959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6091-370F-F4E1-14F0-848B825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08-E833-D2C8-21FA-F53422A3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8860-D7FB-EA40-D280-809C91D7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3219E-EFDA-81ED-A397-CE586F6E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4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AE-1701-A719-EA99-F0D91409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1DDF-3F4C-05B6-8145-DFEF2AE7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4061A-05F1-3202-44CE-A30ED63A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C9E7-259F-EDF3-0908-D55526AF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15CC9-295B-0269-3314-C3F56891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4882-B6A9-A334-945F-1BDAECC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7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31C-EF23-165A-DB9E-C64FAC3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F2B43-92D8-9B53-B80B-07CF8E5D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B1E2-8C85-BB65-94AD-57DDF6A8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A67C-F130-FC8C-ECA4-4DFCAFDF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D6-94D0-F263-A675-E4CD7038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2E05-13C4-BD37-B083-A3EF5E25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5DC-6526-8DE1-FD88-D04D333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DF879-56A4-E5E8-0C9C-6B1CFBAB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286-1207-DBA2-EA14-1A5B1DF4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0F58-DE4D-21AA-7FBF-5E6395FA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1BC4-3E61-F68B-63AA-A46453E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6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935F9-8F87-75E1-FD10-0D2519C7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B2D0-EDCD-04ED-374A-DD406C0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1ED0-C0A0-A33C-BF28-ACF1E44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E4BA-3647-8657-5F57-15CEC51B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67EA-5E3D-41B7-F8BB-EF7B5CD4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A1EC3-25D6-57CE-99DC-2AF2BC12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F670-12C1-CE1C-0CAB-31FB9C087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97D7-5848-8CBF-CFD1-3BE99CF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5F23-F574-4C00-9B25-D94C8E69B0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12AB-B38C-C36A-1C31-960B8BDAC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6F2E-FB57-0F30-5944-4E9F97F9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4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hyperlink" Target="http://ithare.com/infographics-operation-costs-in-cpu-clock-cycle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uppetmastertrading.com/images/hwViewForSwHackers.pdf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E63DB1-5874-8A47-D26E-06AA18EAD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Согласованность памяти в многопроцессорных системах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DC6EA90-44AB-A1C3-39BA-3CBFC5F2F2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5FF1-B9C8-DB74-C94B-9DEE042F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памяти и производительность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96BBE-1C2B-9C20-42B2-2A7731A48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Процессор выполняет программу</a:t>
            </a:r>
          </a:p>
          <a:p>
            <a:pPr lvl="1"/>
            <a:r>
              <a:rPr lang="ru-RU" dirty="0"/>
              <a:t>инструкции и данные находятся в оперативной памяти</a:t>
            </a:r>
          </a:p>
          <a:p>
            <a:r>
              <a:rPr lang="ru-RU" dirty="0"/>
              <a:t>Проблема: скорость CPU ≫ скорость RAM</a:t>
            </a:r>
          </a:p>
          <a:p>
            <a:pPr lvl="1"/>
            <a:r>
              <a:rPr lang="ru-RU" dirty="0"/>
              <a:t>доступ к памяти дорогой (сотни тактов)</a:t>
            </a:r>
          </a:p>
          <a:p>
            <a:pPr lvl="1"/>
            <a:r>
              <a:rPr lang="ru-RU" dirty="0"/>
              <a:t>процессор простаивает</a:t>
            </a:r>
          </a:p>
          <a:p>
            <a:r>
              <a:rPr lang="ru-RU" dirty="0"/>
              <a:t>Решение: многоуровневая кэш-память</a:t>
            </a:r>
          </a:p>
          <a:p>
            <a:pPr lvl="1"/>
            <a:r>
              <a:rPr lang="ru-RU" dirty="0"/>
              <a:t>L1 — очень быстрый, маленький </a:t>
            </a:r>
          </a:p>
          <a:p>
            <a:pPr lvl="1"/>
            <a:r>
              <a:rPr lang="ru-RU" dirty="0"/>
              <a:t>L2 — больше, медленнее </a:t>
            </a:r>
          </a:p>
          <a:p>
            <a:pPr lvl="1"/>
            <a:r>
              <a:rPr lang="ru-RU" dirty="0"/>
              <a:t>L3 — ещё больше, ещё медленнее </a:t>
            </a:r>
          </a:p>
          <a:p>
            <a:pPr lvl="1"/>
            <a:r>
              <a:rPr lang="ru-RU" dirty="0"/>
              <a:t>Часто используемые данные хранятся ближе к процессору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1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EA71D0-A5D6-247E-1F26-384453F41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86402" cy="648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DFB1C3-F621-7ED0-B5E5-25EB7087F10F}"/>
              </a:ext>
            </a:extLst>
          </p:cNvPr>
          <p:cNvSpPr txBox="1"/>
          <p:nvPr/>
        </p:nvSpPr>
        <p:spPr>
          <a:xfrm>
            <a:off x="0" y="6488668"/>
            <a:ext cx="7201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http://ithare.com/infographics-operation-costs-in-cpu-clock-cycles/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18EB43-0619-BAEC-E64F-42D4A8186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9838" y="14288"/>
            <a:ext cx="2772162" cy="282932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A75B9222-C055-F530-31B4-81A68F578687}"/>
              </a:ext>
            </a:extLst>
          </p:cNvPr>
          <p:cNvSpPr/>
          <p:nvPr/>
        </p:nvSpPr>
        <p:spPr>
          <a:xfrm flipH="1">
            <a:off x="5198126" y="4006850"/>
            <a:ext cx="777224" cy="1905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2FB3E3F-6654-1A4A-8759-945777E2D210}"/>
              </a:ext>
            </a:extLst>
          </p:cNvPr>
          <p:cNvSpPr/>
          <p:nvPr/>
        </p:nvSpPr>
        <p:spPr>
          <a:xfrm flipH="1">
            <a:off x="4328176" y="2108200"/>
            <a:ext cx="777224" cy="19050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42E8A5F-30DE-19C3-E6C5-78904F440F4D}"/>
              </a:ext>
            </a:extLst>
          </p:cNvPr>
          <p:cNvSpPr/>
          <p:nvPr/>
        </p:nvSpPr>
        <p:spPr>
          <a:xfrm flipH="1">
            <a:off x="4518676" y="2457450"/>
            <a:ext cx="777224" cy="19050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5D1A929-A09F-3634-62BA-D60F3A901D43}"/>
              </a:ext>
            </a:extLst>
          </p:cNvPr>
          <p:cNvSpPr/>
          <p:nvPr/>
        </p:nvSpPr>
        <p:spPr>
          <a:xfrm flipH="1">
            <a:off x="4809514" y="3816350"/>
            <a:ext cx="777224" cy="19050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89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AF31F4F-56F1-E625-6A96-67BD0334A280}"/>
              </a:ext>
            </a:extLst>
          </p:cNvPr>
          <p:cNvSpPr/>
          <p:nvPr/>
        </p:nvSpPr>
        <p:spPr>
          <a:xfrm>
            <a:off x="558139" y="1745137"/>
            <a:ext cx="6365175" cy="50000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4194AD-65C3-84B3-D27A-71895FB9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Многоуровневая система памяти компьютера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6006B5-01C8-F709-7A8B-B84E79FC1659}"/>
              </a:ext>
            </a:extLst>
          </p:cNvPr>
          <p:cNvSpPr/>
          <p:nvPr/>
        </p:nvSpPr>
        <p:spPr>
          <a:xfrm>
            <a:off x="7722423" y="2279790"/>
            <a:ext cx="4074226" cy="342665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Основная память</a:t>
            </a:r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68CD02B-C0D7-A339-D449-B8247CC25CF9}"/>
              </a:ext>
            </a:extLst>
          </p:cNvPr>
          <p:cNvGrpSpPr/>
          <p:nvPr/>
        </p:nvGrpSpPr>
        <p:grpSpPr>
          <a:xfrm>
            <a:off x="838198" y="2077787"/>
            <a:ext cx="2018805" cy="1780639"/>
            <a:chOff x="838198" y="2077787"/>
            <a:chExt cx="2018805" cy="17806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CC740E-41B4-9432-8BDF-541AFA8DCDDD}"/>
                </a:ext>
              </a:extLst>
            </p:cNvPr>
            <p:cNvSpPr/>
            <p:nvPr/>
          </p:nvSpPr>
          <p:spPr>
            <a:xfrm>
              <a:off x="838198" y="2077787"/>
              <a:ext cx="2018805" cy="178063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Core 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FAC8A8-E67E-F497-1204-33A422A09623}"/>
                </a:ext>
              </a:extLst>
            </p:cNvPr>
            <p:cNvSpPr/>
            <p:nvPr/>
          </p:nvSpPr>
          <p:spPr>
            <a:xfrm>
              <a:off x="978717" y="2513106"/>
              <a:ext cx="1733317" cy="113849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700C9A-6558-80A6-8A88-CA1E34509A0B}"/>
                </a:ext>
              </a:extLst>
            </p:cNvPr>
            <p:cNvSpPr/>
            <p:nvPr/>
          </p:nvSpPr>
          <p:spPr>
            <a:xfrm>
              <a:off x="1247650" y="2670146"/>
              <a:ext cx="1195449" cy="3325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L1 cache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37B828-854D-2613-66D7-C12AB16C59D4}"/>
                </a:ext>
              </a:extLst>
            </p:cNvPr>
            <p:cNvSpPr/>
            <p:nvPr/>
          </p:nvSpPr>
          <p:spPr>
            <a:xfrm>
              <a:off x="1247649" y="3135212"/>
              <a:ext cx="1195449" cy="3325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L2 cache</a:t>
              </a: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B200D359-E698-9FB9-33A4-599106C46858}"/>
              </a:ext>
            </a:extLst>
          </p:cNvPr>
          <p:cNvSpPr/>
          <p:nvPr/>
        </p:nvSpPr>
        <p:spPr>
          <a:xfrm>
            <a:off x="835970" y="6110346"/>
            <a:ext cx="4507675" cy="518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L3 cache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4E5B7BC-896C-2310-ACC2-72671FB0FD48}"/>
              </a:ext>
            </a:extLst>
          </p:cNvPr>
          <p:cNvGrpSpPr/>
          <p:nvPr/>
        </p:nvGrpSpPr>
        <p:grpSpPr>
          <a:xfrm>
            <a:off x="3327069" y="2059770"/>
            <a:ext cx="2018805" cy="1780639"/>
            <a:chOff x="838198" y="2077787"/>
            <a:chExt cx="2018805" cy="178063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7816843-73BA-E4F5-6B1C-8F43E8CC4032}"/>
                </a:ext>
              </a:extLst>
            </p:cNvPr>
            <p:cNvSpPr/>
            <p:nvPr/>
          </p:nvSpPr>
          <p:spPr>
            <a:xfrm>
              <a:off x="838198" y="2077787"/>
              <a:ext cx="2018805" cy="178063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Core 2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30A2209-9C71-E6EA-0C4C-C5D3DEBDD1DB}"/>
                </a:ext>
              </a:extLst>
            </p:cNvPr>
            <p:cNvSpPr/>
            <p:nvPr/>
          </p:nvSpPr>
          <p:spPr>
            <a:xfrm>
              <a:off x="978717" y="2513106"/>
              <a:ext cx="1733317" cy="113849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E7931A1-A261-7B6B-B340-714F678877F9}"/>
                </a:ext>
              </a:extLst>
            </p:cNvPr>
            <p:cNvSpPr/>
            <p:nvPr/>
          </p:nvSpPr>
          <p:spPr>
            <a:xfrm>
              <a:off x="1247650" y="2670146"/>
              <a:ext cx="1195449" cy="3325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L1 cache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04218B4-6108-763F-BE67-C80E93D553CA}"/>
                </a:ext>
              </a:extLst>
            </p:cNvPr>
            <p:cNvSpPr/>
            <p:nvPr/>
          </p:nvSpPr>
          <p:spPr>
            <a:xfrm>
              <a:off x="1247649" y="3135212"/>
              <a:ext cx="1195449" cy="3325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L2 cache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A9CB161-C3FF-725F-6B71-1C81F61690F8}"/>
              </a:ext>
            </a:extLst>
          </p:cNvPr>
          <p:cNvGrpSpPr/>
          <p:nvPr/>
        </p:nvGrpSpPr>
        <p:grpSpPr>
          <a:xfrm>
            <a:off x="835970" y="4104878"/>
            <a:ext cx="2018805" cy="1780639"/>
            <a:chOff x="838198" y="2077787"/>
            <a:chExt cx="2018805" cy="178063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C87E83C-9C19-D53B-5FA6-8B04B2F3EB99}"/>
                </a:ext>
              </a:extLst>
            </p:cNvPr>
            <p:cNvSpPr/>
            <p:nvPr/>
          </p:nvSpPr>
          <p:spPr>
            <a:xfrm>
              <a:off x="838198" y="2077787"/>
              <a:ext cx="2018805" cy="178063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Core 3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A8DCB8E-B2F3-0095-3DDE-75B1B5573B1E}"/>
                </a:ext>
              </a:extLst>
            </p:cNvPr>
            <p:cNvSpPr/>
            <p:nvPr/>
          </p:nvSpPr>
          <p:spPr>
            <a:xfrm>
              <a:off x="978717" y="2513106"/>
              <a:ext cx="1733317" cy="113849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3F4BCE3-BBEA-4133-6B7D-3FA6E2068503}"/>
                </a:ext>
              </a:extLst>
            </p:cNvPr>
            <p:cNvSpPr/>
            <p:nvPr/>
          </p:nvSpPr>
          <p:spPr>
            <a:xfrm>
              <a:off x="1247650" y="2670146"/>
              <a:ext cx="1195449" cy="3325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L1 cache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D679450-7FA3-8959-BC29-EEF4FB8E8E00}"/>
                </a:ext>
              </a:extLst>
            </p:cNvPr>
            <p:cNvSpPr/>
            <p:nvPr/>
          </p:nvSpPr>
          <p:spPr>
            <a:xfrm>
              <a:off x="1247649" y="3135212"/>
              <a:ext cx="1195449" cy="3325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L2 cache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7B8B761-424E-B360-C88F-73D4A110D350}"/>
              </a:ext>
            </a:extLst>
          </p:cNvPr>
          <p:cNvGrpSpPr/>
          <p:nvPr/>
        </p:nvGrpSpPr>
        <p:grpSpPr>
          <a:xfrm>
            <a:off x="3324841" y="4123226"/>
            <a:ext cx="2018805" cy="1780639"/>
            <a:chOff x="838198" y="2077787"/>
            <a:chExt cx="2018805" cy="1780639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BD440AC-5238-EE0D-E9B4-6E471F88143D}"/>
                </a:ext>
              </a:extLst>
            </p:cNvPr>
            <p:cNvSpPr/>
            <p:nvPr/>
          </p:nvSpPr>
          <p:spPr>
            <a:xfrm>
              <a:off x="838198" y="2077787"/>
              <a:ext cx="2018805" cy="178063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Core 4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C88AF7F-F675-E4D0-A8A2-F73D78DCD1AC}"/>
                </a:ext>
              </a:extLst>
            </p:cNvPr>
            <p:cNvSpPr/>
            <p:nvPr/>
          </p:nvSpPr>
          <p:spPr>
            <a:xfrm>
              <a:off x="978717" y="2513106"/>
              <a:ext cx="1733317" cy="113849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7B98B21-37E2-0098-337F-003D7A558A4C}"/>
                </a:ext>
              </a:extLst>
            </p:cNvPr>
            <p:cNvSpPr/>
            <p:nvPr/>
          </p:nvSpPr>
          <p:spPr>
            <a:xfrm>
              <a:off x="1247650" y="2670146"/>
              <a:ext cx="1195449" cy="3325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L1 cache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E54B5E7-540D-225D-9ABE-10E63CAEF024}"/>
                </a:ext>
              </a:extLst>
            </p:cNvPr>
            <p:cNvSpPr/>
            <p:nvPr/>
          </p:nvSpPr>
          <p:spPr>
            <a:xfrm>
              <a:off x="1247649" y="3135212"/>
              <a:ext cx="1195449" cy="3325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L2 cache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B5E70319-6B3B-2FA0-B64B-3813213FC558}"/>
              </a:ext>
            </a:extLst>
          </p:cNvPr>
          <p:cNvSpPr/>
          <p:nvPr/>
        </p:nvSpPr>
        <p:spPr>
          <a:xfrm rot="16200000">
            <a:off x="4909459" y="3665646"/>
            <a:ext cx="2707574" cy="6549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Шина</a:t>
            </a:r>
            <a:endParaRPr lang="en-US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4B9DBDB-8797-8FD4-FC5D-CB358A386DC2}"/>
              </a:ext>
            </a:extLst>
          </p:cNvPr>
          <p:cNvCxnSpPr>
            <a:cxnSpLocks/>
            <a:stCxn id="77" idx="1"/>
            <a:endCxn id="60" idx="3"/>
          </p:cNvCxnSpPr>
          <p:nvPr/>
        </p:nvCxnSpPr>
        <p:spPr>
          <a:xfrm rot="5400000">
            <a:off x="5292148" y="5398403"/>
            <a:ext cx="1022596" cy="91960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78">
            <a:extLst>
              <a:ext uri="{FF2B5EF4-FFF2-40B4-BE49-F238E27FC236}">
                <a16:creationId xmlns:a16="http://schemas.microsoft.com/office/drawing/2014/main" id="{8D640BE4-37E3-DF07-3DC5-5EC89F73435D}"/>
              </a:ext>
            </a:extLst>
          </p:cNvPr>
          <p:cNvCxnSpPr>
            <a:cxnSpLocks/>
            <a:stCxn id="77" idx="2"/>
            <a:endCxn id="13" idx="1"/>
          </p:cNvCxnSpPr>
          <p:nvPr/>
        </p:nvCxnSpPr>
        <p:spPr>
          <a:xfrm flipV="1">
            <a:off x="6590719" y="3993118"/>
            <a:ext cx="1131704" cy="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78">
            <a:extLst>
              <a:ext uri="{FF2B5EF4-FFF2-40B4-BE49-F238E27FC236}">
                <a16:creationId xmlns:a16="http://schemas.microsoft.com/office/drawing/2014/main" id="{7104834B-350C-D3BF-C108-B1838A630C66}"/>
              </a:ext>
            </a:extLst>
          </p:cNvPr>
          <p:cNvCxnSpPr>
            <a:cxnSpLocks/>
            <a:stCxn id="77" idx="0"/>
            <a:endCxn id="73" idx="3"/>
          </p:cNvCxnSpPr>
          <p:nvPr/>
        </p:nvCxnSpPr>
        <p:spPr>
          <a:xfrm rot="10800000" flipV="1">
            <a:off x="5343646" y="3993118"/>
            <a:ext cx="592128" cy="1020427"/>
          </a:xfrm>
          <a:prstGeom prst="bentConnector5">
            <a:avLst>
              <a:gd name="adj1" fmla="val 38607"/>
              <a:gd name="adj2" fmla="val 97931"/>
              <a:gd name="adj3" fmla="val 6139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78">
            <a:extLst>
              <a:ext uri="{FF2B5EF4-FFF2-40B4-BE49-F238E27FC236}">
                <a16:creationId xmlns:a16="http://schemas.microsoft.com/office/drawing/2014/main" id="{043B9BAD-4252-891A-6C14-B67D936C40BD}"/>
              </a:ext>
            </a:extLst>
          </p:cNvPr>
          <p:cNvCxnSpPr>
            <a:cxnSpLocks/>
            <a:stCxn id="77" idx="0"/>
          </p:cNvCxnSpPr>
          <p:nvPr/>
        </p:nvCxnSpPr>
        <p:spPr>
          <a:xfrm rot="10800000">
            <a:off x="2876576" y="3044475"/>
            <a:ext cx="3059198" cy="948644"/>
          </a:xfrm>
          <a:prstGeom prst="bentConnector3">
            <a:avLst>
              <a:gd name="adj1" fmla="val 9386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78">
            <a:extLst>
              <a:ext uri="{FF2B5EF4-FFF2-40B4-BE49-F238E27FC236}">
                <a16:creationId xmlns:a16="http://schemas.microsoft.com/office/drawing/2014/main" id="{CA09730F-0B32-11A5-1334-D712F8E3FB76}"/>
              </a:ext>
            </a:extLst>
          </p:cNvPr>
          <p:cNvCxnSpPr>
            <a:cxnSpLocks/>
            <a:stCxn id="63" idx="3"/>
            <a:endCxn id="77" idx="0"/>
          </p:cNvCxnSpPr>
          <p:nvPr/>
        </p:nvCxnSpPr>
        <p:spPr>
          <a:xfrm>
            <a:off x="5345874" y="2950090"/>
            <a:ext cx="589900" cy="1043029"/>
          </a:xfrm>
          <a:prstGeom prst="bentConnector5">
            <a:avLst>
              <a:gd name="adj1" fmla="val 38752"/>
              <a:gd name="adj2" fmla="val 49706"/>
              <a:gd name="adj3" fmla="val 3910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78">
            <a:extLst>
              <a:ext uri="{FF2B5EF4-FFF2-40B4-BE49-F238E27FC236}">
                <a16:creationId xmlns:a16="http://schemas.microsoft.com/office/drawing/2014/main" id="{B38202BB-204B-B6B7-0BCE-D5D0A45B3626}"/>
              </a:ext>
            </a:extLst>
          </p:cNvPr>
          <p:cNvCxnSpPr>
            <a:cxnSpLocks/>
            <a:stCxn id="77" idx="0"/>
            <a:endCxn id="68" idx="3"/>
          </p:cNvCxnSpPr>
          <p:nvPr/>
        </p:nvCxnSpPr>
        <p:spPr>
          <a:xfrm rot="10800000" flipV="1">
            <a:off x="2854776" y="3993118"/>
            <a:ext cx="3080999" cy="1002079"/>
          </a:xfrm>
          <a:prstGeom prst="bentConnector3">
            <a:avLst>
              <a:gd name="adj1" fmla="val 9278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04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EFB00-E261-779E-07A0-8127091E4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Упрощённая схема памяти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38891-865E-CBC1-BA0B-01D069A8747D}"/>
              </a:ext>
            </a:extLst>
          </p:cNvPr>
          <p:cNvSpPr/>
          <p:nvPr/>
        </p:nvSpPr>
        <p:spPr>
          <a:xfrm>
            <a:off x="838200" y="2090058"/>
            <a:ext cx="2083130" cy="10301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C130C-A5B9-BD7F-5D8D-4298BE96472F}"/>
              </a:ext>
            </a:extLst>
          </p:cNvPr>
          <p:cNvSpPr/>
          <p:nvPr/>
        </p:nvSpPr>
        <p:spPr>
          <a:xfrm>
            <a:off x="3365665" y="2090058"/>
            <a:ext cx="2083130" cy="10301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4DF68-8E7B-AF0B-56C5-AA66429D0909}"/>
              </a:ext>
            </a:extLst>
          </p:cNvPr>
          <p:cNvSpPr/>
          <p:nvPr/>
        </p:nvSpPr>
        <p:spPr>
          <a:xfrm>
            <a:off x="5893130" y="2090058"/>
            <a:ext cx="2083130" cy="10301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D4DF8E-DA95-5E89-B8FB-AACC00A259B9}"/>
              </a:ext>
            </a:extLst>
          </p:cNvPr>
          <p:cNvSpPr/>
          <p:nvPr/>
        </p:nvSpPr>
        <p:spPr>
          <a:xfrm>
            <a:off x="8420595" y="2090058"/>
            <a:ext cx="2083130" cy="10301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CDCC77-9EAC-7F70-4E0C-35051AEEE021}"/>
              </a:ext>
            </a:extLst>
          </p:cNvPr>
          <p:cNvSpPr/>
          <p:nvPr/>
        </p:nvSpPr>
        <p:spPr>
          <a:xfrm>
            <a:off x="838200" y="3120242"/>
            <a:ext cx="2083130" cy="703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425B39-222C-2CE5-04BC-AB729E04ECE9}"/>
              </a:ext>
            </a:extLst>
          </p:cNvPr>
          <p:cNvSpPr/>
          <p:nvPr/>
        </p:nvSpPr>
        <p:spPr>
          <a:xfrm>
            <a:off x="3365665" y="3120241"/>
            <a:ext cx="2083130" cy="703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55C6F7-14C2-4437-FD53-5046D5E24B06}"/>
              </a:ext>
            </a:extLst>
          </p:cNvPr>
          <p:cNvSpPr/>
          <p:nvPr/>
        </p:nvSpPr>
        <p:spPr>
          <a:xfrm>
            <a:off x="5893130" y="3120240"/>
            <a:ext cx="2083130" cy="703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8817B6-423E-84E9-AA4A-CD8532547B31}"/>
              </a:ext>
            </a:extLst>
          </p:cNvPr>
          <p:cNvSpPr/>
          <p:nvPr/>
        </p:nvSpPr>
        <p:spPr>
          <a:xfrm>
            <a:off x="8420595" y="3120239"/>
            <a:ext cx="2083130" cy="703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07C88C-1B20-E813-6C36-91B36D20F931}"/>
              </a:ext>
            </a:extLst>
          </p:cNvPr>
          <p:cNvSpPr/>
          <p:nvPr/>
        </p:nvSpPr>
        <p:spPr>
          <a:xfrm>
            <a:off x="838199" y="4517014"/>
            <a:ext cx="9665525" cy="33701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Шина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C08D14-D01C-15A8-669D-AB304F383F46}"/>
              </a:ext>
            </a:extLst>
          </p:cNvPr>
          <p:cNvSpPr/>
          <p:nvPr/>
        </p:nvSpPr>
        <p:spPr>
          <a:xfrm>
            <a:off x="838198" y="5547192"/>
            <a:ext cx="9665525" cy="7036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Память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80E514-C7E4-4CBF-4A79-EC5679C8C141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879765" y="3823855"/>
            <a:ext cx="0" cy="66050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71B614-F48B-F863-FD41-6CAB7B56A219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407230" y="3823854"/>
            <a:ext cx="0" cy="66050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44A8CF-A5A6-3E78-2B54-1D69CB976485}"/>
              </a:ext>
            </a:extLst>
          </p:cNvPr>
          <p:cNvCxnSpPr>
            <a:cxnSpLocks/>
          </p:cNvCxnSpPr>
          <p:nvPr/>
        </p:nvCxnSpPr>
        <p:spPr>
          <a:xfrm>
            <a:off x="6934695" y="3823853"/>
            <a:ext cx="0" cy="66050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37A23D8-6F22-F6B6-C2A8-FF26CDF2D94A}"/>
              </a:ext>
            </a:extLst>
          </p:cNvPr>
          <p:cNvCxnSpPr>
            <a:cxnSpLocks/>
          </p:cNvCxnSpPr>
          <p:nvPr/>
        </p:nvCxnSpPr>
        <p:spPr>
          <a:xfrm>
            <a:off x="9462160" y="3823852"/>
            <a:ext cx="0" cy="66050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AEF45B-7607-55B4-884A-A724536B4FBF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V="1">
            <a:off x="5670961" y="4854033"/>
            <a:ext cx="1" cy="69315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136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6E23-CEB5-5857-F8D7-887C1BD90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данные попадают в кэш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FAD81-8953-889C-0F2A-089C500B1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Кэш — это ограниченный ресурс, и не все данные могут поместиться</a:t>
            </a:r>
          </a:p>
          <a:p>
            <a:pPr lvl="1"/>
            <a:r>
              <a:rPr lang="ru-RU" dirty="0"/>
              <a:t>Вопрос: куда положить данные?</a:t>
            </a:r>
          </a:p>
          <a:p>
            <a:r>
              <a:rPr lang="ru-RU" dirty="0"/>
              <a:t>Основные подходы:</a:t>
            </a:r>
          </a:p>
          <a:p>
            <a:pPr lvl="1"/>
            <a:r>
              <a:rPr lang="ru-RU" dirty="0"/>
              <a:t>Direct-</a:t>
            </a:r>
            <a:r>
              <a:rPr lang="ru-RU" dirty="0" err="1"/>
              <a:t>mapped</a:t>
            </a:r>
            <a:endParaRPr lang="ru-RU" dirty="0"/>
          </a:p>
          <a:p>
            <a:pPr lvl="2"/>
            <a:r>
              <a:rPr lang="ru-RU" dirty="0"/>
              <a:t>у каждого адреса одно фиксированное место</a:t>
            </a:r>
          </a:p>
          <a:p>
            <a:pPr lvl="2"/>
            <a:r>
              <a:rPr lang="ru-RU" dirty="0"/>
              <a:t>быстро, но возможны конфликты</a:t>
            </a:r>
          </a:p>
          <a:p>
            <a:pPr lvl="1"/>
            <a:r>
              <a:rPr lang="ru-RU" dirty="0" err="1"/>
              <a:t>Fully-associative</a:t>
            </a:r>
            <a:endParaRPr lang="ru-RU" dirty="0"/>
          </a:p>
          <a:p>
            <a:pPr lvl="2"/>
            <a:r>
              <a:rPr lang="ru-RU" dirty="0"/>
              <a:t>данные можно положить куда угодно</a:t>
            </a:r>
          </a:p>
          <a:p>
            <a:pPr lvl="2"/>
            <a:r>
              <a:rPr lang="ru-RU" dirty="0"/>
              <a:t>гибко, но дорого</a:t>
            </a:r>
          </a:p>
          <a:p>
            <a:pPr lvl="1"/>
            <a:r>
              <a:rPr lang="ru-RU" dirty="0" err="1"/>
              <a:t>Set-associative</a:t>
            </a:r>
            <a:r>
              <a:rPr lang="ru-RU" dirty="0"/>
              <a:t> (реальные CPU)</a:t>
            </a:r>
          </a:p>
          <a:p>
            <a:pPr lvl="2"/>
            <a:r>
              <a:rPr lang="ru-RU" dirty="0"/>
              <a:t>компромисс: несколько возможных мест</a:t>
            </a:r>
          </a:p>
          <a:p>
            <a:pPr lvl="2"/>
            <a:r>
              <a:rPr lang="ru-RU" dirty="0"/>
              <a:t>баланс скорости и гибкости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61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7BCD-339D-DC85-5D7C-7E916DC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Политики размещения данных в кэш-памяти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7E230-F53E-6BB9-80FA-FC1E578F6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Полностью ассоциативное размещение</a:t>
            </a:r>
            <a:r>
              <a:rPr lang="en-US" dirty="0"/>
              <a:t> (Fully associative mapping)</a:t>
            </a:r>
            <a:endParaRPr lang="ru-RU" dirty="0"/>
          </a:p>
          <a:p>
            <a:pPr lvl="1"/>
            <a:r>
              <a:rPr lang="ru-RU" dirty="0"/>
              <a:t>Данные могут быть записаны в любую строку кэша</a:t>
            </a:r>
            <a:r>
              <a:rPr lang="en-US" dirty="0"/>
              <a:t> (</a:t>
            </a:r>
            <a:r>
              <a:rPr lang="ru-RU" dirty="0"/>
              <a:t>кэш утилизируется полностью)</a:t>
            </a:r>
          </a:p>
          <a:p>
            <a:pPr lvl="1"/>
            <a:r>
              <a:rPr lang="ru-RU" dirty="0"/>
              <a:t>Более высокая стоимость аппаратной реализации и потребление энергии</a:t>
            </a:r>
          </a:p>
          <a:p>
            <a:r>
              <a:rPr lang="ru-RU" dirty="0"/>
              <a:t>Прямое отображение (</a:t>
            </a:r>
            <a:r>
              <a:rPr lang="en-US" dirty="0"/>
              <a:t>Direct mapping)</a:t>
            </a:r>
            <a:endParaRPr lang="ru-RU" dirty="0"/>
          </a:p>
          <a:p>
            <a:pPr lvl="1"/>
            <a:r>
              <a:rPr lang="ru-RU" dirty="0"/>
              <a:t>Каждому блоку в </a:t>
            </a:r>
            <a:r>
              <a:rPr lang="en-US" dirty="0"/>
              <a:t>RAM</a:t>
            </a:r>
            <a:r>
              <a:rPr lang="ru-RU" dirty="0"/>
              <a:t> соответствует одно фиксированное размещение в кэше</a:t>
            </a:r>
          </a:p>
          <a:p>
            <a:pPr lvl="1"/>
            <a:r>
              <a:rPr lang="ru-RU" dirty="0"/>
              <a:t>Недостаток: если два блока отображаются в одно и то же место в кэше, один из них вытесняет другой</a:t>
            </a:r>
            <a:endParaRPr lang="en-US" dirty="0"/>
          </a:p>
          <a:p>
            <a:r>
              <a:rPr lang="ru-RU" dirty="0"/>
              <a:t>Набор-ассоциативное размещение (</a:t>
            </a:r>
            <a:r>
              <a:rPr lang="en-US" dirty="0"/>
              <a:t>Set-associative cache)</a:t>
            </a:r>
            <a:endParaRPr lang="ru-RU" dirty="0"/>
          </a:p>
          <a:p>
            <a:pPr lvl="1"/>
            <a:r>
              <a:rPr lang="ru-RU" dirty="0"/>
              <a:t>кэш делится на несколько наборов, и каждому блоку </a:t>
            </a:r>
            <a:r>
              <a:rPr lang="en-US" dirty="0"/>
              <a:t>RAM </a:t>
            </a:r>
            <a:r>
              <a:rPr lang="ru-RU" dirty="0"/>
              <a:t>соответствует определённый набор кэш-</a:t>
            </a:r>
            <a:r>
              <a:rPr lang="ru-RU" dirty="0" err="1"/>
              <a:t>линих</a:t>
            </a:r>
            <a:endParaRPr lang="ru-RU" dirty="0"/>
          </a:p>
          <a:p>
            <a:pPr lvl="1"/>
            <a:r>
              <a:rPr lang="ru-RU" dirty="0"/>
              <a:t>Баланс между гибкостью и стоимостью реализации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32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17825D-E7DE-84BD-210D-FD42315F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Direct-mapped cache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C11579D-03BD-BEA9-BE73-F9BA5F73CC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85657" y="1825625"/>
            <a:ext cx="622068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167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8DE0D14-C11B-2FC5-063D-BAC7D659D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Fully-associative cache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871BD952-C744-4060-145D-0C7344B1BE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332" y="1825625"/>
            <a:ext cx="63733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33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FE1F-249E-310C-DFE1-E33F2C49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Набор-ассоциативный кэш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4C6D0A3-A49D-8FE6-2BDA-7F7A11BA7E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793" y="1825625"/>
            <a:ext cx="720441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819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B80DE-8D53-03D4-0CFA-6DD3106C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политик размещения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6A64B-AD2C-60A2-6EBF-DC7B9B1FD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Дано: кэш размером 4 строки будет размещать три разных блока по адресам </a:t>
            </a:r>
            <a:r>
              <a:rPr lang="en-US" dirty="0"/>
              <a:t>A, B </a:t>
            </a:r>
            <a:r>
              <a:rPr lang="ru-RU" dirty="0"/>
              <a:t>и </a:t>
            </a:r>
            <a:r>
              <a:rPr lang="en-US" dirty="0"/>
              <a:t>C </a:t>
            </a:r>
            <a:r>
              <a:rPr lang="ru-RU" dirty="0"/>
              <a:t>следующим образом, если они отображаются в одну и ту же строку</a:t>
            </a:r>
          </a:p>
          <a:p>
            <a:pPr lvl="1"/>
            <a:r>
              <a:rPr lang="en-US" dirty="0"/>
              <a:t>Direct Mapped Cache – </a:t>
            </a:r>
            <a:r>
              <a:rPr lang="ru-RU" dirty="0"/>
              <a:t>Только один из блоков может быть в кэше одновременно</a:t>
            </a:r>
          </a:p>
          <a:p>
            <a:pPr lvl="1"/>
            <a:r>
              <a:rPr lang="en-US" dirty="0"/>
              <a:t>Fully-associative – </a:t>
            </a:r>
            <a:r>
              <a:rPr lang="ru-RU" dirty="0"/>
              <a:t>все 3 блока могут находиться в кэше одновременно, если кэш содержит 3 и более строки</a:t>
            </a:r>
          </a:p>
          <a:p>
            <a:pPr lvl="1"/>
            <a:r>
              <a:rPr lang="ru-RU" dirty="0"/>
              <a:t>2-</a:t>
            </a:r>
            <a:r>
              <a:rPr lang="en-US" dirty="0"/>
              <a:t>way set associative cache – </a:t>
            </a:r>
            <a:r>
              <a:rPr lang="ru-RU" dirty="0"/>
              <a:t>два из трех блоков могут быть в кэше, но третий вытеснит один из них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80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C3EB-688B-85FE-9A22-B6DC3BAFA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Обмен данными между кэшем и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7E90A-0886-7AB9-AF46-6DD5DB58C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Обмен происходит </a:t>
            </a:r>
            <a:r>
              <a:rPr lang="ru-RU" b="1" dirty="0"/>
              <a:t>кэш-линиями</a:t>
            </a:r>
            <a:r>
              <a:rPr lang="ru-RU" dirty="0"/>
              <a:t> (блоками данных)</a:t>
            </a:r>
          </a:p>
          <a:p>
            <a:r>
              <a:rPr lang="ru-RU" b="1" dirty="0"/>
              <a:t>🔴 Первое обращение — </a:t>
            </a:r>
            <a:r>
              <a:rPr lang="ru-RU" b="1" dirty="0" err="1"/>
              <a:t>cache</a:t>
            </a:r>
            <a:r>
              <a:rPr lang="ru-RU" b="1" dirty="0"/>
              <a:t> </a:t>
            </a:r>
            <a:r>
              <a:rPr lang="ru-RU" b="1" dirty="0" err="1"/>
              <a:t>miss</a:t>
            </a:r>
            <a:endParaRPr lang="ru-RU" b="1" dirty="0"/>
          </a:p>
          <a:p>
            <a:pPr lvl="1"/>
            <a:r>
              <a:rPr lang="ru-RU" dirty="0"/>
              <a:t>данных нет в кэше</a:t>
            </a:r>
          </a:p>
          <a:p>
            <a:pPr lvl="1"/>
            <a:r>
              <a:rPr lang="ru-RU" dirty="0"/>
              <a:t>загрузка из памяти</a:t>
            </a:r>
          </a:p>
          <a:p>
            <a:pPr lvl="1"/>
            <a:r>
              <a:rPr lang="ru-RU" dirty="0"/>
              <a:t> </a:t>
            </a:r>
            <a:r>
              <a:rPr lang="ru-RU" b="1" dirty="0"/>
              <a:t>сотни тактов ожидания</a:t>
            </a:r>
            <a:endParaRPr lang="ru-RU" dirty="0"/>
          </a:p>
          <a:p>
            <a:r>
              <a:rPr lang="ru-RU" b="1" dirty="0"/>
              <a:t>🟢 Повторные обращения — </a:t>
            </a:r>
            <a:r>
              <a:rPr lang="ru-RU" b="1" dirty="0" err="1"/>
              <a:t>cache</a:t>
            </a:r>
            <a:r>
              <a:rPr lang="ru-RU" b="1" dirty="0"/>
              <a:t> </a:t>
            </a:r>
            <a:r>
              <a:rPr lang="ru-RU" b="1" dirty="0" err="1"/>
              <a:t>hit</a:t>
            </a:r>
            <a:endParaRPr lang="ru-RU" b="1" dirty="0"/>
          </a:p>
          <a:p>
            <a:pPr lvl="1"/>
            <a:r>
              <a:rPr lang="ru-RU" dirty="0"/>
              <a:t>данные уже в кэше</a:t>
            </a:r>
          </a:p>
          <a:p>
            <a:pPr lvl="1"/>
            <a:r>
              <a:rPr lang="ru-RU" b="1" dirty="0"/>
              <a:t>быстрый доступ</a:t>
            </a:r>
            <a:endParaRPr lang="ru-RU" dirty="0"/>
          </a:p>
          <a:p>
            <a:r>
              <a:rPr lang="ru-RU" b="1" dirty="0"/>
              <a:t>Кэш ограничен</a:t>
            </a:r>
          </a:p>
          <a:p>
            <a:pPr lvl="1"/>
            <a:r>
              <a:rPr lang="ru-RU" dirty="0"/>
              <a:t>новые данные </a:t>
            </a:r>
            <a:r>
              <a:rPr lang="ru-RU" b="1" dirty="0"/>
              <a:t>вытесняют старые</a:t>
            </a:r>
            <a:endParaRPr lang="ru-RU" dirty="0"/>
          </a:p>
          <a:p>
            <a:pPr lvl="1"/>
            <a:r>
              <a:rPr lang="ru-RU" dirty="0" err="1"/>
              <a:t>capacity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— кэш переполнен </a:t>
            </a:r>
          </a:p>
          <a:p>
            <a:pPr lvl="1"/>
            <a:r>
              <a:rPr lang="ru-RU" dirty="0" err="1"/>
              <a:t>conflict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— из-за организации кэша 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71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!!Cache">
            <a:extLst>
              <a:ext uri="{FF2B5EF4-FFF2-40B4-BE49-F238E27FC236}">
                <a16:creationId xmlns:a16="http://schemas.microsoft.com/office/drawing/2014/main" id="{9598B658-D38E-412F-67F4-C7A9F83F1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8192633"/>
              </p:ext>
            </p:extLst>
          </p:nvPr>
        </p:nvGraphicFramePr>
        <p:xfrm>
          <a:off x="838202" y="422494"/>
          <a:ext cx="8211206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419">
                  <a:extLst>
                    <a:ext uri="{9D8B030D-6E8A-4147-A177-3AD203B41FA5}">
                      <a16:colId xmlns:a16="http://schemas.microsoft.com/office/drawing/2014/main" val="490829764"/>
                    </a:ext>
                  </a:extLst>
                </a:gridCol>
                <a:gridCol w="2425230">
                  <a:extLst>
                    <a:ext uri="{9D8B030D-6E8A-4147-A177-3AD203B41FA5}">
                      <a16:colId xmlns:a16="http://schemas.microsoft.com/office/drawing/2014/main" val="3799088627"/>
                    </a:ext>
                  </a:extLst>
                </a:gridCol>
                <a:gridCol w="3707557">
                  <a:extLst>
                    <a:ext uri="{9D8B030D-6E8A-4147-A177-3AD203B41FA5}">
                      <a16:colId xmlns:a16="http://schemas.microsoft.com/office/drawing/2014/main" val="409479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# </a:t>
                      </a:r>
                      <a:r>
                        <a:rPr lang="ru-RU" sz="1800" dirty="0"/>
                        <a:t>кэш-линии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Way 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Way 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79867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0x12345000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09128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0x12345100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123797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0x12345200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286683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0x12345300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68820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0x12345400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8673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0x12345500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7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0x12345600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7778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7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0x12345700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541893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0x12345800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05753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0x12345900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71287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0x12345A00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717549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0x12345B00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81780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0x12345C00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36741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0x12345D00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398678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0x12345E00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0x43210E00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80598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578507"/>
                  </a:ext>
                </a:extLst>
              </a:tr>
            </a:tbl>
          </a:graphicData>
        </a:graphic>
      </p:graphicFrame>
      <p:sp>
        <p:nvSpPr>
          <p:cNvPr id="10" name="!!Program">
            <a:extLst>
              <a:ext uri="{FF2B5EF4-FFF2-40B4-BE49-F238E27FC236}">
                <a16:creationId xmlns:a16="http://schemas.microsoft.com/office/drawing/2014/main" id="{C2E2DEF2-4662-90AD-BC22-5232AF5F3691}"/>
              </a:ext>
            </a:extLst>
          </p:cNvPr>
          <p:cNvSpPr txBox="1"/>
          <p:nvPr/>
        </p:nvSpPr>
        <p:spPr>
          <a:xfrm>
            <a:off x="9347199" y="422494"/>
            <a:ext cx="2844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</a:rPr>
              <a:t>load r0, [0x12345F00]</a:t>
            </a:r>
          </a:p>
          <a:p>
            <a:r>
              <a:rPr lang="en-US" dirty="0">
                <a:latin typeface="Consolas" panose="020B0609020204030204" pitchFamily="49" charset="0"/>
              </a:rPr>
              <a:t>load r1, [0x01233000]</a:t>
            </a:r>
          </a:p>
          <a:p>
            <a:r>
              <a:rPr lang="en-US" dirty="0">
                <a:latin typeface="Consolas" panose="020B0609020204030204" pitchFamily="49" charset="0"/>
              </a:rPr>
              <a:t>load r2, [0x01233E00]</a:t>
            </a:r>
          </a:p>
        </p:txBody>
      </p:sp>
      <p:sp>
        <p:nvSpPr>
          <p:cNvPr id="12" name="!!Arrow">
            <a:extLst>
              <a:ext uri="{FF2B5EF4-FFF2-40B4-BE49-F238E27FC236}">
                <a16:creationId xmlns:a16="http://schemas.microsoft.com/office/drawing/2014/main" id="{811EC933-27E3-EA5E-5B5D-30037D4323CE}"/>
              </a:ext>
            </a:extLst>
          </p:cNvPr>
          <p:cNvSpPr/>
          <p:nvPr/>
        </p:nvSpPr>
        <p:spPr>
          <a:xfrm>
            <a:off x="9113520" y="518160"/>
            <a:ext cx="239712" cy="260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42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AD868D-6696-7D2D-E34A-9056D71BB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!!Cache">
            <a:extLst>
              <a:ext uri="{FF2B5EF4-FFF2-40B4-BE49-F238E27FC236}">
                <a16:creationId xmlns:a16="http://schemas.microsoft.com/office/drawing/2014/main" id="{21C5845F-0C7A-4240-6584-B366DFF49E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1600499"/>
              </p:ext>
            </p:extLst>
          </p:nvPr>
        </p:nvGraphicFramePr>
        <p:xfrm>
          <a:off x="838202" y="422494"/>
          <a:ext cx="8211206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419">
                  <a:extLst>
                    <a:ext uri="{9D8B030D-6E8A-4147-A177-3AD203B41FA5}">
                      <a16:colId xmlns:a16="http://schemas.microsoft.com/office/drawing/2014/main" val="490829764"/>
                    </a:ext>
                  </a:extLst>
                </a:gridCol>
                <a:gridCol w="2425230">
                  <a:extLst>
                    <a:ext uri="{9D8B030D-6E8A-4147-A177-3AD203B41FA5}">
                      <a16:colId xmlns:a16="http://schemas.microsoft.com/office/drawing/2014/main" val="3799088627"/>
                    </a:ext>
                  </a:extLst>
                </a:gridCol>
                <a:gridCol w="3707557">
                  <a:extLst>
                    <a:ext uri="{9D8B030D-6E8A-4147-A177-3AD203B41FA5}">
                      <a16:colId xmlns:a16="http://schemas.microsoft.com/office/drawing/2014/main" val="409479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# </a:t>
                      </a:r>
                      <a:r>
                        <a:rPr lang="ru-RU" sz="1800" dirty="0"/>
                        <a:t>кэш-линии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Way 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Way 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79867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0x12345000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09128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0x12345100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123797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0x12345200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286683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0x12345300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68820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0x12345400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8673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0x12345500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7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0x12345600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7778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7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0x12345700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541893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0x12345800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05753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0x12345900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71287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0x12345A00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717549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0x12345B00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81780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0x12345C00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36741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0x12345D00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398678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0x12345E00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0x43210E00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80598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0x12345F00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578507"/>
                  </a:ext>
                </a:extLst>
              </a:tr>
            </a:tbl>
          </a:graphicData>
        </a:graphic>
      </p:graphicFrame>
      <p:sp>
        <p:nvSpPr>
          <p:cNvPr id="5" name="!!Program">
            <a:extLst>
              <a:ext uri="{FF2B5EF4-FFF2-40B4-BE49-F238E27FC236}">
                <a16:creationId xmlns:a16="http://schemas.microsoft.com/office/drawing/2014/main" id="{8A08FA17-F5B2-06B7-6D6D-9B3EBF12AD9A}"/>
              </a:ext>
            </a:extLst>
          </p:cNvPr>
          <p:cNvSpPr txBox="1"/>
          <p:nvPr/>
        </p:nvSpPr>
        <p:spPr>
          <a:xfrm>
            <a:off x="9347199" y="422494"/>
            <a:ext cx="2844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</a:rPr>
              <a:t>load r0, [0x12345F00]</a:t>
            </a:r>
          </a:p>
          <a:p>
            <a:r>
              <a:rPr lang="en-US" dirty="0">
                <a:latin typeface="Consolas" panose="020B0609020204030204" pitchFamily="49" charset="0"/>
              </a:rPr>
              <a:t>load r1, [0x01233000]</a:t>
            </a:r>
          </a:p>
          <a:p>
            <a:r>
              <a:rPr lang="en-US" dirty="0">
                <a:latin typeface="Consolas" panose="020B0609020204030204" pitchFamily="49" charset="0"/>
              </a:rPr>
              <a:t>load r2, [0x01233E00]</a:t>
            </a:r>
          </a:p>
        </p:txBody>
      </p:sp>
      <p:sp>
        <p:nvSpPr>
          <p:cNvPr id="6" name="!!Arrow">
            <a:extLst>
              <a:ext uri="{FF2B5EF4-FFF2-40B4-BE49-F238E27FC236}">
                <a16:creationId xmlns:a16="http://schemas.microsoft.com/office/drawing/2014/main" id="{10C736F5-5F9C-3489-F6C3-1D201E2E1FEA}"/>
              </a:ext>
            </a:extLst>
          </p:cNvPr>
          <p:cNvSpPr/>
          <p:nvPr/>
        </p:nvSpPr>
        <p:spPr>
          <a:xfrm>
            <a:off x="9107487" y="762000"/>
            <a:ext cx="239712" cy="260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37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A9113A-2314-8954-ADAA-DED5B116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!!Cache">
            <a:extLst>
              <a:ext uri="{FF2B5EF4-FFF2-40B4-BE49-F238E27FC236}">
                <a16:creationId xmlns:a16="http://schemas.microsoft.com/office/drawing/2014/main" id="{00D8962A-63B9-F8A6-5DBA-58807D4D70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8411618"/>
              </p:ext>
            </p:extLst>
          </p:nvPr>
        </p:nvGraphicFramePr>
        <p:xfrm>
          <a:off x="838202" y="422494"/>
          <a:ext cx="8211206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419">
                  <a:extLst>
                    <a:ext uri="{9D8B030D-6E8A-4147-A177-3AD203B41FA5}">
                      <a16:colId xmlns:a16="http://schemas.microsoft.com/office/drawing/2014/main" val="490829764"/>
                    </a:ext>
                  </a:extLst>
                </a:gridCol>
                <a:gridCol w="2425230">
                  <a:extLst>
                    <a:ext uri="{9D8B030D-6E8A-4147-A177-3AD203B41FA5}">
                      <a16:colId xmlns:a16="http://schemas.microsoft.com/office/drawing/2014/main" val="3799088627"/>
                    </a:ext>
                  </a:extLst>
                </a:gridCol>
                <a:gridCol w="3707557">
                  <a:extLst>
                    <a:ext uri="{9D8B030D-6E8A-4147-A177-3AD203B41FA5}">
                      <a16:colId xmlns:a16="http://schemas.microsoft.com/office/drawing/2014/main" val="4094798749"/>
                    </a:ext>
                  </a:extLst>
                </a:gridCol>
              </a:tblGrid>
              <a:tr h="145196">
                <a:tc>
                  <a:txBody>
                    <a:bodyPr/>
                    <a:lstStyle/>
                    <a:p>
                      <a:r>
                        <a:rPr lang="en-US" sz="1800" dirty="0"/>
                        <a:t># </a:t>
                      </a:r>
                      <a:r>
                        <a:rPr lang="ru-RU" sz="1800" dirty="0"/>
                        <a:t>кэш-линии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Way 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Way 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79867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0x12345000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0x012333000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09128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0x12345100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123797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0x12345200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286683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0x12345300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68820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0x12345400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8673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0x12345500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7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0x12345600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7778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7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0x12345700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541893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0x12345800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05753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0x12345900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71287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0x12345A00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717549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0x12345B00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81780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0x12345C00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36741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0x12345D00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398678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0x12345E00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0x43210E00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80598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0x12345F00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578507"/>
                  </a:ext>
                </a:extLst>
              </a:tr>
            </a:tbl>
          </a:graphicData>
        </a:graphic>
      </p:graphicFrame>
      <p:sp>
        <p:nvSpPr>
          <p:cNvPr id="4" name="!!Program">
            <a:extLst>
              <a:ext uri="{FF2B5EF4-FFF2-40B4-BE49-F238E27FC236}">
                <a16:creationId xmlns:a16="http://schemas.microsoft.com/office/drawing/2014/main" id="{937C82A3-7E37-2A64-16B1-766D1BFC1F3D}"/>
              </a:ext>
            </a:extLst>
          </p:cNvPr>
          <p:cNvSpPr txBox="1"/>
          <p:nvPr/>
        </p:nvSpPr>
        <p:spPr>
          <a:xfrm>
            <a:off x="9347199" y="422494"/>
            <a:ext cx="2844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</a:rPr>
              <a:t>load r0, [0x12345F00]</a:t>
            </a:r>
          </a:p>
          <a:p>
            <a:r>
              <a:rPr lang="en-US" dirty="0">
                <a:latin typeface="Consolas" panose="020B0609020204030204" pitchFamily="49" charset="0"/>
              </a:rPr>
              <a:t>load r1, [0x01233000]</a:t>
            </a:r>
          </a:p>
          <a:p>
            <a:r>
              <a:rPr lang="en-US" dirty="0">
                <a:latin typeface="Consolas" panose="020B0609020204030204" pitchFamily="49" charset="0"/>
              </a:rPr>
              <a:t>load r2, [0x01233E00]</a:t>
            </a:r>
          </a:p>
        </p:txBody>
      </p:sp>
      <p:sp>
        <p:nvSpPr>
          <p:cNvPr id="5" name="!!Arrow">
            <a:extLst>
              <a:ext uri="{FF2B5EF4-FFF2-40B4-BE49-F238E27FC236}">
                <a16:creationId xmlns:a16="http://schemas.microsoft.com/office/drawing/2014/main" id="{F6944A56-EC08-9035-617B-C6347563DD90}"/>
              </a:ext>
            </a:extLst>
          </p:cNvPr>
          <p:cNvSpPr/>
          <p:nvPr/>
        </p:nvSpPr>
        <p:spPr>
          <a:xfrm>
            <a:off x="9107487" y="1022658"/>
            <a:ext cx="239712" cy="260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44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C143CD-3A81-9A9C-7134-36C12ED57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!!Cache">
            <a:extLst>
              <a:ext uri="{FF2B5EF4-FFF2-40B4-BE49-F238E27FC236}">
                <a16:creationId xmlns:a16="http://schemas.microsoft.com/office/drawing/2014/main" id="{CAF4985B-105A-33AE-3C66-C90049F2B6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0169351"/>
              </p:ext>
            </p:extLst>
          </p:nvPr>
        </p:nvGraphicFramePr>
        <p:xfrm>
          <a:off x="838202" y="422494"/>
          <a:ext cx="8211206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419">
                  <a:extLst>
                    <a:ext uri="{9D8B030D-6E8A-4147-A177-3AD203B41FA5}">
                      <a16:colId xmlns:a16="http://schemas.microsoft.com/office/drawing/2014/main" val="490829764"/>
                    </a:ext>
                  </a:extLst>
                </a:gridCol>
                <a:gridCol w="2425230">
                  <a:extLst>
                    <a:ext uri="{9D8B030D-6E8A-4147-A177-3AD203B41FA5}">
                      <a16:colId xmlns:a16="http://schemas.microsoft.com/office/drawing/2014/main" val="3799088627"/>
                    </a:ext>
                  </a:extLst>
                </a:gridCol>
                <a:gridCol w="3707557">
                  <a:extLst>
                    <a:ext uri="{9D8B030D-6E8A-4147-A177-3AD203B41FA5}">
                      <a16:colId xmlns:a16="http://schemas.microsoft.com/office/drawing/2014/main" val="409479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# </a:t>
                      </a:r>
                      <a:r>
                        <a:rPr lang="ru-RU" sz="1800" dirty="0"/>
                        <a:t>кэш-линии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Way 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Way 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79867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0x12345000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0x012333000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09128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0x12345100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123797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0x12345200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286683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0x12345300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68820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0x12345400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8673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0x12345500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7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80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0x12345600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7778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7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0x12345700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541893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0x12345800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05753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0x12345900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71287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0x12345A00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717549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0x12345B00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81780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0x12345C00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367416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0x12345D00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398678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0x01233E00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0x43210E00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805985"/>
                  </a:ext>
                </a:extLst>
              </a:tr>
              <a:tr h="204211">
                <a:tc>
                  <a:txBody>
                    <a:bodyPr/>
                    <a:lstStyle/>
                    <a:p>
                      <a:r>
                        <a:rPr lang="ru-RU" sz="1800"/>
                        <a:t>15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0x12345F00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578507"/>
                  </a:ext>
                </a:extLst>
              </a:tr>
            </a:tbl>
          </a:graphicData>
        </a:graphic>
      </p:graphicFrame>
      <p:sp>
        <p:nvSpPr>
          <p:cNvPr id="3" name="!!Program">
            <a:extLst>
              <a:ext uri="{FF2B5EF4-FFF2-40B4-BE49-F238E27FC236}">
                <a16:creationId xmlns:a16="http://schemas.microsoft.com/office/drawing/2014/main" id="{F01D6DA7-1C2F-7E8B-F51F-3A5B775DA3E9}"/>
              </a:ext>
            </a:extLst>
          </p:cNvPr>
          <p:cNvSpPr txBox="1"/>
          <p:nvPr/>
        </p:nvSpPr>
        <p:spPr>
          <a:xfrm>
            <a:off x="9347199" y="422494"/>
            <a:ext cx="2844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</a:rPr>
              <a:t>load r0, [0x12345F00]</a:t>
            </a:r>
          </a:p>
          <a:p>
            <a:r>
              <a:rPr lang="en-US" dirty="0">
                <a:latin typeface="Consolas" panose="020B0609020204030204" pitchFamily="49" charset="0"/>
              </a:rPr>
              <a:t>load r1, [0x01233000]</a:t>
            </a:r>
          </a:p>
          <a:p>
            <a:r>
              <a:rPr lang="en-US" dirty="0">
                <a:latin typeface="Consolas" panose="020B0609020204030204" pitchFamily="49" charset="0"/>
              </a:rPr>
              <a:t>load r2, [0x01233E00]</a:t>
            </a:r>
          </a:p>
        </p:txBody>
      </p:sp>
      <p:sp>
        <p:nvSpPr>
          <p:cNvPr id="4" name="!!Arrow">
            <a:extLst>
              <a:ext uri="{FF2B5EF4-FFF2-40B4-BE49-F238E27FC236}">
                <a16:creationId xmlns:a16="http://schemas.microsoft.com/office/drawing/2014/main" id="{1458C7C7-D936-EE34-1C7D-D4A3F70EEEB4}"/>
              </a:ext>
            </a:extLst>
          </p:cNvPr>
          <p:cNvSpPr/>
          <p:nvPr/>
        </p:nvSpPr>
        <p:spPr>
          <a:xfrm>
            <a:off x="9107487" y="1296978"/>
            <a:ext cx="239712" cy="260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6C36C-6DCB-6AC3-C5E2-7C67A04C90F9}"/>
              </a:ext>
            </a:extLst>
          </p:cNvPr>
          <p:cNvSpPr/>
          <p:nvPr/>
        </p:nvSpPr>
        <p:spPr>
          <a:xfrm>
            <a:off x="9620250" y="5391150"/>
            <a:ext cx="2305050" cy="819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Associativity miss</a:t>
            </a:r>
          </a:p>
        </p:txBody>
      </p:sp>
    </p:spTree>
    <p:extLst>
      <p:ext uri="{BB962C8B-B14F-4D97-AF65-F5344CB8AC3E}">
        <p14:creationId xmlns:p14="http://schemas.microsoft.com/office/powerpoint/2010/main" val="1170262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1496-2CC6-DDDD-D26A-9E4CB2AB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происходит при записи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05BCB-EABC-E840-FFFF-4A0A712FA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Чтение — дешёвое, так как данные можно иметь в нескольких кэшах</a:t>
            </a:r>
          </a:p>
          <a:p>
            <a:r>
              <a:rPr lang="ru-RU" dirty="0"/>
              <a:t>Запись — сложнее. Если одно ядро хочет изменить данные:</a:t>
            </a:r>
          </a:p>
          <a:p>
            <a:pPr lvl="1"/>
            <a:r>
              <a:rPr lang="ru-RU" dirty="0"/>
              <a:t>Нужно получить эксклюзивный доступ </a:t>
            </a:r>
          </a:p>
          <a:p>
            <a:pPr lvl="1"/>
            <a:r>
              <a:rPr lang="ru-RU" dirty="0"/>
              <a:t>Другие кэши должны удалить свои копии (</a:t>
            </a:r>
            <a:r>
              <a:rPr lang="ru-RU" dirty="0" err="1"/>
              <a:t>invalidate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Только после этого можно писать </a:t>
            </a:r>
          </a:p>
          <a:p>
            <a:r>
              <a:rPr lang="ru-RU" dirty="0"/>
              <a:t>Последствия:</a:t>
            </a:r>
          </a:p>
          <a:p>
            <a:pPr lvl="1"/>
            <a:r>
              <a:rPr lang="ru-RU" dirty="0"/>
              <a:t>запись дороже чтения </a:t>
            </a:r>
          </a:p>
          <a:p>
            <a:pPr lvl="1"/>
            <a:r>
              <a:rPr lang="ru-RU" dirty="0"/>
              <a:t>возможны задержки (ожидание </a:t>
            </a:r>
            <a:r>
              <a:rPr lang="ru-RU" dirty="0" err="1"/>
              <a:t>инвалидации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при повторном доступе других ядер →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</a:t>
            </a:r>
          </a:p>
          <a:p>
            <a:r>
              <a:rPr lang="ru-RU" dirty="0"/>
              <a:t>Решение:</a:t>
            </a:r>
          </a:p>
          <a:p>
            <a:pPr lvl="1"/>
            <a:r>
              <a:rPr lang="ru-RU" dirty="0"/>
              <a:t>протоколы когерентности кэшей (MESI и др.)</a:t>
            </a:r>
          </a:p>
        </p:txBody>
      </p:sp>
    </p:spTree>
    <p:extLst>
      <p:ext uri="{BB962C8B-B14F-4D97-AF65-F5344CB8AC3E}">
        <p14:creationId xmlns:p14="http://schemas.microsoft.com/office/powerpoint/2010/main" val="189850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17302E-7BFA-C7E8-C883-FF315ABC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</a:t>
            </a:r>
            <a:r>
              <a:rPr lang="en-US" dirty="0"/>
              <a:t>MESI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68467-5696-EFFF-88FE-AF9A5F637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5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0384A-DE60-B3F5-94EA-1600D9D50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когерентности кэшей </a:t>
            </a:r>
            <a:r>
              <a:rPr lang="en-US" dirty="0"/>
              <a:t>MESI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AA7B3-7458-D6B1-3487-043F53B02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Задача:</a:t>
            </a:r>
            <a:r>
              <a:rPr lang="en-US" dirty="0"/>
              <a:t> </a:t>
            </a:r>
            <a:r>
              <a:rPr lang="ru-RU" dirty="0"/>
              <a:t>обеспечить согласованность данных между ядрами</a:t>
            </a:r>
          </a:p>
          <a:p>
            <a:r>
              <a:rPr lang="ru-RU" dirty="0"/>
              <a:t>Каждая кэш-линия имеет состояние</a:t>
            </a:r>
          </a:p>
          <a:p>
            <a:pPr lvl="1"/>
            <a:r>
              <a:rPr lang="ru-RU" dirty="0"/>
              <a:t>M (</a:t>
            </a:r>
            <a:r>
              <a:rPr lang="ru-RU" dirty="0" err="1"/>
              <a:t>Modified</a:t>
            </a:r>
            <a:r>
              <a:rPr lang="ru-RU" dirty="0"/>
              <a:t>) — изменена, отличается от памяти </a:t>
            </a:r>
          </a:p>
          <a:p>
            <a:pPr lvl="1"/>
            <a:r>
              <a:rPr lang="ru-RU" dirty="0"/>
              <a:t>E (</a:t>
            </a:r>
            <a:r>
              <a:rPr lang="ru-RU" dirty="0" err="1"/>
              <a:t>Exclusive</a:t>
            </a:r>
            <a:r>
              <a:rPr lang="ru-RU" dirty="0"/>
              <a:t>) — только у одного ядра, совпадает с памятью </a:t>
            </a:r>
          </a:p>
          <a:p>
            <a:pPr lvl="1"/>
            <a:r>
              <a:rPr lang="ru-RU" dirty="0"/>
              <a:t>S (</a:t>
            </a:r>
            <a:r>
              <a:rPr lang="ru-RU" dirty="0" err="1"/>
              <a:t>Shared</a:t>
            </a:r>
            <a:r>
              <a:rPr lang="ru-RU" dirty="0"/>
              <a:t>) — есть у нескольких ядер (</a:t>
            </a:r>
            <a:r>
              <a:rPr lang="ru-RU" dirty="0" err="1"/>
              <a:t>read-only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I (</a:t>
            </a:r>
            <a:r>
              <a:rPr lang="ru-RU" dirty="0" err="1"/>
              <a:t>Invalid</a:t>
            </a:r>
            <a:r>
              <a:rPr lang="ru-RU" dirty="0"/>
              <a:t>) — недействительна </a:t>
            </a:r>
          </a:p>
          <a:p>
            <a:r>
              <a:rPr lang="ru-RU" dirty="0"/>
              <a:t>Что делает протокол:</a:t>
            </a:r>
          </a:p>
          <a:p>
            <a:pPr lvl="1"/>
            <a:r>
              <a:rPr lang="ru-RU" dirty="0"/>
              <a:t>контролирует, кто может читать / писать </a:t>
            </a:r>
          </a:p>
          <a:p>
            <a:pPr lvl="1"/>
            <a:r>
              <a:rPr lang="ru-RU" dirty="0"/>
              <a:t>заставляет кэши обмениваться сообщениями </a:t>
            </a:r>
          </a:p>
          <a:p>
            <a:pPr lvl="1"/>
            <a:r>
              <a:rPr lang="ru-RU" dirty="0"/>
              <a:t>обеспечивает, что все ядра видят согласованные данные </a:t>
            </a:r>
          </a:p>
          <a:p>
            <a:r>
              <a:rPr lang="ru-RU" dirty="0"/>
              <a:t>MESI — упрощённая модель. Реальные CPU используют более сложные протоколы</a:t>
            </a:r>
          </a:p>
        </p:txBody>
      </p:sp>
    </p:spTree>
    <p:extLst>
      <p:ext uri="{BB962C8B-B14F-4D97-AF65-F5344CB8AC3E}">
        <p14:creationId xmlns:p14="http://schemas.microsoft.com/office/powerpoint/2010/main" val="312687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64F6B-9ABE-17B5-640C-7975AFED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</a:t>
            </a:r>
            <a:r>
              <a:rPr lang="en-US" dirty="0"/>
              <a:t>MESI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DDB9B-F4E4-AD69-7704-217659C31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Возможны 4 состояния кэш-линии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odified – </a:t>
            </a:r>
            <a:r>
              <a:rPr lang="ru-RU" dirty="0"/>
              <a:t>данные записаны процессором-владельцем кэша и ещё не появились в кэшах других процессоров</a:t>
            </a:r>
            <a:endParaRPr lang="en-US" dirty="0"/>
          </a:p>
          <a:p>
            <a:pPr lvl="2"/>
            <a:r>
              <a:rPr lang="ru-RU" dirty="0"/>
              <a:t>Есть расхождение между данными в кэше и основной памяти</a:t>
            </a:r>
          </a:p>
          <a:p>
            <a:pPr lvl="2"/>
            <a:r>
              <a:rPr lang="ru-RU" dirty="0"/>
              <a:t>Прежде чем вытеснить кэш-линию, её надо записать в память</a:t>
            </a:r>
          </a:p>
          <a:p>
            <a:pPr lvl="1"/>
            <a:r>
              <a:rPr lang="en-US" b="1" dirty="0"/>
              <a:t>E</a:t>
            </a:r>
            <a:r>
              <a:rPr lang="en-US" dirty="0"/>
              <a:t>xclusive – </a:t>
            </a:r>
            <a:r>
              <a:rPr lang="ru-RU" dirty="0"/>
              <a:t>данные ещё не были изменены процессором-владельцем и согласованы с памятью</a:t>
            </a:r>
          </a:p>
          <a:p>
            <a:pPr lvl="2"/>
            <a:r>
              <a:rPr lang="ru-RU" dirty="0"/>
              <a:t>Процессор-владелец может писать в эту кэш линию без согласования с другими процессорами</a:t>
            </a:r>
          </a:p>
          <a:p>
            <a:pPr lvl="2"/>
            <a:r>
              <a:rPr lang="ru-RU" dirty="0"/>
              <a:t>Можно вытеснить эту кэш-линию без записи в память</a:t>
            </a:r>
            <a:endParaRPr lang="en-US" dirty="0"/>
          </a:p>
          <a:p>
            <a:pPr lvl="1"/>
            <a:r>
              <a:rPr lang="en-US" b="1" dirty="0"/>
              <a:t>S</a:t>
            </a:r>
            <a:r>
              <a:rPr lang="en-US" dirty="0"/>
              <a:t>hared –</a:t>
            </a:r>
            <a:r>
              <a:rPr lang="ru-RU" dirty="0"/>
              <a:t> линия продублирована еще в одном из </a:t>
            </a:r>
            <a:r>
              <a:rPr lang="en-US" dirty="0"/>
              <a:t>CPU</a:t>
            </a:r>
          </a:p>
          <a:p>
            <a:pPr lvl="2"/>
            <a:r>
              <a:rPr lang="ru-RU" dirty="0"/>
              <a:t>Владелец должен согласовывать запись в неё с другими процессорами</a:t>
            </a:r>
          </a:p>
          <a:p>
            <a:pPr lvl="2"/>
            <a:r>
              <a:rPr lang="ru-RU" dirty="0"/>
              <a:t>Линия согласована с памятью и может быть вытеснена без оповещения и записи в память</a:t>
            </a:r>
          </a:p>
          <a:p>
            <a:pPr lvl="1"/>
            <a:r>
              <a:rPr lang="en-US" b="1" dirty="0"/>
              <a:t>I</a:t>
            </a:r>
            <a:r>
              <a:rPr lang="en-US" dirty="0"/>
              <a:t>nvalid – </a:t>
            </a:r>
            <a:r>
              <a:rPr lang="ru-RU" dirty="0"/>
              <a:t>кэш-линия пуста или содержит мусор</a:t>
            </a:r>
          </a:p>
          <a:p>
            <a:pPr lvl="2"/>
            <a:r>
              <a:rPr lang="ru-RU" dirty="0"/>
              <a:t>Новые данные по возможности должны помещаться в</a:t>
            </a:r>
            <a:r>
              <a:rPr lang="en-US" dirty="0"/>
              <a:t> Invalid</a:t>
            </a:r>
            <a:r>
              <a:rPr lang="ru-RU" dirty="0"/>
              <a:t>-кэш-линию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18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079EA-5DC7-E42C-008A-65762CA6A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Состояния </a:t>
            </a:r>
            <a:r>
              <a:rPr lang="en-US" dirty="0"/>
              <a:t>MESI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9FE35B-B4BC-D1E7-654E-27AC3D5E075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09149360"/>
              </p:ext>
            </p:extLst>
          </p:nvPr>
        </p:nvGraphicFramePr>
        <p:xfrm>
          <a:off x="838200" y="1825625"/>
          <a:ext cx="105156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989">
                  <a:extLst>
                    <a:ext uri="{9D8B030D-6E8A-4147-A177-3AD203B41FA5}">
                      <a16:colId xmlns:a16="http://schemas.microsoft.com/office/drawing/2014/main" val="3859380868"/>
                    </a:ext>
                  </a:extLst>
                </a:gridCol>
                <a:gridCol w="3421811">
                  <a:extLst>
                    <a:ext uri="{9D8B030D-6E8A-4147-A177-3AD203B41FA5}">
                      <a16:colId xmlns:a16="http://schemas.microsoft.com/office/drawing/2014/main" val="28531668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88372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01604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Состояние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Смысл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Можно писать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 у других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74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 — Modified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данные изменены (не совпадают с памятью)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</a:t>
                      </a:r>
                      <a:r>
                        <a:rPr lang="ru-RU" dirty="0"/>
                        <a:t>да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</a:t>
                      </a:r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387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 — Exclusive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у этого ядра, совпадает с памятью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</a:t>
                      </a:r>
                      <a:r>
                        <a:rPr lang="ru-RU" dirty="0"/>
                        <a:t>да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</a:t>
                      </a:r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784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 — 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копия есть у нескольких ядер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</a:t>
                      </a:r>
                      <a:r>
                        <a:rPr lang="ru-RU" dirty="0"/>
                        <a:t>нет</a:t>
                      </a:r>
                      <a:r>
                        <a:rPr lang="en-US" dirty="0"/>
                        <a:t> (</a:t>
                      </a:r>
                      <a:r>
                        <a:rPr lang="ru-RU" dirty="0"/>
                        <a:t>нужно согласование)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</a:t>
                      </a:r>
                      <a:r>
                        <a:rPr lang="ru-RU" dirty="0"/>
                        <a:t>да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893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 — Invalid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данных нет / устарели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</a:t>
                      </a:r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664320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1F7EC2-2A1D-CF97-D32D-9E4536A34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089585"/>
            <a:ext cx="10515600" cy="1087377"/>
          </a:xfrm>
        </p:spPr>
        <p:txBody>
          <a:bodyPr/>
          <a:lstStyle/>
          <a:p>
            <a:r>
              <a:rPr lang="ru-RU" dirty="0"/>
              <a:t>В каждый момент времени </a:t>
            </a:r>
            <a:r>
              <a:rPr lang="ru-RU" b="1" dirty="0"/>
              <a:t>только одно ядро может владеть правом записи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693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36EC-2CBD-7756-3AA6-1AB6E642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/>
              <a:t>MESI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903F-BC0A-6E52-8E81-0CA203C73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📖 </a:t>
            </a:r>
            <a:r>
              <a:rPr lang="ru-RU" dirty="0"/>
              <a:t>Чтение</a:t>
            </a:r>
          </a:p>
          <a:p>
            <a:pPr lvl="1"/>
            <a:r>
              <a:rPr lang="ru-RU" dirty="0"/>
              <a:t>процессор загружает данные в кэш</a:t>
            </a:r>
            <a:endParaRPr lang="en-US" dirty="0"/>
          </a:p>
          <a:p>
            <a:pPr lvl="1"/>
            <a:r>
              <a:rPr lang="ru-RU" dirty="0"/>
              <a:t>состояние: </a:t>
            </a:r>
            <a:r>
              <a:rPr lang="en-US" dirty="0"/>
              <a:t>Exclusive (</a:t>
            </a:r>
            <a:r>
              <a:rPr lang="ru-RU" dirty="0"/>
              <a:t>если копий нет)</a:t>
            </a:r>
            <a:endParaRPr lang="en-US" dirty="0"/>
          </a:p>
          <a:p>
            <a:pPr lvl="1"/>
            <a:r>
              <a:rPr lang="ru-RU" dirty="0"/>
              <a:t>или </a:t>
            </a:r>
            <a:r>
              <a:rPr lang="en-US" dirty="0"/>
              <a:t>Shared (</a:t>
            </a:r>
            <a:r>
              <a:rPr lang="ru-RU" dirty="0"/>
              <a:t>если есть у других)</a:t>
            </a:r>
          </a:p>
          <a:p>
            <a:r>
              <a:rPr lang="ru-RU" dirty="0"/>
              <a:t>✏️ Запись</a:t>
            </a:r>
          </a:p>
          <a:p>
            <a:pPr lvl="1"/>
            <a:r>
              <a:rPr lang="ru-RU" dirty="0"/>
              <a:t>нужно получить эксклюзивный доступ</a:t>
            </a:r>
            <a:endParaRPr lang="en-US" dirty="0"/>
          </a:p>
          <a:p>
            <a:pPr lvl="1"/>
            <a:r>
              <a:rPr lang="ru-RU" dirty="0"/>
              <a:t>другие кэши получают </a:t>
            </a:r>
            <a:r>
              <a:rPr lang="en-US" dirty="0"/>
              <a:t>Invalidate</a:t>
            </a:r>
          </a:p>
          <a:p>
            <a:pPr lvl="1"/>
            <a:r>
              <a:rPr lang="ru-RU" dirty="0"/>
              <a:t>состояние → </a:t>
            </a:r>
            <a:r>
              <a:rPr lang="en-US" dirty="0"/>
              <a:t>Modified</a:t>
            </a:r>
          </a:p>
          <a:p>
            <a:r>
              <a:rPr lang="en-US" dirty="0"/>
              <a:t>🔄 </a:t>
            </a:r>
            <a:r>
              <a:rPr lang="ru-RU" dirty="0"/>
              <a:t>При изменениях у других ядер</a:t>
            </a:r>
          </a:p>
          <a:p>
            <a:pPr lvl="1"/>
            <a:r>
              <a:rPr lang="ru-RU" dirty="0"/>
              <a:t>получаем </a:t>
            </a:r>
            <a:r>
              <a:rPr lang="en-US" dirty="0"/>
              <a:t>Invalidate</a:t>
            </a:r>
          </a:p>
          <a:p>
            <a:pPr lvl="1"/>
            <a:r>
              <a:rPr lang="ru-RU" dirty="0" err="1"/>
              <a:t>инвалидируем</a:t>
            </a:r>
            <a:r>
              <a:rPr lang="ru-RU" dirty="0"/>
              <a:t> свою копию (→ </a:t>
            </a:r>
            <a:r>
              <a:rPr lang="en-US" dirty="0"/>
              <a:t>Invalid)</a:t>
            </a:r>
          </a:p>
          <a:p>
            <a:r>
              <a:rPr lang="ru-RU" dirty="0"/>
              <a:t>Итог:</a:t>
            </a:r>
            <a:r>
              <a:rPr lang="en-US" dirty="0"/>
              <a:t> </a:t>
            </a:r>
            <a:r>
              <a:rPr lang="ru-RU" dirty="0"/>
              <a:t>запись одного ядра</a:t>
            </a:r>
            <a:r>
              <a:rPr lang="en-US" dirty="0"/>
              <a:t> </a:t>
            </a:r>
            <a:r>
              <a:rPr lang="ru-RU" dirty="0" err="1"/>
              <a:t>инвалидирует</a:t>
            </a:r>
            <a:r>
              <a:rPr lang="ru-RU" dirty="0"/>
              <a:t> копии у всех остальных</a:t>
            </a:r>
          </a:p>
        </p:txBody>
      </p:sp>
    </p:spTree>
    <p:extLst>
      <p:ext uri="{BB962C8B-B14F-4D97-AF65-F5344CB8AC3E}">
        <p14:creationId xmlns:p14="http://schemas.microsoft.com/office/powerpoint/2010/main" val="403316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E17A7-1E22-44B7-145C-0AE6E3ED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общаются кэши ядер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CC5BC-FF50-393F-AB58-F1F61E735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Запрос данных</a:t>
            </a:r>
          </a:p>
          <a:p>
            <a:pPr lvl="1"/>
            <a:r>
              <a:rPr lang="en-US" dirty="0"/>
              <a:t>Read(</a:t>
            </a:r>
            <a:r>
              <a:rPr lang="en-US" dirty="0" err="1"/>
              <a:t>addr</a:t>
            </a:r>
            <a:r>
              <a:rPr lang="en-US" dirty="0"/>
              <a:t>) — </a:t>
            </a:r>
            <a:r>
              <a:rPr lang="ru-RU" dirty="0"/>
              <a:t>запрос кэш-линии </a:t>
            </a:r>
          </a:p>
          <a:p>
            <a:pPr lvl="1"/>
            <a:r>
              <a:rPr lang="en-US" dirty="0"/>
              <a:t>Read Response(data) — </a:t>
            </a:r>
            <a:r>
              <a:rPr lang="ru-RU" dirty="0"/>
              <a:t>ответ (из памяти или другого кэша) </a:t>
            </a:r>
          </a:p>
          <a:p>
            <a:r>
              <a:rPr lang="ru-RU" dirty="0"/>
              <a:t>Получение права на запись</a:t>
            </a:r>
          </a:p>
          <a:p>
            <a:pPr lvl="1"/>
            <a:r>
              <a:rPr lang="en-US" dirty="0"/>
              <a:t>Invalidate(</a:t>
            </a:r>
            <a:r>
              <a:rPr lang="en-US" dirty="0" err="1"/>
              <a:t>addr</a:t>
            </a:r>
            <a:r>
              <a:rPr lang="en-US" dirty="0"/>
              <a:t>) — </a:t>
            </a:r>
            <a:r>
              <a:rPr lang="ru-RU" dirty="0"/>
              <a:t>удалить копии у других </a:t>
            </a:r>
          </a:p>
          <a:p>
            <a:pPr lvl="1"/>
            <a:r>
              <a:rPr lang="en-US" dirty="0"/>
              <a:t>Invalidate Ack — </a:t>
            </a:r>
            <a:r>
              <a:rPr lang="ru-RU" dirty="0"/>
              <a:t>подтверждение </a:t>
            </a:r>
          </a:p>
          <a:p>
            <a:r>
              <a:rPr lang="ru-RU" dirty="0"/>
              <a:t>Комбинированный случай</a:t>
            </a:r>
          </a:p>
          <a:p>
            <a:pPr lvl="1"/>
            <a:r>
              <a:rPr lang="en-US" dirty="0"/>
              <a:t>Read + Invalidate → </a:t>
            </a:r>
            <a:r>
              <a:rPr lang="ru-RU" dirty="0"/>
              <a:t>получить данные и сразу сделать их эксклюзивными </a:t>
            </a:r>
          </a:p>
          <a:p>
            <a:r>
              <a:rPr lang="ru-RU" dirty="0"/>
              <a:t>Запись в память</a:t>
            </a:r>
          </a:p>
          <a:p>
            <a:pPr lvl="1"/>
            <a:r>
              <a:rPr lang="en-US" dirty="0" err="1"/>
              <a:t>WriteBack</a:t>
            </a:r>
            <a:r>
              <a:rPr lang="en-US" dirty="0"/>
              <a:t>(</a:t>
            </a:r>
            <a:r>
              <a:rPr lang="en-US" dirty="0" err="1"/>
              <a:t>addr</a:t>
            </a:r>
            <a:r>
              <a:rPr lang="en-US" dirty="0"/>
              <a:t>, data) — </a:t>
            </a:r>
            <a:r>
              <a:rPr lang="ru-RU" dirty="0"/>
              <a:t>сброс изменённых данных</a:t>
            </a:r>
            <a:endParaRPr lang="en-US" dirty="0"/>
          </a:p>
          <a:p>
            <a:r>
              <a:rPr lang="ru-RU" dirty="0"/>
              <a:t>Главное:</a:t>
            </a:r>
          </a:p>
          <a:p>
            <a:pPr lvl="1"/>
            <a:r>
              <a:rPr lang="ru-RU" dirty="0"/>
              <a:t>ядра не “читают память напрямую”</a:t>
            </a:r>
            <a:endParaRPr lang="en-US" dirty="0"/>
          </a:p>
          <a:p>
            <a:pPr lvl="1"/>
            <a:r>
              <a:rPr lang="ru-RU" dirty="0"/>
              <a:t>они обмениваются сообщениями друг с другом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261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A999-69D8-74DE-3ADF-1BC0C118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5DB8BB-5A65-BF06-35EC-7056F91E8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</a:t>
            </a:r>
            <a:r>
              <a:rPr lang="en-US" dirty="0"/>
              <a:t>M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 (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write back)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D78990EA-8931-05BF-0178-16BA1903F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кэш-линия была изменена (</a:t>
            </a:r>
            <a:r>
              <a:rPr lang="ru-RU" dirty="0" err="1"/>
              <a:t>Modified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данные отличаются от памяти</a:t>
            </a:r>
          </a:p>
          <a:p>
            <a:r>
              <a:rPr lang="ru-RU" dirty="0"/>
              <a:t>🔄 Что происходит:</a:t>
            </a:r>
          </a:p>
          <a:p>
            <a:pPr lvl="1"/>
            <a:r>
              <a:rPr lang="ru-RU" dirty="0"/>
              <a:t>данные записываются в память (</a:t>
            </a:r>
            <a:r>
              <a:rPr lang="ru-RU" dirty="0" err="1"/>
              <a:t>WriteBack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линия остаётся в кэше</a:t>
            </a:r>
          </a:p>
          <a:p>
            <a:r>
              <a:rPr lang="ru-RU" dirty="0"/>
              <a:t>📊 Новое состояние:</a:t>
            </a:r>
            <a:r>
              <a:rPr lang="en-US" dirty="0"/>
              <a:t> </a:t>
            </a:r>
            <a:r>
              <a:rPr lang="ru-RU" dirty="0" err="1"/>
              <a:t>Exclusive</a:t>
            </a:r>
            <a:endParaRPr lang="ru-RU" dirty="0"/>
          </a:p>
          <a:p>
            <a:pPr lvl="1"/>
            <a:r>
              <a:rPr lang="ru-RU" dirty="0"/>
              <a:t>данные совпадают с памятью </a:t>
            </a:r>
          </a:p>
          <a:p>
            <a:pPr lvl="1"/>
            <a:r>
              <a:rPr lang="ru-RU" dirty="0"/>
              <a:t>только у этого ядра </a:t>
            </a:r>
          </a:p>
          <a:p>
            <a:pPr lvl="1"/>
            <a:r>
              <a:rPr lang="ru-RU" dirty="0"/>
              <a:t>можно снова писать без согласования </a:t>
            </a:r>
          </a:p>
          <a:p>
            <a:r>
              <a:rPr lang="ru-RU" dirty="0"/>
              <a:t>💡 Нужно:</a:t>
            </a:r>
            <a:r>
              <a:rPr lang="en-US" dirty="0"/>
              <a:t> </a:t>
            </a:r>
            <a:r>
              <a:rPr lang="ru-RU" dirty="0"/>
              <a:t>при вытеснении или синхронизации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5827DF-2307-310E-D747-2705D41CDF96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D6E623-FE5F-F259-4B91-6D7DA9202A43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AFCA2E-B287-823F-9A7B-8A5D9A3817C1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885F8C-ECE0-24C9-8DA0-FD86BFB88837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DA0731-350F-A9BA-4109-27FF471972E2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4FADBE-C9BA-DC2F-90C5-821A2349713C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B2C981-5132-D364-943F-B62A414A0DFE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1FBF5C-0503-BBDE-BB5D-F084B2AF68C8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BC0B2D-F80E-9241-7350-716479130D3F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AA74C9-F72A-27FB-8DC4-328DC061D413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F086E7-67AE-1B88-425E-BC3CA918EAAE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7D8C39C-5368-32F9-889D-C740807C0DAF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58A01E7-0133-FDC2-F728-EC182A7A4A85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7DBDF92-C3CA-19C9-8A20-FA907FBB3E37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2D62E5-4B2C-5855-1C39-96F6153E1552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DDEEED-9B13-2188-DFB4-BD09104244E6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23CFE53-88F3-8704-7237-35941226C8A7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C1FFA5-EB7D-B5BA-E7DD-64351D3BDE67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98D469-10EC-1C1C-681C-4434AB985E35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A884B9-4FE1-50FF-DA9A-8E19F91A2BCD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B215E0-3574-8FDA-21CD-BF2F82B6F8A8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25950CD1-3320-3C12-A5E7-6B38D1C8D256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3657FE49-34A1-B82E-A3A4-A12D78F17528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B9065AA5-EB04-1C23-903E-03BD41E1FAA9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4358EA38-E46F-141C-FDCF-57FD625E6F02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A0588F0C-A911-9DAB-F47C-D1310D1EBE19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4CD7A723-B5B6-E636-D944-3C5A6E5BC8D4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FCB84CF3-2671-837E-37BA-FD36EF4510AD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63771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2AE40-83B6-6503-A2A3-24FCE7B8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</a:t>
            </a:r>
            <a:r>
              <a:rPr lang="en-US" dirty="0"/>
              <a:t>E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→M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 (локальная запись)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9E02BA87-0C69-FD28-48EA-33BA7FBF4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кэш-линия в состоянии </a:t>
            </a:r>
            <a:r>
              <a:rPr lang="ru-RU" dirty="0" err="1"/>
              <a:t>Exclusive</a:t>
            </a:r>
            <a:endParaRPr lang="ru-RU" dirty="0"/>
          </a:p>
          <a:p>
            <a:pPr lvl="1"/>
            <a:r>
              <a:rPr lang="ru-RU" dirty="0"/>
              <a:t>только у этого ядра</a:t>
            </a:r>
          </a:p>
          <a:p>
            <a:pPr lvl="1"/>
            <a:r>
              <a:rPr lang="ru-RU" dirty="0"/>
              <a:t>данные совпадают с памятью</a:t>
            </a:r>
          </a:p>
          <a:p>
            <a:r>
              <a:rPr lang="ru-RU" dirty="0"/>
              <a:t>Действие:</a:t>
            </a:r>
          </a:p>
          <a:p>
            <a:pPr lvl="1"/>
            <a:r>
              <a:rPr lang="ru-RU" dirty="0"/>
              <a:t>процессор выполняет запись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Переход в состояние </a:t>
            </a:r>
            <a:r>
              <a:rPr lang="ru-RU" dirty="0" err="1"/>
              <a:t>Modified</a:t>
            </a:r>
            <a:br>
              <a:rPr lang="ru-RU" dirty="0"/>
            </a:br>
            <a:r>
              <a:rPr lang="ru-RU" dirty="0"/>
              <a:t>данные больше не совпадают с памятью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никаких сообщений другим ядрам не требуется</a:t>
            </a:r>
          </a:p>
          <a:p>
            <a:pPr lvl="1"/>
            <a:r>
              <a:rPr lang="ru-RU" dirty="0"/>
              <a:t>это быстрая локальная операция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DA399-8E36-76CB-DC62-23CD8A850A05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D30C3-62D2-7305-908C-95F2055015CC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C14943-CC7D-C9CA-0A27-6560128DE3FB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0CCD11-7EB9-02F2-81CE-2A71133C74AA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D3AA12-46B0-2FF9-5A78-E96D7D5F4DD1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4512A4-F3A1-9B9F-FADE-073BFEBFDFD5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B65F53-B80E-A15D-7F45-814F7F43643E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DA3730-F79A-5F95-29AE-A2D797EF8F1E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AE1FB7-D930-2FD0-4821-B2F62F8F0C7B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46FEAE-4BF2-5DF1-DBA0-EEFAB074B9BF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991E28-A3C4-6B91-7654-4B05EB1CF615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5B46BE4-FDBB-6C85-5C02-98DE1968C7C2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22C0A7-488D-3A99-BA65-9747769EA764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B05785F-A437-0F81-2A02-67DBFF233B60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208B385-9025-8918-4AFB-235F9C192C4F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049318B-5627-EA9D-F3A2-861BD81AB936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3E5F929-230E-E9FA-E5CB-04CDFDE0DEAB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418B54-22FD-C3B2-A228-B316D80E4C52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88558F-FEFB-E232-CF4E-D8836B3ADD60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C3E037-65BD-ADC2-951C-84BE70B16754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0DE535-0B63-4E14-6785-E47456C365CF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75421858-6B7E-8DDE-DC7F-777096D00A6D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0D465CE6-C2EF-5DFE-4704-A30C69FC4CD5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9D1ECBCF-6F45-60F5-4140-E2BB320E9110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7EAF32A1-CA0B-760D-5D55-66AB5596A005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AD03B024-103B-BF2C-DDCB-9674E598E153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0F8DB7BD-A14D-0D81-D646-D1A665280B9C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3E091ECB-B681-3DCB-DF4D-E069CF757D15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42015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439B1-4913-2524-DD50-7930B87A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0D2101-83D7-43F4-B74B-119931A4E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</a:t>
            </a:r>
            <a:r>
              <a:rPr lang="en-US" dirty="0"/>
              <a:t> M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→I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 (передача данных другому ядру)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A2530307-F2AB-E20D-2CAF-33FA6DE81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кэш-линия в состоянии </a:t>
            </a:r>
            <a:r>
              <a:rPr lang="en-US" dirty="0"/>
              <a:t>Modified</a:t>
            </a:r>
            <a:endParaRPr lang="ru-RU" dirty="0"/>
          </a:p>
          <a:p>
            <a:pPr lvl="1"/>
            <a:r>
              <a:rPr lang="ru-RU" dirty="0"/>
              <a:t>только у этого ядра</a:t>
            </a:r>
          </a:p>
          <a:p>
            <a:pPr lvl="1"/>
            <a:r>
              <a:rPr lang="ru-RU" dirty="0"/>
              <a:t>данные отличаются от памяти</a:t>
            </a:r>
          </a:p>
          <a:p>
            <a:r>
              <a:rPr lang="ru-RU" dirty="0"/>
              <a:t>Другое ядро делает:</a:t>
            </a:r>
          </a:p>
          <a:p>
            <a:pPr lvl="1"/>
            <a:r>
              <a:rPr lang="en-US" dirty="0"/>
              <a:t>Read + Invalidate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отправляем данные (</a:t>
            </a:r>
            <a:r>
              <a:rPr lang="en-US" dirty="0"/>
              <a:t>Read Response) </a:t>
            </a:r>
            <a:endParaRPr lang="ru-RU" dirty="0"/>
          </a:p>
          <a:p>
            <a:pPr lvl="1"/>
            <a:r>
              <a:rPr lang="ru-RU" dirty="0" err="1"/>
              <a:t>инвалидируем</a:t>
            </a:r>
            <a:r>
              <a:rPr lang="ru-RU" dirty="0"/>
              <a:t> свою копию </a:t>
            </a:r>
          </a:p>
          <a:p>
            <a:pPr lvl="1"/>
            <a:r>
              <a:rPr lang="ru-RU" dirty="0"/>
              <a:t>подтверждаем (</a:t>
            </a:r>
            <a:r>
              <a:rPr lang="en-US" dirty="0"/>
              <a:t>Invalidate Ack) </a:t>
            </a:r>
          </a:p>
          <a:p>
            <a:r>
              <a:rPr lang="ru-RU" dirty="0"/>
              <a:t>Новое состояние: </a:t>
            </a:r>
            <a:r>
              <a:rPr lang="en-US" dirty="0"/>
              <a:t>Invalid</a:t>
            </a:r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данные передаются другому ядру</a:t>
            </a:r>
          </a:p>
          <a:p>
            <a:pPr lvl="1"/>
            <a:r>
              <a:rPr lang="ru-RU" dirty="0"/>
              <a:t>текущее ядро теряет владение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DF0E47-1982-277B-99C1-AF4C869B2B45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DDBD93-4927-5AA4-3A51-C598AEDAB926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0F9C8-BDD9-7754-D1B6-D0F8D51E3B54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3DC92F-14EF-874D-9FC6-7F0B5A9A26F9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F48488-BDCE-D31D-FBED-A8766154CBC7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47FB5C-51E5-E528-06C6-613F601D5558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D0D032-5D35-DC04-F301-7FD5BD8DBF5F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60DB01-F029-3AC7-CC52-2C35FB7E8283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4D7DD86-5A50-0AC8-9C48-BB027E5C6C62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6602C7-80DB-20D6-E4EB-F4674FF48E55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0D8980-25FC-B580-7977-66FCA789E168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00DB8D-35ED-91DF-155E-C87DDA4EB805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994A2B-F473-8684-BB09-74B10006C1DA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73E2DA8-01EE-17BD-966C-7D7BF6C67295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8FE3717-5BA3-5BB0-9D7C-FA48A59271A3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EA99030-4198-03ED-1886-27FA14F44B43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95CBDFD-EDAE-80FA-A3C9-35F5135739C3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57DFA4-0F5E-B59D-420E-92658FA2731A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A74638-ECFA-E643-DD6C-B18751BF9507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E3CA50-1889-A8EF-2569-CBE057B8EF9F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0EEABF-ED71-B002-B2F3-873A03FB9F3B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E4F3FEAD-12A9-C49D-8750-F85502211377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938A9AA2-0F51-9757-81F7-89015833C100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E54E6FFB-C7A0-5CFE-4D93-528FF2720B13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B8BFCF86-C0BB-13F1-E98E-3F0D43C8104E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E11B1DCF-0AE6-5F86-B348-EF73C90EFFE0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26105C09-6B32-A4FB-7BAF-156EA929F385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291EA0D7-4780-53C4-5413-2D197775E534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2330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8AD9-D7FC-AD73-210E-9979A783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391B17-E034-A239-CDB6-D1A4B8FAD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</a:t>
            </a:r>
            <a:r>
              <a:rPr lang="en-US" dirty="0"/>
              <a:t> I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→M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 (захват владения)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F1895F87-FF76-9331-186E-2C3746DD1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данных нет в кэше (</a:t>
            </a:r>
            <a:r>
              <a:rPr lang="en-US" dirty="0"/>
              <a:t>Invalid)</a:t>
            </a:r>
            <a:endParaRPr lang="ru-RU" dirty="0"/>
          </a:p>
          <a:p>
            <a:pPr lvl="1"/>
            <a:r>
              <a:rPr lang="ru-RU" dirty="0"/>
              <a:t>процессор хочет читать и сразу изменить (</a:t>
            </a:r>
            <a:r>
              <a:rPr lang="en-US" dirty="0"/>
              <a:t>RMW)</a:t>
            </a:r>
          </a:p>
          <a:p>
            <a:r>
              <a:rPr lang="ru-RU" dirty="0"/>
              <a:t>Действие:</a:t>
            </a:r>
          </a:p>
          <a:p>
            <a:pPr lvl="1"/>
            <a:r>
              <a:rPr lang="ru-RU" dirty="0"/>
              <a:t>отправляем </a:t>
            </a:r>
            <a:r>
              <a:rPr lang="en-US" dirty="0"/>
              <a:t>Read + Invalidate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получаем данные (</a:t>
            </a:r>
            <a:r>
              <a:rPr lang="en-US" dirty="0"/>
              <a:t>Read Response) </a:t>
            </a:r>
          </a:p>
          <a:p>
            <a:pPr lvl="1"/>
            <a:r>
              <a:rPr lang="ru-RU" dirty="0"/>
              <a:t>другие ядра удаляют свои копии </a:t>
            </a:r>
          </a:p>
          <a:p>
            <a:pPr lvl="1"/>
            <a:r>
              <a:rPr lang="ru-RU" dirty="0"/>
              <a:t>ждём все </a:t>
            </a:r>
            <a:r>
              <a:rPr lang="en-US" dirty="0"/>
              <a:t>Invalidate Ack </a:t>
            </a:r>
          </a:p>
          <a:p>
            <a:r>
              <a:rPr lang="ru-RU" dirty="0"/>
              <a:t>Новое состояние: </a:t>
            </a:r>
            <a:r>
              <a:rPr lang="en-US" dirty="0"/>
              <a:t>Modified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это дорогая операция</a:t>
            </a:r>
          </a:p>
          <a:p>
            <a:pPr lvl="1"/>
            <a:r>
              <a:rPr lang="ru-RU" dirty="0"/>
              <a:t>требуется синхронизация со всеми ядрами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087221-32D1-6EDB-8668-5FABE56FC09B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AD65D7-061E-86CF-83BC-C428697A7161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FA633A-F2A4-D8A1-300B-3A83BE36CA23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8EC4FA-E5E8-78AE-F77C-E3822E8914D7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4870CD-F3DC-004F-9092-57B616988438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BBD127-E583-BF12-5696-26948538C2F9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11174E-DC21-1178-A748-39EB1D1A9082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18496B-EA12-ADE0-62B6-B467D33549BE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F40CAE-FFA5-B74B-D6F3-216A99F2CAF4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3CE5CD3-EAAB-AB81-F88F-15992BD8C37D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480B9B-2F0B-0257-8463-B9D2B5683E04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F6E183-EA3A-3FD7-3FEC-6162C2EECB62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544AA13-4199-7E51-6170-D36DA103237C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C5880DA-6EB8-BBC6-BB30-1D57BA2791FC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5F53278-FE8E-284F-3FC8-8AC177D9AAB9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2C4EBE-A22C-6D39-D455-E7D1D8146721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B88A93C-A681-950E-46FD-FF69B2BE230E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248396-D02F-2E07-B9E6-CDB803775F50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03F0F4-D16F-46DD-902E-FA54FA191FC7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50ABFD-5110-1BD5-BB62-71626B09C81D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B515E4-CE69-DC65-5FB1-E21B9085A543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CEC3902A-189C-4D45-1520-30B44E636702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C439A2A8-3046-815E-8A14-5C71E42C0051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EDB0DA46-5E84-1231-10E3-DC2471BCE2AD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4B18CE02-715A-320C-63DC-AE494BF68371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C0D5034F-0F5E-9A02-497C-A2C10E24CEB0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737D5E2E-C701-85DC-D158-02C08580C191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081F3D83-9ED9-4F0E-9159-678ABEE25FE9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22805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977C-F5B5-5EE2-C344-631065B1D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27D6D5-3424-FC6A-1A3F-99607E4F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</a:t>
            </a:r>
            <a:r>
              <a:rPr lang="en-US" dirty="0"/>
              <a:t> 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→M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 (дорогая запись)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B3B328C4-63A9-C1E1-C0FF-1E1988779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кэш-линия в состоянии </a:t>
            </a:r>
            <a:r>
              <a:rPr lang="ru-RU" dirty="0" err="1"/>
              <a:t>Shared</a:t>
            </a:r>
            <a:endParaRPr lang="ru-RU" dirty="0"/>
          </a:p>
          <a:p>
            <a:pPr lvl="1"/>
            <a:r>
              <a:rPr lang="ru-RU" dirty="0"/>
              <a:t>копии есть у других ядер</a:t>
            </a:r>
          </a:p>
          <a:p>
            <a:pPr lvl="1"/>
            <a:r>
              <a:rPr lang="ru-RU" dirty="0"/>
              <a:t>можно только читать</a:t>
            </a:r>
          </a:p>
          <a:p>
            <a:r>
              <a:rPr lang="ru-RU" dirty="0"/>
              <a:t>Действие:</a:t>
            </a:r>
          </a:p>
          <a:p>
            <a:pPr lvl="1"/>
            <a:r>
              <a:rPr lang="ru-RU" dirty="0"/>
              <a:t>процессор хочет записать (RMW)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отправляем </a:t>
            </a:r>
            <a:r>
              <a:rPr lang="ru-RU" dirty="0" err="1"/>
              <a:t>Invalidate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другие ядра удаляют свои копии </a:t>
            </a:r>
          </a:p>
          <a:p>
            <a:pPr lvl="1"/>
            <a:r>
              <a:rPr lang="ru-RU" dirty="0"/>
              <a:t>ждём все </a:t>
            </a:r>
            <a:r>
              <a:rPr lang="ru-RU" dirty="0" err="1"/>
              <a:t>Invalidate</a:t>
            </a:r>
            <a:r>
              <a:rPr lang="ru-RU" dirty="0"/>
              <a:t> </a:t>
            </a:r>
            <a:r>
              <a:rPr lang="ru-RU" dirty="0" err="1"/>
              <a:t>Ack</a:t>
            </a:r>
            <a:r>
              <a:rPr lang="ru-RU" dirty="0"/>
              <a:t> </a:t>
            </a:r>
          </a:p>
          <a:p>
            <a:r>
              <a:rPr lang="ru-RU" dirty="0"/>
              <a:t>Новое состояние: </a:t>
            </a:r>
            <a:r>
              <a:rPr lang="ru-RU" dirty="0" err="1"/>
              <a:t>Modified</a:t>
            </a:r>
            <a:endParaRPr lang="ru-RU" dirty="0"/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запись требует синхронизации со всеми ядрами</a:t>
            </a:r>
          </a:p>
          <a:p>
            <a:pPr lvl="1"/>
            <a:r>
              <a:rPr lang="ru-RU" dirty="0"/>
              <a:t>это дороже, чем локальная запись (E → 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26D399-4CEA-A9AF-44C2-0B14C20E5871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A7DA1B-335B-0257-9F56-314D038E5854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EF3E39-E4CB-5FEF-590A-12A94A00874D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00D452-C43F-A79E-4218-D793B2FE0CEA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00C8A5-E839-02A7-1667-03D20E6C28BF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E74D3F-E72D-B522-1F1C-D26DB8F1BABF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7AFB1F-1FBC-A5EE-92EF-560B7E363E48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164DA7-AA98-AFBF-3860-96F455B69906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05A65D-3CC2-1446-8417-F228DA4AFF31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EDA0FB-A6A5-2D70-FBB5-AAEC552AC7B0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39B15A-8557-3CAB-1E20-82AA538F1EBC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869CDD-D89D-051F-D9C6-60429C9524D0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68E1CE-6F9F-E338-FA4C-9AEC9D2E376F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1FD17AE-FFE6-4601-C581-1BD8C2B3A7C9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2A7E153-E4B7-518A-F27B-395FED249A61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515D2D6-58B8-53AF-FC3B-A1E63DEB6215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EF31F7B-0B60-B4A2-8B0A-BE4DC9C9066E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BE5AA6-7358-6CDF-C434-DB8970B40049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0FBB08-89BF-A646-2BEA-661CDBAB8F2D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DA861F-82DC-270B-B372-B23F3E70A51A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2ED297-D020-5A34-3850-7078F919D8F3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69E38220-4FD7-936F-46BF-3FF2FBF5979F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846A48F4-256C-57B1-2058-D482F98A9FD8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6BC8CE68-E66B-9530-D03D-E5D52A03F9DB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8527C6CE-8E20-CF65-E524-DD4E7AAF2A3D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A5588F37-B652-AFE0-B918-7FEDC75E78CC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845EC904-8CE8-0F25-9314-FCBABC3D146B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851424B9-144D-B3C4-9682-4A10ECD0AB8E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39899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6B4AC-B612-9A4D-0DF1-F7375634A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CEFE4B-BBC9-F004-2DF4-D3BF084E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</a:t>
            </a:r>
            <a:r>
              <a:rPr lang="en-US" dirty="0"/>
              <a:t> M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→S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 (разделение данных)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A55C98D1-09D2-941F-764B-8A01CB696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кэш-линия в состоянии </a:t>
            </a:r>
            <a:r>
              <a:rPr lang="ru-RU" dirty="0" err="1"/>
              <a:t>Modified</a:t>
            </a:r>
            <a:endParaRPr lang="ru-RU" dirty="0"/>
          </a:p>
          <a:p>
            <a:pPr lvl="1"/>
            <a:r>
              <a:rPr lang="ru-RU" dirty="0"/>
              <a:t>только у этого ядра</a:t>
            </a:r>
          </a:p>
          <a:p>
            <a:pPr lvl="1"/>
            <a:r>
              <a:rPr lang="ru-RU" dirty="0"/>
              <a:t>данные изменены (не в памяти)</a:t>
            </a:r>
          </a:p>
          <a:p>
            <a:r>
              <a:rPr lang="ru-RU" dirty="0"/>
              <a:t>Другое ядро делает: </a:t>
            </a:r>
            <a:r>
              <a:rPr lang="ru-RU" dirty="0" err="1"/>
              <a:t>Read</a:t>
            </a:r>
            <a:endParaRPr lang="ru-RU" dirty="0"/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отправляем данные (</a:t>
            </a:r>
            <a:r>
              <a:rPr lang="ru-RU" dirty="0" err="1"/>
              <a:t>Read</a:t>
            </a:r>
            <a:r>
              <a:rPr lang="ru-RU" dirty="0"/>
              <a:t> Response) </a:t>
            </a:r>
          </a:p>
          <a:p>
            <a:pPr lvl="1"/>
            <a:r>
              <a:rPr lang="ru-RU" dirty="0"/>
              <a:t>при необходимости — </a:t>
            </a:r>
            <a:r>
              <a:rPr lang="ru-RU" dirty="0" err="1"/>
              <a:t>writeback</a:t>
            </a:r>
            <a:r>
              <a:rPr lang="ru-RU" dirty="0"/>
              <a:t> в память </a:t>
            </a:r>
          </a:p>
          <a:p>
            <a:pPr lvl="1"/>
            <a:r>
              <a:rPr lang="ru-RU" dirty="0"/>
              <a:t>оставляем копию у себя </a:t>
            </a:r>
          </a:p>
          <a:p>
            <a:r>
              <a:rPr lang="ru-RU" dirty="0"/>
              <a:t>Новое состояние: </a:t>
            </a:r>
            <a:r>
              <a:rPr lang="ru-RU" dirty="0" err="1"/>
              <a:t>Shared</a:t>
            </a:r>
            <a:endParaRPr lang="ru-RU" dirty="0"/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данные теперь есть у нескольких ядер</a:t>
            </a:r>
          </a:p>
          <a:p>
            <a:pPr lvl="1"/>
            <a:r>
              <a:rPr lang="ru-RU" dirty="0"/>
              <a:t>запись больше не локальная операция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8523B-5FEB-4787-BA94-F0F75F137112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2043BC-61EB-3F19-21ED-83FA8C760ECB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4C838-E9B8-50D3-C3A4-2E14DB45233C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7D9CF3-2F84-5117-141A-CF97D18750D7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81869E-C556-42E4-1782-688225EFE1C9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DD0867-1E80-8F6F-B9EE-8E43C3FA3AA1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120A1C-EE72-E6E0-7895-3F409FF73EB5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8E42A0-E384-9FE4-8310-FCAAFA0A0DA4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270F78-1D4E-BCC4-0CA9-91FA708A608A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F39BE2F-5939-3F24-3FC5-7B18C8F41098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F0F0FF4-B979-F782-E69E-88548D4EF474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073111-7414-9772-03AC-306754748F4A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5867D34-6E2F-8C3A-27DB-3618E75E2701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60C95B-B929-0D3C-0117-21F0C7E3E62C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DDD6736-60C5-4478-7C92-985533E0C086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3F62C46-CC81-307C-9ECC-D397A5915E4C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31BF4D1-B1F1-B526-B854-2BBAA1FACD49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66B770-278F-91DF-278E-DD9440BFC4DA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776917-A5B9-7506-448C-FF1F37B71C90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BE81E5-4D1E-DBD3-41F5-6B061ADEC869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2F0C9D-5FB2-4E68-2C03-8324BDBADAC4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AC1242A9-3034-E796-5C35-1C45D603E146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51C85A93-F1B4-D0CE-AA42-A7DB1EC3EBE9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1C4DCB72-199C-D1AB-3618-71DD90D1AD94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34B62BF6-9471-E802-6322-00C2DC80F1C3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4BD63B73-9643-B174-D43D-50D1EFED28EB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4DDC7794-4D1B-EE58-C273-C64240443954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5CFE15F1-69B4-4DFA-DD9F-59C96B24F84A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2323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1E2E-9FFD-A56F-6B2E-F058244D1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4D275F-E6DD-141B-BA2A-EF57ED86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</a:t>
            </a:r>
            <a:r>
              <a:rPr lang="en-US" dirty="0"/>
              <a:t> E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→S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 (данные становятся общими)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A9998CC3-01CB-D61E-6F5B-6318E50A1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кэш-линия в состоянии </a:t>
            </a:r>
            <a:r>
              <a:rPr lang="ru-RU" dirty="0" err="1"/>
              <a:t>Exclusive</a:t>
            </a:r>
            <a:endParaRPr lang="ru-RU" dirty="0"/>
          </a:p>
          <a:p>
            <a:pPr lvl="1"/>
            <a:r>
              <a:rPr lang="ru-RU" dirty="0"/>
              <a:t>только у этого ядра</a:t>
            </a:r>
          </a:p>
          <a:p>
            <a:pPr lvl="1"/>
            <a:r>
              <a:rPr lang="ru-RU" dirty="0"/>
              <a:t>данные совпадают с памятью</a:t>
            </a:r>
          </a:p>
          <a:p>
            <a:r>
              <a:rPr lang="ru-RU" dirty="0"/>
              <a:t>Другое ядро делает </a:t>
            </a:r>
            <a:r>
              <a:rPr lang="ru-RU" dirty="0" err="1"/>
              <a:t>Read</a:t>
            </a:r>
            <a:endParaRPr lang="ru-RU" dirty="0"/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отправляем данные (</a:t>
            </a:r>
            <a:r>
              <a:rPr lang="ru-RU" dirty="0" err="1"/>
              <a:t>Read</a:t>
            </a:r>
            <a:r>
              <a:rPr lang="ru-RU" dirty="0"/>
              <a:t> Response) </a:t>
            </a:r>
          </a:p>
          <a:p>
            <a:pPr lvl="1"/>
            <a:r>
              <a:rPr lang="ru-RU" dirty="0"/>
              <a:t>сохраняем копию у себя </a:t>
            </a:r>
          </a:p>
          <a:p>
            <a:r>
              <a:rPr lang="ru-RU" dirty="0"/>
              <a:t>Новое состояние: </a:t>
            </a:r>
            <a:r>
              <a:rPr lang="ru-RU" dirty="0" err="1"/>
              <a:t>Shared</a:t>
            </a:r>
            <a:endParaRPr lang="ru-RU" dirty="0"/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данные теперь есть у нескольких ядер</a:t>
            </a:r>
            <a:endParaRPr lang="en-US" dirty="0"/>
          </a:p>
          <a:p>
            <a:pPr lvl="1"/>
            <a:r>
              <a:rPr lang="ru-RU" dirty="0"/>
              <a:t>запись больше не локальная операция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03239C-F746-7E5D-72A2-C2FEA0877DA9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E3D82-A376-A0BB-5B0D-96C6AE36F758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58E3D-1FDF-0E95-5870-CC9CD920FB3C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CA5BC3-40E2-453D-AF17-20D4AAD7F650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22C861-09A5-E51E-FE7D-057723668E2D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F5BB04-0F05-477F-5566-6CE7E4F119F2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A24353-C4F4-8C83-E496-6A0221F6541D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6E6D61-9BCD-72D9-A8F2-920380D9BFFB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B538D2-D9FB-79C9-3B0D-31E8931F10A3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8E902A-CEBD-6C8B-8955-5D05251B3CB4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062447-13F0-3D11-13ED-980D576F838C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809C40-23DC-24F3-073B-80A05A540C12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B9730B7-DA6E-725C-7FAA-75D8E5DE14EE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83C2AB-0650-8497-EDD3-01C58266DF3A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885A64-0EDB-DF89-D16C-4B22FF219DB8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D7DFC3-9CDD-EA60-B916-7A882740958E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7B388B5-1E45-AF38-F08F-8F163208AD4B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751C76-70B2-A683-DA5A-1AC856E93572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7F5060-C827-A1D9-78FA-3366337F8AED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B6E376-1EE3-AEA8-57E1-8613FB2FB18A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4BA5DF-5A8F-0FE4-DAEC-7B85501A944D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27F8875D-2B4E-FB20-C11A-5DC0911702EB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FAC57B24-CAC3-858A-7054-2BEB53DF70FD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A4F5BED6-9265-BCFF-B77E-833E820778BA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D93EF7B5-7220-F527-191B-1ED65EB637AE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A7808BD7-2F35-7322-0053-6450BB7503E0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5F77F877-B6EB-DD9D-5796-042615A2B179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9E871818-1384-F25A-6CA8-461A83B9F631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5290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C246-8B65-14AB-A7EB-B8B09337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02B662-6540-ECA2-B1E5-F8DB4F32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</a:t>
            </a:r>
            <a:r>
              <a:rPr lang="en-US" dirty="0"/>
              <a:t> 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→E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 (получение эксклюзивности)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07746139-F94F-C47B-5E7F-06739E409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кэш-линия в состоянии </a:t>
            </a:r>
            <a:r>
              <a:rPr lang="ru-RU" dirty="0" err="1"/>
              <a:t>Shared</a:t>
            </a:r>
            <a:endParaRPr lang="ru-RU" dirty="0"/>
          </a:p>
          <a:p>
            <a:pPr lvl="1"/>
            <a:r>
              <a:rPr lang="ru-RU" dirty="0"/>
              <a:t>копии есть у других ядер</a:t>
            </a:r>
          </a:p>
          <a:p>
            <a:pPr lvl="1"/>
            <a:r>
              <a:rPr lang="ru-RU" dirty="0"/>
              <a:t>пока можно только читать</a:t>
            </a:r>
          </a:p>
          <a:p>
            <a:r>
              <a:rPr lang="ru-RU" dirty="0"/>
              <a:t>Цель: получить эксклюзивный доступ (подготовка к записи)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отправляем </a:t>
            </a:r>
            <a:r>
              <a:rPr lang="ru-RU" dirty="0" err="1"/>
              <a:t>Invalidate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другие ядра удаляют свои копии </a:t>
            </a:r>
          </a:p>
          <a:p>
            <a:pPr lvl="1"/>
            <a:r>
              <a:rPr lang="ru-RU" dirty="0"/>
              <a:t>ждём все </a:t>
            </a:r>
            <a:r>
              <a:rPr lang="ru-RU" dirty="0" err="1"/>
              <a:t>Invalidate</a:t>
            </a:r>
            <a:r>
              <a:rPr lang="ru-RU" dirty="0"/>
              <a:t> </a:t>
            </a:r>
            <a:r>
              <a:rPr lang="ru-RU" dirty="0" err="1"/>
              <a:t>Ack</a:t>
            </a:r>
            <a:r>
              <a:rPr lang="ru-RU" dirty="0"/>
              <a:t> </a:t>
            </a:r>
          </a:p>
          <a:p>
            <a:r>
              <a:rPr lang="ru-RU" dirty="0"/>
              <a:t>Новое состояние: </a:t>
            </a:r>
            <a:r>
              <a:rPr lang="ru-RU" dirty="0" err="1"/>
              <a:t>Exclusive</a:t>
            </a:r>
            <a:endParaRPr lang="ru-RU" dirty="0"/>
          </a:p>
          <a:p>
            <a:r>
              <a:rPr lang="ru-RU" dirty="0"/>
              <a:t>Альтернатива:</a:t>
            </a:r>
          </a:p>
          <a:p>
            <a:pPr lvl="1"/>
            <a:r>
              <a:rPr lang="ru-RU" dirty="0"/>
              <a:t>другие ядра сами вытеснили данные</a:t>
            </a:r>
            <a:br>
              <a:rPr lang="ru-RU" dirty="0"/>
            </a:br>
            <a:r>
              <a:rPr lang="ru-RU" dirty="0"/>
              <a:t>мы остались единственными владельцами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запись ещё не произошла</a:t>
            </a:r>
          </a:p>
          <a:p>
            <a:pPr lvl="1"/>
            <a:r>
              <a:rPr lang="ru-RU" dirty="0"/>
              <a:t>это только захват владения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A4CEB1-7209-5D35-91D3-CC82DE80D1D6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B7E42-BEBB-92B0-4F85-54BD5EB0E93E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5D6606-A7F4-B76E-4F3D-E3D9198FEED6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6EB6-3191-40EF-258A-869CAC1C8A30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7599FE-66F1-17D4-1E8D-1B69C2D3BC7B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F3F487-7823-6A8F-7F12-9F78057711F8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E2D629-A201-22C6-2103-588BB74BDE30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1CEE61-4B06-5DD1-77D2-CB212214D745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A56DE7-0006-3C7F-AC90-AEEEC148F937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36C2A65-99BA-C194-A7D8-FDE8BD0BCE6B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9E419E7-BDFB-4B0E-730A-14EB1F968601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3A65B17-5E85-ADE5-9F62-F81EDF87C830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4B8481-7B5C-F164-904E-CA9ECB5740A0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D6C8E8-6E87-21F1-18A7-BAD4041F9D39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23A92F4-3269-7A2B-983D-4059B849B46F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38B741E-E2F2-1CF9-6414-687B1A311691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DD8FCB2-50B1-2985-B369-B794120C7233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24349E-A080-3BAF-6C72-6F9E8C552FD9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877D1E-65F5-04F7-C8F5-C52D815F89F2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3000BA-F382-3F85-387C-4F70A5AB4788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BAD294-EB13-A321-4A67-9ED70CBFDFCF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F54BC3E5-E53E-6A71-9485-223C29DDC3B4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1B0BE53C-EA4F-CEDD-47EB-E9ED268EA71F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88DAB522-3FA7-3032-3CAD-562A8B6708BF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4AB7335D-706D-14DC-7B13-B61D241ABC99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4FA3A232-BFB2-A2FE-40DC-6B7AA2DB14E8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285C3656-AC61-5352-4CA9-7C5388016F78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956BD193-9139-E55B-9D7E-85F3AA37A419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5815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1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F92C2-11FA-D00E-B252-B64A994E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D4072D-AB43-442A-285B-A4450D17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</a:t>
            </a:r>
            <a:r>
              <a:rPr lang="en-US" dirty="0"/>
              <a:t> E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→I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 (потеря владения)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9C9713DD-032C-CF8E-9A5F-232F1AB43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кэш-линия в состоянии </a:t>
            </a:r>
            <a:r>
              <a:rPr lang="en-US" dirty="0"/>
              <a:t>Exclusive</a:t>
            </a:r>
            <a:endParaRPr lang="ru-RU" dirty="0"/>
          </a:p>
          <a:p>
            <a:pPr lvl="1"/>
            <a:r>
              <a:rPr lang="ru-RU" dirty="0"/>
              <a:t>только у этого ядра</a:t>
            </a:r>
          </a:p>
          <a:p>
            <a:pPr lvl="1"/>
            <a:r>
              <a:rPr lang="ru-RU" dirty="0"/>
              <a:t>данные совпадают с памятью</a:t>
            </a:r>
          </a:p>
          <a:p>
            <a:r>
              <a:rPr lang="ru-RU" dirty="0"/>
              <a:t>Другое ядро делает: </a:t>
            </a:r>
            <a:r>
              <a:rPr lang="en-US" dirty="0"/>
              <a:t>Read + Invalidate (</a:t>
            </a:r>
            <a:r>
              <a:rPr lang="ru-RU" dirty="0"/>
              <a:t>хочет писать)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отправляем данные (</a:t>
            </a:r>
            <a:r>
              <a:rPr lang="en-US" dirty="0"/>
              <a:t>Read Response) </a:t>
            </a:r>
          </a:p>
          <a:p>
            <a:pPr lvl="1"/>
            <a:r>
              <a:rPr lang="ru-RU" dirty="0"/>
              <a:t>удаляем свою копию </a:t>
            </a:r>
          </a:p>
          <a:p>
            <a:pPr lvl="1"/>
            <a:r>
              <a:rPr lang="ru-RU" dirty="0"/>
              <a:t>подтверждаем (</a:t>
            </a:r>
            <a:r>
              <a:rPr lang="en-US" dirty="0"/>
              <a:t>Invalidate Ack) </a:t>
            </a:r>
          </a:p>
          <a:p>
            <a:r>
              <a:rPr lang="ru-RU" dirty="0"/>
              <a:t>Новое состояние: </a:t>
            </a:r>
            <a:r>
              <a:rPr lang="en-US" dirty="0"/>
              <a:t>Invalid</a:t>
            </a:r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другое ядро забирает право на запись</a:t>
            </a:r>
          </a:p>
          <a:p>
            <a:pPr lvl="1"/>
            <a:r>
              <a:rPr lang="ru-RU" dirty="0"/>
              <a:t>мы полностью теряем данные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318E5-4934-7119-611E-817993136F78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6B4D6A-8C18-4010-EAF9-1B2E33AF266F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C39749-36E4-3160-38F0-E677F3645E60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E8ECF0-7FB1-55F6-39BF-0C7BB7EA4883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61A982-2E76-6BA8-54A0-3DE363BD02BC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76B2E0-AA25-DF0A-86D7-D6EFE4B67B65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95DBA5-44D4-9E32-1BB1-7C490BD62F0C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7F6F5BA-CF28-6D3F-A8DE-2203069DD8C2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F89C7D-B28B-CD43-C4AC-27C588B5A4CF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F4E220F-2196-BD65-9038-A24AD701796C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628C2C-F707-DF40-FB4F-5E329A12D6E9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062968-AE81-EBAC-A823-B62C27330BE0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8629EA-B47E-AE11-9BF6-197EF257CC45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26B9F9F-6EC0-4E7B-F56E-15332C027F50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847826E-8459-D9C6-A1B4-9FFE87FEDBA4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4310EF3-163C-D1A2-9ECF-051BE7D38328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9AA070-EB85-3DC0-DA5F-0073B681C7B0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FE7F56-8567-9C03-881D-7496DA14C4F4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3CD2DB-2005-5F40-887A-5C185B365C64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2EE99E-8B4D-5126-1951-604B09303C7F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85ED38-3962-DF03-4126-D7F4F2CF7F68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572CE7D4-785B-F15F-2DA3-464DF3A9D6BA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BC73D18C-BA03-362E-BAE0-91AA24AF793F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2F1423F1-C0E2-3CB3-829F-813BBE9819CB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BD2858BE-CEF7-084D-78D6-1A34D578FDFF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2D52FF48-DDEB-94AA-2B3B-ED4F8CFCF69B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8D361049-8728-5453-5E8C-A91A417032DC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BD3523E5-E6E0-6629-1C59-A2E4995A98E4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80049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B7CB0-F437-AA69-92B7-C018C582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258295-75F0-301F-5E1D-B42B45F5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</a:t>
            </a:r>
            <a:r>
              <a:rPr lang="en-US" dirty="0"/>
              <a:t> I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 (загрузка с эксклюзивностью)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AEC760A8-10F9-CA5A-4CD2-10FD0DD25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данных нет в кэше (</a:t>
            </a:r>
            <a:r>
              <a:rPr lang="ru-RU" dirty="0" err="1"/>
              <a:t>Invalid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процессор хочет записать</a:t>
            </a:r>
          </a:p>
          <a:p>
            <a:r>
              <a:rPr lang="ru-RU" dirty="0"/>
              <a:t>Действие: отправляем </a:t>
            </a:r>
            <a:r>
              <a:rPr lang="ru-RU" dirty="0" err="1"/>
              <a:t>Read</a:t>
            </a:r>
            <a:r>
              <a:rPr lang="ru-RU" dirty="0"/>
              <a:t> + </a:t>
            </a:r>
            <a:r>
              <a:rPr lang="ru-RU" dirty="0" err="1"/>
              <a:t>Invalidate</a:t>
            </a:r>
            <a:endParaRPr lang="ru-RU" dirty="0"/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получаем данные (</a:t>
            </a:r>
            <a:r>
              <a:rPr lang="ru-RU" dirty="0" err="1"/>
              <a:t>Read</a:t>
            </a:r>
            <a:r>
              <a:rPr lang="ru-RU" dirty="0"/>
              <a:t> Response) </a:t>
            </a:r>
          </a:p>
          <a:p>
            <a:pPr lvl="1"/>
            <a:r>
              <a:rPr lang="ru-RU" dirty="0"/>
              <a:t>другие ядра удаляют свои копии </a:t>
            </a:r>
          </a:p>
          <a:p>
            <a:pPr lvl="1"/>
            <a:r>
              <a:rPr lang="ru-RU" dirty="0"/>
              <a:t>ждём все </a:t>
            </a:r>
            <a:r>
              <a:rPr lang="ru-RU" dirty="0" err="1"/>
              <a:t>Invalidate</a:t>
            </a:r>
            <a:r>
              <a:rPr lang="ru-RU" dirty="0"/>
              <a:t> </a:t>
            </a:r>
            <a:r>
              <a:rPr lang="ru-RU" dirty="0" err="1"/>
              <a:t>Ack</a:t>
            </a:r>
            <a:r>
              <a:rPr lang="ru-RU" dirty="0"/>
              <a:t> </a:t>
            </a:r>
          </a:p>
          <a:p>
            <a:r>
              <a:rPr lang="ru-RU" dirty="0"/>
              <a:t>Новое состояние: </a:t>
            </a:r>
            <a:r>
              <a:rPr lang="ru-RU" dirty="0" err="1"/>
              <a:t>Exclusive</a:t>
            </a:r>
            <a:endParaRPr lang="ru-RU" dirty="0"/>
          </a:p>
          <a:p>
            <a:r>
              <a:rPr lang="ru-RU" dirty="0"/>
              <a:t>Далее:</a:t>
            </a:r>
          </a:p>
          <a:p>
            <a:pPr lvl="1"/>
            <a:r>
              <a:rPr lang="ru-RU" dirty="0"/>
              <a:t>локальная запись (E → M)</a:t>
            </a:r>
          </a:p>
          <a:p>
            <a:pPr lvl="1"/>
            <a:r>
              <a:rPr lang="ru-RU" dirty="0"/>
              <a:t>без дополнительных сообщений</a:t>
            </a:r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сначала получаем владение, потом пишем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84B856-641B-2720-A4EA-F14C0B3B1C1A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29B2A-15A4-5CAE-29D9-710296213311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0CFE1A-91CA-F562-89E4-2AA6C43384E7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13CB26-6B30-BDF1-03EF-ED7BD006F4E1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7274B4-9A61-BFFF-0161-1E3A04CBF3D8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4D419-64EF-463C-8C5C-2BDAC0F494A5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38C10C-643B-3B23-3910-DDAECED1110A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A55B2A-8334-A5EF-3D85-6573397F73BE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AD5806-B791-A57B-9061-9801BC63203D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73AAA7D-A468-8EB0-BD5A-86AA37F2EE55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B94B8CD-E57B-3021-0815-19462B887EE8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62378F-4136-6D9B-88DF-2B3C791F1144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FA31BD9-ECF8-C4C4-43B4-BAC4C9A58B23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58B6AA5-1980-65B0-94F0-A3C54B2DD73C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D09DB26-5B61-C27B-21E9-B6382DCFDE69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68AF2BE-4D5A-4B31-9E6F-5735B8548F6F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C289D2A-7932-2F0C-F9DD-375CB71617D0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13E987-5945-3B85-ADA4-A66E66C01BB2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EF5627-524E-D72B-DA1D-0570C3EBBB1B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6CE473-1621-BC58-6C0D-CA9260305ABF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C76F4E-ED81-838A-BE6F-D3A1DF457E4E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D4C1BD3C-8D40-8384-7CF1-DE667D3B2B33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AEA284E9-A411-068E-F957-C23EE0B135C9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B895235B-D4C2-F44B-BEC9-9DFB8ADE77A8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446DAB17-C423-24AE-0136-F35CF0232071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EA361A2F-08DB-16DB-4E13-DA9FB8C2A785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B78CD761-A84E-8A50-A0FC-A8F2BFBED60F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BED0AE74-7D19-460E-7A5D-F9D5DDC995AA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24947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5BA6-7FE8-A61A-D3FD-39305C55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047606-80CB-C866-FED1-EA1DC18F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</a:t>
            </a:r>
            <a:r>
              <a:rPr lang="en-US" dirty="0"/>
              <a:t> I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→S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 (обычное чтение)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B68B1F0D-3DFF-1CF2-F597-7276390DA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данных нет в кэше (</a:t>
            </a:r>
            <a:r>
              <a:rPr lang="ru-RU" dirty="0" err="1"/>
              <a:t>Invalid</a:t>
            </a:r>
            <a:r>
              <a:rPr lang="ru-RU" dirty="0"/>
              <a:t>)</a:t>
            </a:r>
          </a:p>
          <a:p>
            <a:r>
              <a:rPr lang="ru-RU" dirty="0"/>
              <a:t>Действие: процессор выполняет чтение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отправляем </a:t>
            </a:r>
            <a:r>
              <a:rPr lang="ru-RU" dirty="0" err="1"/>
              <a:t>Read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получаем данные (</a:t>
            </a:r>
            <a:r>
              <a:rPr lang="ru-RU" dirty="0" err="1"/>
              <a:t>Read</a:t>
            </a:r>
            <a:r>
              <a:rPr lang="ru-RU" dirty="0"/>
              <a:t> Response) </a:t>
            </a:r>
          </a:p>
          <a:p>
            <a:r>
              <a:rPr lang="ru-RU" dirty="0"/>
              <a:t>Новое состояние: </a:t>
            </a:r>
            <a:r>
              <a:rPr lang="ru-RU" dirty="0" err="1"/>
              <a:t>Shared</a:t>
            </a:r>
            <a:endParaRPr lang="ru-RU" dirty="0"/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данные могут быть и у других ядер</a:t>
            </a:r>
          </a:p>
          <a:p>
            <a:pPr lvl="1"/>
            <a:r>
              <a:rPr lang="ru-RU" dirty="0"/>
              <a:t>чтение не требует согласования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это дешёвая операция</a:t>
            </a:r>
          </a:p>
          <a:p>
            <a:pPr lvl="1"/>
            <a:r>
              <a:rPr lang="ru-RU" dirty="0"/>
              <a:t>нет </a:t>
            </a:r>
            <a:r>
              <a:rPr lang="ru-RU" dirty="0" err="1"/>
              <a:t>invalidate</a:t>
            </a:r>
            <a:r>
              <a:rPr lang="ru-RU" dirty="0"/>
              <a:t> и ожидания других ядер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4DEE6-32B1-BE92-7004-039E93EB8C71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DD734B-DD2F-4E51-C758-9E37DB22CB1F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B95FD3-A821-0FA5-8A4B-575B05943EF1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5D106F-E67F-48EA-F4EC-77D2E84980AA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3D7B6C-25EA-B266-509C-FC3445C0563C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43F04B-EC83-E814-B944-B0D7B05A3091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45A378-4B74-3AC1-7CE2-593882CEDF4D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FD457C-472C-F8B0-DDFB-44502E19FEF2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281F98-DAD7-C85A-5DF7-052CB504BFF0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5283CE-F491-6F5D-8D43-FF935D7EF025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AEF78D-552F-91B2-96E6-555AE733CAA8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7316B9-78A0-1F77-4D0B-F7DB2E5E99B9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161151-F78E-DB9D-90D0-25978B51CDD7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D56181A-624C-848A-2A3E-E23F2C5DDE99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04280A7-937D-C01A-2228-B83311ACE8E9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18C0A4D-64E6-A702-18FA-757C2C1D10BF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7A345C6-4823-6EF3-5F5E-FB64557E0A16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6CCC7A-07C2-B66D-7DAB-F7316470D07B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B1A906-C569-6BCF-09C0-ADC9E09ADFAE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3A496D-2CB6-6CB4-2E56-5A28D585C0BA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453B9E-AF95-110C-1060-8B4118732C7F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E6C11742-C25A-D3BC-C9EA-BD9ABA7EFCF7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C9376DFD-3DA7-6BE3-6754-323874DB75A1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858EEB84-E573-565D-7A8D-F62A4D9C2D06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682E91CA-4E31-23F4-664E-1D93EE4E78BE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C230A46F-69AF-65E6-733B-CA56D6E5F269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F767CF0E-CC4C-5BEF-D49F-491CC0FC6E4D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E48DBD3E-46E9-4197-1D9B-8087B9F4845E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91768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E7C8B-5720-A532-100A-C175229D4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2DA94D-DC16-CD92-A704-6B0752FE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</a:t>
            </a:r>
            <a:r>
              <a:rPr lang="en-US" dirty="0"/>
              <a:t>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→I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"/>
              </a:rPr>
              <a:t> (</a:t>
            </a:r>
            <a:r>
              <a:rPr lang="ru-RU" dirty="0" err="1">
                <a:solidFill>
                  <a:srgbClr val="1F1F1F"/>
                </a:solidFill>
                <a:latin typeface="Google Sans"/>
              </a:rPr>
              <a:t>инвалидация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 при записи)</a:t>
            </a:r>
            <a:endParaRPr lang="en-US" dirty="0"/>
          </a:p>
        </p:txBody>
      </p:sp>
      <p:sp>
        <p:nvSpPr>
          <p:cNvPr id="7176" name="Content Placeholder 7175">
            <a:extLst>
              <a:ext uri="{FF2B5EF4-FFF2-40B4-BE49-F238E27FC236}">
                <a16:creationId xmlns:a16="http://schemas.microsoft.com/office/drawing/2014/main" id="{27C24CE7-04C1-50A2-F6CB-DB519257A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752" cy="435133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Ситуация:</a:t>
            </a:r>
          </a:p>
          <a:p>
            <a:pPr lvl="1"/>
            <a:r>
              <a:rPr lang="ru-RU" dirty="0"/>
              <a:t>кэш-линия в состоянии </a:t>
            </a:r>
            <a:r>
              <a:rPr lang="ru-RU" dirty="0" err="1"/>
              <a:t>Shared</a:t>
            </a:r>
            <a:endParaRPr lang="ru-RU" dirty="0"/>
          </a:p>
          <a:p>
            <a:pPr lvl="1"/>
            <a:r>
              <a:rPr lang="ru-RU" dirty="0"/>
              <a:t>данные есть у нескольких ядер</a:t>
            </a:r>
          </a:p>
          <a:p>
            <a:pPr lvl="1"/>
            <a:r>
              <a:rPr lang="ru-RU" dirty="0"/>
              <a:t>только чтение</a:t>
            </a:r>
          </a:p>
          <a:p>
            <a:r>
              <a:rPr lang="ru-RU" dirty="0"/>
              <a:t>Другое ядро делает:</a:t>
            </a:r>
          </a:p>
          <a:p>
            <a:pPr lvl="1"/>
            <a:r>
              <a:rPr lang="ru-RU" dirty="0"/>
              <a:t>→ </a:t>
            </a:r>
            <a:r>
              <a:rPr lang="ru-RU" dirty="0" err="1"/>
              <a:t>Invalidate</a:t>
            </a:r>
            <a:r>
              <a:rPr lang="ru-RU" dirty="0"/>
              <a:t> (хочет записать)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получаем </a:t>
            </a:r>
            <a:r>
              <a:rPr lang="ru-RU" dirty="0" err="1"/>
              <a:t>Invalidate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удаляем свою копию </a:t>
            </a:r>
          </a:p>
          <a:p>
            <a:pPr lvl="1"/>
            <a:r>
              <a:rPr lang="ru-RU" dirty="0"/>
              <a:t>отправляем </a:t>
            </a:r>
            <a:r>
              <a:rPr lang="ru-RU" dirty="0" err="1"/>
              <a:t>Invalidate</a:t>
            </a:r>
            <a:r>
              <a:rPr lang="ru-RU" dirty="0"/>
              <a:t> </a:t>
            </a:r>
            <a:r>
              <a:rPr lang="ru-RU" dirty="0" err="1"/>
              <a:t>Ack</a:t>
            </a:r>
            <a:r>
              <a:rPr lang="ru-RU" dirty="0"/>
              <a:t> </a:t>
            </a:r>
          </a:p>
          <a:p>
            <a:r>
              <a:rPr lang="ru-RU" dirty="0"/>
              <a:t>Новое состояние: </a:t>
            </a:r>
            <a:r>
              <a:rPr lang="ru-RU" dirty="0" err="1"/>
              <a:t>Invalid</a:t>
            </a:r>
            <a:endParaRPr lang="ru-RU" dirty="0"/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другое ядро получает эксклюзивный доступ</a:t>
            </a:r>
          </a:p>
          <a:p>
            <a:pPr lvl="1"/>
            <a:r>
              <a:rPr lang="ru-RU" dirty="0"/>
              <a:t>мы теряем возможность читать старые данные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это происходит при любой записи в </a:t>
            </a:r>
            <a:r>
              <a:rPr lang="ru-RU" dirty="0" err="1"/>
              <a:t>shared</a:t>
            </a:r>
            <a:r>
              <a:rPr lang="ru-RU" dirty="0"/>
              <a:t>-данные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A4A5C-31E9-FB88-DE7F-B7FCA5850224}"/>
              </a:ext>
            </a:extLst>
          </p:cNvPr>
          <p:cNvSpPr/>
          <p:nvPr/>
        </p:nvSpPr>
        <p:spPr>
          <a:xfrm>
            <a:off x="9158514" y="229325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C1729-2465-4C1F-A99D-0C55BF17B113}"/>
              </a:ext>
            </a:extLst>
          </p:cNvPr>
          <p:cNvSpPr/>
          <p:nvPr/>
        </p:nvSpPr>
        <p:spPr>
          <a:xfrm>
            <a:off x="11070771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4A5886-741B-0345-FAEA-15DEF8C599BE}"/>
              </a:ext>
            </a:extLst>
          </p:cNvPr>
          <p:cNvSpPr/>
          <p:nvPr/>
        </p:nvSpPr>
        <p:spPr>
          <a:xfrm>
            <a:off x="9158514" y="5821817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D5C679-382C-CAD0-7EA3-3BB976CBFDB2}"/>
              </a:ext>
            </a:extLst>
          </p:cNvPr>
          <p:cNvSpPr/>
          <p:nvPr/>
        </p:nvSpPr>
        <p:spPr>
          <a:xfrm>
            <a:off x="7216095" y="4115594"/>
            <a:ext cx="56605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BAFFFE-ADB6-15A8-2DDE-E5382BA0CBF9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9724571" y="2576286"/>
            <a:ext cx="1629229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2EFE84-B062-91CA-F4CF-279ABD571459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flipH="1" flipV="1">
            <a:off x="9441543" y="2859314"/>
            <a:ext cx="1629228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4797D7-43E7-A906-9ACE-8C3C07A88DB0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flipH="1">
            <a:off x="9724571" y="4681651"/>
            <a:ext cx="1629229" cy="142319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2BDA19-0918-C447-CC57-ACAB694B1320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9441543" y="4398623"/>
            <a:ext cx="1629228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A26C75-8868-863B-0D15-34180F21AE83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H="1" flipV="1">
            <a:off x="7782152" y="4398623"/>
            <a:ext cx="1659391" cy="142319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DB76273-E796-0E95-AF19-051E368572DC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7499124" y="4681651"/>
            <a:ext cx="1659390" cy="142319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7E79CC-BDF5-C08F-974E-58E0F1D80025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7499124" y="2576286"/>
            <a:ext cx="1659390" cy="15393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EBC01AE-C347-6FEF-A240-1322449E67BA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 flipV="1">
            <a:off x="7782152" y="2859314"/>
            <a:ext cx="1659391" cy="153930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46A2AD1-C2A2-23EC-D303-51148D526E88}"/>
              </a:ext>
            </a:extLst>
          </p:cNvPr>
          <p:cNvCxnSpPr>
            <a:cxnSpLocks/>
          </p:cNvCxnSpPr>
          <p:nvPr/>
        </p:nvCxnSpPr>
        <p:spPr>
          <a:xfrm flipV="1">
            <a:off x="9643110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32B9D63-1FEE-6E94-10C1-8E65BCEDF8BB}"/>
              </a:ext>
            </a:extLst>
          </p:cNvPr>
          <p:cNvCxnSpPr>
            <a:cxnSpLocks/>
          </p:cNvCxnSpPr>
          <p:nvPr/>
        </p:nvCxnSpPr>
        <p:spPr>
          <a:xfrm flipH="1">
            <a:off x="9232899" y="2859314"/>
            <a:ext cx="0" cy="296250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D919BE-1FA5-93CD-61E8-0E8219C10D0F}"/>
              </a:ext>
            </a:extLst>
          </p:cNvPr>
          <p:cNvCxnSpPr>
            <a:cxnSpLocks/>
          </p:cNvCxnSpPr>
          <p:nvPr/>
        </p:nvCxnSpPr>
        <p:spPr>
          <a:xfrm flipH="1">
            <a:off x="7782152" y="4571263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480A563-020D-1AB8-79BB-06F8BA67534B}"/>
              </a:ext>
            </a:extLst>
          </p:cNvPr>
          <p:cNvCxnSpPr>
            <a:cxnSpLocks/>
          </p:cNvCxnSpPr>
          <p:nvPr/>
        </p:nvCxnSpPr>
        <p:spPr>
          <a:xfrm flipV="1">
            <a:off x="7782152" y="4210050"/>
            <a:ext cx="32886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B45D4F2-DC24-D803-7068-D51AB88F14D3}"/>
              </a:ext>
            </a:extLst>
          </p:cNvPr>
          <p:cNvSpPr txBox="1"/>
          <p:nvPr/>
        </p:nvSpPr>
        <p:spPr>
          <a:xfrm>
            <a:off x="10377714" y="2859314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2D6838-2E8A-3C20-CBCF-0776FAD82005}"/>
              </a:ext>
            </a:extLst>
          </p:cNvPr>
          <p:cNvSpPr txBox="1"/>
          <p:nvPr/>
        </p:nvSpPr>
        <p:spPr>
          <a:xfrm>
            <a:off x="9989864" y="355768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1305A3-0F5D-6259-1C7F-EE8902CA73E0}"/>
              </a:ext>
            </a:extLst>
          </p:cNvPr>
          <p:cNvSpPr txBox="1"/>
          <p:nvPr/>
        </p:nvSpPr>
        <p:spPr>
          <a:xfrm>
            <a:off x="8066019" y="297660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1A5C4C-18B2-3686-EEDC-4507C4F87877}"/>
              </a:ext>
            </a:extLst>
          </p:cNvPr>
          <p:cNvSpPr txBox="1"/>
          <p:nvPr/>
        </p:nvSpPr>
        <p:spPr>
          <a:xfrm>
            <a:off x="8528891" y="3569732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CD9A30-17D8-F4F5-5223-C969F40815C4}"/>
              </a:ext>
            </a:extLst>
          </p:cNvPr>
          <p:cNvSpPr txBox="1"/>
          <p:nvPr/>
        </p:nvSpPr>
        <p:spPr>
          <a:xfrm>
            <a:off x="8595338" y="487591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168" name="TextBox 7167">
            <a:extLst>
              <a:ext uri="{FF2B5EF4-FFF2-40B4-BE49-F238E27FC236}">
                <a16:creationId xmlns:a16="http://schemas.microsoft.com/office/drawing/2014/main" id="{BF2D5D0D-C111-8FDB-5EC7-F65D9FC112F6}"/>
              </a:ext>
            </a:extLst>
          </p:cNvPr>
          <p:cNvSpPr txBox="1"/>
          <p:nvPr/>
        </p:nvSpPr>
        <p:spPr>
          <a:xfrm>
            <a:off x="8263257" y="5528275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169" name="TextBox 7168">
            <a:extLst>
              <a:ext uri="{FF2B5EF4-FFF2-40B4-BE49-F238E27FC236}">
                <a16:creationId xmlns:a16="http://schemas.microsoft.com/office/drawing/2014/main" id="{F7E37CCA-A23E-ACCE-E792-CD003B92F510}"/>
              </a:ext>
            </a:extLst>
          </p:cNvPr>
          <p:cNvSpPr txBox="1"/>
          <p:nvPr/>
        </p:nvSpPr>
        <p:spPr>
          <a:xfrm>
            <a:off x="10007600" y="4816526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7171" name="TextBox 7170">
            <a:extLst>
              <a:ext uri="{FF2B5EF4-FFF2-40B4-BE49-F238E27FC236}">
                <a16:creationId xmlns:a16="http://schemas.microsoft.com/office/drawing/2014/main" id="{B9F37385-08C1-8097-2A01-2BA937136780}"/>
              </a:ext>
            </a:extLst>
          </p:cNvPr>
          <p:cNvSpPr txBox="1"/>
          <p:nvPr/>
        </p:nvSpPr>
        <p:spPr>
          <a:xfrm>
            <a:off x="10313149" y="550767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7172" name="TextBox 7171">
            <a:extLst>
              <a:ext uri="{FF2B5EF4-FFF2-40B4-BE49-F238E27FC236}">
                <a16:creationId xmlns:a16="http://schemas.microsoft.com/office/drawing/2014/main" id="{878CF3C9-ABDD-ACED-9361-138DE96149B9}"/>
              </a:ext>
            </a:extLst>
          </p:cNvPr>
          <p:cNvSpPr txBox="1"/>
          <p:nvPr/>
        </p:nvSpPr>
        <p:spPr>
          <a:xfrm>
            <a:off x="9908134" y="3883869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7173" name="TextBox 7172">
            <a:extLst>
              <a:ext uri="{FF2B5EF4-FFF2-40B4-BE49-F238E27FC236}">
                <a16:creationId xmlns:a16="http://schemas.microsoft.com/office/drawing/2014/main" id="{F26C89F4-DA0F-D430-51BD-60EE2122CE6D}"/>
              </a:ext>
            </a:extLst>
          </p:cNvPr>
          <p:cNvSpPr txBox="1"/>
          <p:nvPr/>
        </p:nvSpPr>
        <p:spPr>
          <a:xfrm>
            <a:off x="8674920" y="450749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74" name="TextBox 7173">
            <a:extLst>
              <a:ext uri="{FF2B5EF4-FFF2-40B4-BE49-F238E27FC236}">
                <a16:creationId xmlns:a16="http://schemas.microsoft.com/office/drawing/2014/main" id="{67E3DE9C-48B3-B89B-C490-A97542348652}"/>
              </a:ext>
            </a:extLst>
          </p:cNvPr>
          <p:cNvSpPr txBox="1"/>
          <p:nvPr/>
        </p:nvSpPr>
        <p:spPr>
          <a:xfrm>
            <a:off x="8983639" y="3434110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175" name="TextBox 7174">
            <a:extLst>
              <a:ext uri="{FF2B5EF4-FFF2-40B4-BE49-F238E27FC236}">
                <a16:creationId xmlns:a16="http://schemas.microsoft.com/office/drawing/2014/main" id="{F1B1E7A6-6D68-7BAB-7B1C-B958D4967063}"/>
              </a:ext>
            </a:extLst>
          </p:cNvPr>
          <p:cNvSpPr txBox="1"/>
          <p:nvPr/>
        </p:nvSpPr>
        <p:spPr>
          <a:xfrm>
            <a:off x="9564529" y="3477278"/>
            <a:ext cx="56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97237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1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7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A9EE-93BD-A004-A335-8496F4BC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Реальные протоколы сложнее </a:t>
            </a:r>
            <a:r>
              <a:rPr lang="en-US" dirty="0"/>
              <a:t>MESI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01CD8-B66B-2669-37DF-89750A4D1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MESI — это упрощённая модель</a:t>
            </a:r>
          </a:p>
          <a:p>
            <a:r>
              <a:rPr lang="ru-RU" dirty="0"/>
              <a:t>В реальных CPU:</a:t>
            </a:r>
            <a:endParaRPr lang="en-US" dirty="0"/>
          </a:p>
          <a:p>
            <a:pPr lvl="1"/>
            <a:r>
              <a:rPr lang="ru-RU" dirty="0"/>
              <a:t>больше состояний (MOESI, MESIF и др.) </a:t>
            </a:r>
          </a:p>
          <a:p>
            <a:pPr lvl="1"/>
            <a:r>
              <a:rPr lang="ru-RU" dirty="0"/>
              <a:t>есть временные состояния</a:t>
            </a:r>
            <a:r>
              <a:rPr lang="en-US" dirty="0"/>
              <a:t> (</a:t>
            </a:r>
            <a:r>
              <a:rPr lang="ru-RU" dirty="0"/>
              <a:t>ожидание данных</a:t>
            </a:r>
            <a:r>
              <a:rPr lang="en-US" dirty="0"/>
              <a:t>, </a:t>
            </a:r>
            <a:r>
              <a:rPr lang="ru-RU" dirty="0"/>
              <a:t>ожидание </a:t>
            </a:r>
            <a:r>
              <a:rPr lang="ru-RU" dirty="0" err="1"/>
              <a:t>invalidate</a:t>
            </a:r>
            <a:r>
              <a:rPr lang="en-US" dirty="0"/>
              <a:t>, </a:t>
            </a:r>
            <a:r>
              <a:rPr lang="ru-RU" dirty="0"/>
              <a:t>обработка сообщений 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Зачем это нужно:</a:t>
            </a:r>
          </a:p>
          <a:p>
            <a:pPr lvl="1"/>
            <a:r>
              <a:rPr lang="ru-RU" dirty="0"/>
              <a:t>скрывать задержки</a:t>
            </a:r>
            <a:endParaRPr lang="en-US" dirty="0"/>
          </a:p>
          <a:p>
            <a:pPr lvl="1"/>
            <a:r>
              <a:rPr lang="ru-RU" dirty="0"/>
              <a:t>обрабатывать параллельные события</a:t>
            </a:r>
            <a:endParaRPr lang="en-US" dirty="0"/>
          </a:p>
          <a:p>
            <a:pPr lvl="1"/>
            <a:r>
              <a:rPr lang="ru-RU" dirty="0"/>
              <a:t>повышать производительность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эти состояния не видны программисту</a:t>
            </a:r>
            <a:endParaRPr lang="en-US" dirty="0"/>
          </a:p>
          <a:p>
            <a:pPr lvl="1"/>
            <a:r>
              <a:rPr lang="ru-RU" dirty="0"/>
              <a:t>но влияют на поведение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55288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C40548-CEE7-DE49-2F14-957B4CC81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первая запись дорогая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DE0685-D99D-956C-0F56-BB104AF91A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Ситуация: данные находятся в кэше другого ядра</a:t>
            </a:r>
          </a:p>
          <a:p>
            <a:r>
              <a:rPr lang="en-US" dirty="0"/>
              <a:t>CPU </a:t>
            </a:r>
            <a:r>
              <a:rPr lang="ru-RU" dirty="0"/>
              <a:t>хочет записать</a:t>
            </a:r>
          </a:p>
          <a:p>
            <a:pPr lvl="1"/>
            <a:r>
              <a:rPr lang="ru-RU" dirty="0"/>
              <a:t>нужно получить владение </a:t>
            </a:r>
            <a:r>
              <a:rPr lang="en-US" dirty="0"/>
              <a:t>cache line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отправляем </a:t>
            </a:r>
            <a:r>
              <a:rPr lang="en-US" dirty="0"/>
              <a:t>Invalidate </a:t>
            </a:r>
          </a:p>
          <a:p>
            <a:pPr lvl="1"/>
            <a:r>
              <a:rPr lang="ru-RU" dirty="0"/>
              <a:t>ждём </a:t>
            </a:r>
            <a:r>
              <a:rPr lang="en-US" dirty="0"/>
              <a:t>Invalidate Ack </a:t>
            </a:r>
          </a:p>
          <a:p>
            <a:pPr lvl="1"/>
            <a:r>
              <a:rPr lang="ru-RU" dirty="0"/>
              <a:t>получаем </a:t>
            </a:r>
            <a:r>
              <a:rPr lang="en-US" dirty="0"/>
              <a:t>cache line </a:t>
            </a:r>
          </a:p>
          <a:p>
            <a:r>
              <a:rPr lang="ru-RU" dirty="0"/>
              <a:t>Проблема:</a:t>
            </a:r>
          </a:p>
          <a:p>
            <a:pPr lvl="1"/>
            <a:r>
              <a:rPr lang="ru-RU" dirty="0"/>
              <a:t>процессор простаивает (</a:t>
            </a:r>
            <a:r>
              <a:rPr lang="en-US" dirty="0"/>
              <a:t>stall)</a:t>
            </a:r>
            <a:endParaRPr lang="ru-RU" dirty="0"/>
          </a:p>
          <a:p>
            <a:pPr lvl="1"/>
            <a:r>
              <a:rPr lang="ru-RU" dirty="0"/>
              <a:t>задержка ≫ стоимость инструкции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данные всё равно будут перезаписаны</a:t>
            </a:r>
          </a:p>
          <a:p>
            <a:pPr lvl="1"/>
            <a:r>
              <a:rPr lang="ru-RU" dirty="0"/>
              <a:t>но ждать всё равно нужно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55445D70-DDBB-6E1B-A7ED-CF41F9A8319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726" y="1766622"/>
            <a:ext cx="4710548" cy="446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3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CF768D-F338-A8AD-5305-67C96CA4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Буфер записи (</a:t>
            </a:r>
            <a:r>
              <a:rPr lang="en-US" dirty="0"/>
              <a:t>Store buffer)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B143208-1B76-A572-B3AB-31A1227CD6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Проблема:</a:t>
            </a:r>
          </a:p>
          <a:p>
            <a:pPr lvl="1"/>
            <a:r>
              <a:rPr lang="ru-RU" dirty="0"/>
              <a:t>первая запись требует ожидания</a:t>
            </a:r>
            <a:endParaRPr lang="en-US" dirty="0"/>
          </a:p>
          <a:p>
            <a:pPr lvl="1"/>
            <a:r>
              <a:rPr lang="ru-RU" dirty="0"/>
              <a:t>процессор простаивает</a:t>
            </a:r>
          </a:p>
          <a:p>
            <a:r>
              <a:rPr lang="ru-RU" dirty="0"/>
              <a:t>Решение:</a:t>
            </a:r>
            <a:r>
              <a:rPr lang="en-US" dirty="0"/>
              <a:t> </a:t>
            </a:r>
            <a:r>
              <a:rPr lang="ru-RU" dirty="0"/>
              <a:t>буфер записи (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)</a:t>
            </a:r>
          </a:p>
          <a:p>
            <a:r>
              <a:rPr lang="ru-RU" dirty="0"/>
              <a:t>Как это работает:</a:t>
            </a:r>
          </a:p>
          <a:p>
            <a:pPr lvl="1"/>
            <a:r>
              <a:rPr lang="ru-RU" dirty="0"/>
              <a:t>отправляем </a:t>
            </a:r>
            <a:r>
              <a:rPr lang="ru-RU" dirty="0" err="1"/>
              <a:t>Invalidate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запись кладём в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процессор продолжает выполнение </a:t>
            </a:r>
          </a:p>
          <a:p>
            <a:r>
              <a:rPr lang="ru-RU" dirty="0"/>
              <a:t>Позже:</a:t>
            </a:r>
          </a:p>
          <a:p>
            <a:pPr lvl="1"/>
            <a:r>
              <a:rPr lang="ru-RU" dirty="0"/>
              <a:t>кэш-линия приходит</a:t>
            </a:r>
            <a:br>
              <a:rPr lang="ru-RU" dirty="0"/>
            </a:br>
            <a:r>
              <a:rPr lang="ru-RU" dirty="0"/>
              <a:t>данные из буфера записываются в кэш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запись “видна” не сразу</a:t>
            </a:r>
            <a:endParaRPr lang="en-US" dirty="0"/>
          </a:p>
          <a:p>
            <a:pPr lvl="1"/>
            <a:r>
              <a:rPr lang="ru-RU" dirty="0"/>
              <a:t>порядок операций может нарушаться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C9A7445E-ECCE-0DBF-204A-79F2B9A6201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613" y="1825625"/>
            <a:ext cx="497477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68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CAB1-BD53-DD97-89DB-233C474E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86C34-B6E7-BB08-B466-77105559C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7286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Этот код может сломаться:</a:t>
            </a:r>
          </a:p>
          <a:p>
            <a:pPr lvl="1">
              <a:buNone/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b = a + </a:t>
            </a:r>
            <a:r>
              <a:rPr lang="pt-BR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buNone/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assert(b == </a:t>
            </a:r>
            <a:r>
              <a:rPr lang="pt-BR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dirty="0"/>
          </a:p>
          <a:p>
            <a:r>
              <a:rPr lang="ru-RU" dirty="0"/>
              <a:t>Причина:</a:t>
            </a:r>
          </a:p>
          <a:p>
            <a:pPr lvl="1"/>
            <a:r>
              <a:rPr lang="ru-RU" dirty="0"/>
              <a:t>запись a = 1 попадает в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кэш всё ещё содержит старое значение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читаем a → получаем 0, хотя уже записали 1</a:t>
            </a:r>
          </a:p>
          <a:p>
            <a:r>
              <a:rPr lang="ru-RU" dirty="0"/>
              <a:t>Решение: </a:t>
            </a:r>
          </a:p>
          <a:p>
            <a:pPr lvl="1"/>
            <a:r>
              <a:rPr lang="ru-RU" dirty="0"/>
              <a:t>CPU читает данные из </a:t>
            </a:r>
            <a:r>
              <a:rPr lang="ru-RU" dirty="0" err="1"/>
              <a:t>cache</a:t>
            </a:r>
            <a:r>
              <a:rPr lang="ru-RU" dirty="0"/>
              <a:t> + из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endParaRPr lang="ru-RU" dirty="0"/>
          </a:p>
          <a:p>
            <a:r>
              <a:rPr lang="ru-RU" dirty="0"/>
              <a:t>Запись не становится сразу видна даже для того же потока</a:t>
            </a:r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7EA3C9E7-EDF6-4AA3-45A9-4F774C409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977" y="1825625"/>
            <a:ext cx="5057143" cy="455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59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FA31B-21EA-7B55-DD47-2376EDCB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Нарушение порядка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60BA8-1C58-1139-D7F1-47E7AEE4F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3971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этом примере может выстрелить </a:t>
            </a:r>
            <a:r>
              <a:rPr lang="en-US" dirty="0"/>
              <a:t>assert</a:t>
            </a:r>
            <a:endParaRPr lang="ru-RU" dirty="0"/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a = 1</a:t>
            </a:r>
            <a:r>
              <a:rPr lang="ru-RU" dirty="0"/>
              <a:t> → попадает в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 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b = 1</a:t>
            </a:r>
            <a:r>
              <a:rPr lang="ru-RU" dirty="0"/>
              <a:t> → быстро виден другим CPU </a:t>
            </a:r>
          </a:p>
          <a:p>
            <a:pPr lvl="1"/>
            <a:r>
              <a:rPr lang="ru-RU" dirty="0"/>
              <a:t>CPU 1 видит </a:t>
            </a:r>
            <a:r>
              <a:rPr lang="ru-RU" dirty="0">
                <a:latin typeface="Consolas" panose="020B0609020204030204" pitchFamily="49" charset="0"/>
              </a:rPr>
              <a:t>b == 1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но всё ещё видит старое </a:t>
            </a:r>
            <a:r>
              <a:rPr lang="ru-RU" dirty="0">
                <a:latin typeface="Consolas" panose="020B0609020204030204" pitchFamily="49" charset="0"/>
              </a:rPr>
              <a:t>a == 0</a:t>
            </a:r>
          </a:p>
          <a:p>
            <a:r>
              <a:rPr lang="ru-RU" dirty="0"/>
              <a:t>Причина:</a:t>
            </a:r>
          </a:p>
          <a:p>
            <a:pPr lvl="1"/>
            <a:r>
              <a:rPr lang="ru-RU" dirty="0"/>
              <a:t> записи видны не одновременно</a:t>
            </a:r>
          </a:p>
          <a:p>
            <a:pPr lvl="1"/>
            <a:r>
              <a:rPr lang="ru-RU" dirty="0"/>
              <a:t> нет глобального порядка операций</a:t>
            </a:r>
          </a:p>
          <a:p>
            <a:r>
              <a:rPr lang="ru-RU" dirty="0"/>
              <a:t>Вывод:</a:t>
            </a:r>
          </a:p>
          <a:p>
            <a:pPr lvl="1"/>
            <a:r>
              <a:rPr lang="ru-RU" dirty="0"/>
              <a:t>наблюдение ≠ порядок в коде</a:t>
            </a:r>
          </a:p>
          <a:p>
            <a:pPr lvl="1"/>
            <a:r>
              <a:rPr lang="ru-RU" dirty="0"/>
              <a:t>именно это и есть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model</a:t>
            </a:r>
            <a:endParaRPr lang="ru-RU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E049F-ACDF-CDDD-572B-6563A2F5B24D}"/>
              </a:ext>
            </a:extLst>
          </p:cNvPr>
          <p:cNvSpPr txBox="1"/>
          <p:nvPr/>
        </p:nvSpPr>
        <p:spPr>
          <a:xfrm>
            <a:off x="7380514" y="1825625"/>
            <a:ext cx="39732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изначально равны 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CPU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CPU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(b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330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386A98-B5BA-F3E5-B8C5-BF7F540F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Барьеры памяти (</a:t>
            </a:r>
            <a:r>
              <a:rPr lang="en-US" dirty="0"/>
              <a:t>memory barriers)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8CB272-D34E-58E8-38B0-C94511535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6363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 Проблема:</a:t>
            </a:r>
          </a:p>
          <a:p>
            <a:pPr lvl="1"/>
            <a:r>
              <a:rPr lang="ru-RU" dirty="0"/>
              <a:t>нет гарантии порядка операций</a:t>
            </a:r>
            <a:endParaRPr lang="en-US" dirty="0"/>
          </a:p>
          <a:p>
            <a:pPr lvl="1"/>
            <a:r>
              <a:rPr lang="ru-RU" dirty="0"/>
              <a:t>возможны “сломанные” сценарии</a:t>
            </a:r>
          </a:p>
          <a:p>
            <a:r>
              <a:rPr lang="ru-RU" dirty="0"/>
              <a:t>Решение:</a:t>
            </a:r>
            <a:r>
              <a:rPr lang="en-US" dirty="0"/>
              <a:t>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barrier</a:t>
            </a:r>
            <a:endParaRPr lang="en-US" dirty="0"/>
          </a:p>
          <a:p>
            <a:r>
              <a:rPr lang="ru-RU" dirty="0"/>
              <a:t>Что делает </a:t>
            </a:r>
            <a:r>
              <a:rPr lang="ru-RU" dirty="0" err="1"/>
              <a:t>smp_mb</a:t>
            </a:r>
            <a:r>
              <a:rPr lang="ru-RU" dirty="0"/>
              <a:t>():</a:t>
            </a:r>
          </a:p>
          <a:p>
            <a:pPr lvl="1"/>
            <a:r>
              <a:rPr lang="ru-RU" dirty="0"/>
              <a:t>все операции до барьера</a:t>
            </a:r>
            <a:r>
              <a:rPr lang="en-US" dirty="0"/>
              <a:t> </a:t>
            </a:r>
            <a:r>
              <a:rPr lang="ru-RU" dirty="0"/>
              <a:t>завершаются до операций после</a:t>
            </a:r>
          </a:p>
          <a:p>
            <a:r>
              <a:rPr lang="ru-RU" dirty="0"/>
              <a:t>На уровне CPU:</a:t>
            </a:r>
          </a:p>
          <a:p>
            <a:pPr lvl="1"/>
            <a:r>
              <a:rPr lang="ru-RU" dirty="0"/>
              <a:t>сбрасывается 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endParaRPr lang="en-US" dirty="0"/>
          </a:p>
          <a:p>
            <a:pPr lvl="1"/>
            <a:r>
              <a:rPr lang="ru-RU" dirty="0"/>
              <a:t>операции становятся видимыми</a:t>
            </a:r>
          </a:p>
          <a:p>
            <a:r>
              <a:rPr lang="ru-RU" dirty="0"/>
              <a:t>Результат:</a:t>
            </a:r>
          </a:p>
          <a:p>
            <a:pPr lvl="1"/>
            <a:r>
              <a:rPr lang="ru-RU" dirty="0"/>
              <a:t> порядок теперь гарантирован</a:t>
            </a:r>
            <a:endParaRPr lang="en-US" dirty="0"/>
          </a:p>
          <a:p>
            <a:pPr lvl="1"/>
            <a:r>
              <a:rPr lang="ru-RU" dirty="0" err="1"/>
              <a:t>assert</a:t>
            </a:r>
            <a:r>
              <a:rPr lang="ru-RU" dirty="0"/>
              <a:t> больше не стреляет</a:t>
            </a:r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15BC5-7BB0-0353-C711-C60B1D7D0E7B}"/>
              </a:ext>
            </a:extLst>
          </p:cNvPr>
          <p:cNvSpPr txBox="1"/>
          <p:nvPr/>
        </p:nvSpPr>
        <p:spPr>
          <a:xfrm>
            <a:off x="6553200" y="2063740"/>
            <a:ext cx="5638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foo()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a = 1;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smp_mb</a:t>
            </a:r>
            <a:r>
              <a:rPr lang="en-US" b="1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	b =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1;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bar()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while ( b == 0 ) continue;</a:t>
            </a:r>
          </a:p>
          <a:p>
            <a:r>
              <a:rPr lang="en-US" dirty="0">
                <a:latin typeface="Consolas" panose="020B0609020204030204" pitchFamily="49" charset="0"/>
              </a:rPr>
              <a:t>	assert( a == 1 );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670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49FC0F-C228-E23C-9DBB-63569E04D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Очередь </a:t>
            </a:r>
            <a:r>
              <a:rPr lang="ru-RU" dirty="0" err="1"/>
              <a:t>инвалидации</a:t>
            </a:r>
            <a:r>
              <a:rPr lang="ru-RU" dirty="0"/>
              <a:t> (</a:t>
            </a:r>
            <a:r>
              <a:rPr lang="en-US" dirty="0"/>
              <a:t>Invalidate Queue)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0D6FD7-1183-3F91-B10D-BCB8436CE3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Проблема:</a:t>
            </a:r>
          </a:p>
          <a:p>
            <a:pPr lvl="1"/>
            <a:r>
              <a:rPr lang="ru-RU" dirty="0" err="1"/>
              <a:t>Invalidate</a:t>
            </a:r>
            <a:r>
              <a:rPr lang="ru-RU" dirty="0"/>
              <a:t> → требует времени</a:t>
            </a:r>
          </a:p>
          <a:p>
            <a:pPr lvl="1"/>
            <a:r>
              <a:rPr lang="ru-RU" dirty="0"/>
              <a:t>CPU начинают ждать друг друга</a:t>
            </a:r>
          </a:p>
          <a:p>
            <a:r>
              <a:rPr lang="ru-RU" dirty="0"/>
              <a:t>Решение: </a:t>
            </a:r>
            <a:r>
              <a:rPr lang="ru-RU" dirty="0" err="1"/>
              <a:t>Invalidate</a:t>
            </a:r>
            <a:r>
              <a:rPr lang="ru-RU" dirty="0"/>
              <a:t> </a:t>
            </a:r>
            <a:r>
              <a:rPr lang="ru-RU" dirty="0" err="1"/>
              <a:t>Queue</a:t>
            </a:r>
            <a:endParaRPr lang="ru-RU" dirty="0"/>
          </a:p>
          <a:p>
            <a:r>
              <a:rPr lang="ru-RU" dirty="0"/>
              <a:t>Как это работает:</a:t>
            </a:r>
          </a:p>
          <a:p>
            <a:pPr lvl="1"/>
            <a:r>
              <a:rPr lang="ru-RU" dirty="0"/>
              <a:t>получаем </a:t>
            </a:r>
            <a:r>
              <a:rPr lang="ru-RU" dirty="0" err="1"/>
              <a:t>Invalidate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кладём в очередь </a:t>
            </a:r>
          </a:p>
          <a:p>
            <a:pPr lvl="1"/>
            <a:r>
              <a:rPr lang="ru-RU" dirty="0"/>
              <a:t>сразу отправляем </a:t>
            </a:r>
            <a:r>
              <a:rPr lang="ru-RU" dirty="0" err="1"/>
              <a:t>Invalidate</a:t>
            </a:r>
            <a:r>
              <a:rPr lang="ru-RU" dirty="0"/>
              <a:t> </a:t>
            </a:r>
            <a:r>
              <a:rPr lang="ru-RU" dirty="0" err="1"/>
              <a:t>Ack</a:t>
            </a:r>
            <a:r>
              <a:rPr lang="ru-RU" dirty="0"/>
              <a:t> </a:t>
            </a:r>
          </a:p>
          <a:p>
            <a:r>
              <a:rPr lang="ru-RU" dirty="0"/>
              <a:t>Эффект:</a:t>
            </a:r>
          </a:p>
          <a:p>
            <a:pPr lvl="1"/>
            <a:r>
              <a:rPr lang="ru-RU" dirty="0"/>
              <a:t>подтверждаем раньше, чем обработали</a:t>
            </a:r>
          </a:p>
          <a:p>
            <a:pPr lvl="1"/>
            <a:r>
              <a:rPr lang="ru-RU" dirty="0"/>
              <a:t>уменьшаем задержки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данные могут быть ещё не </a:t>
            </a:r>
            <a:r>
              <a:rPr lang="ru-RU" dirty="0" err="1"/>
              <a:t>инвалидированы</a:t>
            </a:r>
            <a:endParaRPr lang="ru-RU" dirty="0"/>
          </a:p>
          <a:p>
            <a:pPr lvl="1"/>
            <a:r>
              <a:rPr lang="ru-RU" dirty="0"/>
              <a:t>но уже считается, что всё “</a:t>
            </a:r>
            <a:r>
              <a:rPr lang="ru-RU" dirty="0" err="1"/>
              <a:t>ок</a:t>
            </a:r>
            <a:r>
              <a:rPr lang="ru-RU" dirty="0"/>
              <a:t>”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20E79F-E0B5-DF21-7773-5F3DB39816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54005" y="1825625"/>
            <a:ext cx="4217990" cy="4351338"/>
          </a:xfrm>
        </p:spPr>
      </p:pic>
    </p:spTree>
    <p:extLst>
      <p:ext uri="{BB962C8B-B14F-4D97-AF65-F5344CB8AC3E}">
        <p14:creationId xmlns:p14="http://schemas.microsoft.com/office/powerpoint/2010/main" val="183378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897460-4893-BADE-C2C1-BE252DAA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Снова нарушение согласованности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704F0-269A-2B12-42A2-5E13CFED3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0375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Ожидание: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b == 1, </a:t>
            </a:r>
            <a:r>
              <a:rPr lang="ru-RU" dirty="0"/>
              <a:t>то </a:t>
            </a:r>
            <a:r>
              <a:rPr lang="en-US" dirty="0"/>
              <a:t>a == 1</a:t>
            </a:r>
          </a:p>
          <a:p>
            <a:r>
              <a:rPr lang="ru-RU" dirty="0"/>
              <a:t>Реальность:</a:t>
            </a:r>
          </a:p>
          <a:p>
            <a:pPr lvl="1"/>
            <a:r>
              <a:rPr lang="en-US" dirty="0"/>
              <a:t>assert </a:t>
            </a:r>
            <a:r>
              <a:rPr lang="ru-RU" dirty="0"/>
              <a:t>всё ещё может сработать</a:t>
            </a:r>
          </a:p>
          <a:p>
            <a:r>
              <a:rPr lang="ru-RU" dirty="0"/>
              <a:t>Причины:</a:t>
            </a:r>
          </a:p>
          <a:p>
            <a:pPr lvl="1"/>
            <a:r>
              <a:rPr lang="en-US" dirty="0"/>
              <a:t>a = 1 → </a:t>
            </a:r>
            <a:r>
              <a:rPr lang="ru-RU" dirty="0"/>
              <a:t>в </a:t>
            </a:r>
            <a:r>
              <a:rPr lang="en-US" dirty="0"/>
              <a:t>store buffer </a:t>
            </a:r>
          </a:p>
          <a:p>
            <a:pPr lvl="1"/>
            <a:r>
              <a:rPr lang="en-US" dirty="0"/>
              <a:t>CPU 1 </a:t>
            </a:r>
            <a:r>
              <a:rPr lang="ru-RU" dirty="0"/>
              <a:t>получает </a:t>
            </a:r>
            <a:r>
              <a:rPr lang="en-US" dirty="0"/>
              <a:t>Invalidate(a)</a:t>
            </a:r>
            <a:r>
              <a:rPr lang="ru-RU" dirty="0"/>
              <a:t> и</a:t>
            </a:r>
            <a:r>
              <a:rPr lang="en-US" dirty="0"/>
              <a:t> </a:t>
            </a:r>
            <a:r>
              <a:rPr lang="ru-RU" dirty="0"/>
              <a:t>кладёт в </a:t>
            </a:r>
            <a:r>
              <a:rPr lang="en-US" dirty="0"/>
              <a:t>invalidate queue </a:t>
            </a:r>
          </a:p>
          <a:p>
            <a:pPr lvl="1"/>
            <a:r>
              <a:rPr lang="ru-RU" dirty="0"/>
              <a:t>сразу отправляет </a:t>
            </a:r>
            <a:r>
              <a:rPr lang="en-US" dirty="0"/>
              <a:t>Ack </a:t>
            </a:r>
          </a:p>
          <a:p>
            <a:pPr lvl="1"/>
            <a:r>
              <a:rPr lang="ru-RU" dirty="0"/>
              <a:t>но всё ещё хранит </a:t>
            </a:r>
            <a:r>
              <a:rPr lang="en-US" dirty="0"/>
              <a:t>a = 0 </a:t>
            </a:r>
          </a:p>
          <a:p>
            <a:r>
              <a:rPr lang="ru-RU" dirty="0"/>
              <a:t>Итог:</a:t>
            </a:r>
          </a:p>
          <a:p>
            <a:pPr lvl="1"/>
            <a:r>
              <a:rPr lang="ru-RU" dirty="0"/>
              <a:t>подтверждение ≠ применение</a:t>
            </a:r>
          </a:p>
          <a:p>
            <a:pPr lvl="1"/>
            <a:r>
              <a:rPr lang="ru-RU" dirty="0"/>
              <a:t>порядок всё ещё может нарушаться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2006D-5A0F-DF71-FB07-BE3F409F3348}"/>
              </a:ext>
            </a:extLst>
          </p:cNvPr>
          <p:cNvSpPr txBox="1"/>
          <p:nvPr/>
        </p:nvSpPr>
        <p:spPr>
          <a:xfrm>
            <a:off x="7830589" y="1825625"/>
            <a:ext cx="39734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Изначально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равны 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CPU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smp_mb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CPU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(b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3758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4359-0F44-42C3-DFEA-EBEDBEC5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A9A8C2-B2A9-6E88-F5A1-CE8063CB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Добавляем еще один барьер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16BE71-5531-9908-A533-A3A91F31A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6363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Что изменилось:</a:t>
            </a:r>
          </a:p>
          <a:p>
            <a:pPr lvl="1"/>
            <a:r>
              <a:rPr lang="ru-RU" dirty="0"/>
              <a:t>добавили барьер на чтении</a:t>
            </a:r>
          </a:p>
          <a:p>
            <a:r>
              <a:rPr lang="ru-RU" dirty="0"/>
              <a:t>Что теперь происходит:</a:t>
            </a:r>
          </a:p>
          <a:p>
            <a:pPr lvl="1"/>
            <a:r>
              <a:rPr lang="ru-RU" dirty="0"/>
              <a:t>ждём, пока обработаются </a:t>
            </a:r>
            <a:r>
              <a:rPr lang="ru-RU" dirty="0" err="1"/>
              <a:t>invalidate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читаем только актуальные данные </a:t>
            </a:r>
          </a:p>
          <a:p>
            <a:r>
              <a:rPr lang="ru-RU" dirty="0"/>
              <a:t>Результат:</a:t>
            </a:r>
          </a:p>
          <a:p>
            <a:pPr lvl="1"/>
            <a:r>
              <a:rPr lang="ru-RU" dirty="0"/>
              <a:t>b == 1 ⇒ a == 1</a:t>
            </a:r>
          </a:p>
          <a:p>
            <a:pPr lvl="1"/>
            <a:r>
              <a:rPr lang="ru-RU" dirty="0" err="1"/>
              <a:t>assert</a:t>
            </a:r>
            <a:r>
              <a:rPr lang="ru-RU" dirty="0"/>
              <a:t> больше не ломается</a:t>
            </a:r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порядок гарантируется с обеих сторон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F62C4-D160-3AAC-B16B-B67D0304EDAF}"/>
              </a:ext>
            </a:extLst>
          </p:cNvPr>
          <p:cNvSpPr txBox="1"/>
          <p:nvPr/>
        </p:nvSpPr>
        <p:spPr>
          <a:xfrm>
            <a:off x="7165571" y="1880249"/>
            <a:ext cx="40453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Изначально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 и b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равны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CPU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smp_mb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CPU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(b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buNone/>
            </a:pP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smp_mb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assert(a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6555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2C6E-293C-9855-8356-B0D1B688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Легкие барьеры: чтение и запись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029FD-2B69-F9DE-24D5-2428B0D15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Полный барьер (</a:t>
            </a:r>
            <a:r>
              <a:rPr lang="en-US" dirty="0" err="1"/>
              <a:t>smp_mb</a:t>
            </a:r>
            <a:r>
              <a:rPr lang="en-US" dirty="0"/>
              <a:t>):</a:t>
            </a:r>
            <a:endParaRPr lang="ru-RU" dirty="0"/>
          </a:p>
          <a:p>
            <a:pPr lvl="1"/>
            <a:r>
              <a:rPr lang="ru-RU" dirty="0"/>
              <a:t>упорядочивает всё, но это дорого</a:t>
            </a:r>
          </a:p>
          <a:p>
            <a:r>
              <a:rPr lang="ru-RU" dirty="0"/>
              <a:t>Оптимизация:</a:t>
            </a:r>
          </a:p>
          <a:p>
            <a:pPr lvl="1"/>
            <a:r>
              <a:rPr lang="ru-RU" dirty="0"/>
              <a:t>используем частичные барьеры</a:t>
            </a:r>
          </a:p>
          <a:p>
            <a:r>
              <a:rPr lang="en-US" dirty="0"/>
              <a:t>Read Barrier (</a:t>
            </a:r>
            <a:r>
              <a:rPr lang="en-US" dirty="0" err="1"/>
              <a:t>smp_rmb</a:t>
            </a:r>
            <a:r>
              <a:rPr lang="en-US" dirty="0"/>
              <a:t>):</a:t>
            </a:r>
          </a:p>
          <a:p>
            <a:pPr lvl="1"/>
            <a:r>
              <a:rPr lang="ru-RU" dirty="0"/>
              <a:t>упорядочивает чтения</a:t>
            </a:r>
          </a:p>
          <a:p>
            <a:pPr lvl="1"/>
            <a:r>
              <a:rPr lang="ru-RU" dirty="0"/>
              <a:t>дожидается обработки </a:t>
            </a:r>
            <a:r>
              <a:rPr lang="en-US" dirty="0"/>
              <a:t>invalidate queue</a:t>
            </a:r>
          </a:p>
          <a:p>
            <a:r>
              <a:rPr lang="en-US" dirty="0"/>
              <a:t>Write Barrier (</a:t>
            </a:r>
            <a:r>
              <a:rPr lang="en-US" dirty="0" err="1"/>
              <a:t>smp_wmb</a:t>
            </a:r>
            <a:r>
              <a:rPr lang="en-US" dirty="0"/>
              <a:t>):</a:t>
            </a:r>
          </a:p>
          <a:p>
            <a:pPr lvl="1"/>
            <a:r>
              <a:rPr lang="ru-RU" dirty="0"/>
              <a:t>упорядочивает записи</a:t>
            </a:r>
          </a:p>
          <a:p>
            <a:pPr lvl="1"/>
            <a:r>
              <a:rPr lang="ru-RU" dirty="0"/>
              <a:t>контролирует </a:t>
            </a:r>
            <a:r>
              <a:rPr lang="en-US" dirty="0"/>
              <a:t>store buffer</a:t>
            </a:r>
          </a:p>
          <a:p>
            <a:r>
              <a:rPr lang="ru-RU" dirty="0"/>
              <a:t>Идея:</a:t>
            </a:r>
          </a:p>
          <a:p>
            <a:pPr lvl="1"/>
            <a:r>
              <a:rPr lang="ru-RU" dirty="0"/>
              <a:t>используем минимально достаточный барьер</a:t>
            </a:r>
          </a:p>
          <a:p>
            <a:pPr lvl="1"/>
            <a:r>
              <a:rPr lang="ru-RU" dirty="0"/>
              <a:t>меньше синхронизации → выше производительность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151696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C69C-1B98-06EA-0076-E2C45372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Read/Write </a:t>
            </a:r>
            <a:r>
              <a:rPr lang="ru-RU" dirty="0"/>
              <a:t>барьеры на практике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D9577-6AEF-9D69-FFC2-B7819C643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3996" cy="4351338"/>
          </a:xfrm>
        </p:spPr>
        <p:txBody>
          <a:bodyPr>
            <a:normAutofit fontScale="92500"/>
          </a:bodyPr>
          <a:lstStyle/>
          <a:p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Barrier</a:t>
            </a:r>
            <a:r>
              <a:rPr lang="ru-RU" dirty="0"/>
              <a:t> (</a:t>
            </a:r>
            <a:r>
              <a:rPr lang="ru-RU" dirty="0" err="1"/>
              <a:t>smp_rmb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упорядочивает чтения</a:t>
            </a:r>
          </a:p>
          <a:p>
            <a:pPr lvl="1"/>
            <a:r>
              <a:rPr lang="ru-RU" dirty="0"/>
              <a:t>чтения </a:t>
            </a:r>
            <a:r>
              <a:rPr lang="ru-RU" i="1" dirty="0"/>
              <a:t>до</a:t>
            </a:r>
            <a:r>
              <a:rPr lang="ru-RU" dirty="0"/>
              <a:t> барьера завершаются</a:t>
            </a:r>
          </a:p>
          <a:p>
            <a:pPr lvl="1"/>
            <a:r>
              <a:rPr lang="ru-RU" dirty="0"/>
              <a:t>затем выполняются чтения </a:t>
            </a:r>
            <a:r>
              <a:rPr lang="ru-RU" i="1" dirty="0"/>
              <a:t>после</a:t>
            </a:r>
            <a:endParaRPr lang="ru-RU" dirty="0"/>
          </a:p>
          <a:p>
            <a:r>
              <a:rPr lang="ru-RU" dirty="0" err="1"/>
              <a:t>Write</a:t>
            </a:r>
            <a:r>
              <a:rPr lang="ru-RU" dirty="0"/>
              <a:t> </a:t>
            </a:r>
            <a:r>
              <a:rPr lang="ru-RU" dirty="0" err="1"/>
              <a:t>Barrier</a:t>
            </a:r>
            <a:r>
              <a:rPr lang="ru-RU" dirty="0"/>
              <a:t> (</a:t>
            </a:r>
            <a:r>
              <a:rPr lang="ru-RU" dirty="0" err="1"/>
              <a:t>smp_wmb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упорядочивает записи</a:t>
            </a:r>
          </a:p>
          <a:p>
            <a:pPr lvl="1"/>
            <a:r>
              <a:rPr lang="ru-RU" dirty="0"/>
              <a:t>записи </a:t>
            </a:r>
            <a:r>
              <a:rPr lang="ru-RU" i="1" dirty="0"/>
              <a:t>до</a:t>
            </a:r>
            <a:r>
              <a:rPr lang="ru-RU" dirty="0"/>
              <a:t> барьера становятся видимыми</a:t>
            </a:r>
          </a:p>
          <a:p>
            <a:pPr lvl="1"/>
            <a:r>
              <a:rPr lang="ru-RU" dirty="0"/>
              <a:t>затем выполняются записи </a:t>
            </a:r>
            <a:r>
              <a:rPr lang="ru-RU" i="1" dirty="0"/>
              <a:t>после</a:t>
            </a:r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запись “публикуется” через </a:t>
            </a:r>
            <a:r>
              <a:rPr lang="ru-RU" dirty="0" err="1"/>
              <a:t>wmb</a:t>
            </a:r>
            <a:endParaRPr lang="ru-RU" dirty="0"/>
          </a:p>
          <a:p>
            <a:pPr lvl="1"/>
            <a:r>
              <a:rPr lang="ru-RU" dirty="0"/>
              <a:t>чтение “наблюдает” через </a:t>
            </a:r>
            <a:r>
              <a:rPr lang="ru-RU" dirty="0" err="1"/>
              <a:t>rmb</a:t>
            </a:r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9A63B-7A95-78C4-0560-4A69B482D271}"/>
              </a:ext>
            </a:extLst>
          </p:cNvPr>
          <p:cNvSpPr txBox="1"/>
          <p:nvPr/>
        </p:nvSpPr>
        <p:spPr>
          <a:xfrm>
            <a:off x="7182196" y="1825625"/>
            <a:ext cx="47271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smp_wmb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сначала пишем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(b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smp_rmb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потом читаем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18248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407C9-6674-836B-CA7F-1DD1B1AF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барьеров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4E251-F738-EFF9-8DD7-6D7A9D9A0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4985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Идея:</a:t>
            </a:r>
          </a:p>
          <a:p>
            <a:pPr lvl="1"/>
            <a:r>
              <a:rPr lang="en-US" dirty="0"/>
              <a:t>Operation1;</a:t>
            </a:r>
            <a:br>
              <a:rPr lang="en-US" dirty="0"/>
            </a:br>
            <a:r>
              <a:rPr lang="en-US" dirty="0"/>
              <a:t>Barrier;</a:t>
            </a:r>
            <a:br>
              <a:rPr lang="en-US" dirty="0"/>
            </a:br>
            <a:r>
              <a:rPr lang="en-US" dirty="0"/>
              <a:t>Operation2;</a:t>
            </a:r>
          </a:p>
          <a:p>
            <a:pPr lvl="1"/>
            <a:r>
              <a:rPr lang="ru-RU" dirty="0"/>
              <a:t>барьер запрещает “перемешивание” операций</a:t>
            </a:r>
          </a:p>
          <a:p>
            <a:r>
              <a:rPr lang="en-US" dirty="0"/>
              <a:t>4 </a:t>
            </a:r>
            <a:r>
              <a:rPr lang="ru-RU" dirty="0"/>
              <a:t>типа барьеров:</a:t>
            </a:r>
          </a:p>
          <a:p>
            <a:pPr lvl="1"/>
            <a:r>
              <a:rPr lang="en-US" dirty="0"/>
              <a:t>Load → Load: </a:t>
            </a:r>
            <a:r>
              <a:rPr lang="ru-RU" dirty="0"/>
              <a:t>чтения не переупорядочиваются</a:t>
            </a:r>
          </a:p>
          <a:p>
            <a:pPr lvl="1"/>
            <a:r>
              <a:rPr lang="en-US" dirty="0"/>
              <a:t>Store → Store: </a:t>
            </a:r>
            <a:r>
              <a:rPr lang="ru-RU" dirty="0"/>
              <a:t>записи не переупорядочиваются</a:t>
            </a:r>
          </a:p>
          <a:p>
            <a:pPr lvl="1"/>
            <a:r>
              <a:rPr lang="en-US" dirty="0"/>
              <a:t>Load → Store: </a:t>
            </a:r>
            <a:r>
              <a:rPr lang="ru-RU" dirty="0"/>
              <a:t>запись не “обгоняет” чтение</a:t>
            </a:r>
          </a:p>
          <a:p>
            <a:pPr lvl="1"/>
            <a:r>
              <a:rPr lang="en-US" dirty="0"/>
              <a:t>Store → Load: </a:t>
            </a:r>
            <a:r>
              <a:rPr lang="ru-RU" dirty="0"/>
              <a:t>чтение не “обгоняет” запись</a:t>
            </a:r>
          </a:p>
          <a:p>
            <a:pPr lvl="2"/>
            <a:r>
              <a:rPr lang="en-US" dirty="0"/>
              <a:t> </a:t>
            </a:r>
            <a:r>
              <a:rPr lang="ru-RU" dirty="0"/>
              <a:t>самый дорогой барьер</a:t>
            </a:r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барьеры ограничивают </a:t>
            </a:r>
            <a:r>
              <a:rPr lang="en-US" dirty="0"/>
              <a:t>reordering</a:t>
            </a:r>
            <a:endParaRPr lang="ru-RU" dirty="0"/>
          </a:p>
          <a:p>
            <a:pPr lvl="1"/>
            <a:r>
              <a:rPr lang="ru-RU" dirty="0"/>
              <a:t>выбираем минимально достаточный</a:t>
            </a:r>
          </a:p>
          <a:p>
            <a:endParaRPr lang="ru-RU" dirty="0"/>
          </a:p>
          <a:p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FFDB8C-301B-E443-C896-BEAEE2DF0367}"/>
              </a:ext>
            </a:extLst>
          </p:cNvPr>
          <p:cNvGrpSpPr/>
          <p:nvPr/>
        </p:nvGrpSpPr>
        <p:grpSpPr>
          <a:xfrm>
            <a:off x="7215447" y="1960035"/>
            <a:ext cx="4442922" cy="3909348"/>
            <a:chOff x="3009900" y="1953974"/>
            <a:chExt cx="6121400" cy="41005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76B508-7110-ED18-8D80-129C1177E7C5}"/>
                </a:ext>
              </a:extLst>
            </p:cNvPr>
            <p:cNvSpPr/>
            <p:nvPr/>
          </p:nvSpPr>
          <p:spPr>
            <a:xfrm>
              <a:off x="3314700" y="2641600"/>
              <a:ext cx="2336800" cy="10287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0070C0"/>
                  </a:solidFill>
                </a:rPr>
                <a:t>Load</a:t>
              </a:r>
              <a:r>
                <a:rPr lang="en-US" sz="2000" dirty="0">
                  <a:solidFill>
                    <a:schemeClr val="tx1"/>
                  </a:solidFill>
                </a:rPr>
                <a:t> | </a:t>
              </a:r>
              <a:r>
                <a:rPr lang="en-US" sz="2000" dirty="0">
                  <a:solidFill>
                    <a:srgbClr val="0070C0"/>
                  </a:solidFill>
                </a:rPr>
                <a:t>Load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C67745-8766-8E72-9A4A-EFAB083C699F}"/>
                </a:ext>
              </a:extLst>
            </p:cNvPr>
            <p:cNvSpPr/>
            <p:nvPr/>
          </p:nvSpPr>
          <p:spPr>
            <a:xfrm>
              <a:off x="6515100" y="2641600"/>
              <a:ext cx="2336800" cy="10287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0070C0"/>
                  </a:solidFill>
                </a:rPr>
                <a:t>Load</a:t>
              </a:r>
              <a:r>
                <a:rPr lang="en-US" sz="2000" dirty="0"/>
                <a:t> | </a:t>
              </a:r>
              <a:r>
                <a:rPr lang="en-US" sz="2000" dirty="0">
                  <a:solidFill>
                    <a:srgbClr val="FF0000"/>
                  </a:solidFill>
                </a:rPr>
                <a:t>Store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9BAC14-5122-5404-8E15-6ACD33731ACA}"/>
                </a:ext>
              </a:extLst>
            </p:cNvPr>
            <p:cNvSpPr/>
            <p:nvPr/>
          </p:nvSpPr>
          <p:spPr>
            <a:xfrm>
              <a:off x="3314700" y="4325938"/>
              <a:ext cx="2336800" cy="10287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Store</a:t>
              </a:r>
              <a:r>
                <a:rPr lang="en-US" sz="2000" dirty="0"/>
                <a:t> | </a:t>
              </a:r>
              <a:r>
                <a:rPr lang="en-US" sz="2000" dirty="0">
                  <a:solidFill>
                    <a:srgbClr val="0070C0"/>
                  </a:solidFill>
                </a:rPr>
                <a:t>Load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A906F3-1E6E-D09E-886C-CE0E8A461CD6}"/>
                </a:ext>
              </a:extLst>
            </p:cNvPr>
            <p:cNvSpPr/>
            <p:nvPr/>
          </p:nvSpPr>
          <p:spPr>
            <a:xfrm>
              <a:off x="6515100" y="4354512"/>
              <a:ext cx="2336800" cy="10287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Store</a:t>
              </a:r>
              <a:r>
                <a:rPr lang="en-US" sz="2000" dirty="0"/>
                <a:t> | </a:t>
              </a:r>
              <a:r>
                <a:rPr lang="en-US" sz="2000" dirty="0">
                  <a:solidFill>
                    <a:srgbClr val="FF0000"/>
                  </a:solidFill>
                </a:rPr>
                <a:t>Store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C93BD2-EA86-5CE6-695A-4EF7E2DFE126}"/>
                </a:ext>
              </a:extLst>
            </p:cNvPr>
            <p:cNvSpPr/>
            <p:nvPr/>
          </p:nvSpPr>
          <p:spPr>
            <a:xfrm>
              <a:off x="3009900" y="2409826"/>
              <a:ext cx="6121400" cy="14335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684D77-5CF5-0E21-4DA0-D338B91BD386}"/>
                </a:ext>
              </a:extLst>
            </p:cNvPr>
            <p:cNvSpPr/>
            <p:nvPr/>
          </p:nvSpPr>
          <p:spPr>
            <a:xfrm>
              <a:off x="6375400" y="2236788"/>
              <a:ext cx="2603500" cy="33639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B4827F-A72D-99DC-6D82-B03C902AEBF8}"/>
                </a:ext>
              </a:extLst>
            </p:cNvPr>
            <p:cNvSpPr txBox="1"/>
            <p:nvPr/>
          </p:nvSpPr>
          <p:spPr>
            <a:xfrm>
              <a:off x="3009900" y="1953974"/>
              <a:ext cx="3365500" cy="387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Acquire-</a:t>
              </a:r>
              <a:r>
                <a:rPr lang="ru-RU" dirty="0">
                  <a:solidFill>
                    <a:srgbClr val="0070C0"/>
                  </a:solidFill>
                </a:rPr>
                <a:t>семантика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0ECAF7-B4E1-07DA-C831-457FF306CC32}"/>
                </a:ext>
              </a:extLst>
            </p:cNvPr>
            <p:cNvSpPr txBox="1"/>
            <p:nvPr/>
          </p:nvSpPr>
          <p:spPr>
            <a:xfrm>
              <a:off x="5651499" y="5667158"/>
              <a:ext cx="3111500" cy="387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Release-</a:t>
              </a:r>
              <a:r>
                <a:rPr lang="ru-RU" dirty="0">
                  <a:solidFill>
                    <a:srgbClr val="FF0000"/>
                  </a:solidFill>
                </a:rPr>
                <a:t>семантика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7853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7214-E625-66AA-AF7F-DF811798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почему так всё сложно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2B669-93DF-410E-C3E5-DEA2C5D60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Процессоры работают значительно быстрее памяти, поэтому используются многоуровневые кэши</a:t>
            </a:r>
          </a:p>
          <a:p>
            <a:r>
              <a:rPr lang="ru-RU" dirty="0"/>
              <a:t>Кэши ускоряют доступ, но усложняют согласованность данных</a:t>
            </a:r>
          </a:p>
          <a:p>
            <a:pPr lvl="1"/>
            <a:r>
              <a:rPr lang="ru-RU" dirty="0"/>
              <a:t>требуется протокол когерентности (MESI)</a:t>
            </a:r>
          </a:p>
          <a:p>
            <a:r>
              <a:rPr lang="ru-RU" dirty="0"/>
              <a:t>Оптимизации процессора (</a:t>
            </a:r>
            <a:r>
              <a:rPr lang="ru-RU" dirty="0" err="1"/>
              <a:t>store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, </a:t>
            </a:r>
            <a:r>
              <a:rPr lang="ru-RU" dirty="0" err="1"/>
              <a:t>invalidate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, переупорядочивание операций) могут нарушать ожидаемый порядок выполнения</a:t>
            </a:r>
          </a:p>
          <a:p>
            <a:r>
              <a:rPr lang="ru-RU" dirty="0"/>
              <a:t>Для управления порядком используются барьеры памяти:</a:t>
            </a:r>
          </a:p>
          <a:p>
            <a:pPr lvl="1"/>
            <a:r>
              <a:rPr lang="ru-RU" dirty="0" err="1"/>
              <a:t>full</a:t>
            </a:r>
            <a:r>
              <a:rPr lang="ru-RU" dirty="0"/>
              <a:t> </a:t>
            </a:r>
            <a:r>
              <a:rPr lang="ru-RU" dirty="0" err="1"/>
              <a:t>barrier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acquire</a:t>
            </a:r>
            <a:r>
              <a:rPr lang="ru-RU" dirty="0"/>
              <a:t> / </a:t>
            </a:r>
            <a:r>
              <a:rPr lang="ru-RU" dirty="0" err="1"/>
              <a:t>release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read</a:t>
            </a:r>
            <a:r>
              <a:rPr lang="ru-RU" dirty="0"/>
              <a:t> / </a:t>
            </a:r>
            <a:r>
              <a:rPr lang="ru-RU" dirty="0" err="1"/>
              <a:t>write</a:t>
            </a:r>
            <a:r>
              <a:rPr lang="ru-RU" dirty="0"/>
              <a:t> </a:t>
            </a:r>
            <a:r>
              <a:rPr lang="ru-RU" dirty="0" err="1"/>
              <a:t>barriers</a:t>
            </a:r>
            <a:r>
              <a:rPr lang="ru-RU" dirty="0"/>
              <a:t> </a:t>
            </a:r>
          </a:p>
          <a:p>
            <a:r>
              <a:rPr lang="ru-RU" dirty="0"/>
              <a:t>Производительность</a:t>
            </a:r>
            <a:r>
              <a:rPr lang="en-US" dirty="0"/>
              <a:t> vs</a:t>
            </a:r>
            <a:r>
              <a:rPr lang="ru-RU" dirty="0"/>
              <a:t> предсказуемость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091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A5F2-8E48-CE68-098E-97BD444C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0341-E35E-08A7-47CB-C35363D04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Williams Anthony, “C++ Concurrency in Action, 2</a:t>
            </a:r>
            <a:r>
              <a:rPr lang="en-US" baseline="30000" dirty="0"/>
              <a:t>nd</a:t>
            </a:r>
            <a:r>
              <a:rPr lang="en-US" dirty="0"/>
              <a:t> Edition”</a:t>
            </a:r>
            <a:endParaRPr lang="ru-RU" dirty="0"/>
          </a:p>
          <a:p>
            <a:r>
              <a:rPr lang="en-US" dirty="0"/>
              <a:t>Maurice Herlihy, Nir Shavit “The Art of Multiprocessor Programming”</a:t>
            </a:r>
          </a:p>
          <a:p>
            <a:r>
              <a:rPr lang="en-US" dirty="0"/>
              <a:t>Lock-free </a:t>
            </a:r>
            <a:r>
              <a:rPr lang="ru-RU" dirty="0"/>
              <a:t>структуры данных. Откуда пошли быть барьеры памяти</a:t>
            </a:r>
          </a:p>
          <a:p>
            <a:pPr lvl="1"/>
            <a:r>
              <a:rPr lang="en-US" dirty="0">
                <a:hlinkClick r:id="rId2"/>
              </a:rPr>
              <a:t>Memory Barriers: a Hardware View for Software Hackers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37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8A16-D3F9-CF1C-55F9-85E43B6F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20E6-49CD-914B-5655-ECC3ECF4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9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12192</TotalTime>
  <Words>7565</Words>
  <Application>Microsoft Office PowerPoint</Application>
  <PresentationFormat>Widescreen</PresentationFormat>
  <Paragraphs>1337</Paragraphs>
  <Slides>50</Slides>
  <Notes>47</Notes>
  <HiddenSlides>10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-apple-system</vt:lpstr>
      <vt:lpstr>Aptos</vt:lpstr>
      <vt:lpstr>Aptos Display</vt:lpstr>
      <vt:lpstr>Arial</vt:lpstr>
      <vt:lpstr>Consolas</vt:lpstr>
      <vt:lpstr>Google Sans</vt:lpstr>
      <vt:lpstr>Office Theme</vt:lpstr>
      <vt:lpstr>Согласованность памяти в многопроцессорных системах</vt:lpstr>
      <vt:lpstr>Доступ к памяти и производительность</vt:lpstr>
      <vt:lpstr>PowerPoint Presentation</vt:lpstr>
      <vt:lpstr>Многоуровневая система памяти компьютера</vt:lpstr>
      <vt:lpstr>Упрощённая схема памяти</vt:lpstr>
      <vt:lpstr>Как данные попадают в кэш</vt:lpstr>
      <vt:lpstr>Политики размещения данных в кэш-памяти</vt:lpstr>
      <vt:lpstr>Direct-mapped cache</vt:lpstr>
      <vt:lpstr>Fully-associative cache</vt:lpstr>
      <vt:lpstr>Набор-ассоциативный кэш</vt:lpstr>
      <vt:lpstr>Сравнение политик размещения</vt:lpstr>
      <vt:lpstr>Обмен данными между кэшем и памятью</vt:lpstr>
      <vt:lpstr>PowerPoint Presentation</vt:lpstr>
      <vt:lpstr>PowerPoint Presentation</vt:lpstr>
      <vt:lpstr>PowerPoint Presentation</vt:lpstr>
      <vt:lpstr>PowerPoint Presentation</vt:lpstr>
      <vt:lpstr>Что происходит при записи?</vt:lpstr>
      <vt:lpstr>Протокол MESI</vt:lpstr>
      <vt:lpstr>Протокол когерентности кэшей MESI</vt:lpstr>
      <vt:lpstr>Протокол MESI</vt:lpstr>
      <vt:lpstr>Состояния MESI</vt:lpstr>
      <vt:lpstr>Как работает MESI</vt:lpstr>
      <vt:lpstr>Как общаются кэши ядер?</vt:lpstr>
      <vt:lpstr>Переход M→E (write back)</vt:lpstr>
      <vt:lpstr>Переход E→M (локальная запись)</vt:lpstr>
      <vt:lpstr>Переход M→I (передача данных другому ядру)</vt:lpstr>
      <vt:lpstr>Переход I→M (захват владения)</vt:lpstr>
      <vt:lpstr>Переход S→M (дорогая запись)</vt:lpstr>
      <vt:lpstr>Переход M→S (разделение данных)</vt:lpstr>
      <vt:lpstr>Переход E→S (данные становятся общими)</vt:lpstr>
      <vt:lpstr>Переход S→E (получение эксклюзивности)</vt:lpstr>
      <vt:lpstr>Переход E→I (потеря владения) </vt:lpstr>
      <vt:lpstr>Переход I→E (загрузка с эксклюзивностью) </vt:lpstr>
      <vt:lpstr>Переход I→S (обычное чтение)</vt:lpstr>
      <vt:lpstr>Переход S→I (инвалидация при записи)</vt:lpstr>
      <vt:lpstr>Реальные протоколы сложнее MESI</vt:lpstr>
      <vt:lpstr>Почему первая запись дорогая</vt:lpstr>
      <vt:lpstr>Буфер записи (Store buffer)</vt:lpstr>
      <vt:lpstr>Store forwarding</vt:lpstr>
      <vt:lpstr>Нарушение порядка памяти</vt:lpstr>
      <vt:lpstr>Барьеры памяти (memory barriers)</vt:lpstr>
      <vt:lpstr>Очередь инвалидации (Invalidate Queue)</vt:lpstr>
      <vt:lpstr>Снова нарушение согласованности</vt:lpstr>
      <vt:lpstr>Добавляем еще один барьер</vt:lpstr>
      <vt:lpstr>Легкие барьеры: чтение и запись</vt:lpstr>
      <vt:lpstr>Read/Write барьеры на практике</vt:lpstr>
      <vt:lpstr>Типы барьеров памяти</vt:lpstr>
      <vt:lpstr>Итоги: почему так всё сложно?</vt:lpstr>
      <vt:lpstr>Список литературы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166</cp:revision>
  <dcterms:created xsi:type="dcterms:W3CDTF">2025-02-03T14:52:05Z</dcterms:created>
  <dcterms:modified xsi:type="dcterms:W3CDTF">2026-04-03T17:36:31Z</dcterms:modified>
</cp:coreProperties>
</file>