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95" r:id="rId2"/>
    <p:sldId id="326" r:id="rId3"/>
    <p:sldId id="296" r:id="rId4"/>
    <p:sldId id="304" r:id="rId5"/>
    <p:sldId id="305" r:id="rId6"/>
    <p:sldId id="327" r:id="rId7"/>
    <p:sldId id="328" r:id="rId8"/>
    <p:sldId id="324" r:id="rId9"/>
    <p:sldId id="325" r:id="rId10"/>
    <p:sldId id="329" r:id="rId11"/>
    <p:sldId id="30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30" r:id="rId20"/>
    <p:sldId id="307" r:id="rId21"/>
    <p:sldId id="331" r:id="rId22"/>
    <p:sldId id="309" r:id="rId23"/>
    <p:sldId id="310" r:id="rId24"/>
    <p:sldId id="308" r:id="rId25"/>
    <p:sldId id="332" r:id="rId26"/>
    <p:sldId id="333" r:id="rId27"/>
    <p:sldId id="311" r:id="rId28"/>
    <p:sldId id="312" r:id="rId29"/>
    <p:sldId id="313" r:id="rId30"/>
    <p:sldId id="314" r:id="rId31"/>
    <p:sldId id="316" r:id="rId32"/>
    <p:sldId id="317" r:id="rId33"/>
    <p:sldId id="320" r:id="rId34"/>
    <p:sldId id="334" r:id="rId35"/>
    <p:sldId id="335" r:id="rId36"/>
    <p:sldId id="315" r:id="rId37"/>
    <p:sldId id="336" r:id="rId38"/>
    <p:sldId id="286" r:id="rId39"/>
    <p:sldId id="28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295"/>
            <p14:sldId id="326"/>
            <p14:sldId id="296"/>
            <p14:sldId id="304"/>
            <p14:sldId id="305"/>
            <p14:sldId id="327"/>
            <p14:sldId id="328"/>
            <p14:sldId id="324"/>
            <p14:sldId id="325"/>
            <p14:sldId id="329"/>
            <p14:sldId id="306"/>
            <p14:sldId id="297"/>
            <p14:sldId id="298"/>
            <p14:sldId id="299"/>
            <p14:sldId id="300"/>
            <p14:sldId id="301"/>
            <p14:sldId id="302"/>
            <p14:sldId id="303"/>
            <p14:sldId id="330"/>
            <p14:sldId id="307"/>
            <p14:sldId id="331"/>
            <p14:sldId id="309"/>
            <p14:sldId id="310"/>
            <p14:sldId id="308"/>
            <p14:sldId id="332"/>
            <p14:sldId id="333"/>
            <p14:sldId id="311"/>
            <p14:sldId id="312"/>
            <p14:sldId id="313"/>
            <p14:sldId id="314"/>
            <p14:sldId id="316"/>
            <p14:sldId id="317"/>
            <p14:sldId id="320"/>
            <p14:sldId id="334"/>
            <p14:sldId id="335"/>
            <p14:sldId id="315"/>
            <p14:sldId id="336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75303" autoAdjust="0"/>
  </p:normalViewPr>
  <p:slideViewPr>
    <p:cSldViewPr snapToGrid="0" showGuides="1">
      <p:cViewPr>
        <p:scale>
          <a:sx n="66" d="100"/>
          <a:sy n="66" d="100"/>
        </p:scale>
        <p:origin x="2232" y="366"/>
      </p:cViewPr>
      <p:guideLst>
        <p:guide orient="horz" pos="2205"/>
        <p:guide pos="37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говорили, что порядок операций между потоками не гарантирован.</a:t>
            </a:r>
          </a:p>
          <a:p>
            <a:r>
              <a:rPr lang="ru-RU" dirty="0"/>
              <a:t>Теперь возникает вопрос — можно ли этим порядком управлять?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Ответ — да.</a:t>
            </a:r>
          </a:p>
          <a:p>
            <a:r>
              <a:rPr lang="ru-RU" dirty="0"/>
              <a:t>В C++ модель памяти позволяет явно задавать, какие гарантии нам нужны при работе с атомарными операциями.</a:t>
            </a:r>
          </a:p>
          <a:p>
            <a:endParaRPr lang="ru-RU" dirty="0"/>
          </a:p>
          <a:p>
            <a:r>
              <a:rPr lang="ru-RU" dirty="0"/>
              <a:t>Фактически, мы можем контролировать, как изменения распространяются между потоками и в каком порядке они наблюдаются.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6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прошлой лекции мы познакомились с атомарными переменными и говорили о том, что они обеспечивают атомарность операций.</a:t>
            </a:r>
          </a:p>
          <a:p>
            <a:endParaRPr lang="ru-RU" dirty="0"/>
          </a:p>
          <a:p>
            <a:r>
              <a:rPr lang="ru-RU" dirty="0"/>
              <a:t>Но важно понимать, что атомарность — это ещё не всё.</a:t>
            </a:r>
          </a:p>
          <a:p>
            <a:r>
              <a:rPr lang="ru-RU" dirty="0"/>
              <a:t>Атомарная операция гарантирует, что значение не будет “порвано”, но она </a:t>
            </a:r>
            <a:r>
              <a:rPr lang="ru-RU" b="1" dirty="0"/>
              <a:t>не гарантирует порядок</a:t>
            </a:r>
            <a:r>
              <a:rPr lang="ru-RU" dirty="0"/>
              <a:t>, в котором операции выполняются или наблюдаются другими потоками.</a:t>
            </a:r>
          </a:p>
          <a:p>
            <a:endParaRPr lang="ru-RU" dirty="0"/>
          </a:p>
          <a:p>
            <a:r>
              <a:rPr lang="ru-RU" dirty="0"/>
              <a:t>И здесь начинается ключевая сложность.</a:t>
            </a:r>
          </a:p>
          <a:p>
            <a:r>
              <a:rPr lang="ru-RU" dirty="0"/>
              <a:t>На самом деле порядок операций может меняться: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компилятор может переставлять инструкции ради оптимизации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процессор может переупорядочивать операции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разные ядра могут видеть изменения в разное время из-за кешей </a:t>
            </a:r>
          </a:p>
          <a:p>
            <a:endParaRPr lang="ru-RU" dirty="0"/>
          </a:p>
          <a:p>
            <a:r>
              <a:rPr lang="ru-RU" dirty="0"/>
              <a:t>В результате два потока могут наблюдать одни и те же операции, но в разном порядке.</a:t>
            </a:r>
          </a:p>
          <a:p>
            <a:endParaRPr lang="ru-RU" dirty="0"/>
          </a:p>
          <a:p>
            <a:r>
              <a:rPr lang="ru-RU" dirty="0"/>
              <a:t>И вот здесь появляется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. Это наш инструмент, чтобы сказать: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переупорядочивания допустимы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какие — нет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какие изменения должны быть гарантированно видны другим потокам </a:t>
            </a:r>
          </a:p>
          <a:p>
            <a:r>
              <a:rPr lang="ru-RU" dirty="0"/>
              <a:t>Можно думать так: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 — это способ управлять видимостью и порядком изменений между потоками.</a:t>
            </a:r>
          </a:p>
          <a:p>
            <a:endParaRPr lang="ru-RU" dirty="0"/>
          </a:p>
          <a:p>
            <a:r>
              <a:rPr lang="ru-RU" dirty="0"/>
              <a:t>И есть важный компромисс: чем больше ограничений мы накладываем — тем проще нам рассуждать о программе, но тем дороже это стоит с точки зрения производительности.</a:t>
            </a:r>
          </a:p>
          <a:p>
            <a:endParaRPr lang="ru-RU" dirty="0"/>
          </a:p>
          <a:p>
            <a:r>
              <a:rPr lang="ru-RU" dirty="0"/>
              <a:t>Дальше мы как раз посмотрим, какие уровни этих ограничений есть в C++ и чем они отличаются.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13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тем как разбирать конкретные режимы, давайте добавим немного контекста — откуда вообще всё это появилось.</a:t>
            </a:r>
          </a:p>
          <a:p>
            <a:endParaRPr lang="ru-RU" dirty="0"/>
          </a:p>
          <a:p>
            <a:r>
              <a:rPr lang="ru-RU" dirty="0"/>
              <a:t>Долгое время производители процессоров не публиковали чёткой спецификации модели памяти.</a:t>
            </a:r>
          </a:p>
          <a:p>
            <a:br>
              <a:rPr lang="ru-RU" dirty="0"/>
            </a:br>
            <a:r>
              <a:rPr lang="ru-RU" dirty="0"/>
              <a:t>Это давало им свободу оптимизировать архитектуру: менять порядок выполнения инструкций, использовать кеши, буферы — всё ради производительности.</a:t>
            </a:r>
          </a:p>
          <a:p>
            <a:endParaRPr lang="ru-RU" dirty="0"/>
          </a:p>
          <a:p>
            <a:r>
              <a:rPr lang="ru-RU" dirty="0"/>
              <a:t>Но с появлением многоядерных систем это стало проблемой.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Разработчикам операционных систем и языков программирования стало критично понимать: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гарантии даёт железо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на что можно опираться при написании многопоточного кода</a:t>
            </a:r>
          </a:p>
          <a:p>
            <a:endParaRPr lang="ru-RU" dirty="0"/>
          </a:p>
          <a:p>
            <a:r>
              <a:rPr lang="ru-RU" dirty="0"/>
              <a:t>В итоге появились формальные модели памяти: сначала в Java и .NET, затем в C++11 </a:t>
            </a:r>
          </a:p>
          <a:p>
            <a:endParaRPr lang="ru-RU" dirty="0"/>
          </a:p>
          <a:p>
            <a:r>
              <a:rPr lang="ru-RU" dirty="0"/>
              <a:t>Теперь в C++ есть </a:t>
            </a:r>
            <a:r>
              <a:rPr lang="ru-RU" b="1" dirty="0"/>
              <a:t>строго определённая модель памяти</a:t>
            </a:r>
            <a:r>
              <a:rPr lang="ru-RU" dirty="0"/>
              <a:t>, заданная стандартом. Внутри неё мы управляем </a:t>
            </a:r>
            <a:r>
              <a:rPr lang="ru-RU" b="1" dirty="0"/>
              <a:t>порядком операций</a:t>
            </a:r>
            <a:endParaRPr lang="ru-RU" dirty="0"/>
          </a:p>
          <a:p>
            <a:endParaRPr lang="ru-RU" dirty="0"/>
          </a:p>
          <a:p>
            <a:r>
              <a:rPr lang="ru-RU" dirty="0"/>
              <a:t>Этот порядок задаётся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, и он указывается </a:t>
            </a:r>
            <a:r>
              <a:rPr lang="ru-RU" b="1" dirty="0"/>
              <a:t>для каждой атомарной операции отдельно</a:t>
            </a:r>
            <a:r>
              <a:rPr lang="ru-RU" dirty="0"/>
              <a:t>. Мы выбираем, какие гарантии нам нужны в конкретном месте.</a:t>
            </a:r>
          </a:p>
          <a:p>
            <a:r>
              <a:rPr lang="ru-RU" dirty="0"/>
              <a:t>В C++ есть несколько уровней строгости этих гарантий.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Самый строгий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. Он задаёт единый глобальный порядок всех операций — максимально просто для понимания, но дорого.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Дальше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. Он позволяет синхронизировать потоки без глобального порядка.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самый слабый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. Он даёт только атомарность, без каких-либо гарантий порядка.</a:t>
            </a:r>
          </a:p>
          <a:p>
            <a:endParaRPr lang="ru-RU" dirty="0"/>
          </a:p>
          <a:p>
            <a:r>
              <a:rPr lang="ru-RU" dirty="0"/>
              <a:t>И ключевая идея здесь: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мы можем выбирать уровень строгости для каждой операции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тем самым управлять балансом между корректностью и производительностью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1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всё это выглядит на уровне кода.</a:t>
            </a:r>
          </a:p>
          <a:p>
            <a:r>
              <a:rPr lang="ru-RU" dirty="0"/>
              <a:t>Перед нами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здесь есть очень важное наблюдение:  практически каждая операция принимает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endParaRPr lang="ru-RU" dirty="0"/>
          </a:p>
          <a:p>
            <a:endParaRPr lang="ru-RU" dirty="0"/>
          </a:p>
          <a:p>
            <a:r>
              <a:rPr lang="ru-RU" dirty="0"/>
              <a:t>То есть порядок доступа к памяти — это не что-то глобальное,</a:t>
            </a:r>
            <a:br>
              <a:rPr lang="ru-RU" dirty="0"/>
            </a:br>
            <a:r>
              <a:rPr lang="ru-RU" dirty="0"/>
              <a:t>а то, что мы указываем </a:t>
            </a:r>
            <a:r>
              <a:rPr lang="ru-RU" b="1" dirty="0"/>
              <a:t>прямо в каждой операции</a:t>
            </a:r>
            <a:r>
              <a:rPr lang="ru-RU" dirty="0"/>
              <a:t>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</a:t>
            </a:r>
            <a:r>
              <a:rPr lang="ru-RU" dirty="0"/>
              <a:t> — как мы “публикуем” значение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dirty="0"/>
              <a:t> — какие гарантии хотим при чтении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 — какие гарантии нужны при успешном и неуспешном сравнении </a:t>
            </a:r>
          </a:p>
          <a:p>
            <a:endParaRPr lang="ru-RU" dirty="0"/>
          </a:p>
          <a:p>
            <a:r>
              <a:rPr lang="ru-RU" dirty="0"/>
              <a:t>Это и есть основной инструмент управления видимостью и порядком между потоками.</a:t>
            </a:r>
          </a:p>
          <a:p>
            <a:r>
              <a:rPr lang="ru-RU" dirty="0"/>
              <a:t>По сути, каждый раз, когда мы работаем с атомарной переменной,</a:t>
            </a:r>
            <a:br>
              <a:rPr lang="ru-RU" dirty="0"/>
            </a:br>
            <a:r>
              <a:rPr lang="ru-RU" dirty="0"/>
              <a:t>мы отвечаем на вопрос: </a:t>
            </a:r>
            <a:r>
              <a:rPr lang="ru-RU" i="1" dirty="0"/>
              <a:t>какие гарантии мне здесь нужны?</a:t>
            </a:r>
            <a:endParaRPr lang="ru-RU" dirty="0"/>
          </a:p>
          <a:p>
            <a:endParaRPr lang="ru-RU" dirty="0"/>
          </a:p>
          <a:p>
            <a:r>
              <a:rPr lang="ru-RU" dirty="0"/>
              <a:t>Если параметр не указывать,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memory_order_seq_cst</a:t>
            </a:r>
            <a:r>
              <a:rPr lang="ru-RU" dirty="0"/>
              <a:t>.</a:t>
            </a:r>
          </a:p>
          <a:p>
            <a:r>
              <a:rPr lang="ru-RU" dirty="0"/>
              <a:t>Это самый строгий режим: он даёт простой и предсказуемый порядок выполнения операций.</a:t>
            </a:r>
          </a:p>
          <a:p>
            <a:r>
              <a:rPr lang="ru-RU" dirty="0"/>
              <a:t>И это сделано специально — по умолчанию код ведёт себя максимально безопасно и понятно.</a:t>
            </a:r>
          </a:p>
          <a:p>
            <a:endParaRPr lang="ru-RU" dirty="0"/>
          </a:p>
          <a:p>
            <a:r>
              <a:rPr lang="ru-RU" dirty="0"/>
              <a:t>Но за это приходится платить производительностью.</a:t>
            </a:r>
          </a:p>
          <a:p>
            <a:endParaRPr lang="ru-RU" dirty="0"/>
          </a:p>
          <a:p>
            <a:r>
              <a:rPr lang="ru-RU" dirty="0"/>
              <a:t>Поэтому на практике часто делают так: сначала пишут код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убеждаются, что он корректен, а потом при необходимости ослабляют порядок —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дальше мы разберём, что именно означают эти режимы и какие гарантии они дают.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40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Перечисление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 задаёт, какие гарантии мы хотим получить.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 даёт только атомарность и ничего больше.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позволяют синхронизировать потоки.</a:t>
            </a:r>
          </a:p>
          <a:p>
            <a:r>
              <a:rPr lang="ru-RU" dirty="0"/>
              <a:t>Один поток “публикует” данные, другой их “захватывает”.</a:t>
            </a:r>
            <a:br>
              <a:rPr lang="ru-RU" dirty="0"/>
            </a:b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добавляет ещё более сильную гарантию — единый порядок всех операций.</a:t>
            </a:r>
          </a:p>
          <a:p>
            <a:endParaRPr lang="ru-RU" dirty="0"/>
          </a:p>
          <a:p>
            <a:r>
              <a:rPr lang="ru-RU" dirty="0"/>
              <a:t>И здесь начинается самое интересное.</a:t>
            </a:r>
          </a:p>
          <a:p>
            <a:r>
              <a:rPr lang="ru-RU" dirty="0"/>
              <a:t>Выбирая порядок памяти, мы фактически управляем тем, что могут видеть потоки и в каком порядке.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6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говорили про разные режимы памяти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Но теперь нужно ввести ключевое понятие, на котором держится вся модель памяти.</a:t>
            </a:r>
          </a:p>
          <a:p>
            <a:endParaRPr lang="ru-RU" dirty="0"/>
          </a:p>
          <a:p>
            <a:r>
              <a:rPr lang="ru-RU" dirty="0"/>
              <a:t>Это отношение </a:t>
            </a:r>
            <a:r>
              <a:rPr lang="ru-RU" b="1" dirty="0" err="1"/>
              <a:t>happens-before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Happens-before</a:t>
            </a:r>
            <a:r>
              <a:rPr lang="ru-RU" dirty="0"/>
              <a:t> — это формальная гарантия порядка и видимости в C++.</a:t>
            </a:r>
          </a:p>
          <a:p>
            <a:r>
              <a:rPr lang="ru-RU" dirty="0"/>
              <a:t>Если операция A </a:t>
            </a:r>
            <a:r>
              <a:rPr lang="ru-RU" dirty="0" err="1"/>
              <a:t>happens-before</a:t>
            </a:r>
            <a:r>
              <a:rPr lang="ru-RU" dirty="0"/>
              <a:t> операции B, это означает две вещи: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A логически происходит раньше B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все изменения памяти, сделанные в A, гарантированно будут видны в B </a:t>
            </a:r>
          </a:p>
          <a:p>
            <a:r>
              <a:rPr lang="ru-RU" dirty="0"/>
              <a:t>И это именно то, что нам нужно при синхронизации потоков.</a:t>
            </a:r>
          </a:p>
          <a:p>
            <a:endParaRPr lang="ru-RU" dirty="0"/>
          </a:p>
          <a:p>
            <a:r>
              <a:rPr lang="ru-RU" dirty="0"/>
              <a:t>Очень важно понять: </a:t>
            </a:r>
            <a:r>
              <a:rPr lang="ru-RU" dirty="0" err="1"/>
              <a:t>happens-before</a:t>
            </a:r>
            <a:r>
              <a:rPr lang="ru-RU" dirty="0"/>
              <a:t> — это единственный способ гарантировать передачу данных между потоками</a:t>
            </a:r>
          </a:p>
          <a:p>
            <a:endParaRPr lang="ru-RU" dirty="0"/>
          </a:p>
          <a:p>
            <a:r>
              <a:rPr lang="ru-RU" dirty="0"/>
              <a:t>Если этого отношения нет, то язык не даёт никаких гарантий: потоки могут видеть устаревшие или “перемешанные” значения.</a:t>
            </a:r>
          </a:p>
          <a:p>
            <a:endParaRPr lang="ru-RU" dirty="0"/>
          </a:p>
          <a:p>
            <a:r>
              <a:rPr lang="ru-RU" dirty="0"/>
              <a:t>Теперь — откуда оно берётся.</a:t>
            </a:r>
          </a:p>
          <a:p>
            <a:endParaRPr lang="ru-RU" dirty="0"/>
          </a:p>
          <a:p>
            <a:r>
              <a:rPr lang="ru-RU" dirty="0"/>
              <a:t>Во-первых, внутри одного потока действует порядок выполнения — </a:t>
            </a:r>
            <a:r>
              <a:rPr lang="ru-RU" b="1" dirty="0" err="1"/>
              <a:t>sequenced-before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Операции идут в том порядке, в котором написаны в программе.</a:t>
            </a:r>
          </a:p>
          <a:p>
            <a:endParaRPr lang="ru-RU" dirty="0"/>
          </a:p>
          <a:p>
            <a:r>
              <a:rPr lang="ru-RU" dirty="0"/>
              <a:t>Во-вторых, </a:t>
            </a:r>
            <a:r>
              <a:rPr lang="ru-RU" dirty="0" err="1"/>
              <a:t>happens-before</a:t>
            </a:r>
            <a:r>
              <a:rPr lang="ru-RU" dirty="0"/>
              <a:t> возникает между потоками через синхронизацию — это отношение называется </a:t>
            </a:r>
            <a:r>
              <a:rPr lang="ru-RU" b="1" dirty="0" err="1"/>
              <a:t>synchronizes-with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release</a:t>
            </a:r>
            <a:r>
              <a:rPr lang="ru-RU" dirty="0"/>
              <a:t>-запись и </a:t>
            </a:r>
            <a:r>
              <a:rPr lang="ru-RU" dirty="0" err="1"/>
              <a:t>acquire</a:t>
            </a:r>
            <a:r>
              <a:rPr lang="ru-RU" dirty="0"/>
              <a:t>-чтение одной переменной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unlock</a:t>
            </a:r>
            <a:r>
              <a:rPr lang="ru-RU" dirty="0"/>
              <a:t> и последующий </a:t>
            </a:r>
            <a:r>
              <a:rPr lang="ru-RU" dirty="0" err="1"/>
              <a:t>lock</a:t>
            </a:r>
            <a:r>
              <a:rPr lang="ru-RU" dirty="0"/>
              <a:t> мьютекса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завершение потока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И ещё одно важное свойство — транзитивность.</a:t>
            </a:r>
          </a:p>
          <a:p>
            <a:r>
              <a:rPr lang="ru-RU" dirty="0"/>
              <a:t>Если A </a:t>
            </a:r>
            <a:r>
              <a:rPr lang="ru-RU" dirty="0" err="1"/>
              <a:t>happens-before</a:t>
            </a:r>
            <a:r>
              <a:rPr lang="ru-RU" dirty="0"/>
              <a:t> B, а B </a:t>
            </a:r>
            <a:r>
              <a:rPr lang="ru-RU" dirty="0" err="1"/>
              <a:t>happens-before</a:t>
            </a:r>
            <a:r>
              <a:rPr lang="ru-RU" dirty="0"/>
              <a:t> C, то автоматически A </a:t>
            </a:r>
            <a:r>
              <a:rPr lang="ru-RU" dirty="0" err="1"/>
              <a:t>happens-before</a:t>
            </a:r>
            <a:r>
              <a:rPr lang="ru-RU" dirty="0"/>
              <a:t> C.</a:t>
            </a:r>
          </a:p>
          <a:p>
            <a:r>
              <a:rPr lang="ru-RU" dirty="0"/>
              <a:t>Это позволяет “протягивать” гарантии через несколько операций и даже через несколько потоков.</a:t>
            </a:r>
          </a:p>
          <a:p>
            <a:endParaRPr lang="ru-RU" dirty="0"/>
          </a:p>
          <a:p>
            <a:r>
              <a:rPr lang="ru-RU" dirty="0"/>
              <a:t>И теперь ключевой момент для этой лекции:</a:t>
            </a:r>
          </a:p>
          <a:p>
            <a:r>
              <a:rPr lang="ru-RU" dirty="0"/>
              <a:t>разные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 — это способы создавать или не создавать </a:t>
            </a:r>
            <a:r>
              <a:rPr lang="ru-RU" dirty="0" err="1"/>
              <a:t>happens-before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— создаёт сильный, глобальный порядок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— создают </a:t>
            </a:r>
            <a:r>
              <a:rPr lang="ru-RU" dirty="0" err="1"/>
              <a:t>happens-before</a:t>
            </a:r>
            <a:r>
              <a:rPr lang="ru-RU" dirty="0"/>
              <a:t> между потоками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 — не создаёт его вообще </a:t>
            </a:r>
          </a:p>
          <a:p>
            <a:r>
              <a:rPr lang="ru-RU" dirty="0"/>
              <a:t>Дальше мы будем разбирать каждый режим именно с этой точки зрения.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55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сейчас обсудили разные режимы </a:t>
            </a:r>
            <a:r>
              <a:rPr lang="ru-RU" dirty="0" err="1"/>
              <a:t>memory_order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Может возникнуть ощущение, что это просто абстракция языка.</a:t>
            </a:r>
          </a:p>
          <a:p>
            <a:r>
              <a:rPr lang="ru-RU" dirty="0"/>
              <a:t>Давайте посмотрим, как это выглядит на уровне машинного кода.</a:t>
            </a:r>
          </a:p>
          <a:p>
            <a:r>
              <a:rPr lang="ru-RU" dirty="0"/>
              <a:t>И здесь становится видно, что выбор </a:t>
            </a:r>
            <a:r>
              <a:rPr lang="ru-RU" dirty="0" err="1"/>
              <a:t>memory_order</a:t>
            </a:r>
            <a:r>
              <a:rPr lang="ru-RU" dirty="0"/>
              <a:t> напрямую влияет на то, какие инструкции генерирует компилятор и какие гарантии обеспечивает процессор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72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посмотрим, как разные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 выглядят на реальной архитектуре — x86-64.</a:t>
            </a:r>
          </a:p>
          <a:p>
            <a:endParaRPr lang="ru-RU" dirty="0"/>
          </a:p>
          <a:p>
            <a:r>
              <a:rPr lang="ru-RU" dirty="0"/>
              <a:t>Начнём с записей.</a:t>
            </a:r>
          </a:p>
          <a:p>
            <a:r>
              <a:rPr lang="ru-RU" dirty="0"/>
              <a:t>Мы видим,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компилируются в один и тот 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То есть на x86 между ними </a:t>
            </a:r>
            <a:r>
              <a:rPr lang="ru-RU" b="1" dirty="0"/>
              <a:t>нет разницы на уровне инструкций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А вот </a:t>
            </a:r>
            <a:r>
              <a:rPr lang="en-US" dirty="0"/>
              <a:t>store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уже отличается.</a:t>
            </a:r>
          </a:p>
          <a:p>
            <a:r>
              <a:rPr lang="ru-RU" dirty="0"/>
              <a:t>Он превращается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xchg</a:t>
            </a:r>
            <a:r>
              <a:rPr lang="ru-RU" dirty="0"/>
              <a:t>, который имеет неявный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и обеспечивает глобальную синхронизацию между ядрами.</a:t>
            </a:r>
          </a:p>
          <a:p>
            <a:endParaRPr lang="en-US" dirty="0"/>
          </a:p>
          <a:p>
            <a:r>
              <a:rPr lang="en-US" dirty="0"/>
              <a:t>----</a:t>
            </a:r>
          </a:p>
          <a:p>
            <a:endParaRPr lang="ru-RU" dirty="0"/>
          </a:p>
          <a:p>
            <a:r>
              <a:rPr lang="ru-RU" dirty="0"/>
              <a:t>Теперь посмотрим на чтения.</a:t>
            </a:r>
          </a:p>
          <a:p>
            <a:r>
              <a:rPr lang="ru-RU" dirty="0"/>
              <a:t>Все три варианта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и даже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— компилируются в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очень важное наблюдение.</a:t>
            </a:r>
          </a:p>
          <a:p>
            <a:r>
              <a:rPr lang="ru-RU" dirty="0"/>
              <a:t>На x86: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часто “бесплатны”</a:t>
            </a:r>
            <a:r>
              <a:rPr lang="en-US" dirty="0"/>
              <a:t>, </a:t>
            </a:r>
            <a:r>
              <a:rPr lang="ru-RU" dirty="0"/>
              <a:t>а вот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(запись)</a:t>
            </a:r>
            <a:r>
              <a:rPr lang="ru-RU" dirty="0"/>
              <a:t> уже может стоить дороже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Почему так происходит?</a:t>
            </a:r>
          </a:p>
          <a:p>
            <a:r>
              <a:rPr lang="ru-RU" dirty="0"/>
              <a:t>Потому что x86 сам по себе имеет довольно строгую модель памяти. Он уже запрещает многие переупорядочивания, поэтому компилятору не нужно вставлять дополнительные барьеры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Но для записи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нужен глобальный порядок, и поэтому используется более тяжёлая инструкция.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Вывод:</a:t>
            </a:r>
          </a:p>
          <a:p>
            <a:r>
              <a:rPr lang="ru-RU" dirty="0"/>
              <a:t>На x86 разница между моделями памяти может быть почти незаметна. Но это особенность архитектуры, а не гарантии языка</a:t>
            </a:r>
          </a:p>
          <a:p>
            <a:endParaRPr lang="ru-RU" dirty="0"/>
          </a:p>
          <a:p>
            <a:r>
              <a:rPr lang="ru-RU" dirty="0"/>
              <a:t>На более слабых архитектурах, например ARM, различия будут гораздо более заметными и важными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73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теперь посмотрим на тот же самый код, но на архитектуре ARM64.</a:t>
            </a:r>
          </a:p>
          <a:p>
            <a:r>
              <a:rPr lang="ru-RU" dirty="0"/>
              <a:t>И здесь картина уже принципиально другая.</a:t>
            </a:r>
          </a:p>
          <a:p>
            <a:endParaRPr lang="ru-RU" dirty="0"/>
          </a:p>
          <a:p>
            <a:r>
              <a:rPr lang="ru-RU" dirty="0"/>
              <a:t>Сперва немного пояснений:</a:t>
            </a:r>
          </a:p>
          <a:p>
            <a:r>
              <a:rPr lang="ru-RU" dirty="0"/>
              <a:t>На ARM полный адрес глобальной переменной часто собирается </a:t>
            </a:r>
            <a:r>
              <a:rPr lang="ru-RU" b="1" dirty="0"/>
              <a:t>в две инструкции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adrp</a:t>
            </a:r>
            <a:r>
              <a:rPr lang="ru-RU" dirty="0"/>
              <a:t> — берёт </a:t>
            </a:r>
            <a:r>
              <a:rPr lang="ru-RU" b="1" dirty="0"/>
              <a:t>базу страницы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— добавляет </a:t>
            </a:r>
            <a:r>
              <a:rPr lang="ru-RU" b="1" dirty="0"/>
              <a:t>смещение внутри страницы</a:t>
            </a:r>
            <a:r>
              <a:rPr lang="ru-RU" dirty="0"/>
              <a:t> </a:t>
            </a:r>
          </a:p>
          <a:p>
            <a:r>
              <a:rPr lang="ru-RU" dirty="0"/>
              <a:t>То есть вместе: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adrp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=&gt;  получить адрес глобальной переменной</a:t>
            </a:r>
          </a:p>
          <a:p>
            <a:r>
              <a:rPr lang="ru-RU" dirty="0"/>
              <a:t>А потом: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w0, [x1] =&gt; записать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 этому адресу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b="1" dirty="0"/>
              <a:t>Что означают регистры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b="1" dirty="0"/>
              <a:t> и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endParaRPr lang="ru-RU" b="1" dirty="0"/>
          </a:p>
          <a:p>
            <a:r>
              <a:rPr lang="ru-RU" dirty="0"/>
              <a:t>В AArch64: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x0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x1</a:t>
            </a:r>
            <a:r>
              <a:rPr lang="ru-RU" dirty="0"/>
              <a:t>, ... — это </a:t>
            </a:r>
            <a:r>
              <a:rPr lang="ru-RU" b="1" dirty="0"/>
              <a:t>64-битные</a:t>
            </a:r>
            <a:r>
              <a:rPr lang="ru-RU" dirty="0"/>
              <a:t> регистры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w0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w1</a:t>
            </a:r>
            <a:r>
              <a:rPr lang="ru-RU" dirty="0"/>
              <a:t>, ... — это их </a:t>
            </a:r>
            <a:r>
              <a:rPr lang="ru-RU" b="1" dirty="0"/>
              <a:t>младшие 32 бита</a:t>
            </a:r>
            <a:r>
              <a:rPr lang="ru-RU" dirty="0"/>
              <a:t> </a:t>
            </a:r>
          </a:p>
          <a:p>
            <a:r>
              <a:rPr lang="ru-RU" dirty="0"/>
              <a:t>Поэтому здесь всё логично: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адрес хранится в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x1</a:t>
            </a:r>
            <a:r>
              <a:rPr lang="ru-RU" dirty="0"/>
              <a:t>, потому что адрес 64-битный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хранится в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w0</a:t>
            </a:r>
            <a:r>
              <a:rPr lang="ru-RU" dirty="0"/>
              <a:t>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— 32-битный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Начнём с записей.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 компилируется в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ru-RU" dirty="0"/>
              <a:t> — это просто запись в память без каких-либо гарантий порядка.</a:t>
            </a:r>
          </a:p>
          <a:p>
            <a:r>
              <a:rPr lang="ru-RU" dirty="0"/>
              <a:t>А вот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используют уже другую инструкцию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stlr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stlr</a:t>
            </a:r>
            <a:r>
              <a:rPr lang="ru-RU" dirty="0"/>
              <a:t> — это </a:t>
            </a:r>
            <a:r>
              <a:rPr lang="ru-RU" dirty="0" err="1"/>
              <a:t>store</a:t>
            </a:r>
            <a:r>
              <a:rPr lang="ru-RU" dirty="0"/>
              <a:t> с </a:t>
            </a:r>
            <a:r>
              <a:rPr lang="ru-RU" dirty="0" err="1"/>
              <a:t>release</a:t>
            </a:r>
            <a:r>
              <a:rPr lang="ru-RU" dirty="0"/>
              <a:t>-семантикой.</a:t>
            </a:r>
          </a:p>
          <a:p>
            <a:r>
              <a:rPr lang="ru-RU" dirty="0"/>
              <a:t>Она гарантирует, что все предыдущие операции в потоке завершатся до этой записи.</a:t>
            </a:r>
          </a:p>
          <a:p>
            <a:endParaRPr lang="ru-RU" dirty="0"/>
          </a:p>
          <a:p>
            <a:r>
              <a:rPr lang="ru-RU" dirty="0"/>
              <a:t>Интересный момент: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здесь компилируется так же,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.</a:t>
            </a:r>
          </a:p>
          <a:p>
            <a:r>
              <a:rPr lang="ru-RU" dirty="0"/>
              <a:t>Это значит, что в данном случае компилятор реализует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через </a:t>
            </a:r>
            <a:r>
              <a:rPr lang="ru-RU" dirty="0" err="1"/>
              <a:t>release</a:t>
            </a:r>
            <a:r>
              <a:rPr lang="ru-RU" dirty="0"/>
              <a:t>-семантику на записи.</a:t>
            </a:r>
          </a:p>
          <a:p>
            <a:endParaRPr lang="ru-RU" dirty="0"/>
          </a:p>
          <a:p>
            <a:r>
              <a:rPr lang="ru-RU" dirty="0"/>
              <a:t>Теперь посмотрим на чтения.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 — это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ldr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— это уже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ldar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ldar</a:t>
            </a:r>
            <a:r>
              <a:rPr lang="ru-RU" dirty="0"/>
              <a:t> — это </a:t>
            </a:r>
            <a:r>
              <a:rPr lang="ru-RU" dirty="0" err="1"/>
              <a:t>load</a:t>
            </a:r>
            <a:r>
              <a:rPr lang="ru-RU" dirty="0"/>
              <a:t> с </a:t>
            </a:r>
            <a:r>
              <a:rPr lang="ru-RU" dirty="0" err="1"/>
              <a:t>acquire</a:t>
            </a:r>
            <a:r>
              <a:rPr lang="ru-RU" dirty="0"/>
              <a:t>-семантикой.</a:t>
            </a:r>
          </a:p>
          <a:p>
            <a:r>
              <a:rPr lang="ru-RU" dirty="0"/>
              <a:t>Он гарантирует, что все последующие операции не начнутся раньше неё (не будут подняты выше)</a:t>
            </a:r>
          </a:p>
          <a:p>
            <a:endParaRPr lang="ru-RU" dirty="0"/>
          </a:p>
          <a:p>
            <a:r>
              <a:rPr lang="ru-RU" dirty="0"/>
              <a:t>Ключевое наблюдение:</a:t>
            </a:r>
          </a:p>
          <a:p>
            <a:r>
              <a:rPr lang="ru-RU" dirty="0"/>
              <a:t>На ARM64: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разные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 → разные инструкции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acquire</a:t>
            </a:r>
            <a:r>
              <a:rPr lang="ru-RU" dirty="0"/>
              <a:t> и </a:t>
            </a:r>
            <a:r>
              <a:rPr lang="ru-RU" dirty="0" err="1"/>
              <a:t>release</a:t>
            </a:r>
            <a:r>
              <a:rPr lang="ru-RU" dirty="0"/>
              <a:t> требуют явной поддержки со стороны процессора</a:t>
            </a:r>
          </a:p>
          <a:p>
            <a:endParaRPr lang="ru-RU" dirty="0"/>
          </a:p>
          <a:p>
            <a:r>
              <a:rPr lang="ru-RU" dirty="0"/>
              <a:t>В отличие от x86, здесь уже нет “бесплатных” гарантий. Если вы используете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, процессор действительно будет выполнять дополнительные ограничения на порядок.</a:t>
            </a:r>
          </a:p>
          <a:p>
            <a:endParaRPr lang="ru-RU" dirty="0"/>
          </a:p>
          <a:p>
            <a:r>
              <a:rPr lang="ru-RU" dirty="0"/>
              <a:t>Вывод:</a:t>
            </a:r>
          </a:p>
          <a:p>
            <a:r>
              <a:rPr lang="ru-RU" dirty="0"/>
              <a:t>На слабых архитектурах, таких как ARM, выбор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 напрямую влияет на код и производительность</a:t>
            </a:r>
            <a:br>
              <a:rPr lang="ru-RU" dirty="0"/>
            </a:br>
            <a:r>
              <a:rPr lang="ru-RU" dirty="0"/>
              <a:t>Поэтому понимание модели памяти здесь критично, а не просто теоретическое упражнение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91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зафиксируем ключевые различия, которые мы только что увидели.</a:t>
            </a:r>
          </a:p>
          <a:p>
            <a:r>
              <a:rPr lang="ru-RU" dirty="0"/>
              <a:t>На x86-64 модель памяти довольно строгая.</a:t>
            </a:r>
            <a:br>
              <a:rPr lang="ru-RU" dirty="0"/>
            </a:br>
            <a:r>
              <a:rPr lang="ru-RU" dirty="0"/>
              <a:t>Процессор сам по себе запрещает многие переупорядочивания, поэтому компилятору часто не нужно вставлять дополнительные инструкции.</a:t>
            </a:r>
          </a:p>
          <a:p>
            <a:endParaRPr lang="ru-RU" dirty="0"/>
          </a:p>
          <a:p>
            <a:r>
              <a:rPr lang="ru-RU" dirty="0"/>
              <a:t>В результате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на x86 выглядят как обычные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</a:t>
            </a:r>
            <a:r>
              <a:rPr lang="ru-RU" dirty="0"/>
              <a:t>. Кажется, будто они “бесплатны”.</a:t>
            </a:r>
          </a:p>
          <a:p>
            <a:r>
              <a:rPr lang="ru-RU" dirty="0"/>
              <a:t>Но это не свойство языка — это особенность архитектуры.</a:t>
            </a:r>
          </a:p>
          <a:p>
            <a:endParaRPr lang="ru-RU" dirty="0"/>
          </a:p>
          <a:p>
            <a:r>
              <a:rPr lang="ru-RU" dirty="0"/>
              <a:t>На ARM ситуация другая. ARM использует более слабую модель памяти. Это значит, что процессор допускает гораздо больше </a:t>
            </a:r>
            <a:r>
              <a:rPr lang="ru-RU" dirty="0" err="1"/>
              <a:t>переупорядочиваний</a:t>
            </a:r>
            <a:r>
              <a:rPr lang="ru-RU" dirty="0"/>
              <a:t>: записи могут обгонять друг друга, чтения могут выполняться раньше, чем кажется по коду.</a:t>
            </a:r>
          </a:p>
          <a:p>
            <a:endParaRPr lang="ru-RU" dirty="0"/>
          </a:p>
          <a:p>
            <a:r>
              <a:rPr lang="ru-RU" dirty="0"/>
              <a:t>Поэтому, когда мы хотим гарантии,</a:t>
            </a:r>
            <a:br>
              <a:rPr lang="ru-RU" dirty="0"/>
            </a:br>
            <a:r>
              <a:rPr lang="ru-RU" dirty="0"/>
              <a:t>их нужно задавать явно — через специальные инструкции: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stlr</a:t>
            </a:r>
            <a:r>
              <a:rPr lang="ru-RU" dirty="0"/>
              <a:t> — для </a:t>
            </a:r>
            <a:r>
              <a:rPr lang="ru-RU" dirty="0" err="1"/>
              <a:t>release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ldar</a:t>
            </a:r>
            <a:r>
              <a:rPr lang="ru-RU" dirty="0"/>
              <a:t> — для </a:t>
            </a:r>
            <a:r>
              <a:rPr lang="ru-RU" dirty="0" err="1"/>
              <a:t>acquire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То есть здесь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 напрямую влияет на машинный код.</a:t>
            </a:r>
          </a:p>
          <a:p>
            <a:r>
              <a:rPr lang="ru-RU" dirty="0"/>
              <a:t>Почему так сделано?</a:t>
            </a:r>
          </a:p>
          <a:p>
            <a:r>
              <a:rPr lang="ru-RU" dirty="0"/>
              <a:t>Слабая модель памяти даёт процессору больше свободы: можно агрессивнее оптимизировать, лучше использовать кеши и буферы, лучше масштабироваться на многоядерных системах.</a:t>
            </a:r>
          </a:p>
          <a:p>
            <a:endParaRPr lang="ru-RU" dirty="0"/>
          </a:p>
          <a:p>
            <a:r>
              <a:rPr lang="ru-RU" dirty="0"/>
              <a:t>Цена — более сложная модель для программиста.</a:t>
            </a:r>
          </a:p>
          <a:p>
            <a:endParaRPr lang="ru-RU" dirty="0"/>
          </a:p>
          <a:p>
            <a:r>
              <a:rPr lang="ru-RU" dirty="0"/>
              <a:t>И здесь ключевой вывод: язык C++ задаёт единую модель памяти, а архитектуры по-разному её реализуют</a:t>
            </a:r>
          </a:p>
          <a:p>
            <a:r>
              <a:rPr lang="ru-RU" dirty="0"/>
              <a:t>Поэтому код должен быть корректен не только на x86, но и на более слабых архитектурах, таких как ARM.</a:t>
            </a:r>
          </a:p>
          <a:p>
            <a:r>
              <a:rPr lang="ru-RU" dirty="0"/>
              <a:t>И именно поэтому мы вообще изучаем </a:t>
            </a:r>
            <a:r>
              <a:rPr lang="ru-RU" dirty="0" err="1"/>
              <a:t>memory_order</a:t>
            </a:r>
            <a:r>
              <a:rPr lang="ru-RU" dirty="0"/>
              <a:t> - это не теоретическая абстракция, а реальные гарантии, которые влияют на выполнение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70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разные </a:t>
            </a:r>
            <a:r>
              <a:rPr lang="ru-RU" dirty="0" err="1"/>
              <a:t>memory_order</a:t>
            </a:r>
            <a:r>
              <a:rPr lang="ru-RU" dirty="0"/>
              <a:t> дают разные гарантии</a:t>
            </a:r>
            <a:r>
              <a:rPr lang="en-US" dirty="0"/>
              <a:t> </a:t>
            </a:r>
            <a:r>
              <a:rPr lang="ru-RU" dirty="0"/>
              <a:t>и что эти гарантии реально влияют на машинный код.</a:t>
            </a:r>
          </a:p>
          <a:p>
            <a:r>
              <a:rPr lang="ru-RU" dirty="0"/>
              <a:t>Теперь давайте начнём разбирать их подробнее.</a:t>
            </a:r>
          </a:p>
          <a:p>
            <a:r>
              <a:rPr lang="ru-RU" dirty="0"/>
              <a:t>И начнём с самого строгого и самого понятного режима —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.</a:t>
            </a:r>
          </a:p>
          <a:p>
            <a:r>
              <a:rPr lang="ru-RU" dirty="0"/>
              <a:t>Это тот режим, который даёт максимально сильные гарантии</a:t>
            </a:r>
            <a:r>
              <a:rPr lang="en-US" dirty="0"/>
              <a:t> </a:t>
            </a:r>
            <a:r>
              <a:rPr lang="ru-RU" dirty="0"/>
              <a:t>и позволяет рассуждать о программе почти как об однопоточной.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85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 — это самый строгий и самый интуитивный режим.</a:t>
            </a:r>
          </a:p>
          <a:p>
            <a:r>
              <a:rPr lang="ru-RU" dirty="0"/>
              <a:t>Он даёт нам ключевую гарантию: все атомарные операции можно представить так, как будто они выполняются в одном общем порядке.</a:t>
            </a:r>
          </a:p>
          <a:p>
            <a:r>
              <a:rPr lang="ru-RU" dirty="0"/>
              <a:t>И самое важное — все потоки видят этот порядок одинаково.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называется единый глобальный порядок.</a:t>
            </a:r>
          </a:p>
          <a:p>
            <a:r>
              <a:rPr lang="ru-RU" dirty="0"/>
              <a:t>При этом этот порядок не произвольный. Он согласован с порядком операций внутри каждого потока.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если в одном потоке сначала выполняется операция A, а потом B, то в глобальном порядке A не может оказаться после B.</a:t>
            </a:r>
          </a:p>
          <a:p>
            <a:r>
              <a:rPr lang="ru-RU" dirty="0"/>
              <a:t>Благодаря этому поведение программы становится максимально предсказуемым.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Можно рассуждать так, как будто у нас есть один поток выполнения, который просто по очереди выполняет операции из разных потоков.</a:t>
            </a:r>
          </a:p>
          <a:p>
            <a:r>
              <a:rPr lang="ru-RU" dirty="0"/>
              <a:t>Кроме того, операции в этом режиме формируют отношение </a:t>
            </a:r>
            <a:r>
              <a:rPr lang="ru-RU" dirty="0" err="1"/>
              <a:t>happens-before</a:t>
            </a:r>
            <a:r>
              <a:rPr lang="ru-RU" dirty="0"/>
              <a:t>, и тем самым обеспечивают корректную передачу данных между потоками.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за эту простоту приходится платить.</a:t>
            </a:r>
          </a:p>
          <a:p>
            <a:r>
              <a:rPr lang="ru-RU" dirty="0"/>
              <a:t>Чтобы поддерживать единый глобальный порядок, процессору и системе приходится выполнять дополнительную синхронизацию между ядрами.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делает </a:t>
            </a:r>
            <a:r>
              <a:rPr lang="ru-RU" dirty="0" err="1"/>
              <a:t>seq_cst</a:t>
            </a:r>
            <a:r>
              <a:rPr lang="ru-RU" dirty="0"/>
              <a:t> самым дорогим режимом с точки зрения производительности.</a:t>
            </a:r>
          </a:p>
          <a:p>
            <a:r>
              <a:rPr lang="ru-RU" dirty="0"/>
              <a:t>Именно поэтому его часто используют как базовый вариант, а затем при необходимости переходят к более слабым моделям.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51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этот пример с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.</a:t>
            </a:r>
          </a:p>
          <a:p>
            <a:r>
              <a:rPr lang="ru-RU" dirty="0"/>
              <a:t>У нас есть две записи:</a:t>
            </a:r>
            <a:r>
              <a:rPr lang="en-US" dirty="0"/>
              <a:t> </a:t>
            </a:r>
            <a:r>
              <a:rPr lang="ru-RU" dirty="0"/>
              <a:t>поток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записывает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поток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записывает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</a:t>
            </a:r>
          </a:p>
          <a:p>
            <a:r>
              <a:rPr lang="ru-RU" dirty="0"/>
              <a:t>И два потока, которые читают: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 читает сначала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, потом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второй читает сначала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, потом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endParaRPr lang="ru-RU" dirty="0"/>
          </a:p>
          <a:p>
            <a:endParaRPr lang="ru-RU" dirty="0"/>
          </a:p>
          <a:p>
            <a:r>
              <a:rPr lang="ru-RU" dirty="0"/>
              <a:t>Ключевая гарантия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— все атомарные операции образуют единый глобальный порядок.</a:t>
            </a:r>
            <a:r>
              <a:rPr lang="en-US" dirty="0"/>
              <a:t> </a:t>
            </a:r>
            <a:r>
              <a:rPr lang="ru-RU" dirty="0"/>
              <a:t>Этот порядок может быть разным от запуска к запуску, но он один и тот же для всех потоков.</a:t>
            </a:r>
          </a:p>
          <a:p>
            <a:r>
              <a:rPr lang="ru-RU" dirty="0"/>
              <a:t>Это означает, что либо запись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произошла раньше записи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, либо наоборот.</a:t>
            </a:r>
            <a:r>
              <a:rPr lang="en-US" dirty="0"/>
              <a:t> </a:t>
            </a:r>
            <a:r>
              <a:rPr lang="ru-RU" dirty="0"/>
              <a:t>Третьего варианта нет.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Теперь посмотрим, почему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ru-RU" dirty="0"/>
              <a:t> никогда не будет равно 0.</a:t>
            </a:r>
            <a:r>
              <a:rPr lang="en-US" dirty="0"/>
              <a:t> </a:t>
            </a:r>
            <a:r>
              <a:rPr lang="ru-RU" dirty="0"/>
              <a:t>Предположим, что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увидел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но затем увидел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Это означает, что в глобальном порядке запись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произошла раньше записи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.</a:t>
            </a:r>
          </a:p>
          <a:p>
            <a:r>
              <a:rPr lang="ru-RU" dirty="0"/>
              <a:t>Тогда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ru-RU" dirty="0"/>
              <a:t>, который сначала ждёт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гарантированно увидит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Потому что 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 уже стало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значит запись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 уже произошла, а значит запись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была ещё раньше.</a:t>
            </a:r>
          </a:p>
          <a:p>
            <a:endParaRPr lang="ru-RU" dirty="0"/>
          </a:p>
          <a:p>
            <a:r>
              <a:rPr lang="ru-RU" dirty="0"/>
              <a:t>Аналогично работает и симметричный случай.</a:t>
            </a:r>
          </a:p>
          <a:p>
            <a:endParaRPr lang="ru-RU" dirty="0"/>
          </a:p>
          <a:p>
            <a:r>
              <a:rPr lang="ru-RU" dirty="0"/>
              <a:t>В итоге возможны только два варианта: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 поток “успел раньше” →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 == 1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оба потока увидели обе записи →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 == 2</a:t>
            </a:r>
            <a:endParaRPr lang="ru-RU" dirty="0"/>
          </a:p>
          <a:p>
            <a:endParaRPr lang="ru-RU" dirty="0"/>
          </a:p>
          <a:p>
            <a:r>
              <a:rPr lang="ru-RU" dirty="0"/>
              <a:t>Но ситуация, когда оба потока ничего не увидели, невозможна.</a:t>
            </a:r>
            <a:r>
              <a:rPr lang="en-US" dirty="0"/>
              <a:t> </a:t>
            </a:r>
            <a:r>
              <a:rPr lang="ru-RU" dirty="0"/>
              <a:t>Поэтому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ru-RU" dirty="0"/>
              <a:t> никогда не будет равно 0.</a:t>
            </a:r>
          </a:p>
          <a:p>
            <a:endParaRPr lang="ru-RU" dirty="0"/>
          </a:p>
          <a:p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 даёт нам единый глобальный порядок, и именно он исключает “противоречивые” наблюдения между потоками.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40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 — это самый простой и понятный режим.</a:t>
            </a:r>
          </a:p>
          <a:p>
            <a:r>
              <a:rPr lang="ru-RU" dirty="0"/>
              <a:t>Он даёт нам сильные гарантии и позволяет рассуждать о программе почти как об однопоточной.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Но за это приходится платить.</a:t>
            </a:r>
          </a:p>
          <a:p>
            <a:r>
              <a:rPr lang="ru-RU" dirty="0"/>
              <a:t>Чтобы поддерживать единый глобальный порядок, процессоры должны активно синхронизироваться между собой.</a:t>
            </a:r>
          </a:p>
          <a:p>
            <a:endParaRPr lang="ru-RU" dirty="0"/>
          </a:p>
          <a:p>
            <a:r>
              <a:rPr lang="ru-RU" dirty="0"/>
              <a:t>На многопроцессорных системах это означает обмен данными между ядрами, </a:t>
            </a:r>
            <a:r>
              <a:rPr lang="ru-RU" dirty="0" err="1"/>
              <a:t>инвалидацию</a:t>
            </a:r>
            <a:r>
              <a:rPr lang="ru-RU" dirty="0"/>
              <a:t> кешей и другие дорогие операции.</a:t>
            </a:r>
          </a:p>
          <a:p>
            <a:endParaRPr lang="ru-RU" dirty="0"/>
          </a:p>
          <a:p>
            <a:r>
              <a:rPr lang="ru-RU" dirty="0"/>
              <a:t>В результате производительность может заметно снижаться.</a:t>
            </a:r>
          </a:p>
          <a:p>
            <a:endParaRPr lang="ru-RU" dirty="0"/>
          </a:p>
          <a:p>
            <a:r>
              <a:rPr lang="ru-RU" dirty="0"/>
              <a:t>Поэтому на практике часто используют более слабые модели памяти, которые дают меньше гарантий, но работают быстрее.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43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разобрали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 — самый строгий и самый простой для понимания режим.</a:t>
            </a:r>
          </a:p>
          <a:p>
            <a:r>
              <a:rPr lang="ru-RU" dirty="0"/>
              <a:t>Он даёт сильные гарантии, но за это приходится платить производительностью.</a:t>
            </a:r>
          </a:p>
          <a:p>
            <a:r>
              <a:rPr lang="ru-RU" dirty="0"/>
              <a:t>Поэтому на практике часто используют более слабые режимы.</a:t>
            </a:r>
          </a:p>
          <a:p>
            <a:r>
              <a:rPr lang="ru-RU" dirty="0"/>
              <a:t>Они дают меньше гарантий, но позволяют выполнять код быстрее.</a:t>
            </a:r>
          </a:p>
          <a:p>
            <a:r>
              <a:rPr lang="ru-RU" dirty="0"/>
              <a:t>Теперь давайте разберём, какие именно гарантии мы теряем и как это влияет на поведение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23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что происходит, когда мы отказываемся от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Главное отличие — исчезает единый глобальный порядок.</a:t>
            </a:r>
          </a:p>
          <a:p>
            <a:r>
              <a:rPr lang="ru-RU" dirty="0"/>
              <a:t>Это означает, что разные потоки могут видеть одни и те же операции в разном порядке.</a:t>
            </a:r>
          </a:p>
          <a:p>
            <a:r>
              <a:rPr lang="ru-RU" dirty="0"/>
              <a:t>То есть операции не только выполняются параллельно, но и наблюдаются по-разному в зависимости от потока.</a:t>
            </a:r>
          </a:p>
          <a:p>
            <a:r>
              <a:rPr lang="ru-RU" dirty="0"/>
              <a:t>И это очень важный сдвиг в мышлении.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 мы могли рассуждать так, как будто есть один общий порядок.</a:t>
            </a:r>
          </a:p>
          <a:p>
            <a:r>
              <a:rPr lang="ru-RU" dirty="0"/>
              <a:t>Здесь это больше не работает.</a:t>
            </a:r>
          </a:p>
          <a:p>
            <a:r>
              <a:rPr lang="ru-RU" dirty="0"/>
              <a:t>Почему так происходит?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Потому что и компилятор, и процессор имеют свободу переупорядочивать операции.</a:t>
            </a:r>
          </a:p>
          <a:p>
            <a:r>
              <a:rPr lang="ru-RU" dirty="0"/>
              <a:t>Компилятор делает это ради оптимизации, процессор — ради производительности, а кеши добавляют задержки в распространении изменений между ядрами.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результате поток может читать значение и не видеть запись, которая “логически уже произошла” в другом потоке.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здесь ключевой момент:</a:t>
            </a:r>
            <a:r>
              <a:rPr lang="en-US" dirty="0"/>
              <a:t> </a:t>
            </a:r>
            <a:r>
              <a:rPr lang="ru-RU" dirty="0"/>
              <a:t>без синхронизации нет </a:t>
            </a:r>
            <a:r>
              <a:rPr lang="ru-RU" dirty="0" err="1"/>
              <a:t>happens-before</a:t>
            </a:r>
            <a:endParaRPr lang="ru-RU" dirty="0"/>
          </a:p>
          <a:p>
            <a:r>
              <a:rPr lang="ru-RU" dirty="0"/>
              <a:t>А значит, нет гарантии, что один поток увидит изменения другого.</a:t>
            </a:r>
          </a:p>
          <a:p>
            <a:r>
              <a:rPr lang="ru-RU" dirty="0"/>
              <a:t>Фактически, единственное, о чём потоки “соглашаются” без дополнительной синхронизации — это порядок изменений </a:t>
            </a:r>
            <a:r>
              <a:rPr lang="ru-RU" b="1" dirty="0"/>
              <a:t>отдельной атомарной переменной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более слабые режимы требуют гораздо более аккуратного использования.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12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разберём самый слабый режим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memory_order_relaxed</a:t>
            </a:r>
            <a:r>
              <a:rPr lang="ru-RU" dirty="0"/>
              <a:t>.</a:t>
            </a:r>
          </a:p>
          <a:p>
            <a:r>
              <a:rPr lang="ru-RU" dirty="0"/>
              <a:t>Его ключевая идея очень простая:  он гарантирует только атомарность — и больше ничего</a:t>
            </a:r>
          </a:p>
          <a:p>
            <a:r>
              <a:rPr lang="ru-RU" dirty="0"/>
              <a:t>То есть операция выполняется неделимо, значение не будет “порвано”, но никаких гарантий порядка он не даёт.</a:t>
            </a:r>
          </a:p>
          <a:p>
            <a:endParaRPr lang="ru-RU" dirty="0"/>
          </a:p>
          <a:p>
            <a:r>
              <a:rPr lang="ru-RU" dirty="0"/>
              <a:t>И самое важное: </a:t>
            </a:r>
            <a:r>
              <a:rPr lang="ru-RU" dirty="0" err="1"/>
              <a:t>relaxed</a:t>
            </a:r>
            <a:r>
              <a:rPr lang="ru-RU" dirty="0"/>
              <a:t>-операции не участвуют в синхронизации и не создают </a:t>
            </a:r>
            <a:r>
              <a:rPr lang="ru-RU" dirty="0" err="1"/>
              <a:t>happens-before</a:t>
            </a:r>
            <a:r>
              <a:rPr lang="ru-RU" dirty="0"/>
              <a:t> между потоками</a:t>
            </a:r>
          </a:p>
          <a:p>
            <a:endParaRPr lang="ru-RU" dirty="0"/>
          </a:p>
          <a:p>
            <a:r>
              <a:rPr lang="ru-RU" dirty="0"/>
              <a:t>А значит, один поток не обязан видеть изменения, сделанные другим.</a:t>
            </a:r>
          </a:p>
          <a:p>
            <a:endParaRPr lang="ru-RU" dirty="0"/>
          </a:p>
          <a:p>
            <a:r>
              <a:rPr lang="ru-RU" dirty="0"/>
              <a:t>Что при этом всё-таки сохраняется?</a:t>
            </a:r>
          </a:p>
          <a:p>
            <a:r>
              <a:rPr lang="ru-RU" dirty="0"/>
              <a:t>Во-первых, внутри одного потока остаётся порядок выполнения операций.</a:t>
            </a:r>
          </a:p>
          <a:p>
            <a:r>
              <a:rPr lang="ru-RU" dirty="0"/>
              <a:t>Во-вторых, для каждой отдельной атомарной переменной существует согласованный порядок изменений.</a:t>
            </a:r>
          </a:p>
          <a:p>
            <a:r>
              <a:rPr lang="ru-RU" dirty="0"/>
              <a:t>Это означает, что если поток уже увидел некоторое значение переменной, он не может потом увидеть более старое.</a:t>
            </a:r>
          </a:p>
          <a:p>
            <a:endParaRPr lang="ru-RU" dirty="0"/>
          </a:p>
          <a:p>
            <a:r>
              <a:rPr lang="ru-RU" dirty="0"/>
              <a:t>Но на этом гарантии заканчиваются.</a:t>
            </a:r>
          </a:p>
          <a:p>
            <a:r>
              <a:rPr lang="ru-RU" dirty="0"/>
              <a:t>- между разными переменными порядок не гарантируется</a:t>
            </a:r>
            <a:br>
              <a:rPr lang="ru-RU" dirty="0"/>
            </a:br>
            <a:r>
              <a:rPr lang="ru-RU" dirty="0"/>
              <a:t>- между потоками нет гарантии видимости</a:t>
            </a:r>
          </a:p>
          <a:p>
            <a:r>
              <a:rPr lang="ru-RU" dirty="0"/>
              <a:t>В результате поток может увидеть только часть изменений или увидеть их в неожиданном порядке.</a:t>
            </a:r>
          </a:p>
          <a:p>
            <a:endParaRPr lang="ru-RU" dirty="0"/>
          </a:p>
          <a:p>
            <a:r>
              <a:rPr lang="ru-RU" dirty="0"/>
              <a:t>Именно 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 используется очень осторожно — обычно в тех случаях, где нам важна только атомарность, но не синхронизация между потоками.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5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этот пример.</a:t>
            </a:r>
          </a:p>
          <a:p>
            <a:r>
              <a:rPr lang="ru-RU" dirty="0"/>
              <a:t>В потоке A сначала записывается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а затем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</a:t>
            </a:r>
          </a:p>
          <a:p>
            <a:r>
              <a:rPr lang="ru-RU" dirty="0"/>
              <a:t>В потоке B мы ждём, пока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ru-RU" dirty="0"/>
              <a:t> станет равным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и после этого читаем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Интуитивно кажется, что если мы уже увидели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то 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 точно уже произошла, потому что она была раньше в коде.</a:t>
            </a:r>
          </a:p>
          <a:p>
            <a:endParaRPr lang="ru-RU" dirty="0"/>
          </a:p>
          <a:p>
            <a:r>
              <a:rPr lang="ru-RU" dirty="0"/>
              <a:t>Но при использовании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memory_order_relaxed</a:t>
            </a:r>
            <a:r>
              <a:rPr lang="ru-RU" dirty="0"/>
              <a:t> это не гарантируется. Поток B может увидеть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но при этом всё ещё видеть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. В результате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ru-RU" dirty="0"/>
              <a:t> может быть равно 0.</a:t>
            </a:r>
          </a:p>
          <a:p>
            <a:endParaRPr lang="ru-RU" dirty="0"/>
          </a:p>
          <a:p>
            <a:r>
              <a:rPr lang="ru-RU" dirty="0"/>
              <a:t>Это происходит потому, что между этими операциями нет </a:t>
            </a:r>
            <a:r>
              <a:rPr lang="ru-RU" dirty="0" err="1"/>
              <a:t>happens-before</a:t>
            </a:r>
            <a:r>
              <a:rPr lang="ru-RU" dirty="0"/>
              <a:t>. Записи в одном потоке могут наблюдаться в другом в другом порядке</a:t>
            </a:r>
          </a:p>
          <a:p>
            <a:endParaRPr lang="ru-RU" dirty="0"/>
          </a:p>
          <a:p>
            <a:r>
              <a:rPr lang="ru-RU" dirty="0"/>
              <a:t>Важно, что после завершения потоков оба значения станут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но во время выполнения наблюдение может быть несогласованным.</a:t>
            </a:r>
          </a:p>
          <a:p>
            <a:r>
              <a:rPr lang="ru-RU" dirty="0"/>
              <a:t>Это и есть ключевое свойство </a:t>
            </a:r>
            <a:r>
              <a:rPr lang="ru-RU" dirty="0" err="1"/>
              <a:t>relaxed</a:t>
            </a:r>
            <a:r>
              <a:rPr lang="ru-RU" dirty="0"/>
              <a:t>: атомарность есть, но порядка и синхронизации —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64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разберёмся, как работают </a:t>
            </a:r>
            <a:r>
              <a:rPr lang="ru-RU" dirty="0" err="1"/>
              <a:t>acquire</a:t>
            </a:r>
            <a:r>
              <a:rPr lang="ru-RU" dirty="0"/>
              <a:t> и </a:t>
            </a:r>
            <a:r>
              <a:rPr lang="ru-RU" dirty="0" err="1"/>
              <a:t>release</a:t>
            </a:r>
            <a:r>
              <a:rPr lang="ru-RU" dirty="0"/>
              <a:t> через барьеры памяти.</a:t>
            </a:r>
          </a:p>
          <a:p>
            <a:r>
              <a:rPr lang="ru-RU" dirty="0"/>
              <a:t>Барьеры памяти — это ограничения, которые запрещают процессору и компилятору менять порядок определённых операций.</a:t>
            </a:r>
          </a:p>
          <a:p>
            <a:r>
              <a:rPr lang="ru-RU" dirty="0"/>
              <a:t>Записи вида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| Store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 |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 | Store</a:t>
            </a:r>
            <a:r>
              <a:rPr lang="ru-RU" dirty="0"/>
              <a:t> означают пары операций, для которых запрещено переупорядочивание. То есть вопрос: можно ли поменять их местами.</a:t>
            </a:r>
            <a:endParaRPr lang="en-US" dirty="0"/>
          </a:p>
          <a:p>
            <a:endParaRPr lang="en-US" dirty="0"/>
          </a:p>
          <a:p>
            <a:r>
              <a:rPr lang="ru-RU" dirty="0"/>
              <a:t>Теперь к </a:t>
            </a:r>
            <a:r>
              <a:rPr lang="ru-RU" dirty="0" err="1"/>
              <a:t>acquire</a:t>
            </a:r>
            <a:r>
              <a:rPr lang="ru-RU" dirty="0"/>
              <a:t>.</a:t>
            </a:r>
          </a:p>
          <a:p>
            <a:r>
              <a:rPr lang="ru-RU" dirty="0" err="1"/>
              <a:t>Acquire</a:t>
            </a:r>
            <a:r>
              <a:rPr lang="ru-RU" dirty="0"/>
              <a:t> применяется к операции чтения и вводит барьер после неё.</a:t>
            </a:r>
          </a:p>
          <a:p>
            <a:r>
              <a:rPr lang="ru-RU" dirty="0"/>
              <a:t>👉 Он запрещает: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dirty="0"/>
              <a:t>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Store</a:t>
            </a:r>
            <a:r>
              <a:rPr lang="ru-RU" dirty="0"/>
              <a:t> </a:t>
            </a:r>
          </a:p>
          <a:p>
            <a:r>
              <a:rPr lang="ru-RU" dirty="0"/>
              <a:t>Это значит, что операции после чтения не могут быть выполнены раньше него. Но операции до него могут “просачиваться” вниз.</a:t>
            </a:r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Теперь </a:t>
            </a:r>
            <a:r>
              <a:rPr lang="ru-RU" dirty="0" err="1"/>
              <a:t>release</a:t>
            </a:r>
            <a:r>
              <a:rPr lang="ru-RU" dirty="0"/>
              <a:t>.</a:t>
            </a:r>
          </a:p>
          <a:p>
            <a:r>
              <a:rPr lang="ru-RU" dirty="0" err="1"/>
              <a:t>Release</a:t>
            </a:r>
            <a:r>
              <a:rPr lang="ru-RU" dirty="0"/>
              <a:t> применяется к записи и вводит барьер перед ней.</a:t>
            </a:r>
          </a:p>
          <a:p>
            <a:r>
              <a:rPr lang="ru-RU" dirty="0"/>
              <a:t>👉 Он запрещает: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 → Store</a:t>
            </a:r>
            <a:r>
              <a:rPr lang="ru-RU" dirty="0"/>
              <a:t>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Store</a:t>
            </a:r>
            <a:r>
              <a:rPr lang="ru-RU" dirty="0"/>
              <a:t> </a:t>
            </a:r>
          </a:p>
          <a:p>
            <a:r>
              <a:rPr lang="ru-RU" dirty="0"/>
              <a:t>Это значит, что все операции до записи гарантированно выполнятся до неё. Но операции после неё могут “подниматься” вверх.</a:t>
            </a:r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Отдельно стоит отметить самый сильный барьер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dirty="0"/>
              <a:t>. Он запрещает переупорядочивание записи и последующего чтения. Это самый дорогой тип барьера, и в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он не используется.</a:t>
            </a:r>
          </a:p>
          <a:p>
            <a:r>
              <a:rPr lang="ru-RU" dirty="0"/>
              <a:t>Если упростить:</a:t>
            </a:r>
          </a:p>
          <a:p>
            <a:r>
              <a:rPr lang="ru-RU" dirty="0"/>
              <a:t>👉 </a:t>
            </a:r>
            <a:r>
              <a:rPr lang="ru-RU" dirty="0" err="1"/>
              <a:t>acquire</a:t>
            </a:r>
            <a:r>
              <a:rPr lang="ru-RU" dirty="0"/>
              <a:t> — запрещает двигать операции вверх</a:t>
            </a:r>
            <a:br>
              <a:rPr lang="ru-RU" dirty="0"/>
            </a:br>
            <a:r>
              <a:rPr lang="ru-RU" dirty="0"/>
              <a:t>👉 </a:t>
            </a:r>
            <a:r>
              <a:rPr lang="ru-RU" dirty="0" err="1"/>
              <a:t>release</a:t>
            </a:r>
            <a:r>
              <a:rPr lang="ru-RU" dirty="0"/>
              <a:t> — запрещает двигать операции вниз</a:t>
            </a:r>
          </a:p>
          <a:p>
            <a:endParaRPr lang="ru-RU" dirty="0"/>
          </a:p>
          <a:p>
            <a:r>
              <a:rPr lang="ru-RU" dirty="0"/>
              <a:t>И вместе они дают ключевой эффект:</a:t>
            </a:r>
          </a:p>
          <a:p>
            <a:r>
              <a:rPr lang="ru-RU" dirty="0"/>
              <a:t>если один поток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, а другой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 той же переменной, возникает </a:t>
            </a:r>
            <a:r>
              <a:rPr lang="ru-RU" dirty="0" err="1"/>
              <a:t>happens-before</a:t>
            </a:r>
            <a:r>
              <a:rPr lang="ru-RU" dirty="0"/>
              <a:t>, и данные корректно передаются между потоками.</a:t>
            </a:r>
          </a:p>
          <a:p>
            <a:r>
              <a:rPr lang="ru-RU" dirty="0"/>
              <a:t>При этом это не полный барьер, а частичный, поэтому он дешевле, чем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64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барьеры памяти — это не сами инструкции процессора.</a:t>
            </a:r>
          </a:p>
          <a:p>
            <a:r>
              <a:rPr lang="ru-RU" dirty="0"/>
              <a:t>Это ограничения, которые задаёт модель памяти: какие операции нельзя менять местами.</a:t>
            </a:r>
          </a:p>
          <a:p>
            <a:r>
              <a:rPr lang="ru-RU" dirty="0"/>
              <a:t>Компилятор и процессор обязаны эти ограничения соблюдать.</a:t>
            </a:r>
          </a:p>
          <a:p>
            <a:r>
              <a:rPr lang="ru-RU" dirty="0"/>
              <a:t>Иногда архитектура уже даёт нужные гарантии, и тогда никаких дополнительных инструкций не нужно, как на x86.</a:t>
            </a:r>
          </a:p>
          <a:p>
            <a:r>
              <a:rPr lang="ru-RU" dirty="0"/>
              <a:t>А иногда, как на ARM, компилятор вставляет специальные инструкции,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stlr</a:t>
            </a:r>
            <a:r>
              <a:rPr lang="ru-RU" dirty="0"/>
              <a:t>.</a:t>
            </a:r>
          </a:p>
          <a:p>
            <a:r>
              <a:rPr lang="ru-RU" dirty="0"/>
              <a:t>То есть барьер — это логическое требование, которое при необходимости превращается в реальные инструкции.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68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</a:t>
            </a:r>
            <a:r>
              <a:rPr lang="ru-RU" dirty="0" err="1"/>
              <a:t>acquire</a:t>
            </a:r>
            <a:r>
              <a:rPr lang="ru-RU" dirty="0"/>
              <a:t>-семантику.</a:t>
            </a:r>
          </a:p>
          <a:p>
            <a:r>
              <a:rPr lang="ru-RU" dirty="0"/>
              <a:t>Она применяется к операциям чтения, то есть к </a:t>
            </a:r>
            <a:r>
              <a:rPr lang="ru-RU" dirty="0" err="1"/>
              <a:t>load</a:t>
            </a:r>
            <a:r>
              <a:rPr lang="ru-RU" dirty="0"/>
              <a:t>.</a:t>
            </a:r>
          </a:p>
          <a:p>
            <a:r>
              <a:rPr lang="ru-RU" dirty="0"/>
              <a:t>Её основная гарантия — это ограничение на переупорядочивание в текущем потоке.</a:t>
            </a:r>
          </a:p>
          <a:p>
            <a:r>
              <a:rPr lang="ru-RU" dirty="0"/>
              <a:t>👉 никакие операции после этого </a:t>
            </a:r>
            <a:r>
              <a:rPr lang="ru-RU" dirty="0" err="1"/>
              <a:t>load</a:t>
            </a:r>
            <a:r>
              <a:rPr lang="ru-RU" dirty="0"/>
              <a:t> не могут быть выполнены раньше него.</a:t>
            </a:r>
          </a:p>
          <a:p>
            <a:endParaRPr lang="ru-RU" dirty="0"/>
          </a:p>
          <a:p>
            <a:r>
              <a:rPr lang="ru-RU" dirty="0"/>
              <a:t>То есть всё, что идёт после </a:t>
            </a:r>
            <a:r>
              <a:rPr lang="ru-RU" dirty="0" err="1"/>
              <a:t>acquire</a:t>
            </a:r>
            <a:r>
              <a:rPr lang="ru-RU" dirty="0"/>
              <a:t>-загрузки, действительно произойдёт после неё. Но самое важное — это взаимодействие между потоками.</a:t>
            </a:r>
          </a:p>
          <a:p>
            <a:r>
              <a:rPr lang="ru-RU" dirty="0"/>
              <a:t>Если другой поток выполнил запись с </a:t>
            </a:r>
            <a:r>
              <a:rPr lang="ru-RU" dirty="0" err="1"/>
              <a:t>release</a:t>
            </a:r>
            <a:r>
              <a:rPr lang="ru-RU" dirty="0"/>
              <a:t>-семантикой в эту же переменную, и наш </a:t>
            </a:r>
            <a:r>
              <a:rPr lang="ru-RU" dirty="0" err="1"/>
              <a:t>load</a:t>
            </a:r>
            <a:r>
              <a:rPr lang="ru-RU" dirty="0"/>
              <a:t> с </a:t>
            </a:r>
            <a:r>
              <a:rPr lang="ru-RU" dirty="0" err="1"/>
              <a:t>acquire</a:t>
            </a:r>
            <a:r>
              <a:rPr lang="ru-RU" dirty="0"/>
              <a:t> прочитал это значение, то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👉 это означает, что мы увидим все изменения, которые были сделаны до </a:t>
            </a:r>
            <a:r>
              <a:rPr lang="ru-RU" dirty="0" err="1"/>
              <a:t>release</a:t>
            </a:r>
            <a:r>
              <a:rPr lang="ru-RU" dirty="0"/>
              <a:t> в другом потоке</a:t>
            </a:r>
          </a:p>
          <a:p>
            <a:endParaRPr lang="ru-RU" dirty="0"/>
          </a:p>
          <a:p>
            <a:r>
              <a:rPr lang="ru-RU" dirty="0"/>
              <a:t>Интуитивно это можно представить так: один поток “публикует” данные через </a:t>
            </a:r>
            <a:r>
              <a:rPr lang="ru-RU" dirty="0" err="1"/>
              <a:t>release</a:t>
            </a:r>
            <a:r>
              <a:rPr lang="ru-RU" dirty="0"/>
              <a:t>, а другой поток “захватывает” их через </a:t>
            </a:r>
            <a:r>
              <a:rPr lang="ru-RU" dirty="0" err="1"/>
              <a:t>acquire</a:t>
            </a:r>
            <a:r>
              <a:rPr lang="ru-RU" dirty="0"/>
              <a:t>.</a:t>
            </a:r>
          </a:p>
          <a:p>
            <a:r>
              <a:rPr lang="ru-RU" dirty="0"/>
              <a:t>После </a:t>
            </a:r>
            <a:r>
              <a:rPr lang="ru-RU" dirty="0" err="1"/>
              <a:t>acquire</a:t>
            </a:r>
            <a:r>
              <a:rPr lang="ru-RU" dirty="0"/>
              <a:t> мы можем безопасно использовать данные, потому что нам гарантирована их согласованная видимость.</a:t>
            </a:r>
          </a:p>
          <a:p>
            <a:endParaRPr lang="ru-RU" dirty="0"/>
          </a:p>
          <a:p>
            <a:r>
              <a:rPr lang="ru-RU" dirty="0"/>
              <a:t>И важно помнить: </a:t>
            </a:r>
            <a:r>
              <a:rPr lang="ru-RU" dirty="0" err="1"/>
              <a:t>acquire</a:t>
            </a:r>
            <a:r>
              <a:rPr lang="ru-RU" dirty="0"/>
              <a:t> — это не полный барьер, он ограничивает только операции после себя, а не все возможные переупорядочивания.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11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</a:t>
            </a:r>
            <a:r>
              <a:rPr lang="ru-RU" dirty="0" err="1"/>
              <a:t>release</a:t>
            </a:r>
            <a:r>
              <a:rPr lang="ru-RU" dirty="0"/>
              <a:t>-семантику.</a:t>
            </a:r>
          </a:p>
          <a:p>
            <a:r>
              <a:rPr lang="ru-RU" dirty="0"/>
              <a:t>Она применяется к операциям записи.</a:t>
            </a:r>
          </a:p>
          <a:p>
            <a:r>
              <a:rPr lang="ru-RU" dirty="0"/>
              <a:t>Её основная гарантия — никакие операции до этой записи не могут быть выполнены после неё.</a:t>
            </a:r>
          </a:p>
          <a:p>
            <a:r>
              <a:rPr lang="ru-RU" dirty="0"/>
              <a:t>То есть всё, что было до </a:t>
            </a:r>
            <a:r>
              <a:rPr lang="ru-RU" dirty="0" err="1"/>
              <a:t>release</a:t>
            </a:r>
            <a:r>
              <a:rPr lang="ru-RU" dirty="0"/>
              <a:t>, действительно завершится до этой записи.</a:t>
            </a:r>
          </a:p>
          <a:p>
            <a:r>
              <a:rPr lang="ru-RU" dirty="0"/>
              <a:t>Но главное — это </a:t>
            </a:r>
            <a:r>
              <a:rPr lang="ru-RU" dirty="0" err="1"/>
              <a:t>межпоточное</a:t>
            </a:r>
            <a:r>
              <a:rPr lang="ru-RU" dirty="0"/>
              <a:t> взаимодействие. 👉 </a:t>
            </a:r>
            <a:r>
              <a:rPr lang="ru-RU" dirty="0" err="1"/>
              <a:t>release</a:t>
            </a:r>
            <a:r>
              <a:rPr lang="ru-RU" dirty="0"/>
              <a:t> “публикует” все предыдущие изменения</a:t>
            </a:r>
          </a:p>
          <a:p>
            <a:r>
              <a:rPr lang="ru-RU" dirty="0"/>
              <a:t>Если другой поток выполнит </a:t>
            </a:r>
            <a:r>
              <a:rPr lang="ru-RU" dirty="0" err="1"/>
              <a:t>acquire</a:t>
            </a:r>
            <a:r>
              <a:rPr lang="ru-RU" dirty="0"/>
              <a:t>-чтение той же переменной и увидит это значение,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он увидит все изменения, сделанные до </a:t>
            </a:r>
            <a:r>
              <a:rPr lang="ru-RU" dirty="0" err="1"/>
              <a:t>release</a:t>
            </a:r>
            <a:r>
              <a:rPr lang="ru-RU" dirty="0"/>
              <a:t>.</a:t>
            </a:r>
          </a:p>
          <a:p>
            <a:r>
              <a:rPr lang="ru-RU" dirty="0"/>
              <a:t>Интуитивно: сначала подготавливаем данные, потом “открываем доступ” к ним через </a:t>
            </a:r>
            <a:r>
              <a:rPr lang="ru-RU" dirty="0" err="1"/>
              <a:t>release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14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 названия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можно интуитивно понять смысл этой семантики.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Acquire</a:t>
            </a:r>
            <a:r>
              <a:rPr lang="ru-RU" dirty="0"/>
              <a:t> — это “захват”, то есть чтение значения и переход к работе с данными.</a:t>
            </a:r>
            <a:br>
              <a:rPr lang="ru-RU" dirty="0"/>
            </a:br>
            <a:r>
              <a:rPr lang="ru-RU" dirty="0" err="1"/>
              <a:t>Release</a:t>
            </a:r>
            <a:r>
              <a:rPr lang="ru-RU" dirty="0"/>
              <a:t> — это “освобождение”, то есть запись значения, которая публикует результат другим потокам.</a:t>
            </a:r>
          </a:p>
          <a:p>
            <a:endParaRPr lang="ru-RU" dirty="0"/>
          </a:p>
          <a:p>
            <a:r>
              <a:rPr lang="ru-RU" dirty="0"/>
              <a:t>На слайде это показано через псевдокод с барьерами памяти.</a:t>
            </a:r>
          </a:p>
          <a:p>
            <a:r>
              <a:rPr lang="ru-RU" dirty="0"/>
              <a:t>После операции </a:t>
            </a:r>
            <a:r>
              <a:rPr lang="ru-RU" dirty="0" err="1"/>
              <a:t>load</a:t>
            </a:r>
            <a:r>
              <a:rPr lang="ru-RU" dirty="0"/>
              <a:t> стоит </a:t>
            </a:r>
            <a:r>
              <a:rPr lang="ru-RU" dirty="0" err="1"/>
              <a:t>acquire</a:t>
            </a:r>
            <a:r>
              <a:rPr lang="ru-RU" dirty="0"/>
              <a:t>-барьер.</a:t>
            </a:r>
            <a:br>
              <a:rPr lang="ru-RU" dirty="0"/>
            </a:br>
            <a:r>
              <a:rPr lang="ru-RU" dirty="0"/>
              <a:t>Он запрещает переупорядочивание операций после него вверх.</a:t>
            </a:r>
          </a:p>
          <a:p>
            <a:r>
              <a:rPr lang="ru-RU" dirty="0"/>
              <a:t>👉 То есть всё, что идёт после </a:t>
            </a:r>
            <a:r>
              <a:rPr lang="ru-RU" dirty="0" err="1"/>
              <a:t>acquire</a:t>
            </a:r>
            <a:r>
              <a:rPr lang="ru-RU" dirty="0"/>
              <a:t>, не может выполниться раньше этого чтения.</a:t>
            </a:r>
          </a:p>
          <a:p>
            <a:endParaRPr lang="ru-RU" dirty="0"/>
          </a:p>
          <a:p>
            <a:r>
              <a:rPr lang="ru-RU" dirty="0"/>
              <a:t>Перед операцией </a:t>
            </a:r>
            <a:r>
              <a:rPr lang="ru-RU" dirty="0" err="1"/>
              <a:t>store</a:t>
            </a:r>
            <a:r>
              <a:rPr lang="ru-RU" dirty="0"/>
              <a:t> стоит </a:t>
            </a:r>
            <a:r>
              <a:rPr lang="ru-RU" dirty="0" err="1"/>
              <a:t>release</a:t>
            </a:r>
            <a:r>
              <a:rPr lang="ru-RU" dirty="0"/>
              <a:t>-барьер.</a:t>
            </a:r>
            <a:br>
              <a:rPr lang="ru-RU" dirty="0"/>
            </a:br>
            <a:r>
              <a:rPr lang="ru-RU" dirty="0"/>
              <a:t>Он запрещает переупорядочивание операций до него вниз.</a:t>
            </a:r>
          </a:p>
          <a:p>
            <a:r>
              <a:rPr lang="ru-RU" dirty="0"/>
              <a:t>👉 То есть всё, что было до </a:t>
            </a:r>
            <a:r>
              <a:rPr lang="ru-RU" dirty="0" err="1"/>
              <a:t>release</a:t>
            </a:r>
            <a:r>
              <a:rPr lang="ru-RU" dirty="0"/>
              <a:t>, гарантированно выполнится до записи.</a:t>
            </a:r>
          </a:p>
          <a:p>
            <a:r>
              <a:rPr lang="ru-RU" dirty="0"/>
              <a:t>Обратите внимание, что здесь нет самого тяжёлого барьера — </a:t>
            </a:r>
            <a:r>
              <a:rPr lang="ru-RU" dirty="0" err="1"/>
              <a:t>StoreLoad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значит, что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— это не полные барьеры, а так называемые </a:t>
            </a:r>
            <a:r>
              <a:rPr lang="ru-RU" dirty="0" err="1"/>
              <a:t>полубарьеры</a:t>
            </a:r>
            <a:r>
              <a:rPr lang="ru-RU" dirty="0"/>
              <a:t>.</a:t>
            </a:r>
          </a:p>
          <a:p>
            <a:r>
              <a:rPr lang="ru-RU" dirty="0"/>
              <a:t>Они ограничивают только часть </a:t>
            </a:r>
            <a:r>
              <a:rPr lang="ru-RU" dirty="0" err="1"/>
              <a:t>переупорядочиваний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acquire</a:t>
            </a:r>
            <a:r>
              <a:rPr lang="ru-RU" dirty="0"/>
              <a:t> не контролирует всё, что происходит до него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release</a:t>
            </a:r>
            <a:r>
              <a:rPr lang="ru-RU" dirty="0"/>
              <a:t> не контролирует всё, что происходит после него </a:t>
            </a:r>
          </a:p>
          <a:p>
            <a:endParaRPr lang="ru-RU" dirty="0"/>
          </a:p>
          <a:p>
            <a:r>
              <a:rPr lang="ru-RU" dirty="0"/>
              <a:t>Поэтому возможны ситуации, когда операции “просачиваются” внутрь этой области:</a:t>
            </a:r>
            <a:br>
              <a:rPr lang="ru-RU" dirty="0"/>
            </a:br>
            <a:r>
              <a:rPr lang="ru-RU" dirty="0"/>
              <a:t>часть операций до </a:t>
            </a:r>
            <a:r>
              <a:rPr lang="ru-RU" dirty="0" err="1"/>
              <a:t>acquire</a:t>
            </a:r>
            <a:r>
              <a:rPr lang="ru-RU" dirty="0"/>
              <a:t> может оказаться после него, а часть операций после </a:t>
            </a:r>
            <a:r>
              <a:rPr lang="ru-RU" dirty="0" err="1"/>
              <a:t>release</a:t>
            </a:r>
            <a:r>
              <a:rPr lang="ru-RU" dirty="0"/>
              <a:t> — до него.</a:t>
            </a:r>
          </a:p>
          <a:p>
            <a:endParaRPr lang="ru-RU" dirty="0"/>
          </a:p>
          <a:p>
            <a:r>
              <a:rPr lang="ru-RU" dirty="0"/>
              <a:t>Но есть важное ограничение:</a:t>
            </a:r>
          </a:p>
          <a:p>
            <a:r>
              <a:rPr lang="ru-RU" dirty="0"/>
              <a:t>👉 операции внутри участка между </a:t>
            </a:r>
            <a:r>
              <a:rPr lang="ru-RU" dirty="0" err="1"/>
              <a:t>acquire</a:t>
            </a:r>
            <a:r>
              <a:rPr lang="ru-RU" dirty="0"/>
              <a:t> и </a:t>
            </a:r>
            <a:r>
              <a:rPr lang="ru-RU" dirty="0" err="1"/>
              <a:t>release</a:t>
            </a:r>
            <a:r>
              <a:rPr lang="ru-RU" dirty="0"/>
              <a:t> не выйдут за его границы</a:t>
            </a:r>
          </a:p>
          <a:p>
            <a:endParaRPr lang="ru-RU" dirty="0"/>
          </a:p>
          <a:p>
            <a:r>
              <a:rPr lang="ru-RU" dirty="0"/>
              <a:t>Именно это свойство позволяет использовать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как лёгкий механизм синхронизации:</a:t>
            </a:r>
            <a:br>
              <a:rPr lang="ru-RU" dirty="0"/>
            </a:br>
            <a:r>
              <a:rPr lang="ru-RU" dirty="0"/>
              <a:t>мы не вводим полный глобальный порядок, как в </a:t>
            </a:r>
            <a:r>
              <a:rPr lang="ru-RU" dirty="0" err="1"/>
              <a:t>seq_cst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всё ещё можем корректно передавать данные между потоками.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624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передачи данных между потоками.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Фоновый поток сначала записывает значение в обычную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message</a:t>
            </a:r>
            <a:r>
              <a:rPr lang="ru-RU" dirty="0"/>
              <a:t>, а затем публикует результат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ready.store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Главный поток ждёт, пока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ru-RU" dirty="0"/>
              <a:t> станет равным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используя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.</a:t>
            </a:r>
          </a:p>
          <a:p>
            <a:r>
              <a:rPr lang="ru-RU" dirty="0"/>
              <a:t>Как только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-чтение видит значение, записанное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,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👉 Это означает, что главный поток увидит все изменения, сделанные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после выхода из цикла мы можем безопасно читать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message</a:t>
            </a:r>
            <a:r>
              <a:rPr lang="ru-RU" dirty="0"/>
              <a:t>, хотя она записывалась </a:t>
            </a:r>
            <a:r>
              <a:rPr lang="ru-RU" dirty="0" err="1"/>
              <a:t>неатомарно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Важно, что поток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ru-RU" dirty="0"/>
              <a:t> продолжает работать после публикации, но это не влияет на корректность: нам гарантировано, что нужные данные уже видны.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и есть базовый паттерн: один поток публикует данные через </a:t>
            </a:r>
            <a:r>
              <a:rPr lang="ru-RU" dirty="0" err="1"/>
              <a:t>release</a:t>
            </a:r>
            <a:r>
              <a:rPr lang="ru-RU" dirty="0"/>
              <a:t>, другой — читает их через </a:t>
            </a:r>
            <a:r>
              <a:rPr lang="ru-RU" dirty="0" err="1"/>
              <a:t>acquire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05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 реализуют атомарный паттерн “сравнить и заменить”.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сравниваем текущее значение атомарной переменной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. Если они равны, записываем новое значение. Если нет, операция завершается неудачей и обновляет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Есть две версии.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compare_exchange_weak</a:t>
            </a:r>
            <a:r>
              <a:rPr lang="ru-RU" dirty="0"/>
              <a:t> может иногда возвращать </a:t>
            </a:r>
            <a:r>
              <a:rPr lang="ru-RU" dirty="0" err="1"/>
              <a:t>false</a:t>
            </a:r>
            <a:r>
              <a:rPr lang="ru-RU" dirty="0"/>
              <a:t> даже если значения совпадают. Это называется ложной неудачей, и поэтому его обычно используют в циклах.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compare_exchange_strong</a:t>
            </a:r>
            <a:r>
              <a:rPr lang="ru-RU" dirty="0"/>
              <a:t> не даёт таких ложных неудач и подходит, когда мы делаем одну попытку.</a:t>
            </a:r>
          </a:p>
          <a:p>
            <a:endParaRPr lang="en-US" dirty="0"/>
          </a:p>
          <a:p>
            <a:r>
              <a:rPr lang="ru-RU" dirty="0"/>
              <a:t>Важно помнить,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 передаётся по ссылке и изменяется при неудаче. Это часто неожиданно и требует аккуратного использования.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операции лежат в основе многих примитивов синхронизации и </a:t>
            </a:r>
            <a:r>
              <a:rPr lang="ru-RU" dirty="0" err="1"/>
              <a:t>lock-free</a:t>
            </a:r>
            <a:r>
              <a:rPr lang="ru-RU" dirty="0"/>
              <a:t> алгоритмов.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52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простой пример — реализацию </a:t>
            </a:r>
            <a:r>
              <a:rPr lang="ru-RU" dirty="0" err="1"/>
              <a:t>spinlock</a:t>
            </a:r>
            <a:r>
              <a:rPr lang="ru-RU" dirty="0"/>
              <a:t> через атомарную переменную.</a:t>
            </a:r>
          </a:p>
          <a:p>
            <a:r>
              <a:rPr lang="ru-RU" dirty="0"/>
              <a:t>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atomic_bool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m_flag</a:t>
            </a:r>
            <a:r>
              <a:rPr lang="ru-RU" dirty="0"/>
              <a:t>, которая показывает, захвачен ли мьютекс.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пытается установить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. Если это не удалось, поток крутится в цикле и пробует снова.</a:t>
            </a:r>
          </a:p>
          <a:p>
            <a:r>
              <a:rPr lang="ru-RU" dirty="0"/>
              <a:t>Обратите внимание на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</a:t>
            </a:r>
            <a:r>
              <a:rPr lang="ru-RU" dirty="0"/>
              <a:t>: он принимает первый аргумент по ссылке и изменяет его при неудаче, поэтому приходится писать цикл с повторной инициализацией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</a:t>
            </a:r>
            <a:r>
              <a:rPr lang="ru-RU" dirty="0"/>
              <a:t>.</a:t>
            </a:r>
          </a:p>
          <a:p>
            <a:r>
              <a:rPr lang="ru-RU" dirty="0"/>
              <a:t>Теперь самое важное —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.</a:t>
            </a:r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memory_order_acquire</a:t>
            </a:r>
            <a:r>
              <a:rPr lang="ru-RU" dirty="0"/>
              <a:t>. Это означает, что после успешного захвата блокировки никакие операции не могут “перепрыгнуть” выше него.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dirty="0"/>
              <a:t>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memory_order_release</a:t>
            </a:r>
            <a:r>
              <a:rPr lang="ru-RU" dirty="0"/>
              <a:t>. Это гарантирует, что все операции внутри критической секции завершатся до освобождения блокировки.</a:t>
            </a:r>
          </a:p>
          <a:p>
            <a:r>
              <a:rPr lang="ru-RU" dirty="0"/>
              <a:t>👉 В результате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dirty="0"/>
              <a:t> в одном потоке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в другом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поток, захвативший мьютекс, увидит все изменения, сделанные предыдущим владельцем.</a:t>
            </a:r>
          </a:p>
          <a:p>
            <a:endParaRPr lang="ru-RU" dirty="0"/>
          </a:p>
          <a:p>
            <a:r>
              <a:rPr lang="ru-RU" dirty="0"/>
              <a:t>Именно это и делает примитив синхронизации корректным.</a:t>
            </a:r>
          </a:p>
          <a:p>
            <a:r>
              <a:rPr lang="ru-RU" dirty="0"/>
              <a:t>При этом атомарность переменной гарантирует, что только один поток может установить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m_flag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а значит — только один поток может владеть блокировкой в каждый момент времени.</a:t>
            </a:r>
          </a:p>
          <a:p>
            <a:r>
              <a:rPr lang="ru-RU" dirty="0"/>
              <a:t>Это классический пример того, как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используются для реализации примитивов синхронизации.</a:t>
            </a:r>
          </a:p>
          <a:p>
            <a:endParaRPr lang="ru-RU" dirty="0"/>
          </a:p>
          <a:p>
            <a:r>
              <a:rPr lang="ru-RU" dirty="0"/>
              <a:t>Теперь пару слов про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try_lock</a:t>
            </a:r>
            <a:r>
              <a:rPr lang="ru-RU" dirty="0"/>
              <a:t>.</a:t>
            </a:r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, он не крутится в цикле, а делает одну попытку захвата блокировки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compare_exchange_strong</a:t>
            </a:r>
            <a:r>
              <a:rPr lang="ru-RU" dirty="0"/>
              <a:t>.</a:t>
            </a:r>
          </a:p>
          <a:p>
            <a:r>
              <a:rPr lang="ru-RU" dirty="0"/>
              <a:t>Если в этот момент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m_flag</a:t>
            </a:r>
            <a:r>
              <a:rPr lang="ru-RU" dirty="0"/>
              <a:t> был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он становится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и мы успешно захватываем блокировку.</a:t>
            </a:r>
          </a:p>
          <a:p>
            <a:r>
              <a:rPr lang="ru-RU" dirty="0"/>
              <a:t>Если нет — просто возвращаем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 и не ждём.</a:t>
            </a:r>
          </a:p>
          <a:p>
            <a:r>
              <a:rPr lang="ru-RU" dirty="0"/>
              <a:t>При этом здесь также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memory_order_acquire</a:t>
            </a:r>
            <a:r>
              <a:rPr lang="ru-RU" dirty="0"/>
              <a:t>, поэтому в случае успеха мы получаем те же гарантии, что и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: все последующие операции увидят корректное состояние данных.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Теперь про деструктор.</a:t>
            </a:r>
          </a:p>
          <a:p>
            <a:r>
              <a:rPr lang="ru-RU" dirty="0"/>
              <a:t>В деструкторе стоит проверка: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m_flag.load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dirty="0"/>
              <a:t>Она гарантирует, что к моменту уничтожения мьютекс не захвачен.</a:t>
            </a:r>
          </a:p>
          <a:p>
            <a:r>
              <a:rPr lang="ru-RU" dirty="0"/>
              <a:t>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, потому что нам не нужна синхронизация — мы просто читаем текущее значение для проверки.</a:t>
            </a:r>
          </a:p>
          <a:p>
            <a:r>
              <a:rPr lang="ru-RU" dirty="0"/>
              <a:t>👉 Это важный момент: не всегда нужен </a:t>
            </a:r>
            <a:r>
              <a:rPr lang="ru-RU" dirty="0" err="1"/>
              <a:t>acquire</a:t>
            </a:r>
            <a:r>
              <a:rPr lang="ru-RU" dirty="0"/>
              <a:t> или </a:t>
            </a:r>
            <a:r>
              <a:rPr lang="ru-RU" dirty="0" err="1"/>
              <a:t>release</a:t>
            </a:r>
            <a:r>
              <a:rPr lang="ru-RU" dirty="0"/>
              <a:t>. Если нам нужна только атомарность, без порядка, можно использовать </a:t>
            </a:r>
            <a:r>
              <a:rPr lang="ru-RU" dirty="0" err="1"/>
              <a:t>relaxed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794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пример ленивой инициализации, который мы уже рассматривали на прошлой лекции.</a:t>
            </a:r>
          </a:p>
          <a:p>
            <a:r>
              <a:rPr lang="ru-RU" dirty="0"/>
              <a:t>Тогда мы использовали атомарную переменную, но не указывали явно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594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что изменилось и зачем.</a:t>
            </a:r>
          </a:p>
          <a:p>
            <a:r>
              <a:rPr lang="ru-RU" dirty="0"/>
              <a:t>Первое чтение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m_data</a:t>
            </a:r>
            <a:r>
              <a:rPr lang="ru-RU" dirty="0"/>
              <a:t> выполняется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memory_order_acquire</a:t>
            </a:r>
            <a:r>
              <a:rPr lang="ru-RU" dirty="0"/>
              <a:t>.</a:t>
            </a:r>
          </a:p>
          <a:p>
            <a:r>
              <a:rPr lang="ru-RU" dirty="0"/>
              <a:t>👉 Это означает, что если мы увидели ненулевой указатель, то нам гарантировано, что все данные, записанные при инициализации, уже видны в этом потоке.</a:t>
            </a:r>
          </a:p>
          <a:p>
            <a:r>
              <a:rPr lang="ru-RU" dirty="0"/>
              <a:t>Если указатель равен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, мы заходим в критическую секцию под мьютексом.</a:t>
            </a:r>
          </a:p>
          <a:p>
            <a:endParaRPr lang="ru-RU" dirty="0"/>
          </a:p>
          <a:p>
            <a:r>
              <a:rPr lang="ru-RU" dirty="0"/>
              <a:t>Внутри мы делаем повторную проверку, но уже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memory_order_relaxed</a:t>
            </a:r>
            <a:r>
              <a:rPr lang="ru-RU" dirty="0"/>
              <a:t>.</a:t>
            </a:r>
          </a:p>
          <a:p>
            <a:r>
              <a:rPr lang="ru-RU" dirty="0"/>
              <a:t>👉 Здесь синхронизация не нужна, потому что мьютекс уже даёт все необходимые гарантии.</a:t>
            </a:r>
          </a:p>
          <a:p>
            <a:endParaRPr lang="ru-RU" dirty="0"/>
          </a:p>
          <a:p>
            <a:r>
              <a:rPr lang="ru-RU" dirty="0"/>
              <a:t>Если объект ещё не создан, мы его создаём и затем записываем указатель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memory_order_release</a:t>
            </a:r>
            <a:r>
              <a:rPr lang="ru-RU" dirty="0"/>
              <a:t>.</a:t>
            </a:r>
          </a:p>
          <a:p>
            <a:r>
              <a:rPr lang="ru-RU" dirty="0"/>
              <a:t>👉 Это “публикация” объекта: все записи, связанные с его инициализацией, становятся видны другим потокам.</a:t>
            </a:r>
          </a:p>
          <a:p>
            <a:endParaRPr lang="ru-RU" dirty="0"/>
          </a:p>
          <a:p>
            <a:r>
              <a:rPr lang="ru-RU" dirty="0"/>
              <a:t>Теперь возникает пара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 поток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другой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между ними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👉 Это гарантирует, что поток, который увидел ненулевой указатель, увидит полностью инициализированный объект.</a:t>
            </a:r>
          </a:p>
          <a:p>
            <a:endParaRPr lang="ru-RU" dirty="0"/>
          </a:p>
          <a:p>
            <a:r>
              <a:rPr lang="ru-RU" dirty="0"/>
              <a:t>Таким образом, мы избегаем лишней синхронизации и при этом сохраняем корректность.</a:t>
            </a:r>
          </a:p>
          <a:p>
            <a:r>
              <a:rPr lang="ru-RU" dirty="0"/>
              <a:t>Это типичный пример оптимизации: мы оставляем сильные гарантии только там, где они действительно нужны.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При этом важно отметить, что на практике на x86 мы, скорее всего, не увидим разницы в производительности по сравнению с вариантом без явного указания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.</a:t>
            </a:r>
          </a:p>
          <a:p>
            <a:r>
              <a:rPr lang="ru-RU" dirty="0"/>
              <a:t>Это связано с тем, что x86 сам по себе даёт довольно сильные гарантии, и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часто компилируются в те же инструкции.</a:t>
            </a:r>
          </a:p>
          <a:p>
            <a:r>
              <a:rPr lang="ru-RU" dirty="0"/>
              <a:t>Но с точки зрения модели памяти это корректный и переносимый код, который будет работать правильно и на более слабых архитектурах, таких как ARM.</a:t>
            </a:r>
          </a:p>
          <a:p>
            <a:r>
              <a:rPr lang="ru-RU" dirty="0"/>
              <a:t>Таким образом, мы избегаем лишней синхронизации и при этом сохраняем корректность.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046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324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Fence</a:t>
            </a:r>
            <a:r>
              <a:rPr lang="ru-RU" dirty="0"/>
              <a:t>-операции — это особый инструмент в модели памяти.</a:t>
            </a:r>
          </a:p>
          <a:p>
            <a:r>
              <a:rPr lang="ru-RU" dirty="0"/>
              <a:t>В отличие от обычных атомарных операций, они не читают и не записывают данные.</a:t>
            </a:r>
          </a:p>
          <a:p>
            <a:r>
              <a:rPr lang="ru-RU" dirty="0"/>
              <a:t>👉 Их задача — только ограничить порядок выполнения операций.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Чаще всего они используются вместе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-операциями.</a:t>
            </a:r>
          </a:p>
          <a:p>
            <a:r>
              <a:rPr lang="ru-RU" dirty="0"/>
              <a:t>Как мы уже обсуждали, </a:t>
            </a:r>
            <a:r>
              <a:rPr lang="ru-RU" dirty="0" err="1"/>
              <a:t>relaxed</a:t>
            </a:r>
            <a:r>
              <a:rPr lang="ru-RU" dirty="0"/>
              <a:t> не даёт никакого порядка между потоками.</a:t>
            </a:r>
          </a:p>
          <a:p>
            <a:r>
              <a:rPr lang="ru-RU" dirty="0"/>
              <a:t>И здесь появляется идея: мы можем использовать дешёвые </a:t>
            </a:r>
            <a:r>
              <a:rPr lang="ru-RU" dirty="0" err="1"/>
              <a:t>relaxed</a:t>
            </a:r>
            <a:r>
              <a:rPr lang="ru-RU" dirty="0"/>
              <a:t>-операции, а нужный порядок добавить отдельно через </a:t>
            </a:r>
            <a:r>
              <a:rPr lang="ru-RU" dirty="0" err="1"/>
              <a:t>fence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 err="1"/>
              <a:t>Fence</a:t>
            </a:r>
            <a:r>
              <a:rPr lang="ru-RU" dirty="0"/>
              <a:t> запрещает определённые переупорядочивания как для компилятора, так и для процессора.</a:t>
            </a:r>
          </a:p>
          <a:p>
            <a:r>
              <a:rPr lang="ru-RU" dirty="0"/>
              <a:t>Но важно понимать:</a:t>
            </a:r>
          </a:p>
          <a:p>
            <a:r>
              <a:rPr lang="ru-RU" dirty="0"/>
              <a:t>👉 сам по себе </a:t>
            </a:r>
            <a:r>
              <a:rPr lang="ru-RU" dirty="0" err="1"/>
              <a:t>fence</a:t>
            </a:r>
            <a:r>
              <a:rPr lang="ru-RU" dirty="0"/>
              <a:t> не передаёт данные между потоками</a:t>
            </a:r>
          </a:p>
          <a:p>
            <a:endParaRPr lang="en-US" dirty="0"/>
          </a:p>
          <a:p>
            <a:r>
              <a:rPr lang="ru-RU" dirty="0"/>
              <a:t>Чтобы возник </a:t>
            </a:r>
            <a:r>
              <a:rPr lang="ru-RU" dirty="0" err="1"/>
              <a:t>happens-before</a:t>
            </a:r>
            <a:r>
              <a:rPr lang="ru-RU" dirty="0"/>
              <a:t>, всё равно нужна атомарная переменная, через которую потоки “встречаются”.</a:t>
            </a:r>
          </a:p>
          <a:p>
            <a:r>
              <a:rPr lang="ru-RU" dirty="0"/>
              <a:t>То есть </a:t>
            </a:r>
            <a:r>
              <a:rPr lang="ru-RU" dirty="0" err="1"/>
              <a:t>fence</a:t>
            </a:r>
            <a:r>
              <a:rPr lang="ru-RU" dirty="0"/>
              <a:t> — это инструмент, который позволяет более точно управлять порядком, но требует аккуратного использования и обычно применяется в более сложных сценариях.</a:t>
            </a:r>
            <a:endParaRPr lang="en-US" dirty="0"/>
          </a:p>
          <a:p>
            <a:endParaRPr lang="en-US" dirty="0"/>
          </a:p>
          <a:p>
            <a:r>
              <a:rPr lang="ru-RU" dirty="0"/>
              <a:t>Отдельно важно понимать, как </a:t>
            </a:r>
            <a:r>
              <a:rPr lang="ru-RU" dirty="0" err="1"/>
              <a:t>fence</a:t>
            </a:r>
            <a:r>
              <a:rPr lang="ru-RU" dirty="0"/>
              <a:t> реализуется на уровне железа.</a:t>
            </a:r>
          </a:p>
          <a:p>
            <a:r>
              <a:rPr lang="ru-RU" dirty="0"/>
              <a:t>👉 Это такие же логические ограничения, как и </a:t>
            </a:r>
            <a:r>
              <a:rPr lang="ru-RU" dirty="0" err="1"/>
              <a:t>memory_order</a:t>
            </a:r>
            <a:r>
              <a:rPr lang="ru-RU" dirty="0"/>
              <a:t>, но при необходимости они превращаются в реальные инструкции.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x86 многие из этих гарантий уже обеспечиваются архитектурой, поэтому </a:t>
            </a:r>
            <a:r>
              <a:rPr lang="ru-RU" dirty="0" err="1"/>
              <a:t>fence</a:t>
            </a:r>
            <a:r>
              <a:rPr lang="ru-RU" dirty="0"/>
              <a:t> может не требовать дополнительных инструкций или использовать тяжёлый барьер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mfence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более слабых архитектурах, например ARM, используются специальные инструкции,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dmb</a:t>
            </a:r>
            <a:r>
              <a:rPr lang="ru-RU" dirty="0"/>
              <a:t>, которые явно ограничивают переупорядочивание.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ещё раз показывает, что </a:t>
            </a:r>
            <a:r>
              <a:rPr lang="ru-RU" dirty="0" err="1"/>
              <a:t>fence</a:t>
            </a:r>
            <a:r>
              <a:rPr lang="ru-RU" dirty="0"/>
              <a:t> — это не просто теория, а реальные ограничения, которые могут стоить производительности.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83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atomic_thread_fence</a:t>
            </a:r>
            <a:r>
              <a:rPr lang="ru-RU" dirty="0"/>
              <a:t> — это барьер памяти, который не читает и не записывает данные, а только ограничивает порядок операций.</a:t>
            </a:r>
          </a:p>
          <a:p>
            <a:endParaRPr lang="ru-RU" dirty="0"/>
          </a:p>
          <a:p>
            <a:r>
              <a:rPr lang="ru-RU" dirty="0"/>
              <a:t>Он применяется к обычным и </a:t>
            </a:r>
            <a:r>
              <a:rPr lang="ru-RU" dirty="0" err="1"/>
              <a:t>relaxed</a:t>
            </a:r>
            <a:r>
              <a:rPr lang="ru-RU" dirty="0"/>
              <a:t>-операциям, когда нам нужно добавить порядок без изменения самих атомарных операций.</a:t>
            </a:r>
          </a:p>
          <a:p>
            <a:endParaRPr lang="ru-RU" dirty="0"/>
          </a:p>
          <a:p>
            <a:r>
              <a:rPr lang="ru-RU" dirty="0"/>
              <a:t>Но важно понимать:</a:t>
            </a:r>
          </a:p>
          <a:p>
            <a:r>
              <a:rPr lang="ru-RU" dirty="0"/>
              <a:t>👉 </a:t>
            </a:r>
            <a:r>
              <a:rPr lang="ru-RU" dirty="0" err="1"/>
              <a:t>fence</a:t>
            </a:r>
            <a:r>
              <a:rPr lang="ru-RU" dirty="0"/>
              <a:t> сам по себе не создаёт синхронизацию</a:t>
            </a:r>
          </a:p>
          <a:p>
            <a:endParaRPr lang="ru-RU" dirty="0"/>
          </a:p>
          <a:p>
            <a:r>
              <a:rPr lang="ru-RU" dirty="0"/>
              <a:t>Чтобы возник </a:t>
            </a:r>
            <a:r>
              <a:rPr lang="ru-RU" dirty="0" err="1"/>
              <a:t>happens-before</a:t>
            </a:r>
            <a:r>
              <a:rPr lang="ru-RU" dirty="0"/>
              <a:t>, всё равно нужна атомарная переменная, через которую потоки связываются.</a:t>
            </a:r>
          </a:p>
          <a:p>
            <a:r>
              <a:rPr lang="ru-RU" dirty="0" err="1"/>
              <a:t>Fence</a:t>
            </a:r>
            <a:r>
              <a:rPr lang="ru-RU" dirty="0"/>
              <a:t> просто помогает “достроить” нужный порядок вокруг этой точки синхронизации.</a:t>
            </a:r>
          </a:p>
          <a:p>
            <a:r>
              <a:rPr lang="ru-RU" dirty="0"/>
              <a:t>Поэтому его обычно используют в более продвинутых сценариях, когда хочется тонко контролировать порядок выполнения.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877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важный приём: как с помощью </a:t>
            </a:r>
            <a:r>
              <a:rPr lang="ru-RU" dirty="0" err="1"/>
              <a:t>fence</a:t>
            </a:r>
            <a:r>
              <a:rPr lang="ru-RU" dirty="0"/>
              <a:t> можно организовать синхронизацию даже с </a:t>
            </a:r>
            <a:r>
              <a:rPr lang="ru-RU" dirty="0" err="1"/>
              <a:t>relaxed</a:t>
            </a:r>
            <a:r>
              <a:rPr lang="ru-RU" dirty="0"/>
              <a:t>-операциями.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потоке A мы сначала выполняем обычные записи, затем ставим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release-fence</a:t>
            </a:r>
            <a:r>
              <a:rPr lang="ru-RU" dirty="0"/>
              <a:t>, и после этого записываем флаг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.</a:t>
            </a:r>
          </a:p>
          <a:p>
            <a:r>
              <a:rPr lang="ru-RU" dirty="0"/>
              <a:t>В потоке B мы читаем этот флаг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dirty="0"/>
              <a:t>.</a:t>
            </a:r>
          </a:p>
          <a:p>
            <a:r>
              <a:rPr lang="ru-RU" dirty="0"/>
              <a:t>Если </a:t>
            </a:r>
            <a:r>
              <a:rPr lang="ru-RU" dirty="0" err="1"/>
              <a:t>acquire</a:t>
            </a:r>
            <a:r>
              <a:rPr lang="ru-RU" dirty="0"/>
              <a:t>-операция увидела значение, записанное в A,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👉 Это означает, что все записи до </a:t>
            </a:r>
            <a:r>
              <a:rPr lang="ru-RU" dirty="0" err="1"/>
              <a:t>fence</a:t>
            </a:r>
            <a:r>
              <a:rPr lang="ru-RU" dirty="0"/>
              <a:t> в потоке A будут видны после </a:t>
            </a:r>
            <a:r>
              <a:rPr lang="ru-RU" dirty="0" err="1"/>
              <a:t>acquire</a:t>
            </a:r>
            <a:r>
              <a:rPr lang="ru-RU" dirty="0"/>
              <a:t> в потоке B.</a:t>
            </a:r>
          </a:p>
          <a:p>
            <a:r>
              <a:rPr lang="ru-RU" dirty="0"/>
              <a:t>Обратите внимание: сама запись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flag</a:t>
            </a:r>
            <a:r>
              <a:rPr lang="ru-RU" dirty="0"/>
              <a:t> может быть </a:t>
            </a:r>
            <a:r>
              <a:rPr lang="ru-RU" dirty="0" err="1"/>
              <a:t>relaxed</a:t>
            </a:r>
            <a:r>
              <a:rPr lang="ru-RU" dirty="0"/>
              <a:t>.</a:t>
            </a:r>
          </a:p>
          <a:p>
            <a:r>
              <a:rPr lang="ru-RU" dirty="0"/>
              <a:t>👉 Порядок обеспечивается не ей, а </a:t>
            </a:r>
            <a:r>
              <a:rPr lang="ru-RU" dirty="0" err="1"/>
              <a:t>fence</a:t>
            </a:r>
            <a:r>
              <a:rPr lang="ru-RU" dirty="0"/>
              <a:t> перед ней.</a:t>
            </a:r>
          </a:p>
          <a:p>
            <a:r>
              <a:rPr lang="ru-RU" dirty="0"/>
              <a:t>Это показывает, что </a:t>
            </a:r>
            <a:r>
              <a:rPr lang="ru-RU" dirty="0" err="1"/>
              <a:t>fence</a:t>
            </a:r>
            <a:r>
              <a:rPr lang="ru-RU" dirty="0"/>
              <a:t> можно использовать для “переноса” </a:t>
            </a:r>
            <a:r>
              <a:rPr lang="ru-RU" dirty="0" err="1"/>
              <a:t>release</a:t>
            </a:r>
            <a:r>
              <a:rPr lang="ru-RU" dirty="0"/>
              <a:t>-семантики на обычные операции.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279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5C9D-5EE1-FF6A-ED45-47592913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8DF82-9C07-53F1-D562-4B972353E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10325-3983-2EEB-6BF8-A44B65C2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симметричный случай предыдущего примера.</a:t>
            </a:r>
          </a:p>
          <a:p>
            <a:r>
              <a:rPr lang="ru-RU" dirty="0"/>
              <a:t>В потоке A мы используем обычную атомарную запись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memory_order_release</a:t>
            </a:r>
            <a:r>
              <a:rPr lang="ru-RU" dirty="0"/>
              <a:t>, которая публикует данные.</a:t>
            </a:r>
          </a:p>
          <a:p>
            <a:r>
              <a:rPr lang="ru-RU" dirty="0"/>
              <a:t>В потоке B мы сначала читаем флаг, причём даже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, а затем ставим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acquire-fence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чтение увидело значение, записанное в потоке A, и затем выполняется </a:t>
            </a:r>
            <a:r>
              <a:rPr lang="ru-RU" dirty="0" err="1"/>
              <a:t>acquire-fence</a:t>
            </a:r>
            <a:r>
              <a:rPr lang="ru-RU" dirty="0"/>
              <a:t>,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👉 Это означает, что все записи до </a:t>
            </a:r>
            <a:r>
              <a:rPr lang="ru-RU" dirty="0" err="1"/>
              <a:t>release</a:t>
            </a:r>
            <a:r>
              <a:rPr lang="ru-RU" dirty="0"/>
              <a:t> в потоке A будут видны после </a:t>
            </a:r>
            <a:r>
              <a:rPr lang="ru-RU" dirty="0" err="1"/>
              <a:t>fence</a:t>
            </a:r>
            <a:r>
              <a:rPr lang="ru-RU" dirty="0"/>
              <a:t> в потоке B.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 на важный момент:</a:t>
            </a:r>
          </a:p>
          <a:p>
            <a:r>
              <a:rPr lang="ru-RU" dirty="0"/>
              <a:t>👉 сама операция </a:t>
            </a:r>
            <a:r>
              <a:rPr lang="ru-RU" dirty="0" err="1"/>
              <a:t>load</a:t>
            </a:r>
            <a:r>
              <a:rPr lang="ru-RU" dirty="0"/>
              <a:t> может быть </a:t>
            </a:r>
            <a:r>
              <a:rPr lang="ru-RU" dirty="0" err="1"/>
              <a:t>relaxed</a:t>
            </a:r>
            <a:br>
              <a:rPr lang="ru-RU" dirty="0"/>
            </a:br>
            <a:r>
              <a:rPr lang="ru-RU" dirty="0"/>
              <a:t>👉 порядок обеспечивается </a:t>
            </a:r>
            <a:r>
              <a:rPr lang="ru-RU" dirty="0" err="1"/>
              <a:t>fence</a:t>
            </a:r>
            <a:r>
              <a:rPr lang="ru-RU" dirty="0"/>
              <a:t> после неё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То есть </a:t>
            </a:r>
            <a:r>
              <a:rPr lang="ru-RU" dirty="0" err="1"/>
              <a:t>acquire</a:t>
            </a:r>
            <a:r>
              <a:rPr lang="ru-RU" dirty="0"/>
              <a:t>-семантика “переносится” с операции чтения на </a:t>
            </a:r>
            <a:r>
              <a:rPr lang="ru-RU" dirty="0" err="1"/>
              <a:t>fence</a:t>
            </a:r>
            <a:r>
              <a:rPr lang="ru-RU" dirty="0"/>
              <a:t>.</a:t>
            </a:r>
          </a:p>
          <a:p>
            <a:r>
              <a:rPr lang="ru-RU" dirty="0"/>
              <a:t>Это ещё один способ гибко управлять порядком, разделяя доступ к данным и синхронизацию.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57AF1-7211-7C22-08DF-0BA7B5B0A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957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79B0-503F-A56F-DC70-189C7EDC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382BE-A21E-402F-5F78-C171C46B1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9280E-58F2-5889-880D-4925CACA2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третий вариант — синхронизация через два </a:t>
            </a:r>
            <a:r>
              <a:rPr lang="ru-RU" dirty="0" err="1"/>
              <a:t>fence</a:t>
            </a:r>
            <a:r>
              <a:rPr lang="ru-RU" dirty="0"/>
              <a:t>.</a:t>
            </a:r>
          </a:p>
          <a:p>
            <a:r>
              <a:rPr lang="ru-RU" dirty="0"/>
              <a:t>В потоке A мы сначала выполняем записи, затем ставим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release-fence</a:t>
            </a:r>
            <a:r>
              <a:rPr lang="ru-RU" dirty="0"/>
              <a:t>, и после этого записываем флаг.</a:t>
            </a:r>
          </a:p>
          <a:p>
            <a:r>
              <a:rPr lang="ru-RU" dirty="0"/>
              <a:t>В потоке B мы сначала читаем флаг, а затем выполняем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acquire-fence</a:t>
            </a:r>
            <a:r>
              <a:rPr lang="ru-RU" dirty="0"/>
              <a:t>.</a:t>
            </a:r>
          </a:p>
          <a:p>
            <a:r>
              <a:rPr lang="ru-RU" dirty="0"/>
              <a:t>Если чтение увидело значение, записанное в потоке A,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👉 Это означает, что все записи до </a:t>
            </a:r>
            <a:r>
              <a:rPr lang="ru-RU" dirty="0" err="1"/>
              <a:t>release-fence</a:t>
            </a:r>
            <a:r>
              <a:rPr lang="ru-RU" dirty="0"/>
              <a:t> в потоке A будут видны после </a:t>
            </a:r>
            <a:r>
              <a:rPr lang="ru-RU" dirty="0" err="1"/>
              <a:t>acquire-fence</a:t>
            </a:r>
            <a:r>
              <a:rPr lang="ru-RU" dirty="0"/>
              <a:t> в потоке B.</a:t>
            </a:r>
          </a:p>
          <a:p>
            <a:r>
              <a:rPr lang="ru-RU" dirty="0"/>
              <a:t>Обратите внимание:</a:t>
            </a:r>
          </a:p>
          <a:p>
            <a:r>
              <a:rPr lang="ru-RU" dirty="0"/>
              <a:t>👉 и запись, и чтение флага могут быть </a:t>
            </a:r>
            <a:r>
              <a:rPr lang="ru-RU" dirty="0" err="1"/>
              <a:t>relaxed</a:t>
            </a:r>
            <a:br>
              <a:rPr lang="ru-RU" dirty="0"/>
            </a:br>
            <a:r>
              <a:rPr lang="ru-RU" dirty="0"/>
              <a:t>👉 вся синхронизация обеспечивается только </a:t>
            </a:r>
            <a:r>
              <a:rPr lang="ru-RU" dirty="0" err="1"/>
              <a:t>fence</a:t>
            </a:r>
            <a:endParaRPr lang="ru-RU" dirty="0"/>
          </a:p>
          <a:p>
            <a:endParaRPr lang="ru-RU" dirty="0"/>
          </a:p>
          <a:p>
            <a:r>
              <a:rPr lang="ru-RU" dirty="0"/>
              <a:t>Это самый “гибкий” и при этом самый сложный вариант.</a:t>
            </a:r>
          </a:p>
          <a:p>
            <a:r>
              <a:rPr lang="ru-RU" dirty="0"/>
              <a:t>На практике такие конструкции используются редко, потому что их сложнее правильно реализовать, но они показывают, что порядок и синхронизацию можно полностью отделить от самих операций чтения и записи.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E9B80-47AB-6E3B-9A8A-114EE04CA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5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пример передачи данных с использованием </a:t>
            </a:r>
            <a:r>
              <a:rPr lang="ru-RU" dirty="0" err="1"/>
              <a:t>fence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потоке A мы сначала записываем значение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, а затем ставим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release-fence</a:t>
            </a:r>
            <a:r>
              <a:rPr lang="ru-RU" dirty="0"/>
              <a:t>.</a:t>
            </a:r>
          </a:p>
          <a:p>
            <a:r>
              <a:rPr lang="ru-RU" dirty="0"/>
              <a:t>👉 Он гарантирует, что запись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42</a:t>
            </a:r>
            <a:r>
              <a:rPr lang="ru-RU" dirty="0"/>
              <a:t> произойдёт до дальнейших операций.</a:t>
            </a:r>
          </a:p>
          <a:p>
            <a:endParaRPr lang="ru-RU" dirty="0"/>
          </a:p>
          <a:p>
            <a:r>
              <a:rPr lang="ru-RU" dirty="0"/>
              <a:t>После этого мы устанавливаем флаг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тоже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потоке B мы ждём, пока увидим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а затем выполняем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acquire-fence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👉 Он гарантирует, что все операции после него будут видеть данные, опубликованные до </a:t>
            </a:r>
            <a:r>
              <a:rPr lang="ru-RU" dirty="0" err="1"/>
              <a:t>release-fence</a:t>
            </a:r>
            <a:r>
              <a:rPr lang="ru-RU" dirty="0"/>
              <a:t>.</a:t>
            </a:r>
          </a:p>
          <a:p>
            <a:r>
              <a:rPr lang="ru-RU" dirty="0"/>
              <a:t>В результате возникает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👉 Поэтому после </a:t>
            </a:r>
            <a:r>
              <a:rPr lang="ru-RU" dirty="0" err="1"/>
              <a:t>acquire-fence</a:t>
            </a:r>
            <a:r>
              <a:rPr lang="ru-RU" dirty="0"/>
              <a:t> поток B гарантированно увидит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42</a:t>
            </a:r>
            <a:r>
              <a:rPr lang="ru-RU" dirty="0"/>
              <a:t>, несмотря на то что все операции были </a:t>
            </a:r>
            <a:r>
              <a:rPr lang="ru-RU" dirty="0" err="1"/>
              <a:t>relaxed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пример того, как </a:t>
            </a:r>
            <a:r>
              <a:rPr lang="ru-RU" dirty="0" err="1"/>
              <a:t>fence</a:t>
            </a:r>
            <a:r>
              <a:rPr lang="ru-RU" dirty="0"/>
              <a:t> добавляет порядок к </a:t>
            </a:r>
            <a:r>
              <a:rPr lang="ru-RU" dirty="0" err="1"/>
              <a:t>otherwise</a:t>
            </a:r>
            <a:r>
              <a:rPr lang="ru-RU" dirty="0"/>
              <a:t> “беспорядочным” операциям.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674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подведём итог.</a:t>
            </a:r>
          </a:p>
          <a:p>
            <a:r>
              <a:rPr lang="ru-RU" dirty="0"/>
              <a:t>Главная идея этой лекции в том, что мы можем явно управлять порядком выполнения и видимостью операций между потоками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Ключевое понятие здесь —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👉 Это единственный механизм, который гарантирует, что один поток действительно увидит изменения другого.</a:t>
            </a:r>
          </a:p>
          <a:p>
            <a:endParaRPr lang="ru-RU" dirty="0"/>
          </a:p>
          <a:p>
            <a:r>
              <a:rPr lang="ru-RU" dirty="0"/>
              <a:t>Дальше всё сводится к выбору уровня гарантий.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ru-RU" dirty="0"/>
              <a:t> даёт максимально простой и понятный порядок, но стоит дороже всего.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позволяет синхронизировать потоки без глобального порядка и используется в большинстве практических задач.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relaxed</a:t>
            </a:r>
            <a:r>
              <a:rPr lang="ru-RU" dirty="0"/>
              <a:t> даёт только атомарность и требует очень аккуратного применения.</a:t>
            </a:r>
          </a:p>
          <a:p>
            <a:endParaRPr lang="ru-RU" dirty="0"/>
          </a:p>
          <a:p>
            <a:r>
              <a:rPr lang="ru-RU" dirty="0"/>
              <a:t>С практической точки зрения подход обычно такой:</a:t>
            </a:r>
          </a:p>
          <a:p>
            <a:r>
              <a:rPr lang="ru-RU" dirty="0"/>
              <a:t>👉 сначала пишем код с максимально строгими гарантиями</a:t>
            </a:r>
            <a:br>
              <a:rPr lang="ru-RU" dirty="0"/>
            </a:br>
            <a:r>
              <a:rPr lang="ru-RU" dirty="0"/>
              <a:t>👉 затем, если нужно, ослабляем их</a:t>
            </a:r>
          </a:p>
          <a:p>
            <a:endParaRPr lang="ru-RU" dirty="0"/>
          </a:p>
          <a:p>
            <a:r>
              <a:rPr lang="ru-RU" dirty="0"/>
              <a:t>И важный момент — поведение задаётся стандартом C++, а не конкретной архитектурой.</a:t>
            </a:r>
          </a:p>
          <a:p>
            <a:r>
              <a:rPr lang="ru-RU" dirty="0"/>
              <a:t>Поэтому код должен быть корректен не только на x86, но и на более слабых архитектурах.</a:t>
            </a:r>
          </a:p>
          <a:p>
            <a:endParaRPr lang="ru-RU" dirty="0"/>
          </a:p>
          <a:p>
            <a:r>
              <a:rPr lang="ru-RU" dirty="0"/>
              <a:t>Если упростить всё до одной мысли:</a:t>
            </a:r>
          </a:p>
          <a:p>
            <a:r>
              <a:rPr lang="ru-RU" dirty="0"/>
              <a:t>👉 </a:t>
            </a:r>
            <a:r>
              <a:rPr lang="ru-RU" dirty="0" err="1"/>
              <a:t>memory_order</a:t>
            </a:r>
            <a:r>
              <a:rPr lang="ru-RU" dirty="0"/>
              <a:t> — это инструмент управления тем, что и когда видят потоки</a:t>
            </a:r>
          </a:p>
          <a:p>
            <a:r>
              <a:rPr lang="ru-RU" dirty="0"/>
              <a:t>И именно это позволяет писать корректные и эффективные многопоточные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81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atomic/memory_ord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atomic/atomic_thread_fence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uppetmastertrading.com/images/hwViewForSwHackers.pdf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E63DB1-5874-8A47-D26E-06AA18EAD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Управление порядком памяти в многопоточных программах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DC6EA90-44AB-A1C3-39BA-3CBFC5F2F2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CA0C-D6A0-3AF5-E10B-4C78B54C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Ментальная модель управления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F83D-507B-752B-0170-52E49644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Атомарность ≠ порядок выполнения операций </a:t>
            </a:r>
          </a:p>
          <a:p>
            <a:r>
              <a:rPr lang="ru-RU" dirty="0"/>
              <a:t>Компилятор и процессор могут переупорядочивать операции </a:t>
            </a:r>
          </a:p>
          <a:p>
            <a:r>
              <a:rPr lang="ru-RU" dirty="0"/>
              <a:t>Потоки могут видеть изменения в разном порядке </a:t>
            </a:r>
          </a:p>
          <a:p>
            <a:r>
              <a:rPr lang="ru-RU" dirty="0" err="1"/>
              <a:t>memory_order</a:t>
            </a:r>
            <a:r>
              <a:rPr lang="ru-RU" dirty="0"/>
              <a:t> задаёт:</a:t>
            </a:r>
          </a:p>
          <a:p>
            <a:pPr lvl="1"/>
            <a:r>
              <a:rPr lang="ru-RU" dirty="0"/>
              <a:t>какие переупорядочивания запрещены </a:t>
            </a:r>
          </a:p>
          <a:p>
            <a:pPr lvl="1"/>
            <a:r>
              <a:rPr lang="ru-RU" dirty="0"/>
              <a:t>какие изменения гарантированно видны другим потокам </a:t>
            </a:r>
          </a:p>
          <a:p>
            <a:r>
              <a:rPr lang="ru-RU" dirty="0"/>
              <a:t>Чем сильнее порядок, тем проще рассуждать, но выше стоимость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1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09152-83D6-D26B-9D3E-B5792DB0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доступа к памяти (</a:t>
            </a:r>
            <a:r>
              <a:rPr lang="en-US" dirty="0"/>
              <a:t>memory order)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104D-DD74-DE00-AE77-9478CB7B6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C++ 11 задаёт </a:t>
            </a:r>
            <a:r>
              <a:rPr lang="ru-RU" b="1" dirty="0"/>
              <a:t>единую модель памяти (</a:t>
            </a:r>
            <a:r>
              <a:rPr lang="ru-RU" b="1" dirty="0" err="1"/>
              <a:t>memory</a:t>
            </a:r>
            <a:r>
              <a:rPr lang="ru-RU" b="1" dirty="0"/>
              <a:t> </a:t>
            </a:r>
            <a:r>
              <a:rPr lang="ru-RU" b="1" dirty="0" err="1"/>
              <a:t>model</a:t>
            </a:r>
            <a:r>
              <a:rPr lang="ru-RU" b="1" dirty="0"/>
              <a:t>)</a:t>
            </a:r>
            <a:r>
              <a:rPr lang="ru-RU" dirty="0"/>
              <a:t>. Внутри неё мы выбираем порядок для операций:</a:t>
            </a:r>
          </a:p>
          <a:p>
            <a:pPr lvl="1"/>
            <a:r>
              <a:rPr lang="ru-RU" dirty="0" err="1"/>
              <a:t>seq_cst</a:t>
            </a:r>
            <a:r>
              <a:rPr lang="ru-RU" dirty="0"/>
              <a:t> — единый глобальный порядок </a:t>
            </a:r>
          </a:p>
          <a:p>
            <a:pPr lvl="1"/>
            <a:r>
              <a:rPr lang="ru-RU" dirty="0" err="1"/>
              <a:t>acquire</a:t>
            </a:r>
            <a:r>
              <a:rPr lang="ru-RU" dirty="0"/>
              <a:t> / </a:t>
            </a:r>
            <a:r>
              <a:rPr lang="ru-RU" dirty="0" err="1"/>
              <a:t>release</a:t>
            </a:r>
            <a:r>
              <a:rPr lang="ru-RU" dirty="0"/>
              <a:t> — синхронизация между потоками </a:t>
            </a:r>
          </a:p>
          <a:p>
            <a:pPr lvl="1"/>
            <a:r>
              <a:rPr lang="ru-RU" dirty="0" err="1"/>
              <a:t>relaxed</a:t>
            </a:r>
            <a:r>
              <a:rPr lang="ru-RU" dirty="0"/>
              <a:t> — только атомарность, без порядка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порядок задаётся </a:t>
            </a:r>
            <a:r>
              <a:rPr lang="ru-RU" b="1" dirty="0"/>
              <a:t>для каждой атомарной операции</a:t>
            </a:r>
            <a:r>
              <a:rPr lang="ru-RU" dirty="0"/>
              <a:t> (</a:t>
            </a:r>
            <a:r>
              <a:rPr lang="ru-RU" dirty="0" err="1"/>
              <a:t>memory_order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это баланс: </a:t>
            </a:r>
          </a:p>
          <a:p>
            <a:pPr lvl="2"/>
            <a:r>
              <a:rPr lang="ru-RU" dirty="0"/>
              <a:t>простота рассуждений </a:t>
            </a:r>
          </a:p>
          <a:p>
            <a:pPr lvl="2"/>
            <a:r>
              <a:rPr lang="ru-RU" dirty="0"/>
              <a:t>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77638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D28117B-FEDF-0BB9-B6FA-B46DE1D5644B}"/>
              </a:ext>
            </a:extLst>
          </p:cNvPr>
          <p:cNvSpPr txBox="1"/>
          <p:nvPr/>
        </p:nvSpPr>
        <p:spPr>
          <a:xfrm>
            <a:off x="128788" y="270456"/>
            <a:ext cx="1206321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desired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desired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desired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success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failure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desired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compare_exchange_strong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desired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success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failure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compare_exchange_strong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desired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1463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BFAB-F78A-C62D-C1DA-B51545D0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memory_order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3BB0-2F56-1B51-8AAD-7CEA9CB57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memory_order</a:t>
            </a:r>
            <a:r>
              <a:rPr lang="ru-RU" dirty="0"/>
              <a:t> задаёт порядок операций</a:t>
            </a:r>
          </a:p>
          <a:p>
            <a:r>
              <a:rPr lang="ru-RU" dirty="0"/>
              <a:t>Основные режимы:</a:t>
            </a:r>
          </a:p>
          <a:p>
            <a:pPr lvl="1"/>
            <a:r>
              <a:rPr lang="ru-RU" dirty="0" err="1"/>
              <a:t>relaxed</a:t>
            </a:r>
            <a:r>
              <a:rPr lang="ru-RU" dirty="0"/>
              <a:t> — только атомарность, без порядка</a:t>
            </a:r>
          </a:p>
          <a:p>
            <a:pPr lvl="1"/>
            <a:r>
              <a:rPr lang="ru-RU" dirty="0" err="1"/>
              <a:t>acquire</a:t>
            </a:r>
            <a:r>
              <a:rPr lang="ru-RU" dirty="0"/>
              <a:t> — ограничивает операции после чтения</a:t>
            </a:r>
          </a:p>
          <a:p>
            <a:pPr lvl="1"/>
            <a:r>
              <a:rPr lang="ru-RU" dirty="0" err="1"/>
              <a:t>release</a:t>
            </a:r>
            <a:r>
              <a:rPr lang="ru-RU" dirty="0"/>
              <a:t> — ограничивает операции до записи</a:t>
            </a:r>
          </a:p>
          <a:p>
            <a:pPr lvl="1"/>
            <a:r>
              <a:rPr lang="ru-RU" dirty="0" err="1"/>
              <a:t>acq_rel</a:t>
            </a:r>
            <a:r>
              <a:rPr lang="ru-RU" dirty="0"/>
              <a:t> — комбинация для RMW</a:t>
            </a:r>
          </a:p>
          <a:p>
            <a:pPr lvl="1"/>
            <a:r>
              <a:rPr lang="ru-RU" dirty="0" err="1"/>
              <a:t>seq_cst</a:t>
            </a:r>
            <a:r>
              <a:rPr lang="ru-RU" dirty="0"/>
              <a:t> — единый глобальный порядок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Выбор порядка влияет на корректность и 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66376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E074-392B-C55A-E712-45F0E5588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Happens-Before — </a:t>
            </a:r>
            <a:r>
              <a:rPr lang="ru-RU" dirty="0"/>
              <a:t>гарантия видимости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47D09-A683-09B4-71C6-D7C4476A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Happens-before — </a:t>
            </a:r>
            <a:r>
              <a:rPr lang="ru-RU" dirty="0"/>
              <a:t>отношение порядка и видимости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A happens-before B:</a:t>
            </a:r>
          </a:p>
          <a:p>
            <a:pPr lvl="2"/>
            <a:r>
              <a:rPr lang="en-US" dirty="0"/>
              <a:t>A </a:t>
            </a:r>
            <a:r>
              <a:rPr lang="ru-RU" dirty="0"/>
              <a:t>логически происходит раньше </a:t>
            </a:r>
            <a:r>
              <a:rPr lang="en-US" dirty="0"/>
              <a:t>B </a:t>
            </a:r>
          </a:p>
          <a:p>
            <a:pPr lvl="2"/>
            <a:r>
              <a:rPr lang="ru-RU" dirty="0"/>
              <a:t>все эффекты </a:t>
            </a:r>
            <a:r>
              <a:rPr lang="en-US" dirty="0"/>
              <a:t>A </a:t>
            </a:r>
            <a:r>
              <a:rPr lang="ru-RU" dirty="0"/>
              <a:t>гарантированно видны в </a:t>
            </a:r>
            <a:r>
              <a:rPr lang="en-US" dirty="0"/>
              <a:t>B </a:t>
            </a:r>
          </a:p>
          <a:p>
            <a:r>
              <a:rPr lang="ru-RU" dirty="0"/>
              <a:t>Как возникает:</a:t>
            </a:r>
          </a:p>
          <a:p>
            <a:pPr lvl="1"/>
            <a:r>
              <a:rPr lang="ru-RU" dirty="0"/>
              <a:t>внутри потока — порядок выполнения (</a:t>
            </a:r>
            <a:r>
              <a:rPr lang="en-US" dirty="0"/>
              <a:t>sequenced-before) </a:t>
            </a:r>
          </a:p>
          <a:p>
            <a:pPr lvl="1"/>
            <a:r>
              <a:rPr lang="ru-RU" dirty="0"/>
              <a:t>между потоками — через синхронизацию (</a:t>
            </a:r>
            <a:r>
              <a:rPr lang="en-US" dirty="0"/>
              <a:t>synchronizes-with) </a:t>
            </a:r>
          </a:p>
          <a:p>
            <a:r>
              <a:rPr lang="ru-RU" dirty="0"/>
              <a:t>Отношение транзитивно (</a:t>
            </a:r>
            <a:r>
              <a:rPr lang="en-US" dirty="0"/>
              <a:t>A → B → C ⇒ A → C) </a:t>
            </a:r>
          </a:p>
          <a:p>
            <a:pPr lvl="1"/>
            <a:r>
              <a:rPr lang="en-US" dirty="0"/>
              <a:t>❗ </a:t>
            </a:r>
            <a:r>
              <a:rPr lang="ru-RU" dirty="0"/>
              <a:t>Нет </a:t>
            </a:r>
            <a:r>
              <a:rPr lang="en-US" dirty="0"/>
              <a:t>happens-before → </a:t>
            </a:r>
            <a:r>
              <a:rPr lang="ru-RU" dirty="0"/>
              <a:t>нет гарантий видимости</a:t>
            </a:r>
          </a:p>
          <a:p>
            <a:r>
              <a:rPr lang="ru-RU" dirty="0"/>
              <a:t>Разные</a:t>
            </a:r>
            <a:r>
              <a:rPr lang="en-US" dirty="0"/>
              <a:t> </a:t>
            </a:r>
            <a:r>
              <a:rPr lang="en-US" dirty="0" err="1"/>
              <a:t>memory_order</a:t>
            </a:r>
            <a:r>
              <a:rPr lang="en-US" dirty="0"/>
              <a:t> – </a:t>
            </a:r>
            <a:r>
              <a:rPr lang="ru-RU" dirty="0"/>
              <a:t>способы создавать или не создавать </a:t>
            </a:r>
            <a:r>
              <a:rPr lang="en-US" dirty="0"/>
              <a:t>happens-before</a:t>
            </a:r>
          </a:p>
        </p:txBody>
      </p:sp>
    </p:spTree>
    <p:extLst>
      <p:ext uri="{BB962C8B-B14F-4D97-AF65-F5344CB8AC3E}">
        <p14:creationId xmlns:p14="http://schemas.microsoft.com/office/powerpoint/2010/main" val="182566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A7D993-D3FE-DD9D-86FB-54BA8AEF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memory_order</a:t>
            </a:r>
            <a:r>
              <a:rPr lang="ru-RU" dirty="0"/>
              <a:t> на уровне машинного кода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FF934-48A1-3977-B4BB-4242187DF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7A4A79-5699-3C11-63A7-FE6AD43E9075}"/>
              </a:ext>
            </a:extLst>
          </p:cNvPr>
          <p:cNvSpPr txBox="1"/>
          <p:nvPr/>
        </p:nvSpPr>
        <p:spPr>
          <a:xfrm>
            <a:off x="247650" y="1904075"/>
            <a:ext cx="55245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s_release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nsolas" panose="020B0609020204030204" pitchFamily="49" charset="0"/>
              </a:rPr>
              <a:t>l_relaxed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l_acquire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C34E1-2FEB-18F9-EB3D-7AAEE49570BB}"/>
              </a:ext>
            </a:extLst>
          </p:cNvPr>
          <p:cNvSpPr txBox="1"/>
          <p:nvPr/>
        </p:nvSpPr>
        <p:spPr>
          <a:xfrm>
            <a:off x="6419850" y="1904075"/>
            <a:ext cx="50673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rip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s_release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rip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xchg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edi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rip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FF00FF"/>
                </a:highlight>
                <a:latin typeface="Consolas" panose="020B0609020204030204" pitchFamily="49" charset="0"/>
              </a:rPr>
              <a:t>l_relaxed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rip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l_acquire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rip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600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eax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rip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.zero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B2B2D3E-55CD-F0EF-B9D4-9B32D65E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моделей памяти </a:t>
            </a:r>
            <a:r>
              <a:rPr lang="en-US" dirty="0"/>
              <a:t>(x86-64)</a:t>
            </a:r>
          </a:p>
        </p:txBody>
      </p:sp>
    </p:spTree>
    <p:extLst>
      <p:ext uri="{BB962C8B-B14F-4D97-AF65-F5344CB8AC3E}">
        <p14:creationId xmlns:p14="http://schemas.microsoft.com/office/powerpoint/2010/main" val="227532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B6046-EDEC-41C0-D82C-B6D8361F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6D3C0D-287B-9787-F12E-9147F254A6B2}"/>
              </a:ext>
            </a:extLst>
          </p:cNvPr>
          <p:cNvSpPr txBox="1"/>
          <p:nvPr/>
        </p:nvSpPr>
        <p:spPr>
          <a:xfrm>
            <a:off x="247650" y="2150296"/>
            <a:ext cx="55245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s_release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nsolas" panose="020B0609020204030204" pitchFamily="49" charset="0"/>
              </a:rPr>
              <a:t>l_relaxed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l_acquire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x.load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memory_order_seq_cst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4FD1398-7CA2-5D86-F90D-32D9B83E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43501" cy="1325563"/>
          </a:xfrm>
        </p:spPr>
        <p:txBody>
          <a:bodyPr/>
          <a:lstStyle/>
          <a:p>
            <a:r>
              <a:rPr lang="ru-RU" dirty="0"/>
              <a:t>Сравнение моделей памяти </a:t>
            </a:r>
            <a:r>
              <a:rPr lang="en-US" dirty="0"/>
              <a:t>(ARM64)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0ED3D-78D5-21BF-715B-97911F8B0542}"/>
              </a:ext>
            </a:extLst>
          </p:cNvPr>
          <p:cNvSpPr txBox="1"/>
          <p:nvPr/>
        </p:nvSpPr>
        <p:spPr>
          <a:xfrm>
            <a:off x="6062665" y="365125"/>
            <a:ext cx="612933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s_relaxed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en-US" sz="12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Регистр </a:t>
            </a:r>
            <a:r>
              <a:rPr lang="en-US" sz="12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w0 – </a:t>
            </a:r>
            <a:r>
              <a:rPr lang="ru-RU" sz="12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параметр </a:t>
            </a:r>
            <a:r>
              <a:rPr lang="en-US" sz="12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adrp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Загрузить в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адрес страницы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r>
              <a:rPr lang="ru-RU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Добавить к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смещение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Записать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w0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по адресу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x1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s_release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adrp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stlr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Записать в память с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release-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семантикой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s_seq_cst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adrp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stlr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highlight>
                  <a:srgbClr val="FF00FF"/>
                </a:highlight>
                <a:latin typeface="Consolas" panose="020B0609020204030204" pitchFamily="49" charset="0"/>
              </a:rPr>
              <a:t>l_relaxed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adrp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ldr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Загрузить в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w0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значение из адреса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highlight>
                  <a:srgbClr val="FF0000"/>
                </a:highlight>
                <a:latin typeface="Consolas" panose="020B0609020204030204" pitchFamily="49" charset="0"/>
              </a:rPr>
              <a:t>l_acquire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adrp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ldar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Загрузить значение с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acquire</a:t>
            </a:r>
            <a:r>
              <a:rPr lang="ru-RU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-семантикой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l_seq_cst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adrp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ldar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x0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.set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.LANCHOR0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.zero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49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93B102-6907-DF72-58F9-7660DA23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Различия архитектур и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8747A-75C9-070C-7E78-6A2D70170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Наблюдение:</a:t>
            </a:r>
          </a:p>
          <a:p>
            <a:pPr lvl="1"/>
            <a:r>
              <a:rPr lang="ru-RU" dirty="0"/>
              <a:t>x86-64 — строгая модель памяти</a:t>
            </a:r>
            <a:r>
              <a:rPr lang="en-US" dirty="0"/>
              <a:t>, </a:t>
            </a:r>
            <a:r>
              <a:rPr lang="ru-RU" dirty="0"/>
              <a:t>многие гарантии даются “бесплатно” </a:t>
            </a:r>
          </a:p>
          <a:p>
            <a:pPr lvl="1"/>
            <a:r>
              <a:rPr lang="ru-RU" dirty="0"/>
              <a:t>ARM — слабая модель памяти</a:t>
            </a:r>
            <a:r>
              <a:rPr lang="en-US" dirty="0"/>
              <a:t>. </a:t>
            </a:r>
            <a:r>
              <a:rPr lang="ru-RU" dirty="0"/>
              <a:t>→ порядок нужно задавать явно 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: </a:t>
            </a:r>
          </a:p>
          <a:p>
            <a:pPr lvl="2"/>
            <a:r>
              <a:rPr lang="ru-RU" dirty="0"/>
              <a:t>x86 — обычные </a:t>
            </a:r>
            <a:r>
              <a:rPr lang="ru-RU" dirty="0" err="1"/>
              <a:t>load</a:t>
            </a:r>
            <a:r>
              <a:rPr lang="ru-RU" dirty="0"/>
              <a:t>/</a:t>
            </a:r>
            <a:r>
              <a:rPr lang="ru-RU" dirty="0" err="1"/>
              <a:t>store</a:t>
            </a:r>
            <a:r>
              <a:rPr lang="ru-RU" dirty="0"/>
              <a:t> </a:t>
            </a:r>
          </a:p>
          <a:p>
            <a:pPr lvl="2"/>
            <a:r>
              <a:rPr lang="ru-RU" dirty="0"/>
              <a:t>ARM — специальные инструкции (</a:t>
            </a:r>
            <a:r>
              <a:rPr lang="ru-RU" dirty="0" err="1"/>
              <a:t>ldar</a:t>
            </a:r>
            <a:r>
              <a:rPr lang="ru-RU" dirty="0"/>
              <a:t>, </a:t>
            </a:r>
            <a:r>
              <a:rPr lang="ru-RU" dirty="0" err="1"/>
              <a:t>stlr</a:t>
            </a:r>
            <a:r>
              <a:rPr lang="ru-RU" dirty="0"/>
              <a:t>) </a:t>
            </a:r>
          </a:p>
          <a:p>
            <a:pPr lvl="1"/>
            <a:r>
              <a:rPr lang="ru-RU" dirty="0" err="1"/>
              <a:t>seq_cst</a:t>
            </a:r>
            <a:r>
              <a:rPr lang="ru-RU" dirty="0"/>
              <a:t>: </a:t>
            </a:r>
          </a:p>
          <a:p>
            <a:pPr lvl="2"/>
            <a:r>
              <a:rPr lang="ru-RU" dirty="0"/>
              <a:t>требует дополнительной синхронизации </a:t>
            </a:r>
          </a:p>
          <a:p>
            <a:r>
              <a:rPr lang="ru-RU" dirty="0"/>
              <a:t>Почему так:</a:t>
            </a:r>
          </a:p>
          <a:p>
            <a:pPr lvl="1"/>
            <a:r>
              <a:rPr lang="ru-RU" dirty="0"/>
              <a:t>слабая модель памяти даёт больше свободы для оптимизаций </a:t>
            </a:r>
          </a:p>
          <a:p>
            <a:pPr lvl="1"/>
            <a:r>
              <a:rPr lang="ru-RU" dirty="0"/>
              <a:t>выше производительность и масштабируемость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поведение задаёт модель памяти языка C++, а не архитектура </a:t>
            </a:r>
          </a:p>
          <a:p>
            <a:pPr lvl="1"/>
            <a:r>
              <a:rPr lang="ru-RU" dirty="0"/>
              <a:t>код должен быть корректен на всех платформах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699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44306E-7DB7-EAD8-AC85-AB4F4666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3E0DE-3309-D2AA-991F-8802DD523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8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4B99-88E5-3525-6337-5E88EB61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80CF8-B8B7-2F56-987B-82BF3952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Гарантии:</a:t>
            </a:r>
          </a:p>
          <a:p>
            <a:pPr lvl="1"/>
            <a:r>
              <a:rPr lang="ru-RU" dirty="0"/>
              <a:t>все атомарные операции образуют единый глобальный порядок </a:t>
            </a:r>
          </a:p>
          <a:p>
            <a:pPr lvl="1"/>
            <a:r>
              <a:rPr lang="ru-RU" dirty="0"/>
              <a:t>все потоки наблюдают один и тот же порядок </a:t>
            </a:r>
          </a:p>
          <a:p>
            <a:pPr lvl="1"/>
            <a:r>
              <a:rPr lang="ru-RU" dirty="0"/>
              <a:t>порядок согласован с порядком в каждом потоке </a:t>
            </a:r>
          </a:p>
          <a:p>
            <a:pPr lvl="1"/>
            <a:r>
              <a:rPr lang="ru-RU" dirty="0"/>
              <a:t>поведение как при последовательном выполнении </a:t>
            </a:r>
          </a:p>
          <a:p>
            <a:r>
              <a:rPr lang="ru-RU" dirty="0"/>
              <a:t>Синхронизация:</a:t>
            </a:r>
          </a:p>
          <a:p>
            <a:pPr lvl="1"/>
            <a:r>
              <a:rPr lang="ru-RU" dirty="0"/>
              <a:t>операции формируют отношение </a:t>
            </a:r>
            <a:r>
              <a:rPr lang="ru-RU" dirty="0" err="1"/>
              <a:t>happens-before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обеспечивается согласованная видимость между потоками </a:t>
            </a:r>
          </a:p>
          <a:p>
            <a:r>
              <a:rPr lang="ru-RU" dirty="0"/>
              <a:t>Цена:</a:t>
            </a:r>
          </a:p>
          <a:p>
            <a:pPr lvl="1"/>
            <a:r>
              <a:rPr lang="ru-RU" dirty="0"/>
              <a:t>максимальная простота рассуждений </a:t>
            </a:r>
          </a:p>
          <a:p>
            <a:pPr lvl="1"/>
            <a:r>
              <a:rPr lang="ru-RU" dirty="0"/>
              <a:t>максимальная стоимость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291986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B8A5EE-CD91-3884-9C2C-52C905A997D2}"/>
              </a:ext>
            </a:extLst>
          </p:cNvPr>
          <p:cNvSpPr txBox="1"/>
          <p:nvPr/>
        </p:nvSpPr>
        <p:spPr>
          <a:xfrm>
            <a:off x="0" y="0"/>
            <a:ext cx="738505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x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z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Пишем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x.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seq_cst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   </a:t>
            </a:r>
            <a:r>
              <a:rPr lang="en-US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// A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Пишем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y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y.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seq_cst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  // B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Читаем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x,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а потом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y</a:t>
            </a:r>
            <a:endParaRPr lang="en-US" b="0" dirty="0">
              <a:solidFill>
                <a:srgbClr val="000000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x.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seq_cst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)); </a:t>
            </a:r>
            <a:r>
              <a:rPr lang="en-US" dirty="0">
                <a:solidFill>
                  <a:srgbClr val="008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// C</a:t>
            </a:r>
            <a:endParaRPr lang="en-US" b="0" dirty="0">
              <a:solidFill>
                <a:srgbClr val="000000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y.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seq_cst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))      </a:t>
            </a:r>
            <a:r>
              <a:rPr lang="en-US" dirty="0">
                <a:solidFill>
                  <a:srgbClr val="008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// D</a:t>
            </a:r>
            <a:endParaRPr lang="en-US" b="0" dirty="0">
              <a:solidFill>
                <a:srgbClr val="000000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       ++z;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   }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Читаем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y,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а потом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</a:t>
            </a:r>
            <a:endParaRPr lang="en-US" b="0" dirty="0">
              <a:solidFill>
                <a:srgbClr val="000000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y.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seq_cst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)); </a:t>
            </a:r>
            <a:r>
              <a:rPr lang="en-US" dirty="0">
                <a:solidFill>
                  <a:srgbClr val="008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// E</a:t>
            </a:r>
            <a:endParaRPr lang="en-US" b="0" dirty="0">
              <a:solidFill>
                <a:srgbClr val="000000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x.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seq_cst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))      </a:t>
            </a:r>
            <a:r>
              <a:rPr lang="en-US" dirty="0">
                <a:solidFill>
                  <a:srgbClr val="008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// F</a:t>
            </a:r>
            <a:endParaRPr lang="en-US" b="0" dirty="0">
              <a:solidFill>
                <a:srgbClr val="000000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       ++z;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   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1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или 2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FF00FF"/>
                </a:highlight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7ED6E7-DD83-12FE-6F48-CD3498E0856C}"/>
              </a:ext>
            </a:extLst>
          </p:cNvPr>
          <p:cNvCxnSpPr>
            <a:cxnSpLocks/>
          </p:cNvCxnSpPr>
          <p:nvPr/>
        </p:nvCxnSpPr>
        <p:spPr>
          <a:xfrm>
            <a:off x="7683500" y="901700"/>
            <a:ext cx="0" cy="4851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F4CFEE-B92C-8A61-E869-42D3C5CBDA6E}"/>
              </a:ext>
            </a:extLst>
          </p:cNvPr>
          <p:cNvCxnSpPr>
            <a:cxnSpLocks/>
          </p:cNvCxnSpPr>
          <p:nvPr/>
        </p:nvCxnSpPr>
        <p:spPr>
          <a:xfrm>
            <a:off x="8699500" y="901700"/>
            <a:ext cx="0" cy="4851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9484C3-E40D-1E93-D255-130A255E994F}"/>
              </a:ext>
            </a:extLst>
          </p:cNvPr>
          <p:cNvCxnSpPr>
            <a:cxnSpLocks/>
          </p:cNvCxnSpPr>
          <p:nvPr/>
        </p:nvCxnSpPr>
        <p:spPr>
          <a:xfrm>
            <a:off x="9715500" y="901700"/>
            <a:ext cx="0" cy="4851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B2CA50-5A60-001A-BBD4-02FB552BDEBF}"/>
              </a:ext>
            </a:extLst>
          </p:cNvPr>
          <p:cNvCxnSpPr>
            <a:cxnSpLocks/>
          </p:cNvCxnSpPr>
          <p:nvPr/>
        </p:nvCxnSpPr>
        <p:spPr>
          <a:xfrm>
            <a:off x="11252200" y="901700"/>
            <a:ext cx="0" cy="4851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71DD43E-CAD9-03A8-5C53-34DD0C1DC8FB}"/>
              </a:ext>
            </a:extLst>
          </p:cNvPr>
          <p:cNvSpPr/>
          <p:nvPr/>
        </p:nvSpPr>
        <p:spPr>
          <a:xfrm>
            <a:off x="7454900" y="1270000"/>
            <a:ext cx="444500" cy="4445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353DFD-ECF4-C64C-2136-02DECA488E5E}"/>
              </a:ext>
            </a:extLst>
          </p:cNvPr>
          <p:cNvSpPr/>
          <p:nvPr/>
        </p:nvSpPr>
        <p:spPr>
          <a:xfrm>
            <a:off x="8483600" y="1270000"/>
            <a:ext cx="444500" cy="4445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18F464-FB0D-E39F-24BB-97BC3453F3B4}"/>
              </a:ext>
            </a:extLst>
          </p:cNvPr>
          <p:cNvSpPr/>
          <p:nvPr/>
        </p:nvSpPr>
        <p:spPr>
          <a:xfrm>
            <a:off x="9499601" y="1767942"/>
            <a:ext cx="444500" cy="444500"/>
          </a:xfrm>
          <a:prstGeom prst="ellipse">
            <a:avLst/>
          </a:prstGeom>
          <a:solidFill>
            <a:srgbClr val="00FF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99295C-FC15-A1B7-68AC-4B651660E8C2}"/>
              </a:ext>
            </a:extLst>
          </p:cNvPr>
          <p:cNvSpPr/>
          <p:nvPr/>
        </p:nvSpPr>
        <p:spPr>
          <a:xfrm>
            <a:off x="9509126" y="3370153"/>
            <a:ext cx="444500" cy="4445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D09EC61-42D7-D992-8F32-6B588287D5D6}"/>
              </a:ext>
            </a:extLst>
          </p:cNvPr>
          <p:cNvSpPr/>
          <p:nvPr/>
        </p:nvSpPr>
        <p:spPr>
          <a:xfrm>
            <a:off x="11023600" y="1713988"/>
            <a:ext cx="444500" cy="4445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F77EF9-799D-064C-CF02-50DC732F9B8D}"/>
              </a:ext>
            </a:extLst>
          </p:cNvPr>
          <p:cNvSpPr/>
          <p:nvPr/>
        </p:nvSpPr>
        <p:spPr>
          <a:xfrm>
            <a:off x="11029951" y="3370153"/>
            <a:ext cx="444500" cy="44450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1F6B4E-9C75-EDCA-8371-7E6EB2072470}"/>
              </a:ext>
            </a:extLst>
          </p:cNvPr>
          <p:cNvCxnSpPr>
            <a:cxnSpLocks/>
            <a:stCxn id="15" idx="5"/>
            <a:endCxn id="15" idx="7"/>
          </p:cNvCxnSpPr>
          <p:nvPr/>
        </p:nvCxnSpPr>
        <p:spPr>
          <a:xfrm rot="5400000" flipH="1">
            <a:off x="11245850" y="1936238"/>
            <a:ext cx="314308" cy="12700"/>
          </a:xfrm>
          <a:prstGeom prst="curvedConnector5">
            <a:avLst>
              <a:gd name="adj1" fmla="val -72731"/>
              <a:gd name="adj2" fmla="val -4087433"/>
              <a:gd name="adj3" fmla="val 172731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7">
            <a:extLst>
              <a:ext uri="{FF2B5EF4-FFF2-40B4-BE49-F238E27FC236}">
                <a16:creationId xmlns:a16="http://schemas.microsoft.com/office/drawing/2014/main" id="{1E481029-3FD0-6632-4F7A-9620F4227DF3}"/>
              </a:ext>
            </a:extLst>
          </p:cNvPr>
          <p:cNvCxnSpPr>
            <a:cxnSpLocks/>
            <a:stCxn id="13" idx="5"/>
            <a:endCxn id="13" idx="7"/>
          </p:cNvCxnSpPr>
          <p:nvPr/>
        </p:nvCxnSpPr>
        <p:spPr>
          <a:xfrm rot="5400000" flipH="1">
            <a:off x="9721851" y="1990192"/>
            <a:ext cx="314308" cy="12700"/>
          </a:xfrm>
          <a:prstGeom prst="curvedConnector5">
            <a:avLst>
              <a:gd name="adj1" fmla="val -72731"/>
              <a:gd name="adj2" fmla="val -3401724"/>
              <a:gd name="adj3" fmla="val 172731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400C6C-F559-958D-6A8C-1FCE43B6A085}"/>
              </a:ext>
            </a:extLst>
          </p:cNvPr>
          <p:cNvCxnSpPr>
            <a:stCxn id="11" idx="7"/>
            <a:endCxn id="13" idx="1"/>
          </p:cNvCxnSpPr>
          <p:nvPr/>
        </p:nvCxnSpPr>
        <p:spPr>
          <a:xfrm rot="16200000" flipH="1">
            <a:off x="8450529" y="718871"/>
            <a:ext cx="497942" cy="1730393"/>
          </a:xfrm>
          <a:prstGeom prst="curvedConnector3">
            <a:avLst>
              <a:gd name="adj1" fmla="val -589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5">
            <a:extLst>
              <a:ext uri="{FF2B5EF4-FFF2-40B4-BE49-F238E27FC236}">
                <a16:creationId xmlns:a16="http://schemas.microsoft.com/office/drawing/2014/main" id="{57AE7C30-B2F0-4330-96C0-DB13AEA3FCF7}"/>
              </a:ext>
            </a:extLst>
          </p:cNvPr>
          <p:cNvCxnSpPr>
            <a:cxnSpLocks/>
            <a:stCxn id="12" idx="7"/>
            <a:endCxn id="15" idx="1"/>
          </p:cNvCxnSpPr>
          <p:nvPr/>
        </p:nvCxnSpPr>
        <p:spPr>
          <a:xfrm rot="16200000" flipH="1">
            <a:off x="9753856" y="444244"/>
            <a:ext cx="443988" cy="2225692"/>
          </a:xfrm>
          <a:prstGeom prst="curvedConnector3">
            <a:avLst>
              <a:gd name="adj1" fmla="val -661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C893CA-521C-7656-65D7-FDF3C0CD6CC3}"/>
              </a:ext>
            </a:extLst>
          </p:cNvPr>
          <p:cNvCxnSpPr>
            <a:stCxn id="12" idx="5"/>
            <a:endCxn id="14" idx="1"/>
          </p:cNvCxnSpPr>
          <p:nvPr/>
        </p:nvCxnSpPr>
        <p:spPr>
          <a:xfrm>
            <a:off x="8863004" y="1649404"/>
            <a:ext cx="711218" cy="1785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98F808-E6E7-FBE5-774A-D7FAB16979DA}"/>
              </a:ext>
            </a:extLst>
          </p:cNvPr>
          <p:cNvCxnSpPr>
            <a:cxnSpLocks/>
            <a:stCxn id="11" idx="5"/>
            <a:endCxn id="16" idx="1"/>
          </p:cNvCxnSpPr>
          <p:nvPr/>
        </p:nvCxnSpPr>
        <p:spPr>
          <a:xfrm rot="16200000" flipH="1">
            <a:off x="8571753" y="911954"/>
            <a:ext cx="1785845" cy="3260743"/>
          </a:xfrm>
          <a:prstGeom prst="curvedConnector3">
            <a:avLst>
              <a:gd name="adj1" fmla="val 729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FEE1C7D-A2F8-7845-44C3-04DB47004954}"/>
              </a:ext>
            </a:extLst>
          </p:cNvPr>
          <p:cNvSpPr txBox="1"/>
          <p:nvPr/>
        </p:nvSpPr>
        <p:spPr>
          <a:xfrm>
            <a:off x="7454900" y="419374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749582-C951-4D73-C839-7704B6E9285A}"/>
              </a:ext>
            </a:extLst>
          </p:cNvPr>
          <p:cNvSpPr txBox="1"/>
          <p:nvPr/>
        </p:nvSpPr>
        <p:spPr>
          <a:xfrm>
            <a:off x="8483600" y="409076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A656E2-98EF-5336-20D4-7C954347D796}"/>
              </a:ext>
            </a:extLst>
          </p:cNvPr>
          <p:cNvSpPr txBox="1"/>
          <p:nvPr/>
        </p:nvSpPr>
        <p:spPr>
          <a:xfrm>
            <a:off x="9512300" y="398778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23CD50-A039-5D20-01B3-6B6BC1C15F40}"/>
              </a:ext>
            </a:extLst>
          </p:cNvPr>
          <p:cNvSpPr txBox="1"/>
          <p:nvPr/>
        </p:nvSpPr>
        <p:spPr>
          <a:xfrm>
            <a:off x="11023601" y="407980"/>
            <a:ext cx="4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75039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7" grpId="0"/>
      <p:bldP spid="38" grpId="0"/>
      <p:bldP spid="39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6DBE-8F0E-6EB2-210F-BCD0317B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Стоимость </a:t>
            </a:r>
            <a:r>
              <a:rPr lang="en-US" dirty="0"/>
              <a:t>Sequential Consistency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23C94-3242-F7F1-3953-2BF239FE9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Sequential</a:t>
            </a:r>
            <a:r>
              <a:rPr lang="ru-RU" dirty="0"/>
              <a:t> </a:t>
            </a:r>
            <a:r>
              <a:rPr lang="ru-RU" dirty="0" err="1"/>
              <a:t>Consistency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Самый простой и интуитивный режим</a:t>
            </a:r>
          </a:p>
          <a:p>
            <a:pPr lvl="1"/>
            <a:r>
              <a:rPr lang="ru-RU" dirty="0"/>
              <a:t>Гарантирует единый глобальный порядок операций</a:t>
            </a:r>
          </a:p>
          <a:p>
            <a:r>
              <a:rPr lang="ru-RU" dirty="0"/>
              <a:t>Цена:</a:t>
            </a:r>
          </a:p>
          <a:p>
            <a:pPr lvl="1"/>
            <a:r>
              <a:rPr lang="ru-RU" dirty="0"/>
              <a:t>Требует синхронизации между всеми потоками</a:t>
            </a:r>
          </a:p>
          <a:p>
            <a:pPr lvl="1"/>
            <a:r>
              <a:rPr lang="ru-RU" dirty="0"/>
              <a:t>Включает дорогое взаимодействие между ядрами</a:t>
            </a:r>
          </a:p>
          <a:p>
            <a:pPr lvl="1"/>
            <a:r>
              <a:rPr lang="ru-RU" dirty="0"/>
              <a:t>Может приводить к задержкам и снижению производительности</a:t>
            </a:r>
          </a:p>
          <a:p>
            <a:r>
              <a:rPr lang="ru-RU" dirty="0"/>
              <a:t>Вывод:</a:t>
            </a:r>
          </a:p>
          <a:p>
            <a:pPr lvl="1"/>
            <a:r>
              <a:rPr lang="ru-RU" dirty="0"/>
              <a:t>Простота влечёт высокую стоимость</a:t>
            </a:r>
          </a:p>
          <a:p>
            <a:pPr lvl="1"/>
            <a:r>
              <a:rPr lang="ru-RU" dirty="0"/>
              <a:t>Для эффективности часто используют более слабые модели памяти</a:t>
            </a:r>
          </a:p>
        </p:txBody>
      </p:sp>
    </p:spTree>
    <p:extLst>
      <p:ext uri="{BB962C8B-B14F-4D97-AF65-F5344CB8AC3E}">
        <p14:creationId xmlns:p14="http://schemas.microsoft.com/office/powerpoint/2010/main" val="2372470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74B836-6F7C-2C18-DDCC-34D2A7E1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Ослабленные гарантии памяти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F53EB-C375-B7A8-89AE-87104181E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29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DB5169-CB53-CC44-F11F-F6B8FB88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 без </a:t>
            </a:r>
            <a:r>
              <a:rPr lang="en-US" dirty="0" err="1"/>
              <a:t>seq_cst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0D2280-FD5D-9938-702E-DDE815BBE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Нет единого глобального порядка</a:t>
            </a:r>
          </a:p>
          <a:p>
            <a:pPr lvl="1"/>
            <a:r>
              <a:rPr lang="ru-RU" dirty="0"/>
              <a:t>разные потоки могут видеть разные порядки операций </a:t>
            </a:r>
          </a:p>
          <a:p>
            <a:pPr lvl="1"/>
            <a:r>
              <a:rPr lang="ru-RU" dirty="0"/>
              <a:t>наблюдение операций зависит от потока </a:t>
            </a:r>
          </a:p>
          <a:p>
            <a:r>
              <a:rPr lang="ru-RU" dirty="0"/>
              <a:t>Что это означает:</a:t>
            </a:r>
          </a:p>
          <a:p>
            <a:pPr lvl="1"/>
            <a:r>
              <a:rPr lang="ru-RU" dirty="0"/>
              <a:t>операции могут “выглядеть” переупорядоченными </a:t>
            </a:r>
          </a:p>
          <a:p>
            <a:pPr lvl="1"/>
            <a:r>
              <a:rPr lang="ru-RU" dirty="0"/>
              <a:t>чтение может не увидеть более раннюю запись другого потока </a:t>
            </a:r>
          </a:p>
          <a:p>
            <a:r>
              <a:rPr lang="ru-RU" dirty="0"/>
              <a:t>Почему так происходит:</a:t>
            </a:r>
          </a:p>
          <a:p>
            <a:pPr lvl="1"/>
            <a:r>
              <a:rPr lang="ru-RU" dirty="0"/>
              <a:t>компилятор переупорядочивает инструкции </a:t>
            </a:r>
          </a:p>
          <a:p>
            <a:pPr lvl="1"/>
            <a:r>
              <a:rPr lang="ru-RU" dirty="0"/>
              <a:t>процессор переупорядочивает операции </a:t>
            </a:r>
          </a:p>
          <a:p>
            <a:pPr lvl="1"/>
            <a:r>
              <a:rPr lang="ru-RU" dirty="0"/>
              <a:t>кеши делают видимость изменений не мгновенной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без синхронизации нет </a:t>
            </a:r>
            <a:r>
              <a:rPr lang="ru-RU" dirty="0" err="1"/>
              <a:t>happens-before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общий порядок есть только для одной атомарной переменной</a:t>
            </a:r>
          </a:p>
        </p:txBody>
      </p:sp>
    </p:spTree>
    <p:extLst>
      <p:ext uri="{BB962C8B-B14F-4D97-AF65-F5344CB8AC3E}">
        <p14:creationId xmlns:p14="http://schemas.microsoft.com/office/powerpoint/2010/main" val="236286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4EA9-D2F7-4D1A-1B21-704822EE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memory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0519-2A7B-6C5D-AE61-3BBFD64BC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Гарантирует только атомарность</a:t>
            </a:r>
          </a:p>
          <a:p>
            <a:pPr lvl="1"/>
            <a:r>
              <a:rPr lang="ru-RU" dirty="0"/>
              <a:t>операция неделима (нет “разорванных” значений) </a:t>
            </a:r>
          </a:p>
          <a:p>
            <a:r>
              <a:rPr lang="ru-RU" dirty="0"/>
              <a:t>Не даёт синхронизации</a:t>
            </a:r>
          </a:p>
          <a:p>
            <a:pPr lvl="1"/>
            <a:r>
              <a:rPr lang="ru-RU" dirty="0"/>
              <a:t>не участвует в </a:t>
            </a:r>
            <a:r>
              <a:rPr lang="ru-RU" dirty="0" err="1"/>
              <a:t>synchronizes-with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не создаёт </a:t>
            </a:r>
            <a:r>
              <a:rPr lang="ru-RU" dirty="0" err="1"/>
              <a:t>happens-before</a:t>
            </a:r>
            <a:r>
              <a:rPr lang="ru-RU" dirty="0"/>
              <a:t> между потоками </a:t>
            </a:r>
          </a:p>
          <a:p>
            <a:r>
              <a:rPr lang="ru-RU" dirty="0"/>
              <a:t>Что сохраняется:</a:t>
            </a:r>
          </a:p>
          <a:p>
            <a:pPr lvl="1"/>
            <a:r>
              <a:rPr lang="ru-RU" dirty="0"/>
              <a:t>порядок операций внутри одного потока </a:t>
            </a:r>
          </a:p>
          <a:p>
            <a:pPr lvl="1"/>
            <a:r>
              <a:rPr lang="ru-RU" dirty="0"/>
              <a:t>согласованный порядок изменений одной переменной </a:t>
            </a:r>
          </a:p>
          <a:p>
            <a:r>
              <a:rPr lang="ru-RU" dirty="0"/>
              <a:t>Что НЕ гарантируется:</a:t>
            </a:r>
          </a:p>
          <a:p>
            <a:pPr lvl="1"/>
            <a:r>
              <a:rPr lang="ru-RU" dirty="0"/>
              <a:t>порядок между разными переменными </a:t>
            </a:r>
          </a:p>
          <a:p>
            <a:pPr lvl="1"/>
            <a:r>
              <a:rPr lang="ru-RU" dirty="0"/>
              <a:t>видимость изменений между потоками</a:t>
            </a:r>
          </a:p>
        </p:txBody>
      </p:sp>
    </p:spTree>
    <p:extLst>
      <p:ext uri="{BB962C8B-B14F-4D97-AF65-F5344CB8AC3E}">
        <p14:creationId xmlns:p14="http://schemas.microsoft.com/office/powerpoint/2010/main" val="216382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A300D8-5134-09B3-3036-1749B4569E47}"/>
              </a:ext>
            </a:extLst>
          </p:cNvPr>
          <p:cNvSpPr txBox="1"/>
          <p:nvPr/>
        </p:nvSpPr>
        <p:spPr>
          <a:xfrm>
            <a:off x="838199" y="1779687"/>
            <a:ext cx="1135380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x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z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x.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//</a:t>
            </a:r>
            <a:r>
              <a:rPr lang="ru-RU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y.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//</a:t>
            </a:r>
            <a:r>
              <a:rPr lang="ru-RU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y.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));</a:t>
            </a:r>
            <a:r>
              <a:rPr lang="en-US" dirty="0">
                <a:solidFill>
                  <a:srgbClr val="008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// C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x.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))      </a:t>
            </a:r>
            <a:r>
              <a:rPr lang="en-US" dirty="0">
                <a:solidFill>
                  <a:srgbClr val="008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// D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  ++z;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boolalpha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x &lt;&lt; 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y &lt;&lt; 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z.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&lt;&lt; 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1508482-D917-117F-65A8-E9976CCB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Relaxed memory order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03AAA-EA2D-CA18-610A-0D4AEE0A9F69}"/>
              </a:ext>
            </a:extLst>
          </p:cNvPr>
          <p:cNvSpPr txBox="1"/>
          <p:nvPr/>
        </p:nvSpPr>
        <p:spPr>
          <a:xfrm>
            <a:off x="8737600" y="151130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Возможный вывод: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D15135-3E82-FD65-3C0D-223214A1BC33}"/>
              </a:ext>
            </a:extLst>
          </p:cNvPr>
          <p:cNvSpPr/>
          <p:nvPr/>
        </p:nvSpPr>
        <p:spPr>
          <a:xfrm>
            <a:off x="8877300" y="2075746"/>
            <a:ext cx="2628900" cy="711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true </a:t>
            </a:r>
            <a:r>
              <a:rPr lang="en-US" dirty="0" err="1"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B4805-BC17-8F2E-8AE7-99E59CA85905}"/>
              </a:ext>
            </a:extLst>
          </p:cNvPr>
          <p:cNvSpPr/>
          <p:nvPr/>
        </p:nvSpPr>
        <p:spPr>
          <a:xfrm>
            <a:off x="8877300" y="2982060"/>
            <a:ext cx="2628900" cy="711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true </a:t>
            </a:r>
            <a:r>
              <a:rPr lang="en-US" dirty="0" err="1"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351259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35EC5E-8663-E8C7-8973-8B9B9EAA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Acquire-Release </a:t>
            </a:r>
            <a:r>
              <a:rPr lang="ru-RU" dirty="0"/>
              <a:t>семантика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199E23-E36D-CF8A-E923-3C84139A8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77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7214-E625-66AA-AF7F-DF811798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Acquire/release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6B508-7110-ED18-8D80-129C1177E7C5}"/>
              </a:ext>
            </a:extLst>
          </p:cNvPr>
          <p:cNvSpPr/>
          <p:nvPr/>
        </p:nvSpPr>
        <p:spPr>
          <a:xfrm>
            <a:off x="3314700" y="2641600"/>
            <a:ext cx="2336800" cy="1028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Load</a:t>
            </a:r>
            <a:r>
              <a:rPr lang="en-US" sz="2800" dirty="0">
                <a:solidFill>
                  <a:schemeClr val="tx1"/>
                </a:solidFill>
              </a:rPr>
              <a:t> | </a:t>
            </a:r>
            <a:r>
              <a:rPr lang="en-US" sz="2800" dirty="0">
                <a:solidFill>
                  <a:srgbClr val="0070C0"/>
                </a:solidFill>
              </a:rPr>
              <a:t>Load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C67745-8766-8E72-9A4A-EFAB083C699F}"/>
              </a:ext>
            </a:extLst>
          </p:cNvPr>
          <p:cNvSpPr/>
          <p:nvPr/>
        </p:nvSpPr>
        <p:spPr>
          <a:xfrm>
            <a:off x="6515100" y="2641600"/>
            <a:ext cx="2336800" cy="1028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70C0"/>
                </a:solidFill>
              </a:rPr>
              <a:t>Load</a:t>
            </a:r>
            <a:r>
              <a:rPr lang="en-US" sz="2800" dirty="0"/>
              <a:t> | </a:t>
            </a:r>
            <a:r>
              <a:rPr lang="en-US" sz="2800" dirty="0">
                <a:solidFill>
                  <a:srgbClr val="FF0000"/>
                </a:solidFill>
              </a:rPr>
              <a:t>Store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BAC14-5122-5404-8E15-6ACD33731ACA}"/>
              </a:ext>
            </a:extLst>
          </p:cNvPr>
          <p:cNvSpPr/>
          <p:nvPr/>
        </p:nvSpPr>
        <p:spPr>
          <a:xfrm>
            <a:off x="3314700" y="4325938"/>
            <a:ext cx="2336800" cy="1028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Store</a:t>
            </a:r>
            <a:r>
              <a:rPr lang="en-US" sz="2800" dirty="0"/>
              <a:t> | </a:t>
            </a:r>
            <a:r>
              <a:rPr lang="en-US" sz="2800" dirty="0">
                <a:solidFill>
                  <a:srgbClr val="0070C0"/>
                </a:solidFill>
              </a:rPr>
              <a:t>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A906F3-1E6E-D09E-886C-CE0E8A461CD6}"/>
              </a:ext>
            </a:extLst>
          </p:cNvPr>
          <p:cNvSpPr/>
          <p:nvPr/>
        </p:nvSpPr>
        <p:spPr>
          <a:xfrm>
            <a:off x="6515100" y="4354512"/>
            <a:ext cx="2336800" cy="1028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Store</a:t>
            </a:r>
            <a:r>
              <a:rPr lang="en-US" sz="2800" dirty="0"/>
              <a:t> | </a:t>
            </a:r>
            <a:r>
              <a:rPr lang="en-US" sz="2800" dirty="0">
                <a:solidFill>
                  <a:srgbClr val="FF0000"/>
                </a:solidFill>
              </a:rPr>
              <a:t>Store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93BD2-EA86-5CE6-695A-4EF7E2DFE126}"/>
              </a:ext>
            </a:extLst>
          </p:cNvPr>
          <p:cNvSpPr/>
          <p:nvPr/>
        </p:nvSpPr>
        <p:spPr>
          <a:xfrm>
            <a:off x="3009900" y="2409826"/>
            <a:ext cx="6121400" cy="14335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84D77-5CF5-0E21-4DA0-D338B91BD386}"/>
              </a:ext>
            </a:extLst>
          </p:cNvPr>
          <p:cNvSpPr/>
          <p:nvPr/>
        </p:nvSpPr>
        <p:spPr>
          <a:xfrm>
            <a:off x="6375400" y="2236788"/>
            <a:ext cx="2603500" cy="336391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4827F-A72D-99DC-6D82-B03C902AEBF8}"/>
              </a:ext>
            </a:extLst>
          </p:cNvPr>
          <p:cNvSpPr txBox="1"/>
          <p:nvPr/>
        </p:nvSpPr>
        <p:spPr>
          <a:xfrm>
            <a:off x="1778000" y="18288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Acquire-</a:t>
            </a:r>
            <a:r>
              <a:rPr lang="ru-RU" dirty="0">
                <a:solidFill>
                  <a:srgbClr val="0070C0"/>
                </a:solidFill>
              </a:rPr>
              <a:t>семантика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ECAF7-B4E1-07DA-C831-457FF306CC32}"/>
              </a:ext>
            </a:extLst>
          </p:cNvPr>
          <p:cNvSpPr txBox="1"/>
          <p:nvPr/>
        </p:nvSpPr>
        <p:spPr>
          <a:xfrm>
            <a:off x="9118600" y="5013880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Release-</a:t>
            </a:r>
            <a:r>
              <a:rPr lang="ru-RU" dirty="0">
                <a:solidFill>
                  <a:srgbClr val="FF0000"/>
                </a:solidFill>
              </a:rPr>
              <a:t>семантика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91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AB8B-AEA1-82CB-C2F3-A05FD0CC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Барьеры памяти — что это такое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9A5FD0-8D94-2F66-26FE-4E39E1B53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Барьеры памяти — это НЕ инструкции</a:t>
            </a:r>
          </a:p>
          <a:p>
            <a:pPr lvl="1"/>
            <a:r>
              <a:rPr lang="ru-RU" dirty="0"/>
              <a:t>это ограничения на переупорядочивание операций</a:t>
            </a:r>
          </a:p>
          <a:p>
            <a:r>
              <a:rPr lang="ru-RU" dirty="0"/>
              <a:t>Что означает:</a:t>
            </a:r>
          </a:p>
          <a:p>
            <a:pPr lvl="1"/>
            <a:r>
              <a:rPr lang="ru-RU" dirty="0" err="1"/>
              <a:t>Load</a:t>
            </a:r>
            <a:r>
              <a:rPr lang="ru-RU" dirty="0"/>
              <a:t> | </a:t>
            </a:r>
            <a:r>
              <a:rPr lang="ru-RU" dirty="0" err="1"/>
              <a:t>Load</a:t>
            </a:r>
            <a:r>
              <a:rPr lang="ru-RU" dirty="0"/>
              <a:t>, </a:t>
            </a:r>
            <a:r>
              <a:rPr lang="ru-RU" dirty="0" err="1"/>
              <a:t>Load</a:t>
            </a:r>
            <a:r>
              <a:rPr lang="ru-RU" dirty="0"/>
              <a:t> | Store, Store | </a:t>
            </a:r>
            <a:r>
              <a:rPr lang="ru-RU" dirty="0" err="1"/>
              <a:t>Load</a:t>
            </a:r>
            <a:r>
              <a:rPr lang="ru-RU" dirty="0"/>
              <a:t>, Store | Store </a:t>
            </a:r>
          </a:p>
          <a:p>
            <a:pPr lvl="1"/>
            <a:r>
              <a:rPr lang="ru-RU" dirty="0"/>
              <a:t>запрещено менять порядок этих операций </a:t>
            </a:r>
          </a:p>
          <a:p>
            <a:r>
              <a:rPr lang="ru-RU" dirty="0"/>
              <a:t>Кто их обеспечивает:</a:t>
            </a:r>
          </a:p>
          <a:p>
            <a:pPr lvl="1"/>
            <a:r>
              <a:rPr lang="ru-RU" dirty="0"/>
              <a:t>компилятор — не переставляет инструкции </a:t>
            </a:r>
          </a:p>
          <a:p>
            <a:pPr lvl="1"/>
            <a:r>
              <a:rPr lang="ru-RU" dirty="0"/>
              <a:t>процессор — соблюдает порядок выполнения </a:t>
            </a:r>
          </a:p>
          <a:p>
            <a:r>
              <a:rPr lang="ru-RU" dirty="0"/>
              <a:t>Как реализуются:</a:t>
            </a:r>
          </a:p>
          <a:p>
            <a:pPr lvl="1"/>
            <a:r>
              <a:rPr lang="ru-RU" dirty="0"/>
              <a:t>могут быть “бесплатными” (x86) </a:t>
            </a:r>
          </a:p>
          <a:p>
            <a:pPr lvl="1"/>
            <a:r>
              <a:rPr lang="ru-RU" dirty="0"/>
              <a:t>могут требовать инструкций (</a:t>
            </a:r>
            <a:r>
              <a:rPr lang="ru-RU" dirty="0" err="1"/>
              <a:t>ldar</a:t>
            </a:r>
            <a:r>
              <a:rPr lang="ru-RU" dirty="0"/>
              <a:t>, </a:t>
            </a:r>
            <a:r>
              <a:rPr lang="ru-RU" dirty="0" err="1"/>
              <a:t>stlr</a:t>
            </a:r>
            <a:r>
              <a:rPr lang="ru-RU" dirty="0"/>
              <a:t>, </a:t>
            </a:r>
            <a:r>
              <a:rPr lang="ru-RU" dirty="0" err="1"/>
              <a:t>dmb</a:t>
            </a:r>
            <a:r>
              <a:rPr lang="ru-RU" dirty="0"/>
              <a:t> на ARM) </a:t>
            </a:r>
          </a:p>
          <a:p>
            <a:r>
              <a:rPr lang="ru-RU" dirty="0"/>
              <a:t>Барьер есть всегда (по модели C++), даже если нет явной инструкции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46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4582-2EB5-EAD6-E248-03ECFCF2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memory_order</a:t>
            </a:r>
            <a:r>
              <a:rPr lang="en-US" dirty="0"/>
              <a:t>::acquire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441B-D5CB-5D0E-C028-8291A1C3F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Load</a:t>
            </a:r>
            <a:r>
              <a:rPr lang="ru-RU" dirty="0"/>
              <a:t> с </a:t>
            </a:r>
            <a:r>
              <a:rPr lang="ru-RU" dirty="0" err="1"/>
              <a:t>acquire</a:t>
            </a:r>
            <a:r>
              <a:rPr lang="ru-RU" dirty="0"/>
              <a:t>-семантикой</a:t>
            </a:r>
          </a:p>
          <a:p>
            <a:r>
              <a:rPr lang="ru-RU" dirty="0"/>
              <a:t>Гарантии в текущем потоке:</a:t>
            </a:r>
          </a:p>
          <a:p>
            <a:pPr lvl="1"/>
            <a:r>
              <a:rPr lang="ru-RU" dirty="0"/>
              <a:t>операции после </a:t>
            </a:r>
            <a:r>
              <a:rPr lang="ru-RU" dirty="0" err="1"/>
              <a:t>load</a:t>
            </a:r>
            <a:r>
              <a:rPr lang="ru-RU" dirty="0"/>
              <a:t> не могут быть перемещены выше него </a:t>
            </a:r>
          </a:p>
          <a:p>
            <a:r>
              <a:rPr lang="ru-RU" dirty="0"/>
              <a:t>Взаимодействие между потоками:</a:t>
            </a:r>
          </a:p>
          <a:p>
            <a:pPr lvl="1"/>
            <a:r>
              <a:rPr lang="ru-RU" dirty="0"/>
              <a:t>“видит” все записи, сделанные до </a:t>
            </a:r>
            <a:r>
              <a:rPr lang="ru-RU" dirty="0" err="1"/>
              <a:t>release</a:t>
            </a:r>
            <a:r>
              <a:rPr lang="ru-RU" dirty="0"/>
              <a:t> той же переменной </a:t>
            </a:r>
          </a:p>
          <a:p>
            <a:pPr lvl="1"/>
            <a:r>
              <a:rPr lang="ru-RU" dirty="0"/>
              <a:t>формирует </a:t>
            </a:r>
            <a:r>
              <a:rPr lang="ru-RU" dirty="0" err="1"/>
              <a:t>happens-before</a:t>
            </a:r>
            <a:r>
              <a:rPr lang="ru-RU" dirty="0"/>
              <a:t> с соответствующим </a:t>
            </a:r>
            <a:r>
              <a:rPr lang="ru-RU" dirty="0" err="1"/>
              <a:t>release</a:t>
            </a:r>
            <a:r>
              <a:rPr lang="ru-RU" dirty="0"/>
              <a:t> </a:t>
            </a:r>
          </a:p>
          <a:p>
            <a:r>
              <a:rPr lang="ru-RU" dirty="0"/>
              <a:t>Как запомнить:</a:t>
            </a:r>
          </a:p>
          <a:p>
            <a:pPr lvl="1"/>
            <a:r>
              <a:rPr lang="ru-RU" dirty="0"/>
              <a:t>сначала читаем</a:t>
            </a:r>
            <a:r>
              <a:rPr lang="en-US" dirty="0"/>
              <a:t> c acquire</a:t>
            </a:r>
          </a:p>
          <a:p>
            <a:pPr lvl="1"/>
            <a:r>
              <a:rPr lang="ru-RU" dirty="0"/>
              <a:t>потом безопасно используем данные</a:t>
            </a:r>
          </a:p>
        </p:txBody>
      </p:sp>
    </p:spTree>
    <p:extLst>
      <p:ext uri="{BB962C8B-B14F-4D97-AF65-F5344CB8AC3E}">
        <p14:creationId xmlns:p14="http://schemas.microsoft.com/office/powerpoint/2010/main" val="65671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5A7E-72A2-D740-D1B1-E57CA080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memory_order</a:t>
            </a:r>
            <a:r>
              <a:rPr lang="en-US" dirty="0"/>
              <a:t>::release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55C2-F6A6-D97A-B2FA-2A642FB83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Store с </a:t>
            </a:r>
            <a:r>
              <a:rPr lang="ru-RU" dirty="0" err="1"/>
              <a:t>release</a:t>
            </a:r>
            <a:r>
              <a:rPr lang="ru-RU" dirty="0"/>
              <a:t>-семантикой</a:t>
            </a:r>
          </a:p>
          <a:p>
            <a:r>
              <a:rPr lang="ru-RU" dirty="0"/>
              <a:t>Гарантии в текущем потоке:</a:t>
            </a:r>
          </a:p>
          <a:p>
            <a:pPr lvl="1"/>
            <a:r>
              <a:rPr lang="ru-RU" dirty="0"/>
              <a:t>операции до </a:t>
            </a:r>
            <a:r>
              <a:rPr lang="ru-RU" dirty="0" err="1"/>
              <a:t>store</a:t>
            </a:r>
            <a:r>
              <a:rPr lang="ru-RU" dirty="0"/>
              <a:t> не могут быть перемещены ниже него </a:t>
            </a:r>
          </a:p>
          <a:p>
            <a:r>
              <a:rPr lang="ru-RU" dirty="0"/>
              <a:t>Взаимодействие между потоками:</a:t>
            </a:r>
          </a:p>
          <a:p>
            <a:pPr lvl="1"/>
            <a:r>
              <a:rPr lang="ru-RU" dirty="0"/>
              <a:t>Поток “публикует” все предыдущие записи </a:t>
            </a:r>
          </a:p>
          <a:p>
            <a:pPr lvl="1"/>
            <a:r>
              <a:rPr lang="ru-RU" dirty="0"/>
              <a:t>синхронизируется с </a:t>
            </a:r>
            <a:r>
              <a:rPr lang="ru-RU" dirty="0" err="1"/>
              <a:t>acquire</a:t>
            </a:r>
            <a:r>
              <a:rPr lang="ru-RU" dirty="0"/>
              <a:t> той же переменной </a:t>
            </a:r>
          </a:p>
          <a:p>
            <a:pPr lvl="1"/>
            <a:r>
              <a:rPr lang="ru-RU" dirty="0"/>
              <a:t>формирует </a:t>
            </a:r>
            <a:r>
              <a:rPr lang="ru-RU" dirty="0" err="1"/>
              <a:t>happens-before</a:t>
            </a:r>
            <a:r>
              <a:rPr lang="ru-RU" dirty="0"/>
              <a:t> </a:t>
            </a:r>
          </a:p>
          <a:p>
            <a:r>
              <a:rPr lang="ru-RU" dirty="0"/>
              <a:t>Как запомнить:</a:t>
            </a:r>
            <a:endParaRPr lang="en-US" dirty="0"/>
          </a:p>
          <a:p>
            <a:pPr lvl="1"/>
            <a:r>
              <a:rPr lang="ru-RU" dirty="0"/>
              <a:t>сначала записываем данные</a:t>
            </a:r>
            <a:endParaRPr lang="en-US" dirty="0"/>
          </a:p>
          <a:p>
            <a:pPr lvl="1"/>
            <a:r>
              <a:rPr lang="ru-RU" dirty="0"/>
              <a:t>потом публикуем с </a:t>
            </a:r>
            <a:r>
              <a:rPr lang="en-US" dirty="0"/>
              <a:t>release</a:t>
            </a:r>
            <a:endParaRPr lang="ru-RU" dirty="0"/>
          </a:p>
          <a:p>
            <a:pPr lvl="1"/>
            <a:r>
              <a:rPr lang="ru-RU" dirty="0"/>
              <a:t>«</a:t>
            </a:r>
            <a:r>
              <a:rPr lang="en-US" dirty="0"/>
              <a:t>Release – </a:t>
            </a:r>
            <a:r>
              <a:rPr lang="ru-RU" dirty="0"/>
              <a:t>нельзя вниз» (</a:t>
            </a:r>
            <a:r>
              <a:rPr lang="en-US" dirty="0"/>
              <a:t>c</a:t>
            </a:r>
            <a:r>
              <a:rPr lang="ru-RU" dirty="0"/>
              <a:t>) Константин Владимиров</a:t>
            </a:r>
          </a:p>
        </p:txBody>
      </p:sp>
    </p:spTree>
    <p:extLst>
      <p:ext uri="{BB962C8B-B14F-4D97-AF65-F5344CB8AC3E}">
        <p14:creationId xmlns:p14="http://schemas.microsoft.com/office/powerpoint/2010/main" val="207825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C2F1AA-F0C0-B780-CD21-4EDC3DDC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Acquire/release </a:t>
            </a:r>
            <a:r>
              <a:rPr lang="ru-RU" dirty="0"/>
              <a:t>семантика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86C92-6842-A7AA-A964-BB8AC3C87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reg, [Memory]</a:t>
            </a:r>
          </a:p>
          <a:p>
            <a:r>
              <a:rPr lang="en-US" dirty="0" err="1"/>
              <a:t>Membar</a:t>
            </a:r>
            <a:r>
              <a:rPr lang="en-US" dirty="0"/>
              <a:t> #LoadLoad, #LoadStore // Acquire-</a:t>
            </a:r>
            <a:r>
              <a:rPr lang="ru-RU" dirty="0"/>
              <a:t>барьер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…</a:t>
            </a:r>
            <a:r>
              <a:rPr lang="ru-RU" dirty="0"/>
              <a:t> </a:t>
            </a:r>
            <a:r>
              <a:rPr lang="en-US" dirty="0"/>
              <a:t>// </a:t>
            </a:r>
            <a:r>
              <a:rPr lang="ru-RU" dirty="0"/>
              <a:t>Операции внутри </a:t>
            </a:r>
            <a:r>
              <a:rPr lang="en-US" dirty="0"/>
              <a:t>acquire/release </a:t>
            </a:r>
            <a:r>
              <a:rPr lang="ru-RU" dirty="0"/>
              <a:t>секции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Membar</a:t>
            </a:r>
            <a:r>
              <a:rPr lang="en-US" dirty="0"/>
              <a:t> #LoadStore, #StoreStore</a:t>
            </a:r>
            <a:r>
              <a:rPr lang="ru-RU" dirty="0"/>
              <a:t> </a:t>
            </a:r>
            <a:r>
              <a:rPr lang="en-US" dirty="0"/>
              <a:t>// Release-</a:t>
            </a:r>
            <a:r>
              <a:rPr lang="ru-RU" dirty="0"/>
              <a:t>барьер</a:t>
            </a:r>
            <a:endParaRPr lang="en-US" dirty="0"/>
          </a:p>
          <a:p>
            <a:r>
              <a:rPr lang="en-US" dirty="0"/>
              <a:t>STORE [Memory], reg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4431538-DAF3-164E-D694-1A6CCDAD597E}"/>
              </a:ext>
            </a:extLst>
          </p:cNvPr>
          <p:cNvSpPr/>
          <p:nvPr/>
        </p:nvSpPr>
        <p:spPr>
          <a:xfrm>
            <a:off x="9302750" y="2476500"/>
            <a:ext cx="736600" cy="4572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D50EE26-EA77-F964-3D91-161557A82877}"/>
              </a:ext>
            </a:extLst>
          </p:cNvPr>
          <p:cNvSpPr/>
          <p:nvPr/>
        </p:nvSpPr>
        <p:spPr>
          <a:xfrm>
            <a:off x="10347325" y="2476500"/>
            <a:ext cx="736600" cy="45720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7255676-03A2-E940-D299-406497DADD6A}"/>
              </a:ext>
            </a:extLst>
          </p:cNvPr>
          <p:cNvSpPr/>
          <p:nvPr/>
        </p:nvSpPr>
        <p:spPr>
          <a:xfrm rot="10800000">
            <a:off x="9302750" y="4326731"/>
            <a:ext cx="736600" cy="4572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47F9D39-E077-C299-1799-234196C3D721}"/>
              </a:ext>
            </a:extLst>
          </p:cNvPr>
          <p:cNvSpPr/>
          <p:nvPr/>
        </p:nvSpPr>
        <p:spPr>
          <a:xfrm rot="10800000">
            <a:off x="10347325" y="4326731"/>
            <a:ext cx="736600" cy="45720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6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7423DAB-8CB0-6854-63E4-43EA284EC8E8}"/>
              </a:ext>
            </a:extLst>
          </p:cNvPr>
          <p:cNvSpPr txBox="1"/>
          <p:nvPr/>
        </p:nvSpPr>
        <p:spPr>
          <a:xfrm>
            <a:off x="838200" y="1914525"/>
            <a:ext cx="1011555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chrono_literals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([&amp;]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from worker thread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Обычная, неатомарная запись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Публикация результата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продолжаем работу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End of worker thread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публикации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Пассивное ожидание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Безопасное неатомарное чтение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Поток завершится через секунду, после публикации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13797-BC8C-E3C4-BE13-1DD9625A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потоков через </a:t>
            </a:r>
            <a:r>
              <a:rPr lang="en-US" dirty="0"/>
              <a:t>acquire-release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4E582-C702-41CD-713A-4C671E6AD50C}"/>
              </a:ext>
            </a:extLst>
          </p:cNvPr>
          <p:cNvSpPr txBox="1"/>
          <p:nvPr/>
        </p:nvSpPr>
        <p:spPr>
          <a:xfrm>
            <a:off x="8374034" y="5196896"/>
            <a:ext cx="3817966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Hello from worker thread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End of worker thread</a:t>
            </a:r>
          </a:p>
        </p:txBody>
      </p:sp>
    </p:spTree>
    <p:extLst>
      <p:ext uri="{BB962C8B-B14F-4D97-AF65-F5344CB8AC3E}">
        <p14:creationId xmlns:p14="http://schemas.microsoft.com/office/powerpoint/2010/main" val="406598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82FB-8616-6F53-EDF3-37E03AFB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compare_exchange</a:t>
            </a:r>
            <a:r>
              <a:rPr lang="en-US" dirty="0"/>
              <a:t>: strong vs weak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751F-EEA4-C712-27CB-39626F407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Атомарное сравнение и обмен (</a:t>
            </a:r>
            <a:r>
              <a:rPr lang="en-US" dirty="0"/>
              <a:t>CAS)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compare_exchange_weak</a:t>
            </a:r>
            <a:r>
              <a:rPr lang="en-US" dirty="0">
                <a:latin typeface="Consolas" panose="020B0609020204030204" pitchFamily="49" charset="0"/>
              </a:rPr>
              <a:t>(expected, desired, order)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compare_exchange_strong</a:t>
            </a:r>
            <a:r>
              <a:rPr lang="en-US" dirty="0">
                <a:latin typeface="Consolas" panose="020B0609020204030204" pitchFamily="49" charset="0"/>
              </a:rPr>
              <a:t>(expected, desired, order)</a:t>
            </a:r>
          </a:p>
          <a:p>
            <a:r>
              <a:rPr lang="ru-RU" dirty="0"/>
              <a:t>Что делает: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atomic == expected → </a:t>
            </a:r>
            <a:r>
              <a:rPr lang="ru-RU" dirty="0"/>
              <a:t>записывает </a:t>
            </a:r>
            <a:r>
              <a:rPr lang="en-US" dirty="0"/>
              <a:t>desired </a:t>
            </a:r>
          </a:p>
          <a:p>
            <a:pPr lvl="1"/>
            <a:r>
              <a:rPr lang="ru-RU" dirty="0"/>
              <a:t>иначе → обновляет </a:t>
            </a:r>
            <a:r>
              <a:rPr lang="en-US" dirty="0"/>
              <a:t>expected </a:t>
            </a:r>
            <a:r>
              <a:rPr lang="ru-RU" dirty="0"/>
              <a:t>текущим значением </a:t>
            </a:r>
          </a:p>
          <a:p>
            <a:r>
              <a:rPr lang="ru-RU" dirty="0"/>
              <a:t>Различия:</a:t>
            </a:r>
          </a:p>
          <a:p>
            <a:pPr lvl="1"/>
            <a:r>
              <a:rPr lang="en-US" dirty="0"/>
              <a:t>weak: </a:t>
            </a:r>
          </a:p>
          <a:p>
            <a:pPr lvl="2"/>
            <a:r>
              <a:rPr lang="ru-RU" dirty="0"/>
              <a:t>может ложно завершаться неудачей </a:t>
            </a:r>
          </a:p>
          <a:p>
            <a:pPr lvl="2"/>
            <a:r>
              <a:rPr lang="ru-RU" dirty="0"/>
              <a:t>используется в циклах </a:t>
            </a:r>
          </a:p>
          <a:p>
            <a:pPr lvl="1"/>
            <a:r>
              <a:rPr lang="en-US" dirty="0"/>
              <a:t>strong: </a:t>
            </a:r>
          </a:p>
          <a:p>
            <a:pPr lvl="2"/>
            <a:r>
              <a:rPr lang="ru-RU" dirty="0"/>
              <a:t>не даёт ложных неудач </a:t>
            </a:r>
          </a:p>
          <a:p>
            <a:pPr lvl="2"/>
            <a:r>
              <a:rPr lang="ru-RU" dirty="0"/>
              <a:t>используется для одной попытки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первый аргумент передаётся по ссылке </a:t>
            </a:r>
          </a:p>
          <a:p>
            <a:pPr lvl="1"/>
            <a:r>
              <a:rPr lang="ru-RU" dirty="0"/>
              <a:t>при неудаче он обновляется </a:t>
            </a:r>
          </a:p>
          <a:p>
            <a:pPr lvl="1"/>
            <a:r>
              <a:rPr lang="ru-RU" dirty="0"/>
              <a:t>часто используется в </a:t>
            </a:r>
            <a:r>
              <a:rPr lang="en-US" dirty="0"/>
              <a:t>spinlock </a:t>
            </a:r>
            <a:r>
              <a:rPr lang="ru-RU" dirty="0"/>
              <a:t>и </a:t>
            </a:r>
            <a:r>
              <a:rPr lang="en-US" dirty="0"/>
              <a:t>lock-free </a:t>
            </a:r>
            <a:r>
              <a:rPr lang="ru-RU" dirty="0"/>
              <a:t>структурах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1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C5B95B-2F28-36EE-4E1E-0F32C1E706F2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SpinMutex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SpinMutex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SpinMutex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::relaxed) ==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do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compare_exchange_weak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::acquire));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compare_exchange_strong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::acquire);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::release);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atomic_bool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m_flag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1940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49D017-0380-ADF1-AFDD-307336AD05AF}"/>
              </a:ext>
            </a:extLst>
          </p:cNvPr>
          <p:cNvSpPr txBox="1"/>
          <p:nvPr/>
        </p:nvSpPr>
        <p:spPr>
          <a:xfrm>
            <a:off x="0" y="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Widget() = default;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Widget(const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Widget&amp; operator=(const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~Widget() {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delete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 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64179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7158-79F8-640D-9DC3-7BE381EA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5B5F5-767B-629E-86E8-E2955809D3F2}"/>
              </a:ext>
            </a:extLst>
          </p:cNvPr>
          <p:cNvSpPr txBox="1"/>
          <p:nvPr/>
        </p:nvSpPr>
        <p:spPr>
          <a:xfrm>
            <a:off x="0" y="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Widget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Widget() = default;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Widget(const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Widget&amp; operator=(const Widget&amp;) = delete;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~Widget() {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delete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::acquire);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 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::relaxed)))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memory_order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::release);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UseData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48266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F844E7-7167-B508-A6A5-6B9F8489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Атомарные барьеры</a:t>
            </a:r>
            <a:r>
              <a:rPr lang="en-US" dirty="0"/>
              <a:t> </a:t>
            </a:r>
            <a:r>
              <a:rPr lang="ru-RU" dirty="0"/>
              <a:t>памяти (</a:t>
            </a:r>
            <a:r>
              <a:rPr lang="en-US" dirty="0"/>
              <a:t>atomic thread fences)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30B91-5547-16FB-DF3D-27DB8966A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88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D48E90-3CDB-BBDD-E7B3-7E81441C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Fence-</a:t>
            </a:r>
            <a:r>
              <a:rPr lang="ru-RU" dirty="0"/>
              <a:t>операции (</a:t>
            </a:r>
            <a:r>
              <a:rPr lang="en-US" dirty="0"/>
              <a:t>memory fences)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52E39B-1AD3-4A04-1224-D9B2FEA05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/>
              <a:t>Fence</a:t>
            </a:r>
            <a:r>
              <a:rPr lang="ru-RU" dirty="0"/>
              <a:t> — это барьер без доступа к памяти</a:t>
            </a:r>
          </a:p>
          <a:p>
            <a:pPr lvl="1"/>
            <a:r>
              <a:rPr lang="ru-RU" dirty="0"/>
              <a:t>не выполняет </a:t>
            </a:r>
            <a:r>
              <a:rPr lang="ru-RU" dirty="0" err="1"/>
              <a:t>load</a:t>
            </a:r>
            <a:r>
              <a:rPr lang="ru-RU" dirty="0"/>
              <a:t> или </a:t>
            </a:r>
            <a:r>
              <a:rPr lang="ru-RU" dirty="0" err="1"/>
              <a:t>store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ограничивает переупорядочивание операций </a:t>
            </a:r>
          </a:p>
          <a:p>
            <a:r>
              <a:rPr lang="ru-RU" dirty="0"/>
              <a:t>Зачем нужны:</a:t>
            </a:r>
          </a:p>
          <a:p>
            <a:pPr lvl="1"/>
            <a:r>
              <a:rPr lang="ru-RU" dirty="0"/>
              <a:t>используются вместе с </a:t>
            </a:r>
            <a:r>
              <a:rPr lang="ru-RU" dirty="0" err="1"/>
              <a:t>relaxed</a:t>
            </a:r>
            <a:r>
              <a:rPr lang="ru-RU" dirty="0"/>
              <a:t>-операциями </a:t>
            </a:r>
          </a:p>
          <a:p>
            <a:pPr lvl="1"/>
            <a:r>
              <a:rPr lang="ru-RU" dirty="0"/>
              <a:t>позволяют добавить порядок там, где его нет </a:t>
            </a:r>
          </a:p>
          <a:p>
            <a:r>
              <a:rPr lang="ru-RU" dirty="0"/>
              <a:t>Что делают:</a:t>
            </a:r>
          </a:p>
          <a:p>
            <a:pPr lvl="1"/>
            <a:r>
              <a:rPr lang="ru-RU" dirty="0"/>
              <a:t>запрещают определённые переупорядочивания </a:t>
            </a:r>
          </a:p>
          <a:p>
            <a:pPr lvl="1"/>
            <a:r>
              <a:rPr lang="ru-RU" dirty="0"/>
              <a:t>могут участвовать в формировании </a:t>
            </a:r>
            <a:r>
              <a:rPr lang="ru-RU" dirty="0" err="1"/>
              <a:t>happens-before</a:t>
            </a:r>
            <a:r>
              <a:rPr lang="ru-RU" dirty="0"/>
              <a:t> </a:t>
            </a:r>
          </a:p>
          <a:p>
            <a:r>
              <a:rPr lang="ru-RU" dirty="0"/>
              <a:t>Во что компилируются:</a:t>
            </a:r>
          </a:p>
          <a:p>
            <a:pPr lvl="1"/>
            <a:r>
              <a:rPr lang="ru-RU" dirty="0"/>
              <a:t>x86 — часто не требуют инструкций или используют </a:t>
            </a:r>
            <a:r>
              <a:rPr lang="ru-RU" dirty="0" err="1"/>
              <a:t>mfence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ARM — </a:t>
            </a:r>
            <a:r>
              <a:rPr lang="ru-RU" dirty="0" err="1"/>
              <a:t>dmb</a:t>
            </a:r>
            <a:r>
              <a:rPr lang="ru-RU" dirty="0"/>
              <a:t> (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barrier</a:t>
            </a:r>
            <a:r>
              <a:rPr lang="ru-RU" dirty="0"/>
              <a:t>) </a:t>
            </a:r>
          </a:p>
          <a:p>
            <a:r>
              <a:rPr lang="ru-RU" dirty="0" err="1"/>
              <a:t>Fence</a:t>
            </a:r>
            <a:r>
              <a:rPr lang="ru-RU" dirty="0"/>
              <a:t> сам по себе не передаёт данные — нужна атомарная переменная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150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438D-7F06-4F8C-459B-5BFADC2E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atomic_thread_fence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E546-41F4-F335-0A7B-05A0EB6E9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Барьер памяти без доступа к данным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std</a:t>
            </a:r>
            <a:r>
              <a:rPr lang="ru-RU" dirty="0">
                <a:latin typeface="Consolas" panose="020B0609020204030204" pitchFamily="49" charset="0"/>
              </a:rPr>
              <a:t>::</a:t>
            </a:r>
            <a:r>
              <a:rPr lang="ru-RU" dirty="0" err="1">
                <a:latin typeface="Consolas" panose="020B0609020204030204" pitchFamily="49" charset="0"/>
              </a:rPr>
              <a:t>atomic_thread_fence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order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r>
              <a:rPr lang="ru-RU" dirty="0"/>
              <a:t>Что делает:</a:t>
            </a:r>
          </a:p>
          <a:p>
            <a:pPr lvl="1"/>
            <a:r>
              <a:rPr lang="ru-RU" dirty="0"/>
              <a:t>ограничивает переупорядочивание операций </a:t>
            </a:r>
          </a:p>
          <a:p>
            <a:pPr lvl="1"/>
            <a:r>
              <a:rPr lang="ru-RU" dirty="0"/>
              <a:t>влияет на обычные и </a:t>
            </a:r>
            <a:r>
              <a:rPr lang="ru-RU" dirty="0" err="1"/>
              <a:t>relaxed</a:t>
            </a:r>
            <a:r>
              <a:rPr lang="ru-RU" dirty="0"/>
              <a:t>-операции </a:t>
            </a:r>
          </a:p>
          <a:p>
            <a:r>
              <a:rPr lang="ru-RU" dirty="0"/>
              <a:t>Как используется:</a:t>
            </a:r>
          </a:p>
          <a:p>
            <a:pPr lvl="1"/>
            <a:r>
              <a:rPr lang="ru-RU" dirty="0"/>
              <a:t>вместе с атомарными переменными </a:t>
            </a:r>
          </a:p>
          <a:p>
            <a:pPr lvl="1"/>
            <a:r>
              <a:rPr lang="ru-RU" dirty="0"/>
              <a:t>для добавления порядка к </a:t>
            </a:r>
            <a:r>
              <a:rPr lang="ru-RU" dirty="0" err="1"/>
              <a:t>relaxed</a:t>
            </a:r>
            <a:r>
              <a:rPr lang="ru-RU" dirty="0"/>
              <a:t> </a:t>
            </a:r>
          </a:p>
          <a:p>
            <a:r>
              <a:rPr lang="ru-RU" dirty="0"/>
              <a:t>Синхронизация возникает, если:</a:t>
            </a:r>
          </a:p>
          <a:p>
            <a:pPr lvl="1"/>
            <a:r>
              <a:rPr lang="ru-RU" dirty="0"/>
              <a:t>есть связь через одну атомарную переменную </a:t>
            </a:r>
          </a:p>
          <a:p>
            <a:pPr lvl="1"/>
            <a:r>
              <a:rPr lang="ru-RU" dirty="0"/>
              <a:t>комбинация </a:t>
            </a:r>
            <a:r>
              <a:rPr lang="ru-RU" dirty="0" err="1"/>
              <a:t>release</a:t>
            </a:r>
            <a:r>
              <a:rPr lang="ru-RU" dirty="0"/>
              <a:t> и </a:t>
            </a:r>
            <a:r>
              <a:rPr lang="ru-RU" dirty="0" err="1"/>
              <a:t>acquire</a:t>
            </a:r>
            <a:r>
              <a:rPr lang="ru-RU" dirty="0"/>
              <a:t> (через </a:t>
            </a:r>
            <a:r>
              <a:rPr lang="ru-RU" dirty="0" err="1"/>
              <a:t>fence</a:t>
            </a:r>
            <a:r>
              <a:rPr lang="ru-RU" dirty="0"/>
              <a:t> или операции) </a:t>
            </a:r>
          </a:p>
          <a:p>
            <a:r>
              <a:rPr lang="ru-RU" dirty="0" err="1"/>
              <a:t>Fence</a:t>
            </a:r>
            <a:r>
              <a:rPr lang="ru-RU" dirty="0"/>
              <a:t> сам по себе не передаёт данные</a:t>
            </a:r>
          </a:p>
        </p:txBody>
      </p:sp>
    </p:spTree>
    <p:extLst>
      <p:ext uri="{BB962C8B-B14F-4D97-AF65-F5344CB8AC3E}">
        <p14:creationId xmlns:p14="http://schemas.microsoft.com/office/powerpoint/2010/main" val="301328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D3BF-E7C0-237F-FF90-9E4C7DCA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через </a:t>
            </a:r>
            <a:r>
              <a:rPr lang="en-US" dirty="0"/>
              <a:t>Release-fence → Acquire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EBC6C-0075-2B30-6A07-BD39DC988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146113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Идея:</a:t>
            </a:r>
          </a:p>
          <a:p>
            <a:pPr lvl="1"/>
            <a:r>
              <a:rPr lang="ru-RU" dirty="0" err="1"/>
              <a:t>release-fence</a:t>
            </a:r>
            <a:r>
              <a:rPr lang="ru-RU" dirty="0"/>
              <a:t> публикует данные </a:t>
            </a:r>
          </a:p>
          <a:p>
            <a:pPr lvl="1"/>
            <a:r>
              <a:rPr lang="ru-RU" dirty="0" err="1"/>
              <a:t>acquire</a:t>
            </a:r>
            <a:r>
              <a:rPr lang="ru-RU" dirty="0"/>
              <a:t> их “подхватывает”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9A81B-3150-F22B-841E-5D0C6E21F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91721"/>
            <a:ext cx="10515600" cy="128524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Условие:</a:t>
            </a:r>
          </a:p>
          <a:p>
            <a:pPr lvl="1"/>
            <a:r>
              <a:rPr lang="ru-RU" dirty="0" err="1"/>
              <a:t>acquire</a:t>
            </a:r>
            <a:r>
              <a:rPr lang="ru-RU" dirty="0"/>
              <a:t> читает значение, записанное в </a:t>
            </a:r>
            <a:r>
              <a:rPr lang="ru-RU" dirty="0" err="1"/>
              <a:t>flag</a:t>
            </a:r>
            <a:r>
              <a:rPr lang="ru-RU" dirty="0"/>
              <a:t> </a:t>
            </a:r>
          </a:p>
          <a:p>
            <a:r>
              <a:rPr lang="ru-RU" dirty="0"/>
              <a:t>Гарантируется, что все записи до </a:t>
            </a:r>
            <a:r>
              <a:rPr lang="ru-RU" dirty="0" err="1"/>
              <a:t>fence</a:t>
            </a:r>
            <a:r>
              <a:rPr lang="ru-RU" dirty="0"/>
              <a:t> в A видны после </a:t>
            </a:r>
            <a:r>
              <a:rPr lang="ru-RU" dirty="0" err="1"/>
              <a:t>acquire</a:t>
            </a:r>
            <a:r>
              <a:rPr lang="ru-RU" dirty="0"/>
              <a:t> в B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65F6D8-6B46-A0FC-5D67-59C89AC6C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286480"/>
              </p:ext>
            </p:extLst>
          </p:nvPr>
        </p:nvGraphicFramePr>
        <p:xfrm>
          <a:off x="1184101" y="3087255"/>
          <a:ext cx="10169698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0939">
                  <a:extLst>
                    <a:ext uri="{9D8B030D-6E8A-4147-A177-3AD203B41FA5}">
                      <a16:colId xmlns:a16="http://schemas.microsoft.com/office/drawing/2014/main" val="1540853012"/>
                    </a:ext>
                  </a:extLst>
                </a:gridCol>
                <a:gridCol w="5318759">
                  <a:extLst>
                    <a:ext uri="{9D8B030D-6E8A-4147-A177-3AD203B41FA5}">
                      <a16:colId xmlns:a16="http://schemas.microsoft.com/office/drawing/2014/main" val="3036253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Поток </a:t>
                      </a:r>
                      <a:r>
                        <a:rPr lang="en-US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Поток </a:t>
                      </a:r>
                      <a:r>
                        <a:rPr lang="en-US" sz="20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90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[</a:t>
                      </a:r>
                      <a:r>
                        <a:rPr lang="ru-RU" sz="2000" dirty="0"/>
                        <a:t>запись данных</a:t>
                      </a:r>
                      <a:r>
                        <a:rPr lang="en-US" sz="2000" dirty="0"/>
                        <a:t>]</a:t>
                      </a:r>
                      <a:endParaRPr lang="ru-RU" sz="2000" dirty="0"/>
                    </a:p>
                    <a:p>
                      <a:r>
                        <a:rPr lang="en-US" sz="2000" dirty="0"/>
                        <a:t>fence(release)</a:t>
                      </a:r>
                    </a:p>
                    <a:p>
                      <a:r>
                        <a:rPr lang="en-US" sz="2000" dirty="0" err="1"/>
                        <a:t>flag.store</a:t>
                      </a:r>
                      <a:r>
                        <a:rPr lang="en-US" sz="2000" dirty="0"/>
                        <a:t>(true, relaxed)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(</a:t>
                      </a:r>
                      <a:r>
                        <a:rPr lang="en-US" sz="2000" dirty="0" err="1"/>
                        <a:t>flag.load</a:t>
                      </a:r>
                      <a:r>
                        <a:rPr lang="en-US" sz="2000" dirty="0"/>
                        <a:t>(acquire)) {</a:t>
                      </a:r>
                    </a:p>
                    <a:p>
                      <a:r>
                        <a:rPr lang="en-US" sz="2000" dirty="0"/>
                        <a:t>    [</a:t>
                      </a:r>
                      <a:r>
                        <a:rPr lang="ru-RU" sz="2000" dirty="0"/>
                        <a:t>чтение данных</a:t>
                      </a:r>
                      <a:r>
                        <a:rPr lang="en-US" sz="2000" dirty="0"/>
                        <a:t>]</a:t>
                      </a:r>
                    </a:p>
                    <a:p>
                      <a:r>
                        <a:rPr lang="en-US" sz="20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16952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0CDE31-3AC4-295D-441D-036D29F2F825}"/>
              </a:ext>
            </a:extLst>
          </p:cNvPr>
          <p:cNvCxnSpPr>
            <a:cxnSpLocks/>
          </p:cNvCxnSpPr>
          <p:nvPr/>
        </p:nvCxnSpPr>
        <p:spPr>
          <a:xfrm>
            <a:off x="3310842" y="3674991"/>
            <a:ext cx="2842952" cy="289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0F0F9A-80A0-958D-C5B4-1CC0C8B0D979}"/>
              </a:ext>
            </a:extLst>
          </p:cNvPr>
          <p:cNvSpPr txBox="1"/>
          <p:nvPr/>
        </p:nvSpPr>
        <p:spPr>
          <a:xfrm rot="304736">
            <a:off x="4176639" y="3783321"/>
            <a:ext cx="137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Happens before</a:t>
            </a:r>
          </a:p>
        </p:txBody>
      </p:sp>
    </p:spTree>
    <p:extLst>
      <p:ext uri="{BB962C8B-B14F-4D97-AF65-F5344CB8AC3E}">
        <p14:creationId xmlns:p14="http://schemas.microsoft.com/office/powerpoint/2010/main" val="244043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550B-51A6-0FAB-AEAB-52C8ACFE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EB14-9A9E-B0B4-054F-C5A66907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через </a:t>
            </a:r>
            <a:r>
              <a:rPr lang="en-US" dirty="0"/>
              <a:t>Release → Acquire-fence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69874-8BF7-376C-19DC-1A1872A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10515600" cy="132556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Идея:</a:t>
            </a:r>
          </a:p>
          <a:p>
            <a:pPr lvl="1"/>
            <a:r>
              <a:rPr lang="ru-RU" dirty="0" err="1"/>
              <a:t>release</a:t>
            </a:r>
            <a:r>
              <a:rPr lang="ru-RU" dirty="0"/>
              <a:t> публикует данные </a:t>
            </a:r>
          </a:p>
          <a:p>
            <a:pPr lvl="1"/>
            <a:r>
              <a:rPr lang="ru-RU" dirty="0" err="1"/>
              <a:t>acquire-fence</a:t>
            </a:r>
            <a:r>
              <a:rPr lang="ru-RU" dirty="0"/>
              <a:t> “захватывает” их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40027-0E61-2995-F911-4ED5B1DD0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91721"/>
            <a:ext cx="10515600" cy="128524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Условие:</a:t>
            </a:r>
          </a:p>
          <a:p>
            <a:pPr lvl="1"/>
            <a:r>
              <a:rPr lang="ru-RU" dirty="0"/>
              <a:t>чтение в B видит значение, записанное в A </a:t>
            </a:r>
          </a:p>
          <a:p>
            <a:r>
              <a:rPr lang="ru-RU" dirty="0"/>
              <a:t>Гарантируется, что все записи до </a:t>
            </a:r>
            <a:r>
              <a:rPr lang="ru-RU" dirty="0" err="1"/>
              <a:t>release</a:t>
            </a:r>
            <a:r>
              <a:rPr lang="ru-RU" dirty="0"/>
              <a:t> в A видны после </a:t>
            </a:r>
            <a:r>
              <a:rPr lang="ru-RU" dirty="0" err="1"/>
              <a:t>fence</a:t>
            </a:r>
            <a:r>
              <a:rPr lang="ru-RU" dirty="0"/>
              <a:t> в B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B15E0C-9492-FC0A-7250-8FD57FEEE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567181"/>
              </p:ext>
            </p:extLst>
          </p:nvPr>
        </p:nvGraphicFramePr>
        <p:xfrm>
          <a:off x="1184101" y="3004127"/>
          <a:ext cx="10169698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0939">
                  <a:extLst>
                    <a:ext uri="{9D8B030D-6E8A-4147-A177-3AD203B41FA5}">
                      <a16:colId xmlns:a16="http://schemas.microsoft.com/office/drawing/2014/main" val="1540853012"/>
                    </a:ext>
                  </a:extLst>
                </a:gridCol>
                <a:gridCol w="5318759">
                  <a:extLst>
                    <a:ext uri="{9D8B030D-6E8A-4147-A177-3AD203B41FA5}">
                      <a16:colId xmlns:a16="http://schemas.microsoft.com/office/drawing/2014/main" val="3036253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Поток </a:t>
                      </a:r>
                      <a:r>
                        <a:rPr lang="en-US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Поток </a:t>
                      </a:r>
                      <a:r>
                        <a:rPr lang="en-US" sz="20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90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[</a:t>
                      </a:r>
                      <a:r>
                        <a:rPr lang="ru-RU" sz="2000" dirty="0"/>
                        <a:t>запись данных</a:t>
                      </a:r>
                      <a:r>
                        <a:rPr lang="en-US" sz="2000" dirty="0"/>
                        <a:t>]</a:t>
                      </a:r>
                      <a:endParaRPr lang="ru-RU" sz="2000" dirty="0"/>
                    </a:p>
                    <a:p>
                      <a:r>
                        <a:rPr lang="en-US" sz="2000" dirty="0" err="1"/>
                        <a:t>flag.store</a:t>
                      </a:r>
                      <a:r>
                        <a:rPr lang="en-US" sz="2000" dirty="0"/>
                        <a:t>(true, release)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(</a:t>
                      </a:r>
                      <a:r>
                        <a:rPr lang="en-US" sz="2000" dirty="0" err="1"/>
                        <a:t>flag.load</a:t>
                      </a:r>
                      <a:r>
                        <a:rPr lang="en-US" sz="2000" dirty="0"/>
                        <a:t>(relaxed)) {</a:t>
                      </a:r>
                    </a:p>
                    <a:p>
                      <a:r>
                        <a:rPr lang="en-US" sz="2000" dirty="0"/>
                        <a:t>    fence(acquire)</a:t>
                      </a:r>
                    </a:p>
                    <a:p>
                      <a:r>
                        <a:rPr lang="en-US" sz="2000" dirty="0"/>
                        <a:t>    [</a:t>
                      </a:r>
                      <a:r>
                        <a:rPr lang="ru-RU" sz="2000" dirty="0"/>
                        <a:t>чтение данных</a:t>
                      </a:r>
                      <a:r>
                        <a:rPr lang="en-US" sz="2000" dirty="0"/>
                        <a:t>]</a:t>
                      </a:r>
                    </a:p>
                    <a:p>
                      <a:r>
                        <a:rPr lang="en-US" sz="20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16952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608135-6145-6694-584E-5305FB57450C}"/>
              </a:ext>
            </a:extLst>
          </p:cNvPr>
          <p:cNvCxnSpPr>
            <a:cxnSpLocks/>
          </p:cNvCxnSpPr>
          <p:nvPr/>
        </p:nvCxnSpPr>
        <p:spPr>
          <a:xfrm>
            <a:off x="3310842" y="3591863"/>
            <a:ext cx="3023456" cy="614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DB68E1-CC9C-F6D0-8B47-70FABE860030}"/>
              </a:ext>
            </a:extLst>
          </p:cNvPr>
          <p:cNvSpPr txBox="1"/>
          <p:nvPr/>
        </p:nvSpPr>
        <p:spPr>
          <a:xfrm rot="734187">
            <a:off x="4138439" y="3886742"/>
            <a:ext cx="137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Happens before</a:t>
            </a:r>
          </a:p>
        </p:txBody>
      </p:sp>
    </p:spTree>
    <p:extLst>
      <p:ext uri="{BB962C8B-B14F-4D97-AF65-F5344CB8AC3E}">
        <p14:creationId xmlns:p14="http://schemas.microsoft.com/office/powerpoint/2010/main" val="63160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1532-57C8-B0E3-1432-36A42284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4470-95C8-E7C5-C232-FA0B6F9A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en-US" dirty="0"/>
              <a:t>Release-fence → Acquire-fence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9530-7ECC-E258-1636-D34424480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10515600" cy="132556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Идея:</a:t>
            </a:r>
          </a:p>
          <a:p>
            <a:pPr lvl="1"/>
            <a:r>
              <a:rPr lang="ru-RU" dirty="0" err="1"/>
              <a:t>release-fence</a:t>
            </a:r>
            <a:r>
              <a:rPr lang="ru-RU" dirty="0"/>
              <a:t> публикует данные </a:t>
            </a:r>
          </a:p>
          <a:p>
            <a:pPr lvl="1"/>
            <a:r>
              <a:rPr lang="ru-RU" dirty="0" err="1"/>
              <a:t>acquire-fence</a:t>
            </a:r>
            <a:r>
              <a:rPr lang="ru-RU" dirty="0"/>
              <a:t> “захватывает” их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B91A4-DA8C-2A43-D5AA-299D469EF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91721"/>
            <a:ext cx="10515600" cy="128524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Условие:</a:t>
            </a:r>
          </a:p>
          <a:p>
            <a:pPr lvl="1"/>
            <a:r>
              <a:rPr lang="ru-RU" dirty="0"/>
              <a:t>чтение в B видит значение, записанное в A </a:t>
            </a:r>
          </a:p>
          <a:p>
            <a:r>
              <a:rPr lang="ru-RU" dirty="0"/>
              <a:t>Гарантируется, что все записи до </a:t>
            </a:r>
            <a:r>
              <a:rPr lang="ru-RU" dirty="0" err="1"/>
              <a:t>fence</a:t>
            </a:r>
            <a:r>
              <a:rPr lang="ru-RU" dirty="0"/>
              <a:t> в A видны после </a:t>
            </a:r>
            <a:r>
              <a:rPr lang="ru-RU" dirty="0" err="1"/>
              <a:t>fence</a:t>
            </a:r>
            <a:r>
              <a:rPr lang="ru-RU" dirty="0"/>
              <a:t> в B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51AC01-AF1A-77F7-BECE-6DAD4BA2C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040495"/>
              </p:ext>
            </p:extLst>
          </p:nvPr>
        </p:nvGraphicFramePr>
        <p:xfrm>
          <a:off x="1184101" y="3077042"/>
          <a:ext cx="10169698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0939">
                  <a:extLst>
                    <a:ext uri="{9D8B030D-6E8A-4147-A177-3AD203B41FA5}">
                      <a16:colId xmlns:a16="http://schemas.microsoft.com/office/drawing/2014/main" val="1540853012"/>
                    </a:ext>
                  </a:extLst>
                </a:gridCol>
                <a:gridCol w="5318759">
                  <a:extLst>
                    <a:ext uri="{9D8B030D-6E8A-4147-A177-3AD203B41FA5}">
                      <a16:colId xmlns:a16="http://schemas.microsoft.com/office/drawing/2014/main" val="3036253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Поток </a:t>
                      </a:r>
                      <a:r>
                        <a:rPr lang="en-US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Поток </a:t>
                      </a:r>
                      <a:r>
                        <a:rPr lang="en-US" sz="20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90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[</a:t>
                      </a:r>
                      <a:r>
                        <a:rPr lang="ru-RU" sz="2000" dirty="0"/>
                        <a:t>запись данных</a:t>
                      </a:r>
                      <a:r>
                        <a:rPr lang="en-US" sz="2000" dirty="0"/>
                        <a:t>]</a:t>
                      </a:r>
                      <a:endParaRPr lang="ru-RU" sz="2000" dirty="0"/>
                    </a:p>
                    <a:p>
                      <a:r>
                        <a:rPr lang="en-US" sz="2000" dirty="0"/>
                        <a:t>fence(release)</a:t>
                      </a:r>
                      <a:endParaRPr lang="ru-RU" sz="2000" dirty="0"/>
                    </a:p>
                    <a:p>
                      <a:r>
                        <a:rPr lang="en-US" sz="2000" dirty="0" err="1"/>
                        <a:t>flag.store</a:t>
                      </a:r>
                      <a:r>
                        <a:rPr lang="en-US" sz="2000" dirty="0"/>
                        <a:t>(true, relaxed)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(</a:t>
                      </a:r>
                      <a:r>
                        <a:rPr lang="en-US" sz="2000" dirty="0" err="1"/>
                        <a:t>flag.load</a:t>
                      </a:r>
                      <a:r>
                        <a:rPr lang="en-US" sz="2000" dirty="0"/>
                        <a:t>(relaxed)) {</a:t>
                      </a:r>
                    </a:p>
                    <a:p>
                      <a:r>
                        <a:rPr lang="en-US" sz="2000" dirty="0"/>
                        <a:t>    fence(acquire)</a:t>
                      </a:r>
                    </a:p>
                    <a:p>
                      <a:r>
                        <a:rPr lang="en-US" sz="2000" dirty="0"/>
                        <a:t>    [</a:t>
                      </a:r>
                      <a:r>
                        <a:rPr lang="ru-RU" sz="2000" dirty="0"/>
                        <a:t>чтение данных</a:t>
                      </a:r>
                      <a:r>
                        <a:rPr lang="en-US" sz="2000" dirty="0"/>
                        <a:t>]</a:t>
                      </a:r>
                    </a:p>
                    <a:p>
                      <a:r>
                        <a:rPr lang="en-US" sz="20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169527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67B5D6-9A55-2E18-3003-2D7879F69EA2}"/>
              </a:ext>
            </a:extLst>
          </p:cNvPr>
          <p:cNvCxnSpPr>
            <a:cxnSpLocks/>
          </p:cNvCxnSpPr>
          <p:nvPr/>
        </p:nvCxnSpPr>
        <p:spPr>
          <a:xfrm>
            <a:off x="3310842" y="3664778"/>
            <a:ext cx="3023456" cy="614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C49EF5-6C22-5DFE-E28E-D2E07F3AC26B}"/>
              </a:ext>
            </a:extLst>
          </p:cNvPr>
          <p:cNvSpPr txBox="1"/>
          <p:nvPr/>
        </p:nvSpPr>
        <p:spPr>
          <a:xfrm rot="734187">
            <a:off x="4138439" y="3959657"/>
            <a:ext cx="137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Happens before</a:t>
            </a:r>
          </a:p>
        </p:txBody>
      </p:sp>
    </p:spTree>
    <p:extLst>
      <p:ext uri="{BB962C8B-B14F-4D97-AF65-F5344CB8AC3E}">
        <p14:creationId xmlns:p14="http://schemas.microsoft.com/office/powerpoint/2010/main" val="362789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6720336-E7A0-DBBE-4239-9EE82840F3AE}"/>
              </a:ext>
            </a:extLst>
          </p:cNvPr>
          <p:cNvSpPr txBox="1"/>
          <p:nvPr/>
        </p:nvSpPr>
        <p:spPr>
          <a:xfrm>
            <a:off x="0" y="335845"/>
            <a:ext cx="1219199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atomic_int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atomic_bool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ready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Поток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записал значение 42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Всё, что выше, выполнится ДО того, что ниже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atomic_thread_fence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ready.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Пишем 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ready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ready.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Крутимся, пока не увидим в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ready true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/*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крутимся в этом цикле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Всё, что ниже, выполнится после барьера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atomic_thread_fence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memory_order_acquire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Поток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увидит значение 42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108AEE5-0FA5-DAA2-8662-254BC92C5A56}"/>
              </a:ext>
            </a:extLst>
          </p:cNvPr>
          <p:cNvSpPr/>
          <p:nvPr/>
        </p:nvSpPr>
        <p:spPr>
          <a:xfrm flipH="1">
            <a:off x="7828059" y="2512612"/>
            <a:ext cx="513936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AE01932-BED3-0390-9083-3082B1DD0A27}"/>
              </a:ext>
            </a:extLst>
          </p:cNvPr>
          <p:cNvSpPr/>
          <p:nvPr/>
        </p:nvSpPr>
        <p:spPr>
          <a:xfrm flipH="1">
            <a:off x="7828059" y="4996168"/>
            <a:ext cx="513936" cy="41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83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8803-C3AE-B4E4-1B59-82FDE3B9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как управлять памятью в 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C2612-AE78-1348-5840-74915BB2C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Ключевая идея:</a:t>
            </a:r>
          </a:p>
          <a:p>
            <a:pPr lvl="1"/>
            <a:r>
              <a:rPr lang="ru-RU" dirty="0" err="1"/>
              <a:t>memory_order</a:t>
            </a:r>
            <a:r>
              <a:rPr lang="ru-RU" dirty="0"/>
              <a:t> управляет порядком и видимостью операций </a:t>
            </a:r>
          </a:p>
          <a:p>
            <a:r>
              <a:rPr lang="ru-RU" dirty="0" err="1"/>
              <a:t>Happens-before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единственный способ гарантировать передачу данных между потоками </a:t>
            </a:r>
          </a:p>
          <a:p>
            <a:r>
              <a:rPr lang="ru-RU" dirty="0"/>
              <a:t>Основные режимы:</a:t>
            </a:r>
          </a:p>
          <a:p>
            <a:pPr lvl="1"/>
            <a:r>
              <a:rPr lang="ru-RU" dirty="0" err="1"/>
              <a:t>seq_cst</a:t>
            </a:r>
            <a:r>
              <a:rPr lang="ru-RU" dirty="0"/>
              <a:t> — просто и безопасно, но дорого </a:t>
            </a:r>
          </a:p>
          <a:p>
            <a:pPr lvl="1"/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— баланс между порядком и производительностью </a:t>
            </a:r>
          </a:p>
          <a:p>
            <a:pPr lvl="1"/>
            <a:r>
              <a:rPr lang="ru-RU" dirty="0" err="1"/>
              <a:t>relaxed</a:t>
            </a:r>
            <a:r>
              <a:rPr lang="ru-RU" dirty="0"/>
              <a:t> — только атомарность </a:t>
            </a:r>
          </a:p>
          <a:p>
            <a:r>
              <a:rPr lang="ru-RU" dirty="0"/>
              <a:t>Практика:</a:t>
            </a:r>
          </a:p>
          <a:p>
            <a:pPr lvl="1"/>
            <a:r>
              <a:rPr lang="ru-RU" dirty="0"/>
              <a:t>начинаем с </a:t>
            </a:r>
            <a:r>
              <a:rPr lang="ru-RU" dirty="0" err="1"/>
              <a:t>seq_cst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ослабляем гарантии при необходимости </a:t>
            </a:r>
          </a:p>
          <a:p>
            <a:pPr lvl="1"/>
            <a:r>
              <a:rPr lang="ru-RU" dirty="0"/>
              <a:t>используем </a:t>
            </a:r>
            <a:r>
              <a:rPr lang="ru-RU" dirty="0" err="1"/>
              <a:t>acquire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для синхронизации 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код должен быть корректен на всех архитектурах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7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A5F2-8E48-CE68-098E-97BD444C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0341-E35E-08A7-47CB-C35363D0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Williams Anthony, “C++ Concurrency in Action, 2</a:t>
            </a:r>
            <a:r>
              <a:rPr lang="en-US" baseline="30000" dirty="0"/>
              <a:t>nd</a:t>
            </a:r>
            <a:r>
              <a:rPr lang="en-US" dirty="0"/>
              <a:t> Edition”</a:t>
            </a:r>
            <a:endParaRPr lang="ru-RU" dirty="0"/>
          </a:p>
          <a:p>
            <a:r>
              <a:rPr lang="en-US" dirty="0"/>
              <a:t>Maurice Herlihy, Nir Shavit “The Art of Multiprocessor Programming”</a:t>
            </a:r>
          </a:p>
          <a:p>
            <a:r>
              <a:rPr lang="en-US" dirty="0"/>
              <a:t>Lock-free </a:t>
            </a:r>
            <a:r>
              <a:rPr lang="ru-RU" dirty="0"/>
              <a:t>структуры данных. Откуда пошли быть барьеры памяти</a:t>
            </a:r>
          </a:p>
          <a:p>
            <a:pPr lvl="1"/>
            <a:r>
              <a:rPr lang="en-US" dirty="0">
                <a:hlinkClick r:id="rId2"/>
              </a:rPr>
              <a:t>Memory Barriers: a Hardware View for Software Hackers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37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A16-D3F9-CF1C-55F9-85E43B6F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20E6-49CD-914B-5655-ECC3ECF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12882</TotalTime>
  <Words>9769</Words>
  <Application>Microsoft Office PowerPoint</Application>
  <PresentationFormat>Widescreen</PresentationFormat>
  <Paragraphs>1155</Paragraphs>
  <Slides>39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Consolas</vt:lpstr>
      <vt:lpstr>Office Theme</vt:lpstr>
      <vt:lpstr>Управление порядком памяти в многопоточных программах</vt:lpstr>
      <vt:lpstr>Ментальная модель управления памятью</vt:lpstr>
      <vt:lpstr>Порядок доступа к памяти (memory order)</vt:lpstr>
      <vt:lpstr>PowerPoint Presentation</vt:lpstr>
      <vt:lpstr>std::memory_order</vt:lpstr>
      <vt:lpstr>Happens-Before — гарантия видимости</vt:lpstr>
      <vt:lpstr>memory_order на уровне машинного кода</vt:lpstr>
      <vt:lpstr>Сравнение моделей памяти (x86-64)</vt:lpstr>
      <vt:lpstr>Сравнение моделей памяти (ARM64)</vt:lpstr>
      <vt:lpstr>Различия архитектур и memory order</vt:lpstr>
      <vt:lpstr>Sequential Consistency</vt:lpstr>
      <vt:lpstr>Sequential Consistency</vt:lpstr>
      <vt:lpstr>PowerPoint Presentation</vt:lpstr>
      <vt:lpstr>Стоимость Sequential Consistency </vt:lpstr>
      <vt:lpstr>Ослабленные гарантии памяти</vt:lpstr>
      <vt:lpstr>Что происходит без seq_cst</vt:lpstr>
      <vt:lpstr>Relaxed memory order</vt:lpstr>
      <vt:lpstr>Relaxed memory order</vt:lpstr>
      <vt:lpstr>Acquire-Release семантика</vt:lpstr>
      <vt:lpstr>Acquire/release</vt:lpstr>
      <vt:lpstr>Барьеры памяти — что это такое</vt:lpstr>
      <vt:lpstr>std::memory_order::acquire</vt:lpstr>
      <vt:lpstr>std::memory_order::release</vt:lpstr>
      <vt:lpstr>Acquire/release семантика</vt:lpstr>
      <vt:lpstr>Синхронизация потоков через acquire-release</vt:lpstr>
      <vt:lpstr>compare_exchange: strong vs weak</vt:lpstr>
      <vt:lpstr>PowerPoint Presentation</vt:lpstr>
      <vt:lpstr>PowerPoint Presentation</vt:lpstr>
      <vt:lpstr>PowerPoint Presentation</vt:lpstr>
      <vt:lpstr>Атомарные барьеры памяти (atomic thread fences)</vt:lpstr>
      <vt:lpstr>Fence-операции (memory fences)</vt:lpstr>
      <vt:lpstr>std::atomic_thread_fence</vt:lpstr>
      <vt:lpstr>Синхронизация через Release-fence → Acquire</vt:lpstr>
      <vt:lpstr>Синхронизация через Release → Acquire-fence</vt:lpstr>
      <vt:lpstr>Синхронизация Release-fence → Acquire-fence</vt:lpstr>
      <vt:lpstr>PowerPoint Presentation</vt:lpstr>
      <vt:lpstr>Итоги: как управлять памятью в C++</vt:lpstr>
      <vt:lpstr>Список литературы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154</cp:revision>
  <dcterms:created xsi:type="dcterms:W3CDTF">2025-02-03T14:52:05Z</dcterms:created>
  <dcterms:modified xsi:type="dcterms:W3CDTF">2026-03-27T18:12:40Z</dcterms:modified>
</cp:coreProperties>
</file>