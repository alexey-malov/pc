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306" r:id="rId3"/>
    <p:sldId id="307" r:id="rId4"/>
    <p:sldId id="308" r:id="rId5"/>
    <p:sldId id="304" r:id="rId6"/>
    <p:sldId id="305" r:id="rId7"/>
    <p:sldId id="266" r:id="rId8"/>
    <p:sldId id="268" r:id="rId9"/>
    <p:sldId id="267" r:id="rId10"/>
    <p:sldId id="271" r:id="rId11"/>
    <p:sldId id="272" r:id="rId12"/>
    <p:sldId id="275" r:id="rId13"/>
    <p:sldId id="296" r:id="rId14"/>
    <p:sldId id="273" r:id="rId15"/>
    <p:sldId id="276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78" r:id="rId24"/>
    <p:sldId id="286" r:id="rId25"/>
    <p:sldId id="287" r:id="rId26"/>
    <p:sldId id="288" r:id="rId27"/>
    <p:sldId id="292" r:id="rId28"/>
    <p:sldId id="291" r:id="rId29"/>
    <p:sldId id="289" r:id="rId30"/>
    <p:sldId id="293" r:id="rId31"/>
    <p:sldId id="294" r:id="rId32"/>
    <p:sldId id="295" r:id="rId33"/>
    <p:sldId id="297" r:id="rId34"/>
    <p:sldId id="269" r:id="rId35"/>
    <p:sldId id="270" r:id="rId36"/>
    <p:sldId id="309" r:id="rId37"/>
    <p:sldId id="29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C2E6B8-84A2-4C17-9B6B-A6E9DFC7A858}">
          <p14:sldIdLst>
            <p14:sldId id="257"/>
            <p14:sldId id="306"/>
            <p14:sldId id="307"/>
            <p14:sldId id="308"/>
            <p14:sldId id="304"/>
          </p14:sldIdLst>
        </p14:section>
        <p14:section name="Untitled Section" id="{B634DBD2-DA00-4661-A68E-5595DF98C098}">
          <p14:sldIdLst>
            <p14:sldId id="305"/>
            <p14:sldId id="266"/>
            <p14:sldId id="268"/>
            <p14:sldId id="267"/>
            <p14:sldId id="271"/>
            <p14:sldId id="272"/>
            <p14:sldId id="275"/>
            <p14:sldId id="296"/>
            <p14:sldId id="273"/>
            <p14:sldId id="276"/>
            <p14:sldId id="279"/>
            <p14:sldId id="280"/>
            <p14:sldId id="281"/>
            <p14:sldId id="282"/>
            <p14:sldId id="283"/>
            <p14:sldId id="284"/>
            <p14:sldId id="285"/>
            <p14:sldId id="278"/>
            <p14:sldId id="286"/>
            <p14:sldId id="287"/>
            <p14:sldId id="288"/>
            <p14:sldId id="292"/>
            <p14:sldId id="291"/>
            <p14:sldId id="289"/>
            <p14:sldId id="293"/>
            <p14:sldId id="294"/>
            <p14:sldId id="295"/>
            <p14:sldId id="297"/>
            <p14:sldId id="269"/>
            <p14:sldId id="270"/>
            <p14:sldId id="309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699" autoAdjust="0"/>
  </p:normalViewPr>
  <p:slideViewPr>
    <p:cSldViewPr snapToGrid="0" showGuides="1">
      <p:cViewPr varScale="1">
        <p:scale>
          <a:sx n="43" d="100"/>
          <a:sy n="43" d="100"/>
        </p:scale>
        <p:origin x="2184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FB55F-6A40-4B48-8E84-03104FFED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5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прошлой лекции мы ввели понятия конкурентности и параллелизма и обсудили: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архитектурную необходимость конкурентной структуры программ,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ограничение масштабируемости законом Амдала,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модель разделяемой памяти.</a:t>
            </a:r>
          </a:p>
          <a:p>
            <a:r>
              <a:rPr lang="ru-RU" dirty="0"/>
              <a:t>Сегодня мы переходим от теории к практике.</a:t>
            </a:r>
          </a:p>
          <a:p>
            <a:r>
              <a:rPr lang="ru-RU" dirty="0"/>
              <a:t>В языке C++ конкурентность с разделяемой памятью реализуется через </a:t>
            </a:r>
            <a:r>
              <a:rPr lang="ru-RU" b="1" dirty="0"/>
              <a:t>потоки выполнения</a:t>
            </a:r>
            <a:r>
              <a:rPr lang="ru-RU" dirty="0"/>
              <a:t>.</a:t>
            </a:r>
          </a:p>
          <a:p>
            <a:r>
              <a:rPr lang="ru-RU" dirty="0"/>
              <a:t>Мы разберём: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что такое поток в модели C++,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он создаётся,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передаются аргументы,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возникают риски,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как правильно управлять жизненным циклом потоков.</a:t>
            </a:r>
          </a:p>
          <a:p>
            <a:r>
              <a:rPr lang="ru-RU" dirty="0"/>
              <a:t>Начиная с C++11 язык предоставляет переносимый стандартный механизм работы с потоками —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thread</a:t>
            </a:r>
            <a:r>
              <a:rPr lang="ru-RU" dirty="0"/>
              <a:t>.</a:t>
            </a:r>
          </a:p>
          <a:p>
            <a:r>
              <a:rPr lang="ru-RU" dirty="0"/>
              <a:t>Но с большой силой приходит большая ответственность: неправильная работа с потоками приводит к неопределённому поведению, трудноуловимым ошибкам и деградации производительности.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39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70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говорим «создать поток», на самом деле мы просим операционную систему создать новый исполнитель внутри процесса.</a:t>
            </a:r>
          </a:p>
          <a:p>
            <a:r>
              <a:rPr lang="ru-RU" dirty="0"/>
              <a:t>Это не просто вызов функции.</a:t>
            </a:r>
          </a:p>
          <a:p>
            <a:r>
              <a:rPr lang="ru-RU" dirty="0"/>
              <a:t>Ядро операционной системы:</a:t>
            </a:r>
          </a:p>
          <a:p>
            <a:r>
              <a:rPr lang="ru-RU" dirty="0"/>
              <a:t>выделяет новый стек,</a:t>
            </a:r>
          </a:p>
          <a:p>
            <a:r>
              <a:rPr lang="ru-RU" dirty="0"/>
              <a:t>создаёт структуру управления потоком,</a:t>
            </a:r>
          </a:p>
          <a:p>
            <a:r>
              <a:rPr lang="ru-RU" dirty="0"/>
              <a:t>настраивает регистры,</a:t>
            </a:r>
          </a:p>
          <a:p>
            <a:r>
              <a:rPr lang="ru-RU" dirty="0"/>
              <a:t>регистрирует поток в планировщике,</a:t>
            </a:r>
          </a:p>
          <a:p>
            <a:r>
              <a:rPr lang="ru-RU" dirty="0"/>
              <a:t>и только после этого начинает выполнение указанной функции.</a:t>
            </a:r>
          </a:p>
          <a:p>
            <a:r>
              <a:rPr lang="ru-RU" dirty="0"/>
              <a:t>В Linux используется стандарт POSIX — функция </a:t>
            </a:r>
            <a:r>
              <a:rPr lang="ru-RU" dirty="0" err="1"/>
              <a:t>pthread_create</a:t>
            </a:r>
            <a:r>
              <a:rPr lang="ru-RU" dirty="0"/>
              <a:t>.</a:t>
            </a:r>
          </a:p>
          <a:p>
            <a:r>
              <a:rPr lang="ru-RU" dirty="0"/>
              <a:t>В Windows — </a:t>
            </a:r>
            <a:r>
              <a:rPr lang="ru-RU" dirty="0" err="1"/>
              <a:t>CreateThread</a:t>
            </a:r>
            <a:r>
              <a:rPr lang="ru-RU" dirty="0"/>
              <a:t> или _</a:t>
            </a:r>
            <a:r>
              <a:rPr lang="ru-RU" dirty="0" err="1"/>
              <a:t>beginthreadex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 это низкоуровневый API.</a:t>
            </a:r>
          </a:p>
          <a:p>
            <a:r>
              <a:rPr lang="ru-RU" dirty="0"/>
              <a:t>Он требует:</a:t>
            </a:r>
          </a:p>
          <a:p>
            <a:r>
              <a:rPr lang="en-US" dirty="0"/>
              <a:t>- </a:t>
            </a:r>
            <a:r>
              <a:rPr lang="ru-RU" dirty="0"/>
              <a:t>явной работы с указателями,</a:t>
            </a:r>
          </a:p>
          <a:p>
            <a:r>
              <a:rPr lang="en-US" dirty="0"/>
              <a:t>- </a:t>
            </a:r>
            <a:r>
              <a:rPr lang="ru-RU" dirty="0"/>
              <a:t>ручного управления ресурсами,</a:t>
            </a:r>
          </a:p>
          <a:p>
            <a:r>
              <a:rPr lang="en-US" dirty="0"/>
              <a:t>- </a:t>
            </a:r>
            <a:r>
              <a:rPr lang="ru-RU" dirty="0"/>
              <a:t>проверки кодов ошибок,</a:t>
            </a:r>
          </a:p>
          <a:p>
            <a:r>
              <a:rPr lang="en-US" dirty="0"/>
              <a:t>- </a:t>
            </a:r>
            <a:r>
              <a:rPr lang="ru-RU" dirty="0"/>
              <a:t>и является непереносимым между платформами.</a:t>
            </a:r>
          </a:p>
          <a:p>
            <a:r>
              <a:rPr lang="ru-RU" dirty="0"/>
              <a:t>Именно поэтому в C++ начиная с C++11 появился переносимый стандартный механизм —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thread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0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большинстве прикладных программ нам не нужно напрямую работать с </a:t>
            </a:r>
            <a:r>
              <a:rPr lang="ru-RU" dirty="0" err="1"/>
              <a:t>pthread</a:t>
            </a:r>
            <a:r>
              <a:rPr lang="ru-RU" dirty="0"/>
              <a:t> или </a:t>
            </a:r>
            <a:r>
              <a:rPr lang="ru-RU" dirty="0" err="1"/>
              <a:t>CreateThread</a:t>
            </a:r>
            <a:r>
              <a:rPr lang="ru-RU" dirty="0"/>
              <a:t>.</a:t>
            </a:r>
          </a:p>
          <a:p>
            <a:r>
              <a:rPr lang="ru-RU" dirty="0"/>
              <a:t>Эти API оправданы, если: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мы пишем системный код,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нам нужно контролировать размер стека,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настраивать приоритет,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работать с политиками планирования,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использовать специфичные механизмы ОС.</a:t>
            </a:r>
          </a:p>
          <a:p>
            <a:r>
              <a:rPr lang="ru-RU" dirty="0"/>
              <a:t>Но для обычных пользовательских приложений это избыточно.</a:t>
            </a:r>
          </a:p>
          <a:p>
            <a:r>
              <a:rPr lang="ru-RU" dirty="0"/>
              <a:t>Стандартная библиотека C++ даёт нам: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переносимость,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автоматическое управление ресурсами,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безопасную семантику перемещения,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более чистый интерфейс.</a:t>
            </a:r>
          </a:p>
          <a:p>
            <a:r>
              <a:rPr lang="ru-RU" dirty="0"/>
              <a:t>Можно сказать так:</a:t>
            </a:r>
          </a:p>
          <a:p>
            <a:r>
              <a:rPr lang="ru-RU" dirty="0" err="1"/>
              <a:t>pthread</a:t>
            </a:r>
            <a:r>
              <a:rPr lang="ru-RU" dirty="0"/>
              <a:t> и </a:t>
            </a:r>
            <a:r>
              <a:rPr lang="ru-RU" dirty="0" err="1"/>
              <a:t>CreateThread</a:t>
            </a:r>
            <a:r>
              <a:rPr lang="ru-RU" dirty="0"/>
              <a:t> — это системный уровень.</a:t>
            </a:r>
            <a:br>
              <a:rPr lang="ru-RU" dirty="0"/>
            </a:b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thread</a:t>
            </a:r>
            <a:r>
              <a:rPr lang="ru-RU" dirty="0"/>
              <a:t> — это язык и библиотечная абстракция над ним.</a:t>
            </a:r>
          </a:p>
          <a:p>
            <a:r>
              <a:rPr lang="ru-RU" dirty="0"/>
              <a:t>И в рамках курса по параллельному программированию нас интересует именно эта переносимая абстракция.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50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79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1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35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11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7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82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09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потока есть </a:t>
            </a:r>
            <a:r>
              <a:rPr lang="en-US" dirty="0"/>
              <a:t>id. </a:t>
            </a:r>
            <a:r>
              <a:rPr lang="ru-RU" dirty="0"/>
              <a:t>Его можно получить у потока, вызвав метод </a:t>
            </a:r>
            <a:r>
              <a:rPr lang="en-US" dirty="0" err="1"/>
              <a:t>get_id</a:t>
            </a:r>
            <a:r>
              <a:rPr lang="en-US" dirty="0"/>
              <a:t>.</a:t>
            </a:r>
          </a:p>
          <a:p>
            <a:r>
              <a:rPr lang="ru-RU" dirty="0"/>
              <a:t>Если с объектом потока не связан поток, то вернётся сконструированное по умолчанию значение</a:t>
            </a:r>
          </a:p>
          <a:p>
            <a:r>
              <a:rPr lang="ru-RU" dirty="0"/>
              <a:t>Также можно вызвать функцию </a:t>
            </a:r>
            <a:r>
              <a:rPr lang="en-US" dirty="0"/>
              <a:t>std::</a:t>
            </a:r>
            <a:r>
              <a:rPr lang="en-US" dirty="0" err="1"/>
              <a:t>this_thread</a:t>
            </a:r>
            <a:r>
              <a:rPr lang="en-US" dirty="0"/>
              <a:t>::</a:t>
            </a:r>
            <a:r>
              <a:rPr lang="en-US" dirty="0" err="1"/>
              <a:t>get_id</a:t>
            </a:r>
            <a:r>
              <a:rPr lang="en-US" dirty="0"/>
              <a:t> </a:t>
            </a:r>
            <a:r>
              <a:rPr lang="ru-RU" dirty="0"/>
              <a:t>для получения</a:t>
            </a:r>
            <a:r>
              <a:rPr lang="en-US" dirty="0"/>
              <a:t> id </a:t>
            </a:r>
            <a:r>
              <a:rPr lang="ru-RU" dirty="0"/>
              <a:t>вызывающего потока.</a:t>
            </a:r>
          </a:p>
          <a:p>
            <a:r>
              <a:rPr lang="en-US" dirty="0"/>
              <a:t>Id </a:t>
            </a:r>
            <a:r>
              <a:rPr lang="ru-RU" dirty="0"/>
              <a:t>можно сравнивать, копировать и вычислять их </a:t>
            </a:r>
            <a:r>
              <a:rPr lang="ru-RU" dirty="0" err="1"/>
              <a:t>хеши</a:t>
            </a:r>
            <a:endParaRPr lang="ru-RU" dirty="0"/>
          </a:p>
          <a:p>
            <a:endParaRPr lang="ru-RU" dirty="0"/>
          </a:p>
          <a:p>
            <a:r>
              <a:rPr lang="en-US" dirty="0"/>
              <a:t>Id </a:t>
            </a:r>
            <a:r>
              <a:rPr lang="ru-RU" dirty="0"/>
              <a:t>потока можно использовать для того, чтобы отличить один поток от другого. После того, как поток завершил свою работу, его </a:t>
            </a:r>
            <a:r>
              <a:rPr lang="en-US" dirty="0"/>
              <a:t>id </a:t>
            </a:r>
            <a:r>
              <a:rPr lang="ru-RU" dirty="0"/>
              <a:t>становится непригодным для использования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1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51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понимать, как именно в C++ передаются аргументы в функцию потока.</a:t>
            </a:r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t(f, arg1, arg2);</a:t>
            </a:r>
          </a:p>
          <a:p>
            <a:r>
              <a:rPr lang="ru-RU" dirty="0"/>
              <a:t>это </a:t>
            </a:r>
            <a:r>
              <a:rPr lang="ru-RU" b="1" dirty="0"/>
              <a:t>не означает</a:t>
            </a:r>
            <a:r>
              <a:rPr lang="ru-RU" dirty="0"/>
              <a:t>, что поток немедленно вызывает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f(arg1, arg2)</a:t>
            </a:r>
            <a:r>
              <a:rPr lang="ru-RU" dirty="0"/>
              <a:t>.</a:t>
            </a:r>
          </a:p>
          <a:p>
            <a:r>
              <a:rPr lang="ru-RU" dirty="0"/>
              <a:t>Происходит следующее.</a:t>
            </a:r>
          </a:p>
          <a:p>
            <a:r>
              <a:rPr lang="ru-RU" dirty="0"/>
              <a:t>Сначала в текущем потоке:</a:t>
            </a:r>
          </a:p>
          <a:p>
            <a:r>
              <a:rPr lang="ru-RU" dirty="0"/>
              <a:t>аргументы копируются или перемещаются,</a:t>
            </a:r>
          </a:p>
          <a:p>
            <a:r>
              <a:rPr lang="ru-RU" dirty="0"/>
              <a:t>они сохраняются внутри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dirty="0"/>
              <a:t>.</a:t>
            </a:r>
          </a:p>
          <a:p>
            <a:r>
              <a:rPr lang="ru-RU" dirty="0"/>
              <a:t>И только затем создаётся новый поток выполнения,</a:t>
            </a:r>
            <a:br>
              <a:rPr lang="ru-RU" dirty="0"/>
            </a:br>
            <a:r>
              <a:rPr lang="ru-RU" dirty="0"/>
              <a:t>в котором вызывается: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invoke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сохранённые_аргументы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Это ключевой момент.</a:t>
            </a:r>
          </a:p>
          <a:p>
            <a:r>
              <a:rPr lang="ru-RU" dirty="0"/>
              <a:t>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dirty="0"/>
              <a:t> хранит </a:t>
            </a:r>
            <a:r>
              <a:rPr lang="ru-RU" b="1" dirty="0"/>
              <a:t>аргументы конструктора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 не готовые параметры функции.</a:t>
            </a:r>
          </a:p>
          <a:p>
            <a:r>
              <a:rPr lang="ru-RU" dirty="0"/>
              <a:t>По умолчанию аргументы передаются по значению.</a:t>
            </a:r>
          </a:p>
          <a:p>
            <a:r>
              <a:rPr lang="ru-RU" dirty="0"/>
              <a:t>Если вы хотите передать ссылку, необходимо явно использовать: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И вот здесь начинается самое интересное.</a:t>
            </a:r>
          </a:p>
          <a:p>
            <a:r>
              <a:rPr lang="ru-RU" dirty="0"/>
              <a:t>Если вы передаёте ссылку на объект, который может быть разрушен раньше, чем поток начнёт или закончит выполнение — вы получите неопределённое поведение.</a:t>
            </a:r>
          </a:p>
          <a:p>
            <a:r>
              <a:rPr lang="ru-RU" dirty="0"/>
              <a:t>Именно поэтому многопоточность так тесно связана с управлением временем жизни объектов.</a:t>
            </a:r>
          </a:p>
          <a:p>
            <a:r>
              <a:rPr lang="ru-RU" dirty="0"/>
              <a:t>Можно сказать так:</a:t>
            </a:r>
          </a:p>
          <a:p>
            <a:r>
              <a:rPr lang="ru-RU" dirty="0"/>
              <a:t>Поток — это конкурентный исполнитель.</a:t>
            </a:r>
            <a:br>
              <a:rPr lang="ru-RU" dirty="0"/>
            </a:br>
            <a:r>
              <a:rPr lang="ru-RU" dirty="0"/>
              <a:t>Но время жизни данных — это ответственность программиста.</a:t>
            </a:r>
          </a:p>
          <a:p>
            <a:r>
              <a:rPr lang="ru-RU" dirty="0"/>
              <a:t>И большая часть трудноуловимых ошибок в многопоточном коде связана не с самим созданием потоков, а с неправильной передачей аргументов и разрушением объектов.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08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73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77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26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47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79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57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872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310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81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121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311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75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85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706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634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098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034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250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61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08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познакомились с тем, как в C++ создаются и управляются потоки выполнения.</a:t>
            </a:r>
          </a:p>
          <a:p>
            <a:r>
              <a:rPr lang="ru-RU" dirty="0"/>
              <a:t>Важно понимать несколько ключевых вещей.</a:t>
            </a:r>
          </a:p>
          <a:p>
            <a:r>
              <a:rPr lang="ru-RU" dirty="0"/>
              <a:t>Во-первых, поток — это независимый исполнитель внутри одного процесса. Потоки разделяют память, а значит — разделяют и ответственность за корректность работы с ней.</a:t>
            </a:r>
          </a:p>
          <a:p>
            <a:endParaRPr lang="ru-RU" dirty="0"/>
          </a:p>
          <a:p>
            <a:r>
              <a:rPr lang="ru-RU" dirty="0"/>
              <a:t>Во-вторых,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ru-RU" dirty="0"/>
              <a:t> — это переносимая абстракция над механизмами операционной системы. </a:t>
            </a:r>
          </a:p>
          <a:p>
            <a:r>
              <a:rPr lang="ru-RU" dirty="0"/>
              <a:t>Мы не работаем напрямую с </a:t>
            </a:r>
            <a:r>
              <a:rPr lang="ru-RU" dirty="0" err="1"/>
              <a:t>pthread</a:t>
            </a:r>
            <a:r>
              <a:rPr lang="ru-RU" dirty="0"/>
              <a:t> или </a:t>
            </a:r>
            <a:r>
              <a:rPr lang="ru-RU" dirty="0" err="1"/>
              <a:t>CreateThread</a:t>
            </a:r>
            <a:r>
              <a:rPr lang="ru-RU" dirty="0"/>
              <a:t>, но под капотом используется именно ОС.</a:t>
            </a:r>
          </a:p>
          <a:p>
            <a:endParaRPr lang="ru-RU" dirty="0"/>
          </a:p>
          <a:p>
            <a:r>
              <a:rPr lang="ru-RU" dirty="0"/>
              <a:t>В-третьих, при создании потока аргументы не передаются напрямую в функцию. Они копируются или перемещаются внутрь объекта потока, и только потом используются для вызова функции в новом потоке.</a:t>
            </a:r>
          </a:p>
          <a:p>
            <a:r>
              <a:rPr lang="ru-RU" dirty="0"/>
              <a:t>Поэтому время жизни объектов — критически важно.</a:t>
            </a:r>
          </a:p>
          <a:p>
            <a:endParaRPr lang="ru-RU" dirty="0"/>
          </a:p>
          <a:p>
            <a:r>
              <a:rPr lang="ru-RU" dirty="0"/>
              <a:t>И наконец, важно помнить вывод из прошлой лекции: увеличение числа потоков само по себе не гарантирует ускорения. Всё ограничивается структурой задачи и законом Амдала.</a:t>
            </a:r>
          </a:p>
          <a:p>
            <a:endParaRPr lang="ru-RU" dirty="0"/>
          </a:p>
          <a:p>
            <a:r>
              <a:rPr lang="ru-RU" dirty="0"/>
              <a:t>На следующем шаге нам нужно разобраться, что происходит, когда несколько потоков начинают одновременно работать с одной и той же памятью — и почему это может привести к гонкам данных и неопределённому поведению.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099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9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xh86K59rq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xP4MqKoW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73bvT5Y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thread/hardware_concurrency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99E1-33FD-FB31-1D48-33E0470F1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Многопоточность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C++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19127DB-8419-2A7B-EE56-6BADA61FEF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0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04B3-D2FF-C58D-6B36-DD4F2F3B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 конкурентной модели к потокам 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3962B-C634-326A-CFC4-B3DDA5EB1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прошлой лекции:</a:t>
            </a:r>
          </a:p>
          <a:p>
            <a:pPr lvl="1"/>
            <a:r>
              <a:rPr lang="ru-RU" dirty="0"/>
              <a:t>мы разделили конкурентность и параллелизм</a:t>
            </a:r>
          </a:p>
          <a:p>
            <a:pPr lvl="1"/>
            <a:r>
              <a:rPr lang="ru-RU" dirty="0"/>
              <a:t>обсудили модель общей памяти (</a:t>
            </a:r>
            <a:r>
              <a:rPr lang="en-US" dirty="0"/>
              <a:t>shared memory)</a:t>
            </a:r>
            <a:endParaRPr lang="ru-RU" dirty="0"/>
          </a:p>
          <a:p>
            <a:pPr lvl="1"/>
            <a:r>
              <a:rPr lang="ru-RU" dirty="0"/>
              <a:t>показали, что масштабирование ограничено законом Амдала</a:t>
            </a:r>
          </a:p>
          <a:p>
            <a:r>
              <a:rPr lang="ru-RU" dirty="0"/>
              <a:t>Сегодня:</a:t>
            </a:r>
          </a:p>
          <a:p>
            <a:pPr lvl="1"/>
            <a:r>
              <a:rPr lang="ru-RU" dirty="0"/>
              <a:t>переходим к инструменту конкурентности в C++</a:t>
            </a:r>
          </a:p>
          <a:p>
            <a:pPr lvl="1"/>
            <a:r>
              <a:rPr lang="ru-RU" dirty="0"/>
              <a:t>изучаем потоки как механизм реализации </a:t>
            </a:r>
            <a:r>
              <a:rPr lang="ru-RU" dirty="0" err="1"/>
              <a:t>shared-memory</a:t>
            </a:r>
            <a:r>
              <a:rPr lang="ru-RU" dirty="0"/>
              <a:t> </a:t>
            </a:r>
            <a:r>
              <a:rPr lang="ru-RU" dirty="0" err="1"/>
              <a:t>concurrency</a:t>
            </a:r>
            <a:endParaRPr lang="ru-RU" dirty="0"/>
          </a:p>
          <a:p>
            <a:pPr lvl="1"/>
            <a:r>
              <a:rPr lang="ru-RU" dirty="0"/>
              <a:t>начинаем работать с реальными рисками: </a:t>
            </a:r>
            <a:r>
              <a:rPr lang="ru-RU" dirty="0" err="1"/>
              <a:t>lifetime</a:t>
            </a:r>
            <a:r>
              <a:rPr lang="ru-RU" dirty="0"/>
              <a:t>, UB, </a:t>
            </a:r>
            <a:r>
              <a:rPr lang="ru-RU" dirty="0" err="1"/>
              <a:t>race</a:t>
            </a:r>
            <a:r>
              <a:rPr lang="ru-RU" dirty="0"/>
              <a:t> </a:t>
            </a:r>
            <a:r>
              <a:rPr lang="ru-RU" dirty="0" err="1"/>
              <a:t>conditions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72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BC37-C88B-8FB9-4CD0-4703A61F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 выполнения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789F-32A2-6D3A-F76C-9FFD3A11E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Поток </a:t>
            </a:r>
            <a:r>
              <a:rPr lang="en-US" dirty="0"/>
              <a:t>(thread) </a:t>
            </a:r>
            <a:r>
              <a:rPr lang="ru-RU" dirty="0"/>
              <a:t>— последовательность инструкций внутри процесса</a:t>
            </a:r>
          </a:p>
          <a:p>
            <a:r>
              <a:rPr lang="ru-RU" dirty="0"/>
              <a:t>Потоки разделяют:</a:t>
            </a:r>
          </a:p>
          <a:p>
            <a:pPr lvl="1"/>
            <a:r>
              <a:rPr lang="ru-RU" dirty="0"/>
              <a:t>адресное пространство</a:t>
            </a:r>
          </a:p>
          <a:p>
            <a:pPr lvl="1"/>
            <a:r>
              <a:rPr lang="ru-RU" dirty="0"/>
              <a:t>глобальные переменные</a:t>
            </a:r>
          </a:p>
          <a:p>
            <a:pPr lvl="1"/>
            <a:r>
              <a:rPr lang="ru-RU" dirty="0"/>
              <a:t>кучу</a:t>
            </a:r>
          </a:p>
          <a:p>
            <a:r>
              <a:rPr lang="ru-RU" dirty="0"/>
              <a:t>Потоки не разделяют:</a:t>
            </a:r>
          </a:p>
          <a:p>
            <a:pPr lvl="1"/>
            <a:r>
              <a:rPr lang="ru-RU" dirty="0"/>
              <a:t>стек</a:t>
            </a:r>
          </a:p>
          <a:p>
            <a:pPr lvl="1"/>
            <a:r>
              <a:rPr lang="ru-RU" dirty="0"/>
              <a:t>регистры</a:t>
            </a:r>
          </a:p>
          <a:p>
            <a:pPr lvl="1"/>
            <a:r>
              <a:rPr lang="ru-RU" dirty="0" err="1"/>
              <a:t>thread-local</a:t>
            </a:r>
            <a:r>
              <a:rPr lang="ru-RU" dirty="0"/>
              <a:t> </a:t>
            </a:r>
            <a:r>
              <a:rPr lang="ru-RU" dirty="0" err="1"/>
              <a:t>storage</a:t>
            </a:r>
            <a:endParaRPr lang="ru-RU" dirty="0"/>
          </a:p>
          <a:p>
            <a:r>
              <a:rPr lang="ru-RU" dirty="0"/>
              <a:t>Многопоточность – это конкурентность с разделяемой памятью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85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6C40-7862-03CE-C7B0-E3AB45D1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потока средствами операционной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D7B79-0830-40D1-9BBD-BEB29B90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Потоки создаются ядром операционной системы.</a:t>
            </a:r>
          </a:p>
          <a:p>
            <a:r>
              <a:rPr lang="ru-RU" dirty="0"/>
              <a:t>В пользовательских программах используются системные API</a:t>
            </a:r>
            <a:endParaRPr lang="en-US" dirty="0"/>
          </a:p>
          <a:p>
            <a:r>
              <a:rPr lang="ru-RU" dirty="0"/>
              <a:t>Создание потока включает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выделение стека,</a:t>
            </a:r>
          </a:p>
          <a:p>
            <a:pPr lvl="1"/>
            <a:r>
              <a:rPr lang="ru-RU" dirty="0"/>
              <a:t>создание контекста выполнения,</a:t>
            </a:r>
          </a:p>
          <a:p>
            <a:pPr lvl="1"/>
            <a:r>
              <a:rPr lang="ru-RU" dirty="0"/>
              <a:t>регистрацию в планировщике,</a:t>
            </a:r>
          </a:p>
          <a:p>
            <a:pPr lvl="1"/>
            <a:r>
              <a:rPr lang="ru-RU" dirty="0"/>
              <a:t>запуск стартовой функции.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58E10-9D7A-F6ED-8228-F7D1B01BCF01}"/>
              </a:ext>
            </a:extLst>
          </p:cNvPr>
          <p:cNvSpPr txBox="1"/>
          <p:nvPr/>
        </p:nvSpPr>
        <p:spPr>
          <a:xfrm>
            <a:off x="6096000" y="1595021"/>
            <a:ext cx="63232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Linux/POSIX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pthread_attr_t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(*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start_routine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Windows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CreateThread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LPSECURITY_ATTRIBUTES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stackSize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LPTHREAD_START_ROUTINE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LPVOID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LPDWORD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threadId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Windows CRT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uintptr_t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beginthreadex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security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stack_size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stdcall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start_address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arglist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initflag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thrdaddr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9144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C46ADC-C25B-64ED-3D2E-4148F578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 ОС </a:t>
            </a:r>
            <a:r>
              <a:rPr lang="en-US" dirty="0"/>
              <a:t>API </a:t>
            </a:r>
            <a:r>
              <a:rPr lang="ru-RU" dirty="0"/>
              <a:t>напрямую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A60269-E1E8-B492-DC5C-563083F52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Использование </a:t>
            </a:r>
            <a:r>
              <a:rPr lang="ru-RU" dirty="0" err="1"/>
              <a:t>pthread</a:t>
            </a:r>
            <a:r>
              <a:rPr lang="ru-RU" dirty="0"/>
              <a:t> / </a:t>
            </a:r>
            <a:r>
              <a:rPr lang="ru-RU" dirty="0" err="1"/>
              <a:t>CreateThread</a:t>
            </a:r>
            <a:r>
              <a:rPr lang="ru-RU" dirty="0"/>
              <a:t> оправдано, если требуется:</a:t>
            </a:r>
          </a:p>
          <a:p>
            <a:pPr lvl="1"/>
            <a:r>
              <a:rPr lang="ru-RU" dirty="0"/>
              <a:t>управление размером стека,</a:t>
            </a:r>
          </a:p>
          <a:p>
            <a:pPr lvl="1"/>
            <a:r>
              <a:rPr lang="ru-RU" dirty="0"/>
              <a:t>настройка приоритета потока,</a:t>
            </a:r>
          </a:p>
          <a:p>
            <a:pPr lvl="1"/>
            <a:r>
              <a:rPr lang="ru-RU" dirty="0"/>
              <a:t>специфичные атрибуты безопасности,</a:t>
            </a:r>
          </a:p>
          <a:p>
            <a:pPr lvl="1"/>
            <a:r>
              <a:rPr lang="ru-RU" dirty="0"/>
              <a:t>интеграция с системным кодом (ядро, драйверы),</a:t>
            </a:r>
          </a:p>
          <a:p>
            <a:pPr lvl="1"/>
            <a:r>
              <a:rPr lang="ru-RU" dirty="0"/>
              <a:t>жёсткая привязка к платформе.</a:t>
            </a:r>
          </a:p>
          <a:p>
            <a:r>
              <a:rPr lang="ru-RU" dirty="0"/>
              <a:t>Во всех остальных случаях:</a:t>
            </a:r>
            <a:r>
              <a:rPr lang="en-US" dirty="0"/>
              <a:t> </a:t>
            </a:r>
            <a:r>
              <a:rPr lang="ru-RU" dirty="0"/>
              <a:t>Используйте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thread</a:t>
            </a:r>
            <a:r>
              <a:rPr lang="ru-RU" dirty="0"/>
              <a:t> или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jthread</a:t>
            </a:r>
            <a:endParaRPr lang="ru-RU" dirty="0"/>
          </a:p>
          <a:p>
            <a:pPr lvl="1"/>
            <a:r>
              <a:rPr lang="ru-RU" dirty="0"/>
              <a:t>переносимость,</a:t>
            </a:r>
          </a:p>
          <a:p>
            <a:pPr lvl="1"/>
            <a:r>
              <a:rPr lang="ru-RU" dirty="0"/>
              <a:t>RAII,</a:t>
            </a:r>
          </a:p>
          <a:p>
            <a:pPr lvl="1"/>
            <a:r>
              <a:rPr lang="ru-RU" dirty="0"/>
              <a:t>безопасное управление ресурсами,</a:t>
            </a:r>
          </a:p>
          <a:p>
            <a:pPr lvl="1"/>
            <a:r>
              <a:rPr lang="ru-RU" dirty="0"/>
              <a:t>исключения вместо кодов ошибок.</a:t>
            </a:r>
          </a:p>
        </p:txBody>
      </p:sp>
    </p:spTree>
    <p:extLst>
      <p:ext uri="{BB962C8B-B14F-4D97-AF65-F5344CB8AC3E}">
        <p14:creationId xmlns:p14="http://schemas.microsoft.com/office/powerpoint/2010/main" val="306656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22382-0402-BEA2-55B9-0353742C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потока средствами стандартной библиотеки </a:t>
            </a:r>
            <a:r>
              <a:rPr lang="en-US" dirty="0"/>
              <a:t>C++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02B92-3DD0-B8B5-E118-5A77DEE62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8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C1B4-52B8-6C21-F17D-7B48C544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потока в </a:t>
            </a:r>
            <a:r>
              <a:rPr lang="en-US" dirty="0"/>
              <a:t>C++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0C7D4-67E6-C4A0-E024-09392EA12A0B}"/>
              </a:ext>
            </a:extLst>
          </p:cNvPr>
          <p:cNvSpPr txBox="1"/>
          <p:nvPr/>
        </p:nvSpPr>
        <p:spPr>
          <a:xfrm>
            <a:off x="838200" y="1690688"/>
            <a:ext cx="72561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&lt;thread&gt;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Ждём завершения работы потока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66E2A-ED48-AEE5-4CE6-417BF6D7A6C5}"/>
              </a:ext>
            </a:extLst>
          </p:cNvPr>
          <p:cNvSpPr txBox="1"/>
          <p:nvPr/>
        </p:nvSpPr>
        <p:spPr>
          <a:xfrm>
            <a:off x="838200" y="591818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https://godbolt.org/z/xh86K59rq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380515-5543-F9A3-C141-0067B0A58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481" y="2181051"/>
            <a:ext cx="2467319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7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DDCD-2271-5B6E-9BCF-2C6328CD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Отпускаем поток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038B7-D03B-F79D-6037-E5FDB2A4BAD4}"/>
              </a:ext>
            </a:extLst>
          </p:cNvPr>
          <p:cNvSpPr txBox="1"/>
          <p:nvPr/>
        </p:nvSpPr>
        <p:spPr>
          <a:xfrm>
            <a:off x="838200" y="2116476"/>
            <a:ext cx="83083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&lt;thread&gt;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Отцепляем поток от объекта std::thread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DEE1B1-C641-A13D-B48D-308A71E86087}"/>
              </a:ext>
            </a:extLst>
          </p:cNvPr>
          <p:cNvSpPr txBox="1"/>
          <p:nvPr/>
        </p:nvSpPr>
        <p:spPr>
          <a:xfrm>
            <a:off x="838200" y="612354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https://godbolt.org/z/xP4MqKoWT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F02FE3-8C9C-0A9B-A008-BCF2EA772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584" y="2422867"/>
            <a:ext cx="2467319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2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A878-38C3-5D9C-7EC6-F709A660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Joinable Thread (C++ 20)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E1C57-620C-D109-3A60-EBE541A778BD}"/>
              </a:ext>
            </a:extLst>
          </p:cNvPr>
          <p:cNvSpPr txBox="1"/>
          <p:nvPr/>
        </p:nvSpPr>
        <p:spPr>
          <a:xfrm>
            <a:off x="838200" y="2126751"/>
            <a:ext cx="83083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&lt;thread&gt;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Деструктор объекта t автоматически вызовет метод join()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5DCBA-0AD6-F977-4C6E-CCD3F60DFFCD}"/>
              </a:ext>
            </a:extLst>
          </p:cNvPr>
          <p:cNvSpPr txBox="1"/>
          <p:nvPr/>
        </p:nvSpPr>
        <p:spPr>
          <a:xfrm>
            <a:off x="838200" y="591240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https://godbolt.org/z/873bvT5Y6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80AD50-EB15-4954-A4F7-65AEDD1B9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729" y="2269503"/>
            <a:ext cx="2495898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96E3-DF9C-286C-3904-90514C611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роли функции потока может выступать любой </a:t>
            </a:r>
            <a:r>
              <a:rPr lang="en-US" dirty="0"/>
              <a:t>callable-</a:t>
            </a:r>
            <a:r>
              <a:rPr lang="ru-RU" dirty="0"/>
              <a:t>объект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6C922-7910-7D3C-95D1-8384A05B2C50}"/>
              </a:ext>
            </a:extLst>
          </p:cNvPr>
          <p:cNvSpPr txBox="1"/>
          <p:nvPr/>
        </p:nvSpPr>
        <p:spPr>
          <a:xfrm>
            <a:off x="838200" y="1690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from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task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TestCopyableTask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"Task 1"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скопирован внутрь потока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0077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F34D-3C33-3418-2B80-3374BCC9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</a:t>
            </a:r>
            <a:r>
              <a:rPr lang="en-US" dirty="0"/>
              <a:t>callable-</a:t>
            </a:r>
            <a:r>
              <a:rPr lang="ru-RU" dirty="0"/>
              <a:t>объекта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03DAC-7E5A-0CFC-0057-9DAFEA113280}"/>
              </a:ext>
            </a:extLst>
          </p:cNvPr>
          <p:cNvSpPr txBox="1"/>
          <p:nvPr/>
        </p:nvSpPr>
        <p:spPr>
          <a:xfrm>
            <a:off x="838199" y="1690688"/>
            <a:ext cx="1111064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MoveOnlyTask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MoveOnlyTask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from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MoveOnlyTask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data: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TestMoveOnlyTask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MoveOnlyTask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bgTask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перемещён внутрь потока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4930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419A-8701-BE03-23F4-3BA442E5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Лямбда-выражение в качестве функции потока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9DB04-4703-1FDC-D8D7-3B60B5070528}"/>
              </a:ext>
            </a:extLst>
          </p:cNvPr>
          <p:cNvSpPr txBox="1"/>
          <p:nvPr/>
        </p:nvSpPr>
        <p:spPr>
          <a:xfrm>
            <a:off x="838200" y="2095928"/>
            <a:ext cx="83083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from lambda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7764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CFA1-5647-9669-8E04-BB2013E4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</a:t>
            </a:r>
            <a:r>
              <a:rPr lang="en-US" dirty="0"/>
              <a:t>id </a:t>
            </a:r>
            <a:r>
              <a:rPr lang="ru-RU" dirty="0"/>
              <a:t>потока (</a:t>
            </a:r>
            <a:r>
              <a:rPr lang="en-US" dirty="0"/>
              <a:t>std::thread::id)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D57C5-5891-F517-D4CB-57A4BF02B21A}"/>
              </a:ext>
            </a:extLst>
          </p:cNvPr>
          <p:cNvSpPr txBox="1"/>
          <p:nvPr/>
        </p:nvSpPr>
        <p:spPr>
          <a:xfrm>
            <a:off x="838200" y="1510301"/>
            <a:ext cx="109257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"This thread id: 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bgThread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"In 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bg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thread. Id is 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Bg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thread id: 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bgThread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bgThread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"After join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thread id: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bgThread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C09AF-CA99-8EB5-4466-05415D498F60}"/>
              </a:ext>
            </a:extLst>
          </p:cNvPr>
          <p:cNvSpPr/>
          <p:nvPr/>
        </p:nvSpPr>
        <p:spPr>
          <a:xfrm>
            <a:off x="6493267" y="5157627"/>
            <a:ext cx="4860533" cy="15103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This thread id: 25384</a:t>
            </a:r>
          </a:p>
          <a:p>
            <a:r>
              <a:rPr lang="en-US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Bg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thread id: 31280</a:t>
            </a:r>
          </a:p>
          <a:p>
            <a:r>
              <a:rPr lang="en-US" dirty="0">
                <a:solidFill>
                  <a:srgbClr val="00206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In </a:t>
            </a:r>
            <a:r>
              <a:rPr lang="en-US" dirty="0" err="1">
                <a:solidFill>
                  <a:srgbClr val="00206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bg</a:t>
            </a:r>
            <a:r>
              <a:rPr lang="en-US" dirty="0">
                <a:solidFill>
                  <a:srgbClr val="00206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thread. Id is 31280</a:t>
            </a:r>
          </a:p>
          <a:p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After join </a:t>
            </a:r>
            <a:r>
              <a:rPr lang="en-US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bg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thread id: 0</a:t>
            </a:r>
          </a:p>
        </p:txBody>
      </p:sp>
    </p:spTree>
    <p:extLst>
      <p:ext uri="{BB962C8B-B14F-4D97-AF65-F5344CB8AC3E}">
        <p14:creationId xmlns:p14="http://schemas.microsoft.com/office/powerpoint/2010/main" val="1043042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1D7FE-C1F5-6934-9BC8-EFFD9340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 </a:t>
            </a:r>
            <a:r>
              <a:rPr lang="ru-RU" dirty="0"/>
              <a:t>при обращении к висячей ссылке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43E3D-E293-CB49-13FD-1CD5637C94B5}"/>
              </a:ext>
            </a:extLst>
          </p:cNvPr>
          <p:cNvSpPr txBox="1"/>
          <p:nvPr/>
        </p:nvSpPr>
        <p:spPr>
          <a:xfrm>
            <a:off x="838200" y="1690688"/>
            <a:ext cx="11353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m_dataRef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m_dataRef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m_dataRef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выходе из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m_dataRef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ссылаться на разрушенную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data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846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EEC2-042E-5CD5-36B7-37A649B4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параметров в функцию потока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CDF8-9BA5-3ED1-3B83-DEC2E065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Функция потока может принимать аргументы</a:t>
            </a:r>
          </a:p>
          <a:p>
            <a:pPr lvl="1"/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t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emplate 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F, 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thread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0" dirty="0">
                <a:solidFill>
                  <a:srgbClr val="00004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4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i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DD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t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emplate 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F, </a:t>
            </a: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DD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i="0" dirty="0">
                <a:solidFill>
                  <a:srgbClr val="00004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004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i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ru-RU" dirty="0"/>
              <a:t>При создании потока происходит: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Копирование или перемещение f и </a:t>
            </a:r>
            <a:r>
              <a:rPr lang="ru-RU" dirty="0" err="1"/>
              <a:t>args</a:t>
            </a:r>
            <a:r>
              <a:rPr lang="ru-RU" dirty="0"/>
              <a:t>...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Сохранение их </a:t>
            </a:r>
            <a:r>
              <a:rPr lang="ru-RU" b="1" dirty="0"/>
              <a:t>внутри объекта </a:t>
            </a:r>
            <a:r>
              <a:rPr lang="ru-RU" b="1" dirty="0" err="1"/>
              <a:t>thread</a:t>
            </a:r>
            <a:endParaRPr lang="ru-RU" dirty="0"/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Позже — запуск нового потока и вызов: </a:t>
            </a:r>
            <a:r>
              <a:rPr lang="en-US" dirty="0"/>
              <a:t>std::invoke(f, </a:t>
            </a:r>
            <a:r>
              <a:rPr lang="en-US" dirty="0" err="1"/>
              <a:t>args</a:t>
            </a:r>
            <a:r>
              <a:rPr lang="en-US" dirty="0"/>
              <a:t>...)</a:t>
            </a:r>
            <a:endParaRPr lang="ru-RU" dirty="0"/>
          </a:p>
          <a:p>
            <a:r>
              <a:rPr lang="ru-RU" dirty="0"/>
              <a:t>По умолчанию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Аргументы передаются </a:t>
            </a:r>
            <a:r>
              <a:rPr lang="ru-RU" b="1" dirty="0"/>
              <a:t>по значению</a:t>
            </a:r>
          </a:p>
          <a:p>
            <a:pPr lvl="1"/>
            <a:r>
              <a:rPr lang="ru-RU" dirty="0"/>
              <a:t>Ссылки нужно передавать через </a:t>
            </a:r>
            <a:r>
              <a:rPr lang="en-US" dirty="0"/>
              <a:t>std::ref / std::</a:t>
            </a:r>
            <a:r>
              <a:rPr lang="en-US" dirty="0" err="1"/>
              <a:t>cref</a:t>
            </a:r>
            <a:endParaRPr lang="en-US" dirty="0"/>
          </a:p>
          <a:p>
            <a:pPr lvl="1"/>
            <a:r>
              <a:rPr lang="ru-RU" dirty="0"/>
              <a:t>Важно учитывать время жизни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86211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6D49-248C-F598-FE3A-5E470AAF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параметра по значению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6BBAF-2D07-9440-123B-6FFE8DAE3E30}"/>
              </a:ext>
            </a:extLst>
          </p:cNvPr>
          <p:cNvSpPr txBox="1"/>
          <p:nvPr/>
        </p:nvSpPr>
        <p:spPr>
          <a:xfrm>
            <a:off x="838200" y="1602769"/>
            <a:ext cx="11353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ByVal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ByVal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param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скопирована во временное хранилище перед вызовом функции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ByVal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365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B71A-AF1C-14A0-3DEC-44FCC8D20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аргументов по ссылке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F3E38A-9103-48C1-810F-DBE1493B9960}"/>
              </a:ext>
            </a:extLst>
          </p:cNvPr>
          <p:cNvSpPr txBox="1"/>
          <p:nvPr/>
        </p:nvSpPr>
        <p:spPr>
          <a:xfrm>
            <a:off x="838200" y="1690688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ByRef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ByRef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&amp;str: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"&amp;param: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ByRef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cref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9798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FCE-5E93-F3F7-1F51-014AF91E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Отслеживаем жизненный цикл объекта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0F672-F885-5148-4B95-A6DEB70C7847}"/>
              </a:ext>
            </a:extLst>
          </p:cNvPr>
          <p:cNvSpPr txBox="1"/>
          <p:nvPr/>
        </p:nvSpPr>
        <p:spPr>
          <a:xfrm>
            <a:off x="0" y="1690688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Spy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Spy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"Spy() in thread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Spy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"Spy("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 in thread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Spy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Spy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"Spy(const Spy&amp;) in thread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Spy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Spy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"Spy(Spy&amp;&amp;) in thread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~Spy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"~Spy() in thread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35401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A64F-8079-88C9-9584-009CFBF3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аргументов функции потока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7093A-C5E6-27BA-F07F-4DAE3A436FAC}"/>
              </a:ext>
            </a:extLst>
          </p:cNvPr>
          <p:cNvSpPr txBox="1"/>
          <p:nvPr/>
        </p:nvSpPr>
        <p:spPr>
          <a:xfrm>
            <a:off x="838199" y="1690688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"Main thread id: "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this_thread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get_id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795E2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EE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\n</a:t>
            </a:r>
            <a:r>
              <a:rPr lang="en-US" sz="160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jthread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        [](</a:t>
            </a:r>
            <a:r>
              <a:rPr lang="en-US" sz="1600" dirty="0">
                <a:solidFill>
                  <a:srgbClr val="267F99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Spy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267F99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"Thread </a:t>
            </a:r>
            <a:r>
              <a:rPr lang="en-US" sz="1600" dirty="0" err="1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func</a:t>
            </a:r>
            <a:r>
              <a:rPr lang="en-US" sz="1600" dirty="0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is invoked in thread "</a:t>
            </a:r>
            <a:endParaRPr lang="en-US" sz="1600" dirty="0">
              <a:solidFill>
                <a:srgbClr val="3B3B3B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sz="1600" dirty="0">
                <a:solidFill>
                  <a:srgbClr val="795E26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267F99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this_thread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get_id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795E26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EE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\n</a:t>
            </a:r>
            <a:r>
              <a:rPr lang="en-US" sz="1600" dirty="0">
                <a:solidFill>
                  <a:srgbClr val="A31515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        },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Spy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95E2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join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b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267F99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jthread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t2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        [](</a:t>
            </a:r>
            <a:r>
              <a:rPr lang="en-US" sz="16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Spy</a:t>
            </a:r>
            <a:r>
              <a:rPr lang="en-US" sz="16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267F99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"Thread </a:t>
            </a:r>
            <a:r>
              <a:rPr lang="en-US" sz="1600" dirty="0" err="1">
                <a:solidFill>
                  <a:srgbClr val="A31515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func</a:t>
            </a:r>
            <a:r>
              <a:rPr lang="en-US" sz="1600" dirty="0">
                <a:solidFill>
                  <a:srgbClr val="A31515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is invoked in thread "</a:t>
            </a:r>
            <a:endParaRPr lang="en-US" sz="1600" dirty="0">
              <a:solidFill>
                <a:srgbClr val="3B3B3B"/>
              </a:solidFill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                      </a:t>
            </a:r>
            <a:r>
              <a:rPr lang="en-US" sz="1600" dirty="0">
                <a:solidFill>
                  <a:srgbClr val="795E26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267F99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this_thread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get_id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795E26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EE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\n</a:t>
            </a:r>
            <a:r>
              <a:rPr lang="en-US" sz="1600" dirty="0">
                <a:solidFill>
                  <a:srgbClr val="A31515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        },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098658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42</a:t>
            </a:r>
            <a:endParaRPr lang="en-US" sz="1600" dirty="0">
              <a:solidFill>
                <a:srgbClr val="3B3B3B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};</a:t>
            </a:r>
          </a:p>
          <a:p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t2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795E26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join</a:t>
            </a:r>
            <a:r>
              <a:rPr lang="en-US" sz="1600" dirty="0">
                <a:solidFill>
                  <a:srgbClr val="3B3B3B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1735F5-5049-6088-CA9A-BD48C04D88D3}"/>
              </a:ext>
            </a:extLst>
          </p:cNvPr>
          <p:cNvSpPr txBox="1"/>
          <p:nvPr/>
        </p:nvSpPr>
        <p:spPr>
          <a:xfrm>
            <a:off x="7688050" y="3936307"/>
            <a:ext cx="4409357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Main thread id: 36004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Spy() in thread 36004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Spy(Spy&amp;&amp;) in thread 36004</a:t>
            </a:r>
          </a:p>
          <a:p>
            <a:r>
              <a:rPr lang="en-US" sz="1600" dirty="0">
                <a:highlight>
                  <a:srgbClr val="FFFF00"/>
                </a:highlight>
                <a:latin typeface="Consolas" panose="020B0609020204030204" pitchFamily="49" charset="0"/>
              </a:rPr>
              <a:t>~Spy() in thread 36004</a:t>
            </a:r>
          </a:p>
          <a:p>
            <a:r>
              <a:rPr lang="en-US" sz="1600" dirty="0">
                <a:highlight>
                  <a:srgbClr val="00FFFF"/>
                </a:highlight>
                <a:latin typeface="Consolas" panose="020B0609020204030204" pitchFamily="49" charset="0"/>
              </a:rPr>
              <a:t>Spy(Spy&amp;&amp;) in thread 8928</a:t>
            </a:r>
          </a:p>
          <a:p>
            <a:r>
              <a:rPr lang="en-US" sz="1600" dirty="0">
                <a:highlight>
                  <a:srgbClr val="00FFFF"/>
                </a:highlight>
                <a:latin typeface="Consolas" panose="020B0609020204030204" pitchFamily="49" charset="0"/>
              </a:rPr>
              <a:t>Thread </a:t>
            </a:r>
            <a:r>
              <a:rPr lang="en-US" sz="1600" dirty="0" err="1">
                <a:highlight>
                  <a:srgbClr val="00FFFF"/>
                </a:highlight>
                <a:latin typeface="Consolas" panose="020B0609020204030204" pitchFamily="49" charset="0"/>
              </a:rPr>
              <a:t>func</a:t>
            </a:r>
            <a:r>
              <a:rPr lang="en-US" sz="1600" dirty="0">
                <a:highlight>
                  <a:srgbClr val="00FFFF"/>
                </a:highlight>
                <a:latin typeface="Consolas" panose="020B0609020204030204" pitchFamily="49" charset="0"/>
              </a:rPr>
              <a:t> is invoked in thread 8928</a:t>
            </a:r>
          </a:p>
          <a:p>
            <a:r>
              <a:rPr lang="en-US" sz="1600" dirty="0">
                <a:highlight>
                  <a:srgbClr val="00FFFF"/>
                </a:highlight>
                <a:latin typeface="Consolas" panose="020B0609020204030204" pitchFamily="49" charset="0"/>
              </a:rPr>
              <a:t>~Spy() in thread 8928</a:t>
            </a:r>
          </a:p>
          <a:p>
            <a:r>
              <a:rPr lang="en-US" sz="1600" dirty="0">
                <a:highlight>
                  <a:srgbClr val="00FFFF"/>
                </a:highlight>
                <a:latin typeface="Consolas" panose="020B0609020204030204" pitchFamily="49" charset="0"/>
              </a:rPr>
              <a:t>~Spy() in thread 8928</a:t>
            </a:r>
          </a:p>
          <a:p>
            <a:r>
              <a:rPr lang="en-US" sz="1600" dirty="0">
                <a:highlight>
                  <a:srgbClr val="00FF00"/>
                </a:highlight>
                <a:latin typeface="Consolas" panose="020B0609020204030204" pitchFamily="49" charset="0"/>
              </a:rPr>
              <a:t>Spy(42) in thread 34048</a:t>
            </a:r>
          </a:p>
          <a:p>
            <a:r>
              <a:rPr lang="en-US" sz="1600" dirty="0">
                <a:highlight>
                  <a:srgbClr val="00FF00"/>
                </a:highlight>
                <a:latin typeface="Consolas" panose="020B0609020204030204" pitchFamily="49" charset="0"/>
              </a:rPr>
              <a:t>Thread </a:t>
            </a:r>
            <a:r>
              <a:rPr lang="en-US" sz="1600" dirty="0" err="1">
                <a:highlight>
                  <a:srgbClr val="00FF00"/>
                </a:highlight>
                <a:latin typeface="Consolas" panose="020B0609020204030204" pitchFamily="49" charset="0"/>
              </a:rPr>
              <a:t>func</a:t>
            </a:r>
            <a:r>
              <a:rPr lang="en-US" sz="1600" dirty="0">
                <a:highlight>
                  <a:srgbClr val="00FF00"/>
                </a:highlight>
                <a:latin typeface="Consolas" panose="020B0609020204030204" pitchFamily="49" charset="0"/>
              </a:rPr>
              <a:t> is invoked in thread 34048</a:t>
            </a:r>
          </a:p>
          <a:p>
            <a:r>
              <a:rPr lang="en-US" sz="1600" dirty="0">
                <a:highlight>
                  <a:srgbClr val="00FF00"/>
                </a:highlight>
                <a:latin typeface="Consolas" panose="020B0609020204030204" pitchFamily="49" charset="0"/>
              </a:rPr>
              <a:t>~Spy() in thread 34048</a:t>
            </a:r>
          </a:p>
        </p:txBody>
      </p:sp>
    </p:spTree>
    <p:extLst>
      <p:ext uri="{BB962C8B-B14F-4D97-AF65-F5344CB8AC3E}">
        <p14:creationId xmlns:p14="http://schemas.microsoft.com/office/powerpoint/2010/main" val="5304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355E83-8B9A-C48E-019A-3B9BF8C3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</a:t>
            </a:r>
            <a:r>
              <a:rPr lang="ru-RU" dirty="0"/>
              <a:t>хранит не аргументы функции-потока, а аргументы конструктора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5DD91-0B6B-3FFE-71BC-D39C4AEA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Внутри объекта </a:t>
            </a:r>
            <a:r>
              <a:rPr lang="en-US" dirty="0"/>
              <a:t>thread </a:t>
            </a:r>
            <a:r>
              <a:rPr lang="ru-RU" dirty="0"/>
              <a:t>сохраняются параметры, переданные в конструктор потока</a:t>
            </a:r>
          </a:p>
          <a:p>
            <a:pPr lvl="1"/>
            <a:r>
              <a:rPr lang="en-US" dirty="0"/>
              <a:t>C-</a:t>
            </a:r>
            <a:r>
              <a:rPr lang="ru-RU" dirty="0"/>
              <a:t>массивы «распадаются» до указателей на первый элемент</a:t>
            </a:r>
          </a:p>
          <a:p>
            <a:r>
              <a:rPr lang="ru-RU" dirty="0"/>
              <a:t>При старте потока из них конструируются аргументы для вызова функции потока</a:t>
            </a:r>
          </a:p>
          <a:p>
            <a:r>
              <a:rPr lang="ru-RU" dirty="0"/>
              <a:t>Следите за валидностью ссылок, передаваемых в функцию потока</a:t>
            </a:r>
          </a:p>
          <a:p>
            <a:pPr lvl="1"/>
            <a:r>
              <a:rPr lang="ru-RU" dirty="0"/>
              <a:t>В противном случае гарантировано </a:t>
            </a:r>
            <a:r>
              <a:rPr lang="en-US" dirty="0"/>
              <a:t>UB </a:t>
            </a:r>
            <a:r>
              <a:rPr lang="ru-RU" dirty="0"/>
              <a:t>и долгие часы отладки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388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78C2DD-9E1D-5433-A12D-055DC43F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здесь неопределённое поведение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1D1A3-2AD0-8CCC-A7BF-69602025C86E}"/>
              </a:ext>
            </a:extLst>
          </p:cNvPr>
          <p:cNvSpPr txBox="1"/>
          <p:nvPr/>
        </p:nvSpPr>
        <p:spPr>
          <a:xfrm>
            <a:off x="838199" y="1818526"/>
            <a:ext cx="105155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PossibleDanglingReference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"Some temporary buffer"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const char* */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thread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сохранён адрес массива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buffer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buffer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разрушен при выходе из функции.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 вызове лямбда функции в фоновом потоке ей будет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передан указатель на разрушенный массив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029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06EE-B154-7CDE-074E-E7E1AF58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Устраняем </a:t>
            </a:r>
            <a:r>
              <a:rPr lang="en-US" dirty="0"/>
              <a:t>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3B3B0-640A-89E3-FCFE-B011E9722C9E}"/>
              </a:ext>
            </a:extLst>
          </p:cNvPr>
          <p:cNvSpPr txBox="1"/>
          <p:nvPr/>
        </p:nvSpPr>
        <p:spPr>
          <a:xfrm>
            <a:off x="838199" y="1690689"/>
            <a:ext cx="105155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"Some temporary buffer"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Внутри потока будет сохранена копия строки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286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986B79-6A23-1967-9B82-5BD2EB53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здесь не возникает </a:t>
            </a:r>
            <a:r>
              <a:rPr lang="en-US" dirty="0"/>
              <a:t>UB?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76751-B2DD-352A-BB16-5CC8009C40D0}"/>
              </a:ext>
            </a:extLst>
          </p:cNvPr>
          <p:cNvSpPr txBox="1"/>
          <p:nvPr/>
        </p:nvSpPr>
        <p:spPr>
          <a:xfrm>
            <a:off x="838200" y="1890444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на строковый литерал "Hello" будет скопирован внутрь потока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В новом потоке из этого указателя будет создана строка, ссылка на которую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будет передана в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Так как строковый литерал имеет статическое время жизни,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указатель на него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станется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валидным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момент создания строки.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485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B22F08-1FC8-D77A-1CCD-C89529BE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потоками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DFA1D-C4D2-AAFC-8DDD-15B771E96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34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FC2DD1-3855-C4F0-0C57-CA26C2ED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Копировать нельзя переместить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EEABBF-2B86-B70C-C7A7-D1FCB706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Объекты </a:t>
            </a:r>
            <a:r>
              <a:rPr lang="en-US" dirty="0"/>
              <a:t>thread </a:t>
            </a:r>
            <a:r>
              <a:rPr lang="ru-RU" dirty="0"/>
              <a:t>и </a:t>
            </a:r>
            <a:r>
              <a:rPr lang="en-US" dirty="0" err="1"/>
              <a:t>jthread</a:t>
            </a:r>
            <a:r>
              <a:rPr lang="en-US" dirty="0"/>
              <a:t> </a:t>
            </a:r>
            <a:r>
              <a:rPr lang="ru-RU" dirty="0"/>
              <a:t>нельзя копировать, но можно перемещать</a:t>
            </a:r>
            <a:endParaRPr lang="en-US" dirty="0"/>
          </a:p>
          <a:p>
            <a:pPr lvl="1"/>
            <a:r>
              <a:rPr lang="ru-RU" dirty="0"/>
              <a:t>После перемещения объект-донор становится пустым – с ним не связан никакой поток выполнения (как после </a:t>
            </a:r>
            <a:r>
              <a:rPr lang="en-US" dirty="0"/>
              <a:t>detach)</a:t>
            </a:r>
            <a:endParaRPr lang="ru-RU" dirty="0"/>
          </a:p>
          <a:p>
            <a:r>
              <a:rPr lang="ru-RU" dirty="0"/>
              <a:t>Это позволяет передавать потоки в функцию и возвращать из функции, а также хранить в коллекциях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620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18228C-EB53-0FA5-8B02-4F69B440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потока </a:t>
            </a:r>
            <a:r>
              <a:rPr lang="ru-RU"/>
              <a:t>из функции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C12E6-B45B-C486-3A58-DF28614B5B0A}"/>
              </a:ext>
            </a:extLst>
          </p:cNvPr>
          <p:cNvSpPr txBox="1"/>
          <p:nvPr/>
        </p:nvSpPr>
        <p:spPr>
          <a:xfrm>
            <a:off x="838200" y="1690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SortVector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[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"three"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"four"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"five"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SortVector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SortVector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выходе из блока массивы будут отсортированы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is_sorted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is_sorted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083BBAFF-4ABC-998C-D5A4-8E1F3B8DDC7A}"/>
              </a:ext>
            </a:extLst>
          </p:cNvPr>
          <p:cNvSpPr/>
          <p:nvPr/>
        </p:nvSpPr>
        <p:spPr>
          <a:xfrm>
            <a:off x="8291245" y="4911047"/>
            <a:ext cx="3554857" cy="1181528"/>
          </a:xfrm>
          <a:prstGeom prst="wedgeEllipseCallout">
            <a:avLst>
              <a:gd name="adj1" fmla="val -83778"/>
              <a:gd name="adj2" fmla="val -19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 что если не сохранять результат </a:t>
            </a:r>
            <a:r>
              <a:rPr lang="en-US" dirty="0" err="1"/>
              <a:t>SortVectors</a:t>
            </a:r>
            <a:r>
              <a:rPr lang="en-US" dirty="0"/>
              <a:t> </a:t>
            </a:r>
            <a:r>
              <a:rPr lang="ru-RU" dirty="0"/>
              <a:t>в переменную</a:t>
            </a:r>
            <a:r>
              <a:rPr lang="en-US" dirty="0"/>
              <a:t>?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5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F54000-173B-5A20-6F47-E60B910E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Применяем многопоточность на практике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BC8BE-CA5F-013C-62FA-333A8A03A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75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5FB4-C2C6-1087-CBAA-CD98129A3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Применяем многопоточность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88039-6560-BDB3-6169-822F03834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Разделить большую задачу на несколько более простых задач</a:t>
            </a:r>
          </a:p>
          <a:p>
            <a:pPr lvl="1"/>
            <a:r>
              <a:rPr lang="ru-RU" dirty="0"/>
              <a:t>Часть задач может иметь минимум зависимостей друг от друга</a:t>
            </a:r>
          </a:p>
          <a:p>
            <a:pPr lvl="1"/>
            <a:r>
              <a:rPr lang="ru-RU" dirty="0"/>
              <a:t>Часть задач может иметь зависимости от других задач</a:t>
            </a:r>
          </a:p>
          <a:p>
            <a:r>
              <a:rPr lang="ru-RU" dirty="0"/>
              <a:t>Распределить независимые задачи между</a:t>
            </a:r>
            <a:r>
              <a:rPr lang="en-US" dirty="0"/>
              <a:t> N</a:t>
            </a:r>
            <a:r>
              <a:rPr lang="ru-RU" dirty="0"/>
              <a:t> потоками</a:t>
            </a:r>
          </a:p>
          <a:p>
            <a:pPr lvl="1"/>
            <a:r>
              <a:rPr lang="en-US" dirty="0">
                <a:hlinkClick r:id="rId3"/>
              </a:rPr>
              <a:t>std::thread::</a:t>
            </a:r>
            <a:r>
              <a:rPr lang="en-US" dirty="0" err="1">
                <a:hlinkClick r:id="rId3"/>
              </a:rPr>
              <a:t>hardware_concurrency</a:t>
            </a:r>
            <a:r>
              <a:rPr lang="en-US" dirty="0"/>
              <a:t> </a:t>
            </a:r>
            <a:r>
              <a:rPr lang="ru-RU" dirty="0"/>
              <a:t>возвращает количество </a:t>
            </a:r>
            <a:r>
              <a:rPr lang="ru-RU" dirty="0" err="1"/>
              <a:t>аппаратно</a:t>
            </a:r>
            <a:r>
              <a:rPr lang="ru-RU" dirty="0"/>
              <a:t> доступных потоков</a:t>
            </a:r>
            <a:endParaRPr lang="en-US" dirty="0"/>
          </a:p>
          <a:p>
            <a:pPr lvl="2"/>
            <a:r>
              <a:rPr lang="ru-RU" dirty="0"/>
              <a:t>Эта функция может вернуть нулевое значение</a:t>
            </a:r>
          </a:p>
          <a:p>
            <a:r>
              <a:rPr lang="ru-RU" dirty="0"/>
              <a:t>Сформировать итоговый результат из результатов подзадач</a:t>
            </a:r>
          </a:p>
        </p:txBody>
      </p:sp>
    </p:spTree>
    <p:extLst>
      <p:ext uri="{BB962C8B-B14F-4D97-AF65-F5344CB8AC3E}">
        <p14:creationId xmlns:p14="http://schemas.microsoft.com/office/powerpoint/2010/main" val="44065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B563-8A1A-86DD-3AB0-D9B83F6A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Параллельное суммирование элементов массива</a:t>
            </a:r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D9E47D5-3767-2DFA-7CCF-AC956CF7198C}"/>
              </a:ext>
            </a:extLst>
          </p:cNvPr>
          <p:cNvGrpSpPr/>
          <p:nvPr/>
        </p:nvGrpSpPr>
        <p:grpSpPr>
          <a:xfrm>
            <a:off x="1160980" y="1941816"/>
            <a:ext cx="10431666" cy="297950"/>
            <a:chOff x="1160980" y="1941816"/>
            <a:chExt cx="10431666" cy="29795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A47208-FE52-6868-99AA-B549D271A741}"/>
                </a:ext>
              </a:extLst>
            </p:cNvPr>
            <p:cNvSpPr/>
            <p:nvPr/>
          </p:nvSpPr>
          <p:spPr>
            <a:xfrm>
              <a:off x="1160980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BA668C-B43C-5488-1B53-ECDF74129DDE}"/>
                </a:ext>
              </a:extLst>
            </p:cNvPr>
            <p:cNvSpPr/>
            <p:nvPr/>
          </p:nvSpPr>
          <p:spPr>
            <a:xfrm>
              <a:off x="1510301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6D379D-F176-2105-8265-DDCE6FA62E54}"/>
                </a:ext>
              </a:extLst>
            </p:cNvPr>
            <p:cNvSpPr/>
            <p:nvPr/>
          </p:nvSpPr>
          <p:spPr>
            <a:xfrm>
              <a:off x="1857909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991CD-CE0D-4F0B-0653-AA907F777ED8}"/>
                </a:ext>
              </a:extLst>
            </p:cNvPr>
            <p:cNvSpPr/>
            <p:nvPr/>
          </p:nvSpPr>
          <p:spPr>
            <a:xfrm>
              <a:off x="2205517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3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9FD786-8AD1-183B-6E8B-14B8815F2A47}"/>
                </a:ext>
              </a:extLst>
            </p:cNvPr>
            <p:cNvSpPr/>
            <p:nvPr/>
          </p:nvSpPr>
          <p:spPr>
            <a:xfrm>
              <a:off x="2553125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B55380-48BB-FD99-12AD-FA6B574D714E}"/>
                </a:ext>
              </a:extLst>
            </p:cNvPr>
            <p:cNvSpPr/>
            <p:nvPr/>
          </p:nvSpPr>
          <p:spPr>
            <a:xfrm>
              <a:off x="2900733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1DCCE0-203B-05B5-5B3E-32BA95DD443D}"/>
                </a:ext>
              </a:extLst>
            </p:cNvPr>
            <p:cNvSpPr/>
            <p:nvPr/>
          </p:nvSpPr>
          <p:spPr>
            <a:xfrm>
              <a:off x="3248341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17BFF9-BDA3-7CF6-75F9-2E25831770F1}"/>
                </a:ext>
              </a:extLst>
            </p:cNvPr>
            <p:cNvSpPr/>
            <p:nvPr/>
          </p:nvSpPr>
          <p:spPr>
            <a:xfrm>
              <a:off x="3595949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BD578A-400F-3635-9CF6-9EB52AE9AE06}"/>
                </a:ext>
              </a:extLst>
            </p:cNvPr>
            <p:cNvSpPr/>
            <p:nvPr/>
          </p:nvSpPr>
          <p:spPr>
            <a:xfrm>
              <a:off x="3943557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C5AFA7-FC8D-4D43-1698-789ABCB3F166}"/>
                </a:ext>
              </a:extLst>
            </p:cNvPr>
            <p:cNvSpPr/>
            <p:nvPr/>
          </p:nvSpPr>
          <p:spPr>
            <a:xfrm>
              <a:off x="4291165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EB810D-507E-1989-F73F-0DCE1D449844}"/>
                </a:ext>
              </a:extLst>
            </p:cNvPr>
            <p:cNvSpPr/>
            <p:nvPr/>
          </p:nvSpPr>
          <p:spPr>
            <a:xfrm>
              <a:off x="4638773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82FCF4-6351-EC55-91B8-5BA3C1A818BF}"/>
                </a:ext>
              </a:extLst>
            </p:cNvPr>
            <p:cNvSpPr/>
            <p:nvPr/>
          </p:nvSpPr>
          <p:spPr>
            <a:xfrm>
              <a:off x="4986381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73DD0D-410E-D785-CD6F-2F6570571274}"/>
                </a:ext>
              </a:extLst>
            </p:cNvPr>
            <p:cNvSpPr/>
            <p:nvPr/>
          </p:nvSpPr>
          <p:spPr>
            <a:xfrm>
              <a:off x="5333989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51CC820-9542-2A74-3E0A-58842DC57A02}"/>
                </a:ext>
              </a:extLst>
            </p:cNvPr>
            <p:cNvSpPr/>
            <p:nvPr/>
          </p:nvSpPr>
          <p:spPr>
            <a:xfrm>
              <a:off x="5681597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427F15-25B4-33F1-F9B7-9F7BE93F845E}"/>
                </a:ext>
              </a:extLst>
            </p:cNvPr>
            <p:cNvSpPr/>
            <p:nvPr/>
          </p:nvSpPr>
          <p:spPr>
            <a:xfrm>
              <a:off x="6029205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4226A8-1255-75A4-F599-403F421AF44F}"/>
                </a:ext>
              </a:extLst>
            </p:cNvPr>
            <p:cNvSpPr/>
            <p:nvPr/>
          </p:nvSpPr>
          <p:spPr>
            <a:xfrm>
              <a:off x="6376813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80B29F-BC3C-6EBD-73EA-617F9E1B4837}"/>
                </a:ext>
              </a:extLst>
            </p:cNvPr>
            <p:cNvSpPr/>
            <p:nvPr/>
          </p:nvSpPr>
          <p:spPr>
            <a:xfrm>
              <a:off x="6724421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69FADFC-C99A-4326-4B85-53DCAE3F8CD7}"/>
                </a:ext>
              </a:extLst>
            </p:cNvPr>
            <p:cNvSpPr/>
            <p:nvPr/>
          </p:nvSpPr>
          <p:spPr>
            <a:xfrm>
              <a:off x="7072029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30E406-0864-F194-014E-5E3DD07F496B}"/>
                </a:ext>
              </a:extLst>
            </p:cNvPr>
            <p:cNvSpPr/>
            <p:nvPr/>
          </p:nvSpPr>
          <p:spPr>
            <a:xfrm>
              <a:off x="7419637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B0006E-0368-098C-CD06-323E080529B8}"/>
                </a:ext>
              </a:extLst>
            </p:cNvPr>
            <p:cNvSpPr/>
            <p:nvPr/>
          </p:nvSpPr>
          <p:spPr>
            <a:xfrm>
              <a:off x="7767245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BEAF3A-6DDC-AA4F-1CC0-F239CC8AFE50}"/>
                </a:ext>
              </a:extLst>
            </p:cNvPr>
            <p:cNvSpPr/>
            <p:nvPr/>
          </p:nvSpPr>
          <p:spPr>
            <a:xfrm>
              <a:off x="8114853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F6400B4-1277-F1FC-A4EF-26801E4ECB09}"/>
                </a:ext>
              </a:extLst>
            </p:cNvPr>
            <p:cNvSpPr/>
            <p:nvPr/>
          </p:nvSpPr>
          <p:spPr>
            <a:xfrm>
              <a:off x="8462461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EE2128-5D6F-365B-0051-EBE0C278A514}"/>
                </a:ext>
              </a:extLst>
            </p:cNvPr>
            <p:cNvSpPr/>
            <p:nvPr/>
          </p:nvSpPr>
          <p:spPr>
            <a:xfrm>
              <a:off x="8810069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D1214B5-3177-C8F1-CF6D-FB95DF49B04C}"/>
                </a:ext>
              </a:extLst>
            </p:cNvPr>
            <p:cNvSpPr/>
            <p:nvPr/>
          </p:nvSpPr>
          <p:spPr>
            <a:xfrm>
              <a:off x="9157677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69096EE-6C26-D475-4D88-C8797EBBC52D}"/>
                </a:ext>
              </a:extLst>
            </p:cNvPr>
            <p:cNvSpPr/>
            <p:nvPr/>
          </p:nvSpPr>
          <p:spPr>
            <a:xfrm>
              <a:off x="9505285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D7BDEBC-DAB4-50AE-D89D-FD92C8280B43}"/>
                </a:ext>
              </a:extLst>
            </p:cNvPr>
            <p:cNvSpPr/>
            <p:nvPr/>
          </p:nvSpPr>
          <p:spPr>
            <a:xfrm>
              <a:off x="9852893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BF3A78-0A00-A8A3-8792-E63B74E4D538}"/>
                </a:ext>
              </a:extLst>
            </p:cNvPr>
            <p:cNvSpPr/>
            <p:nvPr/>
          </p:nvSpPr>
          <p:spPr>
            <a:xfrm>
              <a:off x="10200501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623A61D-33AE-BA67-E9BC-70D4E32544E0}"/>
                </a:ext>
              </a:extLst>
            </p:cNvPr>
            <p:cNvSpPr/>
            <p:nvPr/>
          </p:nvSpPr>
          <p:spPr>
            <a:xfrm>
              <a:off x="10548109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EFA64F-3B6C-FB8B-8F58-1C57330D7330}"/>
                </a:ext>
              </a:extLst>
            </p:cNvPr>
            <p:cNvSpPr/>
            <p:nvPr/>
          </p:nvSpPr>
          <p:spPr>
            <a:xfrm>
              <a:off x="10895717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94C0855-A3B6-156E-A136-8EF05ED4DC63}"/>
                </a:ext>
              </a:extLst>
            </p:cNvPr>
            <p:cNvSpPr/>
            <p:nvPr/>
          </p:nvSpPr>
          <p:spPr>
            <a:xfrm>
              <a:off x="11243325" y="1941816"/>
              <a:ext cx="349321" cy="2979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  <a:endParaRPr lang="en-US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1A089C2-256A-C71E-A7C5-9D077BA11A67}"/>
              </a:ext>
            </a:extLst>
          </p:cNvPr>
          <p:cNvSpPr/>
          <p:nvPr/>
        </p:nvSpPr>
        <p:spPr>
          <a:xfrm>
            <a:off x="1220902" y="2788843"/>
            <a:ext cx="2631908" cy="719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 1</a:t>
            </a:r>
            <a:endParaRPr lang="en-US" dirty="0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B8F2A9E0-A03A-DB60-6899-FB48BBAEED9A}"/>
              </a:ext>
            </a:extLst>
          </p:cNvPr>
          <p:cNvSpPr/>
          <p:nvPr/>
        </p:nvSpPr>
        <p:spPr>
          <a:xfrm rot="5400000">
            <a:off x="2345923" y="1117575"/>
            <a:ext cx="431515" cy="27945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CA1F98-E1A9-FC92-B207-F73CCE895B80}"/>
              </a:ext>
            </a:extLst>
          </p:cNvPr>
          <p:cNvSpPr/>
          <p:nvPr/>
        </p:nvSpPr>
        <p:spPr>
          <a:xfrm>
            <a:off x="4044544" y="2771453"/>
            <a:ext cx="2594292" cy="719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 2</a:t>
            </a:r>
            <a:endParaRPr lang="en-US" dirty="0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7F9A01BD-9C95-499E-2BAC-697163DD297F}"/>
              </a:ext>
            </a:extLst>
          </p:cNvPr>
          <p:cNvSpPr/>
          <p:nvPr/>
        </p:nvSpPr>
        <p:spPr>
          <a:xfrm rot="5400000">
            <a:off x="5125088" y="1117575"/>
            <a:ext cx="431515" cy="27945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471E75A-434E-2951-93B2-83B023BDB4B4}"/>
              </a:ext>
            </a:extLst>
          </p:cNvPr>
          <p:cNvSpPr/>
          <p:nvPr/>
        </p:nvSpPr>
        <p:spPr>
          <a:xfrm>
            <a:off x="6909322" y="2778895"/>
            <a:ext cx="2409340" cy="719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 3</a:t>
            </a:r>
            <a:endParaRPr lang="en-US" dirty="0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B39C70B1-2434-EBC3-8DA0-4C85E2077949}"/>
              </a:ext>
            </a:extLst>
          </p:cNvPr>
          <p:cNvSpPr/>
          <p:nvPr/>
        </p:nvSpPr>
        <p:spPr>
          <a:xfrm rot="5400000">
            <a:off x="7912803" y="1125544"/>
            <a:ext cx="431515" cy="27945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2BDB7682-8703-D7C9-1642-5F6E9FBCA589}"/>
              </a:ext>
            </a:extLst>
          </p:cNvPr>
          <p:cNvSpPr/>
          <p:nvPr/>
        </p:nvSpPr>
        <p:spPr>
          <a:xfrm rot="5400000">
            <a:off x="10332352" y="1466905"/>
            <a:ext cx="431515" cy="208907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7A29A8-25B9-4113-5D78-31CF7E032DBE}"/>
              </a:ext>
            </a:extLst>
          </p:cNvPr>
          <p:cNvSpPr/>
          <p:nvPr/>
        </p:nvSpPr>
        <p:spPr>
          <a:xfrm>
            <a:off x="9633709" y="2773495"/>
            <a:ext cx="1842526" cy="7191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Поток 4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9356BA-1C51-7740-51AD-E5C027D296FE}"/>
              </a:ext>
            </a:extLst>
          </p:cNvPr>
          <p:cNvSpPr/>
          <p:nvPr/>
        </p:nvSpPr>
        <p:spPr>
          <a:xfrm>
            <a:off x="5020632" y="4405901"/>
            <a:ext cx="504236" cy="297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471903-51EB-E277-9965-00F33DE3C406}"/>
              </a:ext>
            </a:extLst>
          </p:cNvPr>
          <p:cNvSpPr/>
          <p:nvPr/>
        </p:nvSpPr>
        <p:spPr>
          <a:xfrm>
            <a:off x="5524868" y="4405901"/>
            <a:ext cx="504236" cy="297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6049C6-D1B2-F9F3-C7A7-AF26BF47121A}"/>
              </a:ext>
            </a:extLst>
          </p:cNvPr>
          <p:cNvSpPr/>
          <p:nvPr/>
        </p:nvSpPr>
        <p:spPr>
          <a:xfrm>
            <a:off x="6026631" y="4405901"/>
            <a:ext cx="504236" cy="297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1C3BC1-B5D6-9887-FC4D-B91DE95C8F8D}"/>
              </a:ext>
            </a:extLst>
          </p:cNvPr>
          <p:cNvSpPr/>
          <p:nvPr/>
        </p:nvSpPr>
        <p:spPr>
          <a:xfrm>
            <a:off x="6528394" y="4405901"/>
            <a:ext cx="504236" cy="2979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6D3C352-1FC1-8BBD-0015-D91AA119D36A}"/>
              </a:ext>
            </a:extLst>
          </p:cNvPr>
          <p:cNvCxnSpPr>
            <a:stCxn id="33" idx="2"/>
            <a:endCxn id="48" idx="0"/>
          </p:cNvCxnSpPr>
          <p:nvPr/>
        </p:nvCxnSpPr>
        <p:spPr>
          <a:xfrm>
            <a:off x="2536856" y="3508034"/>
            <a:ext cx="2735894" cy="89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CF77AFD-B2E2-ABDB-E8BC-40CB3C01CFEB}"/>
              </a:ext>
            </a:extLst>
          </p:cNvPr>
          <p:cNvCxnSpPr>
            <a:cxnSpLocks/>
            <a:stCxn id="41" idx="2"/>
            <a:endCxn id="49" idx="0"/>
          </p:cNvCxnSpPr>
          <p:nvPr/>
        </p:nvCxnSpPr>
        <p:spPr>
          <a:xfrm>
            <a:off x="5341690" y="3490644"/>
            <a:ext cx="435296" cy="915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AE7AAD6-7F46-60FF-8E5C-BE6FAD5941C2}"/>
              </a:ext>
            </a:extLst>
          </p:cNvPr>
          <p:cNvCxnSpPr>
            <a:cxnSpLocks/>
            <a:stCxn id="43" idx="2"/>
            <a:endCxn id="50" idx="0"/>
          </p:cNvCxnSpPr>
          <p:nvPr/>
        </p:nvCxnSpPr>
        <p:spPr>
          <a:xfrm flipH="1">
            <a:off x="6278749" y="3498086"/>
            <a:ext cx="1835243" cy="907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18BD44-54BF-6D0A-314A-3DBADA6899DF}"/>
              </a:ext>
            </a:extLst>
          </p:cNvPr>
          <p:cNvCxnSpPr>
            <a:cxnSpLocks/>
            <a:stCxn id="46" idx="2"/>
            <a:endCxn id="51" idx="0"/>
          </p:cNvCxnSpPr>
          <p:nvPr/>
        </p:nvCxnSpPr>
        <p:spPr>
          <a:xfrm flipH="1">
            <a:off x="6780512" y="3492686"/>
            <a:ext cx="3774460" cy="913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21770C0-5F57-9792-D147-7DA4BC8A6EBA}"/>
              </a:ext>
            </a:extLst>
          </p:cNvPr>
          <p:cNvSpPr txBox="1"/>
          <p:nvPr/>
        </p:nvSpPr>
        <p:spPr>
          <a:xfrm>
            <a:off x="7032630" y="4349985"/>
            <a:ext cx="25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Частичные суммы</a:t>
            </a:r>
            <a:endParaRPr lang="en-US" dirty="0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DC73253C-CEDB-90DE-693B-5243A398B132}"/>
              </a:ext>
            </a:extLst>
          </p:cNvPr>
          <p:cNvSpPr/>
          <p:nvPr/>
        </p:nvSpPr>
        <p:spPr>
          <a:xfrm rot="5400000">
            <a:off x="5816444" y="4468639"/>
            <a:ext cx="431515" cy="13827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1CA161-9082-D0C8-8774-BFC189EA0E25}"/>
              </a:ext>
            </a:extLst>
          </p:cNvPr>
          <p:cNvSpPr txBox="1"/>
          <p:nvPr/>
        </p:nvSpPr>
        <p:spPr>
          <a:xfrm>
            <a:off x="5460670" y="5417052"/>
            <a:ext cx="106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32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38082B-95BE-50D8-DFB3-9AFF3A3C1317}"/>
              </a:ext>
            </a:extLst>
          </p:cNvPr>
          <p:cNvSpPr txBox="1"/>
          <p:nvPr/>
        </p:nvSpPr>
        <p:spPr>
          <a:xfrm>
            <a:off x="7072029" y="5375754"/>
            <a:ext cx="25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Итоговая сумма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63" grpId="0"/>
      <p:bldP spid="64" grpId="0" animBg="1"/>
      <p:bldP spid="65" grpId="0"/>
      <p:bldP spid="6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65D80A-B04E-8423-352F-4C79701EC604}"/>
              </a:ext>
            </a:extLst>
          </p:cNvPr>
          <p:cNvSpPr txBox="1"/>
          <p:nvPr/>
        </p:nvSpPr>
        <p:spPr>
          <a:xfrm>
            <a:off x="729465" y="2116476"/>
            <a:ext cx="971935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detail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AccumulateBlock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detail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37B231-9029-9EB1-1A1A-31DD1032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Вспомогательный функтор для аккумулирования значений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099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FC6A39-9818-2248-2742-2C919EA81235}"/>
              </a:ext>
            </a:extLst>
          </p:cNvPr>
          <p:cNvSpPr txBox="1"/>
          <p:nvPr/>
        </p:nvSpPr>
        <p:spPr>
          <a:xfrm>
            <a:off x="0" y="0"/>
            <a:ext cx="12192000" cy="7155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ParallelAccumulate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minPerThread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minPerThread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minPerThread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hwThreads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hardware_concurrency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hwThreads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hwThreads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2u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maxThreads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blockSize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blockStart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blockStart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advance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blockSize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AccumulateBlock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&gt;(),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blockStart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blockStart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AccumulateBlock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&gt;()(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blockStart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sz="1700" dirty="0">
                <a:solidFill>
                  <a:srgbClr val="795E26"/>
                </a:solidFill>
                <a:latin typeface="Consolas" panose="020B0609020204030204" pitchFamily="49" charset="0"/>
              </a:rPr>
              <a:t>ref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numThreads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accumulate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7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90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97920B-8B71-B9E3-5EF2-9A703FF9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Многопоточность и стандартный ввод-вывод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5B648-BE6C-5C6F-18B2-5E1C8586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56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1EAF92-D815-6937-44E3-BE0349F8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потоки и многопоточность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8D5608-353D-3074-CE3B-C670F945B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Глобальные потоки </a:t>
            </a:r>
            <a:r>
              <a:rPr lang="en-US" dirty="0"/>
              <a:t>std::</a:t>
            </a:r>
            <a:r>
              <a:rPr lang="en-US" dirty="0" err="1"/>
              <a:t>cin</a:t>
            </a:r>
            <a:r>
              <a:rPr lang="en-US" dirty="0"/>
              <a:t>, std::</a:t>
            </a:r>
            <a:r>
              <a:rPr lang="en-US" dirty="0" err="1"/>
              <a:t>cout</a:t>
            </a:r>
            <a:r>
              <a:rPr lang="en-US" dirty="0"/>
              <a:t>, std::</a:t>
            </a:r>
            <a:r>
              <a:rPr lang="en-US" dirty="0" err="1"/>
              <a:t>cerr</a:t>
            </a:r>
            <a:r>
              <a:rPr lang="en-US" dirty="0"/>
              <a:t> </a:t>
            </a:r>
            <a:r>
              <a:rPr lang="ru-RU" dirty="0"/>
              <a:t>можно безопасно использовать в многопоточной среде</a:t>
            </a:r>
          </a:p>
          <a:p>
            <a:pPr lvl="1"/>
            <a:r>
              <a:rPr lang="ru-RU" dirty="0"/>
              <a:t>После вызова метода </a:t>
            </a:r>
            <a:r>
              <a:rPr lang="en-US" dirty="0" err="1"/>
              <a:t>sync_with_stdio</a:t>
            </a:r>
            <a:r>
              <a:rPr lang="en-US" dirty="0"/>
              <a:t>(false) </a:t>
            </a:r>
            <a:r>
              <a:rPr lang="ru-RU" dirty="0"/>
              <a:t>– нельзя</a:t>
            </a:r>
          </a:p>
          <a:p>
            <a:r>
              <a:rPr lang="ru-RU" dirty="0"/>
              <a:t>При этом данные из этих потоков могут быть перемешаны</a:t>
            </a:r>
          </a:p>
          <a:p>
            <a:r>
              <a:rPr lang="ru-RU" dirty="0"/>
              <a:t>Для синхронизации используйте </a:t>
            </a:r>
            <a:r>
              <a:rPr lang="en-US" dirty="0"/>
              <a:t>std::</a:t>
            </a:r>
            <a:r>
              <a:rPr lang="en-US" dirty="0" err="1"/>
              <a:t>isyncstream</a:t>
            </a:r>
            <a:r>
              <a:rPr lang="en-US" dirty="0"/>
              <a:t>/std::</a:t>
            </a:r>
            <a:r>
              <a:rPr lang="en-US" dirty="0" err="1"/>
              <a:t>osyncstream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02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1F84-31FD-B1F7-9E79-0FC2A0C9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Перемешивание данных при работе со стандартными потоками ввода-вывода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84FC4-D82C-29B0-00E3-1121C04561A4}"/>
              </a:ext>
            </a:extLst>
          </p:cNvPr>
          <p:cNvSpPr txBox="1"/>
          <p:nvPr/>
        </p:nvSpPr>
        <p:spPr>
          <a:xfrm>
            <a:off x="838199" y="1690688"/>
            <a:ext cx="108743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OutputUnsynchronized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"Thread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endParaRPr lang="ru-RU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1080"/>
                </a:solidFill>
                <a:latin typeface="Consolas" panose="020B0609020204030204" pitchFamily="49" charset="0"/>
              </a:rPr>
              <a:t>                        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13F02-344F-126D-DF57-22C605DC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103" y="3648794"/>
            <a:ext cx="4897240" cy="316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96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B253A-473D-6856-9952-7D14C069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вывода в поток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0F1A7-E9AB-69C1-8135-1AD290E31CE3}"/>
              </a:ext>
            </a:extLst>
          </p:cNvPr>
          <p:cNvSpPr txBox="1"/>
          <p:nvPr/>
        </p:nvSpPr>
        <p:spPr>
          <a:xfrm>
            <a:off x="838200" y="1690689"/>
            <a:ext cx="928184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syncstream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OutputSynchronized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emplace_back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"Thread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threadIndex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                        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987BA1-0AD8-E081-6832-3CDF0DC1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640" y="4293360"/>
            <a:ext cx="3852809" cy="248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50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3BEBC5-D0EB-1D44-C434-26156682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B5A60-A6C8-F576-7C6B-DCAC0C788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Поток — это независимый исполнитель внутри процесса</a:t>
            </a:r>
          </a:p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thread</a:t>
            </a:r>
            <a:r>
              <a:rPr lang="ru-RU" dirty="0"/>
              <a:t> /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jthread</a:t>
            </a:r>
            <a:r>
              <a:rPr lang="ru-RU" dirty="0"/>
              <a:t> — переносимая абстракция над API ОС</a:t>
            </a:r>
          </a:p>
          <a:p>
            <a:r>
              <a:rPr lang="ru-RU" dirty="0"/>
              <a:t>Аргументы копируются или перемещаются внутрь объекта потока</a:t>
            </a:r>
          </a:p>
          <a:p>
            <a:r>
              <a:rPr lang="ru-RU" dirty="0"/>
              <a:t>Время жизни объектов критично</a:t>
            </a:r>
          </a:p>
          <a:p>
            <a:r>
              <a:rPr lang="ru-RU" dirty="0"/>
              <a:t>Больше потоков ≠ больше производительности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5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2A00-7605-CD11-77A5-7F484063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0704-F07C-F659-501F-79282106A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01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3903</Words>
  <Application>Microsoft Office PowerPoint</Application>
  <PresentationFormat>Widescreen</PresentationFormat>
  <Paragraphs>586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Consolas</vt:lpstr>
      <vt:lpstr>Office Theme</vt:lpstr>
      <vt:lpstr>Многопоточность в C++</vt:lpstr>
      <vt:lpstr>От конкурентной модели к потокам C++</vt:lpstr>
      <vt:lpstr>Поток выполнения</vt:lpstr>
      <vt:lpstr>Создание потока средствами операционной системы</vt:lpstr>
      <vt:lpstr>Когда использовать ОС API напрямую?</vt:lpstr>
      <vt:lpstr>Запуск потока средствами стандартной библиотеки C++</vt:lpstr>
      <vt:lpstr>Запуск потока в C++</vt:lpstr>
      <vt:lpstr>Отпускаем поток</vt:lpstr>
      <vt:lpstr>Joinable Thread (C++ 20)</vt:lpstr>
      <vt:lpstr>В роли функции потока может выступать любой callable-объект</vt:lpstr>
      <vt:lpstr>Перемещение callable-объекта</vt:lpstr>
      <vt:lpstr>Лямбда-выражение в качестве функции потока</vt:lpstr>
      <vt:lpstr>Получение id потока (std::thread::id)</vt:lpstr>
      <vt:lpstr>UB при обращении к висячей ссылке</vt:lpstr>
      <vt:lpstr>Передача параметров в функцию потока</vt:lpstr>
      <vt:lpstr>Передача параметра по значению</vt:lpstr>
      <vt:lpstr>Передача аргументов по ссылке</vt:lpstr>
      <vt:lpstr>Отслеживаем жизненный цикл объекта</vt:lpstr>
      <vt:lpstr>Жизненный цикл аргументов функции потока</vt:lpstr>
      <vt:lpstr>Thread хранит не аргументы функции-потока, а аргументы конструктора</vt:lpstr>
      <vt:lpstr>Где здесь неопределённое поведение?</vt:lpstr>
      <vt:lpstr>Устраняем UB</vt:lpstr>
      <vt:lpstr>Почему здесь не возникает UB?</vt:lpstr>
      <vt:lpstr>Управление потоками</vt:lpstr>
      <vt:lpstr>Копировать нельзя переместить</vt:lpstr>
      <vt:lpstr>Возврат потока из функции</vt:lpstr>
      <vt:lpstr>Применяем многопоточность на практике</vt:lpstr>
      <vt:lpstr>Применяем многопоточность</vt:lpstr>
      <vt:lpstr>Параллельное суммирование элементов массива</vt:lpstr>
      <vt:lpstr>Вспомогательный функтор для аккумулирования значений</vt:lpstr>
      <vt:lpstr>PowerPoint Presentation</vt:lpstr>
      <vt:lpstr>Многопоточность и стандартный ввод-вывод</vt:lpstr>
      <vt:lpstr>Стандартные потоки и многопоточность</vt:lpstr>
      <vt:lpstr>Перемешивание данных при работе со стандартными потоками ввода-вывода</vt:lpstr>
      <vt:lpstr>Синхронизация вывода в поток</vt:lpstr>
      <vt:lpstr>Выводы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34</cp:revision>
  <dcterms:created xsi:type="dcterms:W3CDTF">2025-02-03T14:52:05Z</dcterms:created>
  <dcterms:modified xsi:type="dcterms:W3CDTF">2026-03-26T10:11:56Z</dcterms:modified>
</cp:coreProperties>
</file>