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66" r:id="rId3"/>
    <p:sldId id="267" r:id="rId4"/>
    <p:sldId id="273" r:id="rId5"/>
    <p:sldId id="268" r:id="rId6"/>
    <p:sldId id="269" r:id="rId7"/>
    <p:sldId id="270" r:id="rId8"/>
    <p:sldId id="272" r:id="rId9"/>
    <p:sldId id="271" r:id="rId10"/>
    <p:sldId id="274" r:id="rId11"/>
    <p:sldId id="293" r:id="rId12"/>
    <p:sldId id="275" r:id="rId13"/>
    <p:sldId id="288" r:id="rId14"/>
    <p:sldId id="289" r:id="rId15"/>
    <p:sldId id="290" r:id="rId16"/>
    <p:sldId id="291" r:id="rId17"/>
    <p:sldId id="277" r:id="rId18"/>
    <p:sldId id="276" r:id="rId19"/>
    <p:sldId id="278" r:id="rId20"/>
    <p:sldId id="279" r:id="rId21"/>
    <p:sldId id="280" r:id="rId22"/>
    <p:sldId id="281" r:id="rId23"/>
    <p:sldId id="282" r:id="rId24"/>
    <p:sldId id="283" r:id="rId25"/>
    <p:sldId id="285" r:id="rId26"/>
    <p:sldId id="286" r:id="rId27"/>
    <p:sldId id="292" r:id="rId28"/>
    <p:sldId id="28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7C1342-E93A-4E2A-AC7A-EE08B8517984}">
          <p14:sldIdLst>
            <p14:sldId id="256"/>
            <p14:sldId id="266"/>
            <p14:sldId id="267"/>
            <p14:sldId id="273"/>
            <p14:sldId id="268"/>
            <p14:sldId id="269"/>
            <p14:sldId id="270"/>
          </p14:sldIdLst>
        </p14:section>
        <p14:section name="Подходы к конкурентности" id="{1B4492DB-237E-46C4-A7C3-86F4C71DB99D}">
          <p14:sldIdLst>
            <p14:sldId id="272"/>
            <p14:sldId id="271"/>
            <p14:sldId id="274"/>
            <p14:sldId id="293"/>
            <p14:sldId id="275"/>
            <p14:sldId id="288"/>
            <p14:sldId id="289"/>
            <p14:sldId id="290"/>
            <p14:sldId id="291"/>
          </p14:sldIdLst>
        </p14:section>
        <p14:section name="Когда использовать конкурентность" id="{21CB0B3B-5288-43FB-9305-5A3D06EE6CCE}">
          <p14:sldIdLst>
            <p14:sldId id="277"/>
            <p14:sldId id="276"/>
            <p14:sldId id="278"/>
            <p14:sldId id="279"/>
            <p14:sldId id="280"/>
            <p14:sldId id="281"/>
            <p14:sldId id="282"/>
            <p14:sldId id="283"/>
            <p14:sldId id="285"/>
            <p14:sldId id="286"/>
            <p14:sldId id="292"/>
            <p14:sldId id="287"/>
          </p14:sldIdLst>
        </p14:section>
      </p14:sectionLst>
    </p:ext>
    <p:ext uri="{EFAFB233-063F-42B5-8137-9DF3F51BA10A}">
      <p15:sldGuideLst xmlns:p15="http://schemas.microsoft.com/office/powerpoint/2012/main">
        <p15:guide id="1" orient="horz" pos="2183" userDrawn="1">
          <p15:clr>
            <a:srgbClr val="A4A3A4"/>
          </p15:clr>
        </p15:guide>
        <p15:guide id="2" pos="386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9976" autoAdjust="0"/>
  </p:normalViewPr>
  <p:slideViewPr>
    <p:cSldViewPr snapToGrid="0" showGuides="1">
      <p:cViewPr varScale="1">
        <p:scale>
          <a:sx n="65" d="100"/>
          <a:sy n="65" d="100"/>
        </p:scale>
        <p:origin x="2268" y="288"/>
      </p:cViewPr>
      <p:guideLst>
        <p:guide orient="horz" pos="2183"/>
        <p:guide pos="3863"/>
      </p:guideLst>
    </p:cSldViewPr>
  </p:slideViewPr>
  <p:outlineViewPr>
    <p:cViewPr>
      <p:scale>
        <a:sx n="33" d="100"/>
        <a:sy n="33" d="100"/>
      </p:scale>
      <p:origin x="0" y="-10110"/>
    </p:cViewPr>
  </p:outlineViewPr>
  <p:notesTextViewPr>
    <p:cViewPr>
      <p:scale>
        <a:sx n="125" d="100"/>
        <a:sy n="125" d="100"/>
      </p:scale>
      <p:origin x="0" y="0"/>
    </p:cViewPr>
  </p:notesTextViewPr>
  <p:notesViewPr>
    <p:cSldViewPr snapToGrid="0" showGuides="1">
      <p:cViewPr varScale="1">
        <p:scale>
          <a:sx n="81" d="100"/>
          <a:sy n="81" d="100"/>
        </p:scale>
        <p:origin x="389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3EAEEE-54E9-4194-892E-4E021D5863A8}" type="datetimeFigureOut">
              <a:rPr lang="en-US" smtClean="0"/>
              <a:t>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AFB55F-6A40-4B48-8E84-03104FFED202}" type="slidenum">
              <a:rPr lang="en-US" smtClean="0"/>
              <a:t>‹#›</a:t>
            </a:fld>
            <a:endParaRPr lang="en-US" dirty="0"/>
          </a:p>
        </p:txBody>
      </p:sp>
    </p:spTree>
    <p:extLst>
      <p:ext uri="{BB962C8B-B14F-4D97-AF65-F5344CB8AC3E}">
        <p14:creationId xmlns:p14="http://schemas.microsoft.com/office/powerpoint/2010/main" val="1568808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Параллельное программирование — это область, где можно получить кратный выигрыш в производительности, а можно создать систему с редкими и крайне дорогими ошибками. Здесь почти нет «безопасных» приёмов: каждое решение влияет на корректность, масштабируемость и поведение программы под нагрузкой.</a:t>
            </a:r>
          </a:p>
          <a:p>
            <a:endParaRPr lang="ru-RU" dirty="0"/>
          </a:p>
          <a:p>
            <a:r>
              <a:rPr lang="ru-RU" dirty="0"/>
              <a:t>Эта вводная лекция задаёт основу всего курса. Мы разберём разницу между конкурентностью и параллелизмом, увидим, почему увеличение числа потоков не гарантирует ускорения, и поймём фундаментальные ограничения параллельных программ через Закон Амдала. </a:t>
            </a:r>
            <a:endParaRPr lang="en-US" dirty="0"/>
          </a:p>
          <a:p>
            <a:endParaRPr lang="ru-RU" dirty="0"/>
          </a:p>
          <a:p>
            <a:r>
              <a:rPr lang="ru-RU" dirty="0"/>
              <a:t>Относитесь к курсу как к инженерной дисциплине. Здесь важно не «делать параллельно», а понимать, зачем, где предел ускорения и какова цена ошибок. Если вы внимательно пройдёте эту лекцию, дальнейший материал станет намного понятнее и полезнее.</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1</a:t>
            </a:fld>
            <a:endParaRPr lang="en-US" dirty="0"/>
          </a:p>
        </p:txBody>
      </p:sp>
    </p:spTree>
    <p:extLst>
      <p:ext uri="{BB962C8B-B14F-4D97-AF65-F5344CB8AC3E}">
        <p14:creationId xmlns:p14="http://schemas.microsoft.com/office/powerpoint/2010/main" val="669653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Начнём с важного: конкурентность — это </a:t>
            </a:r>
            <a:r>
              <a:rPr lang="ru-RU" b="1" dirty="0"/>
              <a:t>не про скорость и не про ядра процессора</a:t>
            </a:r>
            <a:r>
              <a:rPr lang="ru-RU" dirty="0"/>
              <a:t>. Это про то, </a:t>
            </a:r>
            <a:r>
              <a:rPr lang="ru-RU" b="1" dirty="0"/>
              <a:t>как мы организуем программу</a:t>
            </a:r>
            <a:r>
              <a:rPr lang="ru-RU" dirty="0"/>
              <a:t>.</a:t>
            </a:r>
          </a:p>
          <a:p>
            <a:endParaRPr lang="ru-RU" dirty="0"/>
          </a:p>
          <a:p>
            <a:r>
              <a:rPr lang="ru-RU" dirty="0"/>
              <a:t>В повседневной речи мы часто говорим: «делать несколько вещей одновременно». Но в программировании это определение слишком размыто и вводит в заблуждение.</a:t>
            </a:r>
          </a:p>
          <a:p>
            <a:r>
              <a:rPr lang="ru-RU" b="1" dirty="0"/>
              <a:t>Конкурентность означает</a:t>
            </a:r>
            <a:r>
              <a:rPr lang="ru-RU" dirty="0"/>
              <a:t>, что в системе есть несколько задач, которые </a:t>
            </a:r>
            <a:r>
              <a:rPr lang="ru-RU" i="1" dirty="0"/>
              <a:t>находятся в процессе выполнения</a:t>
            </a:r>
            <a:r>
              <a:rPr lang="ru-RU" dirty="0"/>
              <a:t> и </a:t>
            </a:r>
            <a:r>
              <a:rPr lang="ru-RU" i="1" dirty="0"/>
              <a:t>могут продвигаться независимо друг от друга</a:t>
            </a:r>
            <a:r>
              <a:rPr lang="ru-RU" dirty="0"/>
              <a:t>.</a:t>
            </a:r>
          </a:p>
          <a:p>
            <a:endParaRPr lang="ru-RU" dirty="0"/>
          </a:p>
          <a:p>
            <a:r>
              <a:rPr lang="ru-RU" dirty="0"/>
              <a:t>Обратите внимание на формулировку: я не говорю, что они выполняются одновременно.</a:t>
            </a:r>
          </a:p>
          <a:p>
            <a:br>
              <a:rPr lang="ru-RU" dirty="0"/>
            </a:br>
            <a:r>
              <a:rPr lang="ru-RU" dirty="0"/>
              <a:t>Я говорю — </a:t>
            </a:r>
            <a:r>
              <a:rPr lang="ru-RU" b="1" dirty="0"/>
              <a:t>пересекаются по времени</a:t>
            </a:r>
            <a:r>
              <a:rPr lang="ru-RU" dirty="0"/>
              <a:t>. Например, поток пользовательского интерфейса может реагировать на нажатия кнопок, пока в фоне идёт загрузка данных из сети.</a:t>
            </a:r>
            <a:br>
              <a:rPr lang="ru-RU" dirty="0"/>
            </a:br>
            <a:r>
              <a:rPr lang="ru-RU" dirty="0"/>
              <a:t>Даже если у компьютера одно ядро, система может быстро переключаться между этими задачами, и обе будут «двигаться вперёд».</a:t>
            </a:r>
          </a:p>
          <a:p>
            <a:endParaRPr lang="ru-RU" dirty="0"/>
          </a:p>
          <a:p>
            <a:r>
              <a:rPr lang="ru-RU" dirty="0"/>
              <a:t>Это и есть конкурентность: </a:t>
            </a:r>
            <a:r>
              <a:rPr lang="ru-RU" b="1" dirty="0"/>
              <a:t>несколько логических потоков управления</a:t>
            </a:r>
            <a:r>
              <a:rPr lang="ru-RU" dirty="0"/>
              <a:t>, каждый со своей ответственностью.</a:t>
            </a:r>
          </a:p>
          <a:p>
            <a:endParaRPr lang="ru-RU" dirty="0"/>
          </a:p>
          <a:p>
            <a:r>
              <a:rPr lang="ru-RU" dirty="0"/>
              <a:t>Важно запомнить ключевую мысль: конкурентность — это </a:t>
            </a:r>
            <a:r>
              <a:rPr lang="ru-RU" b="1" dirty="0"/>
              <a:t>архитектурное свойство программы</a:t>
            </a:r>
            <a:r>
              <a:rPr lang="ru-RU" dirty="0"/>
              <a:t>, а не характеристика аппаратного обеспечения.</a:t>
            </a:r>
          </a:p>
          <a:p>
            <a:r>
              <a:rPr lang="ru-RU" dirty="0"/>
              <a:t>Чуть позже мы увидим, что конкурентная программа </a:t>
            </a:r>
            <a:r>
              <a:rPr lang="ru-RU" i="1" dirty="0"/>
              <a:t>может</a:t>
            </a:r>
            <a:r>
              <a:rPr lang="ru-RU" dirty="0"/>
              <a:t> стать параллельной, если железо позволяет, но может оставаться конкурентной даже на одном ядре.</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2</a:t>
            </a:fld>
            <a:endParaRPr lang="en-US" dirty="0"/>
          </a:p>
        </p:txBody>
      </p:sp>
    </p:spTree>
    <p:extLst>
      <p:ext uri="{BB962C8B-B14F-4D97-AF65-F5344CB8AC3E}">
        <p14:creationId xmlns:p14="http://schemas.microsoft.com/office/powerpoint/2010/main" val="2584416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Теперь давайте поговорим о параллелизме — и сразу противопоставим его конкурентности.</a:t>
            </a:r>
            <a:r>
              <a:rPr lang="en-US" dirty="0"/>
              <a:t> </a:t>
            </a:r>
            <a:r>
              <a:rPr lang="ru-RU" b="1" dirty="0"/>
              <a:t>Параллелизм — это уже не про структуру программы, а про исполнение.</a:t>
            </a:r>
            <a:br>
              <a:rPr lang="ru-RU" dirty="0"/>
            </a:br>
            <a:r>
              <a:rPr lang="ru-RU" dirty="0"/>
              <a:t>Здесь действительно происходит </a:t>
            </a:r>
            <a:r>
              <a:rPr lang="ru-RU" i="1" dirty="0"/>
              <a:t>одновременное</a:t>
            </a:r>
            <a:r>
              <a:rPr lang="ru-RU" dirty="0"/>
              <a:t> выполнение вычислений.</a:t>
            </a:r>
            <a:r>
              <a:rPr lang="en-US" dirty="0"/>
              <a:t> </a:t>
            </a:r>
            <a:r>
              <a:rPr lang="ru-RU" dirty="0"/>
              <a:t>Чтобы параллелизм был возможен,</a:t>
            </a:r>
            <a:r>
              <a:rPr lang="en-US" dirty="0"/>
              <a:t> </a:t>
            </a:r>
            <a:r>
              <a:rPr lang="ru-RU" dirty="0"/>
              <a:t>системе нужны </a:t>
            </a:r>
            <a:r>
              <a:rPr lang="ru-RU" b="1" dirty="0"/>
              <a:t>несколько вычислительных ресурсов</a:t>
            </a:r>
            <a:r>
              <a:rPr lang="ru-RU" dirty="0"/>
              <a:t>:</a:t>
            </a:r>
            <a:r>
              <a:rPr lang="en-US" dirty="0"/>
              <a:t> </a:t>
            </a:r>
            <a:r>
              <a:rPr lang="ru-RU" dirty="0"/>
              <a:t>несколько ядер CPU, векторные блоки, или тысячи потоковых процессоров на GPU.</a:t>
            </a:r>
            <a:endParaRPr lang="en-US" dirty="0"/>
          </a:p>
          <a:p>
            <a:endParaRPr lang="ru-RU" dirty="0"/>
          </a:p>
          <a:p>
            <a:r>
              <a:rPr lang="ru-RU" dirty="0"/>
              <a:t>Например, если два потока выполняются на двух разных ядрах процессора,</a:t>
            </a:r>
            <a:r>
              <a:rPr lang="en-US" dirty="0"/>
              <a:t> </a:t>
            </a:r>
            <a:r>
              <a:rPr lang="ru-RU" dirty="0"/>
              <a:t>это параллелизм — они работают одновременно, а не по очереди.</a:t>
            </a:r>
            <a:r>
              <a:rPr lang="en-US" dirty="0"/>
              <a:t> </a:t>
            </a:r>
            <a:r>
              <a:rPr lang="ru-RU" dirty="0"/>
              <a:t>SIMD-инструкции и GPU — это тоже формы параллелизма,</a:t>
            </a:r>
            <a:r>
              <a:rPr lang="en-US" dirty="0"/>
              <a:t> </a:t>
            </a:r>
            <a:r>
              <a:rPr lang="ru-RU" dirty="0"/>
              <a:t>но уже на уровне </a:t>
            </a:r>
            <a:r>
              <a:rPr lang="ru-RU" dirty="0" err="1"/>
              <a:t>данных:одна</a:t>
            </a:r>
            <a:r>
              <a:rPr lang="ru-RU" dirty="0"/>
              <a:t> и та же операция применяется сразу к множеству элементов.</a:t>
            </a:r>
            <a:endParaRPr lang="en-US" dirty="0"/>
          </a:p>
          <a:p>
            <a:endParaRPr lang="ru-RU" dirty="0"/>
          </a:p>
          <a:p>
            <a:r>
              <a:rPr lang="ru-RU" dirty="0"/>
              <a:t>В отличие от конкурентности,</a:t>
            </a:r>
            <a:r>
              <a:rPr lang="en-US" dirty="0"/>
              <a:t> </a:t>
            </a:r>
            <a:r>
              <a:rPr lang="ru-RU" b="1" dirty="0"/>
              <a:t>параллелизм почти всегда преследует одну цель — ускорение вычислений</a:t>
            </a:r>
            <a:r>
              <a:rPr lang="ru-RU" dirty="0"/>
              <a:t>.</a:t>
            </a:r>
          </a:p>
          <a:p>
            <a:endParaRPr lang="en-US" dirty="0"/>
          </a:p>
          <a:p>
            <a:r>
              <a:rPr lang="ru-RU" dirty="0"/>
              <a:t>Важно понимать ключевую разницу:</a:t>
            </a:r>
            <a:r>
              <a:rPr lang="en-US" dirty="0"/>
              <a:t> </a:t>
            </a:r>
            <a:r>
              <a:rPr lang="ru-RU" dirty="0"/>
              <a:t>программа может быть конкурентной, но не параллельной</a:t>
            </a:r>
            <a:r>
              <a:rPr lang="en-US" dirty="0"/>
              <a:t> </a:t>
            </a:r>
            <a:r>
              <a:rPr lang="ru-RU" dirty="0"/>
              <a:t>— например, на одноядерном процессоре.</a:t>
            </a:r>
          </a:p>
          <a:p>
            <a:endParaRPr lang="en-US" dirty="0"/>
          </a:p>
          <a:p>
            <a:r>
              <a:rPr lang="ru-RU" dirty="0"/>
              <a:t>И наоборот, параллелизм обычно реализуется </a:t>
            </a:r>
            <a:r>
              <a:rPr lang="ru-RU" i="1" dirty="0"/>
              <a:t>поверх</a:t>
            </a:r>
            <a:r>
              <a:rPr lang="ru-RU" dirty="0"/>
              <a:t> конкурентной структуры программы.</a:t>
            </a:r>
            <a:r>
              <a:rPr lang="en-US" dirty="0"/>
              <a:t> </a:t>
            </a:r>
            <a:r>
              <a:rPr lang="ru-RU" dirty="0"/>
              <a:t>Эту разницу мы дальше будем постоянно использовать,</a:t>
            </a:r>
            <a:r>
              <a:rPr lang="en-US" dirty="0"/>
              <a:t> </a:t>
            </a:r>
            <a:r>
              <a:rPr lang="ru-RU" dirty="0"/>
              <a:t>поэтому важно её чётко зафиксировать уже сейчас.</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3</a:t>
            </a:fld>
            <a:endParaRPr lang="en-US" dirty="0"/>
          </a:p>
        </p:txBody>
      </p:sp>
    </p:spTree>
    <p:extLst>
      <p:ext uri="{BB962C8B-B14F-4D97-AF65-F5344CB8AC3E}">
        <p14:creationId xmlns:p14="http://schemas.microsoft.com/office/powerpoint/2010/main" val="40703014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1AFB55F-6A40-4B48-8E84-03104FFED202}" type="slidenum">
              <a:rPr lang="en-US" smtClean="0"/>
              <a:t>4</a:t>
            </a:fld>
            <a:endParaRPr lang="en-US" dirty="0"/>
          </a:p>
        </p:txBody>
      </p:sp>
    </p:spTree>
    <p:extLst>
      <p:ext uri="{BB962C8B-B14F-4D97-AF65-F5344CB8AC3E}">
        <p14:creationId xmlns:p14="http://schemas.microsoft.com/office/powerpoint/2010/main" val="205553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Начнём с главного: </a:t>
            </a:r>
            <a:r>
              <a:rPr lang="ru-RU" b="1" dirty="0"/>
              <a:t>конкурентность и параллелизм — это разные измерения</a:t>
            </a:r>
            <a:r>
              <a:rPr lang="ru-RU" dirty="0"/>
              <a:t>.</a:t>
            </a:r>
          </a:p>
          <a:p>
            <a:r>
              <a:rPr lang="ru-RU" b="1" dirty="0"/>
              <a:t>Конкурентность</a:t>
            </a:r>
            <a:r>
              <a:rPr lang="ru-RU" dirty="0"/>
              <a:t> — это про то, </a:t>
            </a:r>
            <a:r>
              <a:rPr lang="ru-RU" i="1" dirty="0"/>
              <a:t>как мы проектируем программу</a:t>
            </a:r>
            <a:r>
              <a:rPr lang="ru-RU" dirty="0"/>
              <a:t>. Мы разбиваем систему на несколько логических задач, каждая из которых может выполняться независимо от других. При этом конкурентная программа </a:t>
            </a:r>
            <a:r>
              <a:rPr lang="ru-RU" b="1" dirty="0"/>
              <a:t>не обязана</a:t>
            </a:r>
            <a:r>
              <a:rPr lang="ru-RU" dirty="0"/>
              <a:t> выполняться одновременно. Даже на одноядерном процессоре задачи могут чередоваться, но логически оставаться независимыми.</a:t>
            </a:r>
          </a:p>
          <a:p>
            <a:endParaRPr lang="ru-RU" dirty="0"/>
          </a:p>
          <a:p>
            <a:r>
              <a:rPr lang="ru-RU" b="1" dirty="0"/>
              <a:t>Параллелизм</a:t>
            </a:r>
            <a:r>
              <a:rPr lang="ru-RU" dirty="0"/>
              <a:t>, в отличие от этого, — это про </a:t>
            </a:r>
            <a:r>
              <a:rPr lang="ru-RU" i="1" dirty="0"/>
              <a:t>физическое исполнение</a:t>
            </a:r>
            <a:r>
              <a:rPr lang="ru-RU" dirty="0"/>
              <a:t>. Здесь действительно есть несколько вычислительных ресурсов, и вычисления происходят одновременно.</a:t>
            </a:r>
          </a:p>
          <a:p>
            <a:endParaRPr lang="ru-RU" dirty="0"/>
          </a:p>
          <a:p>
            <a:r>
              <a:rPr lang="ru-RU" dirty="0"/>
              <a:t>Обратите внимание на строки «Одновременность» и «Аппаратная поддержка». Для параллелизма она обязательна. Для конкурентности — нет. Именно поэтому говорят, что: </a:t>
            </a:r>
            <a:r>
              <a:rPr lang="ru-RU" i="1" dirty="0"/>
              <a:t>конкурентность — это архитектурное решение</a:t>
            </a:r>
            <a:r>
              <a:rPr lang="ru-RU" dirty="0"/>
              <a:t>, а </a:t>
            </a:r>
            <a:r>
              <a:rPr lang="ru-RU" i="1" dirty="0"/>
              <a:t>параллелизм — это оптимизация исполнения</a:t>
            </a:r>
            <a:r>
              <a:rPr lang="ru-RU" dirty="0"/>
              <a:t>.</a:t>
            </a:r>
          </a:p>
          <a:p>
            <a:endParaRPr lang="ru-RU" dirty="0"/>
          </a:p>
          <a:p>
            <a:r>
              <a:rPr lang="ru-RU" dirty="0"/>
              <a:t>И очень важная мысль напоследок: </a:t>
            </a:r>
            <a:r>
              <a:rPr lang="ru-RU" b="1" dirty="0"/>
              <a:t>параллелизм почти всегда строится поверх конкурентной структуры</a:t>
            </a:r>
            <a:r>
              <a:rPr lang="ru-RU" dirty="0"/>
              <a:t>, но конкурентная программа может существовать и без параллелизма.</a:t>
            </a:r>
          </a:p>
          <a:p>
            <a:endParaRPr lang="ru-RU" dirty="0"/>
          </a:p>
          <a:p>
            <a:r>
              <a:rPr lang="ru-RU" dirty="0"/>
              <a:t>В следующих слайдах мы будем постоянно возвращаться к этому различию — когда будем говорить о потоках, процессах, SIMD и GPU.</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5</a:t>
            </a:fld>
            <a:endParaRPr lang="en-US" dirty="0"/>
          </a:p>
        </p:txBody>
      </p:sp>
    </p:spTree>
    <p:extLst>
      <p:ext uri="{BB962C8B-B14F-4D97-AF65-F5344CB8AC3E}">
        <p14:creationId xmlns:p14="http://schemas.microsoft.com/office/powerpoint/2010/main" val="320414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показана разница между </a:t>
            </a:r>
            <a:r>
              <a:rPr lang="ru-RU" b="1" dirty="0"/>
              <a:t>последовательным</a:t>
            </a:r>
            <a:r>
              <a:rPr lang="ru-RU" dirty="0"/>
              <a:t>, </a:t>
            </a:r>
            <a:r>
              <a:rPr lang="ru-RU" b="1" dirty="0"/>
              <a:t>конкурентным</a:t>
            </a:r>
            <a:r>
              <a:rPr lang="ru-RU" dirty="0"/>
              <a:t> и </a:t>
            </a:r>
            <a:r>
              <a:rPr lang="ru-RU" b="1" dirty="0"/>
              <a:t>параллельным</a:t>
            </a:r>
            <a:r>
              <a:rPr lang="ru-RU" dirty="0"/>
              <a:t> выполнением задач — на простом примере двух задач: синяя и оранжевая.</a:t>
            </a:r>
          </a:p>
          <a:p>
            <a:endParaRPr lang="ru-RU" dirty="0"/>
          </a:p>
          <a:p>
            <a:r>
              <a:rPr lang="ru-RU" dirty="0"/>
              <a:t>Сверху — </a:t>
            </a:r>
            <a:r>
              <a:rPr lang="ru-RU" b="1" dirty="0"/>
              <a:t>последовательное выполнение</a:t>
            </a:r>
            <a:r>
              <a:rPr lang="ru-RU" dirty="0"/>
              <a:t>.</a:t>
            </a:r>
            <a:br>
              <a:rPr lang="ru-RU" dirty="0"/>
            </a:br>
            <a:r>
              <a:rPr lang="ru-RU" dirty="0"/>
              <a:t>Сначала полностью выполняется первая задача, и только после её завершения начинается вторая.</a:t>
            </a:r>
            <a:br>
              <a:rPr lang="ru-RU" dirty="0"/>
            </a:br>
            <a:r>
              <a:rPr lang="ru-RU" dirty="0"/>
              <a:t>То есть задачи вообще не пересекаются по времени: пока первая не закончилась, вторая не продвигается.</a:t>
            </a:r>
          </a:p>
          <a:p>
            <a:endParaRPr lang="ru-RU" dirty="0"/>
          </a:p>
          <a:p>
            <a:r>
              <a:rPr lang="ru-RU" dirty="0"/>
              <a:t>Посередине — </a:t>
            </a:r>
            <a:r>
              <a:rPr lang="ru-RU" b="1" dirty="0"/>
              <a:t>конкурентное выполнение на одноядерном компьютере</a:t>
            </a:r>
            <a:r>
              <a:rPr lang="ru-RU" dirty="0"/>
              <a:t>.</a:t>
            </a:r>
            <a:br>
              <a:rPr lang="ru-RU" dirty="0"/>
            </a:br>
            <a:r>
              <a:rPr lang="ru-RU" dirty="0"/>
              <a:t>Здесь физически процессор всё равно один, поэтому одновременно выполнять две задачи он не может.</a:t>
            </a:r>
            <a:br>
              <a:rPr lang="ru-RU" dirty="0"/>
            </a:br>
            <a:r>
              <a:rPr lang="ru-RU" dirty="0"/>
              <a:t>Но система быстро переключается между ними маленькими кусочками: немного синей задачи, потом немного оранжевой, потом снова синей и так далее.</a:t>
            </a:r>
            <a:br>
              <a:rPr lang="ru-RU" dirty="0"/>
            </a:br>
            <a:r>
              <a:rPr lang="ru-RU" dirty="0"/>
              <a:t>Из-за этого обе задачи </a:t>
            </a:r>
            <a:r>
              <a:rPr lang="ru-RU" b="1" dirty="0"/>
              <a:t>продвигаются вперёд в одном временном промежутке</a:t>
            </a:r>
            <a:r>
              <a:rPr lang="ru-RU" dirty="0"/>
              <a:t>, и пользователю может казаться, что они выполняются «параллельно», хотя на самом деле это чередование.</a:t>
            </a:r>
          </a:p>
          <a:p>
            <a:endParaRPr lang="ru-RU" dirty="0"/>
          </a:p>
          <a:p>
            <a:r>
              <a:rPr lang="ru-RU" dirty="0"/>
              <a:t>Снизу — </a:t>
            </a:r>
            <a:r>
              <a:rPr lang="ru-RU" b="1" dirty="0"/>
              <a:t>параллельное выполнение на двухъядерном компьютере</a:t>
            </a:r>
            <a:r>
              <a:rPr lang="ru-RU" dirty="0"/>
              <a:t>. Тут уже есть два вычислительных ресурса: ядро №1 и ядро №2. Поэтому синяя задача может выполняться на одном ядре, а оранжевая — на другом, </a:t>
            </a:r>
            <a:r>
              <a:rPr lang="ru-RU" b="1" dirty="0"/>
              <a:t>реально одновременно</a:t>
            </a:r>
            <a:r>
              <a:rPr lang="ru-RU" dirty="0"/>
              <a:t>, без постоянного переключения.</a:t>
            </a:r>
          </a:p>
          <a:p>
            <a:endParaRPr lang="ru-RU" dirty="0"/>
          </a:p>
          <a:p>
            <a:r>
              <a:rPr lang="ru-RU" dirty="0"/>
              <a:t>Итого:</a:t>
            </a:r>
          </a:p>
          <a:p>
            <a:pPr marL="171450" indent="-171450">
              <a:buFont typeface="Arial" panose="020B0604020202020204" pitchFamily="34" charset="0"/>
              <a:buChar char="•"/>
            </a:pPr>
            <a:r>
              <a:rPr lang="ru-RU" dirty="0"/>
              <a:t>Последовательное выполнение — одна задача за другой,</a:t>
            </a:r>
          </a:p>
          <a:p>
            <a:pPr marL="171450" indent="-171450">
              <a:buFont typeface="Arial" panose="020B0604020202020204" pitchFamily="34" charset="0"/>
              <a:buChar char="•"/>
            </a:pPr>
            <a:r>
              <a:rPr lang="ru-RU" dirty="0"/>
              <a:t>конкурентность — задачи чередуются и пересекаются по времени, даже на одном ядре,</a:t>
            </a:r>
          </a:p>
          <a:p>
            <a:pPr marL="171450" indent="-171450">
              <a:buFont typeface="Arial" panose="020B0604020202020204" pitchFamily="34" charset="0"/>
              <a:buChar char="•"/>
            </a:pPr>
            <a:r>
              <a:rPr lang="ru-RU" dirty="0"/>
              <a:t>параллелизм — задачи действительно выполняются одновременно, когда есть несколько ядер.</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6</a:t>
            </a:fld>
            <a:endParaRPr lang="en-US" dirty="0"/>
          </a:p>
        </p:txBody>
      </p:sp>
    </p:spTree>
    <p:extLst>
      <p:ext uri="{BB962C8B-B14F-4D97-AF65-F5344CB8AC3E}">
        <p14:creationId xmlns:p14="http://schemas.microsoft.com/office/powerpoint/2010/main" val="2014202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показано, как </a:t>
            </a:r>
            <a:r>
              <a:rPr lang="ru-RU" b="1" dirty="0"/>
              <a:t>конкурентность и параллелизм работают вместе</a:t>
            </a:r>
            <a:r>
              <a:rPr lang="ru-RU" dirty="0"/>
              <a:t> в реальной системе.</a:t>
            </a:r>
          </a:p>
          <a:p>
            <a:r>
              <a:rPr lang="ru-RU" dirty="0"/>
              <a:t>У нас есть многоядерный компьютер — в данном случае два ядра.</a:t>
            </a:r>
          </a:p>
          <a:p>
            <a:endParaRPr lang="ru-RU" dirty="0"/>
          </a:p>
          <a:p>
            <a:r>
              <a:rPr lang="ru-RU" dirty="0"/>
              <a:t>Прямоугольники разных цветов — это </a:t>
            </a:r>
            <a:r>
              <a:rPr lang="ru-RU" b="1" dirty="0"/>
              <a:t>разные задачи</a:t>
            </a:r>
            <a:r>
              <a:rPr lang="ru-RU" dirty="0"/>
              <a:t>. Каждая задача — это отдельный логический поток выполнения: например, обработка запроса, часть вычислений или фоновая операция.</a:t>
            </a:r>
          </a:p>
          <a:p>
            <a:endParaRPr lang="ru-RU" dirty="0"/>
          </a:p>
          <a:p>
            <a:r>
              <a:rPr lang="ru-RU" dirty="0"/>
              <a:t>Обратите внимание на два важных момента.</a:t>
            </a:r>
          </a:p>
          <a:p>
            <a:r>
              <a:rPr lang="ru-RU" b="1" dirty="0"/>
              <a:t>Во-первых, параллелизм. </a:t>
            </a:r>
            <a:r>
              <a:rPr lang="ru-RU" dirty="0"/>
              <a:t>Мы видим, что в один и тот же момент времени на ядре №1 и на ядре №2 выполняются разные задачи. Это и есть физическое одновременное выполнение — параллелизм, который даёт прирост производительности.</a:t>
            </a:r>
          </a:p>
          <a:p>
            <a:endParaRPr lang="ru-RU" b="1" dirty="0"/>
          </a:p>
          <a:p>
            <a:r>
              <a:rPr lang="ru-RU" b="1" dirty="0"/>
              <a:t>Во-вторых, конкурентность. </a:t>
            </a:r>
            <a:r>
              <a:rPr lang="ru-RU" dirty="0"/>
              <a:t>На каждом ядре задачи не выполняются целиком от начала до конца.</a:t>
            </a:r>
            <a:br>
              <a:rPr lang="ru-RU" dirty="0"/>
            </a:br>
            <a:r>
              <a:rPr lang="ru-RU" dirty="0"/>
              <a:t>Они чередуются: система выполняет кусочек одной задачи, затем переключается на другую, потом возвращается обратно.</a:t>
            </a:r>
          </a:p>
          <a:p>
            <a:br>
              <a:rPr lang="ru-RU" dirty="0"/>
            </a:br>
            <a:r>
              <a:rPr lang="ru-RU" dirty="0"/>
              <a:t>Это переключение — проявление конкурентности. Таким образом, каждая отдельная задача может продвигаться вперёд </a:t>
            </a:r>
            <a:r>
              <a:rPr lang="ru-RU" i="1" dirty="0"/>
              <a:t>независимо от остальных</a:t>
            </a:r>
            <a:r>
              <a:rPr lang="ru-RU" dirty="0"/>
              <a:t>, даже если в конкретный момент она не выполняется.</a:t>
            </a:r>
          </a:p>
          <a:p>
            <a:endParaRPr lang="ru-RU" dirty="0"/>
          </a:p>
          <a:p>
            <a:r>
              <a:rPr lang="ru-RU" dirty="0"/>
              <a:t>Очень важно понять: </a:t>
            </a:r>
            <a:r>
              <a:rPr lang="ru-RU" b="1" dirty="0"/>
              <a:t>параллелизм отвечает за использование нескольких ядер</a:t>
            </a:r>
            <a:r>
              <a:rPr lang="ru-RU" dirty="0"/>
              <a:t>, а </a:t>
            </a:r>
            <a:r>
              <a:rPr lang="ru-RU" b="1" dirty="0"/>
              <a:t>конкурентность — за организацию множества задач</a:t>
            </a:r>
            <a:r>
              <a:rPr lang="ru-RU" dirty="0"/>
              <a:t>.</a:t>
            </a:r>
          </a:p>
          <a:p>
            <a:endParaRPr lang="ru-RU" dirty="0"/>
          </a:p>
          <a:p>
            <a:r>
              <a:rPr lang="ru-RU" dirty="0"/>
              <a:t>В современных системах почти всегда используется их комбинация: много конкурентных задач и ограниченное число ядер, между которыми планировщик распределяет выполнение.</a:t>
            </a:r>
          </a:p>
          <a:p>
            <a:endParaRPr lang="ru-RU" dirty="0"/>
          </a:p>
          <a:p>
            <a:r>
              <a:rPr lang="ru-RU" dirty="0"/>
              <a:t>Именно поэтому мы не можем просто создать «по потоку на задачу» и ожидать линейного ускорения.</a:t>
            </a:r>
            <a:br>
              <a:rPr lang="ru-RU" dirty="0"/>
            </a:br>
            <a:r>
              <a:rPr lang="ru-RU" dirty="0"/>
              <a:t>Конкурентность помогает управлять сложностью, а параллелизм — извлекать производительность из железа.</a:t>
            </a:r>
          </a:p>
          <a:p>
            <a:r>
              <a:rPr lang="ru-RU" dirty="0"/>
              <a:t>Дальше мы будем рассматривать, </a:t>
            </a:r>
            <a:r>
              <a:rPr lang="ru-RU" b="1" dirty="0"/>
              <a:t>какими средствами операционная система и языки программирования</a:t>
            </a:r>
            <a:br>
              <a:rPr lang="ru-RU" dirty="0"/>
            </a:br>
            <a:r>
              <a:rPr lang="ru-RU" dirty="0"/>
              <a:t>позволяют управлять этой комбинацией.</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7</a:t>
            </a:fld>
            <a:endParaRPr lang="en-US" dirty="0"/>
          </a:p>
        </p:txBody>
      </p:sp>
    </p:spTree>
    <p:extLst>
      <p:ext uri="{BB962C8B-B14F-4D97-AF65-F5344CB8AC3E}">
        <p14:creationId xmlns:p14="http://schemas.microsoft.com/office/powerpoint/2010/main" val="1348137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1AFB55F-6A40-4B48-8E84-03104FFED202}" type="slidenum">
              <a:rPr lang="en-US" smtClean="0"/>
              <a:t>8</a:t>
            </a:fld>
            <a:endParaRPr lang="en-US" dirty="0"/>
          </a:p>
        </p:txBody>
      </p:sp>
    </p:spTree>
    <p:extLst>
      <p:ext uri="{BB962C8B-B14F-4D97-AF65-F5344CB8AC3E}">
        <p14:creationId xmlns:p14="http://schemas.microsoft.com/office/powerpoint/2010/main" val="37054872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показаны </a:t>
            </a:r>
            <a:r>
              <a:rPr lang="ru-RU" b="1" dirty="0"/>
              <a:t>два основных подхода к конкурентности</a:t>
            </a:r>
            <a:r>
              <a:rPr lang="ru-RU" dirty="0"/>
              <a:t> в программировании:</a:t>
            </a:r>
            <a:br>
              <a:rPr lang="ru-RU" dirty="0"/>
            </a:br>
            <a:r>
              <a:rPr lang="ru-RU" b="1" dirty="0" err="1"/>
              <a:t>многопроцессный</a:t>
            </a:r>
            <a:r>
              <a:rPr lang="ru-RU" dirty="0"/>
              <a:t> и </a:t>
            </a:r>
            <a:r>
              <a:rPr lang="ru-RU" b="1" dirty="0"/>
              <a:t>многопоточный</a:t>
            </a:r>
            <a:r>
              <a:rPr lang="ru-RU" dirty="0"/>
              <a:t>.</a:t>
            </a:r>
          </a:p>
          <a:p>
            <a:endParaRPr lang="ru-RU" dirty="0"/>
          </a:p>
          <a:p>
            <a:r>
              <a:rPr lang="ru-RU" dirty="0"/>
              <a:t>Начнём с левой части. Здесь программисты работают </a:t>
            </a:r>
            <a:r>
              <a:rPr lang="ru-RU" b="1" dirty="0"/>
              <a:t>раздельно</a:t>
            </a:r>
            <a:r>
              <a:rPr lang="ru-RU" dirty="0"/>
              <a:t>, каждый в своём пространстве.</a:t>
            </a:r>
            <a:br>
              <a:rPr lang="ru-RU" dirty="0"/>
            </a:br>
            <a:r>
              <a:rPr lang="ru-RU" dirty="0"/>
              <a:t>Это аналог </a:t>
            </a:r>
            <a:r>
              <a:rPr lang="ru-RU" b="1" dirty="0"/>
              <a:t>нескольких процессов</a:t>
            </a:r>
            <a:r>
              <a:rPr lang="ru-RU" dirty="0"/>
              <a:t>, где у каждого процесса:</a:t>
            </a:r>
            <a:br>
              <a:rPr lang="ru-RU" dirty="0"/>
            </a:br>
            <a:r>
              <a:rPr lang="ru-RU" dirty="0"/>
              <a:t>— собственное адресное пространство,</a:t>
            </a:r>
            <a:br>
              <a:rPr lang="ru-RU" dirty="0"/>
            </a:br>
            <a:r>
              <a:rPr lang="ru-RU" dirty="0"/>
              <a:t>— свои ресурсы,</a:t>
            </a:r>
            <a:br>
              <a:rPr lang="ru-RU" dirty="0"/>
            </a:br>
            <a:r>
              <a:rPr lang="ru-RU" dirty="0"/>
              <a:t>— и жёсткая изоляция от остальных.</a:t>
            </a:r>
          </a:p>
          <a:p>
            <a:endParaRPr lang="ru-RU" dirty="0"/>
          </a:p>
          <a:p>
            <a:r>
              <a:rPr lang="ru-RU" dirty="0"/>
              <a:t>Такая модель очень надёжна. Ошибка в одном процессе, как правило, не ломает другие. Но за безопасность приходится платить: общение между процессами сложное и относительно дорогое — через сокеты, каналы, сообщения, разделяемую память с синхронизацией.</a:t>
            </a:r>
          </a:p>
          <a:p>
            <a:endParaRPr lang="ru-RU" dirty="0"/>
          </a:p>
          <a:p>
            <a:r>
              <a:rPr lang="ru-RU" dirty="0"/>
              <a:t>Теперь посмотрим на правую часть. Здесь программисты работают </a:t>
            </a:r>
            <a:r>
              <a:rPr lang="ru-RU" b="1" dirty="0"/>
              <a:t>в одном офисе</a:t>
            </a:r>
            <a:r>
              <a:rPr lang="ru-RU" dirty="0"/>
              <a:t>. Это аналог </a:t>
            </a:r>
            <a:r>
              <a:rPr lang="ru-RU" b="1" dirty="0"/>
              <a:t>одного процесса с несколькими потоками</a:t>
            </a:r>
            <a:r>
              <a:rPr lang="ru-RU" dirty="0"/>
              <a:t>. Потоки выполняются в </a:t>
            </a:r>
            <a:r>
              <a:rPr lang="ru-RU" b="1" dirty="0"/>
              <a:t>общем адресном пространстве</a:t>
            </a:r>
            <a:r>
              <a:rPr lang="ru-RU" dirty="0"/>
              <a:t>, поэтому им легко и быстро обмениваться данными — можно просто передавать указатели и ссылки. Это делает многопоточность быстрой. Но появляется и обратная сторона: общая память означает, что потоки могут мешать друг другу. Ошибка в одном потоке может повредить данные других и привести к падению всего процесса.</a:t>
            </a:r>
          </a:p>
          <a:p>
            <a:endParaRPr lang="ru-RU" dirty="0"/>
          </a:p>
          <a:p>
            <a:r>
              <a:rPr lang="ru-RU" dirty="0"/>
              <a:t>Таким образом, ключевое различие между этими подходами — </a:t>
            </a:r>
            <a:r>
              <a:rPr lang="ru-RU" b="1" dirty="0"/>
              <a:t>изоляция против совместного доступа к памяти</a:t>
            </a:r>
            <a:r>
              <a:rPr lang="ru-RU" dirty="0"/>
              <a:t>. И очень важно понять: в реальных системах это </a:t>
            </a:r>
            <a:r>
              <a:rPr lang="ru-RU" b="1" dirty="0"/>
              <a:t>не выбор “или–или”</a:t>
            </a:r>
            <a:r>
              <a:rPr lang="ru-RU" dirty="0"/>
              <a:t>. Часто используются несколько процессов, и внутри каждого из них — несколько потоков.</a:t>
            </a:r>
          </a:p>
          <a:p>
            <a:endParaRPr lang="ru-RU" dirty="0"/>
          </a:p>
          <a:p>
            <a:r>
              <a:rPr lang="ru-RU" dirty="0"/>
              <a:t>В следующих слайдах мы рассмотрим эти два подхода уже без аналогий — на уровне операционной системы и программных моделей.</a:t>
            </a:r>
          </a:p>
        </p:txBody>
      </p:sp>
      <p:sp>
        <p:nvSpPr>
          <p:cNvPr id="4" name="Slide Number Placeholder 3"/>
          <p:cNvSpPr>
            <a:spLocks noGrp="1"/>
          </p:cNvSpPr>
          <p:nvPr>
            <p:ph type="sldNum" sz="quarter" idx="5"/>
          </p:nvPr>
        </p:nvSpPr>
        <p:spPr/>
        <p:txBody>
          <a:bodyPr/>
          <a:lstStyle/>
          <a:p>
            <a:fld id="{31AFB55F-6A40-4B48-8E84-03104FFED202}" type="slidenum">
              <a:rPr lang="en-US" smtClean="0"/>
              <a:t>9</a:t>
            </a:fld>
            <a:endParaRPr lang="en-US" dirty="0"/>
          </a:p>
        </p:txBody>
      </p:sp>
    </p:spTree>
    <p:extLst>
      <p:ext uri="{BB962C8B-B14F-4D97-AF65-F5344CB8AC3E}">
        <p14:creationId xmlns:p14="http://schemas.microsoft.com/office/powerpoint/2010/main" val="3934252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1AFB55F-6A40-4B48-8E84-03104FFED202}" type="slidenum">
              <a:rPr lang="en-US" smtClean="0"/>
              <a:t>10</a:t>
            </a:fld>
            <a:endParaRPr lang="en-US" dirty="0"/>
          </a:p>
        </p:txBody>
      </p:sp>
    </p:spTree>
    <p:extLst>
      <p:ext uri="{BB962C8B-B14F-4D97-AF65-F5344CB8AC3E}">
        <p14:creationId xmlns:p14="http://schemas.microsoft.com/office/powerpoint/2010/main" val="1070138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Теперь давайте рассмотрим первый из этих подходов — </a:t>
            </a:r>
            <a:r>
              <a:rPr lang="ru-RU" b="1" dirty="0" err="1"/>
              <a:t>многопроцессность</a:t>
            </a:r>
            <a:r>
              <a:rPr lang="ru-RU" dirty="0"/>
              <a:t>.</a:t>
            </a:r>
          </a:p>
          <a:p>
            <a:endParaRPr lang="ru-RU" dirty="0"/>
          </a:p>
          <a:p>
            <a:r>
              <a:rPr lang="ru-RU" dirty="0"/>
              <a:t>В </a:t>
            </a:r>
            <a:r>
              <a:rPr lang="ru-RU" dirty="0" err="1"/>
              <a:t>многопроцессной</a:t>
            </a:r>
            <a:r>
              <a:rPr lang="ru-RU" dirty="0"/>
              <a:t> модели приложение состоит из </a:t>
            </a:r>
            <a:r>
              <a:rPr lang="ru-RU" b="1" dirty="0"/>
              <a:t>нескольких процессов</a:t>
            </a:r>
            <a:r>
              <a:rPr lang="ru-RU" dirty="0"/>
              <a:t>, и ключевая особенность здесь — </a:t>
            </a:r>
            <a:r>
              <a:rPr lang="ru-RU" b="1" dirty="0"/>
              <a:t>изоляция адресных пространств</a:t>
            </a:r>
            <a:r>
              <a:rPr lang="ru-RU" dirty="0"/>
              <a:t>. Каждый процесс имеет собственную память и не может напрямую обращаться к данным другого процесса. Такая изоляция даёт важное преимущество — </a:t>
            </a:r>
            <a:r>
              <a:rPr lang="ru-RU" b="1" dirty="0"/>
              <a:t>надёжность</a:t>
            </a:r>
            <a:r>
              <a:rPr lang="ru-RU" dirty="0"/>
              <a:t>. Ошибка или сбой в одном процессе, как правило, не приводит к падению других процессов и всей системы.</a:t>
            </a:r>
          </a:p>
          <a:p>
            <a:endParaRPr lang="ru-RU" dirty="0"/>
          </a:p>
          <a:p>
            <a:r>
              <a:rPr lang="ru-RU" dirty="0"/>
              <a:t>Однако за изоляцию приходится платить. Процессы не могут просто передать друг другу указатель или ссылку.</a:t>
            </a:r>
            <a:br>
              <a:rPr lang="ru-RU" dirty="0"/>
            </a:br>
            <a:r>
              <a:rPr lang="ru-RU" dirty="0"/>
              <a:t>Для общения используются специальные механизмы </a:t>
            </a:r>
            <a:r>
              <a:rPr lang="ru-RU" dirty="0" err="1"/>
              <a:t>межпроцессного</a:t>
            </a:r>
            <a:r>
              <a:rPr lang="ru-RU" dirty="0"/>
              <a:t> взаимодействия — IPC. Это могут быть сокеты, каналы, сигналы, файлы или разделяемая память с явной синхронизацией.</a:t>
            </a:r>
          </a:p>
          <a:p>
            <a:br>
              <a:rPr lang="ru-RU" dirty="0"/>
            </a:br>
            <a:r>
              <a:rPr lang="ru-RU" dirty="0"/>
              <a:t>В любом случае такая коммуникация сложнее и медленнее, чем обмен данными между потоками.</a:t>
            </a:r>
          </a:p>
          <a:p>
            <a:r>
              <a:rPr lang="ru-RU" dirty="0"/>
              <a:t>Кроме того, создание и управление процессами требует больше ресурсов со стороны операционной системы:</a:t>
            </a:r>
            <a:br>
              <a:rPr lang="ru-RU" dirty="0"/>
            </a:br>
            <a:r>
              <a:rPr lang="ru-RU" dirty="0"/>
              <a:t>памяти, времени и участия планировщика.</a:t>
            </a:r>
          </a:p>
          <a:p>
            <a:endParaRPr lang="ru-RU" dirty="0"/>
          </a:p>
          <a:p>
            <a:r>
              <a:rPr lang="ru-RU" dirty="0"/>
              <a:t>Зато именно </a:t>
            </a:r>
            <a:r>
              <a:rPr lang="ru-RU" dirty="0" err="1"/>
              <a:t>многопроцессная</a:t>
            </a:r>
            <a:r>
              <a:rPr lang="ru-RU" dirty="0"/>
              <a:t> модель хорошо масштабируется и за пределы одной машины. Процессы могут выполняться на разных компьютерах и взаимодействовать по сети почти теми же механизмами.</a:t>
            </a:r>
          </a:p>
          <a:p>
            <a:endParaRPr lang="ru-RU" dirty="0"/>
          </a:p>
          <a:p>
            <a:r>
              <a:rPr lang="ru-RU" dirty="0"/>
              <a:t>Поэтому </a:t>
            </a:r>
            <a:r>
              <a:rPr lang="ru-RU" dirty="0" err="1"/>
              <a:t>многопроцессность</a:t>
            </a:r>
            <a:r>
              <a:rPr lang="ru-RU" dirty="0"/>
              <a:t> часто используется там, где важны безопасность, изоляция и отказоустойчивость: в серверных приложениях, браузерах, микросервисных архитектурах.</a:t>
            </a:r>
          </a:p>
          <a:p>
            <a:endParaRPr lang="ru-RU" dirty="0"/>
          </a:p>
          <a:p>
            <a:r>
              <a:rPr lang="ru-RU" dirty="0"/>
              <a:t>Далее мы рассмотрим второй подход — </a:t>
            </a:r>
            <a:r>
              <a:rPr lang="ru-RU" b="1" dirty="0"/>
              <a:t>многопоточность</a:t>
            </a:r>
            <a:r>
              <a:rPr lang="ru-RU" dirty="0"/>
              <a:t>,</a:t>
            </a:r>
            <a:br>
              <a:rPr lang="ru-RU" dirty="0"/>
            </a:br>
            <a:r>
              <a:rPr lang="ru-RU" dirty="0"/>
              <a:t>и увидим, какие преимущества он даёт и какие риски с собой приносит.</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11</a:t>
            </a:fld>
            <a:endParaRPr lang="en-US" dirty="0"/>
          </a:p>
        </p:txBody>
      </p:sp>
    </p:spTree>
    <p:extLst>
      <p:ext uri="{BB962C8B-B14F-4D97-AF65-F5344CB8AC3E}">
        <p14:creationId xmlns:p14="http://schemas.microsoft.com/office/powerpoint/2010/main" val="1343234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Теперь рассмотрим второй подход к конкурентности — </a:t>
            </a:r>
            <a:r>
              <a:rPr lang="ru-RU" b="1" dirty="0"/>
              <a:t>многопоточность</a:t>
            </a:r>
            <a:r>
              <a:rPr lang="ru-RU" dirty="0"/>
              <a:t>. В этой модели внутри </a:t>
            </a:r>
            <a:r>
              <a:rPr lang="ru-RU" b="1" dirty="0"/>
              <a:t>одного процесса</a:t>
            </a:r>
            <a:r>
              <a:rPr lang="ru-RU" dirty="0"/>
              <a:t> запускается несколько потоков. Все они выполняются конкурентно и </a:t>
            </a:r>
            <a:r>
              <a:rPr lang="ru-RU" b="1" dirty="0"/>
              <a:t>разделяют одно адресное пространство</a:t>
            </a:r>
            <a:r>
              <a:rPr lang="ru-RU" dirty="0"/>
              <a:t>. Это ключевой момент: потоки могут напрямую обращаться к одним и тем же объектам в памяти. Можно передавать указатели, ссылки, структуры данных без копирования и сложных механизмов взаимодействия.</a:t>
            </a:r>
          </a:p>
          <a:p>
            <a:endParaRPr lang="ru-RU" dirty="0"/>
          </a:p>
          <a:p>
            <a:r>
              <a:rPr lang="ru-RU" dirty="0"/>
              <a:t>Именно поэтому коммуникация между потоками очень быстрая и практически не имеет накладных расходов.</a:t>
            </a:r>
            <a:br>
              <a:rPr lang="ru-RU" dirty="0"/>
            </a:br>
            <a:r>
              <a:rPr lang="ru-RU" dirty="0"/>
              <a:t>Кроме того, создание и управление потоками обычно требует меньше ресурсов, чем работа с процессами.</a:t>
            </a:r>
          </a:p>
          <a:p>
            <a:endParaRPr lang="ru-RU" dirty="0"/>
          </a:p>
          <a:p>
            <a:r>
              <a:rPr lang="ru-RU" dirty="0"/>
              <a:t>Однако у этой медали есть и обратная сторона. Общая память означает, что потоки могут </a:t>
            </a:r>
            <a:r>
              <a:rPr lang="ru-RU" b="1" dirty="0"/>
              <a:t>вмешиваться в работу друг друга</a:t>
            </a:r>
            <a:r>
              <a:rPr lang="ru-RU" dirty="0"/>
              <a:t>. Если доступ к данным организован неправильно, возникают гонки данных, повреждение состояния и трудноуловимые ошибки, которые сложно воспроизводить и отлаживать.</a:t>
            </a:r>
          </a:p>
          <a:p>
            <a:endParaRPr lang="ru-RU" dirty="0"/>
          </a:p>
          <a:p>
            <a:r>
              <a:rPr lang="ru-RU" dirty="0"/>
              <a:t>Важно также понимать, что процесс — это единица изоляции. Если один поток внутри процесса приводит к критической ошибке, чаще всего падает </a:t>
            </a:r>
            <a:r>
              <a:rPr lang="ru-RU" b="1" dirty="0"/>
              <a:t>всё приложение целиком</a:t>
            </a:r>
            <a:r>
              <a:rPr lang="ru-RU" dirty="0"/>
              <a:t>. Поэтому многопоточность — это мощный, но опасный инструмент. Она даёт высокую производительность и гибкость, но требует аккуратного проектирования, дисциплины в работе с общей памятью и правильных механизмов синхронизации.</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12</a:t>
            </a:fld>
            <a:endParaRPr lang="en-US" dirty="0"/>
          </a:p>
        </p:txBody>
      </p:sp>
    </p:spTree>
    <p:extLst>
      <p:ext uri="{BB962C8B-B14F-4D97-AF65-F5344CB8AC3E}">
        <p14:creationId xmlns:p14="http://schemas.microsoft.com/office/powerpoint/2010/main" val="2367044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До этого момента мы говорили о параллелизме в терминах задач, потоков и ядер процессора. Теперь переходим к </a:t>
            </a:r>
            <a:r>
              <a:rPr lang="ru-RU" b="1" dirty="0"/>
              <a:t>другому виду параллелизма</a:t>
            </a:r>
            <a:r>
              <a:rPr lang="ru-RU" dirty="0"/>
              <a:t> —</a:t>
            </a:r>
            <a:br>
              <a:rPr lang="ru-RU" dirty="0"/>
            </a:br>
            <a:r>
              <a:rPr lang="ru-RU" b="1" dirty="0"/>
              <a:t>параллелизму данных</a:t>
            </a:r>
            <a:r>
              <a:rPr lang="ru-RU" dirty="0"/>
              <a:t>.</a:t>
            </a:r>
          </a:p>
          <a:p>
            <a:endParaRPr lang="ru-RU" dirty="0"/>
          </a:p>
          <a:p>
            <a:r>
              <a:rPr lang="ru-RU" b="1" dirty="0"/>
              <a:t>Векторизация</a:t>
            </a:r>
            <a:r>
              <a:rPr lang="ru-RU" dirty="0"/>
              <a:t> — это техника, при которой процессор выполняет </a:t>
            </a:r>
            <a:r>
              <a:rPr lang="ru-RU" b="1" dirty="0"/>
              <a:t>одну инструкцию</a:t>
            </a:r>
            <a:r>
              <a:rPr lang="en-US" b="1" dirty="0"/>
              <a:t> </a:t>
            </a:r>
            <a:r>
              <a:rPr lang="ru-RU" dirty="0"/>
              <a:t>сразу над </a:t>
            </a:r>
            <a:r>
              <a:rPr lang="ru-RU" b="1" dirty="0"/>
              <a:t>несколькими элементами данных</a:t>
            </a:r>
            <a:r>
              <a:rPr lang="ru-RU" dirty="0"/>
              <a:t>. Эта модель называется SIMD —</a:t>
            </a:r>
            <a:r>
              <a:rPr lang="en-US" dirty="0"/>
              <a:t> </a:t>
            </a:r>
            <a:r>
              <a:rPr lang="ru-RU" i="1" dirty="0"/>
              <a:t>Single </a:t>
            </a:r>
            <a:r>
              <a:rPr lang="ru-RU" i="1" dirty="0" err="1"/>
              <a:t>Instruction</a:t>
            </a:r>
            <a:r>
              <a:rPr lang="ru-RU" i="1" dirty="0"/>
              <a:t>, </a:t>
            </a:r>
            <a:r>
              <a:rPr lang="ru-RU" i="1" dirty="0" err="1"/>
              <a:t>Multiple</a:t>
            </a:r>
            <a:r>
              <a:rPr lang="ru-RU" i="1" dirty="0"/>
              <a:t> Data</a:t>
            </a:r>
            <a:r>
              <a:rPr lang="ru-RU" dirty="0"/>
              <a:t>. Вместо того чтобы складывать числа по одному,</a:t>
            </a:r>
            <a:r>
              <a:rPr lang="en-US" dirty="0"/>
              <a:t> </a:t>
            </a:r>
            <a:r>
              <a:rPr lang="ru-RU" dirty="0"/>
              <a:t>процессор может за один шаг сложить, например, 4, 8 или 16 чисел.</a:t>
            </a:r>
          </a:p>
          <a:p>
            <a:endParaRPr lang="ru-RU" dirty="0"/>
          </a:p>
          <a:p>
            <a:r>
              <a:rPr lang="ru-RU" dirty="0"/>
              <a:t>Для этого в современных CPU существуют </a:t>
            </a:r>
            <a:r>
              <a:rPr lang="ru-RU" b="1" dirty="0"/>
              <a:t>векторные регистры</a:t>
            </a:r>
            <a:r>
              <a:rPr lang="ru-RU" dirty="0"/>
              <a:t>. В отличие от обычных регистров, они хранят не одно значение, а целый вектор чисел.</a:t>
            </a:r>
          </a:p>
          <a:p>
            <a:r>
              <a:rPr lang="ru-RU" dirty="0"/>
              <a:t>С точки зрения программиста это выглядит как ускорение обычного цикла обработки массива, без изменения логики алгоритма.</a:t>
            </a:r>
          </a:p>
          <a:p>
            <a:endParaRPr lang="ru-RU" dirty="0"/>
          </a:p>
          <a:p>
            <a:pPr marL="0" indent="0">
              <a:buFont typeface="Arial" panose="020B0604020202020204" pitchFamily="34" charset="0"/>
              <a:buNone/>
            </a:pPr>
            <a:r>
              <a:rPr lang="ru-RU" dirty="0"/>
              <a:t>Векторизация реализована на разных архитектурах:</a:t>
            </a:r>
          </a:p>
          <a:p>
            <a:pPr marL="171450" indent="-171450">
              <a:buFont typeface="Arial" panose="020B0604020202020204" pitchFamily="34" charset="0"/>
              <a:buChar char="•"/>
            </a:pPr>
            <a:r>
              <a:rPr lang="ru-RU" dirty="0"/>
              <a:t>в x86 — через SSE и AVX,</a:t>
            </a:r>
          </a:p>
          <a:p>
            <a:pPr marL="171450" indent="-171450">
              <a:buFont typeface="Arial" panose="020B0604020202020204" pitchFamily="34" charset="0"/>
              <a:buChar char="•"/>
            </a:pPr>
            <a:r>
              <a:rPr lang="ru-RU" dirty="0"/>
              <a:t>в ARM — через NEON,</a:t>
            </a:r>
          </a:p>
          <a:p>
            <a:pPr marL="171450" indent="-171450">
              <a:buFont typeface="Arial" panose="020B0604020202020204" pitchFamily="34" charset="0"/>
              <a:buChar char="•"/>
            </a:pPr>
            <a:r>
              <a:rPr lang="ru-RU" dirty="0"/>
              <a:t>в RISC-V — через векторные расширения.</a:t>
            </a:r>
          </a:p>
          <a:p>
            <a:endParaRPr lang="ru-RU" dirty="0"/>
          </a:p>
          <a:p>
            <a:r>
              <a:rPr lang="ru-RU" dirty="0"/>
              <a:t>Важно отметить:</a:t>
            </a:r>
            <a:br>
              <a:rPr lang="ru-RU" dirty="0"/>
            </a:br>
            <a:r>
              <a:rPr lang="ru-RU" b="1" dirty="0"/>
              <a:t>SIMD — это параллелизм без конкурентности</a:t>
            </a:r>
            <a:r>
              <a:rPr lang="ru-RU" dirty="0"/>
              <a:t>. Здесь нет независимых задач,</a:t>
            </a:r>
            <a:r>
              <a:rPr lang="en-US" dirty="0"/>
              <a:t> </a:t>
            </a:r>
            <a:r>
              <a:rPr lang="ru-RU" dirty="0"/>
              <a:t>нет потоков и переключения контекста. Это чисто аппаратный параллелизм на уровне данных.</a:t>
            </a:r>
          </a:p>
          <a:p>
            <a:endParaRPr lang="ru-RU" dirty="0"/>
          </a:p>
          <a:p>
            <a:r>
              <a:rPr lang="ru-RU" dirty="0"/>
              <a:t>Использовать его можно разными способами:</a:t>
            </a:r>
            <a:br>
              <a:rPr lang="ru-RU" dirty="0"/>
            </a:br>
            <a:r>
              <a:rPr lang="ru-RU" dirty="0"/>
              <a:t>— положиться на автоматическую векторизацию компилятора,</a:t>
            </a:r>
            <a:br>
              <a:rPr lang="ru-RU" dirty="0"/>
            </a:br>
            <a:r>
              <a:rPr lang="ru-RU" dirty="0"/>
              <a:t>— явно писать SIMD-код через </a:t>
            </a:r>
            <a:r>
              <a:rPr lang="ru-RU" dirty="0" err="1"/>
              <a:t>intrinsic</a:t>
            </a:r>
            <a:r>
              <a:rPr lang="ru-RU" dirty="0"/>
              <a:t>-инструкции,</a:t>
            </a:r>
            <a:br>
              <a:rPr lang="ru-RU" dirty="0"/>
            </a:br>
            <a:r>
              <a:rPr lang="ru-RU" dirty="0"/>
              <a:t>— или в крайних случаях использовать ассемблер.</a:t>
            </a:r>
          </a:p>
          <a:p>
            <a:endParaRPr lang="ru-RU" dirty="0"/>
          </a:p>
          <a:p>
            <a:r>
              <a:rPr lang="ru-RU" dirty="0"/>
              <a:t>Дальше мы посмотрим на конкретный пример и увидим, как обычный цикл по массиву</a:t>
            </a:r>
            <a:br>
              <a:rPr lang="ru-RU" dirty="0"/>
            </a:br>
            <a:r>
              <a:rPr lang="ru-RU" dirty="0"/>
              <a:t>превращается в векторные инструкции процессора.</a:t>
            </a:r>
          </a:p>
        </p:txBody>
      </p:sp>
      <p:sp>
        <p:nvSpPr>
          <p:cNvPr id="4" name="Slide Number Placeholder 3"/>
          <p:cNvSpPr>
            <a:spLocks noGrp="1"/>
          </p:cNvSpPr>
          <p:nvPr>
            <p:ph type="sldNum" sz="quarter" idx="5"/>
          </p:nvPr>
        </p:nvSpPr>
        <p:spPr/>
        <p:txBody>
          <a:bodyPr/>
          <a:lstStyle/>
          <a:p>
            <a:fld id="{31AFB55F-6A40-4B48-8E84-03104FFED202}" type="slidenum">
              <a:rPr lang="en-US" smtClean="0"/>
              <a:t>13</a:t>
            </a:fld>
            <a:endParaRPr lang="en-US" dirty="0"/>
          </a:p>
        </p:txBody>
      </p:sp>
    </p:spTree>
    <p:extLst>
      <p:ext uri="{BB962C8B-B14F-4D97-AF65-F5344CB8AC3E}">
        <p14:creationId xmlns:p14="http://schemas.microsoft.com/office/powerpoint/2010/main" val="30031867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 </a:t>
            </a:r>
            <a:r>
              <a:rPr lang="ru-RU" b="1" dirty="0"/>
              <a:t>конкретный пример векторизации </a:t>
            </a:r>
            <a:r>
              <a:rPr lang="ru-RU" dirty="0"/>
              <a:t>на задаче сложения двух массивов целых чисел.</a:t>
            </a:r>
          </a:p>
          <a:p>
            <a:r>
              <a:rPr lang="ru-RU" dirty="0"/>
              <a:t>Внизу слева — обычный, наивный C-код. Классический цикл: на каждой итерации мы складываем </a:t>
            </a:r>
            <a:r>
              <a:rPr lang="ru-RU" b="1" dirty="0"/>
              <a:t>одну пару элементов</a:t>
            </a:r>
            <a:r>
              <a:rPr lang="ru-RU" dirty="0"/>
              <a:t> массивов. Если выполнять этот код буквально, процессор будет складывать числа </a:t>
            </a:r>
            <a:r>
              <a:rPr lang="ru-RU" b="1" dirty="0"/>
              <a:t>по одному</a:t>
            </a:r>
            <a:r>
              <a:rPr lang="ru-RU" dirty="0"/>
              <a:t>.</a:t>
            </a:r>
          </a:p>
          <a:p>
            <a:endParaRPr lang="ru-RU" dirty="0"/>
          </a:p>
          <a:p>
            <a:r>
              <a:rPr lang="ru-RU" dirty="0"/>
              <a:t>Теперь посмотрим, что происходит при векторизации. Современные процессоры x86 имеют </a:t>
            </a:r>
            <a:r>
              <a:rPr lang="ru-RU" b="1" dirty="0"/>
              <a:t>векторные регистры XMM </a:t>
            </a:r>
            <a:r>
              <a:rPr lang="ru-RU" dirty="0"/>
              <a:t>шириной </a:t>
            </a:r>
            <a:r>
              <a:rPr lang="ru-RU" b="1" dirty="0"/>
              <a:t>128 бит</a:t>
            </a:r>
            <a:r>
              <a:rPr lang="ru-RU" dirty="0"/>
              <a:t>. В один такой регистр помещается </a:t>
            </a:r>
            <a:r>
              <a:rPr lang="ru-RU" b="1" dirty="0"/>
              <a:t>четыре 32-битных целых числа</a:t>
            </a:r>
            <a:r>
              <a:rPr lang="ru-RU" dirty="0"/>
              <a:t>. На схеме сверху видно, что регистр XMM0 содержит сразу четыре элемента массива, и то же самое для XMM1 или XMM2.</a:t>
            </a:r>
          </a:p>
          <a:p>
            <a:endParaRPr lang="ru-RU" dirty="0"/>
          </a:p>
          <a:p>
            <a:r>
              <a:rPr lang="ru-RU" dirty="0"/>
              <a:t>Справа показан фрагмент ассемблерного кода, который сгенерировал компилятор.</a:t>
            </a:r>
          </a:p>
          <a:p>
            <a:pPr marL="228600" indent="-228600">
              <a:buFont typeface="+mj-lt"/>
              <a:buAutoNum type="arabicPeriod"/>
            </a:pPr>
            <a:r>
              <a:rPr lang="ru-RU" dirty="0"/>
              <a:t>Инструкция </a:t>
            </a:r>
            <a:r>
              <a:rPr lang="ru-RU" sz="1200" b="1" kern="1200" dirty="0" err="1">
                <a:solidFill>
                  <a:schemeClr val="tx1"/>
                </a:solidFill>
                <a:latin typeface="+mn-lt"/>
                <a:ea typeface="+mn-ea"/>
                <a:cs typeface="+mn-cs"/>
              </a:rPr>
              <a:t>movdqu</a:t>
            </a:r>
            <a:r>
              <a:rPr lang="ru-RU" dirty="0"/>
              <a:t> загружает </a:t>
            </a:r>
            <a:r>
              <a:rPr lang="ru-RU" b="1" dirty="0"/>
              <a:t>сразу четыре целых числа</a:t>
            </a:r>
            <a:r>
              <a:rPr lang="ru-RU" dirty="0"/>
              <a:t> из памяти в векторный регистр.</a:t>
            </a:r>
          </a:p>
          <a:p>
            <a:pPr marL="228600" indent="-228600">
              <a:buFont typeface="+mj-lt"/>
              <a:buAutoNum type="arabicPeriod"/>
            </a:pPr>
            <a:r>
              <a:rPr lang="ru-RU" dirty="0"/>
              <a:t>Затем инструкция </a:t>
            </a:r>
            <a:r>
              <a:rPr lang="ru-RU" sz="1200" b="1" kern="1200" dirty="0" err="1">
                <a:solidFill>
                  <a:schemeClr val="tx1"/>
                </a:solidFill>
                <a:latin typeface="+mn-lt"/>
                <a:ea typeface="+mn-ea"/>
                <a:cs typeface="+mn-cs"/>
              </a:rPr>
              <a:t>paddd</a:t>
            </a:r>
            <a:r>
              <a:rPr lang="ru-RU" sz="1200" b="1" kern="1200" dirty="0">
                <a:solidFill>
                  <a:schemeClr val="tx1"/>
                </a:solidFill>
                <a:latin typeface="+mn-lt"/>
                <a:ea typeface="+mn-ea"/>
                <a:cs typeface="+mn-cs"/>
              </a:rPr>
              <a:t> </a:t>
            </a:r>
            <a:r>
              <a:rPr lang="ru-RU" dirty="0"/>
              <a:t>выполняет </a:t>
            </a:r>
            <a:r>
              <a:rPr lang="ru-RU" b="1" dirty="0"/>
              <a:t>одно сложение</a:t>
            </a:r>
            <a:r>
              <a:rPr lang="ru-RU" dirty="0"/>
              <a:t>, но применяет его </a:t>
            </a:r>
            <a:r>
              <a:rPr lang="ru-RU" b="1" dirty="0"/>
              <a:t>к каждому элементу вектора</a:t>
            </a:r>
            <a:r>
              <a:rPr lang="ru-RU" dirty="0"/>
              <a:t>. То есть за одну инструкцию складываются сразу четыре пары чисел.</a:t>
            </a:r>
          </a:p>
          <a:p>
            <a:pPr marL="228600" indent="-228600">
              <a:buFont typeface="+mj-lt"/>
              <a:buAutoNum type="arabicPeriod"/>
            </a:pPr>
            <a:r>
              <a:rPr lang="ru-RU" dirty="0"/>
              <a:t>После этого результат одной инструкцией записывается обратно в память.</a:t>
            </a:r>
          </a:p>
          <a:p>
            <a:pPr marL="228600" indent="-228600">
              <a:buFont typeface="+mj-lt"/>
              <a:buAutoNum type="arabicPeriod"/>
            </a:pPr>
            <a:endParaRPr lang="ru-RU" dirty="0"/>
          </a:p>
          <a:p>
            <a:r>
              <a:rPr lang="ru-RU" dirty="0"/>
              <a:t>Обратите внимание на шаг цикла: указатель увеличивается на </a:t>
            </a:r>
            <a:r>
              <a:rPr lang="ru-RU" b="1" dirty="0"/>
              <a:t>16 байт</a:t>
            </a:r>
            <a:r>
              <a:rPr lang="ru-RU" dirty="0"/>
              <a:t>, а не на 4. Это означает, что за одну итерацию мы обработали </a:t>
            </a:r>
            <a:r>
              <a:rPr lang="ru-RU" b="1" dirty="0"/>
              <a:t>четыре элемента массива</a:t>
            </a:r>
            <a:r>
              <a:rPr lang="ru-RU" dirty="0"/>
              <a:t>. Таким образом, логика алгоритма не изменилась, но количество операций на элемент данных стало меньше в несколько раз.</a:t>
            </a:r>
          </a:p>
          <a:p>
            <a:endParaRPr lang="ru-RU" dirty="0"/>
          </a:p>
          <a:p>
            <a:r>
              <a:rPr lang="ru-RU" dirty="0"/>
              <a:t>Это и есть суть векторизации: </a:t>
            </a:r>
            <a:r>
              <a:rPr lang="ru-RU" b="1" dirty="0"/>
              <a:t>ускорение вычислений за счёт параллельной обработки данных</a:t>
            </a:r>
            <a:r>
              <a:rPr lang="ru-RU" dirty="0"/>
              <a:t>, без создания потоков и без конкурентности. Важно подчеркнуть: этот код может выполняться внутри одного потока на одном ядре и всё равно использовать параллелизм на уровне данных.</a:t>
            </a:r>
          </a:p>
          <a:p>
            <a:endParaRPr lang="ru-RU" dirty="0"/>
          </a:p>
          <a:p>
            <a:r>
              <a:rPr lang="ru-RU" dirty="0"/>
              <a:t>В следующем примере мы увидим, как та же идея масштабируется на более широкие векторы — например, AVX2.</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14</a:t>
            </a:fld>
            <a:endParaRPr lang="en-US" dirty="0"/>
          </a:p>
        </p:txBody>
      </p:sp>
    </p:spTree>
    <p:extLst>
      <p:ext uri="{BB962C8B-B14F-4D97-AF65-F5344CB8AC3E}">
        <p14:creationId xmlns:p14="http://schemas.microsoft.com/office/powerpoint/2010/main" val="29096365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 тот же самый алгоритм, но уже с использованием </a:t>
            </a:r>
            <a:r>
              <a:rPr lang="ru-RU" b="1" dirty="0"/>
              <a:t>AVX2</a:t>
            </a:r>
            <a:r>
              <a:rPr lang="ru-RU" dirty="0"/>
              <a:t> — более современного и широкого SIMD-набора инструкций.</a:t>
            </a:r>
          </a:p>
          <a:p>
            <a:endParaRPr lang="ru-RU" dirty="0"/>
          </a:p>
          <a:p>
            <a:r>
              <a:rPr lang="ru-RU" dirty="0"/>
              <a:t>Слева мы снова видим обычный C-код. Обратите внимание, что логика алгоритма не изменилась: мы по-прежнему складываем элементы двух массивов.</a:t>
            </a:r>
          </a:p>
          <a:p>
            <a:endParaRPr lang="ru-RU" dirty="0"/>
          </a:p>
          <a:p>
            <a:r>
              <a:rPr lang="ru-RU" dirty="0"/>
              <a:t>Единственное отличие — данные сгруппированы в структуру </a:t>
            </a:r>
            <a:r>
              <a:rPr lang="ru-RU" sz="1200" kern="1200" dirty="0">
                <a:solidFill>
                  <a:schemeClr val="tx1"/>
                </a:solidFill>
                <a:latin typeface="+mn-lt"/>
                <a:ea typeface="+mn-ea"/>
                <a:cs typeface="+mn-cs"/>
              </a:rPr>
              <a:t>Vector4d</a:t>
            </a:r>
            <a:r>
              <a:rPr lang="ru-RU" dirty="0"/>
              <a:t>, содержащую </a:t>
            </a:r>
            <a:r>
              <a:rPr lang="ru-RU" b="1" dirty="0"/>
              <a:t>четыре числа типа </a:t>
            </a:r>
            <a:r>
              <a:rPr lang="ru-RU" sz="1200" b="1" kern="1200" dirty="0" err="1">
                <a:solidFill>
                  <a:schemeClr val="tx1"/>
                </a:solidFill>
                <a:latin typeface="+mn-lt"/>
                <a:ea typeface="+mn-ea"/>
                <a:cs typeface="+mn-cs"/>
              </a:rPr>
              <a:t>double</a:t>
            </a:r>
            <a:r>
              <a:rPr lang="ru-RU" dirty="0"/>
              <a:t>, и выровненную по </a:t>
            </a:r>
            <a:r>
              <a:rPr lang="ru-RU" b="1" dirty="0"/>
              <a:t>32 байта</a:t>
            </a:r>
            <a:r>
              <a:rPr lang="ru-RU" dirty="0"/>
              <a:t>. Это соответствует ширине AVX-регистров.</a:t>
            </a:r>
          </a:p>
          <a:p>
            <a:endParaRPr lang="ru-RU" dirty="0"/>
          </a:p>
          <a:p>
            <a:r>
              <a:rPr lang="ru-RU" dirty="0"/>
              <a:t>В AVX используются </a:t>
            </a:r>
            <a:r>
              <a:rPr lang="ru-RU" b="1" dirty="0"/>
              <a:t>YMM-регистры</a:t>
            </a:r>
            <a:r>
              <a:rPr lang="ru-RU" dirty="0"/>
              <a:t> шириной </a:t>
            </a:r>
            <a:r>
              <a:rPr lang="ru-RU" b="1" dirty="0"/>
              <a:t>256 бит</a:t>
            </a:r>
            <a:r>
              <a:rPr lang="ru-RU" dirty="0"/>
              <a:t>. В один такой регистр помещается</a:t>
            </a:r>
            <a:br>
              <a:rPr lang="ru-RU" dirty="0"/>
            </a:br>
            <a:r>
              <a:rPr lang="ru-RU" dirty="0"/>
              <a:t>сразу </a:t>
            </a:r>
            <a:r>
              <a:rPr lang="ru-RU" b="1" dirty="0"/>
              <a:t>четыре 64-битных числа с плавающей точкой</a:t>
            </a:r>
            <a:r>
              <a:rPr lang="ru-RU" dirty="0"/>
              <a:t>.</a:t>
            </a:r>
          </a:p>
          <a:p>
            <a:endParaRPr lang="ru-RU" dirty="0"/>
          </a:p>
          <a:p>
            <a:r>
              <a:rPr lang="ru-RU" dirty="0"/>
              <a:t>Справа показан фрагмент сгенерированного ассемблера.</a:t>
            </a:r>
          </a:p>
          <a:p>
            <a:pPr marL="228600" indent="-228600">
              <a:buFont typeface="+mj-lt"/>
              <a:buAutoNum type="arabicPeriod"/>
            </a:pPr>
            <a:r>
              <a:rPr lang="ru-RU" dirty="0"/>
              <a:t>Инструкция </a:t>
            </a:r>
            <a:r>
              <a:rPr lang="ru-RU" sz="1200" kern="1200" dirty="0" err="1">
                <a:solidFill>
                  <a:schemeClr val="tx1"/>
                </a:solidFill>
                <a:latin typeface="+mn-lt"/>
                <a:ea typeface="+mn-ea"/>
                <a:cs typeface="+mn-cs"/>
              </a:rPr>
              <a:t>vmovapd</a:t>
            </a:r>
            <a:r>
              <a:rPr lang="ru-RU" sz="1200" kern="1200" dirty="0">
                <a:solidFill>
                  <a:schemeClr val="tx1"/>
                </a:solidFill>
                <a:latin typeface="+mn-lt"/>
                <a:ea typeface="+mn-ea"/>
                <a:cs typeface="+mn-cs"/>
              </a:rPr>
              <a:t> </a:t>
            </a:r>
            <a:r>
              <a:rPr lang="ru-RU" dirty="0"/>
              <a:t>загружает сразу весь вектор из памяти в регистр YMM.</a:t>
            </a:r>
          </a:p>
          <a:p>
            <a:pPr marL="228600" indent="-228600">
              <a:buFont typeface="+mj-lt"/>
              <a:buAutoNum type="arabicPeriod"/>
            </a:pPr>
            <a:r>
              <a:rPr lang="ru-RU" dirty="0"/>
              <a:t>Инструкция </a:t>
            </a:r>
            <a:r>
              <a:rPr lang="ru-RU" sz="1200" kern="1200" dirty="0" err="1">
                <a:solidFill>
                  <a:schemeClr val="tx1"/>
                </a:solidFill>
                <a:latin typeface="+mn-lt"/>
                <a:ea typeface="+mn-ea"/>
                <a:cs typeface="+mn-cs"/>
              </a:rPr>
              <a:t>vaddpd</a:t>
            </a:r>
            <a:r>
              <a:rPr lang="ru-RU" sz="1200" kern="1200" dirty="0">
                <a:solidFill>
                  <a:schemeClr val="tx1"/>
                </a:solidFill>
                <a:latin typeface="+mn-lt"/>
                <a:ea typeface="+mn-ea"/>
                <a:cs typeface="+mn-cs"/>
              </a:rPr>
              <a:t> </a:t>
            </a:r>
            <a:r>
              <a:rPr lang="ru-RU" dirty="0"/>
              <a:t>выполняет </a:t>
            </a:r>
            <a:r>
              <a:rPr lang="ru-RU" b="1" dirty="0"/>
              <a:t>одно сложение</a:t>
            </a:r>
            <a:r>
              <a:rPr lang="ru-RU" dirty="0"/>
              <a:t>, но применяет его ко всем четырём элементам вектора одновременно.</a:t>
            </a:r>
          </a:p>
          <a:p>
            <a:pPr marL="228600" indent="-228600">
              <a:buFont typeface="+mj-lt"/>
              <a:buAutoNum type="arabicPeriod"/>
            </a:pPr>
            <a:r>
              <a:rPr lang="ru-RU" dirty="0"/>
              <a:t>После этого результат одной инструкцией записывается обратно в память.</a:t>
            </a:r>
          </a:p>
          <a:p>
            <a:pPr marL="0" indent="0">
              <a:buFont typeface="+mj-lt"/>
              <a:buNone/>
            </a:pPr>
            <a:endParaRPr lang="ru-RU" dirty="0"/>
          </a:p>
          <a:p>
            <a:pPr marL="0" indent="0">
              <a:buFont typeface="+mj-lt"/>
              <a:buNone/>
            </a:pPr>
            <a:r>
              <a:rPr lang="ru-RU" dirty="0"/>
              <a:t>Обратите внимание на шаг цикла: указатель увеличивается на </a:t>
            </a:r>
            <a:r>
              <a:rPr lang="ru-RU" b="1" dirty="0"/>
              <a:t>32 байта</a:t>
            </a:r>
            <a:r>
              <a:rPr lang="ru-RU" dirty="0"/>
              <a:t>, что соответствует размеру одного AVX-вектора. То есть за одну итерацию</a:t>
            </a:r>
            <a:br>
              <a:rPr lang="ru-RU" dirty="0"/>
            </a:br>
            <a:r>
              <a:rPr lang="ru-RU" dirty="0"/>
              <a:t>мы обрабатываем сразу </a:t>
            </a:r>
            <a:r>
              <a:rPr lang="ru-RU" b="1" dirty="0"/>
              <a:t>четыре элемента структуры</a:t>
            </a:r>
            <a:r>
              <a:rPr lang="ru-RU" dirty="0"/>
              <a:t>.</a:t>
            </a:r>
          </a:p>
          <a:p>
            <a:pPr marL="0" indent="0">
              <a:buFont typeface="+mj-lt"/>
              <a:buNone/>
            </a:pPr>
            <a:endParaRPr lang="ru-RU" dirty="0"/>
          </a:p>
          <a:p>
            <a:pPr marL="0" indent="0">
              <a:buFont typeface="+mj-lt"/>
              <a:buNone/>
            </a:pPr>
            <a:r>
              <a:rPr lang="ru-RU" dirty="0"/>
              <a:t>Таким образом, по сравнению с обычным скалярным кодом, количество операций на элемент данных уменьшается в несколько раз, а по сравнению с SSE — обрабатывается в два раза больше данных за инструкцию.</a:t>
            </a:r>
          </a:p>
          <a:p>
            <a:pPr marL="0" indent="0">
              <a:buFont typeface="+mj-lt"/>
              <a:buNone/>
            </a:pPr>
            <a:endParaRPr lang="ru-RU" dirty="0"/>
          </a:p>
          <a:p>
            <a:pPr marL="0" indent="0">
              <a:buFont typeface="+mj-lt"/>
              <a:buNone/>
            </a:pPr>
            <a:r>
              <a:rPr lang="ru-RU" dirty="0"/>
              <a:t>И снова важно подчеркнуть: это всё происходит </a:t>
            </a:r>
            <a:r>
              <a:rPr lang="ru-RU" b="1" dirty="0"/>
              <a:t>внутри одного потока </a:t>
            </a:r>
            <a:r>
              <a:rPr lang="ru-RU" dirty="0"/>
              <a:t>и даже на одном ядре процессора.</a:t>
            </a:r>
          </a:p>
          <a:p>
            <a:pPr marL="0" indent="0">
              <a:buFont typeface="+mj-lt"/>
              <a:buNone/>
            </a:pPr>
            <a:endParaRPr lang="ru-RU" dirty="0"/>
          </a:p>
          <a:p>
            <a:pPr marL="0" indent="0">
              <a:buFont typeface="+mj-lt"/>
              <a:buNone/>
            </a:pPr>
            <a:r>
              <a:rPr lang="ru-RU" dirty="0"/>
              <a:t>AVX2 — это пример того, как современные CPU достигают высокой производительности за счёт параллелизма данных, а не за счёт увеличения количества потоков.</a:t>
            </a:r>
          </a:p>
          <a:p>
            <a:pPr marL="0" indent="0">
              <a:buFont typeface="+mj-lt"/>
              <a:buNone/>
            </a:pPr>
            <a:endParaRPr lang="ru-RU" dirty="0"/>
          </a:p>
          <a:p>
            <a:pPr marL="0" indent="0">
              <a:buFont typeface="+mj-lt"/>
              <a:buNone/>
            </a:pPr>
            <a:r>
              <a:rPr lang="ru-RU" dirty="0"/>
              <a:t>Дальше мы перейдём к следующему уровню параллелизма — </a:t>
            </a:r>
            <a:r>
              <a:rPr lang="ru-RU" b="1" dirty="0"/>
              <a:t>массовым параллельным вычислениям на GPU</a:t>
            </a:r>
            <a:r>
              <a:rPr lang="ru-RU" dirty="0"/>
              <a:t>, где та же идея применяется в гораздо большем масштабе.</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15</a:t>
            </a:fld>
            <a:endParaRPr lang="en-US" dirty="0"/>
          </a:p>
        </p:txBody>
      </p:sp>
    </p:spTree>
    <p:extLst>
      <p:ext uri="{BB962C8B-B14F-4D97-AF65-F5344CB8AC3E}">
        <p14:creationId xmlns:p14="http://schemas.microsoft.com/office/powerpoint/2010/main" val="26882742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До этого мы рассматривали параллелизм данных на уровне одного ядра CPU — через SIMD и AVX.</a:t>
            </a:r>
          </a:p>
          <a:p>
            <a:br>
              <a:rPr lang="ru-RU" dirty="0"/>
            </a:br>
            <a:r>
              <a:rPr lang="ru-RU" dirty="0"/>
              <a:t>Теперь давайте масштабируем эту идею на порядок выше. </a:t>
            </a:r>
            <a:r>
              <a:rPr lang="ru-RU" b="1" dirty="0"/>
              <a:t>GPU</a:t>
            </a:r>
            <a:r>
              <a:rPr lang="ru-RU" dirty="0"/>
              <a:t> — это процессор,</a:t>
            </a:r>
            <a:r>
              <a:rPr lang="en-US" dirty="0"/>
              <a:t> </a:t>
            </a:r>
            <a:r>
              <a:rPr lang="ru-RU" dirty="0"/>
              <a:t>изначально разработанный для обработки графики, но его архитектура оказалась идеально подходящей для </a:t>
            </a:r>
            <a:r>
              <a:rPr lang="ru-RU" b="1" dirty="0"/>
              <a:t>массового параллелизма данных</a:t>
            </a:r>
            <a:r>
              <a:rPr lang="ru-RU" dirty="0"/>
              <a:t>.</a:t>
            </a:r>
          </a:p>
          <a:p>
            <a:endParaRPr lang="ru-RU" dirty="0"/>
          </a:p>
          <a:p>
            <a:r>
              <a:rPr lang="ru-RU" dirty="0"/>
              <a:t>В отличие от CPU, который имеет несколько мощных и универсальных ядер, GPU состоит из </a:t>
            </a:r>
            <a:r>
              <a:rPr lang="ru-RU" b="1" dirty="0"/>
              <a:t>сотен или тысяч более простых вычислительных ядер</a:t>
            </a:r>
            <a:r>
              <a:rPr lang="ru-RU" dirty="0"/>
              <a:t>. Эти ядра не предназначены</a:t>
            </a:r>
            <a:r>
              <a:rPr lang="en-US" dirty="0"/>
              <a:t> </a:t>
            </a:r>
            <a:r>
              <a:rPr lang="ru-RU" dirty="0"/>
              <a:t>для сложной логики и ветвлений. Зато они отлично справляются с ситуациями, где нужно выполнить </a:t>
            </a:r>
            <a:r>
              <a:rPr lang="ru-RU" b="1" dirty="0"/>
              <a:t>одну и ту же операцию </a:t>
            </a:r>
            <a:r>
              <a:rPr lang="ru-RU" dirty="0"/>
              <a:t>над </a:t>
            </a:r>
            <a:r>
              <a:rPr lang="ru-RU" b="1" dirty="0"/>
              <a:t>огромным количеством данных</a:t>
            </a:r>
            <a:r>
              <a:rPr lang="ru-RU" dirty="0"/>
              <a:t>.</a:t>
            </a:r>
            <a:endParaRPr lang="en-US" dirty="0"/>
          </a:p>
          <a:p>
            <a:endParaRPr lang="ru-RU" dirty="0"/>
          </a:p>
          <a:p>
            <a:r>
              <a:rPr lang="ru-RU" dirty="0"/>
              <a:t>Именно поэтому GPU активно используются не только в графике, но и в задачах общего назначения — это направление называется </a:t>
            </a:r>
            <a:r>
              <a:rPr lang="ru-RU" b="1" dirty="0"/>
              <a:t>GPGPU</a:t>
            </a:r>
            <a:r>
              <a:rPr lang="ru-RU" dirty="0"/>
              <a:t>.</a:t>
            </a:r>
          </a:p>
          <a:p>
            <a:endParaRPr lang="ru-RU" dirty="0"/>
          </a:p>
          <a:p>
            <a:r>
              <a:rPr lang="ru-RU" dirty="0"/>
              <a:t>Модель исполнения на GPU называется </a:t>
            </a:r>
            <a:r>
              <a:rPr lang="ru-RU" b="1" dirty="0"/>
              <a:t>SIMT</a:t>
            </a:r>
            <a:r>
              <a:rPr lang="ru-RU" dirty="0"/>
              <a:t> — </a:t>
            </a:r>
            <a:r>
              <a:rPr lang="ru-RU" i="1" dirty="0"/>
              <a:t>Single </a:t>
            </a:r>
            <a:r>
              <a:rPr lang="ru-RU" i="1" dirty="0" err="1"/>
              <a:t>Instruction</a:t>
            </a:r>
            <a:r>
              <a:rPr lang="ru-RU" i="1" dirty="0"/>
              <a:t>, </a:t>
            </a:r>
            <a:r>
              <a:rPr lang="ru-RU" i="1" dirty="0" err="1"/>
              <a:t>Multiple</a:t>
            </a:r>
            <a:r>
              <a:rPr lang="ru-RU" i="1" dirty="0"/>
              <a:t> </a:t>
            </a:r>
            <a:r>
              <a:rPr lang="ru-RU" i="1" dirty="0" err="1"/>
              <a:t>Threads</a:t>
            </a:r>
            <a:r>
              <a:rPr lang="ru-RU" dirty="0"/>
              <a:t>.</a:t>
            </a:r>
            <a:r>
              <a:rPr lang="en-US" dirty="0"/>
              <a:t> </a:t>
            </a:r>
            <a:r>
              <a:rPr lang="ru-RU" dirty="0"/>
              <a:t>Она похожа на SIMD, но вместо векторных регистров здесь используются </a:t>
            </a:r>
            <a:r>
              <a:rPr lang="ru-RU" b="1" dirty="0"/>
              <a:t>группы потоков</a:t>
            </a:r>
            <a:r>
              <a:rPr lang="ru-RU" dirty="0"/>
              <a:t>.</a:t>
            </a:r>
          </a:p>
          <a:p>
            <a:endParaRPr lang="ru-RU" dirty="0"/>
          </a:p>
          <a:p>
            <a:r>
              <a:rPr lang="ru-RU" dirty="0"/>
              <a:t>Потоки объединяются в группы и синхронно выполняют один и тот же код, каждый — над своим набором данных.</a:t>
            </a:r>
          </a:p>
          <a:p>
            <a:r>
              <a:rPr lang="ru-RU" dirty="0"/>
              <a:t>Важно понимать: GPU — это не «очень быстрый CPU».</a:t>
            </a:r>
            <a:br>
              <a:rPr lang="ru-RU" dirty="0"/>
            </a:br>
            <a:r>
              <a:rPr lang="ru-RU" dirty="0"/>
              <a:t>Это </a:t>
            </a:r>
            <a:r>
              <a:rPr lang="ru-RU" b="1" dirty="0"/>
              <a:t>другой тип процессора</a:t>
            </a:r>
            <a:r>
              <a:rPr lang="ru-RU" dirty="0"/>
              <a:t>, оптимизированный под конкретный класс задач. GPU дают огромный выигрыш, когда задача хорошо распараллеливается и требует высокой пропускной способности.</a:t>
            </a:r>
          </a:p>
          <a:p>
            <a:endParaRPr lang="ru-RU" dirty="0"/>
          </a:p>
          <a:p>
            <a:r>
              <a:rPr lang="ru-RU" dirty="0"/>
              <a:t>Но при сложной логике, ветвлениях и сильной зависимости между шагами CPU часто оказывается эффективнее.</a:t>
            </a:r>
          </a:p>
          <a:p>
            <a:endParaRPr lang="ru-RU" dirty="0"/>
          </a:p>
          <a:p>
            <a:endParaRPr lang="ru-RU" dirty="0"/>
          </a:p>
        </p:txBody>
      </p:sp>
      <p:sp>
        <p:nvSpPr>
          <p:cNvPr id="4" name="Slide Number Placeholder 3"/>
          <p:cNvSpPr>
            <a:spLocks noGrp="1"/>
          </p:cNvSpPr>
          <p:nvPr>
            <p:ph type="sldNum" sz="quarter" idx="5"/>
          </p:nvPr>
        </p:nvSpPr>
        <p:spPr/>
        <p:txBody>
          <a:bodyPr/>
          <a:lstStyle/>
          <a:p>
            <a:fld id="{31AFB55F-6A40-4B48-8E84-03104FFED202}" type="slidenum">
              <a:rPr lang="en-US" smtClean="0"/>
              <a:t>16</a:t>
            </a:fld>
            <a:endParaRPr lang="en-US"/>
          </a:p>
        </p:txBody>
      </p:sp>
    </p:spTree>
    <p:extLst>
      <p:ext uri="{BB962C8B-B14F-4D97-AF65-F5344CB8AC3E}">
        <p14:creationId xmlns:p14="http://schemas.microsoft.com/office/powerpoint/2010/main" val="32281651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1AFB55F-6A40-4B48-8E84-03104FFED202}" type="slidenum">
              <a:rPr lang="en-US" smtClean="0"/>
              <a:t>17</a:t>
            </a:fld>
            <a:endParaRPr lang="en-US" dirty="0"/>
          </a:p>
        </p:txBody>
      </p:sp>
    </p:spTree>
    <p:extLst>
      <p:ext uri="{BB962C8B-B14F-4D97-AF65-F5344CB8AC3E}">
        <p14:creationId xmlns:p14="http://schemas.microsoft.com/office/powerpoint/2010/main" val="42552714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Один из самых важных случаев применения конкурентности — это разделение ответственности внутри приложения. Идея здесь очень простая: логически связанный код выполняется в одном потоке, а несвязанные задачи выносятся в разные потоки.</a:t>
            </a:r>
          </a:p>
          <a:p>
            <a:endParaRPr lang="ru-RU" dirty="0"/>
          </a:p>
          <a:p>
            <a:r>
              <a:rPr lang="ru-RU" dirty="0"/>
              <a:t>Если бы конкурентности не существовало, нам пришлось бы вручную писать код, который постоянно переключается между задачами, следит за тем, кто сколько поработал, и не забывает вовремя реагировать на внешние события.</a:t>
            </a:r>
          </a:p>
          <a:p>
            <a:endParaRPr lang="ru-RU" dirty="0"/>
          </a:p>
          <a:p>
            <a:r>
              <a:rPr lang="ru-RU" dirty="0"/>
              <a:t>Конкурентность позволяет переложить это управление на операционную систему и планировщик, а программисту сосредоточиться на логике задач. Самый наглядный эффект этого подхода — отзывчивый пользовательский интерфейс. UI-поток должен быстро реагировать на действия пользователя даже тогда, когда в фоне выполняются длительные операции, такие как загрузка данных, работа с сетью или диском.</a:t>
            </a:r>
          </a:p>
          <a:p>
            <a:endParaRPr lang="ru-RU" dirty="0"/>
          </a:p>
          <a:p>
            <a:r>
              <a:rPr lang="ru-RU" dirty="0"/>
              <a:t>Обратите внимание на важный момент: количество потоков здесь никак не связано напрямую с количеством ядер процессора. Мы создаём потоки не потому, что у нас есть свободные ядра, а потому что у нас есть разные обязанности внутри программы.</a:t>
            </a:r>
          </a:p>
          <a:p>
            <a:endParaRPr lang="ru-RU" dirty="0"/>
          </a:p>
          <a:p>
            <a:r>
              <a:rPr lang="ru-RU" dirty="0"/>
              <a:t>Даже на одноядерном компьютере конкурентность остаётся полезной, потому что она упрощает архитектуру приложения и улучшает взаимодействие с пользователем.</a:t>
            </a:r>
          </a:p>
          <a:p>
            <a:endParaRPr lang="ru-RU" dirty="0"/>
          </a:p>
          <a:p>
            <a:r>
              <a:rPr lang="ru-RU" dirty="0"/>
              <a:t>Это ещё раз подчёркивает ключевую мысль лекции: конкурентность — это прежде всего про структуру программы, а не про ускорение вычислений.</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18</a:t>
            </a:fld>
            <a:endParaRPr lang="en-US" dirty="0"/>
          </a:p>
        </p:txBody>
      </p:sp>
    </p:spTree>
    <p:extLst>
      <p:ext uri="{BB962C8B-B14F-4D97-AF65-F5344CB8AC3E}">
        <p14:creationId xmlns:p14="http://schemas.microsoft.com/office/powerpoint/2010/main" val="9708615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показан упрощённый пример архитектуры многопоточного видеоплеера.</a:t>
            </a:r>
            <a:r>
              <a:rPr lang="en-US" dirty="0"/>
              <a:t> </a:t>
            </a:r>
            <a:r>
              <a:rPr lang="ru-RU" dirty="0"/>
              <a:t>Здесь важно сразу сказать: цель такой архитектуры — не максимальное ускорение, а корректная и удобная работа приложения.</a:t>
            </a:r>
          </a:p>
          <a:p>
            <a:endParaRPr lang="ru-RU" dirty="0"/>
          </a:p>
          <a:p>
            <a:r>
              <a:rPr lang="ru-RU" dirty="0"/>
              <a:t>Первый поток отвечает за пользовательский интерфейс. Он реагирует на нажатия кнопок, перемотку, паузу и закрытие приложения. Этот поток должен быть быстрым и никогда не блокироваться на длительных операциях.</a:t>
            </a:r>
          </a:p>
          <a:p>
            <a:endParaRPr lang="ru-RU" dirty="0"/>
          </a:p>
          <a:p>
            <a:r>
              <a:rPr lang="ru-RU" dirty="0"/>
              <a:t>Второй поток занимается чтением данных с диска. Доступ к файловой системе медленный и непредсказуемый, поэтому выполнять его в UI-потоке было бы плохой идеей.</a:t>
            </a:r>
          </a:p>
          <a:p>
            <a:endParaRPr lang="ru-RU" dirty="0"/>
          </a:p>
          <a:p>
            <a:r>
              <a:rPr lang="ru-RU" dirty="0"/>
              <a:t>Третий поток отвечает за декодирование и воспроизведение аудио. Для звука критично поддерживать стабильный поток данных без пауз и задержек.</a:t>
            </a:r>
          </a:p>
          <a:p>
            <a:endParaRPr lang="ru-RU" dirty="0"/>
          </a:p>
          <a:p>
            <a:r>
              <a:rPr lang="ru-RU" dirty="0"/>
              <a:t>Четвёртый поток занимается декодированием и рендерингом видео. Это вычислительно более тяжёлая задача, которая выполняется независимо от работы интерфейса и аудио.</a:t>
            </a:r>
          </a:p>
          <a:p>
            <a:endParaRPr lang="ru-RU" dirty="0"/>
          </a:p>
          <a:p>
            <a:r>
              <a:rPr lang="ru-RU" dirty="0"/>
              <a:t>Обратите внимание, что эти потоки выполняются конкурентно. В каждый момент времени активен только один или несколько из них, но логически все задачи продвигаются вперёд независимо друг от друга.</a:t>
            </a:r>
          </a:p>
          <a:p>
            <a:endParaRPr lang="ru-RU" dirty="0"/>
          </a:p>
          <a:p>
            <a:r>
              <a:rPr lang="ru-RU" dirty="0"/>
              <a:t>Даже если компьютер одноядерный, такая архитектура остаётся полезной. Планировщик операционной системы будет переключаться между потоками, обеспечивая отзывчивость интерфейса и непрерывное воспроизведение.</a:t>
            </a:r>
          </a:p>
          <a:p>
            <a:endParaRPr lang="ru-RU" dirty="0"/>
          </a:p>
          <a:p>
            <a:r>
              <a:rPr lang="ru-RU" dirty="0"/>
              <a:t>Если же ядер несколько, часть этих потоков может выполняться параллельно, что дополнительно повышает производительность, но это уже приятный бонус, а не основная цель.</a:t>
            </a:r>
          </a:p>
          <a:p>
            <a:endParaRPr lang="ru-RU" dirty="0"/>
          </a:p>
          <a:p>
            <a:r>
              <a:rPr lang="ru-RU" dirty="0"/>
              <a:t>Этот пример хорошо иллюстрирует ключевую идею конкурентности: мы разделяем обязанности внутри приложения и позволяем системе управлять выполнением задач, вместо того чтобы делать это вручную.</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19</a:t>
            </a:fld>
            <a:endParaRPr lang="en-US" dirty="0"/>
          </a:p>
        </p:txBody>
      </p:sp>
    </p:spTree>
    <p:extLst>
      <p:ext uri="{BB962C8B-B14F-4D97-AF65-F5344CB8AC3E}">
        <p14:creationId xmlns:p14="http://schemas.microsoft.com/office/powerpoint/2010/main" val="31759126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До этого момента мы говорили о конкурентности и параллелизме как о технических инструментах. Теперь давайте ответим на вопрос, почему без них в современных системах уже не обойтись.</a:t>
            </a:r>
          </a:p>
          <a:p>
            <a:endParaRPr lang="ru-RU" dirty="0"/>
          </a:p>
          <a:p>
            <a:r>
              <a:rPr lang="ru-RU" dirty="0"/>
              <a:t>Исторически рост производительности компьютеров опирался на так называемый закон Мура. Это эмпирическое наблюдение, согласно которому количество транзисторов на кристалле примерно удваивалось каждые два года.</a:t>
            </a:r>
          </a:p>
          <a:p>
            <a:endParaRPr lang="ru-RU" dirty="0"/>
          </a:p>
          <a:p>
            <a:r>
              <a:rPr lang="ru-RU" dirty="0"/>
              <a:t>Долгое время это означало не только больше транзисторов, но и более высокие тактовые частоты, а значит, автоматический рост производительности без изменений в программном обеспечении.</a:t>
            </a:r>
          </a:p>
          <a:p>
            <a:endParaRPr lang="ru-RU" dirty="0"/>
          </a:p>
          <a:p>
            <a:r>
              <a:rPr lang="ru-RU" dirty="0"/>
              <a:t>Однако у этого подхода есть пределы. Миниатюризация транзисторов приближается к физическим ограничениям, связанным с размерами атомов. Кроме того, растут тепловые и энергетические проблемы, а стоимость разработки новых чипов увеличивается экспоненциально, что часто называют законом Артура Рока.</a:t>
            </a:r>
          </a:p>
          <a:p>
            <a:endParaRPr lang="ru-RU" dirty="0"/>
          </a:p>
          <a:p>
            <a:r>
              <a:rPr lang="ru-RU" dirty="0"/>
              <a:t>В результате рост тактовых частот практически остановился. Современные процессоры уже много лет работают примерно на одних и тех же частотах, и ожидать резкого увеличения этого показателя больше не приходится.</a:t>
            </a:r>
          </a:p>
          <a:p>
            <a:endParaRPr lang="ru-RU" dirty="0"/>
          </a:p>
          <a:p>
            <a:r>
              <a:rPr lang="ru-RU" dirty="0"/>
              <a:t>Это привело к принципиальному сдвигу в архитектуре процессоров. Вместо того чтобы делать одно ядро всё быстрее, производители начали увеличивать количество вычислительных ресурсов: добавлять ядра, векторные блоки и специализированные ускорители.</a:t>
            </a:r>
          </a:p>
          <a:p>
            <a:endParaRPr lang="ru-RU" dirty="0"/>
          </a:p>
          <a:p>
            <a:r>
              <a:rPr lang="ru-RU" dirty="0"/>
              <a:t>Поэтому сегодня рост производительности достигается в основном за счёт параллельных вычислений. Если программное обеспечение не умеет эффективно использовать параллелизм, оно просто перестаёт масштабироваться вместе с железом.</a:t>
            </a:r>
          </a:p>
          <a:p>
            <a:endParaRPr lang="ru-RU" dirty="0"/>
          </a:p>
          <a:p>
            <a:r>
              <a:rPr lang="ru-RU" dirty="0"/>
              <a:t>Именно это и является фундаментальной причиной, по которой темы конкурентности и параллелизма стали центральными в современном программировании, а не узкоспециализированными оптимизациями.</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20</a:t>
            </a:fld>
            <a:endParaRPr lang="en-US" dirty="0"/>
          </a:p>
        </p:txBody>
      </p:sp>
    </p:spTree>
    <p:extLst>
      <p:ext uri="{BB962C8B-B14F-4D97-AF65-F5344CB8AC3E}">
        <p14:creationId xmlns:p14="http://schemas.microsoft.com/office/powerpoint/2010/main" val="11575333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1AFB55F-6A40-4B48-8E84-03104FFED202}" type="slidenum">
              <a:rPr lang="en-US" smtClean="0"/>
              <a:t>21</a:t>
            </a:fld>
            <a:endParaRPr lang="en-US" dirty="0"/>
          </a:p>
        </p:txBody>
      </p:sp>
    </p:spTree>
    <p:extLst>
      <p:ext uri="{BB962C8B-B14F-4D97-AF65-F5344CB8AC3E}">
        <p14:creationId xmlns:p14="http://schemas.microsoft.com/office/powerpoint/2010/main" val="38156906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Мы уже увидели, что современное аппаратное обеспечение предоставляет всё больше вычислительных ресурсов. Многоядерные процессоры сегодня есть не только в серверах, но и в обычных домашних компьютерах, ноутбуках и мобильных устройствах, а GPU давно стали массовыми.</a:t>
            </a:r>
          </a:p>
          <a:p>
            <a:endParaRPr lang="ru-RU" dirty="0"/>
          </a:p>
          <a:p>
            <a:r>
              <a:rPr lang="ru-RU" dirty="0"/>
              <a:t>При этом важно понимать, что рост производительности больше не достигается за счёт ускорения одного ядра. Тактовые частоты практически не растут, и одиночный поток выполняется примерно с той же скоростью, что и десять лет назад.</a:t>
            </a:r>
          </a:p>
          <a:p>
            <a:endParaRPr lang="ru-RU" dirty="0"/>
          </a:p>
          <a:p>
            <a:r>
              <a:rPr lang="ru-RU" dirty="0"/>
              <a:t>Современный прирост производительности происходит за счёт увеличения количества вычислительных ресурсов: ядер, потоковых процессоров, векторных блоков и специализированных ускорителей.</a:t>
            </a:r>
          </a:p>
          <a:p>
            <a:endParaRPr lang="ru-RU" dirty="0"/>
          </a:p>
          <a:p>
            <a:r>
              <a:rPr lang="ru-RU" dirty="0"/>
              <a:t>Но наличие этих ресурсов само по себе ничего не гарантирует. Чтобы их использовать, программное обеспечение должно уметь разбивать работу на независимые части и выполнять их конкурентно.</a:t>
            </a:r>
          </a:p>
          <a:p>
            <a:endParaRPr lang="ru-RU" dirty="0"/>
          </a:p>
          <a:p>
            <a:r>
              <a:rPr lang="ru-RU" dirty="0"/>
              <a:t>Именно здесь конкурентность играет ключевую роль. Она задаёт такую структуру программы, при которой задачи могут выполняться независимо и, при наличии ресурсов, параллельно.</a:t>
            </a:r>
          </a:p>
          <a:p>
            <a:endParaRPr lang="ru-RU" dirty="0"/>
          </a:p>
          <a:p>
            <a:r>
              <a:rPr lang="ru-RU" dirty="0"/>
              <a:t>Если программа остаётся строго последовательной, дополнительные ядра просто простаивают, и потенциал оборудования не используется.</a:t>
            </a:r>
          </a:p>
          <a:p>
            <a:endParaRPr lang="ru-RU" dirty="0"/>
          </a:p>
          <a:p>
            <a:r>
              <a:rPr lang="ru-RU" dirty="0"/>
              <a:t>Поэтому конкурентность сегодня — это не просто удобный архитектурный приём, а необходимое условие для того, чтобы программное обеспечение масштабировалось вместе с железом.</a:t>
            </a:r>
          </a:p>
          <a:p>
            <a:endParaRPr lang="ru-RU" dirty="0"/>
          </a:p>
          <a:p>
            <a:r>
              <a:rPr lang="ru-RU" dirty="0"/>
              <a:t>В дальнейшем мы будем рассматривать, какие виды параллелизма существуют и какие задачи действительно выигрывают от такого подхода.</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22</a:t>
            </a:fld>
            <a:endParaRPr lang="en-US" dirty="0"/>
          </a:p>
        </p:txBody>
      </p:sp>
    </p:spTree>
    <p:extLst>
      <p:ext uri="{BB962C8B-B14F-4D97-AF65-F5344CB8AC3E}">
        <p14:creationId xmlns:p14="http://schemas.microsoft.com/office/powerpoint/2010/main" val="1869663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этом слайде мы подводим итог и выделяем два основных вида параллелизма, которые встречаются в современных системах.</a:t>
            </a:r>
          </a:p>
          <a:p>
            <a:endParaRPr lang="ru-RU" dirty="0"/>
          </a:p>
          <a:p>
            <a:r>
              <a:rPr lang="ru-RU" dirty="0"/>
              <a:t>Первый вид — это параллелизм задач. В этом случае алгоритм разбивается на несколько логически различных частей, которые могут выполняться независимо друг от друга. Такой параллелизм обычно реализуется с помощью потоков или процессов и широко используется в серверных приложениях, пользовательских интерфейсах и конвейерах обработки данных.</a:t>
            </a:r>
          </a:p>
          <a:p>
            <a:endParaRPr lang="ru-RU" dirty="0"/>
          </a:p>
          <a:p>
            <a:r>
              <a:rPr lang="ru-RU" dirty="0"/>
              <a:t>Второй вид — параллелизм данных. Здесь логика алгоритма остаётся той же самой, но одна и та же операция применяется одновременно к разным элементам данных. Именно этот тип параллелизма мы видели в примерах с SIMD, AVX и GPU.</a:t>
            </a:r>
          </a:p>
          <a:p>
            <a:endParaRPr lang="ru-RU" dirty="0"/>
          </a:p>
          <a:p>
            <a:r>
              <a:rPr lang="ru-RU" dirty="0"/>
              <a:t>Важно понимать, что параллелизм данных часто увеличивает не скорость обработки одного элемента, а общую пропускную способность системы. Мы обрабатываем больше данных за единицу времени, даже если время обработки одного элемента почти не меняется.</a:t>
            </a:r>
          </a:p>
          <a:p>
            <a:endParaRPr lang="ru-RU" dirty="0"/>
          </a:p>
          <a:p>
            <a:r>
              <a:rPr lang="ru-RU" dirty="0"/>
              <a:t>На практике эти два вида параллелизма часто комбинируются. Например, приложение может использовать несколько потоков, а внутри каждого потока активно применять SIMD или вычисления на GPU.</a:t>
            </a:r>
          </a:p>
          <a:p>
            <a:endParaRPr lang="ru-RU" dirty="0"/>
          </a:p>
          <a:p>
            <a:r>
              <a:rPr lang="ru-RU" dirty="0"/>
              <a:t>Понимание того, какой вид параллелизма подходит для конкретной задачи, является ключевым для эффективного использования современных вычислительных систем.</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23</a:t>
            </a:fld>
            <a:endParaRPr lang="en-US" dirty="0"/>
          </a:p>
        </p:txBody>
      </p:sp>
    </p:spTree>
    <p:extLst>
      <p:ext uri="{BB962C8B-B14F-4D97-AF65-F5344CB8AC3E}">
        <p14:creationId xmlns:p14="http://schemas.microsoft.com/office/powerpoint/2010/main" val="33912759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Некоторые задачи распараллеливаются особенно хорошо, потому что между отдельными вычислениями почти нет взаимодействия.</a:t>
            </a:r>
            <a:endParaRPr lang="en-US" dirty="0"/>
          </a:p>
          <a:p>
            <a:r>
              <a:rPr lang="ru-RU" dirty="0"/>
              <a:t>Такие случаи называют чрезвычайной параллельностью. Здесь каждая задача может выполняться независимо, без общего состояния и сложной синхронизации.</a:t>
            </a:r>
            <a:endParaRPr lang="en-US" dirty="0"/>
          </a:p>
          <a:p>
            <a:r>
              <a:rPr lang="ru-RU" dirty="0"/>
              <a:t>В результате производительность часто растёт почти линейно с увеличением числа ядер или потоков. Именно поэтому такие задачи идеально подходят для GPU, кластеров и распределённых систем.</a:t>
            </a:r>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24</a:t>
            </a:fld>
            <a:endParaRPr lang="en-US" dirty="0"/>
          </a:p>
        </p:txBody>
      </p:sp>
    </p:spTree>
    <p:extLst>
      <p:ext uri="{BB962C8B-B14F-4D97-AF65-F5344CB8AC3E}">
        <p14:creationId xmlns:p14="http://schemas.microsoft.com/office/powerpoint/2010/main" val="29226655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Этот слайд — напоминание о том, что конкурентность не является бесплатным или универсальным решением. Она почти всегда усложняет код и повышает стоимость разработки, тестирования и поддержки. Многопоточные программы сложнее понимать, и ошибки в них часто проявляются редко и непредсказуемо.</a:t>
            </a:r>
            <a:endParaRPr lang="en-US" dirty="0"/>
          </a:p>
          <a:p>
            <a:endParaRPr lang="ru-RU" dirty="0"/>
          </a:p>
          <a:p>
            <a:r>
              <a:rPr lang="ru-RU" dirty="0"/>
              <a:t>Кроме того, конкурентность далеко не всегда даёт ожидаемый прирост производительности. Если задачи слишком мелкие или сильно зависят друг от друга, накладные расходы на создание потоков, синхронизацию и переключение контекста могут оказаться больше, чем выигрыш от параллельного выполнения.</a:t>
            </a:r>
          </a:p>
          <a:p>
            <a:endParaRPr lang="ru-RU" dirty="0"/>
          </a:p>
          <a:p>
            <a:r>
              <a:rPr lang="ru-RU" dirty="0"/>
              <a:t>Важно помнить, что потоки — это ограниченный ресурс операционной системы. Каждый поток требует памяти под стек и участия планировщика. При большом количестве потоков система начинает тратить всё больше времени на переключение контекста вместо полезных вычислений, и производительность может даже снизиться.</a:t>
            </a:r>
          </a:p>
          <a:p>
            <a:endParaRPr lang="ru-RU" dirty="0"/>
          </a:p>
          <a:p>
            <a:r>
              <a:rPr lang="ru-RU" dirty="0"/>
              <a:t>Поэтому конкурентность стоит использовать осознанно. Она оправдана тогда, когда есть чёткое разделение обязанностей или значительный выигрыш в производительности. Если же выгода неочевидна, лучше оставить код последовательным и простым.</a:t>
            </a:r>
          </a:p>
        </p:txBody>
      </p:sp>
      <p:sp>
        <p:nvSpPr>
          <p:cNvPr id="4" name="Slide Number Placeholder 3"/>
          <p:cNvSpPr>
            <a:spLocks noGrp="1"/>
          </p:cNvSpPr>
          <p:nvPr>
            <p:ph type="sldNum" sz="quarter" idx="5"/>
          </p:nvPr>
        </p:nvSpPr>
        <p:spPr/>
        <p:txBody>
          <a:bodyPr/>
          <a:lstStyle/>
          <a:p>
            <a:fld id="{31AFB55F-6A40-4B48-8E84-03104FFED202}" type="slidenum">
              <a:rPr lang="en-US" smtClean="0"/>
              <a:t>25</a:t>
            </a:fld>
            <a:endParaRPr lang="en-US" dirty="0"/>
          </a:p>
        </p:txBody>
      </p:sp>
    </p:spTree>
    <p:extLst>
      <p:ext uri="{BB962C8B-B14F-4D97-AF65-F5344CB8AC3E}">
        <p14:creationId xmlns:p14="http://schemas.microsoft.com/office/powerpoint/2010/main" val="39000475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Рассмотрим типичный пример из серверного программирования — многопоточный веб-сервер.</a:t>
            </a:r>
          </a:p>
          <a:p>
            <a:endParaRPr lang="ru-RU" dirty="0"/>
          </a:p>
          <a:p>
            <a:r>
              <a:rPr lang="ru-RU" dirty="0"/>
              <a:t>Самое простое решение, которое часто приходит в голову, — запускать отдельный поток для каждого клиентского соединения. Такой подход действительно работает и хорошо подходит для небольшого количества клиентов, например в учебных или внутренних приложениях.</a:t>
            </a:r>
          </a:p>
          <a:p>
            <a:endParaRPr lang="ru-RU" dirty="0"/>
          </a:p>
          <a:p>
            <a:r>
              <a:rPr lang="ru-RU" dirty="0"/>
              <a:t>Однако при росте нагрузки этот подход быстро перестаёт масштабироваться. Если серверу нужно обслуживать тысячи или десятки тысяч соединений, количество потоков становится слишком большим. Каждый поток требует памяти под стек, участия планировщика и приводит к дополнительным переключениям контекста.</a:t>
            </a:r>
          </a:p>
          <a:p>
            <a:endParaRPr lang="ru-RU" dirty="0"/>
          </a:p>
          <a:p>
            <a:r>
              <a:rPr lang="ru-RU" dirty="0"/>
              <a:t>В результате система начинает тратить ресурсы не на обработку запросов, а на управление потоками, и производительность резко падает.</a:t>
            </a:r>
          </a:p>
          <a:p>
            <a:endParaRPr lang="ru-RU" dirty="0"/>
          </a:p>
          <a:p>
            <a:r>
              <a:rPr lang="ru-RU" dirty="0"/>
              <a:t>Более практичное решение заключается в том, чтобы использовать ограниченный пул потоков и асинхронный ввод-вывод. В этом случае небольшое количество потоков обслуживает большое число соединений, переключаясь между ними по событиям готовности данных.</a:t>
            </a:r>
          </a:p>
          <a:p>
            <a:endParaRPr lang="ru-RU" dirty="0"/>
          </a:p>
          <a:p>
            <a:r>
              <a:rPr lang="ru-RU" dirty="0"/>
              <a:t>Такой подход позволяет эффективно использовать ресурсы операционной системы и масштабироваться до большого числа клиентов без взрывного роста числа потоков.</a:t>
            </a:r>
          </a:p>
          <a:p>
            <a:endParaRPr lang="ru-RU" dirty="0"/>
          </a:p>
          <a:p>
            <a:r>
              <a:rPr lang="ru-RU" dirty="0"/>
              <a:t>Этот пример хорошо иллюстрирует общую идею: конкурентность должна быть управляемой, а не максимальной, и архитектурные решения часто важнее простого увеличения числа потоков.</a:t>
            </a:r>
          </a:p>
          <a:p>
            <a:endParaRPr lang="en-US" dirty="0"/>
          </a:p>
        </p:txBody>
      </p:sp>
      <p:sp>
        <p:nvSpPr>
          <p:cNvPr id="4" name="Slide Number Placeholder 3"/>
          <p:cNvSpPr>
            <a:spLocks noGrp="1"/>
          </p:cNvSpPr>
          <p:nvPr>
            <p:ph type="sldNum" sz="quarter" idx="5"/>
          </p:nvPr>
        </p:nvSpPr>
        <p:spPr/>
        <p:txBody>
          <a:bodyPr/>
          <a:lstStyle/>
          <a:p>
            <a:fld id="{31AFB55F-6A40-4B48-8E84-03104FFED202}" type="slidenum">
              <a:rPr lang="en-US" smtClean="0"/>
              <a:t>26</a:t>
            </a:fld>
            <a:endParaRPr lang="en-US" dirty="0"/>
          </a:p>
        </p:txBody>
      </p:sp>
    </p:spTree>
    <p:extLst>
      <p:ext uri="{BB962C8B-B14F-4D97-AF65-F5344CB8AC3E}">
        <p14:creationId xmlns:p14="http://schemas.microsoft.com/office/powerpoint/2010/main" val="31293233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1AFB55F-6A40-4B48-8E84-03104FFED202}" type="slidenum">
              <a:rPr lang="en-US" smtClean="0"/>
              <a:t>27</a:t>
            </a:fld>
            <a:endParaRPr lang="en-US" dirty="0"/>
          </a:p>
        </p:txBody>
      </p:sp>
    </p:spTree>
    <p:extLst>
      <p:ext uri="{BB962C8B-B14F-4D97-AF65-F5344CB8AC3E}">
        <p14:creationId xmlns:p14="http://schemas.microsoft.com/office/powerpoint/2010/main" val="14479036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1AFB55F-6A40-4B48-8E84-03104FFED202}" type="slidenum">
              <a:rPr lang="en-US" smtClean="0"/>
              <a:t>28</a:t>
            </a:fld>
            <a:endParaRPr lang="en-US" dirty="0"/>
          </a:p>
        </p:txBody>
      </p:sp>
    </p:spTree>
    <p:extLst>
      <p:ext uri="{BB962C8B-B14F-4D97-AF65-F5344CB8AC3E}">
        <p14:creationId xmlns:p14="http://schemas.microsoft.com/office/powerpoint/2010/main" val="3502154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0F398-D331-4C69-9489-4DA3ED6CF8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51AA16-2016-D59E-5463-31B9E18A2D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ED9C47-672E-366E-EED9-E85194F55A2D}"/>
              </a:ext>
            </a:extLst>
          </p:cNvPr>
          <p:cNvSpPr>
            <a:spLocks noGrp="1"/>
          </p:cNvSpPr>
          <p:nvPr>
            <p:ph type="dt" sz="half" idx="10"/>
          </p:nvPr>
        </p:nvSpPr>
        <p:spPr/>
        <p:txBody>
          <a:bodyPr/>
          <a:lstStyle/>
          <a:p>
            <a:fld id="{BAB717A0-B475-4644-9A30-9CCF559FD09F}" type="datetimeFigureOut">
              <a:rPr lang="en-US" smtClean="0"/>
              <a:t>2/6/2026</a:t>
            </a:fld>
            <a:endParaRPr lang="en-US" dirty="0"/>
          </a:p>
        </p:txBody>
      </p:sp>
      <p:sp>
        <p:nvSpPr>
          <p:cNvPr id="5" name="Footer Placeholder 4">
            <a:extLst>
              <a:ext uri="{FF2B5EF4-FFF2-40B4-BE49-F238E27FC236}">
                <a16:creationId xmlns:a16="http://schemas.microsoft.com/office/drawing/2014/main" id="{3FBD9617-DCD4-B449-FF7E-E9F90507DF8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FCB91AC-1389-E13D-33BB-9A49EC5743B9}"/>
              </a:ext>
            </a:extLst>
          </p:cNvPr>
          <p:cNvSpPr>
            <a:spLocks noGrp="1"/>
          </p:cNvSpPr>
          <p:nvPr>
            <p:ph type="sldNum" sz="quarter" idx="12"/>
          </p:nvPr>
        </p:nvSpPr>
        <p:spPr/>
        <p:txBody>
          <a:bodyPr/>
          <a:lstStyle/>
          <a:p>
            <a:fld id="{04992C7E-ED67-4FFB-84F5-58EB27801D24}" type="slidenum">
              <a:rPr lang="en-US" smtClean="0"/>
              <a:t>‹#›</a:t>
            </a:fld>
            <a:endParaRPr lang="en-US" dirty="0"/>
          </a:p>
        </p:txBody>
      </p:sp>
    </p:spTree>
    <p:extLst>
      <p:ext uri="{BB962C8B-B14F-4D97-AF65-F5344CB8AC3E}">
        <p14:creationId xmlns:p14="http://schemas.microsoft.com/office/powerpoint/2010/main" val="2979913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DE575-3BD1-8537-7A16-E11B7EE034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C54E2F-AB6A-4EC0-7163-4F1F90CCBA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2B3B40-D93D-8E33-AF53-F9B5B4AC6D8D}"/>
              </a:ext>
            </a:extLst>
          </p:cNvPr>
          <p:cNvSpPr>
            <a:spLocks noGrp="1"/>
          </p:cNvSpPr>
          <p:nvPr>
            <p:ph type="dt" sz="half" idx="10"/>
          </p:nvPr>
        </p:nvSpPr>
        <p:spPr/>
        <p:txBody>
          <a:bodyPr/>
          <a:lstStyle/>
          <a:p>
            <a:fld id="{BAB717A0-B475-4644-9A30-9CCF559FD09F}" type="datetimeFigureOut">
              <a:rPr lang="en-US" smtClean="0"/>
              <a:t>2/6/2026</a:t>
            </a:fld>
            <a:endParaRPr lang="en-US" dirty="0"/>
          </a:p>
        </p:txBody>
      </p:sp>
      <p:sp>
        <p:nvSpPr>
          <p:cNvPr id="5" name="Footer Placeholder 4">
            <a:extLst>
              <a:ext uri="{FF2B5EF4-FFF2-40B4-BE49-F238E27FC236}">
                <a16:creationId xmlns:a16="http://schemas.microsoft.com/office/drawing/2014/main" id="{152E0205-744E-6B7E-B20E-DB1E7F85CA7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F884876-2FA0-4714-6A31-8142FD19D27B}"/>
              </a:ext>
            </a:extLst>
          </p:cNvPr>
          <p:cNvSpPr>
            <a:spLocks noGrp="1"/>
          </p:cNvSpPr>
          <p:nvPr>
            <p:ph type="sldNum" sz="quarter" idx="12"/>
          </p:nvPr>
        </p:nvSpPr>
        <p:spPr/>
        <p:txBody>
          <a:bodyPr/>
          <a:lstStyle/>
          <a:p>
            <a:fld id="{04992C7E-ED67-4FFB-84F5-58EB27801D24}" type="slidenum">
              <a:rPr lang="en-US" smtClean="0"/>
              <a:t>‹#›</a:t>
            </a:fld>
            <a:endParaRPr lang="en-US" dirty="0"/>
          </a:p>
        </p:txBody>
      </p:sp>
    </p:spTree>
    <p:extLst>
      <p:ext uri="{BB962C8B-B14F-4D97-AF65-F5344CB8AC3E}">
        <p14:creationId xmlns:p14="http://schemas.microsoft.com/office/powerpoint/2010/main" val="220067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EA2BD-E823-0D95-998D-C2203EB39E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9EE7D6-661A-51BA-D291-6A95A163F4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EDB1E0-35A5-1D05-6018-38B6717A5CBE}"/>
              </a:ext>
            </a:extLst>
          </p:cNvPr>
          <p:cNvSpPr>
            <a:spLocks noGrp="1"/>
          </p:cNvSpPr>
          <p:nvPr>
            <p:ph type="dt" sz="half" idx="10"/>
          </p:nvPr>
        </p:nvSpPr>
        <p:spPr/>
        <p:txBody>
          <a:bodyPr/>
          <a:lstStyle/>
          <a:p>
            <a:fld id="{BAB717A0-B475-4644-9A30-9CCF559FD09F}" type="datetimeFigureOut">
              <a:rPr lang="en-US" smtClean="0"/>
              <a:t>2/6/2026</a:t>
            </a:fld>
            <a:endParaRPr lang="en-US" dirty="0"/>
          </a:p>
        </p:txBody>
      </p:sp>
      <p:sp>
        <p:nvSpPr>
          <p:cNvPr id="5" name="Footer Placeholder 4">
            <a:extLst>
              <a:ext uri="{FF2B5EF4-FFF2-40B4-BE49-F238E27FC236}">
                <a16:creationId xmlns:a16="http://schemas.microsoft.com/office/drawing/2014/main" id="{9F6D4F28-3209-81EA-7895-2E649B55967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16B1B4D-043F-213F-67B6-91BC83FB0DF3}"/>
              </a:ext>
            </a:extLst>
          </p:cNvPr>
          <p:cNvSpPr>
            <a:spLocks noGrp="1"/>
          </p:cNvSpPr>
          <p:nvPr>
            <p:ph type="sldNum" sz="quarter" idx="12"/>
          </p:nvPr>
        </p:nvSpPr>
        <p:spPr/>
        <p:txBody>
          <a:bodyPr/>
          <a:lstStyle/>
          <a:p>
            <a:fld id="{04992C7E-ED67-4FFB-84F5-58EB27801D24}" type="slidenum">
              <a:rPr lang="en-US" smtClean="0"/>
              <a:t>‹#›</a:t>
            </a:fld>
            <a:endParaRPr lang="en-US" dirty="0"/>
          </a:p>
        </p:txBody>
      </p:sp>
    </p:spTree>
    <p:extLst>
      <p:ext uri="{BB962C8B-B14F-4D97-AF65-F5344CB8AC3E}">
        <p14:creationId xmlns:p14="http://schemas.microsoft.com/office/powerpoint/2010/main" val="3389544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5B603-174E-EA86-6C05-62AD32A604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57CE98-7120-F881-1ABC-AE8D8F37B2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FDF23A-897E-89E6-7492-A9773509FB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0034405-9499-618C-1EF7-4F4B0B583165}"/>
              </a:ext>
            </a:extLst>
          </p:cNvPr>
          <p:cNvSpPr>
            <a:spLocks noGrp="1"/>
          </p:cNvSpPr>
          <p:nvPr>
            <p:ph type="dt" sz="half" idx="10"/>
          </p:nvPr>
        </p:nvSpPr>
        <p:spPr/>
        <p:txBody>
          <a:bodyPr/>
          <a:lstStyle/>
          <a:p>
            <a:fld id="{BAB717A0-B475-4644-9A30-9CCF559FD09F}" type="datetimeFigureOut">
              <a:rPr lang="en-US" smtClean="0"/>
              <a:t>2/6/2026</a:t>
            </a:fld>
            <a:endParaRPr lang="en-US" dirty="0"/>
          </a:p>
        </p:txBody>
      </p:sp>
      <p:sp>
        <p:nvSpPr>
          <p:cNvPr id="6" name="Footer Placeholder 5">
            <a:extLst>
              <a:ext uri="{FF2B5EF4-FFF2-40B4-BE49-F238E27FC236}">
                <a16:creationId xmlns:a16="http://schemas.microsoft.com/office/drawing/2014/main" id="{89AB858B-3FE3-40FC-D7FE-F87F73EF831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4E2C7D0-C246-2D0A-A97B-47077741A3AD}"/>
              </a:ext>
            </a:extLst>
          </p:cNvPr>
          <p:cNvSpPr>
            <a:spLocks noGrp="1"/>
          </p:cNvSpPr>
          <p:nvPr>
            <p:ph type="sldNum" sz="quarter" idx="12"/>
          </p:nvPr>
        </p:nvSpPr>
        <p:spPr/>
        <p:txBody>
          <a:bodyPr/>
          <a:lstStyle/>
          <a:p>
            <a:fld id="{04992C7E-ED67-4FFB-84F5-58EB27801D24}" type="slidenum">
              <a:rPr lang="en-US" smtClean="0"/>
              <a:t>‹#›</a:t>
            </a:fld>
            <a:endParaRPr lang="en-US" dirty="0"/>
          </a:p>
        </p:txBody>
      </p:sp>
    </p:spTree>
    <p:extLst>
      <p:ext uri="{BB962C8B-B14F-4D97-AF65-F5344CB8AC3E}">
        <p14:creationId xmlns:p14="http://schemas.microsoft.com/office/powerpoint/2010/main" val="2582107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8F20B-D40B-D5EF-0EDA-B072349D72D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A435E2-987C-7897-737C-E7A7EB680C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9EBCD4-6417-8A9A-8E27-2C7A6BDCC6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A51686-51D9-4BFF-B031-BD415A2463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65717D-801A-5688-AECB-AAE10FF54A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CC3AB0-14E9-0F9A-3F1E-9EB043E4C113}"/>
              </a:ext>
            </a:extLst>
          </p:cNvPr>
          <p:cNvSpPr>
            <a:spLocks noGrp="1"/>
          </p:cNvSpPr>
          <p:nvPr>
            <p:ph type="dt" sz="half" idx="10"/>
          </p:nvPr>
        </p:nvSpPr>
        <p:spPr/>
        <p:txBody>
          <a:bodyPr/>
          <a:lstStyle/>
          <a:p>
            <a:fld id="{BAB717A0-B475-4644-9A30-9CCF559FD09F}" type="datetimeFigureOut">
              <a:rPr lang="en-US" smtClean="0"/>
              <a:t>2/6/2026</a:t>
            </a:fld>
            <a:endParaRPr lang="en-US" dirty="0"/>
          </a:p>
        </p:txBody>
      </p:sp>
      <p:sp>
        <p:nvSpPr>
          <p:cNvPr id="8" name="Footer Placeholder 7">
            <a:extLst>
              <a:ext uri="{FF2B5EF4-FFF2-40B4-BE49-F238E27FC236}">
                <a16:creationId xmlns:a16="http://schemas.microsoft.com/office/drawing/2014/main" id="{EF46764F-1C47-55FB-C346-13D1F558439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3D0D68C-CFEA-C2A4-F67F-F81B2137ABD7}"/>
              </a:ext>
            </a:extLst>
          </p:cNvPr>
          <p:cNvSpPr>
            <a:spLocks noGrp="1"/>
          </p:cNvSpPr>
          <p:nvPr>
            <p:ph type="sldNum" sz="quarter" idx="12"/>
          </p:nvPr>
        </p:nvSpPr>
        <p:spPr/>
        <p:txBody>
          <a:bodyPr/>
          <a:lstStyle/>
          <a:p>
            <a:fld id="{04992C7E-ED67-4FFB-84F5-58EB27801D24}" type="slidenum">
              <a:rPr lang="en-US" smtClean="0"/>
              <a:t>‹#›</a:t>
            </a:fld>
            <a:endParaRPr lang="en-US" dirty="0"/>
          </a:p>
        </p:txBody>
      </p:sp>
    </p:spTree>
    <p:extLst>
      <p:ext uri="{BB962C8B-B14F-4D97-AF65-F5344CB8AC3E}">
        <p14:creationId xmlns:p14="http://schemas.microsoft.com/office/powerpoint/2010/main" val="2468504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EB6F-5040-1FC1-3C9A-55E41E66E7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4235E6-8FF5-2FE5-15F5-2ABE6B89A920}"/>
              </a:ext>
            </a:extLst>
          </p:cNvPr>
          <p:cNvSpPr>
            <a:spLocks noGrp="1"/>
          </p:cNvSpPr>
          <p:nvPr>
            <p:ph type="dt" sz="half" idx="10"/>
          </p:nvPr>
        </p:nvSpPr>
        <p:spPr/>
        <p:txBody>
          <a:bodyPr/>
          <a:lstStyle/>
          <a:p>
            <a:fld id="{BAB717A0-B475-4644-9A30-9CCF559FD09F}" type="datetimeFigureOut">
              <a:rPr lang="en-US" smtClean="0"/>
              <a:t>2/6/2026</a:t>
            </a:fld>
            <a:endParaRPr lang="en-US" dirty="0"/>
          </a:p>
        </p:txBody>
      </p:sp>
      <p:sp>
        <p:nvSpPr>
          <p:cNvPr id="4" name="Footer Placeholder 3">
            <a:extLst>
              <a:ext uri="{FF2B5EF4-FFF2-40B4-BE49-F238E27FC236}">
                <a16:creationId xmlns:a16="http://schemas.microsoft.com/office/drawing/2014/main" id="{6F82B383-90E1-7C15-8111-17356632598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44453D6-2E54-0853-A8D2-2201134D9C85}"/>
              </a:ext>
            </a:extLst>
          </p:cNvPr>
          <p:cNvSpPr>
            <a:spLocks noGrp="1"/>
          </p:cNvSpPr>
          <p:nvPr>
            <p:ph type="sldNum" sz="quarter" idx="12"/>
          </p:nvPr>
        </p:nvSpPr>
        <p:spPr/>
        <p:txBody>
          <a:bodyPr/>
          <a:lstStyle/>
          <a:p>
            <a:fld id="{04992C7E-ED67-4FFB-84F5-58EB27801D24}" type="slidenum">
              <a:rPr lang="en-US" smtClean="0"/>
              <a:t>‹#›</a:t>
            </a:fld>
            <a:endParaRPr lang="en-US" dirty="0"/>
          </a:p>
        </p:txBody>
      </p:sp>
    </p:spTree>
    <p:extLst>
      <p:ext uri="{BB962C8B-B14F-4D97-AF65-F5344CB8AC3E}">
        <p14:creationId xmlns:p14="http://schemas.microsoft.com/office/powerpoint/2010/main" val="3516026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6019D0-C4AE-7FBB-5364-0C113587BE31}"/>
              </a:ext>
            </a:extLst>
          </p:cNvPr>
          <p:cNvSpPr>
            <a:spLocks noGrp="1"/>
          </p:cNvSpPr>
          <p:nvPr>
            <p:ph type="dt" sz="half" idx="10"/>
          </p:nvPr>
        </p:nvSpPr>
        <p:spPr/>
        <p:txBody>
          <a:bodyPr/>
          <a:lstStyle/>
          <a:p>
            <a:fld id="{BAB717A0-B475-4644-9A30-9CCF559FD09F}" type="datetimeFigureOut">
              <a:rPr lang="en-US" smtClean="0"/>
              <a:t>2/6/2026</a:t>
            </a:fld>
            <a:endParaRPr lang="en-US" dirty="0"/>
          </a:p>
        </p:txBody>
      </p:sp>
      <p:sp>
        <p:nvSpPr>
          <p:cNvPr id="3" name="Footer Placeholder 2">
            <a:extLst>
              <a:ext uri="{FF2B5EF4-FFF2-40B4-BE49-F238E27FC236}">
                <a16:creationId xmlns:a16="http://schemas.microsoft.com/office/drawing/2014/main" id="{AE90A4C0-6A3D-61B9-8C61-296DF036438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95F63D6-D131-BB8F-835D-512CFB3AC48B}"/>
              </a:ext>
            </a:extLst>
          </p:cNvPr>
          <p:cNvSpPr>
            <a:spLocks noGrp="1"/>
          </p:cNvSpPr>
          <p:nvPr>
            <p:ph type="sldNum" sz="quarter" idx="12"/>
          </p:nvPr>
        </p:nvSpPr>
        <p:spPr/>
        <p:txBody>
          <a:bodyPr/>
          <a:lstStyle/>
          <a:p>
            <a:fld id="{04992C7E-ED67-4FFB-84F5-58EB27801D24}" type="slidenum">
              <a:rPr lang="en-US" smtClean="0"/>
              <a:t>‹#›</a:t>
            </a:fld>
            <a:endParaRPr lang="en-US" dirty="0"/>
          </a:p>
        </p:txBody>
      </p:sp>
    </p:spTree>
    <p:extLst>
      <p:ext uri="{BB962C8B-B14F-4D97-AF65-F5344CB8AC3E}">
        <p14:creationId xmlns:p14="http://schemas.microsoft.com/office/powerpoint/2010/main" val="3501032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0637D-88E5-3156-AB4C-10B99D7F4C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CB7CA6-B4FA-DCE4-E795-E927F41668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EF4D3A-6BC1-4E56-D41D-9AAEF0CE7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421487-822C-C7F2-CE91-A290B4CCAF83}"/>
              </a:ext>
            </a:extLst>
          </p:cNvPr>
          <p:cNvSpPr>
            <a:spLocks noGrp="1"/>
          </p:cNvSpPr>
          <p:nvPr>
            <p:ph type="dt" sz="half" idx="10"/>
          </p:nvPr>
        </p:nvSpPr>
        <p:spPr/>
        <p:txBody>
          <a:bodyPr/>
          <a:lstStyle/>
          <a:p>
            <a:fld id="{BAB717A0-B475-4644-9A30-9CCF559FD09F}" type="datetimeFigureOut">
              <a:rPr lang="en-US" smtClean="0"/>
              <a:t>2/6/2026</a:t>
            </a:fld>
            <a:endParaRPr lang="en-US" dirty="0"/>
          </a:p>
        </p:txBody>
      </p:sp>
      <p:sp>
        <p:nvSpPr>
          <p:cNvPr id="6" name="Footer Placeholder 5">
            <a:extLst>
              <a:ext uri="{FF2B5EF4-FFF2-40B4-BE49-F238E27FC236}">
                <a16:creationId xmlns:a16="http://schemas.microsoft.com/office/drawing/2014/main" id="{1503B099-330B-035F-2418-2EAEB020C02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2706E8F-136D-4D3D-DFC8-30A785D5A7DB}"/>
              </a:ext>
            </a:extLst>
          </p:cNvPr>
          <p:cNvSpPr>
            <a:spLocks noGrp="1"/>
          </p:cNvSpPr>
          <p:nvPr>
            <p:ph type="sldNum" sz="quarter" idx="12"/>
          </p:nvPr>
        </p:nvSpPr>
        <p:spPr/>
        <p:txBody>
          <a:bodyPr/>
          <a:lstStyle/>
          <a:p>
            <a:fld id="{04992C7E-ED67-4FFB-84F5-58EB27801D24}" type="slidenum">
              <a:rPr lang="en-US" smtClean="0"/>
              <a:t>‹#›</a:t>
            </a:fld>
            <a:endParaRPr lang="en-US" dirty="0"/>
          </a:p>
        </p:txBody>
      </p:sp>
    </p:spTree>
    <p:extLst>
      <p:ext uri="{BB962C8B-B14F-4D97-AF65-F5344CB8AC3E}">
        <p14:creationId xmlns:p14="http://schemas.microsoft.com/office/powerpoint/2010/main" val="3925661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A670C-DD28-AFA9-0AAE-4B878A5142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FBFA5E8-86F5-E43B-E18D-439643AD96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3CDCB4B-DCF4-E712-8DDF-01C0AF19E2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16FB11-505E-EBB2-99A1-9B08A87EE937}"/>
              </a:ext>
            </a:extLst>
          </p:cNvPr>
          <p:cNvSpPr>
            <a:spLocks noGrp="1"/>
          </p:cNvSpPr>
          <p:nvPr>
            <p:ph type="dt" sz="half" idx="10"/>
          </p:nvPr>
        </p:nvSpPr>
        <p:spPr/>
        <p:txBody>
          <a:bodyPr/>
          <a:lstStyle/>
          <a:p>
            <a:fld id="{BAB717A0-B475-4644-9A30-9CCF559FD09F}" type="datetimeFigureOut">
              <a:rPr lang="en-US" smtClean="0"/>
              <a:t>2/6/2026</a:t>
            </a:fld>
            <a:endParaRPr lang="en-US" dirty="0"/>
          </a:p>
        </p:txBody>
      </p:sp>
      <p:sp>
        <p:nvSpPr>
          <p:cNvPr id="6" name="Footer Placeholder 5">
            <a:extLst>
              <a:ext uri="{FF2B5EF4-FFF2-40B4-BE49-F238E27FC236}">
                <a16:creationId xmlns:a16="http://schemas.microsoft.com/office/drawing/2014/main" id="{F0484783-C5BF-8580-EDB8-D2852092820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5015451-F5C1-859D-6399-D3946BC7AE8E}"/>
              </a:ext>
            </a:extLst>
          </p:cNvPr>
          <p:cNvSpPr>
            <a:spLocks noGrp="1"/>
          </p:cNvSpPr>
          <p:nvPr>
            <p:ph type="sldNum" sz="quarter" idx="12"/>
          </p:nvPr>
        </p:nvSpPr>
        <p:spPr/>
        <p:txBody>
          <a:bodyPr/>
          <a:lstStyle/>
          <a:p>
            <a:fld id="{04992C7E-ED67-4FFB-84F5-58EB27801D24}" type="slidenum">
              <a:rPr lang="en-US" smtClean="0"/>
              <a:t>‹#›</a:t>
            </a:fld>
            <a:endParaRPr lang="en-US" dirty="0"/>
          </a:p>
        </p:txBody>
      </p:sp>
    </p:spTree>
    <p:extLst>
      <p:ext uri="{BB962C8B-B14F-4D97-AF65-F5344CB8AC3E}">
        <p14:creationId xmlns:p14="http://schemas.microsoft.com/office/powerpoint/2010/main" val="1227432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8F00C-1F06-A7D9-F640-BCF95E6BCF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B354D4-944D-47BF-5BA3-D8D8C60F24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A133D5-F3FB-51C1-6D4A-C5D2992AECE6}"/>
              </a:ext>
            </a:extLst>
          </p:cNvPr>
          <p:cNvSpPr>
            <a:spLocks noGrp="1"/>
          </p:cNvSpPr>
          <p:nvPr>
            <p:ph type="dt" sz="half" idx="10"/>
          </p:nvPr>
        </p:nvSpPr>
        <p:spPr/>
        <p:txBody>
          <a:bodyPr/>
          <a:lstStyle/>
          <a:p>
            <a:fld id="{BAB717A0-B475-4644-9A30-9CCF559FD09F}" type="datetimeFigureOut">
              <a:rPr lang="en-US" smtClean="0"/>
              <a:t>2/6/2026</a:t>
            </a:fld>
            <a:endParaRPr lang="en-US" dirty="0"/>
          </a:p>
        </p:txBody>
      </p:sp>
      <p:sp>
        <p:nvSpPr>
          <p:cNvPr id="5" name="Footer Placeholder 4">
            <a:extLst>
              <a:ext uri="{FF2B5EF4-FFF2-40B4-BE49-F238E27FC236}">
                <a16:creationId xmlns:a16="http://schemas.microsoft.com/office/drawing/2014/main" id="{E83D4E5C-D832-4F81-A347-4E2BACD7AEF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47F4E46-60E6-1247-5F04-240A53EE4F19}"/>
              </a:ext>
            </a:extLst>
          </p:cNvPr>
          <p:cNvSpPr>
            <a:spLocks noGrp="1"/>
          </p:cNvSpPr>
          <p:nvPr>
            <p:ph type="sldNum" sz="quarter" idx="12"/>
          </p:nvPr>
        </p:nvSpPr>
        <p:spPr/>
        <p:txBody>
          <a:bodyPr/>
          <a:lstStyle/>
          <a:p>
            <a:fld id="{04992C7E-ED67-4FFB-84F5-58EB27801D24}" type="slidenum">
              <a:rPr lang="en-US" smtClean="0"/>
              <a:t>‹#›</a:t>
            </a:fld>
            <a:endParaRPr lang="en-US" dirty="0"/>
          </a:p>
        </p:txBody>
      </p:sp>
    </p:spTree>
    <p:extLst>
      <p:ext uri="{BB962C8B-B14F-4D97-AF65-F5344CB8AC3E}">
        <p14:creationId xmlns:p14="http://schemas.microsoft.com/office/powerpoint/2010/main" val="96585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B3E13F-5C97-736E-1CE5-B42E90BD8A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E7140C-2917-9B08-35DE-23B59BF1D2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25DACF-82B7-C078-D376-BC6C5755B653}"/>
              </a:ext>
            </a:extLst>
          </p:cNvPr>
          <p:cNvSpPr>
            <a:spLocks noGrp="1"/>
          </p:cNvSpPr>
          <p:nvPr>
            <p:ph type="dt" sz="half" idx="10"/>
          </p:nvPr>
        </p:nvSpPr>
        <p:spPr/>
        <p:txBody>
          <a:bodyPr/>
          <a:lstStyle/>
          <a:p>
            <a:fld id="{BAB717A0-B475-4644-9A30-9CCF559FD09F}" type="datetimeFigureOut">
              <a:rPr lang="en-US" smtClean="0"/>
              <a:t>2/6/2026</a:t>
            </a:fld>
            <a:endParaRPr lang="en-US" dirty="0"/>
          </a:p>
        </p:txBody>
      </p:sp>
      <p:sp>
        <p:nvSpPr>
          <p:cNvPr id="5" name="Footer Placeholder 4">
            <a:extLst>
              <a:ext uri="{FF2B5EF4-FFF2-40B4-BE49-F238E27FC236}">
                <a16:creationId xmlns:a16="http://schemas.microsoft.com/office/drawing/2014/main" id="{9F277070-77AE-4099-8D2D-FFF672F987D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9DAD963-F983-745B-AAC9-E47742D08B30}"/>
              </a:ext>
            </a:extLst>
          </p:cNvPr>
          <p:cNvSpPr>
            <a:spLocks noGrp="1"/>
          </p:cNvSpPr>
          <p:nvPr>
            <p:ph type="sldNum" sz="quarter" idx="12"/>
          </p:nvPr>
        </p:nvSpPr>
        <p:spPr/>
        <p:txBody>
          <a:bodyPr/>
          <a:lstStyle/>
          <a:p>
            <a:fld id="{04992C7E-ED67-4FFB-84F5-58EB27801D24}" type="slidenum">
              <a:rPr lang="en-US" smtClean="0"/>
              <a:t>‹#›</a:t>
            </a:fld>
            <a:endParaRPr lang="en-US" dirty="0"/>
          </a:p>
        </p:txBody>
      </p:sp>
    </p:spTree>
    <p:extLst>
      <p:ext uri="{BB962C8B-B14F-4D97-AF65-F5344CB8AC3E}">
        <p14:creationId xmlns:p14="http://schemas.microsoft.com/office/powerpoint/2010/main" val="2128104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5EB815-91F1-83AB-A185-0957C69D0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03CDA4-5DE4-1D22-BCDC-55417E2ACE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2C1E6D-6C85-3F0A-1DB8-F345C73923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AB717A0-B475-4644-9A30-9CCF559FD09F}" type="datetimeFigureOut">
              <a:rPr lang="en-US" smtClean="0"/>
              <a:t>2/6/2026</a:t>
            </a:fld>
            <a:endParaRPr lang="en-US" dirty="0"/>
          </a:p>
        </p:txBody>
      </p:sp>
      <p:sp>
        <p:nvSpPr>
          <p:cNvPr id="5" name="Footer Placeholder 4">
            <a:extLst>
              <a:ext uri="{FF2B5EF4-FFF2-40B4-BE49-F238E27FC236}">
                <a16:creationId xmlns:a16="http://schemas.microsoft.com/office/drawing/2014/main" id="{D12952DA-BAE3-A152-7353-B25C6A797C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2B2E2F44-D8F6-FA09-F3D9-B7205A0621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992C7E-ED67-4FFB-84F5-58EB27801D24}" type="slidenum">
              <a:rPr lang="en-US" smtClean="0"/>
              <a:t>‹#›</a:t>
            </a:fld>
            <a:endParaRPr lang="en-US" dirty="0"/>
          </a:p>
        </p:txBody>
      </p:sp>
    </p:spTree>
    <p:extLst>
      <p:ext uri="{BB962C8B-B14F-4D97-AF65-F5344CB8AC3E}">
        <p14:creationId xmlns:p14="http://schemas.microsoft.com/office/powerpoint/2010/main" val="3502753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399E1-33FD-FB31-1D48-33E0470F1E25}"/>
              </a:ext>
            </a:extLst>
          </p:cNvPr>
          <p:cNvSpPr>
            <a:spLocks noGrp="1"/>
          </p:cNvSpPr>
          <p:nvPr>
            <p:ph type="ctrTitle"/>
          </p:nvPr>
        </p:nvSpPr>
        <p:spPr>
          <a:xfrm>
            <a:off x="1524000" y="1122363"/>
            <a:ext cx="9144000" cy="2387600"/>
          </a:xfrm>
        </p:spPr>
        <p:txBody>
          <a:bodyPr>
            <a:noAutofit/>
          </a:bodyPr>
          <a:lstStyle/>
          <a:p>
            <a:r>
              <a:rPr lang="ru-RU" dirty="0"/>
              <a:t>Конкурентность  и параллелизм</a:t>
            </a:r>
            <a:endParaRPr lang="en-US" dirty="0"/>
          </a:p>
        </p:txBody>
      </p:sp>
      <p:sp>
        <p:nvSpPr>
          <p:cNvPr id="8" name="Subtitle 7">
            <a:extLst>
              <a:ext uri="{FF2B5EF4-FFF2-40B4-BE49-F238E27FC236}">
                <a16:creationId xmlns:a16="http://schemas.microsoft.com/office/drawing/2014/main" id="{08549D95-1B27-F1B1-845D-5AB215C76CA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41001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838A3-F4AC-E0C9-EACF-F4CBD4D51425}"/>
              </a:ext>
            </a:extLst>
          </p:cNvPr>
          <p:cNvSpPr>
            <a:spLocks noGrp="1"/>
          </p:cNvSpPr>
          <p:nvPr>
            <p:ph type="title"/>
          </p:nvPr>
        </p:nvSpPr>
        <p:spPr/>
        <p:txBody>
          <a:bodyPr/>
          <a:lstStyle/>
          <a:p>
            <a:r>
              <a:rPr lang="ru-RU" dirty="0"/>
              <a:t>Конкурентность (</a:t>
            </a:r>
            <a:r>
              <a:rPr lang="en-US" dirty="0"/>
              <a:t>Concurrency)</a:t>
            </a:r>
          </a:p>
        </p:txBody>
      </p:sp>
      <p:sp>
        <p:nvSpPr>
          <p:cNvPr id="3" name="Content Placeholder 2">
            <a:extLst>
              <a:ext uri="{FF2B5EF4-FFF2-40B4-BE49-F238E27FC236}">
                <a16:creationId xmlns:a16="http://schemas.microsoft.com/office/drawing/2014/main" id="{93DABFE0-8E47-A1F0-20F3-AE6C27DC2EC7}"/>
              </a:ext>
            </a:extLst>
          </p:cNvPr>
          <p:cNvSpPr>
            <a:spLocks noGrp="1"/>
          </p:cNvSpPr>
          <p:nvPr>
            <p:ph idx="1"/>
          </p:nvPr>
        </p:nvSpPr>
        <p:spPr/>
        <p:txBody>
          <a:bodyPr>
            <a:normAutofit lnSpcReduction="10000"/>
          </a:bodyPr>
          <a:lstStyle/>
          <a:p>
            <a:r>
              <a:rPr lang="ru-RU" b="1" dirty="0"/>
              <a:t>Конкурентность</a:t>
            </a:r>
            <a:r>
              <a:rPr lang="ru-RU" dirty="0"/>
              <a:t> — это способ организации программы, при котором несколько задач продвигаются вперёд независимо</a:t>
            </a:r>
            <a:br>
              <a:rPr lang="ru-RU" dirty="0"/>
            </a:br>
            <a:r>
              <a:rPr lang="ru-RU" dirty="0"/>
              <a:t>и могут пересекаться по времени.</a:t>
            </a:r>
          </a:p>
          <a:p>
            <a:r>
              <a:rPr lang="ru-RU" dirty="0"/>
              <a:t>Ключевые свойства:</a:t>
            </a:r>
          </a:p>
          <a:p>
            <a:pPr lvl="1"/>
            <a:r>
              <a:rPr lang="ru-RU" dirty="0"/>
              <a:t>задачи логически независимы</a:t>
            </a:r>
          </a:p>
          <a:p>
            <a:pPr lvl="1"/>
            <a:r>
              <a:rPr lang="ru-RU" dirty="0"/>
              <a:t>выполнение может чередоваться</a:t>
            </a:r>
          </a:p>
          <a:p>
            <a:pPr lvl="1"/>
            <a:r>
              <a:rPr lang="ru-RU" dirty="0"/>
              <a:t>одновременное выполнение </a:t>
            </a:r>
            <a:r>
              <a:rPr lang="ru-RU" i="1" dirty="0"/>
              <a:t>не обязательно</a:t>
            </a:r>
            <a:endParaRPr lang="ru-RU" dirty="0"/>
          </a:p>
          <a:p>
            <a:r>
              <a:rPr lang="ru-RU" dirty="0"/>
              <a:t>Примеры:</a:t>
            </a:r>
          </a:p>
          <a:p>
            <a:pPr lvl="1"/>
            <a:r>
              <a:rPr lang="ru-RU" dirty="0"/>
              <a:t>пользовательский интерфейс и фоновая загрузка данных</a:t>
            </a:r>
          </a:p>
          <a:p>
            <a:pPr lvl="1"/>
            <a:r>
              <a:rPr lang="ru-RU" dirty="0"/>
              <a:t>обработка сетевых запросов</a:t>
            </a:r>
          </a:p>
          <a:p>
            <a:pPr lvl="1"/>
            <a:r>
              <a:rPr lang="ru-RU" dirty="0"/>
              <a:t>чтение данных и их обработка</a:t>
            </a:r>
          </a:p>
          <a:p>
            <a:endParaRPr lang="ru-RU" dirty="0"/>
          </a:p>
        </p:txBody>
      </p:sp>
    </p:spTree>
    <p:extLst>
      <p:ext uri="{BB962C8B-B14F-4D97-AF65-F5344CB8AC3E}">
        <p14:creationId xmlns:p14="http://schemas.microsoft.com/office/powerpoint/2010/main" val="1893891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4C57F-5778-D389-593A-6FE614C17C72}"/>
              </a:ext>
            </a:extLst>
          </p:cNvPr>
          <p:cNvSpPr>
            <a:spLocks noGrp="1"/>
          </p:cNvSpPr>
          <p:nvPr>
            <p:ph type="title"/>
          </p:nvPr>
        </p:nvSpPr>
        <p:spPr/>
        <p:txBody>
          <a:bodyPr/>
          <a:lstStyle/>
          <a:p>
            <a:r>
              <a:rPr lang="ru-RU" dirty="0"/>
              <a:t>Параллелизм (</a:t>
            </a:r>
            <a:r>
              <a:rPr lang="en-US" dirty="0"/>
              <a:t>Parallelism)</a:t>
            </a:r>
          </a:p>
        </p:txBody>
      </p:sp>
      <p:sp>
        <p:nvSpPr>
          <p:cNvPr id="3" name="Content Placeholder 2">
            <a:extLst>
              <a:ext uri="{FF2B5EF4-FFF2-40B4-BE49-F238E27FC236}">
                <a16:creationId xmlns:a16="http://schemas.microsoft.com/office/drawing/2014/main" id="{52341C3D-11A1-387C-3B3C-6EE86D422F3C}"/>
              </a:ext>
            </a:extLst>
          </p:cNvPr>
          <p:cNvSpPr>
            <a:spLocks noGrp="1"/>
          </p:cNvSpPr>
          <p:nvPr>
            <p:ph idx="1"/>
          </p:nvPr>
        </p:nvSpPr>
        <p:spPr/>
        <p:txBody>
          <a:bodyPr>
            <a:normAutofit lnSpcReduction="10000"/>
          </a:bodyPr>
          <a:lstStyle/>
          <a:p>
            <a:r>
              <a:rPr lang="ru-RU" b="1" dirty="0"/>
              <a:t>Параллелизм</a:t>
            </a:r>
            <a:r>
              <a:rPr lang="ru-RU" dirty="0"/>
              <a:t> — это фактическое одновременное выполнение нескольких вычислений на разных вычислительных ресурсах.</a:t>
            </a:r>
          </a:p>
          <a:p>
            <a:r>
              <a:rPr lang="ru-RU" dirty="0"/>
              <a:t>Ключевые свойства:</a:t>
            </a:r>
          </a:p>
          <a:p>
            <a:pPr lvl="1"/>
            <a:r>
              <a:rPr lang="ru-RU" dirty="0"/>
              <a:t>задачи выполняются одновременно</a:t>
            </a:r>
          </a:p>
          <a:p>
            <a:pPr lvl="1"/>
            <a:r>
              <a:rPr lang="ru-RU" dirty="0"/>
              <a:t>требуется несколько вычислительных ресурсов</a:t>
            </a:r>
          </a:p>
          <a:p>
            <a:pPr lvl="1"/>
            <a:r>
              <a:rPr lang="ru-RU" dirty="0"/>
              <a:t>основная цель — повышение производительности</a:t>
            </a:r>
          </a:p>
          <a:p>
            <a:r>
              <a:rPr lang="ru-RU" dirty="0"/>
              <a:t>Примеры:</a:t>
            </a:r>
          </a:p>
          <a:p>
            <a:pPr lvl="1"/>
            <a:r>
              <a:rPr lang="ru-RU" dirty="0"/>
              <a:t>выполнение потоков на разных ядрах CPU</a:t>
            </a:r>
          </a:p>
          <a:p>
            <a:pPr lvl="1"/>
            <a:r>
              <a:rPr lang="ru-RU" dirty="0"/>
              <a:t>обработка данных с помощью SIMD-инструкций</a:t>
            </a:r>
          </a:p>
          <a:p>
            <a:pPr lvl="1"/>
            <a:r>
              <a:rPr lang="ru-RU" dirty="0"/>
              <a:t>массовые вычисления на GPU</a:t>
            </a:r>
          </a:p>
        </p:txBody>
      </p:sp>
    </p:spTree>
    <p:extLst>
      <p:ext uri="{BB962C8B-B14F-4D97-AF65-F5344CB8AC3E}">
        <p14:creationId xmlns:p14="http://schemas.microsoft.com/office/powerpoint/2010/main" val="1055813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D2175-7A55-2566-B1EB-AE4AFB5D3795}"/>
              </a:ext>
            </a:extLst>
          </p:cNvPr>
          <p:cNvSpPr>
            <a:spLocks noGrp="1"/>
          </p:cNvSpPr>
          <p:nvPr>
            <p:ph type="title"/>
          </p:nvPr>
        </p:nvSpPr>
        <p:spPr/>
        <p:txBody>
          <a:bodyPr/>
          <a:lstStyle/>
          <a:p>
            <a:r>
              <a:rPr lang="ru-RU" dirty="0"/>
              <a:t>Предпосылки использования конкурентности</a:t>
            </a:r>
            <a:endParaRPr lang="en-US" dirty="0"/>
          </a:p>
        </p:txBody>
      </p:sp>
      <p:sp>
        <p:nvSpPr>
          <p:cNvPr id="3" name="Content Placeholder 2">
            <a:extLst>
              <a:ext uri="{FF2B5EF4-FFF2-40B4-BE49-F238E27FC236}">
                <a16:creationId xmlns:a16="http://schemas.microsoft.com/office/drawing/2014/main" id="{210D0A55-7935-BB42-270A-59338DD15384}"/>
              </a:ext>
            </a:extLst>
          </p:cNvPr>
          <p:cNvSpPr>
            <a:spLocks noGrp="1"/>
          </p:cNvSpPr>
          <p:nvPr>
            <p:ph idx="1"/>
          </p:nvPr>
        </p:nvSpPr>
        <p:spPr/>
        <p:txBody>
          <a:bodyPr/>
          <a:lstStyle/>
          <a:p>
            <a:r>
              <a:rPr lang="ru-RU" dirty="0"/>
              <a:t>Обработка большого количества независимых задач</a:t>
            </a:r>
          </a:p>
          <a:p>
            <a:r>
              <a:rPr lang="ru-RU" dirty="0"/>
              <a:t>Ускорение вычислений</a:t>
            </a:r>
          </a:p>
          <a:p>
            <a:r>
              <a:rPr lang="ru-RU" dirty="0"/>
              <a:t>Улучшение отзывчивости пользовательского интерфейса</a:t>
            </a:r>
          </a:p>
          <a:p>
            <a:r>
              <a:rPr lang="ru-RU" dirty="0"/>
              <a:t>Повышение производительности работы высоконагруженных серверных систем</a:t>
            </a:r>
          </a:p>
        </p:txBody>
      </p:sp>
    </p:spTree>
    <p:extLst>
      <p:ext uri="{BB962C8B-B14F-4D97-AF65-F5344CB8AC3E}">
        <p14:creationId xmlns:p14="http://schemas.microsoft.com/office/powerpoint/2010/main" val="1927273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E9DDFFF-570A-ED0E-4F11-00083E0D8138}"/>
              </a:ext>
            </a:extLst>
          </p:cNvPr>
          <p:cNvSpPr>
            <a:spLocks noGrp="1"/>
          </p:cNvSpPr>
          <p:nvPr>
            <p:ph type="title"/>
          </p:nvPr>
        </p:nvSpPr>
        <p:spPr/>
        <p:txBody>
          <a:bodyPr/>
          <a:lstStyle/>
          <a:p>
            <a:r>
              <a:rPr lang="ru-RU" dirty="0"/>
              <a:t>Отличие конкурентности от параллелизма</a:t>
            </a:r>
            <a:endParaRPr lang="en-US" dirty="0"/>
          </a:p>
        </p:txBody>
      </p:sp>
      <p:graphicFrame>
        <p:nvGraphicFramePr>
          <p:cNvPr id="6" name="Content Placeholder 5">
            <a:extLst>
              <a:ext uri="{FF2B5EF4-FFF2-40B4-BE49-F238E27FC236}">
                <a16:creationId xmlns:a16="http://schemas.microsoft.com/office/drawing/2014/main" id="{B16947B9-297E-75E4-D859-3E5580FBBEAD}"/>
              </a:ext>
            </a:extLst>
          </p:cNvPr>
          <p:cNvGraphicFramePr>
            <a:graphicFrameLocks noGrp="1"/>
          </p:cNvGraphicFramePr>
          <p:nvPr>
            <p:ph idx="1"/>
            <p:extLst>
              <p:ext uri="{D42A27DB-BD31-4B8C-83A1-F6EECF244321}">
                <p14:modId xmlns:p14="http://schemas.microsoft.com/office/powerpoint/2010/main" val="213162579"/>
              </p:ext>
            </p:extLst>
          </p:nvPr>
        </p:nvGraphicFramePr>
        <p:xfrm>
          <a:off x="838200" y="1825625"/>
          <a:ext cx="10515597" cy="367284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1495304825"/>
                    </a:ext>
                  </a:extLst>
                </a:gridCol>
                <a:gridCol w="3505199">
                  <a:extLst>
                    <a:ext uri="{9D8B030D-6E8A-4147-A177-3AD203B41FA5}">
                      <a16:colId xmlns:a16="http://schemas.microsoft.com/office/drawing/2014/main" val="3361949967"/>
                    </a:ext>
                  </a:extLst>
                </a:gridCol>
                <a:gridCol w="3505199">
                  <a:extLst>
                    <a:ext uri="{9D8B030D-6E8A-4147-A177-3AD203B41FA5}">
                      <a16:colId xmlns:a16="http://schemas.microsoft.com/office/drawing/2014/main" val="918194152"/>
                    </a:ext>
                  </a:extLst>
                </a:gridCol>
              </a:tblGrid>
              <a:tr h="370840">
                <a:tc>
                  <a:txBody>
                    <a:bodyPr/>
                    <a:lstStyle/>
                    <a:p>
                      <a:r>
                        <a:rPr lang="ru-RU" dirty="0"/>
                        <a:t>Характеристика</a:t>
                      </a:r>
                      <a:endParaRPr lang="en-US" dirty="0"/>
                    </a:p>
                  </a:txBody>
                  <a:tcPr/>
                </a:tc>
                <a:tc>
                  <a:txBody>
                    <a:bodyPr/>
                    <a:lstStyle/>
                    <a:p>
                      <a:r>
                        <a:rPr lang="ru-RU" dirty="0"/>
                        <a:t>Конкурентность</a:t>
                      </a:r>
                      <a:endParaRPr lang="en-US" dirty="0"/>
                    </a:p>
                  </a:txBody>
                  <a:tcPr/>
                </a:tc>
                <a:tc>
                  <a:txBody>
                    <a:bodyPr/>
                    <a:lstStyle/>
                    <a:p>
                      <a:r>
                        <a:rPr lang="ru-RU" dirty="0"/>
                        <a:t>Параллелизм</a:t>
                      </a:r>
                      <a:endParaRPr lang="en-US" dirty="0"/>
                    </a:p>
                  </a:txBody>
                  <a:tcPr/>
                </a:tc>
                <a:extLst>
                  <a:ext uri="{0D108BD9-81ED-4DB2-BD59-A6C34878D82A}">
                    <a16:rowId xmlns:a16="http://schemas.microsoft.com/office/drawing/2014/main" val="3909340001"/>
                  </a:ext>
                </a:extLst>
              </a:tr>
              <a:tr h="370840">
                <a:tc>
                  <a:txBody>
                    <a:bodyPr/>
                    <a:lstStyle/>
                    <a:p>
                      <a:r>
                        <a:rPr lang="ru-RU" dirty="0"/>
                        <a:t>Суть</a:t>
                      </a:r>
                      <a:endParaRPr lang="en-US" dirty="0"/>
                    </a:p>
                  </a:txBody>
                  <a:tcPr/>
                </a:tc>
                <a:tc>
                  <a:txBody>
                    <a:bodyPr/>
                    <a:lstStyle/>
                    <a:p>
                      <a:r>
                        <a:rPr lang="ru-RU" dirty="0"/>
                        <a:t>Организация нескольких задач в одной программе</a:t>
                      </a:r>
                      <a:endParaRPr lang="en-US" dirty="0"/>
                    </a:p>
                  </a:txBody>
                  <a:tcPr/>
                </a:tc>
                <a:tc>
                  <a:txBody>
                    <a:bodyPr/>
                    <a:lstStyle/>
                    <a:p>
                      <a:r>
                        <a:rPr lang="ru-RU" dirty="0"/>
                        <a:t>Фактическое одновременное выполнение</a:t>
                      </a:r>
                      <a:endParaRPr lang="en-US" dirty="0"/>
                    </a:p>
                  </a:txBody>
                  <a:tcPr/>
                </a:tc>
                <a:extLst>
                  <a:ext uri="{0D108BD9-81ED-4DB2-BD59-A6C34878D82A}">
                    <a16:rowId xmlns:a16="http://schemas.microsoft.com/office/drawing/2014/main" val="3645909872"/>
                  </a:ext>
                </a:extLst>
              </a:tr>
              <a:tr h="370840">
                <a:tc>
                  <a:txBody>
                    <a:bodyPr/>
                    <a:lstStyle/>
                    <a:p>
                      <a:r>
                        <a:rPr lang="ru-RU" dirty="0"/>
                        <a:t>Уровень</a:t>
                      </a:r>
                      <a:endParaRPr lang="en-US" dirty="0"/>
                    </a:p>
                  </a:txBody>
                  <a:tcPr/>
                </a:tc>
                <a:tc>
                  <a:txBody>
                    <a:bodyPr/>
                    <a:lstStyle/>
                    <a:p>
                      <a:r>
                        <a:rPr lang="ru-RU" dirty="0"/>
                        <a:t>Архитектура и модель программы</a:t>
                      </a:r>
                      <a:endParaRPr lang="en-US" dirty="0"/>
                    </a:p>
                  </a:txBody>
                  <a:tcPr/>
                </a:tc>
                <a:tc>
                  <a:txBody>
                    <a:bodyPr/>
                    <a:lstStyle/>
                    <a:p>
                      <a:r>
                        <a:rPr lang="ru-RU" dirty="0"/>
                        <a:t>Исполнение на аппаратуре</a:t>
                      </a:r>
                      <a:endParaRPr lang="en-US" dirty="0"/>
                    </a:p>
                  </a:txBody>
                  <a:tcPr/>
                </a:tc>
                <a:extLst>
                  <a:ext uri="{0D108BD9-81ED-4DB2-BD59-A6C34878D82A}">
                    <a16:rowId xmlns:a16="http://schemas.microsoft.com/office/drawing/2014/main" val="1241090023"/>
                  </a:ext>
                </a:extLst>
              </a:tr>
              <a:tr h="370840">
                <a:tc>
                  <a:txBody>
                    <a:bodyPr/>
                    <a:lstStyle/>
                    <a:p>
                      <a:r>
                        <a:rPr lang="ru-RU" dirty="0"/>
                        <a:t>Пересечение во времени</a:t>
                      </a:r>
                      <a:endParaRPr lang="en-US" dirty="0"/>
                    </a:p>
                  </a:txBody>
                  <a:tcPr/>
                </a:tc>
                <a:tc>
                  <a:txBody>
                    <a:bodyPr/>
                    <a:lstStyle/>
                    <a:p>
                      <a:r>
                        <a:rPr lang="ru-RU" dirty="0"/>
                        <a:t>Да</a:t>
                      </a:r>
                      <a:endParaRPr lang="en-US" dirty="0"/>
                    </a:p>
                  </a:txBody>
                  <a:tcPr/>
                </a:tc>
                <a:tc>
                  <a:txBody>
                    <a:bodyPr/>
                    <a:lstStyle/>
                    <a:p>
                      <a:r>
                        <a:rPr lang="ru-RU" dirty="0"/>
                        <a:t>Да</a:t>
                      </a:r>
                      <a:endParaRPr lang="en-US" dirty="0"/>
                    </a:p>
                  </a:txBody>
                  <a:tcPr/>
                </a:tc>
                <a:extLst>
                  <a:ext uri="{0D108BD9-81ED-4DB2-BD59-A6C34878D82A}">
                    <a16:rowId xmlns:a16="http://schemas.microsoft.com/office/drawing/2014/main" val="3888788691"/>
                  </a:ext>
                </a:extLst>
              </a:tr>
              <a:tr h="370840">
                <a:tc>
                  <a:txBody>
                    <a:bodyPr/>
                    <a:lstStyle/>
                    <a:p>
                      <a:r>
                        <a:rPr lang="ru-RU" dirty="0"/>
                        <a:t>Одновременность</a:t>
                      </a:r>
                      <a:endParaRPr lang="en-US" dirty="0"/>
                    </a:p>
                  </a:txBody>
                  <a:tcPr/>
                </a:tc>
                <a:tc>
                  <a:txBody>
                    <a:bodyPr/>
                    <a:lstStyle/>
                    <a:p>
                      <a:r>
                        <a:rPr lang="ru-RU" dirty="0"/>
                        <a:t>Не обязательно</a:t>
                      </a:r>
                      <a:endParaRPr lang="en-US" dirty="0"/>
                    </a:p>
                  </a:txBody>
                  <a:tcPr/>
                </a:tc>
                <a:tc>
                  <a:txBody>
                    <a:bodyPr/>
                    <a:lstStyle/>
                    <a:p>
                      <a:r>
                        <a:rPr lang="ru-RU" dirty="0"/>
                        <a:t>Обязательна</a:t>
                      </a:r>
                      <a:endParaRPr lang="en-US" dirty="0"/>
                    </a:p>
                  </a:txBody>
                  <a:tcPr/>
                </a:tc>
                <a:extLst>
                  <a:ext uri="{0D108BD9-81ED-4DB2-BD59-A6C34878D82A}">
                    <a16:rowId xmlns:a16="http://schemas.microsoft.com/office/drawing/2014/main" val="2621693383"/>
                  </a:ext>
                </a:extLst>
              </a:tr>
              <a:tr h="370840">
                <a:tc>
                  <a:txBody>
                    <a:bodyPr/>
                    <a:lstStyle/>
                    <a:p>
                      <a:r>
                        <a:rPr lang="ru-RU" dirty="0"/>
                        <a:t>Цель</a:t>
                      </a:r>
                      <a:endParaRPr lang="en-US" dirty="0"/>
                    </a:p>
                  </a:txBody>
                  <a:tcPr/>
                </a:tc>
                <a:tc>
                  <a:txBody>
                    <a:bodyPr/>
                    <a:lstStyle/>
                    <a:p>
                      <a:r>
                        <a:rPr lang="ru-RU" dirty="0"/>
                        <a:t>Управление сложностью, отзывчивость</a:t>
                      </a:r>
                      <a:endParaRPr lang="en-US" dirty="0"/>
                    </a:p>
                  </a:txBody>
                  <a:tcPr/>
                </a:tc>
                <a:tc>
                  <a:txBody>
                    <a:bodyPr/>
                    <a:lstStyle/>
                    <a:p>
                      <a:r>
                        <a:rPr lang="ru-RU" dirty="0"/>
                        <a:t>Ускорение вычислений</a:t>
                      </a:r>
                      <a:endParaRPr lang="en-US" dirty="0"/>
                    </a:p>
                  </a:txBody>
                  <a:tcPr/>
                </a:tc>
                <a:extLst>
                  <a:ext uri="{0D108BD9-81ED-4DB2-BD59-A6C34878D82A}">
                    <a16:rowId xmlns:a16="http://schemas.microsoft.com/office/drawing/2014/main" val="2611569000"/>
                  </a:ext>
                </a:extLst>
              </a:tr>
              <a:tr h="370840">
                <a:tc>
                  <a:txBody>
                    <a:bodyPr/>
                    <a:lstStyle/>
                    <a:p>
                      <a:r>
                        <a:rPr lang="ru-RU" dirty="0"/>
                        <a:t>Аппаратная поддержка</a:t>
                      </a:r>
                      <a:endParaRPr lang="en-US" dirty="0"/>
                    </a:p>
                  </a:txBody>
                  <a:tcPr/>
                </a:tc>
                <a:tc>
                  <a:txBody>
                    <a:bodyPr/>
                    <a:lstStyle/>
                    <a:p>
                      <a:r>
                        <a:rPr lang="ru-RU" dirty="0"/>
                        <a:t>Не требуется</a:t>
                      </a:r>
                      <a:endParaRPr lang="en-US" dirty="0"/>
                    </a:p>
                  </a:txBody>
                  <a:tcPr/>
                </a:tc>
                <a:tc>
                  <a:txBody>
                    <a:bodyPr/>
                    <a:lstStyle/>
                    <a:p>
                      <a:r>
                        <a:rPr lang="ru-RU" dirty="0"/>
                        <a:t>Требуется несколько вычислительных ресурсов</a:t>
                      </a:r>
                      <a:endParaRPr lang="en-US" dirty="0"/>
                    </a:p>
                  </a:txBody>
                  <a:tcPr/>
                </a:tc>
                <a:extLst>
                  <a:ext uri="{0D108BD9-81ED-4DB2-BD59-A6C34878D82A}">
                    <a16:rowId xmlns:a16="http://schemas.microsoft.com/office/drawing/2014/main" val="1060581592"/>
                  </a:ext>
                </a:extLst>
              </a:tr>
            </a:tbl>
          </a:graphicData>
        </a:graphic>
      </p:graphicFrame>
    </p:spTree>
    <p:extLst>
      <p:ext uri="{BB962C8B-B14F-4D97-AF65-F5344CB8AC3E}">
        <p14:creationId xmlns:p14="http://schemas.microsoft.com/office/powerpoint/2010/main" val="3846494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3BCF1-588A-827C-63A8-C415D11B0BE2}"/>
              </a:ext>
            </a:extLst>
          </p:cNvPr>
          <p:cNvSpPr>
            <a:spLocks noGrp="1"/>
          </p:cNvSpPr>
          <p:nvPr>
            <p:ph type="title"/>
          </p:nvPr>
        </p:nvSpPr>
        <p:spPr/>
        <p:txBody>
          <a:bodyPr/>
          <a:lstStyle/>
          <a:p>
            <a:r>
              <a:rPr lang="ru-RU" dirty="0"/>
              <a:t>Конкурентное и параллельное выполнение</a:t>
            </a:r>
            <a:endParaRPr lang="en-US" dirty="0"/>
          </a:p>
        </p:txBody>
      </p:sp>
      <p:sp>
        <p:nvSpPr>
          <p:cNvPr id="4" name="Rectangle 3">
            <a:extLst>
              <a:ext uri="{FF2B5EF4-FFF2-40B4-BE49-F238E27FC236}">
                <a16:creationId xmlns:a16="http://schemas.microsoft.com/office/drawing/2014/main" id="{CF261A7E-FDE2-ED7A-6F0D-2C2CA8558B5C}"/>
              </a:ext>
            </a:extLst>
          </p:cNvPr>
          <p:cNvSpPr/>
          <p:nvPr/>
        </p:nvSpPr>
        <p:spPr>
          <a:xfrm>
            <a:off x="838200" y="2396836"/>
            <a:ext cx="3415145" cy="4433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097FABB6-E0EC-AA1C-F924-7C111D3CB38B}"/>
              </a:ext>
            </a:extLst>
          </p:cNvPr>
          <p:cNvSpPr/>
          <p:nvPr/>
        </p:nvSpPr>
        <p:spPr>
          <a:xfrm>
            <a:off x="4259002" y="2396836"/>
            <a:ext cx="3415145" cy="44334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grpSp>
        <p:nvGrpSpPr>
          <p:cNvPr id="169" name="Group 168">
            <a:extLst>
              <a:ext uri="{FF2B5EF4-FFF2-40B4-BE49-F238E27FC236}">
                <a16:creationId xmlns:a16="http://schemas.microsoft.com/office/drawing/2014/main" id="{FC091528-DD39-2F7A-EF70-ED910A214BC3}"/>
              </a:ext>
            </a:extLst>
          </p:cNvPr>
          <p:cNvGrpSpPr/>
          <p:nvPr/>
        </p:nvGrpSpPr>
        <p:grpSpPr>
          <a:xfrm>
            <a:off x="838201" y="3465513"/>
            <a:ext cx="7238999" cy="443347"/>
            <a:chOff x="-17290464" y="6466609"/>
            <a:chExt cx="58964928" cy="443346"/>
          </a:xfrm>
        </p:grpSpPr>
        <p:grpSp>
          <p:nvGrpSpPr>
            <p:cNvPr id="145" name="Group 144">
              <a:extLst>
                <a:ext uri="{FF2B5EF4-FFF2-40B4-BE49-F238E27FC236}">
                  <a16:creationId xmlns:a16="http://schemas.microsoft.com/office/drawing/2014/main" id="{3DE218C8-5C48-17D6-7C6E-7C1D0F456A1E}"/>
                </a:ext>
              </a:extLst>
            </p:cNvPr>
            <p:cNvGrpSpPr/>
            <p:nvPr/>
          </p:nvGrpSpPr>
          <p:grpSpPr>
            <a:xfrm>
              <a:off x="-17290464" y="6466609"/>
              <a:ext cx="29482464" cy="443346"/>
              <a:chOff x="838200" y="4171661"/>
              <a:chExt cx="29482464" cy="443346"/>
            </a:xfrm>
          </p:grpSpPr>
          <p:grpSp>
            <p:nvGrpSpPr>
              <p:cNvPr id="133" name="Group 132">
                <a:extLst>
                  <a:ext uri="{FF2B5EF4-FFF2-40B4-BE49-F238E27FC236}">
                    <a16:creationId xmlns:a16="http://schemas.microsoft.com/office/drawing/2014/main" id="{D3019A1F-34AE-7196-F69E-DFD8467B72C9}"/>
                  </a:ext>
                </a:extLst>
              </p:cNvPr>
              <p:cNvGrpSpPr/>
              <p:nvPr/>
            </p:nvGrpSpPr>
            <p:grpSpPr>
              <a:xfrm>
                <a:off x="838200" y="4171661"/>
                <a:ext cx="14741232" cy="443346"/>
                <a:chOff x="838200" y="4171661"/>
                <a:chExt cx="14741232" cy="443346"/>
              </a:xfrm>
            </p:grpSpPr>
            <p:grpSp>
              <p:nvGrpSpPr>
                <p:cNvPr id="123" name="Group 122">
                  <a:extLst>
                    <a:ext uri="{FF2B5EF4-FFF2-40B4-BE49-F238E27FC236}">
                      <a16:creationId xmlns:a16="http://schemas.microsoft.com/office/drawing/2014/main" id="{E248851D-4652-7862-4D8F-EF737D1FDA0B}"/>
                    </a:ext>
                  </a:extLst>
                </p:cNvPr>
                <p:cNvGrpSpPr/>
                <p:nvPr/>
              </p:nvGrpSpPr>
              <p:grpSpPr>
                <a:xfrm>
                  <a:off x="838200" y="4171661"/>
                  <a:ext cx="7370616" cy="443346"/>
                  <a:chOff x="838200" y="3243840"/>
                  <a:chExt cx="7370616" cy="443346"/>
                </a:xfrm>
              </p:grpSpPr>
              <p:sp>
                <p:nvSpPr>
                  <p:cNvPr id="124" name="Rectangle 123">
                    <a:extLst>
                      <a:ext uri="{FF2B5EF4-FFF2-40B4-BE49-F238E27FC236}">
                        <a16:creationId xmlns:a16="http://schemas.microsoft.com/office/drawing/2014/main" id="{12063296-ADA7-54D7-B4B5-C438285CD583}"/>
                      </a:ext>
                    </a:extLst>
                  </p:cNvPr>
                  <p:cNvSpPr/>
                  <p:nvPr/>
                </p:nvSpPr>
                <p:spPr>
                  <a:xfrm>
                    <a:off x="838200" y="3243840"/>
                    <a:ext cx="3415145" cy="4433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5" name="Rectangle 124">
                    <a:extLst>
                      <a:ext uri="{FF2B5EF4-FFF2-40B4-BE49-F238E27FC236}">
                        <a16:creationId xmlns:a16="http://schemas.microsoft.com/office/drawing/2014/main" id="{9D3CBCC5-B587-FE30-CFD1-452896E2E925}"/>
                      </a:ext>
                    </a:extLst>
                  </p:cNvPr>
                  <p:cNvSpPr/>
                  <p:nvPr/>
                </p:nvSpPr>
                <p:spPr>
                  <a:xfrm>
                    <a:off x="4523508" y="3243840"/>
                    <a:ext cx="3415145" cy="44334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26" name="Rectangle 125">
                    <a:extLst>
                      <a:ext uri="{FF2B5EF4-FFF2-40B4-BE49-F238E27FC236}">
                        <a16:creationId xmlns:a16="http://schemas.microsoft.com/office/drawing/2014/main" id="{91DA3736-1DBB-D10E-7C57-0F6B6007CC6B}"/>
                      </a:ext>
                    </a:extLst>
                  </p:cNvPr>
                  <p:cNvSpPr/>
                  <p:nvPr/>
                </p:nvSpPr>
                <p:spPr>
                  <a:xfrm>
                    <a:off x="4253344"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27" name="Rectangle 126">
                    <a:extLst>
                      <a:ext uri="{FF2B5EF4-FFF2-40B4-BE49-F238E27FC236}">
                        <a16:creationId xmlns:a16="http://schemas.microsoft.com/office/drawing/2014/main" id="{750DB50C-31CC-A105-85EE-177CC33BDCD8}"/>
                      </a:ext>
                    </a:extLst>
                  </p:cNvPr>
                  <p:cNvSpPr/>
                  <p:nvPr/>
                </p:nvSpPr>
                <p:spPr>
                  <a:xfrm>
                    <a:off x="7938653"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grpSp>
              <p:nvGrpSpPr>
                <p:cNvPr id="128" name="Group 127">
                  <a:extLst>
                    <a:ext uri="{FF2B5EF4-FFF2-40B4-BE49-F238E27FC236}">
                      <a16:creationId xmlns:a16="http://schemas.microsoft.com/office/drawing/2014/main" id="{527A61A0-8DE7-4DD8-9D6C-A7CF3C4A967D}"/>
                    </a:ext>
                  </a:extLst>
                </p:cNvPr>
                <p:cNvGrpSpPr/>
                <p:nvPr/>
              </p:nvGrpSpPr>
              <p:grpSpPr>
                <a:xfrm>
                  <a:off x="8208816" y="4171661"/>
                  <a:ext cx="7370616" cy="443346"/>
                  <a:chOff x="838200" y="3243840"/>
                  <a:chExt cx="7370616" cy="443346"/>
                </a:xfrm>
              </p:grpSpPr>
              <p:sp>
                <p:nvSpPr>
                  <p:cNvPr id="129" name="Rectangle 128">
                    <a:extLst>
                      <a:ext uri="{FF2B5EF4-FFF2-40B4-BE49-F238E27FC236}">
                        <a16:creationId xmlns:a16="http://schemas.microsoft.com/office/drawing/2014/main" id="{70F4B58D-9A95-48B2-9254-8219D0CEFC7A}"/>
                      </a:ext>
                    </a:extLst>
                  </p:cNvPr>
                  <p:cNvSpPr/>
                  <p:nvPr/>
                </p:nvSpPr>
                <p:spPr>
                  <a:xfrm>
                    <a:off x="838200" y="3243840"/>
                    <a:ext cx="3415145" cy="4433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0" name="Rectangle 129">
                    <a:extLst>
                      <a:ext uri="{FF2B5EF4-FFF2-40B4-BE49-F238E27FC236}">
                        <a16:creationId xmlns:a16="http://schemas.microsoft.com/office/drawing/2014/main" id="{8CCE3F3B-BA6E-CD3C-D2BF-61CBFC7D9136}"/>
                      </a:ext>
                    </a:extLst>
                  </p:cNvPr>
                  <p:cNvSpPr/>
                  <p:nvPr/>
                </p:nvSpPr>
                <p:spPr>
                  <a:xfrm>
                    <a:off x="4523508" y="3243840"/>
                    <a:ext cx="3415145" cy="44334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31" name="Rectangle 130">
                    <a:extLst>
                      <a:ext uri="{FF2B5EF4-FFF2-40B4-BE49-F238E27FC236}">
                        <a16:creationId xmlns:a16="http://schemas.microsoft.com/office/drawing/2014/main" id="{E2CF7E82-3DF6-1B5A-3132-A248BDC109F6}"/>
                      </a:ext>
                    </a:extLst>
                  </p:cNvPr>
                  <p:cNvSpPr/>
                  <p:nvPr/>
                </p:nvSpPr>
                <p:spPr>
                  <a:xfrm>
                    <a:off x="4253344"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32" name="Rectangle 131">
                    <a:extLst>
                      <a:ext uri="{FF2B5EF4-FFF2-40B4-BE49-F238E27FC236}">
                        <a16:creationId xmlns:a16="http://schemas.microsoft.com/office/drawing/2014/main" id="{33E20EDD-EA92-5090-431F-31B94A97A4BA}"/>
                      </a:ext>
                    </a:extLst>
                  </p:cNvPr>
                  <p:cNvSpPr/>
                  <p:nvPr/>
                </p:nvSpPr>
                <p:spPr>
                  <a:xfrm>
                    <a:off x="7938653"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grpSp>
          <p:grpSp>
            <p:nvGrpSpPr>
              <p:cNvPr id="134" name="Group 133">
                <a:extLst>
                  <a:ext uri="{FF2B5EF4-FFF2-40B4-BE49-F238E27FC236}">
                    <a16:creationId xmlns:a16="http://schemas.microsoft.com/office/drawing/2014/main" id="{BBFB6A62-613D-C6C4-F752-FB7B8CAB6339}"/>
                  </a:ext>
                </a:extLst>
              </p:cNvPr>
              <p:cNvGrpSpPr/>
              <p:nvPr/>
            </p:nvGrpSpPr>
            <p:grpSpPr>
              <a:xfrm>
                <a:off x="15579432" y="4171661"/>
                <a:ext cx="14741232" cy="443346"/>
                <a:chOff x="838200" y="4171661"/>
                <a:chExt cx="14741232" cy="443346"/>
              </a:xfrm>
            </p:grpSpPr>
            <p:grpSp>
              <p:nvGrpSpPr>
                <p:cNvPr id="135" name="Group 134">
                  <a:extLst>
                    <a:ext uri="{FF2B5EF4-FFF2-40B4-BE49-F238E27FC236}">
                      <a16:creationId xmlns:a16="http://schemas.microsoft.com/office/drawing/2014/main" id="{3C7D6C83-6478-4276-73E1-50D8F1FC2B94}"/>
                    </a:ext>
                  </a:extLst>
                </p:cNvPr>
                <p:cNvGrpSpPr/>
                <p:nvPr/>
              </p:nvGrpSpPr>
              <p:grpSpPr>
                <a:xfrm>
                  <a:off x="838200" y="4171661"/>
                  <a:ext cx="7370616" cy="443346"/>
                  <a:chOff x="838200" y="3243840"/>
                  <a:chExt cx="7370616" cy="443346"/>
                </a:xfrm>
              </p:grpSpPr>
              <p:sp>
                <p:nvSpPr>
                  <p:cNvPr id="141" name="Rectangle 140">
                    <a:extLst>
                      <a:ext uri="{FF2B5EF4-FFF2-40B4-BE49-F238E27FC236}">
                        <a16:creationId xmlns:a16="http://schemas.microsoft.com/office/drawing/2014/main" id="{FC70B26A-6BE7-4AD5-3351-8823EE208E31}"/>
                      </a:ext>
                    </a:extLst>
                  </p:cNvPr>
                  <p:cNvSpPr/>
                  <p:nvPr/>
                </p:nvSpPr>
                <p:spPr>
                  <a:xfrm>
                    <a:off x="838200" y="3243840"/>
                    <a:ext cx="3415145" cy="4433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Rectangle 141">
                    <a:extLst>
                      <a:ext uri="{FF2B5EF4-FFF2-40B4-BE49-F238E27FC236}">
                        <a16:creationId xmlns:a16="http://schemas.microsoft.com/office/drawing/2014/main" id="{D9DBF6BD-0902-1E1F-67C5-899D4959C468}"/>
                      </a:ext>
                    </a:extLst>
                  </p:cNvPr>
                  <p:cNvSpPr/>
                  <p:nvPr/>
                </p:nvSpPr>
                <p:spPr>
                  <a:xfrm>
                    <a:off x="4523508" y="3243840"/>
                    <a:ext cx="3415145" cy="44334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43" name="Rectangle 142">
                    <a:extLst>
                      <a:ext uri="{FF2B5EF4-FFF2-40B4-BE49-F238E27FC236}">
                        <a16:creationId xmlns:a16="http://schemas.microsoft.com/office/drawing/2014/main" id="{400114B4-00DA-6292-BD42-383B2A1AAA75}"/>
                      </a:ext>
                    </a:extLst>
                  </p:cNvPr>
                  <p:cNvSpPr/>
                  <p:nvPr/>
                </p:nvSpPr>
                <p:spPr>
                  <a:xfrm>
                    <a:off x="4253344"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44" name="Rectangle 143">
                    <a:extLst>
                      <a:ext uri="{FF2B5EF4-FFF2-40B4-BE49-F238E27FC236}">
                        <a16:creationId xmlns:a16="http://schemas.microsoft.com/office/drawing/2014/main" id="{E6072D89-598C-C716-8834-4687775F2EE8}"/>
                      </a:ext>
                    </a:extLst>
                  </p:cNvPr>
                  <p:cNvSpPr/>
                  <p:nvPr/>
                </p:nvSpPr>
                <p:spPr>
                  <a:xfrm>
                    <a:off x="7938653"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grpSp>
              <p:nvGrpSpPr>
                <p:cNvPr id="136" name="Group 135">
                  <a:extLst>
                    <a:ext uri="{FF2B5EF4-FFF2-40B4-BE49-F238E27FC236}">
                      <a16:creationId xmlns:a16="http://schemas.microsoft.com/office/drawing/2014/main" id="{A0C2AF98-CC09-A349-C980-10ED244E6630}"/>
                    </a:ext>
                  </a:extLst>
                </p:cNvPr>
                <p:cNvGrpSpPr/>
                <p:nvPr/>
              </p:nvGrpSpPr>
              <p:grpSpPr>
                <a:xfrm>
                  <a:off x="8208816" y="4171661"/>
                  <a:ext cx="7370616" cy="443346"/>
                  <a:chOff x="838200" y="3243840"/>
                  <a:chExt cx="7370616" cy="443346"/>
                </a:xfrm>
              </p:grpSpPr>
              <p:sp>
                <p:nvSpPr>
                  <p:cNvPr id="137" name="Rectangle 136">
                    <a:extLst>
                      <a:ext uri="{FF2B5EF4-FFF2-40B4-BE49-F238E27FC236}">
                        <a16:creationId xmlns:a16="http://schemas.microsoft.com/office/drawing/2014/main" id="{2B0C97C9-8239-213D-6819-68D93C7543AC}"/>
                      </a:ext>
                    </a:extLst>
                  </p:cNvPr>
                  <p:cNvSpPr/>
                  <p:nvPr/>
                </p:nvSpPr>
                <p:spPr>
                  <a:xfrm>
                    <a:off x="838200" y="3243840"/>
                    <a:ext cx="3415145" cy="4433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8" name="Rectangle 137">
                    <a:extLst>
                      <a:ext uri="{FF2B5EF4-FFF2-40B4-BE49-F238E27FC236}">
                        <a16:creationId xmlns:a16="http://schemas.microsoft.com/office/drawing/2014/main" id="{F691E965-DFCC-3846-D5FD-CFC9A917F24B}"/>
                      </a:ext>
                    </a:extLst>
                  </p:cNvPr>
                  <p:cNvSpPr/>
                  <p:nvPr/>
                </p:nvSpPr>
                <p:spPr>
                  <a:xfrm>
                    <a:off x="4523508" y="3243840"/>
                    <a:ext cx="3415145" cy="44334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39" name="Rectangle 138">
                    <a:extLst>
                      <a:ext uri="{FF2B5EF4-FFF2-40B4-BE49-F238E27FC236}">
                        <a16:creationId xmlns:a16="http://schemas.microsoft.com/office/drawing/2014/main" id="{751ED38E-1FA4-9441-A152-13A19BCE5A87}"/>
                      </a:ext>
                    </a:extLst>
                  </p:cNvPr>
                  <p:cNvSpPr/>
                  <p:nvPr/>
                </p:nvSpPr>
                <p:spPr>
                  <a:xfrm>
                    <a:off x="4253344"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40" name="Rectangle 139">
                    <a:extLst>
                      <a:ext uri="{FF2B5EF4-FFF2-40B4-BE49-F238E27FC236}">
                        <a16:creationId xmlns:a16="http://schemas.microsoft.com/office/drawing/2014/main" id="{1CC283BF-25FE-A0D2-071A-42489B9566F0}"/>
                      </a:ext>
                    </a:extLst>
                  </p:cNvPr>
                  <p:cNvSpPr/>
                  <p:nvPr/>
                </p:nvSpPr>
                <p:spPr>
                  <a:xfrm>
                    <a:off x="7938653"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grpSp>
        </p:grpSp>
        <p:grpSp>
          <p:nvGrpSpPr>
            <p:cNvPr id="146" name="Group 145">
              <a:extLst>
                <a:ext uri="{FF2B5EF4-FFF2-40B4-BE49-F238E27FC236}">
                  <a16:creationId xmlns:a16="http://schemas.microsoft.com/office/drawing/2014/main" id="{0703D683-195B-E70C-9850-34DB70DBCBA9}"/>
                </a:ext>
              </a:extLst>
            </p:cNvPr>
            <p:cNvGrpSpPr/>
            <p:nvPr/>
          </p:nvGrpSpPr>
          <p:grpSpPr>
            <a:xfrm>
              <a:off x="12192000" y="6466609"/>
              <a:ext cx="29482464" cy="443346"/>
              <a:chOff x="838200" y="4171661"/>
              <a:chExt cx="29482464" cy="443346"/>
            </a:xfrm>
          </p:grpSpPr>
          <p:grpSp>
            <p:nvGrpSpPr>
              <p:cNvPr id="147" name="Group 146">
                <a:extLst>
                  <a:ext uri="{FF2B5EF4-FFF2-40B4-BE49-F238E27FC236}">
                    <a16:creationId xmlns:a16="http://schemas.microsoft.com/office/drawing/2014/main" id="{32C2ED71-D636-E51F-E162-B0929C7718B7}"/>
                  </a:ext>
                </a:extLst>
              </p:cNvPr>
              <p:cNvGrpSpPr/>
              <p:nvPr/>
            </p:nvGrpSpPr>
            <p:grpSpPr>
              <a:xfrm>
                <a:off x="838200" y="4171661"/>
                <a:ext cx="14741232" cy="443346"/>
                <a:chOff x="838200" y="4171661"/>
                <a:chExt cx="14741232" cy="443346"/>
              </a:xfrm>
            </p:grpSpPr>
            <p:grpSp>
              <p:nvGrpSpPr>
                <p:cNvPr id="159" name="Group 158">
                  <a:extLst>
                    <a:ext uri="{FF2B5EF4-FFF2-40B4-BE49-F238E27FC236}">
                      <a16:creationId xmlns:a16="http://schemas.microsoft.com/office/drawing/2014/main" id="{D82EFC0D-07C9-1204-DEF4-46EBDB89F978}"/>
                    </a:ext>
                  </a:extLst>
                </p:cNvPr>
                <p:cNvGrpSpPr/>
                <p:nvPr/>
              </p:nvGrpSpPr>
              <p:grpSpPr>
                <a:xfrm>
                  <a:off x="838200" y="4171661"/>
                  <a:ext cx="7370616" cy="443346"/>
                  <a:chOff x="838200" y="3243840"/>
                  <a:chExt cx="7370616" cy="443346"/>
                </a:xfrm>
              </p:grpSpPr>
              <p:sp>
                <p:nvSpPr>
                  <p:cNvPr id="165" name="Rectangle 164">
                    <a:extLst>
                      <a:ext uri="{FF2B5EF4-FFF2-40B4-BE49-F238E27FC236}">
                        <a16:creationId xmlns:a16="http://schemas.microsoft.com/office/drawing/2014/main" id="{B83A89E3-33A5-D6BE-CA91-6368C8676D25}"/>
                      </a:ext>
                    </a:extLst>
                  </p:cNvPr>
                  <p:cNvSpPr/>
                  <p:nvPr/>
                </p:nvSpPr>
                <p:spPr>
                  <a:xfrm>
                    <a:off x="838200" y="3243840"/>
                    <a:ext cx="3415145" cy="4433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6" name="Rectangle 165">
                    <a:extLst>
                      <a:ext uri="{FF2B5EF4-FFF2-40B4-BE49-F238E27FC236}">
                        <a16:creationId xmlns:a16="http://schemas.microsoft.com/office/drawing/2014/main" id="{BCA5E90F-6F97-EA93-2733-475A7C245490}"/>
                      </a:ext>
                    </a:extLst>
                  </p:cNvPr>
                  <p:cNvSpPr/>
                  <p:nvPr/>
                </p:nvSpPr>
                <p:spPr>
                  <a:xfrm>
                    <a:off x="4523508" y="3243840"/>
                    <a:ext cx="3415145" cy="44334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67" name="Rectangle 166">
                    <a:extLst>
                      <a:ext uri="{FF2B5EF4-FFF2-40B4-BE49-F238E27FC236}">
                        <a16:creationId xmlns:a16="http://schemas.microsoft.com/office/drawing/2014/main" id="{E0C8FAEF-86AD-18D9-898B-F85BD393D97A}"/>
                      </a:ext>
                    </a:extLst>
                  </p:cNvPr>
                  <p:cNvSpPr/>
                  <p:nvPr/>
                </p:nvSpPr>
                <p:spPr>
                  <a:xfrm>
                    <a:off x="4253344"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68" name="Rectangle 167">
                    <a:extLst>
                      <a:ext uri="{FF2B5EF4-FFF2-40B4-BE49-F238E27FC236}">
                        <a16:creationId xmlns:a16="http://schemas.microsoft.com/office/drawing/2014/main" id="{7A7FDB70-7552-2E30-667B-9C9B27F3E8CD}"/>
                      </a:ext>
                    </a:extLst>
                  </p:cNvPr>
                  <p:cNvSpPr/>
                  <p:nvPr/>
                </p:nvSpPr>
                <p:spPr>
                  <a:xfrm>
                    <a:off x="7938653"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grpSp>
              <p:nvGrpSpPr>
                <p:cNvPr id="160" name="Group 159">
                  <a:extLst>
                    <a:ext uri="{FF2B5EF4-FFF2-40B4-BE49-F238E27FC236}">
                      <a16:creationId xmlns:a16="http://schemas.microsoft.com/office/drawing/2014/main" id="{FD16714B-AD51-FA8D-D5D1-219262CB86C4}"/>
                    </a:ext>
                  </a:extLst>
                </p:cNvPr>
                <p:cNvGrpSpPr/>
                <p:nvPr/>
              </p:nvGrpSpPr>
              <p:grpSpPr>
                <a:xfrm>
                  <a:off x="8208816" y="4171661"/>
                  <a:ext cx="7370616" cy="443346"/>
                  <a:chOff x="838200" y="3243840"/>
                  <a:chExt cx="7370616" cy="443346"/>
                </a:xfrm>
              </p:grpSpPr>
              <p:sp>
                <p:nvSpPr>
                  <p:cNvPr id="161" name="Rectangle 160">
                    <a:extLst>
                      <a:ext uri="{FF2B5EF4-FFF2-40B4-BE49-F238E27FC236}">
                        <a16:creationId xmlns:a16="http://schemas.microsoft.com/office/drawing/2014/main" id="{7B57B7B7-6909-5346-6371-212D94E4F067}"/>
                      </a:ext>
                    </a:extLst>
                  </p:cNvPr>
                  <p:cNvSpPr/>
                  <p:nvPr/>
                </p:nvSpPr>
                <p:spPr>
                  <a:xfrm>
                    <a:off x="838200" y="3243840"/>
                    <a:ext cx="3415145" cy="4433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2" name="Rectangle 161">
                    <a:extLst>
                      <a:ext uri="{FF2B5EF4-FFF2-40B4-BE49-F238E27FC236}">
                        <a16:creationId xmlns:a16="http://schemas.microsoft.com/office/drawing/2014/main" id="{F464B8F6-7A60-FBD0-DF22-FEC331075BC7}"/>
                      </a:ext>
                    </a:extLst>
                  </p:cNvPr>
                  <p:cNvSpPr/>
                  <p:nvPr/>
                </p:nvSpPr>
                <p:spPr>
                  <a:xfrm>
                    <a:off x="4523508" y="3243840"/>
                    <a:ext cx="3415145" cy="44334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63" name="Rectangle 162">
                    <a:extLst>
                      <a:ext uri="{FF2B5EF4-FFF2-40B4-BE49-F238E27FC236}">
                        <a16:creationId xmlns:a16="http://schemas.microsoft.com/office/drawing/2014/main" id="{FE388C6E-8227-646B-4D32-B9D76FDFA17F}"/>
                      </a:ext>
                    </a:extLst>
                  </p:cNvPr>
                  <p:cNvSpPr/>
                  <p:nvPr/>
                </p:nvSpPr>
                <p:spPr>
                  <a:xfrm>
                    <a:off x="4253344"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64" name="Rectangle 163">
                    <a:extLst>
                      <a:ext uri="{FF2B5EF4-FFF2-40B4-BE49-F238E27FC236}">
                        <a16:creationId xmlns:a16="http://schemas.microsoft.com/office/drawing/2014/main" id="{1F10FDE1-DB3B-CBA7-C335-0788821362E6}"/>
                      </a:ext>
                    </a:extLst>
                  </p:cNvPr>
                  <p:cNvSpPr/>
                  <p:nvPr/>
                </p:nvSpPr>
                <p:spPr>
                  <a:xfrm>
                    <a:off x="7938653"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grpSp>
          <p:grpSp>
            <p:nvGrpSpPr>
              <p:cNvPr id="148" name="Group 147">
                <a:extLst>
                  <a:ext uri="{FF2B5EF4-FFF2-40B4-BE49-F238E27FC236}">
                    <a16:creationId xmlns:a16="http://schemas.microsoft.com/office/drawing/2014/main" id="{5567293F-4F2A-C36A-5F2D-222E1E935955}"/>
                  </a:ext>
                </a:extLst>
              </p:cNvPr>
              <p:cNvGrpSpPr/>
              <p:nvPr/>
            </p:nvGrpSpPr>
            <p:grpSpPr>
              <a:xfrm>
                <a:off x="15579432" y="4171661"/>
                <a:ext cx="14741232" cy="443346"/>
                <a:chOff x="838200" y="4171661"/>
                <a:chExt cx="14741232" cy="443346"/>
              </a:xfrm>
            </p:grpSpPr>
            <p:grpSp>
              <p:nvGrpSpPr>
                <p:cNvPr id="149" name="Group 148">
                  <a:extLst>
                    <a:ext uri="{FF2B5EF4-FFF2-40B4-BE49-F238E27FC236}">
                      <a16:creationId xmlns:a16="http://schemas.microsoft.com/office/drawing/2014/main" id="{C42E3FBB-1004-A084-A927-B29FE148A8B8}"/>
                    </a:ext>
                  </a:extLst>
                </p:cNvPr>
                <p:cNvGrpSpPr/>
                <p:nvPr/>
              </p:nvGrpSpPr>
              <p:grpSpPr>
                <a:xfrm>
                  <a:off x="838200" y="4171661"/>
                  <a:ext cx="7370616" cy="443346"/>
                  <a:chOff x="838200" y="3243840"/>
                  <a:chExt cx="7370616" cy="443346"/>
                </a:xfrm>
              </p:grpSpPr>
              <p:sp>
                <p:nvSpPr>
                  <p:cNvPr id="155" name="Rectangle 154">
                    <a:extLst>
                      <a:ext uri="{FF2B5EF4-FFF2-40B4-BE49-F238E27FC236}">
                        <a16:creationId xmlns:a16="http://schemas.microsoft.com/office/drawing/2014/main" id="{D9580922-C254-4CB7-1C45-A398A7E15A43}"/>
                      </a:ext>
                    </a:extLst>
                  </p:cNvPr>
                  <p:cNvSpPr/>
                  <p:nvPr/>
                </p:nvSpPr>
                <p:spPr>
                  <a:xfrm>
                    <a:off x="838200" y="3243840"/>
                    <a:ext cx="3415145" cy="4433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Rectangle 155">
                    <a:extLst>
                      <a:ext uri="{FF2B5EF4-FFF2-40B4-BE49-F238E27FC236}">
                        <a16:creationId xmlns:a16="http://schemas.microsoft.com/office/drawing/2014/main" id="{A4BFB6E7-3AB1-3FCB-B197-AC2DF55CF9BA}"/>
                      </a:ext>
                    </a:extLst>
                  </p:cNvPr>
                  <p:cNvSpPr/>
                  <p:nvPr/>
                </p:nvSpPr>
                <p:spPr>
                  <a:xfrm>
                    <a:off x="4523508" y="3243840"/>
                    <a:ext cx="3415145" cy="44334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57" name="Rectangle 156">
                    <a:extLst>
                      <a:ext uri="{FF2B5EF4-FFF2-40B4-BE49-F238E27FC236}">
                        <a16:creationId xmlns:a16="http://schemas.microsoft.com/office/drawing/2014/main" id="{BAD63CDC-CFEB-ECB9-B590-8BC1728E566B}"/>
                      </a:ext>
                    </a:extLst>
                  </p:cNvPr>
                  <p:cNvSpPr/>
                  <p:nvPr/>
                </p:nvSpPr>
                <p:spPr>
                  <a:xfrm>
                    <a:off x="4253344"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58" name="Rectangle 157">
                    <a:extLst>
                      <a:ext uri="{FF2B5EF4-FFF2-40B4-BE49-F238E27FC236}">
                        <a16:creationId xmlns:a16="http://schemas.microsoft.com/office/drawing/2014/main" id="{1E50E3CC-1ABB-4BCE-2B1D-B7B365B7706F}"/>
                      </a:ext>
                    </a:extLst>
                  </p:cNvPr>
                  <p:cNvSpPr/>
                  <p:nvPr/>
                </p:nvSpPr>
                <p:spPr>
                  <a:xfrm>
                    <a:off x="7938653"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grpSp>
              <p:nvGrpSpPr>
                <p:cNvPr id="150" name="Group 149">
                  <a:extLst>
                    <a:ext uri="{FF2B5EF4-FFF2-40B4-BE49-F238E27FC236}">
                      <a16:creationId xmlns:a16="http://schemas.microsoft.com/office/drawing/2014/main" id="{11198F09-BF13-76DD-2192-8295B0E304B1}"/>
                    </a:ext>
                  </a:extLst>
                </p:cNvPr>
                <p:cNvGrpSpPr/>
                <p:nvPr/>
              </p:nvGrpSpPr>
              <p:grpSpPr>
                <a:xfrm>
                  <a:off x="8208816" y="4171661"/>
                  <a:ext cx="7370616" cy="443346"/>
                  <a:chOff x="838200" y="3243840"/>
                  <a:chExt cx="7370616" cy="443346"/>
                </a:xfrm>
              </p:grpSpPr>
              <p:sp>
                <p:nvSpPr>
                  <p:cNvPr id="151" name="Rectangle 150">
                    <a:extLst>
                      <a:ext uri="{FF2B5EF4-FFF2-40B4-BE49-F238E27FC236}">
                        <a16:creationId xmlns:a16="http://schemas.microsoft.com/office/drawing/2014/main" id="{11265B65-09C0-959B-187A-304AEC557C94}"/>
                      </a:ext>
                    </a:extLst>
                  </p:cNvPr>
                  <p:cNvSpPr/>
                  <p:nvPr/>
                </p:nvSpPr>
                <p:spPr>
                  <a:xfrm>
                    <a:off x="838200" y="3243840"/>
                    <a:ext cx="3415145" cy="4433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2" name="Rectangle 151">
                    <a:extLst>
                      <a:ext uri="{FF2B5EF4-FFF2-40B4-BE49-F238E27FC236}">
                        <a16:creationId xmlns:a16="http://schemas.microsoft.com/office/drawing/2014/main" id="{A6171B8C-630B-5DAC-D585-6F519A03A8F0}"/>
                      </a:ext>
                    </a:extLst>
                  </p:cNvPr>
                  <p:cNvSpPr/>
                  <p:nvPr/>
                </p:nvSpPr>
                <p:spPr>
                  <a:xfrm>
                    <a:off x="4523508" y="3243840"/>
                    <a:ext cx="3415145" cy="44334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53" name="Rectangle 152">
                    <a:extLst>
                      <a:ext uri="{FF2B5EF4-FFF2-40B4-BE49-F238E27FC236}">
                        <a16:creationId xmlns:a16="http://schemas.microsoft.com/office/drawing/2014/main" id="{B39098FE-4EF2-AFF7-F218-07C9F6050E4E}"/>
                      </a:ext>
                    </a:extLst>
                  </p:cNvPr>
                  <p:cNvSpPr/>
                  <p:nvPr/>
                </p:nvSpPr>
                <p:spPr>
                  <a:xfrm>
                    <a:off x="4253344"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54" name="Rectangle 153">
                    <a:extLst>
                      <a:ext uri="{FF2B5EF4-FFF2-40B4-BE49-F238E27FC236}">
                        <a16:creationId xmlns:a16="http://schemas.microsoft.com/office/drawing/2014/main" id="{D515791C-9FC7-3244-EA3B-A88E722E06BF}"/>
                      </a:ext>
                    </a:extLst>
                  </p:cNvPr>
                  <p:cNvSpPr/>
                  <p:nvPr/>
                </p:nvSpPr>
                <p:spPr>
                  <a:xfrm>
                    <a:off x="7938653" y="3243840"/>
                    <a:ext cx="270163" cy="44334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grpSp>
        </p:grpSp>
      </p:grpSp>
      <p:sp>
        <p:nvSpPr>
          <p:cNvPr id="170" name="Rectangle 169">
            <a:extLst>
              <a:ext uri="{FF2B5EF4-FFF2-40B4-BE49-F238E27FC236}">
                <a16:creationId xmlns:a16="http://schemas.microsoft.com/office/drawing/2014/main" id="{6F35E18C-4A57-C1C2-214D-5EDE6298B45D}"/>
              </a:ext>
            </a:extLst>
          </p:cNvPr>
          <p:cNvSpPr/>
          <p:nvPr/>
        </p:nvSpPr>
        <p:spPr>
          <a:xfrm>
            <a:off x="838200" y="4567651"/>
            <a:ext cx="3415145" cy="4433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1" name="Rectangle 170">
            <a:extLst>
              <a:ext uri="{FF2B5EF4-FFF2-40B4-BE49-F238E27FC236}">
                <a16:creationId xmlns:a16="http://schemas.microsoft.com/office/drawing/2014/main" id="{D15EDB2A-F699-B979-0C9B-A2CCCACCBD15}"/>
              </a:ext>
            </a:extLst>
          </p:cNvPr>
          <p:cNvSpPr/>
          <p:nvPr/>
        </p:nvSpPr>
        <p:spPr>
          <a:xfrm>
            <a:off x="838200" y="5077840"/>
            <a:ext cx="3415145" cy="44334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72" name="TextBox 171">
            <a:extLst>
              <a:ext uri="{FF2B5EF4-FFF2-40B4-BE49-F238E27FC236}">
                <a16:creationId xmlns:a16="http://schemas.microsoft.com/office/drawing/2014/main" id="{64DB0FA4-185E-1514-4622-6DEB2629AD74}"/>
              </a:ext>
            </a:extLst>
          </p:cNvPr>
          <p:cNvSpPr txBox="1"/>
          <p:nvPr/>
        </p:nvSpPr>
        <p:spPr>
          <a:xfrm>
            <a:off x="838199" y="1892300"/>
            <a:ext cx="4483101" cy="369332"/>
          </a:xfrm>
          <a:prstGeom prst="rect">
            <a:avLst/>
          </a:prstGeom>
          <a:noFill/>
        </p:spPr>
        <p:txBody>
          <a:bodyPr wrap="square" rtlCol="0">
            <a:spAutoFit/>
          </a:bodyPr>
          <a:lstStyle/>
          <a:p>
            <a:r>
              <a:rPr lang="ru-RU" dirty="0"/>
              <a:t>Последовательное выполнение задач</a:t>
            </a:r>
          </a:p>
        </p:txBody>
      </p:sp>
      <p:sp>
        <p:nvSpPr>
          <p:cNvPr id="173" name="TextBox 172">
            <a:extLst>
              <a:ext uri="{FF2B5EF4-FFF2-40B4-BE49-F238E27FC236}">
                <a16:creationId xmlns:a16="http://schemas.microsoft.com/office/drawing/2014/main" id="{675F32CA-5D57-297D-DE7A-E3BA6771EC42}"/>
              </a:ext>
            </a:extLst>
          </p:cNvPr>
          <p:cNvSpPr txBox="1"/>
          <p:nvPr/>
        </p:nvSpPr>
        <p:spPr>
          <a:xfrm>
            <a:off x="838199" y="3055340"/>
            <a:ext cx="7086601" cy="369332"/>
          </a:xfrm>
          <a:prstGeom prst="rect">
            <a:avLst/>
          </a:prstGeom>
          <a:noFill/>
        </p:spPr>
        <p:txBody>
          <a:bodyPr wrap="square" rtlCol="0">
            <a:spAutoFit/>
          </a:bodyPr>
          <a:lstStyle/>
          <a:p>
            <a:r>
              <a:rPr lang="ru-RU" dirty="0"/>
              <a:t>Конкурентное выполнение задач на одноядерном компьютере</a:t>
            </a:r>
          </a:p>
        </p:txBody>
      </p:sp>
      <p:sp>
        <p:nvSpPr>
          <p:cNvPr id="174" name="TextBox 173">
            <a:extLst>
              <a:ext uri="{FF2B5EF4-FFF2-40B4-BE49-F238E27FC236}">
                <a16:creationId xmlns:a16="http://schemas.microsoft.com/office/drawing/2014/main" id="{6110494B-E0A8-15F6-20D3-97BF311AED8D}"/>
              </a:ext>
            </a:extLst>
          </p:cNvPr>
          <p:cNvSpPr txBox="1"/>
          <p:nvPr/>
        </p:nvSpPr>
        <p:spPr>
          <a:xfrm>
            <a:off x="838199" y="4164898"/>
            <a:ext cx="7064585" cy="369332"/>
          </a:xfrm>
          <a:prstGeom prst="rect">
            <a:avLst/>
          </a:prstGeom>
          <a:noFill/>
        </p:spPr>
        <p:txBody>
          <a:bodyPr wrap="square" rtlCol="0">
            <a:spAutoFit/>
          </a:bodyPr>
          <a:lstStyle/>
          <a:p>
            <a:r>
              <a:rPr lang="ru-RU" dirty="0"/>
              <a:t>Параллельное выполнение задач на двухядерном компьютере</a:t>
            </a:r>
          </a:p>
        </p:txBody>
      </p:sp>
      <p:sp>
        <p:nvSpPr>
          <p:cNvPr id="175" name="TextBox 174">
            <a:extLst>
              <a:ext uri="{FF2B5EF4-FFF2-40B4-BE49-F238E27FC236}">
                <a16:creationId xmlns:a16="http://schemas.microsoft.com/office/drawing/2014/main" id="{CFD70083-1D48-1C94-E040-25A7F97AEA1A}"/>
              </a:ext>
            </a:extLst>
          </p:cNvPr>
          <p:cNvSpPr txBox="1"/>
          <p:nvPr/>
        </p:nvSpPr>
        <p:spPr>
          <a:xfrm>
            <a:off x="4424533" y="4604658"/>
            <a:ext cx="1136850" cy="369332"/>
          </a:xfrm>
          <a:prstGeom prst="rect">
            <a:avLst/>
          </a:prstGeom>
          <a:noFill/>
        </p:spPr>
        <p:txBody>
          <a:bodyPr wrap="none" rtlCol="0">
            <a:spAutoFit/>
          </a:bodyPr>
          <a:lstStyle/>
          <a:p>
            <a:r>
              <a:rPr lang="ru-RU" dirty="0"/>
              <a:t>Ядро №1</a:t>
            </a:r>
            <a:endParaRPr lang="en-US" dirty="0"/>
          </a:p>
        </p:txBody>
      </p:sp>
      <p:sp>
        <p:nvSpPr>
          <p:cNvPr id="176" name="TextBox 175">
            <a:extLst>
              <a:ext uri="{FF2B5EF4-FFF2-40B4-BE49-F238E27FC236}">
                <a16:creationId xmlns:a16="http://schemas.microsoft.com/office/drawing/2014/main" id="{4E10A2FD-AA14-9110-098A-13019DED13F2}"/>
              </a:ext>
            </a:extLst>
          </p:cNvPr>
          <p:cNvSpPr txBox="1"/>
          <p:nvPr/>
        </p:nvSpPr>
        <p:spPr>
          <a:xfrm>
            <a:off x="4457701" y="5114847"/>
            <a:ext cx="1136850" cy="369332"/>
          </a:xfrm>
          <a:prstGeom prst="rect">
            <a:avLst/>
          </a:prstGeom>
          <a:noFill/>
        </p:spPr>
        <p:txBody>
          <a:bodyPr wrap="none" rtlCol="0">
            <a:spAutoFit/>
          </a:bodyPr>
          <a:lstStyle/>
          <a:p>
            <a:r>
              <a:rPr lang="ru-RU" dirty="0"/>
              <a:t>Ядро №2</a:t>
            </a:r>
            <a:endParaRPr lang="en-US" dirty="0"/>
          </a:p>
        </p:txBody>
      </p:sp>
    </p:spTree>
    <p:extLst>
      <p:ext uri="{BB962C8B-B14F-4D97-AF65-F5344CB8AC3E}">
        <p14:creationId xmlns:p14="http://schemas.microsoft.com/office/powerpoint/2010/main" val="4206188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9"/>
                                        </p:tgtEl>
                                        <p:attrNameLst>
                                          <p:attrName>style.visibility</p:attrName>
                                        </p:attrNameLst>
                                      </p:cBhvr>
                                      <p:to>
                                        <p:strVal val="visible"/>
                                      </p:to>
                                    </p:set>
                                    <p:animEffect transition="in" filter="fade">
                                      <p:cBhvr>
                                        <p:cTn id="7" dur="500"/>
                                        <p:tgtEl>
                                          <p:spTgt spid="16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3"/>
                                        </p:tgtEl>
                                        <p:attrNameLst>
                                          <p:attrName>style.visibility</p:attrName>
                                        </p:attrNameLst>
                                      </p:cBhvr>
                                      <p:to>
                                        <p:strVal val="visible"/>
                                      </p:to>
                                    </p:set>
                                    <p:animEffect transition="in" filter="fade">
                                      <p:cBhvr>
                                        <p:cTn id="10" dur="500"/>
                                        <p:tgtEl>
                                          <p:spTgt spid="17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0"/>
                                        </p:tgtEl>
                                        <p:attrNameLst>
                                          <p:attrName>style.visibility</p:attrName>
                                        </p:attrNameLst>
                                      </p:cBhvr>
                                      <p:to>
                                        <p:strVal val="visible"/>
                                      </p:to>
                                    </p:set>
                                    <p:animEffect transition="in" filter="fade">
                                      <p:cBhvr>
                                        <p:cTn id="15" dur="500"/>
                                        <p:tgtEl>
                                          <p:spTgt spid="17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1"/>
                                        </p:tgtEl>
                                        <p:attrNameLst>
                                          <p:attrName>style.visibility</p:attrName>
                                        </p:attrNameLst>
                                      </p:cBhvr>
                                      <p:to>
                                        <p:strVal val="visible"/>
                                      </p:to>
                                    </p:set>
                                    <p:animEffect transition="in" filter="fade">
                                      <p:cBhvr>
                                        <p:cTn id="18" dur="500"/>
                                        <p:tgtEl>
                                          <p:spTgt spid="17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4"/>
                                        </p:tgtEl>
                                        <p:attrNameLst>
                                          <p:attrName>style.visibility</p:attrName>
                                        </p:attrNameLst>
                                      </p:cBhvr>
                                      <p:to>
                                        <p:strVal val="visible"/>
                                      </p:to>
                                    </p:set>
                                    <p:animEffect transition="in" filter="fade">
                                      <p:cBhvr>
                                        <p:cTn id="21" dur="500"/>
                                        <p:tgtEl>
                                          <p:spTgt spid="17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5"/>
                                        </p:tgtEl>
                                        <p:attrNameLst>
                                          <p:attrName>style.visibility</p:attrName>
                                        </p:attrNameLst>
                                      </p:cBhvr>
                                      <p:to>
                                        <p:strVal val="visible"/>
                                      </p:to>
                                    </p:set>
                                    <p:animEffect transition="in" filter="fade">
                                      <p:cBhvr>
                                        <p:cTn id="24" dur="500"/>
                                        <p:tgtEl>
                                          <p:spTgt spid="17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76"/>
                                        </p:tgtEl>
                                        <p:attrNameLst>
                                          <p:attrName>style.visibility</p:attrName>
                                        </p:attrNameLst>
                                      </p:cBhvr>
                                      <p:to>
                                        <p:strVal val="visible"/>
                                      </p:to>
                                    </p:set>
                                    <p:animEffect transition="in" filter="fade">
                                      <p:cBhvr>
                                        <p:cTn id="27" dur="500"/>
                                        <p:tgtEl>
                                          <p:spTgt spid="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animBg="1"/>
      <p:bldP spid="171" grpId="0" animBg="1"/>
      <p:bldP spid="173" grpId="0"/>
      <p:bldP spid="174" grpId="0"/>
      <p:bldP spid="175" grpId="0"/>
      <p:bldP spid="17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8B1DB-B521-E467-94C5-3F2069BBE509}"/>
              </a:ext>
            </a:extLst>
          </p:cNvPr>
          <p:cNvSpPr>
            <a:spLocks noGrp="1"/>
          </p:cNvSpPr>
          <p:nvPr>
            <p:ph type="title"/>
          </p:nvPr>
        </p:nvSpPr>
        <p:spPr/>
        <p:txBody>
          <a:bodyPr/>
          <a:lstStyle/>
          <a:p>
            <a:r>
              <a:rPr lang="ru-RU" dirty="0"/>
              <a:t>Выполнение задач на многоядерном компьютере</a:t>
            </a:r>
            <a:endParaRPr lang="en-US" dirty="0"/>
          </a:p>
        </p:txBody>
      </p:sp>
      <p:sp>
        <p:nvSpPr>
          <p:cNvPr id="3" name="Rectangle 2">
            <a:extLst>
              <a:ext uri="{FF2B5EF4-FFF2-40B4-BE49-F238E27FC236}">
                <a16:creationId xmlns:a16="http://schemas.microsoft.com/office/drawing/2014/main" id="{CBBCD74B-41A2-CFE5-787B-6E85C5A55842}"/>
              </a:ext>
            </a:extLst>
          </p:cNvPr>
          <p:cNvSpPr/>
          <p:nvPr/>
        </p:nvSpPr>
        <p:spPr>
          <a:xfrm>
            <a:off x="1066800" y="2540000"/>
            <a:ext cx="29210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A4FB313D-D933-3149-3DC5-775F0628F4F7}"/>
              </a:ext>
            </a:extLst>
          </p:cNvPr>
          <p:cNvSpPr/>
          <p:nvPr/>
        </p:nvSpPr>
        <p:spPr>
          <a:xfrm>
            <a:off x="1403350" y="2540000"/>
            <a:ext cx="406400" cy="5080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0264684-3CF4-D590-833D-5A35CBC43053}"/>
              </a:ext>
            </a:extLst>
          </p:cNvPr>
          <p:cNvSpPr/>
          <p:nvPr/>
        </p:nvSpPr>
        <p:spPr>
          <a:xfrm>
            <a:off x="1606550" y="3211513"/>
            <a:ext cx="502920" cy="50800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10C4F04-02DC-6AE5-A94A-880B07667A0A}"/>
              </a:ext>
            </a:extLst>
          </p:cNvPr>
          <p:cNvSpPr/>
          <p:nvPr/>
        </p:nvSpPr>
        <p:spPr>
          <a:xfrm>
            <a:off x="1066800" y="3211513"/>
            <a:ext cx="502920" cy="508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11DA0B5C-B4C2-2F43-9B63-53E2E3C622C3}"/>
              </a:ext>
            </a:extLst>
          </p:cNvPr>
          <p:cNvSpPr/>
          <p:nvPr/>
        </p:nvSpPr>
        <p:spPr>
          <a:xfrm>
            <a:off x="4618990" y="2540000"/>
            <a:ext cx="292100" cy="508000"/>
          </a:xfrm>
          <a:prstGeom prst="rect">
            <a:avLst/>
          </a:prstGeom>
          <a:solidFill>
            <a:srgbClr val="FFFF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5B7FE999-C73D-456B-BF69-AB42E07C3CF2}"/>
              </a:ext>
            </a:extLst>
          </p:cNvPr>
          <p:cNvSpPr/>
          <p:nvPr/>
        </p:nvSpPr>
        <p:spPr>
          <a:xfrm>
            <a:off x="2588260" y="2540000"/>
            <a:ext cx="292100" cy="50800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E9513D9B-A9B0-7FCD-4C92-E928AF1CD39B}"/>
              </a:ext>
            </a:extLst>
          </p:cNvPr>
          <p:cNvSpPr/>
          <p:nvPr/>
        </p:nvSpPr>
        <p:spPr>
          <a:xfrm>
            <a:off x="1854200" y="2540000"/>
            <a:ext cx="14224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3C8C742-6068-CAE3-6174-A45ECD1AD659}"/>
              </a:ext>
            </a:extLst>
          </p:cNvPr>
          <p:cNvSpPr/>
          <p:nvPr/>
        </p:nvSpPr>
        <p:spPr>
          <a:xfrm>
            <a:off x="2146300" y="3211513"/>
            <a:ext cx="158434" cy="508000"/>
          </a:xfrm>
          <a:prstGeom prst="rect">
            <a:avLst/>
          </a:prstGeom>
          <a:solidFill>
            <a:srgbClr val="FFFF00"/>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A02007D9-C3EB-98F8-8003-17344D2DF2A4}"/>
              </a:ext>
            </a:extLst>
          </p:cNvPr>
          <p:cNvSpPr/>
          <p:nvPr/>
        </p:nvSpPr>
        <p:spPr>
          <a:xfrm>
            <a:off x="2040890" y="2540000"/>
            <a:ext cx="502920" cy="5080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11DEC46-E80A-4A43-74A2-3A474E1C56D4}"/>
              </a:ext>
            </a:extLst>
          </p:cNvPr>
          <p:cNvSpPr/>
          <p:nvPr/>
        </p:nvSpPr>
        <p:spPr>
          <a:xfrm>
            <a:off x="3261360" y="2540000"/>
            <a:ext cx="292100" cy="50800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090CBE1-8423-BF50-6BCC-C671CAB85F00}"/>
              </a:ext>
            </a:extLst>
          </p:cNvPr>
          <p:cNvSpPr/>
          <p:nvPr/>
        </p:nvSpPr>
        <p:spPr>
          <a:xfrm>
            <a:off x="2924810" y="2540000"/>
            <a:ext cx="292100" cy="508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F05C3F2-507A-1361-1FBF-2154F266B443}"/>
              </a:ext>
            </a:extLst>
          </p:cNvPr>
          <p:cNvSpPr/>
          <p:nvPr/>
        </p:nvSpPr>
        <p:spPr>
          <a:xfrm>
            <a:off x="4273866" y="3211513"/>
            <a:ext cx="292100" cy="50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CE0CCCB1-78BE-CAA9-9938-329AB423C0E9}"/>
              </a:ext>
            </a:extLst>
          </p:cNvPr>
          <p:cNvSpPr/>
          <p:nvPr/>
        </p:nvSpPr>
        <p:spPr>
          <a:xfrm>
            <a:off x="2833370" y="3211513"/>
            <a:ext cx="494030" cy="5080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45FA648-C339-EA51-E368-CB7D42D33B26}"/>
              </a:ext>
            </a:extLst>
          </p:cNvPr>
          <p:cNvSpPr/>
          <p:nvPr/>
        </p:nvSpPr>
        <p:spPr>
          <a:xfrm>
            <a:off x="3942080" y="2540000"/>
            <a:ext cx="292100" cy="50800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D43C97BC-7B41-34C6-23FD-4A1BE770BB48}"/>
              </a:ext>
            </a:extLst>
          </p:cNvPr>
          <p:cNvSpPr/>
          <p:nvPr/>
        </p:nvSpPr>
        <p:spPr>
          <a:xfrm>
            <a:off x="4282440" y="2540000"/>
            <a:ext cx="292100" cy="508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8F60751-E2B1-C67B-68CC-E29DDF7DF772}"/>
              </a:ext>
            </a:extLst>
          </p:cNvPr>
          <p:cNvSpPr/>
          <p:nvPr/>
        </p:nvSpPr>
        <p:spPr>
          <a:xfrm>
            <a:off x="3819048" y="3211513"/>
            <a:ext cx="417988" cy="50800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0C6FC9B-E854-391B-1E82-ABA0ABCA9CE8}"/>
              </a:ext>
            </a:extLst>
          </p:cNvPr>
          <p:cNvSpPr/>
          <p:nvPr/>
        </p:nvSpPr>
        <p:spPr>
          <a:xfrm>
            <a:off x="4618990" y="3211513"/>
            <a:ext cx="292100" cy="50800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4E83FB4-B6F4-DB7D-D93A-584AD6B789CC}"/>
              </a:ext>
            </a:extLst>
          </p:cNvPr>
          <p:cNvSpPr/>
          <p:nvPr/>
        </p:nvSpPr>
        <p:spPr>
          <a:xfrm>
            <a:off x="3601720" y="2540000"/>
            <a:ext cx="292100" cy="50800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0F0D8A11-86B6-8737-85CE-E40017863634}"/>
              </a:ext>
            </a:extLst>
          </p:cNvPr>
          <p:cNvSpPr/>
          <p:nvPr/>
        </p:nvSpPr>
        <p:spPr>
          <a:xfrm>
            <a:off x="3364230" y="3211513"/>
            <a:ext cx="417988" cy="508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3011606B-A23E-2CEF-4360-44F123ADBD90}"/>
              </a:ext>
            </a:extLst>
          </p:cNvPr>
          <p:cNvSpPr txBox="1"/>
          <p:nvPr/>
        </p:nvSpPr>
        <p:spPr>
          <a:xfrm>
            <a:off x="5090160" y="2540000"/>
            <a:ext cx="1310640" cy="369332"/>
          </a:xfrm>
          <a:prstGeom prst="rect">
            <a:avLst/>
          </a:prstGeom>
          <a:noFill/>
        </p:spPr>
        <p:txBody>
          <a:bodyPr wrap="square" rtlCol="0">
            <a:spAutoFit/>
          </a:bodyPr>
          <a:lstStyle/>
          <a:p>
            <a:r>
              <a:rPr lang="ru-RU" dirty="0"/>
              <a:t>Ядро №1</a:t>
            </a:r>
            <a:endParaRPr lang="en-US" dirty="0"/>
          </a:p>
        </p:txBody>
      </p:sp>
      <p:sp>
        <p:nvSpPr>
          <p:cNvPr id="42" name="TextBox 41">
            <a:extLst>
              <a:ext uri="{FF2B5EF4-FFF2-40B4-BE49-F238E27FC236}">
                <a16:creationId xmlns:a16="http://schemas.microsoft.com/office/drawing/2014/main" id="{1B124447-BAA9-E83E-BC51-E3D1B8433C56}"/>
              </a:ext>
            </a:extLst>
          </p:cNvPr>
          <p:cNvSpPr txBox="1"/>
          <p:nvPr/>
        </p:nvSpPr>
        <p:spPr>
          <a:xfrm>
            <a:off x="5090160" y="3244334"/>
            <a:ext cx="1310640" cy="369332"/>
          </a:xfrm>
          <a:prstGeom prst="rect">
            <a:avLst/>
          </a:prstGeom>
          <a:noFill/>
        </p:spPr>
        <p:txBody>
          <a:bodyPr wrap="square" rtlCol="0">
            <a:spAutoFit/>
          </a:bodyPr>
          <a:lstStyle/>
          <a:p>
            <a:r>
              <a:rPr lang="ru-RU" dirty="0"/>
              <a:t>Ядро №2</a:t>
            </a:r>
            <a:endParaRPr lang="en-US" dirty="0"/>
          </a:p>
        </p:txBody>
      </p:sp>
      <p:sp>
        <p:nvSpPr>
          <p:cNvPr id="43" name="Rectangle 42">
            <a:extLst>
              <a:ext uri="{FF2B5EF4-FFF2-40B4-BE49-F238E27FC236}">
                <a16:creationId xmlns:a16="http://schemas.microsoft.com/office/drawing/2014/main" id="{23F2DCFD-3FF9-14BF-05DE-0236EF2BDEA3}"/>
              </a:ext>
            </a:extLst>
          </p:cNvPr>
          <p:cNvSpPr/>
          <p:nvPr/>
        </p:nvSpPr>
        <p:spPr>
          <a:xfrm>
            <a:off x="2344104" y="3211513"/>
            <a:ext cx="452436" cy="5080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9772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10E84A-F61B-EAE7-2F6D-03DB1B0BECF1}"/>
              </a:ext>
            </a:extLst>
          </p:cNvPr>
          <p:cNvSpPr>
            <a:spLocks noGrp="1"/>
          </p:cNvSpPr>
          <p:nvPr>
            <p:ph type="title"/>
          </p:nvPr>
        </p:nvSpPr>
        <p:spPr/>
        <p:txBody>
          <a:bodyPr/>
          <a:lstStyle/>
          <a:p>
            <a:r>
              <a:rPr lang="ru-RU" dirty="0"/>
              <a:t>Подходы к конкурентности</a:t>
            </a:r>
            <a:endParaRPr lang="en-US" dirty="0"/>
          </a:p>
        </p:txBody>
      </p:sp>
      <p:sp>
        <p:nvSpPr>
          <p:cNvPr id="4" name="Text Placeholder 3">
            <a:extLst>
              <a:ext uri="{FF2B5EF4-FFF2-40B4-BE49-F238E27FC236}">
                <a16:creationId xmlns:a16="http://schemas.microsoft.com/office/drawing/2014/main" id="{2A274C49-7146-73EB-8EB8-D0DE48CD274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43845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EF067-F64B-6F33-93B6-FD0DC89C97B4}"/>
              </a:ext>
            </a:extLst>
          </p:cNvPr>
          <p:cNvSpPr>
            <a:spLocks noGrp="1"/>
          </p:cNvSpPr>
          <p:nvPr>
            <p:ph type="title"/>
          </p:nvPr>
        </p:nvSpPr>
        <p:spPr/>
        <p:txBody>
          <a:bodyPr/>
          <a:lstStyle/>
          <a:p>
            <a:r>
              <a:rPr lang="ru-RU" dirty="0"/>
              <a:t>Два</a:t>
            </a:r>
            <a:r>
              <a:rPr lang="en-US" dirty="0"/>
              <a:t> </a:t>
            </a:r>
            <a:r>
              <a:rPr lang="ru-RU" dirty="0"/>
              <a:t>подхода к конкурентности </a:t>
            </a:r>
            <a:endParaRPr lang="en-US" dirty="0"/>
          </a:p>
        </p:txBody>
      </p:sp>
      <p:pic>
        <p:nvPicPr>
          <p:cNvPr id="9" name="Content Placeholder 8">
            <a:extLst>
              <a:ext uri="{FF2B5EF4-FFF2-40B4-BE49-F238E27FC236}">
                <a16:creationId xmlns:a16="http://schemas.microsoft.com/office/drawing/2014/main" id="{0D3CF848-2995-F58C-C396-86D8950350F9}"/>
              </a:ext>
            </a:extLst>
          </p:cNvPr>
          <p:cNvPicPr>
            <a:picLocks noGrp="1" noChangeAspect="1"/>
          </p:cNvPicPr>
          <p:nvPr>
            <p:ph sz="half" idx="1"/>
          </p:nvPr>
        </p:nvPicPr>
        <p:blipFill>
          <a:blip r:embed="rId3"/>
          <a:stretch>
            <a:fillRect/>
          </a:stretch>
        </p:blipFill>
        <p:spPr>
          <a:xfrm>
            <a:off x="838200" y="2543969"/>
            <a:ext cx="1639492" cy="2914650"/>
          </a:xfrm>
        </p:spPr>
      </p:pic>
      <p:pic>
        <p:nvPicPr>
          <p:cNvPr id="7" name="Content Placeholder 6">
            <a:extLst>
              <a:ext uri="{FF2B5EF4-FFF2-40B4-BE49-F238E27FC236}">
                <a16:creationId xmlns:a16="http://schemas.microsoft.com/office/drawing/2014/main" id="{2D548D0F-CC79-D9B3-514F-5889D556C34C}"/>
              </a:ext>
            </a:extLst>
          </p:cNvPr>
          <p:cNvPicPr>
            <a:picLocks noGrp="1" noChangeAspect="1"/>
          </p:cNvPicPr>
          <p:nvPr>
            <p:ph sz="half" idx="2"/>
          </p:nvPr>
        </p:nvPicPr>
        <p:blipFill>
          <a:blip r:embed="rId4"/>
          <a:stretch>
            <a:fillRect/>
          </a:stretch>
        </p:blipFill>
        <p:spPr>
          <a:xfrm>
            <a:off x="6172200" y="2543969"/>
            <a:ext cx="5181600" cy="2914650"/>
          </a:xfrm>
        </p:spPr>
      </p:pic>
      <p:pic>
        <p:nvPicPr>
          <p:cNvPr id="11" name="Picture 10">
            <a:extLst>
              <a:ext uri="{FF2B5EF4-FFF2-40B4-BE49-F238E27FC236}">
                <a16:creationId xmlns:a16="http://schemas.microsoft.com/office/drawing/2014/main" id="{F47EE138-30E4-F210-2751-CFA1C3DFEB9C}"/>
              </a:ext>
            </a:extLst>
          </p:cNvPr>
          <p:cNvPicPr>
            <a:picLocks noChangeAspect="1"/>
          </p:cNvPicPr>
          <p:nvPr/>
        </p:nvPicPr>
        <p:blipFill>
          <a:blip r:embed="rId5"/>
          <a:stretch>
            <a:fillRect/>
          </a:stretch>
        </p:blipFill>
        <p:spPr>
          <a:xfrm flipH="1">
            <a:off x="3505200" y="2543969"/>
            <a:ext cx="1689498" cy="3003553"/>
          </a:xfrm>
          <a:prstGeom prst="rect">
            <a:avLst/>
          </a:prstGeom>
        </p:spPr>
      </p:pic>
      <p:grpSp>
        <p:nvGrpSpPr>
          <p:cNvPr id="22" name="Group 21">
            <a:extLst>
              <a:ext uri="{FF2B5EF4-FFF2-40B4-BE49-F238E27FC236}">
                <a16:creationId xmlns:a16="http://schemas.microsoft.com/office/drawing/2014/main" id="{BA05A467-6402-2B25-5FC5-DBF37B821C3F}"/>
              </a:ext>
            </a:extLst>
          </p:cNvPr>
          <p:cNvGrpSpPr/>
          <p:nvPr/>
        </p:nvGrpSpPr>
        <p:grpSpPr>
          <a:xfrm>
            <a:off x="2623146" y="2844800"/>
            <a:ext cx="714373" cy="2334419"/>
            <a:chOff x="2534246" y="2470554"/>
            <a:chExt cx="914400" cy="2988065"/>
          </a:xfrm>
        </p:grpSpPr>
        <p:pic>
          <p:nvPicPr>
            <p:cNvPr id="14" name="Graphic 13" descr="Chat outline">
              <a:extLst>
                <a:ext uri="{FF2B5EF4-FFF2-40B4-BE49-F238E27FC236}">
                  <a16:creationId xmlns:a16="http://schemas.microsoft.com/office/drawing/2014/main" id="{F07FF64F-E78A-738D-7A67-131C6558890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34246" y="2470554"/>
              <a:ext cx="914400" cy="914400"/>
            </a:xfrm>
            <a:prstGeom prst="rect">
              <a:avLst/>
            </a:prstGeom>
          </p:spPr>
        </p:pic>
        <p:pic>
          <p:nvPicPr>
            <p:cNvPr id="16" name="Graphic 15" descr="Telephone with solid fill">
              <a:extLst>
                <a:ext uri="{FF2B5EF4-FFF2-40B4-BE49-F238E27FC236}">
                  <a16:creationId xmlns:a16="http://schemas.microsoft.com/office/drawing/2014/main" id="{AD3AADB2-4EFE-9B29-1C20-6702C12DC1B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34246" y="3077754"/>
              <a:ext cx="914400" cy="914400"/>
            </a:xfrm>
            <a:prstGeom prst="rect">
              <a:avLst/>
            </a:prstGeom>
          </p:spPr>
        </p:pic>
        <p:pic>
          <p:nvPicPr>
            <p:cNvPr id="18" name="Graphic 17" descr="Web cam with solid fill">
              <a:extLst>
                <a:ext uri="{FF2B5EF4-FFF2-40B4-BE49-F238E27FC236}">
                  <a16:creationId xmlns:a16="http://schemas.microsoft.com/office/drawing/2014/main" id="{6C5EC8C1-BCA2-0EE2-2864-187BC624370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534246" y="4544219"/>
              <a:ext cx="914400" cy="914400"/>
            </a:xfrm>
            <a:prstGeom prst="rect">
              <a:avLst/>
            </a:prstGeom>
          </p:spPr>
        </p:pic>
        <p:pic>
          <p:nvPicPr>
            <p:cNvPr id="20" name="Graphic 19" descr="Email with solid fill">
              <a:extLst>
                <a:ext uri="{FF2B5EF4-FFF2-40B4-BE49-F238E27FC236}">
                  <a16:creationId xmlns:a16="http://schemas.microsoft.com/office/drawing/2014/main" id="{FC3590BD-DD6E-41D6-9E1A-CA9F6C34BCE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647354" y="3937016"/>
              <a:ext cx="688184" cy="688184"/>
            </a:xfrm>
            <a:prstGeom prst="rect">
              <a:avLst/>
            </a:prstGeom>
          </p:spPr>
        </p:pic>
      </p:grpSp>
      <p:sp>
        <p:nvSpPr>
          <p:cNvPr id="21" name="TextBox 20">
            <a:extLst>
              <a:ext uri="{FF2B5EF4-FFF2-40B4-BE49-F238E27FC236}">
                <a16:creationId xmlns:a16="http://schemas.microsoft.com/office/drawing/2014/main" id="{9403FAA5-2228-4383-CCBB-DD59C7BA9CFE}"/>
              </a:ext>
            </a:extLst>
          </p:cNvPr>
          <p:cNvSpPr txBox="1"/>
          <p:nvPr/>
        </p:nvSpPr>
        <p:spPr>
          <a:xfrm>
            <a:off x="5194698" y="3848100"/>
            <a:ext cx="977502" cy="584775"/>
          </a:xfrm>
          <a:prstGeom prst="rect">
            <a:avLst/>
          </a:prstGeom>
          <a:noFill/>
        </p:spPr>
        <p:txBody>
          <a:bodyPr wrap="square" rtlCol="0">
            <a:spAutoFit/>
          </a:bodyPr>
          <a:lstStyle/>
          <a:p>
            <a:pPr algn="ctr"/>
            <a:r>
              <a:rPr lang="en-US" sz="3200" dirty="0"/>
              <a:t>VS</a:t>
            </a:r>
          </a:p>
        </p:txBody>
      </p:sp>
      <p:sp>
        <p:nvSpPr>
          <p:cNvPr id="3" name="TextBox 2">
            <a:extLst>
              <a:ext uri="{FF2B5EF4-FFF2-40B4-BE49-F238E27FC236}">
                <a16:creationId xmlns:a16="http://schemas.microsoft.com/office/drawing/2014/main" id="{63C4004F-B47B-20DC-644F-BCFA23F2346F}"/>
              </a:ext>
            </a:extLst>
          </p:cNvPr>
          <p:cNvSpPr txBox="1"/>
          <p:nvPr/>
        </p:nvSpPr>
        <p:spPr>
          <a:xfrm>
            <a:off x="838200" y="1690688"/>
            <a:ext cx="4356498" cy="369332"/>
          </a:xfrm>
          <a:prstGeom prst="rect">
            <a:avLst/>
          </a:prstGeom>
          <a:noFill/>
        </p:spPr>
        <p:txBody>
          <a:bodyPr wrap="square" rtlCol="0">
            <a:spAutoFit/>
          </a:bodyPr>
          <a:lstStyle/>
          <a:p>
            <a:r>
              <a:rPr lang="ru-RU" dirty="0"/>
              <a:t>Несколько однопоточных процессов</a:t>
            </a:r>
            <a:endParaRPr lang="en-US" dirty="0"/>
          </a:p>
        </p:txBody>
      </p:sp>
      <p:sp>
        <p:nvSpPr>
          <p:cNvPr id="4" name="TextBox 3">
            <a:extLst>
              <a:ext uri="{FF2B5EF4-FFF2-40B4-BE49-F238E27FC236}">
                <a16:creationId xmlns:a16="http://schemas.microsoft.com/office/drawing/2014/main" id="{226BBB74-EE83-FCAE-1152-1FB4F95E1DDE}"/>
              </a:ext>
            </a:extLst>
          </p:cNvPr>
          <p:cNvSpPr txBox="1"/>
          <p:nvPr/>
        </p:nvSpPr>
        <p:spPr>
          <a:xfrm>
            <a:off x="6327371" y="1690688"/>
            <a:ext cx="4356498" cy="369332"/>
          </a:xfrm>
          <a:prstGeom prst="rect">
            <a:avLst/>
          </a:prstGeom>
          <a:noFill/>
        </p:spPr>
        <p:txBody>
          <a:bodyPr wrap="square" rtlCol="0">
            <a:spAutoFit/>
          </a:bodyPr>
          <a:lstStyle/>
          <a:p>
            <a:r>
              <a:rPr lang="ru-RU" dirty="0"/>
              <a:t>Один многопоточный процесс</a:t>
            </a:r>
            <a:endParaRPr lang="en-US" dirty="0"/>
          </a:p>
        </p:txBody>
      </p:sp>
      <p:sp>
        <p:nvSpPr>
          <p:cNvPr id="6" name="TextBox 5">
            <a:extLst>
              <a:ext uri="{FF2B5EF4-FFF2-40B4-BE49-F238E27FC236}">
                <a16:creationId xmlns:a16="http://schemas.microsoft.com/office/drawing/2014/main" id="{BDA80E74-950E-5872-FDCD-B206A9C96992}"/>
              </a:ext>
            </a:extLst>
          </p:cNvPr>
          <p:cNvSpPr txBox="1"/>
          <p:nvPr/>
        </p:nvSpPr>
        <p:spPr>
          <a:xfrm>
            <a:off x="1001372" y="5865586"/>
            <a:ext cx="6093228" cy="369332"/>
          </a:xfrm>
          <a:prstGeom prst="rect">
            <a:avLst/>
          </a:prstGeom>
          <a:noFill/>
        </p:spPr>
        <p:txBody>
          <a:bodyPr wrap="square">
            <a:spAutoFit/>
          </a:bodyPr>
          <a:lstStyle/>
          <a:p>
            <a:pPr algn="ctr"/>
            <a:r>
              <a:rPr lang="ru-RU" dirty="0"/>
              <a:t>Безопасность </a:t>
            </a:r>
            <a:r>
              <a:rPr lang="en-US" dirty="0"/>
              <a:t>vs</a:t>
            </a:r>
            <a:r>
              <a:rPr lang="ru-RU" dirty="0"/>
              <a:t> скорость взаимодействия</a:t>
            </a:r>
            <a:endParaRPr lang="en-US" dirty="0"/>
          </a:p>
        </p:txBody>
      </p:sp>
    </p:spTree>
    <p:extLst>
      <p:ext uri="{BB962C8B-B14F-4D97-AF65-F5344CB8AC3E}">
        <p14:creationId xmlns:p14="http://schemas.microsoft.com/office/powerpoint/2010/main" val="68839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8C16532-E75E-1F77-7390-952B2EC2E0FD}"/>
              </a:ext>
            </a:extLst>
          </p:cNvPr>
          <p:cNvSpPr>
            <a:spLocks noGrp="1"/>
          </p:cNvSpPr>
          <p:nvPr>
            <p:ph type="title"/>
          </p:nvPr>
        </p:nvSpPr>
        <p:spPr/>
        <p:txBody>
          <a:bodyPr/>
          <a:lstStyle/>
          <a:p>
            <a:r>
              <a:rPr lang="ru-RU" dirty="0"/>
              <a:t>Многопроцессность</a:t>
            </a:r>
            <a:endParaRPr lang="en-US" dirty="0"/>
          </a:p>
        </p:txBody>
      </p:sp>
      <p:sp>
        <p:nvSpPr>
          <p:cNvPr id="6" name="Content Placeholder 5">
            <a:extLst>
              <a:ext uri="{FF2B5EF4-FFF2-40B4-BE49-F238E27FC236}">
                <a16:creationId xmlns:a16="http://schemas.microsoft.com/office/drawing/2014/main" id="{157DA3E9-1FAA-F7EF-50E4-2EF8862F0017}"/>
              </a:ext>
            </a:extLst>
          </p:cNvPr>
          <p:cNvSpPr>
            <a:spLocks noGrp="1"/>
          </p:cNvSpPr>
          <p:nvPr>
            <p:ph idx="1"/>
          </p:nvPr>
        </p:nvSpPr>
        <p:spPr/>
        <p:txBody>
          <a:bodyPr>
            <a:normAutofit fontScale="92500" lnSpcReduction="20000"/>
          </a:bodyPr>
          <a:lstStyle/>
          <a:p>
            <a:r>
              <a:rPr lang="ru-RU" b="1" dirty="0" err="1"/>
              <a:t>Многопроцессность</a:t>
            </a:r>
            <a:r>
              <a:rPr lang="ru-RU" dirty="0"/>
              <a:t> — модель конкурентности, при которой приложение состоит из нескольких процессов с </a:t>
            </a:r>
            <a:r>
              <a:rPr lang="ru-RU" b="1" dirty="0"/>
              <a:t>изолированными адресными пространствами</a:t>
            </a:r>
            <a:r>
              <a:rPr lang="ru-RU" dirty="0"/>
              <a:t>.</a:t>
            </a:r>
          </a:p>
          <a:p>
            <a:r>
              <a:rPr lang="ru-RU" b="1" dirty="0"/>
              <a:t>Взаимодействие процессов (IPC): </a:t>
            </a:r>
            <a:r>
              <a:rPr lang="ru-RU" dirty="0"/>
              <a:t>сокеты, каналы (</a:t>
            </a:r>
            <a:r>
              <a:rPr lang="ru-RU" dirty="0" err="1"/>
              <a:t>pipes</a:t>
            </a:r>
            <a:r>
              <a:rPr lang="ru-RU" dirty="0"/>
              <a:t>), сигналы, файлы, разделяемая память (с синхронизацией)</a:t>
            </a:r>
          </a:p>
          <a:p>
            <a:r>
              <a:rPr lang="ru-RU" b="1" dirty="0"/>
              <a:t>Достоинства:</a:t>
            </a:r>
            <a:endParaRPr lang="ru-RU" dirty="0"/>
          </a:p>
          <a:p>
            <a:pPr lvl="1"/>
            <a:r>
              <a:rPr lang="ru-RU" dirty="0"/>
              <a:t>изоляция и отказоустойчивость</a:t>
            </a:r>
          </a:p>
          <a:p>
            <a:pPr lvl="1"/>
            <a:r>
              <a:rPr lang="ru-RU" dirty="0"/>
              <a:t>безопасность</a:t>
            </a:r>
          </a:p>
          <a:p>
            <a:pPr lvl="1"/>
            <a:r>
              <a:rPr lang="ru-RU" dirty="0"/>
              <a:t>масштабируемость (в том числе между машинами)</a:t>
            </a:r>
          </a:p>
          <a:p>
            <a:r>
              <a:rPr lang="ru-RU" b="1" dirty="0"/>
              <a:t>Недостатки:</a:t>
            </a:r>
            <a:endParaRPr lang="ru-RU" dirty="0"/>
          </a:p>
          <a:p>
            <a:pPr lvl="1"/>
            <a:r>
              <a:rPr lang="ru-RU" dirty="0"/>
              <a:t>сложная и относительно медленная коммуникация</a:t>
            </a:r>
          </a:p>
          <a:p>
            <a:pPr lvl="1"/>
            <a:r>
              <a:rPr lang="ru-RU" dirty="0"/>
              <a:t>большие накладные расходы на создание и управление процессами</a:t>
            </a:r>
          </a:p>
        </p:txBody>
      </p:sp>
    </p:spTree>
    <p:extLst>
      <p:ext uri="{BB962C8B-B14F-4D97-AF65-F5344CB8AC3E}">
        <p14:creationId xmlns:p14="http://schemas.microsoft.com/office/powerpoint/2010/main" val="1435703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fade">
                                      <p:cBhvr>
                                        <p:cTn id="20" dur="500"/>
                                        <p:tgtEl>
                                          <p:spTgt spid="6">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fade">
                                      <p:cBhvr>
                                        <p:cTn id="23" dur="500"/>
                                        <p:tgtEl>
                                          <p:spTgt spid="6">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xEl>
                                              <p:pRg st="5" end="5"/>
                                            </p:txEl>
                                          </p:spTgt>
                                        </p:tgtEl>
                                        <p:attrNameLst>
                                          <p:attrName>style.visibility</p:attrName>
                                        </p:attrNameLst>
                                      </p:cBhvr>
                                      <p:to>
                                        <p:strVal val="visible"/>
                                      </p:to>
                                    </p:set>
                                    <p:animEffect transition="in" filter="fade">
                                      <p:cBhvr>
                                        <p:cTn id="26" dur="500"/>
                                        <p:tgtEl>
                                          <p:spTgt spid="6">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animEffect transition="in" filter="fade">
                                      <p:cBhvr>
                                        <p:cTn id="31" dur="500"/>
                                        <p:tgtEl>
                                          <p:spTgt spid="6">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
                                            <p:txEl>
                                              <p:pRg st="7" end="7"/>
                                            </p:txEl>
                                          </p:spTgt>
                                        </p:tgtEl>
                                        <p:attrNameLst>
                                          <p:attrName>style.visibility</p:attrName>
                                        </p:attrNameLst>
                                      </p:cBhvr>
                                      <p:to>
                                        <p:strVal val="visible"/>
                                      </p:to>
                                    </p:set>
                                    <p:animEffect transition="in" filter="fade">
                                      <p:cBhvr>
                                        <p:cTn id="34" dur="500"/>
                                        <p:tgtEl>
                                          <p:spTgt spid="6">
                                            <p:txEl>
                                              <p:pRg st="7" end="7"/>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animEffect transition="in" filter="fade">
                                      <p:cBhvr>
                                        <p:cTn id="37"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2E4CB88-2C0E-4CC5-4D40-AF0D496386E7}"/>
              </a:ext>
            </a:extLst>
          </p:cNvPr>
          <p:cNvSpPr/>
          <p:nvPr/>
        </p:nvSpPr>
        <p:spPr>
          <a:xfrm>
            <a:off x="4221016" y="5758822"/>
            <a:ext cx="3962400" cy="6290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Ядро ОС</a:t>
            </a:r>
            <a:endParaRPr lang="en-US" dirty="0"/>
          </a:p>
        </p:txBody>
      </p:sp>
      <p:grpSp>
        <p:nvGrpSpPr>
          <p:cNvPr id="15" name="Group 14">
            <a:extLst>
              <a:ext uri="{FF2B5EF4-FFF2-40B4-BE49-F238E27FC236}">
                <a16:creationId xmlns:a16="http://schemas.microsoft.com/office/drawing/2014/main" id="{D13BA8BC-317F-7828-2E2F-87E2E04D5820}"/>
              </a:ext>
            </a:extLst>
          </p:cNvPr>
          <p:cNvGrpSpPr/>
          <p:nvPr/>
        </p:nvGrpSpPr>
        <p:grpSpPr>
          <a:xfrm>
            <a:off x="5126180" y="470093"/>
            <a:ext cx="1787236" cy="2670753"/>
            <a:chOff x="955964" y="1995055"/>
            <a:chExt cx="1787236" cy="2670753"/>
          </a:xfrm>
        </p:grpSpPr>
        <p:sp>
          <p:nvSpPr>
            <p:cNvPr id="5" name="Rectangle 4">
              <a:extLst>
                <a:ext uri="{FF2B5EF4-FFF2-40B4-BE49-F238E27FC236}">
                  <a16:creationId xmlns:a16="http://schemas.microsoft.com/office/drawing/2014/main" id="{45897FEB-2116-60CC-0411-56A1350E1A06}"/>
                </a:ext>
              </a:extLst>
            </p:cNvPr>
            <p:cNvSpPr/>
            <p:nvPr/>
          </p:nvSpPr>
          <p:spPr>
            <a:xfrm>
              <a:off x="997527" y="2313709"/>
              <a:ext cx="1745673" cy="11518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Данные</a:t>
              </a:r>
              <a:endParaRPr lang="en-US" dirty="0"/>
            </a:p>
          </p:txBody>
        </p:sp>
        <p:sp>
          <p:nvSpPr>
            <p:cNvPr id="6" name="Rectangle 5">
              <a:extLst>
                <a:ext uri="{FF2B5EF4-FFF2-40B4-BE49-F238E27FC236}">
                  <a16:creationId xmlns:a16="http://schemas.microsoft.com/office/drawing/2014/main" id="{FCAAC405-2544-3265-5598-4BAE15EE21A7}"/>
                </a:ext>
              </a:extLst>
            </p:cNvPr>
            <p:cNvSpPr/>
            <p:nvPr/>
          </p:nvSpPr>
          <p:spPr>
            <a:xfrm>
              <a:off x="997526" y="3514004"/>
              <a:ext cx="1745673" cy="115180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dirty="0"/>
                <a:t>Код</a:t>
              </a:r>
              <a:endParaRPr lang="en-US" dirty="0"/>
            </a:p>
          </p:txBody>
        </p:sp>
        <p:sp>
          <p:nvSpPr>
            <p:cNvPr id="8" name="TextBox 7">
              <a:extLst>
                <a:ext uri="{FF2B5EF4-FFF2-40B4-BE49-F238E27FC236}">
                  <a16:creationId xmlns:a16="http://schemas.microsoft.com/office/drawing/2014/main" id="{EBAB697A-856C-1CD5-5D85-F03FCE89EFA2}"/>
                </a:ext>
              </a:extLst>
            </p:cNvPr>
            <p:cNvSpPr txBox="1"/>
            <p:nvPr/>
          </p:nvSpPr>
          <p:spPr>
            <a:xfrm>
              <a:off x="955964" y="1995055"/>
              <a:ext cx="1787236" cy="369332"/>
            </a:xfrm>
            <a:prstGeom prst="rect">
              <a:avLst/>
            </a:prstGeom>
            <a:noFill/>
          </p:spPr>
          <p:txBody>
            <a:bodyPr wrap="square" rtlCol="0">
              <a:spAutoFit/>
            </a:bodyPr>
            <a:lstStyle/>
            <a:p>
              <a:pPr algn="ctr"/>
              <a:r>
                <a:rPr lang="ru-RU" dirty="0"/>
                <a:t>Процесс 1</a:t>
              </a:r>
              <a:endParaRPr lang="en-US" dirty="0"/>
            </a:p>
          </p:txBody>
        </p:sp>
      </p:grpSp>
      <p:grpSp>
        <p:nvGrpSpPr>
          <p:cNvPr id="16" name="Group 15">
            <a:extLst>
              <a:ext uri="{FF2B5EF4-FFF2-40B4-BE49-F238E27FC236}">
                <a16:creationId xmlns:a16="http://schemas.microsoft.com/office/drawing/2014/main" id="{505BD644-C06F-798D-4829-6B18A6936EA2}"/>
              </a:ext>
            </a:extLst>
          </p:cNvPr>
          <p:cNvGrpSpPr/>
          <p:nvPr/>
        </p:nvGrpSpPr>
        <p:grpSpPr>
          <a:xfrm>
            <a:off x="1163780" y="2251209"/>
            <a:ext cx="1787236" cy="2428608"/>
            <a:chOff x="3366655" y="1995055"/>
            <a:chExt cx="1787236" cy="2428608"/>
          </a:xfrm>
        </p:grpSpPr>
        <p:sp>
          <p:nvSpPr>
            <p:cNvPr id="9" name="Rectangle 8">
              <a:extLst>
                <a:ext uri="{FF2B5EF4-FFF2-40B4-BE49-F238E27FC236}">
                  <a16:creationId xmlns:a16="http://schemas.microsoft.com/office/drawing/2014/main" id="{CE7616F4-D6AB-BC88-A45E-687441F3A9D5}"/>
                </a:ext>
              </a:extLst>
            </p:cNvPr>
            <p:cNvSpPr/>
            <p:nvPr/>
          </p:nvSpPr>
          <p:spPr>
            <a:xfrm>
              <a:off x="3408218" y="2313709"/>
              <a:ext cx="1745673" cy="13716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ru-RU" dirty="0"/>
                <a:t>Данные</a:t>
              </a:r>
              <a:endParaRPr lang="en-US" dirty="0"/>
            </a:p>
          </p:txBody>
        </p:sp>
        <p:sp>
          <p:nvSpPr>
            <p:cNvPr id="10" name="Rectangle 9">
              <a:extLst>
                <a:ext uri="{FF2B5EF4-FFF2-40B4-BE49-F238E27FC236}">
                  <a16:creationId xmlns:a16="http://schemas.microsoft.com/office/drawing/2014/main" id="{1B1E4815-3072-BE85-1132-9D529684800B}"/>
                </a:ext>
              </a:extLst>
            </p:cNvPr>
            <p:cNvSpPr/>
            <p:nvPr/>
          </p:nvSpPr>
          <p:spPr>
            <a:xfrm>
              <a:off x="3408217" y="3794578"/>
              <a:ext cx="1745673" cy="629085"/>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ru-RU" dirty="0"/>
                <a:t>Код</a:t>
              </a:r>
              <a:endParaRPr lang="en-US" dirty="0"/>
            </a:p>
          </p:txBody>
        </p:sp>
        <p:sp>
          <p:nvSpPr>
            <p:cNvPr id="11" name="TextBox 10">
              <a:extLst>
                <a:ext uri="{FF2B5EF4-FFF2-40B4-BE49-F238E27FC236}">
                  <a16:creationId xmlns:a16="http://schemas.microsoft.com/office/drawing/2014/main" id="{246A91A1-8822-012F-45CE-7A9EE5100C25}"/>
                </a:ext>
              </a:extLst>
            </p:cNvPr>
            <p:cNvSpPr txBox="1"/>
            <p:nvPr/>
          </p:nvSpPr>
          <p:spPr>
            <a:xfrm>
              <a:off x="3366655" y="1995055"/>
              <a:ext cx="1787236" cy="369332"/>
            </a:xfrm>
            <a:prstGeom prst="rect">
              <a:avLst/>
            </a:prstGeom>
            <a:noFill/>
          </p:spPr>
          <p:txBody>
            <a:bodyPr wrap="square" rtlCol="0">
              <a:spAutoFit/>
            </a:bodyPr>
            <a:lstStyle/>
            <a:p>
              <a:pPr algn="ctr"/>
              <a:r>
                <a:rPr lang="ru-RU" dirty="0"/>
                <a:t>Процесс 2</a:t>
              </a:r>
              <a:endParaRPr lang="en-US" dirty="0"/>
            </a:p>
          </p:txBody>
        </p:sp>
      </p:grpSp>
      <p:grpSp>
        <p:nvGrpSpPr>
          <p:cNvPr id="17" name="Group 16">
            <a:extLst>
              <a:ext uri="{FF2B5EF4-FFF2-40B4-BE49-F238E27FC236}">
                <a16:creationId xmlns:a16="http://schemas.microsoft.com/office/drawing/2014/main" id="{C2C35F51-FA41-D1A8-83C9-D47FCA2305BB}"/>
              </a:ext>
            </a:extLst>
          </p:cNvPr>
          <p:cNvGrpSpPr/>
          <p:nvPr/>
        </p:nvGrpSpPr>
        <p:grpSpPr>
          <a:xfrm>
            <a:off x="8726054" y="2816676"/>
            <a:ext cx="1787236" cy="2670753"/>
            <a:chOff x="6248400" y="1995055"/>
            <a:chExt cx="1787236" cy="2670753"/>
          </a:xfrm>
        </p:grpSpPr>
        <p:sp>
          <p:nvSpPr>
            <p:cNvPr id="12" name="Rectangle 11">
              <a:extLst>
                <a:ext uri="{FF2B5EF4-FFF2-40B4-BE49-F238E27FC236}">
                  <a16:creationId xmlns:a16="http://schemas.microsoft.com/office/drawing/2014/main" id="{5D401397-4170-FA42-6F13-DEF1C035CC07}"/>
                </a:ext>
              </a:extLst>
            </p:cNvPr>
            <p:cNvSpPr/>
            <p:nvPr/>
          </p:nvSpPr>
          <p:spPr>
            <a:xfrm>
              <a:off x="6289963" y="2313709"/>
              <a:ext cx="1745673" cy="1151804"/>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ru-RU" dirty="0"/>
                <a:t>Данные</a:t>
              </a:r>
              <a:endParaRPr lang="en-US" dirty="0"/>
            </a:p>
          </p:txBody>
        </p:sp>
        <p:sp>
          <p:nvSpPr>
            <p:cNvPr id="13" name="Rectangle 12">
              <a:extLst>
                <a:ext uri="{FF2B5EF4-FFF2-40B4-BE49-F238E27FC236}">
                  <a16:creationId xmlns:a16="http://schemas.microsoft.com/office/drawing/2014/main" id="{41A44BB1-1CD9-B848-485B-6432747260B2}"/>
                </a:ext>
              </a:extLst>
            </p:cNvPr>
            <p:cNvSpPr/>
            <p:nvPr/>
          </p:nvSpPr>
          <p:spPr>
            <a:xfrm>
              <a:off x="6289962" y="3514004"/>
              <a:ext cx="1745673" cy="1151804"/>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ru-RU" dirty="0"/>
                <a:t>Код</a:t>
              </a:r>
              <a:endParaRPr lang="en-US" dirty="0"/>
            </a:p>
          </p:txBody>
        </p:sp>
        <p:sp>
          <p:nvSpPr>
            <p:cNvPr id="14" name="TextBox 13">
              <a:extLst>
                <a:ext uri="{FF2B5EF4-FFF2-40B4-BE49-F238E27FC236}">
                  <a16:creationId xmlns:a16="http://schemas.microsoft.com/office/drawing/2014/main" id="{8C887D5C-8273-8559-E5BB-A9AEFB3DAEC7}"/>
                </a:ext>
              </a:extLst>
            </p:cNvPr>
            <p:cNvSpPr txBox="1"/>
            <p:nvPr/>
          </p:nvSpPr>
          <p:spPr>
            <a:xfrm>
              <a:off x="6248400" y="1995055"/>
              <a:ext cx="1787236" cy="369332"/>
            </a:xfrm>
            <a:prstGeom prst="rect">
              <a:avLst/>
            </a:prstGeom>
            <a:noFill/>
          </p:spPr>
          <p:txBody>
            <a:bodyPr wrap="square" rtlCol="0">
              <a:spAutoFit/>
            </a:bodyPr>
            <a:lstStyle/>
            <a:p>
              <a:pPr algn="ctr"/>
              <a:r>
                <a:rPr lang="ru-RU" dirty="0"/>
                <a:t>Процесс 3</a:t>
              </a:r>
              <a:endParaRPr lang="en-US" dirty="0"/>
            </a:p>
          </p:txBody>
        </p:sp>
      </p:grpSp>
      <p:pic>
        <p:nvPicPr>
          <p:cNvPr id="19" name="Graphic 18" descr="Envelope outline">
            <a:extLst>
              <a:ext uri="{FF2B5EF4-FFF2-40B4-BE49-F238E27FC236}">
                <a16:creationId xmlns:a16="http://schemas.microsoft.com/office/drawing/2014/main" id="{8AC09534-4BD7-2043-FED0-275099A2E5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44915" y="3254032"/>
            <a:ext cx="914400" cy="914400"/>
          </a:xfrm>
          <a:prstGeom prst="rect">
            <a:avLst/>
          </a:prstGeom>
        </p:spPr>
      </p:pic>
      <p:pic>
        <p:nvPicPr>
          <p:cNvPr id="20" name="Graphic 19" descr="Envelope outline">
            <a:extLst>
              <a:ext uri="{FF2B5EF4-FFF2-40B4-BE49-F238E27FC236}">
                <a16:creationId xmlns:a16="http://schemas.microsoft.com/office/drawing/2014/main" id="{5C1860C8-BD6E-D3F7-5CF6-0C58E2C068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42622" y="3254032"/>
            <a:ext cx="914400" cy="914400"/>
          </a:xfrm>
          <a:prstGeom prst="rect">
            <a:avLst/>
          </a:prstGeom>
        </p:spPr>
      </p:pic>
    </p:spTree>
    <p:extLst>
      <p:ext uri="{BB962C8B-B14F-4D97-AF65-F5344CB8AC3E}">
        <p14:creationId xmlns:p14="http://schemas.microsoft.com/office/powerpoint/2010/main" val="1777994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0.00013 -0.00578 L -0.02487 0.34167 L -0.21237 0.00834 " pathEditMode="relative" ptsTypes="AAA">
                                      <p:cBhvr>
                                        <p:cTn id="11" dur="2000" fill="hold"/>
                                        <p:tgtEl>
                                          <p:spTgt spid="19"/>
                                        </p:tgtEl>
                                        <p:attrNameLst>
                                          <p:attrName>ppt_x</p:attrName>
                                          <p:attrName>ppt_y</p:attrName>
                                        </p:attrNameLst>
                                      </p:cBhvr>
                                    </p:animMotion>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nodeType="clickEffect">
                                  <p:stCondLst>
                                    <p:cond delay="0"/>
                                  </p:stCondLst>
                                  <p:childTnLst>
                                    <p:animEffect transition="out" filter="fade">
                                      <p:cBhvr>
                                        <p:cTn id="15" dur="500"/>
                                        <p:tgtEl>
                                          <p:spTgt spid="19"/>
                                        </p:tgtEl>
                                      </p:cBhvr>
                                    </p:animEffect>
                                    <p:set>
                                      <p:cBhvr>
                                        <p:cTn id="16" dur="1" fill="hold">
                                          <p:stCondLst>
                                            <p:cond delay="499"/>
                                          </p:stCondLst>
                                        </p:cTn>
                                        <p:tgtEl>
                                          <p:spTgt spid="19"/>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0" presetClass="path" presetSubtype="0" accel="50000" decel="50000" fill="hold" nodeType="clickEffect">
                                  <p:stCondLst>
                                    <p:cond delay="0"/>
                                  </p:stCondLst>
                                  <p:childTnLst>
                                    <p:animMotion origin="layout" path="M 0.0013 -0.00648 L 0.05833 0.33519 L 0.1849 0.11574 " pathEditMode="relative" ptsTypes="AAA">
                                      <p:cBhvr>
                                        <p:cTn id="25" dur="2000" fill="hold"/>
                                        <p:tgtEl>
                                          <p:spTgt spid="20"/>
                                        </p:tgtEl>
                                        <p:attrNameLst>
                                          <p:attrName>ppt_x</p:attrName>
                                          <p:attrName>ppt_y</p:attrName>
                                        </p:attrNameLst>
                                      </p:cBhvr>
                                    </p:animMotion>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500"/>
                                        <p:tgtEl>
                                          <p:spTgt spid="20"/>
                                        </p:tgtEl>
                                      </p:cBhvr>
                                    </p:animEffect>
                                    <p:set>
                                      <p:cBhvr>
                                        <p:cTn id="30"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51532-280A-07BF-917A-18085C474119}"/>
              </a:ext>
            </a:extLst>
          </p:cNvPr>
          <p:cNvSpPr>
            <a:spLocks noGrp="1"/>
          </p:cNvSpPr>
          <p:nvPr>
            <p:ph type="title"/>
          </p:nvPr>
        </p:nvSpPr>
        <p:spPr/>
        <p:txBody>
          <a:bodyPr/>
          <a:lstStyle/>
          <a:p>
            <a:r>
              <a:rPr lang="ru-RU" dirty="0"/>
              <a:t>Многопоточность</a:t>
            </a:r>
            <a:endParaRPr lang="en-US" dirty="0"/>
          </a:p>
        </p:txBody>
      </p:sp>
      <p:sp>
        <p:nvSpPr>
          <p:cNvPr id="3" name="Content Placeholder 2">
            <a:extLst>
              <a:ext uri="{FF2B5EF4-FFF2-40B4-BE49-F238E27FC236}">
                <a16:creationId xmlns:a16="http://schemas.microsoft.com/office/drawing/2014/main" id="{FD83C753-0CC2-E28E-F430-11DC3EDE79C7}"/>
              </a:ext>
            </a:extLst>
          </p:cNvPr>
          <p:cNvSpPr>
            <a:spLocks noGrp="1"/>
          </p:cNvSpPr>
          <p:nvPr>
            <p:ph idx="1"/>
          </p:nvPr>
        </p:nvSpPr>
        <p:spPr/>
        <p:txBody>
          <a:bodyPr>
            <a:normAutofit fontScale="85000" lnSpcReduction="20000"/>
          </a:bodyPr>
          <a:lstStyle/>
          <a:p>
            <a:r>
              <a:rPr lang="ru-RU" b="1" dirty="0"/>
              <a:t>Многопоточность</a:t>
            </a:r>
            <a:r>
              <a:rPr lang="ru-RU" dirty="0"/>
              <a:t> — модель конкурентности, при которой </a:t>
            </a:r>
            <a:r>
              <a:rPr lang="ru-RU" b="1" dirty="0"/>
              <a:t>несколько потоков</a:t>
            </a:r>
            <a:r>
              <a:rPr lang="ru-RU" dirty="0"/>
              <a:t> выполняются внутри одного процесса и разделяют </a:t>
            </a:r>
            <a:r>
              <a:rPr lang="ru-RU" b="1" dirty="0"/>
              <a:t>общее адресное пространство</a:t>
            </a:r>
            <a:r>
              <a:rPr lang="ru-RU" dirty="0"/>
              <a:t>.</a:t>
            </a:r>
          </a:p>
          <a:p>
            <a:r>
              <a:rPr lang="ru-RU" b="1" dirty="0"/>
              <a:t>Особенность модели:</a:t>
            </a:r>
            <a:endParaRPr lang="ru-RU" dirty="0"/>
          </a:p>
          <a:p>
            <a:pPr lvl="1"/>
            <a:r>
              <a:rPr lang="ru-RU" dirty="0"/>
              <a:t>потоки имеют общий доступ к памяти процесса</a:t>
            </a:r>
          </a:p>
          <a:p>
            <a:pPr lvl="1"/>
            <a:r>
              <a:rPr lang="ru-RU" dirty="0"/>
              <a:t>данные можно передавать напрямую (через указатели и ссылки)</a:t>
            </a:r>
          </a:p>
          <a:p>
            <a:r>
              <a:rPr lang="ru-RU" b="1" dirty="0"/>
              <a:t>Достоинства:</a:t>
            </a:r>
            <a:endParaRPr lang="ru-RU" dirty="0"/>
          </a:p>
          <a:p>
            <a:pPr lvl="1"/>
            <a:r>
              <a:rPr lang="ru-RU" dirty="0"/>
              <a:t>быстрая и дешёвая коммуникация между потоками</a:t>
            </a:r>
          </a:p>
          <a:p>
            <a:pPr lvl="1"/>
            <a:r>
              <a:rPr lang="ru-RU" dirty="0"/>
              <a:t>меньшие накладные расходы на создание и управление</a:t>
            </a:r>
          </a:p>
          <a:p>
            <a:pPr lvl="1"/>
            <a:r>
              <a:rPr lang="ru-RU" dirty="0"/>
              <a:t>высокая производительность при правильной синхронизации</a:t>
            </a:r>
          </a:p>
          <a:p>
            <a:r>
              <a:rPr lang="ru-RU" b="1" dirty="0"/>
              <a:t>Недостатки:</a:t>
            </a:r>
            <a:endParaRPr lang="ru-RU" dirty="0"/>
          </a:p>
          <a:p>
            <a:pPr lvl="1"/>
            <a:r>
              <a:rPr lang="ru-RU" dirty="0"/>
              <a:t>риск гонок данных и некорректного доступа к памяти</a:t>
            </a:r>
          </a:p>
          <a:p>
            <a:pPr lvl="1"/>
            <a:r>
              <a:rPr lang="ru-RU" dirty="0"/>
              <a:t>сложность отладки и тестирования</a:t>
            </a:r>
          </a:p>
          <a:p>
            <a:pPr lvl="1"/>
            <a:r>
              <a:rPr lang="ru-RU" dirty="0"/>
              <a:t>сбой в одном потоке может привести к падению всего процесса</a:t>
            </a:r>
          </a:p>
        </p:txBody>
      </p:sp>
    </p:spTree>
    <p:extLst>
      <p:ext uri="{BB962C8B-B14F-4D97-AF65-F5344CB8AC3E}">
        <p14:creationId xmlns:p14="http://schemas.microsoft.com/office/powerpoint/2010/main" val="1600838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
                                            <p:txEl>
                                              <p:pRg st="11" end="11"/>
                                            </p:txEl>
                                          </p:spTgt>
                                        </p:tgtEl>
                                        <p:attrNameLst>
                                          <p:attrName>style.visibility</p:attrName>
                                        </p:attrNameLst>
                                      </p:cBhvr>
                                      <p:to>
                                        <p:strVal val="visible"/>
                                      </p:to>
                                    </p:set>
                                    <p:animEffect transition="in" filter="fade">
                                      <p:cBhvr>
                                        <p:cTn id="4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BA4E4-73FE-2233-9448-A88D3ECED6E9}"/>
              </a:ext>
            </a:extLst>
          </p:cNvPr>
          <p:cNvSpPr>
            <a:spLocks noGrp="1"/>
          </p:cNvSpPr>
          <p:nvPr>
            <p:ph type="title"/>
          </p:nvPr>
        </p:nvSpPr>
        <p:spPr/>
        <p:txBody>
          <a:bodyPr/>
          <a:lstStyle/>
          <a:p>
            <a:r>
              <a:rPr lang="ru-RU" dirty="0"/>
              <a:t>Векторизация</a:t>
            </a:r>
            <a:endParaRPr lang="en-US" dirty="0"/>
          </a:p>
        </p:txBody>
      </p:sp>
      <p:sp>
        <p:nvSpPr>
          <p:cNvPr id="3" name="Content Placeholder 2">
            <a:extLst>
              <a:ext uri="{FF2B5EF4-FFF2-40B4-BE49-F238E27FC236}">
                <a16:creationId xmlns:a16="http://schemas.microsoft.com/office/drawing/2014/main" id="{291EC6FA-1905-82E0-5BA7-064ED3FFB30A}"/>
              </a:ext>
            </a:extLst>
          </p:cNvPr>
          <p:cNvSpPr>
            <a:spLocks noGrp="1"/>
          </p:cNvSpPr>
          <p:nvPr>
            <p:ph idx="1"/>
          </p:nvPr>
        </p:nvSpPr>
        <p:spPr/>
        <p:txBody>
          <a:bodyPr>
            <a:normAutofit fontScale="70000" lnSpcReduction="20000"/>
          </a:bodyPr>
          <a:lstStyle/>
          <a:p>
            <a:r>
              <a:rPr lang="ru-RU" b="1" dirty="0"/>
              <a:t>Векторизация</a:t>
            </a:r>
            <a:r>
              <a:rPr lang="ru-RU" dirty="0"/>
              <a:t> — форма </a:t>
            </a:r>
            <a:r>
              <a:rPr lang="ru-RU" i="1" dirty="0"/>
              <a:t>параллелизма данных</a:t>
            </a:r>
            <a:r>
              <a:rPr lang="ru-RU" dirty="0"/>
              <a:t>, при которой </a:t>
            </a:r>
            <a:r>
              <a:rPr lang="ru-RU" b="1" dirty="0"/>
              <a:t>одна инструкция</a:t>
            </a:r>
            <a:r>
              <a:rPr lang="ru-RU" dirty="0"/>
              <a:t> применяется сразу к </a:t>
            </a:r>
            <a:r>
              <a:rPr lang="ru-RU" b="1" dirty="0"/>
              <a:t>нескольким элементам данных</a:t>
            </a:r>
            <a:r>
              <a:rPr lang="ru-RU" dirty="0"/>
              <a:t>.</a:t>
            </a:r>
          </a:p>
          <a:p>
            <a:r>
              <a:rPr lang="ru-RU" b="1" dirty="0"/>
              <a:t>SIMD (Single </a:t>
            </a:r>
            <a:r>
              <a:rPr lang="ru-RU" b="1" dirty="0" err="1"/>
              <a:t>Instruction</a:t>
            </a:r>
            <a:r>
              <a:rPr lang="ru-RU" b="1" dirty="0"/>
              <a:t>, </a:t>
            </a:r>
            <a:r>
              <a:rPr lang="ru-RU" b="1" dirty="0" err="1"/>
              <a:t>Multiple</a:t>
            </a:r>
            <a:r>
              <a:rPr lang="ru-RU" b="1" dirty="0"/>
              <a:t> Data):</a:t>
            </a:r>
            <a:endParaRPr lang="ru-RU" dirty="0"/>
          </a:p>
          <a:p>
            <a:pPr lvl="1"/>
            <a:r>
              <a:rPr lang="ru-RU" dirty="0"/>
              <a:t>одна операция</a:t>
            </a:r>
          </a:p>
          <a:p>
            <a:pPr lvl="1"/>
            <a:r>
              <a:rPr lang="ru-RU" dirty="0"/>
              <a:t>над вектором значений</a:t>
            </a:r>
          </a:p>
          <a:p>
            <a:r>
              <a:rPr lang="ru-RU" b="1" dirty="0"/>
              <a:t>Аппаратная основа:</a:t>
            </a:r>
            <a:endParaRPr lang="ru-RU" dirty="0"/>
          </a:p>
          <a:p>
            <a:pPr lvl="1"/>
            <a:r>
              <a:rPr lang="ru-RU" dirty="0"/>
              <a:t>векторные регистры CPU</a:t>
            </a:r>
          </a:p>
          <a:p>
            <a:pPr lvl="1"/>
            <a:r>
              <a:rPr lang="ru-RU" dirty="0"/>
              <a:t>хранят несколько целых или вещественных чисел</a:t>
            </a:r>
          </a:p>
          <a:p>
            <a:r>
              <a:rPr lang="ru-RU" b="1" dirty="0"/>
              <a:t>Архитектурные реализации:</a:t>
            </a:r>
            <a:endParaRPr lang="ru-RU" dirty="0"/>
          </a:p>
          <a:p>
            <a:pPr lvl="1"/>
            <a:r>
              <a:rPr lang="ru-RU" dirty="0"/>
              <a:t>x86: SSE, AVX, AVX2</a:t>
            </a:r>
          </a:p>
          <a:p>
            <a:pPr lvl="1"/>
            <a:r>
              <a:rPr lang="ru-RU" dirty="0"/>
              <a:t>ARM: NEON</a:t>
            </a:r>
          </a:p>
          <a:p>
            <a:pPr lvl="1"/>
            <a:r>
              <a:rPr lang="ru-RU" dirty="0"/>
              <a:t>RISC-V: </a:t>
            </a:r>
            <a:r>
              <a:rPr lang="ru-RU" dirty="0" err="1"/>
              <a:t>vector</a:t>
            </a:r>
            <a:r>
              <a:rPr lang="ru-RU" dirty="0"/>
              <a:t> </a:t>
            </a:r>
            <a:r>
              <a:rPr lang="ru-RU" dirty="0" err="1"/>
              <a:t>extensions</a:t>
            </a:r>
            <a:endParaRPr lang="ru-RU" dirty="0"/>
          </a:p>
          <a:p>
            <a:r>
              <a:rPr lang="ru-RU" b="1" dirty="0"/>
              <a:t>Как используется:</a:t>
            </a:r>
            <a:endParaRPr lang="ru-RU" dirty="0"/>
          </a:p>
          <a:p>
            <a:pPr lvl="1"/>
            <a:r>
              <a:rPr lang="ru-RU" dirty="0"/>
              <a:t>автоматическая векторизация компилятором</a:t>
            </a:r>
          </a:p>
          <a:p>
            <a:pPr lvl="1"/>
            <a:r>
              <a:rPr lang="ru-RU" dirty="0" err="1"/>
              <a:t>intrinsic</a:t>
            </a:r>
            <a:r>
              <a:rPr lang="ru-RU" dirty="0"/>
              <a:t>-инструкции</a:t>
            </a:r>
          </a:p>
          <a:p>
            <a:pPr lvl="1"/>
            <a:r>
              <a:rPr lang="ru-RU" dirty="0"/>
              <a:t>ассемблер</a:t>
            </a:r>
          </a:p>
        </p:txBody>
      </p:sp>
    </p:spTree>
    <p:extLst>
      <p:ext uri="{BB962C8B-B14F-4D97-AF65-F5344CB8AC3E}">
        <p14:creationId xmlns:p14="http://schemas.microsoft.com/office/powerpoint/2010/main" val="29132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11" end="11"/>
                                            </p:txEl>
                                          </p:spTgt>
                                        </p:tgtEl>
                                        <p:attrNameLst>
                                          <p:attrName>style.visibility</p:attrName>
                                        </p:attrNameLst>
                                      </p:cBhvr>
                                      <p:to>
                                        <p:strVal val="visible"/>
                                      </p:to>
                                    </p:set>
                                    <p:animEffect transition="in" filter="fade">
                                      <p:cBhvr>
                                        <p:cTn id="48" dur="500"/>
                                        <p:tgtEl>
                                          <p:spTgt spid="3">
                                            <p:txEl>
                                              <p:pRg st="11" end="11"/>
                                            </p:txEl>
                                          </p:spTgt>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animEffect transition="in" filter="fade">
                                      <p:cBhvr>
                                        <p:cTn id="51" dur="500"/>
                                        <p:tgtEl>
                                          <p:spTgt spid="3">
                                            <p:txEl>
                                              <p:pRg st="12" end="12"/>
                                            </p:txEl>
                                          </p:spTgt>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
                                            <p:txEl>
                                              <p:pRg st="13" end="13"/>
                                            </p:txEl>
                                          </p:spTgt>
                                        </p:tgtEl>
                                        <p:attrNameLst>
                                          <p:attrName>style.visibility</p:attrName>
                                        </p:attrNameLst>
                                      </p:cBhvr>
                                      <p:to>
                                        <p:strVal val="visible"/>
                                      </p:to>
                                    </p:set>
                                    <p:animEffect transition="in" filter="fade">
                                      <p:cBhvr>
                                        <p:cTn id="54" dur="500"/>
                                        <p:tgtEl>
                                          <p:spTgt spid="3">
                                            <p:txEl>
                                              <p:pRg st="13" end="13"/>
                                            </p:txEl>
                                          </p:spTgt>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
                                            <p:txEl>
                                              <p:pRg st="14" end="14"/>
                                            </p:txEl>
                                          </p:spTgt>
                                        </p:tgtEl>
                                        <p:attrNameLst>
                                          <p:attrName>style.visibility</p:attrName>
                                        </p:attrNameLst>
                                      </p:cBhvr>
                                      <p:to>
                                        <p:strVal val="visible"/>
                                      </p:to>
                                    </p:set>
                                    <p:animEffect transition="in" filter="fade">
                                      <p:cBhvr>
                                        <p:cTn id="57"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35EDE5-90F3-1C6D-93EF-3E02C2A04F93}"/>
              </a:ext>
            </a:extLst>
          </p:cNvPr>
          <p:cNvSpPr>
            <a:spLocks noGrp="1"/>
          </p:cNvSpPr>
          <p:nvPr>
            <p:ph type="title"/>
          </p:nvPr>
        </p:nvSpPr>
        <p:spPr/>
        <p:txBody>
          <a:bodyPr/>
          <a:lstStyle/>
          <a:p>
            <a:r>
              <a:rPr lang="ru-RU" dirty="0"/>
              <a:t>Векторное сложение элементов массивов</a:t>
            </a:r>
            <a:endParaRPr lang="en-US" dirty="0"/>
          </a:p>
        </p:txBody>
      </p:sp>
      <p:sp>
        <p:nvSpPr>
          <p:cNvPr id="5" name="Rectangle 4">
            <a:extLst>
              <a:ext uri="{FF2B5EF4-FFF2-40B4-BE49-F238E27FC236}">
                <a16:creationId xmlns:a16="http://schemas.microsoft.com/office/drawing/2014/main" id="{5CFF48F8-D82B-F131-306D-0149E41BEA1E}"/>
              </a:ext>
            </a:extLst>
          </p:cNvPr>
          <p:cNvSpPr/>
          <p:nvPr/>
        </p:nvSpPr>
        <p:spPr>
          <a:xfrm>
            <a:off x="1371599" y="3013365"/>
            <a:ext cx="1080655" cy="41563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int</a:t>
            </a:r>
          </a:p>
        </p:txBody>
      </p:sp>
      <p:sp>
        <p:nvSpPr>
          <p:cNvPr id="6" name="Rectangle 5">
            <a:extLst>
              <a:ext uri="{FF2B5EF4-FFF2-40B4-BE49-F238E27FC236}">
                <a16:creationId xmlns:a16="http://schemas.microsoft.com/office/drawing/2014/main" id="{08065A11-3F5C-5B47-1909-03D8CE75B8AD}"/>
              </a:ext>
            </a:extLst>
          </p:cNvPr>
          <p:cNvSpPr/>
          <p:nvPr/>
        </p:nvSpPr>
        <p:spPr>
          <a:xfrm>
            <a:off x="2452254" y="3013365"/>
            <a:ext cx="1080655" cy="41563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int</a:t>
            </a:r>
          </a:p>
        </p:txBody>
      </p:sp>
      <p:sp>
        <p:nvSpPr>
          <p:cNvPr id="7" name="Rectangle 6">
            <a:extLst>
              <a:ext uri="{FF2B5EF4-FFF2-40B4-BE49-F238E27FC236}">
                <a16:creationId xmlns:a16="http://schemas.microsoft.com/office/drawing/2014/main" id="{F97F9036-40B3-A791-8E9A-5142D1F5FBC3}"/>
              </a:ext>
            </a:extLst>
          </p:cNvPr>
          <p:cNvSpPr/>
          <p:nvPr/>
        </p:nvSpPr>
        <p:spPr>
          <a:xfrm>
            <a:off x="3532909" y="3013364"/>
            <a:ext cx="1080655" cy="41563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int</a:t>
            </a:r>
          </a:p>
        </p:txBody>
      </p:sp>
      <p:sp>
        <p:nvSpPr>
          <p:cNvPr id="8" name="Rectangle 7">
            <a:extLst>
              <a:ext uri="{FF2B5EF4-FFF2-40B4-BE49-F238E27FC236}">
                <a16:creationId xmlns:a16="http://schemas.microsoft.com/office/drawing/2014/main" id="{C1987BFF-BB58-FA50-8291-98C84A5154CF}"/>
              </a:ext>
            </a:extLst>
          </p:cNvPr>
          <p:cNvSpPr/>
          <p:nvPr/>
        </p:nvSpPr>
        <p:spPr>
          <a:xfrm>
            <a:off x="4613564" y="3013363"/>
            <a:ext cx="1080655" cy="41563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int</a:t>
            </a:r>
          </a:p>
        </p:txBody>
      </p:sp>
      <p:sp>
        <p:nvSpPr>
          <p:cNvPr id="10" name="TextBox 9">
            <a:extLst>
              <a:ext uri="{FF2B5EF4-FFF2-40B4-BE49-F238E27FC236}">
                <a16:creationId xmlns:a16="http://schemas.microsoft.com/office/drawing/2014/main" id="{12FB4342-334F-0843-45C6-D195D82FCC4F}"/>
              </a:ext>
            </a:extLst>
          </p:cNvPr>
          <p:cNvSpPr txBox="1"/>
          <p:nvPr/>
        </p:nvSpPr>
        <p:spPr>
          <a:xfrm>
            <a:off x="318654" y="5236918"/>
            <a:ext cx="8922327" cy="1477328"/>
          </a:xfrm>
          <a:prstGeom prst="rect">
            <a:avLst/>
          </a:prstGeom>
          <a:noFill/>
        </p:spPr>
        <p:txBody>
          <a:bodyPr wrap="square">
            <a:spAutoFit/>
          </a:bodyPr>
          <a:lstStyle/>
          <a:p>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ArraySum(</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src1,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src2,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dst,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size)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i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i &lt; size; ++i) {</a:t>
            </a:r>
          </a:p>
          <a:p>
            <a:r>
              <a:rPr lang="en-US" b="0" dirty="0">
                <a:solidFill>
                  <a:srgbClr val="000000"/>
                </a:solidFill>
                <a:effectLst/>
                <a:latin typeface="Consolas" panose="020B0609020204030204" pitchFamily="49" charset="0"/>
              </a:rPr>
              <a:t>        dst[i] = src1[i] + src2[i];</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
        <p:nvSpPr>
          <p:cNvPr id="11" name="Rectangle 10">
            <a:extLst>
              <a:ext uri="{FF2B5EF4-FFF2-40B4-BE49-F238E27FC236}">
                <a16:creationId xmlns:a16="http://schemas.microsoft.com/office/drawing/2014/main" id="{3AF31274-3CCC-D859-9AA9-809491643B86}"/>
              </a:ext>
            </a:extLst>
          </p:cNvPr>
          <p:cNvSpPr/>
          <p:nvPr/>
        </p:nvSpPr>
        <p:spPr>
          <a:xfrm>
            <a:off x="1371599" y="3541714"/>
            <a:ext cx="1080655" cy="41563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FA73DCB-1E66-27DB-CB1A-8C9589C2EECD}"/>
              </a:ext>
            </a:extLst>
          </p:cNvPr>
          <p:cNvSpPr/>
          <p:nvPr/>
        </p:nvSpPr>
        <p:spPr>
          <a:xfrm>
            <a:off x="2452254" y="3541714"/>
            <a:ext cx="1080655" cy="41563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76C75293-90DE-586D-678C-C9D87BC30C23}"/>
              </a:ext>
            </a:extLst>
          </p:cNvPr>
          <p:cNvSpPr/>
          <p:nvPr/>
        </p:nvSpPr>
        <p:spPr>
          <a:xfrm>
            <a:off x="3532909" y="3541713"/>
            <a:ext cx="1080655" cy="41563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3AE87F0E-087C-7217-C2B9-6C6F71F47370}"/>
              </a:ext>
            </a:extLst>
          </p:cNvPr>
          <p:cNvSpPr/>
          <p:nvPr/>
        </p:nvSpPr>
        <p:spPr>
          <a:xfrm>
            <a:off x="4613564" y="3541712"/>
            <a:ext cx="1080655" cy="41563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4944101E-F2FA-8F4C-8D60-10753EE5E97B}"/>
              </a:ext>
            </a:extLst>
          </p:cNvPr>
          <p:cNvSpPr/>
          <p:nvPr/>
        </p:nvSpPr>
        <p:spPr>
          <a:xfrm>
            <a:off x="1371599" y="4430285"/>
            <a:ext cx="1080655" cy="41563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F1527EE1-DB48-9A2D-E0CD-7E4589457A1A}"/>
              </a:ext>
            </a:extLst>
          </p:cNvPr>
          <p:cNvSpPr/>
          <p:nvPr/>
        </p:nvSpPr>
        <p:spPr>
          <a:xfrm>
            <a:off x="2452254" y="4430285"/>
            <a:ext cx="1080655" cy="41563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A5661B5D-4636-09A8-4836-DF05216A9C4D}"/>
              </a:ext>
            </a:extLst>
          </p:cNvPr>
          <p:cNvSpPr/>
          <p:nvPr/>
        </p:nvSpPr>
        <p:spPr>
          <a:xfrm>
            <a:off x="3532909" y="4430284"/>
            <a:ext cx="1080655" cy="41563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395F56B-653F-6D73-20CE-AEA6DF9C1D81}"/>
              </a:ext>
            </a:extLst>
          </p:cNvPr>
          <p:cNvSpPr/>
          <p:nvPr/>
        </p:nvSpPr>
        <p:spPr>
          <a:xfrm>
            <a:off x="4613564" y="4430283"/>
            <a:ext cx="1080655" cy="415637"/>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59F754EA-60E6-5E43-EA85-7F9DD80667C7}"/>
              </a:ext>
            </a:extLst>
          </p:cNvPr>
          <p:cNvSpPr txBox="1"/>
          <p:nvPr/>
        </p:nvSpPr>
        <p:spPr>
          <a:xfrm>
            <a:off x="1371599" y="3957349"/>
            <a:ext cx="4322620" cy="369332"/>
          </a:xfrm>
          <a:prstGeom prst="rect">
            <a:avLst/>
          </a:prstGeom>
          <a:noFill/>
        </p:spPr>
        <p:txBody>
          <a:bodyPr wrap="square" rtlCol="0">
            <a:spAutoFit/>
          </a:bodyPr>
          <a:lstStyle/>
          <a:p>
            <a:pPr algn="ctr"/>
            <a:r>
              <a:rPr lang="en-US" dirty="0"/>
              <a:t>…</a:t>
            </a:r>
          </a:p>
        </p:txBody>
      </p:sp>
      <p:sp>
        <p:nvSpPr>
          <p:cNvPr id="20" name="TextBox 19">
            <a:extLst>
              <a:ext uri="{FF2B5EF4-FFF2-40B4-BE49-F238E27FC236}">
                <a16:creationId xmlns:a16="http://schemas.microsoft.com/office/drawing/2014/main" id="{8C8100B9-1E2E-6289-CAE1-3987531181ED}"/>
              </a:ext>
            </a:extLst>
          </p:cNvPr>
          <p:cNvSpPr txBox="1"/>
          <p:nvPr/>
        </p:nvSpPr>
        <p:spPr>
          <a:xfrm>
            <a:off x="318654" y="3013363"/>
            <a:ext cx="928255" cy="369332"/>
          </a:xfrm>
          <a:prstGeom prst="rect">
            <a:avLst/>
          </a:prstGeom>
          <a:noFill/>
        </p:spPr>
        <p:txBody>
          <a:bodyPr wrap="square" rtlCol="0">
            <a:spAutoFit/>
          </a:bodyPr>
          <a:lstStyle/>
          <a:p>
            <a:r>
              <a:rPr lang="en-US" dirty="0"/>
              <a:t>XMM0</a:t>
            </a:r>
          </a:p>
        </p:txBody>
      </p:sp>
      <p:sp>
        <p:nvSpPr>
          <p:cNvPr id="21" name="TextBox 20">
            <a:extLst>
              <a:ext uri="{FF2B5EF4-FFF2-40B4-BE49-F238E27FC236}">
                <a16:creationId xmlns:a16="http://schemas.microsoft.com/office/drawing/2014/main" id="{E4073A01-6007-D22D-5FC5-630E4464A871}"/>
              </a:ext>
            </a:extLst>
          </p:cNvPr>
          <p:cNvSpPr txBox="1"/>
          <p:nvPr/>
        </p:nvSpPr>
        <p:spPr>
          <a:xfrm>
            <a:off x="318654" y="3588015"/>
            <a:ext cx="928255" cy="369332"/>
          </a:xfrm>
          <a:prstGeom prst="rect">
            <a:avLst/>
          </a:prstGeom>
          <a:noFill/>
        </p:spPr>
        <p:txBody>
          <a:bodyPr wrap="square" rtlCol="0">
            <a:spAutoFit/>
          </a:bodyPr>
          <a:lstStyle/>
          <a:p>
            <a:r>
              <a:rPr lang="en-US" dirty="0"/>
              <a:t>XMM1</a:t>
            </a:r>
          </a:p>
        </p:txBody>
      </p:sp>
      <p:sp>
        <p:nvSpPr>
          <p:cNvPr id="22" name="TextBox 21">
            <a:extLst>
              <a:ext uri="{FF2B5EF4-FFF2-40B4-BE49-F238E27FC236}">
                <a16:creationId xmlns:a16="http://schemas.microsoft.com/office/drawing/2014/main" id="{0E35F339-0E2E-6325-A4C2-5319139D2327}"/>
              </a:ext>
            </a:extLst>
          </p:cNvPr>
          <p:cNvSpPr txBox="1"/>
          <p:nvPr/>
        </p:nvSpPr>
        <p:spPr>
          <a:xfrm>
            <a:off x="367144" y="4430283"/>
            <a:ext cx="928255" cy="369332"/>
          </a:xfrm>
          <a:prstGeom prst="rect">
            <a:avLst/>
          </a:prstGeom>
          <a:noFill/>
        </p:spPr>
        <p:txBody>
          <a:bodyPr wrap="square" rtlCol="0">
            <a:spAutoFit/>
          </a:bodyPr>
          <a:lstStyle/>
          <a:p>
            <a:r>
              <a:rPr lang="en-US" dirty="0"/>
              <a:t>XMM7</a:t>
            </a:r>
          </a:p>
        </p:txBody>
      </p:sp>
      <p:sp>
        <p:nvSpPr>
          <p:cNvPr id="23" name="Left Brace 22">
            <a:extLst>
              <a:ext uri="{FF2B5EF4-FFF2-40B4-BE49-F238E27FC236}">
                <a16:creationId xmlns:a16="http://schemas.microsoft.com/office/drawing/2014/main" id="{98352A2E-E420-3CDB-C75D-369EE16F9F4F}"/>
              </a:ext>
            </a:extLst>
          </p:cNvPr>
          <p:cNvSpPr/>
          <p:nvPr/>
        </p:nvSpPr>
        <p:spPr>
          <a:xfrm rot="5400000">
            <a:off x="3348241" y="423215"/>
            <a:ext cx="369333" cy="4322620"/>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4" name="TextBox 23">
            <a:extLst>
              <a:ext uri="{FF2B5EF4-FFF2-40B4-BE49-F238E27FC236}">
                <a16:creationId xmlns:a16="http://schemas.microsoft.com/office/drawing/2014/main" id="{39B6D108-0985-55A4-5F32-A3FDE0A5B83C}"/>
              </a:ext>
            </a:extLst>
          </p:cNvPr>
          <p:cNvSpPr txBox="1"/>
          <p:nvPr/>
        </p:nvSpPr>
        <p:spPr>
          <a:xfrm>
            <a:off x="1260764" y="1967345"/>
            <a:ext cx="4447309" cy="369332"/>
          </a:xfrm>
          <a:prstGeom prst="rect">
            <a:avLst/>
          </a:prstGeom>
          <a:noFill/>
        </p:spPr>
        <p:txBody>
          <a:bodyPr wrap="square" rtlCol="0">
            <a:spAutoFit/>
          </a:bodyPr>
          <a:lstStyle/>
          <a:p>
            <a:pPr algn="ctr"/>
            <a:r>
              <a:rPr lang="en-US" dirty="0"/>
              <a:t>128-</a:t>
            </a:r>
            <a:r>
              <a:rPr lang="ru-RU" dirty="0"/>
              <a:t>бит</a:t>
            </a:r>
            <a:endParaRPr lang="en-US" dirty="0"/>
          </a:p>
        </p:txBody>
      </p:sp>
      <p:sp>
        <p:nvSpPr>
          <p:cNvPr id="26" name="TextBox 25">
            <a:extLst>
              <a:ext uri="{FF2B5EF4-FFF2-40B4-BE49-F238E27FC236}">
                <a16:creationId xmlns:a16="http://schemas.microsoft.com/office/drawing/2014/main" id="{6C198864-EBD6-4F23-8ED9-656C52D7051A}"/>
              </a:ext>
            </a:extLst>
          </p:cNvPr>
          <p:cNvSpPr txBox="1"/>
          <p:nvPr/>
        </p:nvSpPr>
        <p:spPr>
          <a:xfrm>
            <a:off x="6012873" y="2584525"/>
            <a:ext cx="6096000" cy="2308324"/>
          </a:xfrm>
          <a:prstGeom prst="rect">
            <a:avLst/>
          </a:prstGeom>
          <a:noFill/>
        </p:spPr>
        <p:txBody>
          <a:bodyPr wrap="square">
            <a:spAutoFit/>
          </a:bodyPr>
          <a:lstStyle/>
          <a:p>
            <a:r>
              <a:rPr lang="en-US" b="0" dirty="0">
                <a:solidFill>
                  <a:srgbClr val="0000FF"/>
                </a:solidFill>
                <a:effectLst/>
                <a:latin typeface="Consolas" panose="020B0609020204030204" pitchFamily="49" charset="0"/>
              </a:rPr>
              <a:t>.L5</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movdqu</a:t>
            </a:r>
            <a:r>
              <a:rPr lang="en-US" b="0" dirty="0">
                <a:solidFill>
                  <a:srgbClr val="000000"/>
                </a:solidFill>
                <a:effectLst/>
                <a:latin typeface="Consolas" panose="020B0609020204030204" pitchFamily="49" charset="0"/>
              </a:rPr>
              <a:t>  </a:t>
            </a:r>
            <a:r>
              <a:rPr lang="en-US" b="0" dirty="0">
                <a:solidFill>
                  <a:srgbClr val="4864AA"/>
                </a:solidFill>
                <a:effectLst/>
                <a:latin typeface="Consolas" panose="020B0609020204030204" pitchFamily="49" charset="0"/>
              </a:rPr>
              <a:t>xmm0</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XMMWORD</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PTR</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rdi</a:t>
            </a:r>
            <a:r>
              <a:rPr lang="en-US" b="0" dirty="0" err="1">
                <a:solidFill>
                  <a:srgbClr val="000000"/>
                </a:solidFill>
                <a:effectLst/>
                <a:latin typeface="Consolas" panose="020B0609020204030204" pitchFamily="49" charset="0"/>
              </a:rPr>
              <a:t>+</a:t>
            </a:r>
            <a:r>
              <a:rPr lang="en-US" b="0" dirty="0" err="1">
                <a:solidFill>
                  <a:srgbClr val="4864AA"/>
                </a:solidFill>
                <a:effectLst/>
                <a:latin typeface="Consolas" panose="020B0609020204030204" pitchFamily="49" charset="0"/>
              </a:rPr>
              <a:t>rax</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movdqu</a:t>
            </a:r>
            <a:r>
              <a:rPr lang="en-US" b="0" dirty="0">
                <a:solidFill>
                  <a:srgbClr val="000000"/>
                </a:solidFill>
                <a:effectLst/>
                <a:latin typeface="Consolas" panose="020B0609020204030204" pitchFamily="49" charset="0"/>
              </a:rPr>
              <a:t>  </a:t>
            </a:r>
            <a:r>
              <a:rPr lang="en-US" b="0" dirty="0">
                <a:solidFill>
                  <a:srgbClr val="4864AA"/>
                </a:solidFill>
                <a:effectLst/>
                <a:latin typeface="Consolas" panose="020B0609020204030204" pitchFamily="49" charset="0"/>
              </a:rPr>
              <a:t>xmm2</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XMMWORD</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PTR</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rsi</a:t>
            </a:r>
            <a:r>
              <a:rPr lang="en-US" b="0" dirty="0" err="1">
                <a:solidFill>
                  <a:srgbClr val="000000"/>
                </a:solidFill>
                <a:effectLst/>
                <a:latin typeface="Consolas" panose="020B0609020204030204" pitchFamily="49" charset="0"/>
              </a:rPr>
              <a:t>+</a:t>
            </a:r>
            <a:r>
              <a:rPr lang="en-US" b="0" dirty="0" err="1">
                <a:solidFill>
                  <a:srgbClr val="4864AA"/>
                </a:solidFill>
                <a:effectLst/>
                <a:latin typeface="Consolas" panose="020B0609020204030204" pitchFamily="49" charset="0"/>
              </a:rPr>
              <a:t>rax</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paddd</a:t>
            </a:r>
            <a:r>
              <a:rPr lang="en-US" b="0" dirty="0">
                <a:solidFill>
                  <a:srgbClr val="000000"/>
                </a:solidFill>
                <a:effectLst/>
                <a:latin typeface="Consolas" panose="020B0609020204030204" pitchFamily="49" charset="0"/>
              </a:rPr>
              <a:t>   </a:t>
            </a:r>
            <a:r>
              <a:rPr lang="en-US" b="0" dirty="0">
                <a:solidFill>
                  <a:srgbClr val="4864AA"/>
                </a:solidFill>
                <a:effectLst/>
                <a:latin typeface="Consolas" panose="020B0609020204030204" pitchFamily="49" charset="0"/>
              </a:rPr>
              <a:t>xmm0</a:t>
            </a:r>
            <a:r>
              <a:rPr lang="en-US" b="0" dirty="0">
                <a:solidFill>
                  <a:srgbClr val="000000"/>
                </a:solidFill>
                <a:effectLst/>
                <a:latin typeface="Consolas" panose="020B0609020204030204" pitchFamily="49" charset="0"/>
              </a:rPr>
              <a:t>, </a:t>
            </a:r>
            <a:r>
              <a:rPr lang="en-US" b="0" dirty="0">
                <a:solidFill>
                  <a:srgbClr val="4864AA"/>
                </a:solidFill>
                <a:effectLst/>
                <a:latin typeface="Consolas" panose="020B0609020204030204" pitchFamily="49" charset="0"/>
              </a:rPr>
              <a:t>xmm2</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movups</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XMMWORD</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PTR</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rdx</a:t>
            </a:r>
            <a:r>
              <a:rPr lang="en-US" b="0" dirty="0" err="1">
                <a:solidFill>
                  <a:srgbClr val="000000"/>
                </a:solidFill>
                <a:effectLst/>
                <a:latin typeface="Consolas" panose="020B0609020204030204" pitchFamily="49" charset="0"/>
              </a:rPr>
              <a:t>+</a:t>
            </a:r>
            <a:r>
              <a:rPr lang="en-US" b="0" dirty="0" err="1">
                <a:solidFill>
                  <a:srgbClr val="4864AA"/>
                </a:solidFill>
                <a:effectLst/>
                <a:latin typeface="Consolas" panose="020B0609020204030204" pitchFamily="49" charset="0"/>
              </a:rPr>
              <a:t>rax</a:t>
            </a:r>
            <a:r>
              <a:rPr lang="en-US" b="0" dirty="0">
                <a:solidFill>
                  <a:srgbClr val="000000"/>
                </a:solidFill>
                <a:effectLst/>
                <a:latin typeface="Consolas" panose="020B0609020204030204" pitchFamily="49" charset="0"/>
              </a:rPr>
              <a:t>], </a:t>
            </a:r>
            <a:r>
              <a:rPr lang="en-US" b="0" dirty="0">
                <a:solidFill>
                  <a:srgbClr val="4864AA"/>
                </a:solidFill>
                <a:effectLst/>
                <a:latin typeface="Consolas" panose="020B0609020204030204" pitchFamily="49" charset="0"/>
              </a:rPr>
              <a:t>xmm0</a:t>
            </a:r>
            <a:endParaRPr lang="en-US" b="0" dirty="0">
              <a:solidFill>
                <a:srgbClr val="000000"/>
              </a:solidFill>
              <a:effectLst/>
              <a:latin typeface="Consolas" panose="020B0609020204030204" pitchFamily="49" charset="0"/>
            </a:endParaRPr>
          </a:p>
          <a:p>
            <a:r>
              <a:rPr lang="en-US" dirty="0">
                <a:solidFill>
                  <a:srgbClr val="000000"/>
                </a:solidFill>
                <a:effectLst/>
                <a:latin typeface="Consolas" panose="020B0609020204030204" pitchFamily="49" charset="0"/>
              </a:rPr>
              <a:t>        </a:t>
            </a:r>
            <a:r>
              <a:rPr lang="en-US" dirty="0">
                <a:solidFill>
                  <a:srgbClr val="0000FF"/>
                </a:solidFill>
                <a:effectLst/>
                <a:latin typeface="Consolas" panose="020B0609020204030204" pitchFamily="49" charset="0"/>
              </a:rPr>
              <a:t>add</a:t>
            </a:r>
            <a:r>
              <a:rPr lang="en-US" dirty="0">
                <a:solidFill>
                  <a:srgbClr val="000000"/>
                </a:solidFill>
                <a:effectLst/>
                <a:latin typeface="Consolas" panose="020B0609020204030204" pitchFamily="49" charset="0"/>
              </a:rPr>
              <a:t>     </a:t>
            </a:r>
            <a:r>
              <a:rPr lang="en-US" dirty="0" err="1">
                <a:solidFill>
                  <a:srgbClr val="4864AA"/>
                </a:solidFill>
                <a:effectLst/>
                <a:latin typeface="Consolas" panose="020B0609020204030204" pitchFamily="49" charset="0"/>
              </a:rPr>
              <a:t>rax</a:t>
            </a:r>
            <a:r>
              <a:rPr lang="en-US" dirty="0">
                <a:solidFill>
                  <a:srgbClr val="000000"/>
                </a:solidFill>
                <a:effectLst/>
                <a:latin typeface="Consolas" panose="020B0609020204030204" pitchFamily="49" charset="0"/>
              </a:rPr>
              <a:t>, </a:t>
            </a:r>
            <a:r>
              <a:rPr lang="en-US" dirty="0">
                <a:solidFill>
                  <a:srgbClr val="098658"/>
                </a:solidFill>
                <a:effectLst/>
                <a:latin typeface="Consolas" panose="020B0609020204030204" pitchFamily="49" charset="0"/>
              </a:rPr>
              <a:t>16</a:t>
            </a:r>
            <a:endParaRPr lang="en-US"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cmp</a:t>
            </a:r>
            <a:r>
              <a:rPr lang="en-US" b="0" dirty="0">
                <a:solidFill>
                  <a:srgbClr val="000000"/>
                </a:solidFill>
                <a:effectLst/>
                <a:latin typeface="Consolas" panose="020B0609020204030204" pitchFamily="49" charset="0"/>
              </a:rPr>
              <a:t>     </a:t>
            </a:r>
            <a:r>
              <a:rPr lang="en-US" b="0" dirty="0">
                <a:solidFill>
                  <a:srgbClr val="4864AA"/>
                </a:solidFill>
                <a:effectLst/>
                <a:latin typeface="Consolas" panose="020B0609020204030204" pitchFamily="49" charset="0"/>
              </a:rPr>
              <a:t>r8</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rax</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jne</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.L5</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522640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1950A-91B8-B063-8FF0-F6A188060775}"/>
              </a:ext>
            </a:extLst>
          </p:cNvPr>
          <p:cNvSpPr>
            <a:spLocks noGrp="1"/>
          </p:cNvSpPr>
          <p:nvPr>
            <p:ph type="title"/>
          </p:nvPr>
        </p:nvSpPr>
        <p:spPr/>
        <p:txBody>
          <a:bodyPr/>
          <a:lstStyle/>
          <a:p>
            <a:r>
              <a:rPr lang="ru-RU" dirty="0"/>
              <a:t>Векторное сложение массивов (</a:t>
            </a:r>
            <a:r>
              <a:rPr lang="en-US" dirty="0"/>
              <a:t>AVX2)</a:t>
            </a:r>
          </a:p>
        </p:txBody>
      </p:sp>
      <p:sp>
        <p:nvSpPr>
          <p:cNvPr id="4" name="TextBox 3">
            <a:extLst>
              <a:ext uri="{FF2B5EF4-FFF2-40B4-BE49-F238E27FC236}">
                <a16:creationId xmlns:a16="http://schemas.microsoft.com/office/drawing/2014/main" id="{45901005-6442-DFC8-F528-4287F8BD6D2C}"/>
              </a:ext>
            </a:extLst>
          </p:cNvPr>
          <p:cNvSpPr txBox="1"/>
          <p:nvPr/>
        </p:nvSpPr>
        <p:spPr>
          <a:xfrm>
            <a:off x="36513" y="1829187"/>
            <a:ext cx="6096000" cy="4524315"/>
          </a:xfrm>
          <a:prstGeom prst="rect">
            <a:avLst/>
          </a:prstGeom>
          <a:noFill/>
        </p:spPr>
        <p:txBody>
          <a:bodyPr wrap="square">
            <a:spAutoFit/>
          </a:bodyPr>
          <a:lstStyle/>
          <a:p>
            <a:r>
              <a:rPr lang="en-US" b="0" dirty="0">
                <a:solidFill>
                  <a:srgbClr val="0000FF"/>
                </a:solidFill>
                <a:effectLst/>
                <a:latin typeface="Consolas" panose="020B0609020204030204" pitchFamily="49" charset="0"/>
              </a:rPr>
              <a:t>struct</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alignas</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32</a:t>
            </a:r>
            <a:r>
              <a:rPr lang="en-US" b="0" dirty="0">
                <a:solidFill>
                  <a:srgbClr val="000000"/>
                </a:solidFill>
                <a:effectLst/>
                <a:latin typeface="Consolas" panose="020B0609020204030204" pitchFamily="49" charset="0"/>
              </a:rPr>
              <a:t>) Vector4d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double</a:t>
            </a:r>
            <a:r>
              <a:rPr lang="en-US" b="0" dirty="0">
                <a:solidFill>
                  <a:srgbClr val="000000"/>
                </a:solidFill>
                <a:effectLst/>
                <a:latin typeface="Consolas" panose="020B0609020204030204" pitchFamily="49" charset="0"/>
              </a:rPr>
              <a:t> </a:t>
            </a:r>
            <a:r>
              <a:rPr lang="en-US" dirty="0">
                <a:solidFill>
                  <a:srgbClr val="000000"/>
                </a:solidFill>
                <a:latin typeface="Consolas" panose="020B0609020204030204" pitchFamily="49" charset="0"/>
              </a:rPr>
              <a:t>d</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4</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ArraySum</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Vector4d* src1,</a:t>
            </a:r>
          </a:p>
          <a:p>
            <a:r>
              <a:rPr lang="en-US" dirty="0">
                <a:solidFill>
                  <a:srgbClr val="000000"/>
                </a:solidFill>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Vector4d* src2,</a:t>
            </a:r>
          </a:p>
          <a:p>
            <a:r>
              <a:rPr lang="en-US" dirty="0">
                <a:solidFill>
                  <a:srgbClr val="000000"/>
                </a:solidFill>
                <a:latin typeface="Consolas" panose="020B0609020204030204" pitchFamily="49" charset="0"/>
              </a:rPr>
              <a:t>              </a:t>
            </a:r>
            <a:r>
              <a:rPr lang="en-US" b="0" dirty="0">
                <a:solidFill>
                  <a:srgbClr val="000000"/>
                </a:solidFill>
                <a:effectLst/>
                <a:latin typeface="Consolas" panose="020B0609020204030204" pitchFamily="49" charset="0"/>
              </a:rPr>
              <a:t>Vector4d* </a:t>
            </a:r>
            <a:r>
              <a:rPr lang="en-US" b="0" dirty="0" err="1">
                <a:solidFill>
                  <a:srgbClr val="000000"/>
                </a:solidFill>
                <a:effectLst/>
                <a:latin typeface="Consolas" panose="020B0609020204030204" pitchFamily="49" charset="0"/>
              </a:rPr>
              <a:t>dst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size)</a:t>
            </a:r>
          </a:p>
          <a:p>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 &lt; size; ++</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].d[</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 src1[</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].d[</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 src2[</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].d[</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].d[</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 src1[</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].d[</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 src2[</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].d[</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].d[</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 src1[</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].d[</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 src2[</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].d[</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dst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].d[</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 src1[</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].d[</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 src2[</a:t>
            </a:r>
            <a:r>
              <a:rPr lang="en-US" b="0" dirty="0" err="1">
                <a:solidFill>
                  <a:srgbClr val="000000"/>
                </a:solidFill>
                <a:effectLst/>
                <a:latin typeface="Consolas" panose="020B0609020204030204" pitchFamily="49" charset="0"/>
              </a:rPr>
              <a:t>i</a:t>
            </a:r>
            <a:r>
              <a:rPr lang="en-US" b="0" dirty="0">
                <a:solidFill>
                  <a:srgbClr val="000000"/>
                </a:solidFill>
                <a:effectLst/>
                <a:latin typeface="Consolas" panose="020B0609020204030204" pitchFamily="49" charset="0"/>
              </a:rPr>
              <a:t>].d[</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F4542AA8-AA8F-7673-DDC3-D5E6DB0067DA}"/>
              </a:ext>
            </a:extLst>
          </p:cNvPr>
          <p:cNvSpPr txBox="1"/>
          <p:nvPr/>
        </p:nvSpPr>
        <p:spPr>
          <a:xfrm>
            <a:off x="6132513" y="1690688"/>
            <a:ext cx="6096000" cy="4801314"/>
          </a:xfrm>
          <a:prstGeom prst="rect">
            <a:avLst/>
          </a:prstGeom>
          <a:noFill/>
        </p:spPr>
        <p:txBody>
          <a:bodyPr wrap="square">
            <a:spAutoFit/>
          </a:bodyPr>
          <a:lstStyle/>
          <a:p>
            <a:r>
              <a:rPr lang="en-US" b="0" dirty="0" err="1">
                <a:solidFill>
                  <a:srgbClr val="0000FF"/>
                </a:solidFill>
                <a:effectLst/>
                <a:latin typeface="Consolas" panose="020B0609020204030204" pitchFamily="49" charset="0"/>
              </a:rPr>
              <a:t>ArraySum</a:t>
            </a:r>
            <a:r>
              <a:rPr lang="en-US" b="0" dirty="0">
                <a:solidFill>
                  <a:srgbClr val="000000"/>
                </a:solidFill>
                <a:effectLst/>
                <a:latin typeface="Consolas" panose="020B0609020204030204" pitchFamily="49" charset="0"/>
              </a:rPr>
              <a:t>(</a:t>
            </a:r>
            <a:r>
              <a:rPr lang="en-US" b="0" dirty="0">
                <a:solidFill>
                  <a:srgbClr val="008080"/>
                </a:solidFill>
                <a:effectLst/>
                <a:latin typeface="Consolas" panose="020B0609020204030204" pitchFamily="49" charset="0"/>
              </a:rPr>
              <a:t>Vector4d</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Vector4d</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const</a:t>
            </a:r>
            <a:r>
              <a:rPr lang="en-US" b="0" dirty="0">
                <a:solidFill>
                  <a:srgbClr val="000000"/>
                </a:solidFill>
                <a:effectLst/>
                <a:latin typeface="Consolas" panose="020B0609020204030204" pitchFamily="49" charset="0"/>
              </a:rPr>
              <a:t>*,</a:t>
            </a:r>
          </a:p>
          <a:p>
            <a:r>
              <a:rPr lang="en-US" dirty="0">
                <a:solidFill>
                  <a:srgbClr val="000000"/>
                </a:solidFill>
                <a:latin typeface="Consolas" panose="020B0609020204030204" pitchFamily="49" charset="0"/>
              </a:rPr>
              <a:t>       </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Vector4d</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int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test</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ecx</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ecx</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jle</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.L5</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mov</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ecx</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ecx</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xor</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eax</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eax</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sal</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rcx</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5</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.L3</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vmovapd</a:t>
            </a:r>
            <a:r>
              <a:rPr lang="en-US" b="0" dirty="0">
                <a:solidFill>
                  <a:srgbClr val="000000"/>
                </a:solidFill>
                <a:effectLst/>
                <a:latin typeface="Consolas" panose="020B0609020204030204" pitchFamily="49" charset="0"/>
              </a:rPr>
              <a:t> </a:t>
            </a:r>
            <a:r>
              <a:rPr lang="en-US" b="0" dirty="0">
                <a:solidFill>
                  <a:srgbClr val="4864AA"/>
                </a:solidFill>
                <a:effectLst/>
                <a:latin typeface="Consolas" panose="020B0609020204030204" pitchFamily="49" charset="0"/>
              </a:rPr>
              <a:t>ymm0</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YMMWORD</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PTR</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rsi</a:t>
            </a:r>
            <a:r>
              <a:rPr lang="en-US" b="0" dirty="0" err="1">
                <a:solidFill>
                  <a:srgbClr val="000000"/>
                </a:solidFill>
                <a:effectLst/>
                <a:latin typeface="Consolas" panose="020B0609020204030204" pitchFamily="49" charset="0"/>
              </a:rPr>
              <a:t>+</a:t>
            </a:r>
            <a:r>
              <a:rPr lang="en-US" b="0" dirty="0" err="1">
                <a:solidFill>
                  <a:srgbClr val="4864AA"/>
                </a:solidFill>
                <a:effectLst/>
                <a:latin typeface="Consolas" panose="020B0609020204030204" pitchFamily="49" charset="0"/>
              </a:rPr>
              <a:t>rax</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vaddpd</a:t>
            </a:r>
            <a:r>
              <a:rPr lang="en-US" b="0" dirty="0">
                <a:solidFill>
                  <a:srgbClr val="000000"/>
                </a:solidFill>
                <a:effectLst/>
                <a:latin typeface="Consolas" panose="020B0609020204030204" pitchFamily="49" charset="0"/>
              </a:rPr>
              <a:t>  </a:t>
            </a:r>
            <a:r>
              <a:rPr lang="en-US" b="0" dirty="0">
                <a:solidFill>
                  <a:srgbClr val="4864AA"/>
                </a:solidFill>
                <a:effectLst/>
                <a:latin typeface="Consolas" panose="020B0609020204030204" pitchFamily="49" charset="0"/>
              </a:rPr>
              <a:t>ymm0</a:t>
            </a:r>
            <a:r>
              <a:rPr lang="en-US" b="0" dirty="0">
                <a:solidFill>
                  <a:srgbClr val="000000"/>
                </a:solidFill>
                <a:effectLst/>
                <a:latin typeface="Consolas" panose="020B0609020204030204" pitchFamily="49" charset="0"/>
              </a:rPr>
              <a:t>, </a:t>
            </a:r>
            <a:r>
              <a:rPr lang="en-US" b="0" dirty="0">
                <a:solidFill>
                  <a:srgbClr val="4864AA"/>
                </a:solidFill>
                <a:effectLst/>
                <a:latin typeface="Consolas" panose="020B0609020204030204" pitchFamily="49" charset="0"/>
              </a:rPr>
              <a:t>ymm0</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YMMWORD</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PTR</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rdi</a:t>
            </a:r>
            <a:r>
              <a:rPr lang="en-US" b="0" dirty="0" err="1">
                <a:solidFill>
                  <a:srgbClr val="000000"/>
                </a:solidFill>
                <a:effectLst/>
                <a:latin typeface="Consolas" panose="020B0609020204030204" pitchFamily="49" charset="0"/>
              </a:rPr>
              <a:t>+</a:t>
            </a:r>
            <a:r>
              <a:rPr lang="en-US" b="0" dirty="0" err="1">
                <a:solidFill>
                  <a:srgbClr val="4864AA"/>
                </a:solidFill>
                <a:effectLst/>
                <a:latin typeface="Consolas" panose="020B0609020204030204" pitchFamily="49" charset="0"/>
              </a:rPr>
              <a:t>rax</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vmovapd</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YMMWORD</a:t>
            </a:r>
            <a:r>
              <a:rPr lang="en-US" b="0" dirty="0">
                <a:solidFill>
                  <a:srgbClr val="000000"/>
                </a:solidFill>
                <a:effectLst/>
                <a:latin typeface="Consolas" panose="020B0609020204030204" pitchFamily="49" charset="0"/>
              </a:rPr>
              <a:t> </a:t>
            </a:r>
            <a:r>
              <a:rPr lang="en-US" b="0" dirty="0">
                <a:solidFill>
                  <a:srgbClr val="808080"/>
                </a:solidFill>
                <a:effectLst/>
                <a:latin typeface="Consolas" panose="020B0609020204030204" pitchFamily="49" charset="0"/>
              </a:rPr>
              <a:t>PTR</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rdx</a:t>
            </a:r>
            <a:r>
              <a:rPr lang="en-US" b="0" dirty="0" err="1">
                <a:solidFill>
                  <a:srgbClr val="000000"/>
                </a:solidFill>
                <a:effectLst/>
                <a:latin typeface="Consolas" panose="020B0609020204030204" pitchFamily="49" charset="0"/>
              </a:rPr>
              <a:t>+</a:t>
            </a:r>
            <a:r>
              <a:rPr lang="en-US" b="0" dirty="0" err="1">
                <a:solidFill>
                  <a:srgbClr val="4864AA"/>
                </a:solidFill>
                <a:effectLst/>
                <a:latin typeface="Consolas" panose="020B0609020204030204" pitchFamily="49" charset="0"/>
              </a:rPr>
              <a:t>rax</a:t>
            </a:r>
            <a:r>
              <a:rPr lang="en-US" b="0" dirty="0">
                <a:solidFill>
                  <a:srgbClr val="000000"/>
                </a:solidFill>
                <a:effectLst/>
                <a:latin typeface="Consolas" panose="020B0609020204030204" pitchFamily="49" charset="0"/>
              </a:rPr>
              <a:t>], </a:t>
            </a:r>
            <a:r>
              <a:rPr lang="en-US" b="0" dirty="0">
                <a:solidFill>
                  <a:srgbClr val="4864AA"/>
                </a:solidFill>
                <a:effectLst/>
                <a:latin typeface="Consolas" panose="020B0609020204030204" pitchFamily="49" charset="0"/>
              </a:rPr>
              <a:t>ymm0</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add</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rax</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32</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cmp</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rcx</a:t>
            </a:r>
            <a:r>
              <a:rPr lang="en-US" b="0" dirty="0">
                <a:solidFill>
                  <a:srgbClr val="000000"/>
                </a:solidFill>
                <a:effectLst/>
                <a:latin typeface="Consolas" panose="020B0609020204030204" pitchFamily="49" charset="0"/>
              </a:rPr>
              <a:t>, </a:t>
            </a:r>
            <a:r>
              <a:rPr lang="en-US" b="0" dirty="0" err="1">
                <a:solidFill>
                  <a:srgbClr val="4864AA"/>
                </a:solidFill>
                <a:effectLst/>
                <a:latin typeface="Consolas" panose="020B0609020204030204" pitchFamily="49" charset="0"/>
              </a:rPr>
              <a:t>rax</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jne</a:t>
            </a:r>
            <a:r>
              <a:rPr lang="en-US" b="0" dirty="0">
                <a:solidFill>
                  <a:srgbClr val="000000"/>
                </a:solidFill>
                <a:effectLst/>
                <a:latin typeface="Consolas" panose="020B0609020204030204" pitchFamily="49" charset="0"/>
              </a:rPr>
              <a:t>     </a:t>
            </a:r>
            <a:r>
              <a:rPr lang="en-US" b="0" dirty="0">
                <a:solidFill>
                  <a:srgbClr val="008080"/>
                </a:solidFill>
                <a:effectLst/>
                <a:latin typeface="Consolas" panose="020B0609020204030204" pitchFamily="49" charset="0"/>
              </a:rPr>
              <a:t>.L3</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vzeroupper</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.L5</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540595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6432DC-EF0A-7BAB-F1C6-71941DE94CF6}"/>
              </a:ext>
            </a:extLst>
          </p:cNvPr>
          <p:cNvSpPr>
            <a:spLocks noGrp="1"/>
          </p:cNvSpPr>
          <p:nvPr>
            <p:ph type="title"/>
          </p:nvPr>
        </p:nvSpPr>
        <p:spPr/>
        <p:txBody>
          <a:bodyPr/>
          <a:lstStyle/>
          <a:p>
            <a:r>
              <a:rPr lang="ru-RU" dirty="0"/>
              <a:t>Параллельные вычисления на </a:t>
            </a:r>
            <a:r>
              <a:rPr lang="en-US" dirty="0"/>
              <a:t>GPU</a:t>
            </a:r>
          </a:p>
        </p:txBody>
      </p:sp>
      <p:sp>
        <p:nvSpPr>
          <p:cNvPr id="4" name="Content Placeholder 3">
            <a:extLst>
              <a:ext uri="{FF2B5EF4-FFF2-40B4-BE49-F238E27FC236}">
                <a16:creationId xmlns:a16="http://schemas.microsoft.com/office/drawing/2014/main" id="{C60C8B4E-A784-5166-69B6-08380B179966}"/>
              </a:ext>
            </a:extLst>
          </p:cNvPr>
          <p:cNvSpPr>
            <a:spLocks noGrp="1"/>
          </p:cNvSpPr>
          <p:nvPr>
            <p:ph idx="1"/>
          </p:nvPr>
        </p:nvSpPr>
        <p:spPr/>
        <p:txBody>
          <a:bodyPr>
            <a:normAutofit fontScale="92500" lnSpcReduction="10000"/>
          </a:bodyPr>
          <a:lstStyle/>
          <a:p>
            <a:r>
              <a:rPr lang="ru-RU" b="1" dirty="0"/>
              <a:t>GPU (Graphics Processing Unit)</a:t>
            </a:r>
            <a:r>
              <a:rPr lang="ru-RU" dirty="0"/>
              <a:t> — процессор, оптимизированный для </a:t>
            </a:r>
            <a:r>
              <a:rPr lang="ru-RU" b="1" dirty="0"/>
              <a:t>массового параллелизма данных</a:t>
            </a:r>
            <a:r>
              <a:rPr lang="ru-RU" dirty="0"/>
              <a:t>.</a:t>
            </a:r>
          </a:p>
          <a:p>
            <a:r>
              <a:rPr lang="ru-RU" b="1" dirty="0"/>
              <a:t>GPGPU (General-</a:t>
            </a:r>
            <a:r>
              <a:rPr lang="ru-RU" b="1" dirty="0" err="1"/>
              <a:t>Purpose</a:t>
            </a:r>
            <a:r>
              <a:rPr lang="ru-RU" b="1" dirty="0"/>
              <a:t> GPU):</a:t>
            </a:r>
            <a:endParaRPr lang="ru-RU" dirty="0"/>
          </a:p>
          <a:p>
            <a:pPr lvl="1"/>
            <a:r>
              <a:rPr lang="ru-RU" dirty="0"/>
              <a:t>использование GPU для общих вычислений, не только графики</a:t>
            </a:r>
          </a:p>
          <a:p>
            <a:r>
              <a:rPr lang="ru-RU" b="1" dirty="0"/>
              <a:t>Архитектурные особенности:</a:t>
            </a:r>
            <a:endParaRPr lang="ru-RU" dirty="0"/>
          </a:p>
          <a:p>
            <a:pPr lvl="1"/>
            <a:r>
              <a:rPr lang="ru-RU" dirty="0"/>
              <a:t>сотни и тысячи простых вычислительных ядер</a:t>
            </a:r>
          </a:p>
          <a:p>
            <a:pPr lvl="1"/>
            <a:r>
              <a:rPr lang="ru-RU" dirty="0"/>
              <a:t>высокая пропускная способность памяти</a:t>
            </a:r>
          </a:p>
          <a:p>
            <a:pPr lvl="1"/>
            <a:r>
              <a:rPr lang="ru-RU" dirty="0"/>
              <a:t>оптимизация под выполнение одинаковых операций над большими массивами данных</a:t>
            </a:r>
          </a:p>
          <a:p>
            <a:r>
              <a:rPr lang="ru-RU" b="1" dirty="0"/>
              <a:t>Модель исполнения: SIMT (Single </a:t>
            </a:r>
            <a:r>
              <a:rPr lang="ru-RU" b="1" dirty="0" err="1"/>
              <a:t>Instruction</a:t>
            </a:r>
            <a:r>
              <a:rPr lang="ru-RU" b="1" dirty="0"/>
              <a:t>, </a:t>
            </a:r>
            <a:r>
              <a:rPr lang="ru-RU" b="1" dirty="0" err="1"/>
              <a:t>Multiple</a:t>
            </a:r>
            <a:r>
              <a:rPr lang="ru-RU" b="1" dirty="0"/>
              <a:t> </a:t>
            </a:r>
            <a:r>
              <a:rPr lang="ru-RU" b="1" dirty="0" err="1"/>
              <a:t>Threads</a:t>
            </a:r>
            <a:r>
              <a:rPr lang="ru-RU" b="1" dirty="0"/>
              <a:t>)</a:t>
            </a:r>
            <a:endParaRPr lang="ru-RU" dirty="0"/>
          </a:p>
          <a:p>
            <a:pPr lvl="1"/>
            <a:r>
              <a:rPr lang="ru-RU" dirty="0"/>
              <a:t>группы потоков выполняют один и тот же код над разными данными</a:t>
            </a:r>
          </a:p>
        </p:txBody>
      </p:sp>
    </p:spTree>
    <p:extLst>
      <p:ext uri="{BB962C8B-B14F-4D97-AF65-F5344CB8AC3E}">
        <p14:creationId xmlns:p14="http://schemas.microsoft.com/office/powerpoint/2010/main" val="1921655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500"/>
                                        <p:tgtEl>
                                          <p:spTgt spid="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500"/>
                                        <p:tgtEl>
                                          <p:spTgt spid="4">
                                            <p:txEl>
                                              <p:pRg st="7" end="7"/>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8DC00A-3FC2-BDEA-ED3D-E0FB73440AAE}"/>
              </a:ext>
            </a:extLst>
          </p:cNvPr>
          <p:cNvSpPr>
            <a:spLocks noGrp="1"/>
          </p:cNvSpPr>
          <p:nvPr>
            <p:ph type="title"/>
          </p:nvPr>
        </p:nvSpPr>
        <p:spPr/>
        <p:txBody>
          <a:bodyPr/>
          <a:lstStyle/>
          <a:p>
            <a:r>
              <a:rPr lang="ru-RU" dirty="0"/>
              <a:t>Для чего использовать конкурентность</a:t>
            </a:r>
            <a:r>
              <a:rPr lang="en-US" dirty="0"/>
              <a:t>?</a:t>
            </a:r>
          </a:p>
        </p:txBody>
      </p:sp>
      <p:sp>
        <p:nvSpPr>
          <p:cNvPr id="5" name="Text Placeholder 4">
            <a:extLst>
              <a:ext uri="{FF2B5EF4-FFF2-40B4-BE49-F238E27FC236}">
                <a16:creationId xmlns:a16="http://schemas.microsoft.com/office/drawing/2014/main" id="{375B9D61-B6FC-BE98-439D-8D919671FAA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498704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59E00-0A98-EBD5-D2B4-0741B33BF950}"/>
              </a:ext>
            </a:extLst>
          </p:cNvPr>
          <p:cNvSpPr>
            <a:spLocks noGrp="1"/>
          </p:cNvSpPr>
          <p:nvPr>
            <p:ph type="title"/>
          </p:nvPr>
        </p:nvSpPr>
        <p:spPr/>
        <p:txBody>
          <a:bodyPr/>
          <a:lstStyle/>
          <a:p>
            <a:r>
              <a:rPr lang="ru-RU" dirty="0"/>
              <a:t>Конкурентность для разделения ответственности</a:t>
            </a:r>
            <a:endParaRPr lang="en-US" dirty="0"/>
          </a:p>
        </p:txBody>
      </p:sp>
      <p:sp>
        <p:nvSpPr>
          <p:cNvPr id="3" name="Content Placeholder 2">
            <a:extLst>
              <a:ext uri="{FF2B5EF4-FFF2-40B4-BE49-F238E27FC236}">
                <a16:creationId xmlns:a16="http://schemas.microsoft.com/office/drawing/2014/main" id="{E40BA2CB-FABD-901C-63EC-E9CDBE94CD65}"/>
              </a:ext>
            </a:extLst>
          </p:cNvPr>
          <p:cNvSpPr>
            <a:spLocks noGrp="1"/>
          </p:cNvSpPr>
          <p:nvPr>
            <p:ph idx="1"/>
          </p:nvPr>
        </p:nvSpPr>
        <p:spPr/>
        <p:txBody>
          <a:bodyPr>
            <a:normAutofit fontScale="92500" lnSpcReduction="10000"/>
          </a:bodyPr>
          <a:lstStyle/>
          <a:p>
            <a:r>
              <a:rPr lang="ru-RU" b="1" dirty="0"/>
              <a:t>Идея: </a:t>
            </a:r>
            <a:r>
              <a:rPr lang="ru-RU" dirty="0"/>
              <a:t>разные задачи приложения выполняются в разных потоках</a:t>
            </a:r>
          </a:p>
          <a:p>
            <a:r>
              <a:rPr lang="ru-RU" b="1" dirty="0"/>
              <a:t>Что это даёт:</a:t>
            </a:r>
            <a:endParaRPr lang="ru-RU" dirty="0"/>
          </a:p>
          <a:p>
            <a:pPr lvl="1"/>
            <a:r>
              <a:rPr lang="ru-RU" dirty="0"/>
              <a:t>связанный код остаётся в одном потоке</a:t>
            </a:r>
          </a:p>
          <a:p>
            <a:pPr lvl="1"/>
            <a:r>
              <a:rPr lang="ru-RU" dirty="0"/>
              <a:t>несвязанные задачи изолируются друг от друга</a:t>
            </a:r>
          </a:p>
          <a:p>
            <a:pPr lvl="1"/>
            <a:r>
              <a:rPr lang="ru-RU" dirty="0"/>
              <a:t>не требуется ручное управление переключением задач</a:t>
            </a:r>
          </a:p>
          <a:p>
            <a:r>
              <a:rPr lang="ru-RU" b="1" dirty="0"/>
              <a:t>Пользовательский эффект:</a:t>
            </a:r>
            <a:endParaRPr lang="ru-RU" dirty="0"/>
          </a:p>
          <a:p>
            <a:pPr lvl="1"/>
            <a:r>
              <a:rPr lang="ru-RU" dirty="0"/>
              <a:t>отзывчивый интерфейс</a:t>
            </a:r>
          </a:p>
          <a:p>
            <a:pPr lvl="1"/>
            <a:r>
              <a:rPr lang="ru-RU" dirty="0"/>
              <a:t>UI-поток не блокируется фоновыми операциями</a:t>
            </a:r>
          </a:p>
          <a:p>
            <a:r>
              <a:rPr lang="ru-RU" b="1" dirty="0"/>
              <a:t>Важно:</a:t>
            </a:r>
            <a:endParaRPr lang="ru-RU" dirty="0"/>
          </a:p>
          <a:p>
            <a:pPr lvl="1"/>
            <a:r>
              <a:rPr lang="ru-RU" dirty="0"/>
              <a:t>количество потоков определяется логикой приложения</a:t>
            </a:r>
          </a:p>
          <a:p>
            <a:pPr lvl="1"/>
            <a:r>
              <a:rPr lang="ru-RU" dirty="0"/>
              <a:t>оно не обязано совпадать с количеством ядер CPU</a:t>
            </a:r>
          </a:p>
        </p:txBody>
      </p:sp>
    </p:spTree>
    <p:extLst>
      <p:ext uri="{BB962C8B-B14F-4D97-AF65-F5344CB8AC3E}">
        <p14:creationId xmlns:p14="http://schemas.microsoft.com/office/powerpoint/2010/main" val="673561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500"/>
                                        <p:tgtEl>
                                          <p:spTgt spid="3">
                                            <p:txEl>
                                              <p:pRg st="9" end="9"/>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Effect transition="in" filter="fade">
                                      <p:cBhvr>
                                        <p:cTn id="4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BAB063-0940-4E82-8676-447504F2741C}"/>
              </a:ext>
            </a:extLst>
          </p:cNvPr>
          <p:cNvSpPr>
            <a:spLocks noGrp="1"/>
          </p:cNvSpPr>
          <p:nvPr>
            <p:ph type="title"/>
          </p:nvPr>
        </p:nvSpPr>
        <p:spPr/>
        <p:txBody>
          <a:bodyPr/>
          <a:lstStyle/>
          <a:p>
            <a:r>
              <a:rPr lang="ru-RU" dirty="0"/>
              <a:t>Пример: многопоточный видео-плеер</a:t>
            </a:r>
            <a:endParaRPr lang="en-US" dirty="0"/>
          </a:p>
        </p:txBody>
      </p:sp>
      <p:sp>
        <p:nvSpPr>
          <p:cNvPr id="5" name="Rectangle 4">
            <a:extLst>
              <a:ext uri="{FF2B5EF4-FFF2-40B4-BE49-F238E27FC236}">
                <a16:creationId xmlns:a16="http://schemas.microsoft.com/office/drawing/2014/main" id="{10F57305-C291-C18F-D8E6-C15CE349C225}"/>
              </a:ext>
            </a:extLst>
          </p:cNvPr>
          <p:cNvSpPr/>
          <p:nvPr/>
        </p:nvSpPr>
        <p:spPr>
          <a:xfrm>
            <a:off x="942114" y="2060020"/>
            <a:ext cx="124690"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0FB48AE-ACA3-E183-CB57-8C6ADA858ABD}"/>
              </a:ext>
            </a:extLst>
          </p:cNvPr>
          <p:cNvSpPr txBox="1"/>
          <p:nvPr/>
        </p:nvSpPr>
        <p:spPr>
          <a:xfrm>
            <a:off x="838203" y="1690688"/>
            <a:ext cx="7800975" cy="369332"/>
          </a:xfrm>
          <a:prstGeom prst="rect">
            <a:avLst/>
          </a:prstGeom>
          <a:noFill/>
        </p:spPr>
        <p:txBody>
          <a:bodyPr wrap="square" rtlCol="0">
            <a:spAutoFit/>
          </a:bodyPr>
          <a:lstStyle/>
          <a:p>
            <a:r>
              <a:rPr lang="ru-RU" dirty="0"/>
              <a:t>Поток 1. Управление пользовательским интерфейсом</a:t>
            </a:r>
            <a:endParaRPr lang="en-US" dirty="0"/>
          </a:p>
        </p:txBody>
      </p:sp>
      <p:sp>
        <p:nvSpPr>
          <p:cNvPr id="7" name="TextBox 6">
            <a:extLst>
              <a:ext uri="{FF2B5EF4-FFF2-40B4-BE49-F238E27FC236}">
                <a16:creationId xmlns:a16="http://schemas.microsoft.com/office/drawing/2014/main" id="{E332382C-D52B-7D65-E96A-A5BC43A6AD66}"/>
              </a:ext>
            </a:extLst>
          </p:cNvPr>
          <p:cNvSpPr txBox="1"/>
          <p:nvPr/>
        </p:nvSpPr>
        <p:spPr>
          <a:xfrm>
            <a:off x="838200" y="2692745"/>
            <a:ext cx="6371792" cy="369332"/>
          </a:xfrm>
          <a:prstGeom prst="rect">
            <a:avLst/>
          </a:prstGeom>
          <a:noFill/>
        </p:spPr>
        <p:txBody>
          <a:bodyPr wrap="square" rtlCol="0">
            <a:spAutoFit/>
          </a:bodyPr>
          <a:lstStyle/>
          <a:p>
            <a:r>
              <a:rPr lang="ru-RU" dirty="0"/>
              <a:t>Поток 2. Чтение данных с диска</a:t>
            </a:r>
            <a:endParaRPr lang="en-US" dirty="0"/>
          </a:p>
        </p:txBody>
      </p:sp>
      <p:sp>
        <p:nvSpPr>
          <p:cNvPr id="8" name="Rectangle 7">
            <a:extLst>
              <a:ext uri="{FF2B5EF4-FFF2-40B4-BE49-F238E27FC236}">
                <a16:creationId xmlns:a16="http://schemas.microsoft.com/office/drawing/2014/main" id="{80929B8A-B5B9-4067-C1FC-EB6D027A4DF4}"/>
              </a:ext>
            </a:extLst>
          </p:cNvPr>
          <p:cNvSpPr/>
          <p:nvPr/>
        </p:nvSpPr>
        <p:spPr>
          <a:xfrm>
            <a:off x="942111" y="3058643"/>
            <a:ext cx="534267" cy="40931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0CC12B6-3B95-F319-5433-E704D5FA0DF3}"/>
              </a:ext>
            </a:extLst>
          </p:cNvPr>
          <p:cNvSpPr txBox="1"/>
          <p:nvPr/>
        </p:nvSpPr>
        <p:spPr>
          <a:xfrm>
            <a:off x="838200" y="3694802"/>
            <a:ext cx="7239003" cy="369332"/>
          </a:xfrm>
          <a:prstGeom prst="rect">
            <a:avLst/>
          </a:prstGeom>
          <a:noFill/>
        </p:spPr>
        <p:txBody>
          <a:bodyPr wrap="square" rtlCol="0">
            <a:spAutoFit/>
          </a:bodyPr>
          <a:lstStyle/>
          <a:p>
            <a:r>
              <a:rPr lang="ru-RU" dirty="0"/>
              <a:t>Поток 3. Декодирование и воспроизведение аудио</a:t>
            </a:r>
            <a:endParaRPr lang="en-US" dirty="0"/>
          </a:p>
        </p:txBody>
      </p:sp>
      <p:sp>
        <p:nvSpPr>
          <p:cNvPr id="10" name="TextBox 9">
            <a:extLst>
              <a:ext uri="{FF2B5EF4-FFF2-40B4-BE49-F238E27FC236}">
                <a16:creationId xmlns:a16="http://schemas.microsoft.com/office/drawing/2014/main" id="{F2578B8E-2313-FC21-F6DC-97059ED2865F}"/>
              </a:ext>
            </a:extLst>
          </p:cNvPr>
          <p:cNvSpPr txBox="1"/>
          <p:nvPr/>
        </p:nvSpPr>
        <p:spPr>
          <a:xfrm>
            <a:off x="838200" y="4649279"/>
            <a:ext cx="7800975" cy="369332"/>
          </a:xfrm>
          <a:prstGeom prst="rect">
            <a:avLst/>
          </a:prstGeom>
          <a:noFill/>
        </p:spPr>
        <p:txBody>
          <a:bodyPr wrap="square" rtlCol="0">
            <a:spAutoFit/>
          </a:bodyPr>
          <a:lstStyle/>
          <a:p>
            <a:r>
              <a:rPr lang="ru-RU" dirty="0"/>
              <a:t>Поток 4. Декодирование и рендеринг видео</a:t>
            </a:r>
            <a:endParaRPr lang="en-US" dirty="0"/>
          </a:p>
        </p:txBody>
      </p:sp>
      <p:sp>
        <p:nvSpPr>
          <p:cNvPr id="12" name="Rectangle 11">
            <a:extLst>
              <a:ext uri="{FF2B5EF4-FFF2-40B4-BE49-F238E27FC236}">
                <a16:creationId xmlns:a16="http://schemas.microsoft.com/office/drawing/2014/main" id="{9CA01529-6C0F-E593-D538-E5F9A096C2DE}"/>
              </a:ext>
            </a:extLst>
          </p:cNvPr>
          <p:cNvSpPr/>
          <p:nvPr/>
        </p:nvSpPr>
        <p:spPr>
          <a:xfrm>
            <a:off x="1528333" y="4083106"/>
            <a:ext cx="167549" cy="409311"/>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358403D-F905-BF47-DCF4-F1ABEE407F30}"/>
              </a:ext>
            </a:extLst>
          </p:cNvPr>
          <p:cNvSpPr/>
          <p:nvPr/>
        </p:nvSpPr>
        <p:spPr>
          <a:xfrm>
            <a:off x="1545434" y="5074341"/>
            <a:ext cx="416720" cy="40931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F5FF8DA-8891-54AD-5D07-616F5BF30822}"/>
              </a:ext>
            </a:extLst>
          </p:cNvPr>
          <p:cNvSpPr/>
          <p:nvPr/>
        </p:nvSpPr>
        <p:spPr>
          <a:xfrm>
            <a:off x="1657789" y="2060020"/>
            <a:ext cx="124690"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173B65D-20BF-EC9A-94F5-D6B06E222E30}"/>
              </a:ext>
            </a:extLst>
          </p:cNvPr>
          <p:cNvSpPr/>
          <p:nvPr/>
        </p:nvSpPr>
        <p:spPr>
          <a:xfrm>
            <a:off x="2218464" y="2060020"/>
            <a:ext cx="124690"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AB3394F-0F87-6638-1C34-7F0E97DC1E3A}"/>
              </a:ext>
            </a:extLst>
          </p:cNvPr>
          <p:cNvSpPr/>
          <p:nvPr/>
        </p:nvSpPr>
        <p:spPr>
          <a:xfrm>
            <a:off x="2982413" y="2060020"/>
            <a:ext cx="124690"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569F1C1-4FA6-E27A-3D06-BCDD4550446D}"/>
              </a:ext>
            </a:extLst>
          </p:cNvPr>
          <p:cNvSpPr/>
          <p:nvPr/>
        </p:nvSpPr>
        <p:spPr>
          <a:xfrm>
            <a:off x="3766712" y="2060020"/>
            <a:ext cx="124690"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7C6414D-FFA6-876C-43F2-3AFAD759E451}"/>
              </a:ext>
            </a:extLst>
          </p:cNvPr>
          <p:cNvSpPr/>
          <p:nvPr/>
        </p:nvSpPr>
        <p:spPr>
          <a:xfrm>
            <a:off x="2076020" y="3058643"/>
            <a:ext cx="534267" cy="40931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5D6094D-9B57-722C-9C5B-D9BF37433D25}"/>
              </a:ext>
            </a:extLst>
          </p:cNvPr>
          <p:cNvSpPr/>
          <p:nvPr/>
        </p:nvSpPr>
        <p:spPr>
          <a:xfrm>
            <a:off x="3209929" y="3058643"/>
            <a:ext cx="534267" cy="40931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E52301C-9B1F-AB68-9466-BDE23D3290BB}"/>
              </a:ext>
            </a:extLst>
          </p:cNvPr>
          <p:cNvSpPr/>
          <p:nvPr/>
        </p:nvSpPr>
        <p:spPr>
          <a:xfrm>
            <a:off x="4447749" y="3058643"/>
            <a:ext cx="534267" cy="40931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8277119-F384-2D34-8281-538FB02630D8}"/>
              </a:ext>
            </a:extLst>
          </p:cNvPr>
          <p:cNvSpPr/>
          <p:nvPr/>
        </p:nvSpPr>
        <p:spPr>
          <a:xfrm>
            <a:off x="6206631" y="4082891"/>
            <a:ext cx="167549" cy="409311"/>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4144D2A-11EB-E7D6-1705-E44CF3A63819}"/>
              </a:ext>
            </a:extLst>
          </p:cNvPr>
          <p:cNvSpPr/>
          <p:nvPr/>
        </p:nvSpPr>
        <p:spPr>
          <a:xfrm>
            <a:off x="3766712" y="4083106"/>
            <a:ext cx="167549" cy="409311"/>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AFB2419-CCBF-B76B-1FFB-851B0C7D26E6}"/>
              </a:ext>
            </a:extLst>
          </p:cNvPr>
          <p:cNvSpPr/>
          <p:nvPr/>
        </p:nvSpPr>
        <p:spPr>
          <a:xfrm>
            <a:off x="7600195" y="4082891"/>
            <a:ext cx="167549" cy="409311"/>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B3C6589-6256-2C4E-D1E0-F1050AB3BFEF}"/>
              </a:ext>
            </a:extLst>
          </p:cNvPr>
          <p:cNvSpPr/>
          <p:nvPr/>
        </p:nvSpPr>
        <p:spPr>
          <a:xfrm>
            <a:off x="2690383" y="5074341"/>
            <a:ext cx="416720" cy="40931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AF46249-5951-471C-FD2B-E623AE5C657D}"/>
              </a:ext>
            </a:extLst>
          </p:cNvPr>
          <p:cNvSpPr/>
          <p:nvPr/>
        </p:nvSpPr>
        <p:spPr>
          <a:xfrm>
            <a:off x="3766712" y="5074341"/>
            <a:ext cx="416720" cy="40931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9B80EA8-6B06-5190-38E5-A8DAC5F790E4}"/>
              </a:ext>
            </a:extLst>
          </p:cNvPr>
          <p:cNvSpPr/>
          <p:nvPr/>
        </p:nvSpPr>
        <p:spPr>
          <a:xfrm>
            <a:off x="4982015" y="5074341"/>
            <a:ext cx="605921" cy="40931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B4AD9AB-8C0E-0FA3-9A47-F5B6C45ECBFD}"/>
              </a:ext>
            </a:extLst>
          </p:cNvPr>
          <p:cNvSpPr/>
          <p:nvPr/>
        </p:nvSpPr>
        <p:spPr>
          <a:xfrm>
            <a:off x="4919671" y="2060020"/>
            <a:ext cx="124690"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E20A03DD-2552-0CC7-ADD4-040004D4085F}"/>
              </a:ext>
            </a:extLst>
          </p:cNvPr>
          <p:cNvSpPr/>
          <p:nvPr/>
        </p:nvSpPr>
        <p:spPr>
          <a:xfrm>
            <a:off x="5463247" y="2060020"/>
            <a:ext cx="124690"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E11DA75-9CF1-B6E8-C2F6-517432F64558}"/>
              </a:ext>
            </a:extLst>
          </p:cNvPr>
          <p:cNvSpPr/>
          <p:nvPr/>
        </p:nvSpPr>
        <p:spPr>
          <a:xfrm>
            <a:off x="942111" y="2060020"/>
            <a:ext cx="8423565" cy="36589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0FD3FA5-215A-99EF-CBA8-847AD8BF5D95}"/>
              </a:ext>
            </a:extLst>
          </p:cNvPr>
          <p:cNvSpPr/>
          <p:nvPr/>
        </p:nvSpPr>
        <p:spPr>
          <a:xfrm>
            <a:off x="942110" y="3058643"/>
            <a:ext cx="8423565" cy="42040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843C141-ED49-B6AC-CFE4-A64916156D30}"/>
              </a:ext>
            </a:extLst>
          </p:cNvPr>
          <p:cNvSpPr/>
          <p:nvPr/>
        </p:nvSpPr>
        <p:spPr>
          <a:xfrm>
            <a:off x="942109" y="4082892"/>
            <a:ext cx="8423565" cy="40931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8BC0BE6F-5211-781E-067B-FB9BA7F53E58}"/>
              </a:ext>
            </a:extLst>
          </p:cNvPr>
          <p:cNvSpPr/>
          <p:nvPr/>
        </p:nvSpPr>
        <p:spPr>
          <a:xfrm>
            <a:off x="942108" y="5074340"/>
            <a:ext cx="8423565" cy="4093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01CD84F-D277-81BA-C8BE-E26E04DF7717}"/>
              </a:ext>
            </a:extLst>
          </p:cNvPr>
          <p:cNvSpPr/>
          <p:nvPr/>
        </p:nvSpPr>
        <p:spPr>
          <a:xfrm>
            <a:off x="5685570" y="3058643"/>
            <a:ext cx="410434" cy="40931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BA804F42-E42F-E1E5-DA3D-282E21D0EAB7}"/>
              </a:ext>
            </a:extLst>
          </p:cNvPr>
          <p:cNvSpPr/>
          <p:nvPr/>
        </p:nvSpPr>
        <p:spPr>
          <a:xfrm>
            <a:off x="6096004" y="5074339"/>
            <a:ext cx="416720" cy="40931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1214DDB-BE92-973B-0F87-D048E5E6CE7C}"/>
              </a:ext>
            </a:extLst>
          </p:cNvPr>
          <p:cNvSpPr/>
          <p:nvPr/>
        </p:nvSpPr>
        <p:spPr>
          <a:xfrm>
            <a:off x="7099379" y="3069736"/>
            <a:ext cx="410434" cy="409311"/>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F0F186D7-5335-C995-D049-448FDE268631}"/>
              </a:ext>
            </a:extLst>
          </p:cNvPr>
          <p:cNvSpPr/>
          <p:nvPr/>
        </p:nvSpPr>
        <p:spPr>
          <a:xfrm>
            <a:off x="7509813" y="5074338"/>
            <a:ext cx="348315" cy="40931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4036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AE02F-CE1B-1865-93A8-2B95A7E155DC}"/>
              </a:ext>
            </a:extLst>
          </p:cNvPr>
          <p:cNvSpPr>
            <a:spLocks noGrp="1"/>
          </p:cNvSpPr>
          <p:nvPr>
            <p:ph type="title"/>
          </p:nvPr>
        </p:nvSpPr>
        <p:spPr/>
        <p:txBody>
          <a:bodyPr/>
          <a:lstStyle/>
          <a:p>
            <a:r>
              <a:rPr lang="ru-RU" dirty="0"/>
              <a:t>Закон Мура и конец роста тактовой частоты</a:t>
            </a:r>
            <a:endParaRPr lang="en-US" dirty="0"/>
          </a:p>
        </p:txBody>
      </p:sp>
      <p:sp>
        <p:nvSpPr>
          <p:cNvPr id="3" name="Content Placeholder 2">
            <a:extLst>
              <a:ext uri="{FF2B5EF4-FFF2-40B4-BE49-F238E27FC236}">
                <a16:creationId xmlns:a16="http://schemas.microsoft.com/office/drawing/2014/main" id="{F3109B70-B2CB-B277-7C08-78EEC88356A6}"/>
              </a:ext>
            </a:extLst>
          </p:cNvPr>
          <p:cNvSpPr>
            <a:spLocks noGrp="1"/>
          </p:cNvSpPr>
          <p:nvPr>
            <p:ph idx="1"/>
          </p:nvPr>
        </p:nvSpPr>
        <p:spPr/>
        <p:txBody>
          <a:bodyPr>
            <a:normAutofit fontScale="92500" lnSpcReduction="20000"/>
          </a:bodyPr>
          <a:lstStyle/>
          <a:p>
            <a:r>
              <a:rPr lang="ru-RU" b="1" dirty="0"/>
              <a:t>Закон Мура:</a:t>
            </a:r>
          </a:p>
          <a:p>
            <a:r>
              <a:rPr lang="ru-RU" dirty="0"/>
              <a:t>плотность транзисторов на кристалле удваивается примерно каждые 2 года</a:t>
            </a:r>
          </a:p>
          <a:p>
            <a:r>
              <a:rPr lang="ru-RU" b="1" dirty="0"/>
              <a:t>Ограничения масштабирования:</a:t>
            </a:r>
            <a:endParaRPr lang="ru-RU" dirty="0"/>
          </a:p>
          <a:p>
            <a:pPr lvl="1"/>
            <a:r>
              <a:rPr lang="ru-RU" dirty="0"/>
              <a:t>экспоненциальный рост стоимости разработки чипов</a:t>
            </a:r>
          </a:p>
          <a:p>
            <a:pPr lvl="1"/>
            <a:r>
              <a:rPr lang="ru-RU" dirty="0"/>
              <a:t>физические пределы миниатюризации</a:t>
            </a:r>
          </a:p>
          <a:p>
            <a:pPr lvl="1"/>
            <a:r>
              <a:rPr lang="ru-RU" dirty="0"/>
              <a:t>тепловые и энергетические ограничения</a:t>
            </a:r>
          </a:p>
          <a:p>
            <a:r>
              <a:rPr lang="ru-RU" b="1" dirty="0"/>
              <a:t>Следствие:</a:t>
            </a:r>
            <a:endParaRPr lang="ru-RU" dirty="0"/>
          </a:p>
          <a:p>
            <a:pPr lvl="1"/>
            <a:r>
              <a:rPr lang="ru-RU" dirty="0"/>
              <a:t>рост тактовой частоты практически остановился</a:t>
            </a:r>
          </a:p>
          <a:p>
            <a:r>
              <a:rPr lang="ru-RU" b="1" dirty="0"/>
              <a:t>Современный подход:</a:t>
            </a:r>
            <a:endParaRPr lang="ru-RU" dirty="0"/>
          </a:p>
          <a:p>
            <a:pPr lvl="1"/>
            <a:r>
              <a:rPr lang="ru-RU" dirty="0"/>
              <a:t>увеличение производительности за счёт параллелизма</a:t>
            </a:r>
          </a:p>
          <a:p>
            <a:pPr lvl="1"/>
            <a:r>
              <a:rPr lang="ru-RU" dirty="0"/>
              <a:t>больше ядер, SIMD, GPU</a:t>
            </a:r>
          </a:p>
        </p:txBody>
      </p:sp>
    </p:spTree>
    <p:extLst>
      <p:ext uri="{BB962C8B-B14F-4D97-AF65-F5344CB8AC3E}">
        <p14:creationId xmlns:p14="http://schemas.microsoft.com/office/powerpoint/2010/main" val="4240071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85E0072-7867-7D8E-8DE0-552D7D9159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2144" y="262992"/>
            <a:ext cx="8558480" cy="6332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6729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D344A-3334-DC75-50ED-50859918AF01}"/>
              </a:ext>
            </a:extLst>
          </p:cNvPr>
          <p:cNvSpPr>
            <a:spLocks noGrp="1"/>
          </p:cNvSpPr>
          <p:nvPr>
            <p:ph type="title"/>
          </p:nvPr>
        </p:nvSpPr>
        <p:spPr/>
        <p:txBody>
          <a:bodyPr/>
          <a:lstStyle/>
          <a:p>
            <a:r>
              <a:rPr lang="ru-RU" dirty="0"/>
              <a:t>Конкурентность для повышения производительности</a:t>
            </a:r>
            <a:endParaRPr lang="en-US" dirty="0"/>
          </a:p>
        </p:txBody>
      </p:sp>
      <p:sp>
        <p:nvSpPr>
          <p:cNvPr id="3" name="Content Placeholder 2">
            <a:extLst>
              <a:ext uri="{FF2B5EF4-FFF2-40B4-BE49-F238E27FC236}">
                <a16:creationId xmlns:a16="http://schemas.microsoft.com/office/drawing/2014/main" id="{0377F268-84E7-3703-4018-E53DA0F620DB}"/>
              </a:ext>
            </a:extLst>
          </p:cNvPr>
          <p:cNvSpPr>
            <a:spLocks noGrp="1"/>
          </p:cNvSpPr>
          <p:nvPr>
            <p:ph idx="1"/>
          </p:nvPr>
        </p:nvSpPr>
        <p:spPr/>
        <p:txBody>
          <a:bodyPr>
            <a:normAutofit/>
          </a:bodyPr>
          <a:lstStyle/>
          <a:p>
            <a:r>
              <a:rPr lang="ru-RU" b="1" dirty="0"/>
              <a:t>Современное оборудование:</a:t>
            </a:r>
            <a:endParaRPr lang="ru-RU" dirty="0"/>
          </a:p>
          <a:p>
            <a:pPr lvl="1"/>
            <a:r>
              <a:rPr lang="ru-RU" dirty="0"/>
              <a:t>многоядерные CPU в настольных и мобильных устройствах</a:t>
            </a:r>
          </a:p>
          <a:p>
            <a:pPr lvl="1"/>
            <a:r>
              <a:rPr lang="ru-RU" dirty="0"/>
              <a:t>многопроцессорные системы и GPU</a:t>
            </a:r>
          </a:p>
          <a:p>
            <a:r>
              <a:rPr lang="ru-RU" b="1" dirty="0"/>
              <a:t>Как растёт производительность:</a:t>
            </a:r>
            <a:endParaRPr lang="ru-RU" dirty="0"/>
          </a:p>
          <a:p>
            <a:pPr lvl="1"/>
            <a:r>
              <a:rPr lang="ru-RU" dirty="0"/>
              <a:t>за счёт увеличения числа вычислительных ресурсов</a:t>
            </a:r>
          </a:p>
          <a:p>
            <a:pPr lvl="1"/>
            <a:r>
              <a:rPr lang="ru-RU" dirty="0"/>
              <a:t>а не за счёт ускорения одного ядра</a:t>
            </a:r>
          </a:p>
          <a:p>
            <a:r>
              <a:rPr lang="ru-RU" b="1" dirty="0"/>
              <a:t>Роль конкурентности:</a:t>
            </a:r>
            <a:endParaRPr lang="ru-RU" dirty="0"/>
          </a:p>
          <a:p>
            <a:pPr lvl="1"/>
            <a:r>
              <a:rPr lang="ru-RU" dirty="0"/>
              <a:t>конкурентная структура позволяет задействовать параллелизм</a:t>
            </a:r>
          </a:p>
          <a:p>
            <a:pPr lvl="1"/>
            <a:r>
              <a:rPr lang="ru-RU" dirty="0"/>
              <a:t>без конкурентности дополнительные ядра простаивают</a:t>
            </a:r>
          </a:p>
        </p:txBody>
      </p:sp>
    </p:spTree>
    <p:extLst>
      <p:ext uri="{BB962C8B-B14F-4D97-AF65-F5344CB8AC3E}">
        <p14:creationId xmlns:p14="http://schemas.microsoft.com/office/powerpoint/2010/main" val="20409296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3591C-9D97-F992-6DEC-F45148976777}"/>
              </a:ext>
            </a:extLst>
          </p:cNvPr>
          <p:cNvSpPr>
            <a:spLocks noGrp="1"/>
          </p:cNvSpPr>
          <p:nvPr>
            <p:ph type="title"/>
          </p:nvPr>
        </p:nvSpPr>
        <p:spPr/>
        <p:txBody>
          <a:bodyPr/>
          <a:lstStyle/>
          <a:p>
            <a:r>
              <a:rPr lang="ru-RU" dirty="0"/>
              <a:t>Виды параллелизма</a:t>
            </a:r>
            <a:endParaRPr lang="en-US" dirty="0"/>
          </a:p>
        </p:txBody>
      </p:sp>
      <p:sp>
        <p:nvSpPr>
          <p:cNvPr id="3" name="Content Placeholder 2">
            <a:extLst>
              <a:ext uri="{FF2B5EF4-FFF2-40B4-BE49-F238E27FC236}">
                <a16:creationId xmlns:a16="http://schemas.microsoft.com/office/drawing/2014/main" id="{8D14F561-EDD3-D04C-97D8-A8CCAF5A12AB}"/>
              </a:ext>
            </a:extLst>
          </p:cNvPr>
          <p:cNvSpPr>
            <a:spLocks noGrp="1"/>
          </p:cNvSpPr>
          <p:nvPr>
            <p:ph idx="1"/>
          </p:nvPr>
        </p:nvSpPr>
        <p:spPr/>
        <p:txBody>
          <a:bodyPr>
            <a:normAutofit lnSpcReduction="10000"/>
          </a:bodyPr>
          <a:lstStyle/>
          <a:p>
            <a:r>
              <a:rPr lang="ru-RU" b="1" dirty="0"/>
              <a:t>Параллелизм задач (Task </a:t>
            </a:r>
            <a:r>
              <a:rPr lang="ru-RU" b="1" dirty="0" err="1"/>
              <a:t>Parallelism</a:t>
            </a:r>
            <a:r>
              <a:rPr lang="ru-RU" b="1" dirty="0"/>
              <a:t>):</a:t>
            </a:r>
            <a:endParaRPr lang="ru-RU" dirty="0"/>
          </a:p>
          <a:p>
            <a:pPr lvl="1"/>
            <a:r>
              <a:rPr lang="ru-RU" dirty="0"/>
              <a:t>разные логические части алгоритма выполняются параллельно</a:t>
            </a:r>
          </a:p>
          <a:p>
            <a:pPr lvl="1"/>
            <a:r>
              <a:rPr lang="ru-RU" dirty="0"/>
              <a:t>реализуется через потоки и процессы</a:t>
            </a:r>
          </a:p>
          <a:p>
            <a:pPr lvl="1"/>
            <a:r>
              <a:rPr lang="ru-RU" dirty="0"/>
              <a:t>характерен для серверов, UI, конвейеров обработки</a:t>
            </a:r>
          </a:p>
          <a:p>
            <a:r>
              <a:rPr lang="ru-RU" b="1" dirty="0"/>
              <a:t>Параллелизм данных (Data </a:t>
            </a:r>
            <a:r>
              <a:rPr lang="ru-RU" b="1" dirty="0" err="1"/>
              <a:t>Parallelism</a:t>
            </a:r>
            <a:r>
              <a:rPr lang="ru-RU" b="1" dirty="0"/>
              <a:t>):</a:t>
            </a:r>
            <a:endParaRPr lang="ru-RU" dirty="0"/>
          </a:p>
          <a:p>
            <a:pPr lvl="1"/>
            <a:r>
              <a:rPr lang="ru-RU" dirty="0"/>
              <a:t>одна и та же операция применяется к разным элементам данных</a:t>
            </a:r>
          </a:p>
          <a:p>
            <a:pPr lvl="1"/>
            <a:r>
              <a:rPr lang="ru-RU" dirty="0"/>
              <a:t>реализуется через SIMD, AVX, GPU</a:t>
            </a:r>
          </a:p>
          <a:p>
            <a:pPr lvl="1"/>
            <a:r>
              <a:rPr lang="ru-RU" dirty="0"/>
              <a:t>увеличивает пропускную способность обработки данных</a:t>
            </a:r>
          </a:p>
          <a:p>
            <a:r>
              <a:rPr lang="ru-RU" b="1" dirty="0"/>
              <a:t>Ключевая идея:</a:t>
            </a:r>
            <a:endParaRPr lang="ru-RU" dirty="0"/>
          </a:p>
          <a:p>
            <a:pPr lvl="1"/>
            <a:r>
              <a:rPr lang="ru-RU" dirty="0"/>
              <a:t>задача ускоряется либо за счёт разделения работы, либо за счёт одновременной обработки данных</a:t>
            </a:r>
          </a:p>
        </p:txBody>
      </p:sp>
    </p:spTree>
    <p:extLst>
      <p:ext uri="{BB962C8B-B14F-4D97-AF65-F5344CB8AC3E}">
        <p14:creationId xmlns:p14="http://schemas.microsoft.com/office/powerpoint/2010/main" val="3301880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30479-223B-6CEB-41DB-892C4C4B6BBC}"/>
              </a:ext>
            </a:extLst>
          </p:cNvPr>
          <p:cNvSpPr>
            <a:spLocks noGrp="1"/>
          </p:cNvSpPr>
          <p:nvPr>
            <p:ph type="title"/>
          </p:nvPr>
        </p:nvSpPr>
        <p:spPr/>
        <p:txBody>
          <a:bodyPr/>
          <a:lstStyle/>
          <a:p>
            <a:r>
              <a:rPr lang="ru-RU" noProof="0" dirty="0"/>
              <a:t>Чрезвычайная параллельность</a:t>
            </a:r>
          </a:p>
        </p:txBody>
      </p:sp>
      <p:sp>
        <p:nvSpPr>
          <p:cNvPr id="3" name="Content Placeholder 2">
            <a:extLst>
              <a:ext uri="{FF2B5EF4-FFF2-40B4-BE49-F238E27FC236}">
                <a16:creationId xmlns:a16="http://schemas.microsoft.com/office/drawing/2014/main" id="{AF9C09EF-7B0F-18E9-C40D-4EA340CAB4CF}"/>
              </a:ext>
            </a:extLst>
          </p:cNvPr>
          <p:cNvSpPr>
            <a:spLocks noGrp="1"/>
          </p:cNvSpPr>
          <p:nvPr>
            <p:ph idx="1"/>
          </p:nvPr>
        </p:nvSpPr>
        <p:spPr/>
        <p:txBody>
          <a:bodyPr>
            <a:normAutofit fontScale="92500" lnSpcReduction="20000"/>
          </a:bodyPr>
          <a:lstStyle/>
          <a:p>
            <a:r>
              <a:rPr lang="ru-RU" b="1" dirty="0"/>
              <a:t>Чрезвычайная параллельность</a:t>
            </a:r>
            <a:r>
              <a:rPr lang="ru-RU" dirty="0"/>
              <a:t> — ситуации, где задачи почти не зависят друг от друга и требуют минимальной синхронизации.</a:t>
            </a:r>
          </a:p>
          <a:p>
            <a:r>
              <a:rPr lang="ru-RU" b="1" dirty="0"/>
              <a:t>Характерные признаки:</a:t>
            </a:r>
            <a:endParaRPr lang="ru-RU" dirty="0"/>
          </a:p>
          <a:p>
            <a:pPr lvl="1"/>
            <a:r>
              <a:rPr lang="ru-RU" dirty="0"/>
              <a:t>независимые вычисления</a:t>
            </a:r>
          </a:p>
          <a:p>
            <a:pPr lvl="1"/>
            <a:r>
              <a:rPr lang="ru-RU" dirty="0"/>
              <a:t>отсутствие общего состояния</a:t>
            </a:r>
          </a:p>
          <a:p>
            <a:pPr lvl="1"/>
            <a:r>
              <a:rPr lang="ru-RU" dirty="0"/>
              <a:t>линейное масштабирование с ростом ресурсов</a:t>
            </a:r>
          </a:p>
          <a:p>
            <a:r>
              <a:rPr lang="ru-RU" b="1" dirty="0"/>
              <a:t>Примеры задач:</a:t>
            </a:r>
            <a:endParaRPr lang="ru-RU" dirty="0"/>
          </a:p>
          <a:p>
            <a:pPr lvl="1"/>
            <a:r>
              <a:rPr lang="ru-RU" dirty="0"/>
              <a:t>рендеринг 3D-графики</a:t>
            </a:r>
          </a:p>
          <a:p>
            <a:pPr lvl="1"/>
            <a:r>
              <a:rPr lang="ru-RU" dirty="0"/>
              <a:t>обработка и распознавание изображений</a:t>
            </a:r>
          </a:p>
          <a:p>
            <a:pPr lvl="1"/>
            <a:r>
              <a:rPr lang="ru-RU" dirty="0"/>
              <a:t>моделирование систем частиц</a:t>
            </a:r>
          </a:p>
          <a:p>
            <a:pPr lvl="1"/>
            <a:r>
              <a:rPr lang="ru-RU" dirty="0"/>
              <a:t>отдача статических файлов</a:t>
            </a:r>
          </a:p>
          <a:p>
            <a:pPr lvl="1"/>
            <a:r>
              <a:rPr lang="ru-RU" dirty="0"/>
              <a:t>майнинг криптовалют</a:t>
            </a:r>
          </a:p>
          <a:p>
            <a:pPr lvl="1"/>
            <a:r>
              <a:rPr lang="ru-RU" dirty="0"/>
              <a:t>перебор паролей</a:t>
            </a:r>
          </a:p>
        </p:txBody>
      </p:sp>
    </p:spTree>
    <p:extLst>
      <p:ext uri="{BB962C8B-B14F-4D97-AF65-F5344CB8AC3E}">
        <p14:creationId xmlns:p14="http://schemas.microsoft.com/office/powerpoint/2010/main" val="20543181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C5F622-47E6-F031-20E5-D141323D0DDC}"/>
              </a:ext>
            </a:extLst>
          </p:cNvPr>
          <p:cNvSpPr>
            <a:spLocks noGrp="1"/>
          </p:cNvSpPr>
          <p:nvPr>
            <p:ph type="title"/>
          </p:nvPr>
        </p:nvSpPr>
        <p:spPr/>
        <p:txBody>
          <a:bodyPr/>
          <a:lstStyle/>
          <a:p>
            <a:r>
              <a:rPr lang="ru-RU" dirty="0"/>
              <a:t>Когда не следует использовать конкурентность</a:t>
            </a:r>
            <a:endParaRPr lang="en-US" dirty="0"/>
          </a:p>
        </p:txBody>
      </p:sp>
      <p:sp>
        <p:nvSpPr>
          <p:cNvPr id="5" name="Content Placeholder 4">
            <a:extLst>
              <a:ext uri="{FF2B5EF4-FFF2-40B4-BE49-F238E27FC236}">
                <a16:creationId xmlns:a16="http://schemas.microsoft.com/office/drawing/2014/main" id="{1E31C0BF-1A10-C334-7D99-323B30A6C6F0}"/>
              </a:ext>
            </a:extLst>
          </p:cNvPr>
          <p:cNvSpPr>
            <a:spLocks noGrp="1"/>
          </p:cNvSpPr>
          <p:nvPr>
            <p:ph idx="1"/>
          </p:nvPr>
        </p:nvSpPr>
        <p:spPr/>
        <p:txBody>
          <a:bodyPr>
            <a:normAutofit fontScale="92500" lnSpcReduction="10000"/>
          </a:bodyPr>
          <a:lstStyle/>
          <a:p>
            <a:r>
              <a:rPr lang="ru-RU" b="1" dirty="0"/>
              <a:t>Цена конкурентности:</a:t>
            </a:r>
            <a:endParaRPr lang="ru-RU" dirty="0"/>
          </a:p>
          <a:p>
            <a:pPr lvl="1"/>
            <a:r>
              <a:rPr lang="ru-RU" dirty="0"/>
              <a:t>рост сложности кода и отладки</a:t>
            </a:r>
          </a:p>
          <a:p>
            <a:pPr lvl="1"/>
            <a:r>
              <a:rPr lang="ru-RU" dirty="0"/>
              <a:t>появление трудноуловимых ошибок</a:t>
            </a:r>
          </a:p>
          <a:p>
            <a:r>
              <a:rPr lang="ru-RU" b="1" dirty="0"/>
              <a:t>Ограничения производительности:</a:t>
            </a:r>
            <a:endParaRPr lang="ru-RU" dirty="0"/>
          </a:p>
          <a:p>
            <a:pPr lvl="1"/>
            <a:r>
              <a:rPr lang="ru-RU" dirty="0"/>
              <a:t>не всегда даёт ускорение</a:t>
            </a:r>
          </a:p>
          <a:p>
            <a:pPr lvl="1"/>
            <a:r>
              <a:rPr lang="ru-RU" dirty="0"/>
              <a:t>накладные расходы могут превышать выигрыш</a:t>
            </a:r>
          </a:p>
          <a:p>
            <a:r>
              <a:rPr lang="ru-RU" b="1" dirty="0"/>
              <a:t>Ограничения ресурсов:</a:t>
            </a:r>
            <a:endParaRPr lang="ru-RU" dirty="0"/>
          </a:p>
          <a:p>
            <a:pPr lvl="1"/>
            <a:r>
              <a:rPr lang="ru-RU" dirty="0"/>
              <a:t>потоки — ограниченный ресурс ОС</a:t>
            </a:r>
          </a:p>
          <a:p>
            <a:pPr lvl="1"/>
            <a:r>
              <a:rPr lang="ru-RU" dirty="0"/>
              <a:t>частые переключения контекста снижают производительность</a:t>
            </a:r>
          </a:p>
          <a:p>
            <a:r>
              <a:rPr lang="ru-RU" b="1" dirty="0"/>
              <a:t>Правило принятия решения:</a:t>
            </a:r>
            <a:endParaRPr lang="ru-RU" dirty="0"/>
          </a:p>
          <a:p>
            <a:pPr lvl="1"/>
            <a:r>
              <a:rPr lang="ru-RU" dirty="0"/>
              <a:t>используйте конкурентность только если выгода превышает затраты</a:t>
            </a:r>
          </a:p>
        </p:txBody>
      </p:sp>
    </p:spTree>
    <p:extLst>
      <p:ext uri="{BB962C8B-B14F-4D97-AF65-F5344CB8AC3E}">
        <p14:creationId xmlns:p14="http://schemas.microsoft.com/office/powerpoint/2010/main" val="1036907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500"/>
                                        <p:tgtEl>
                                          <p:spTgt spid="5">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fade">
                                      <p:cBhvr>
                                        <p:cTn id="29" dur="500"/>
                                        <p:tgtEl>
                                          <p:spTgt spid="5">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500"/>
                                        <p:tgtEl>
                                          <p:spTgt spid="5">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fade">
                                      <p:cBhvr>
                                        <p:cTn id="35" dur="500"/>
                                        <p:tgtEl>
                                          <p:spTgt spid="5">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
                                            <p:txEl>
                                              <p:pRg st="9" end="9"/>
                                            </p:txEl>
                                          </p:spTgt>
                                        </p:tgtEl>
                                        <p:attrNameLst>
                                          <p:attrName>style.visibility</p:attrName>
                                        </p:attrNameLst>
                                      </p:cBhvr>
                                      <p:to>
                                        <p:strVal val="visible"/>
                                      </p:to>
                                    </p:set>
                                    <p:animEffect transition="in" filter="fade">
                                      <p:cBhvr>
                                        <p:cTn id="40" dur="500"/>
                                        <p:tgtEl>
                                          <p:spTgt spid="5">
                                            <p:txEl>
                                              <p:pRg st="9" end="9"/>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5">
                                            <p:txEl>
                                              <p:pRg st="10" end="10"/>
                                            </p:txEl>
                                          </p:spTgt>
                                        </p:tgtEl>
                                        <p:attrNameLst>
                                          <p:attrName>style.visibility</p:attrName>
                                        </p:attrNameLst>
                                      </p:cBhvr>
                                      <p:to>
                                        <p:strVal val="visible"/>
                                      </p:to>
                                    </p:set>
                                    <p:animEffect transition="in" filter="fade">
                                      <p:cBhvr>
                                        <p:cTn id="43"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31F69-C2AC-BCA7-FC95-C761A7E5CE7D}"/>
              </a:ext>
            </a:extLst>
          </p:cNvPr>
          <p:cNvSpPr>
            <a:spLocks noGrp="1"/>
          </p:cNvSpPr>
          <p:nvPr>
            <p:ph type="title"/>
          </p:nvPr>
        </p:nvSpPr>
        <p:spPr/>
        <p:txBody>
          <a:bodyPr/>
          <a:lstStyle/>
          <a:p>
            <a:r>
              <a:rPr lang="ru-RU" dirty="0"/>
              <a:t>Пример: многопоточный веб-сервер</a:t>
            </a:r>
            <a:endParaRPr lang="en-US" dirty="0"/>
          </a:p>
        </p:txBody>
      </p:sp>
      <p:sp>
        <p:nvSpPr>
          <p:cNvPr id="3" name="Content Placeholder 2">
            <a:extLst>
              <a:ext uri="{FF2B5EF4-FFF2-40B4-BE49-F238E27FC236}">
                <a16:creationId xmlns:a16="http://schemas.microsoft.com/office/drawing/2014/main" id="{57442BA8-B782-93E9-DA76-BCAACC48BD83}"/>
              </a:ext>
            </a:extLst>
          </p:cNvPr>
          <p:cNvSpPr>
            <a:spLocks noGrp="1"/>
          </p:cNvSpPr>
          <p:nvPr>
            <p:ph idx="1"/>
          </p:nvPr>
        </p:nvSpPr>
        <p:spPr/>
        <p:txBody>
          <a:bodyPr>
            <a:normAutofit/>
          </a:bodyPr>
          <a:lstStyle/>
          <a:p>
            <a:r>
              <a:rPr lang="ru-RU" b="1" dirty="0"/>
              <a:t>Наивный подход:</a:t>
            </a:r>
            <a:endParaRPr lang="ru-RU" dirty="0"/>
          </a:p>
          <a:p>
            <a:pPr lvl="1"/>
            <a:r>
              <a:rPr lang="ru-RU" dirty="0"/>
              <a:t>один поток на каждое соединение</a:t>
            </a:r>
          </a:p>
          <a:p>
            <a:pPr lvl="1"/>
            <a:r>
              <a:rPr lang="ru-RU" dirty="0"/>
              <a:t>хорошо работает при малом числе клиентов</a:t>
            </a:r>
          </a:p>
          <a:p>
            <a:r>
              <a:rPr lang="ru-RU" b="1" dirty="0"/>
              <a:t>Проблемы масштабирования:</a:t>
            </a:r>
            <a:endParaRPr lang="ru-RU" dirty="0"/>
          </a:p>
          <a:p>
            <a:pPr lvl="1"/>
            <a:r>
              <a:rPr lang="ru-RU" dirty="0"/>
              <a:t>тысячи соединений → тысячи потоков</a:t>
            </a:r>
          </a:p>
          <a:p>
            <a:pPr lvl="1"/>
            <a:r>
              <a:rPr lang="ru-RU" dirty="0"/>
              <a:t>рост потребления памяти и переключений контекста</a:t>
            </a:r>
          </a:p>
          <a:p>
            <a:r>
              <a:rPr lang="ru-RU" b="1" dirty="0"/>
              <a:t>Практический подход:</a:t>
            </a:r>
            <a:endParaRPr lang="ru-RU" dirty="0"/>
          </a:p>
          <a:p>
            <a:pPr lvl="1"/>
            <a:r>
              <a:rPr lang="ru-RU" dirty="0"/>
              <a:t>ограниченный пул потоков</a:t>
            </a:r>
          </a:p>
          <a:p>
            <a:pPr lvl="1"/>
            <a:r>
              <a:rPr lang="ru-RU" dirty="0"/>
              <a:t>асинхронный ввод-вывод</a:t>
            </a:r>
          </a:p>
          <a:p>
            <a:pPr lvl="1"/>
            <a:r>
              <a:rPr lang="ru-RU" dirty="0"/>
              <a:t>обработка множества соединений малым числом потоков</a:t>
            </a:r>
          </a:p>
        </p:txBody>
      </p:sp>
    </p:spTree>
    <p:extLst>
      <p:ext uri="{BB962C8B-B14F-4D97-AF65-F5344CB8AC3E}">
        <p14:creationId xmlns:p14="http://schemas.microsoft.com/office/powerpoint/2010/main" val="31218433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BA9CB-6BBE-617A-E867-B73DD0694A74}"/>
              </a:ext>
            </a:extLst>
          </p:cNvPr>
          <p:cNvSpPr>
            <a:spLocks noGrp="1"/>
          </p:cNvSpPr>
          <p:nvPr>
            <p:ph type="title"/>
          </p:nvPr>
        </p:nvSpPr>
        <p:spPr/>
        <p:txBody>
          <a:bodyPr/>
          <a:lstStyle/>
          <a:p>
            <a:r>
              <a:rPr lang="ru-RU" dirty="0"/>
              <a:t>Список литературы</a:t>
            </a:r>
            <a:endParaRPr lang="en-US" dirty="0"/>
          </a:p>
        </p:txBody>
      </p:sp>
      <p:sp>
        <p:nvSpPr>
          <p:cNvPr id="3" name="Content Placeholder 2">
            <a:extLst>
              <a:ext uri="{FF2B5EF4-FFF2-40B4-BE49-F238E27FC236}">
                <a16:creationId xmlns:a16="http://schemas.microsoft.com/office/drawing/2014/main" id="{7794D144-DBDE-9ADF-B9C7-C8EB77D8279F}"/>
              </a:ext>
            </a:extLst>
          </p:cNvPr>
          <p:cNvSpPr>
            <a:spLocks noGrp="1"/>
          </p:cNvSpPr>
          <p:nvPr>
            <p:ph idx="1"/>
          </p:nvPr>
        </p:nvSpPr>
        <p:spPr/>
        <p:txBody>
          <a:bodyPr/>
          <a:lstStyle/>
          <a:p>
            <a:r>
              <a:rPr lang="en-US" dirty="0"/>
              <a:t>Williams Anthony, “C++ Concurrency in Action, 2</a:t>
            </a:r>
            <a:r>
              <a:rPr lang="en-US" baseline="30000" dirty="0"/>
              <a:t>nd</a:t>
            </a:r>
            <a:r>
              <a:rPr lang="en-US" dirty="0"/>
              <a:t> Edition”</a:t>
            </a:r>
            <a:endParaRPr lang="ru-RU" dirty="0"/>
          </a:p>
          <a:p>
            <a:r>
              <a:rPr lang="en-US" dirty="0"/>
              <a:t>Maurice Herlihy, Nir Shavit “The Art of Multiprocessor Programming”</a:t>
            </a:r>
          </a:p>
          <a:p>
            <a:endParaRPr lang="en-US" dirty="0"/>
          </a:p>
        </p:txBody>
      </p:sp>
    </p:spTree>
    <p:extLst>
      <p:ext uri="{BB962C8B-B14F-4D97-AF65-F5344CB8AC3E}">
        <p14:creationId xmlns:p14="http://schemas.microsoft.com/office/powerpoint/2010/main" val="5495008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B7C22-5726-A0B7-3A27-360D910EEBF1}"/>
              </a:ext>
            </a:extLst>
          </p:cNvPr>
          <p:cNvSpPr>
            <a:spLocks noGrp="1"/>
          </p:cNvSpPr>
          <p:nvPr>
            <p:ph type="title"/>
          </p:nvPr>
        </p:nvSpPr>
        <p:spPr/>
        <p:txBody>
          <a:bodyPr/>
          <a:lstStyle/>
          <a:p>
            <a:r>
              <a:rPr lang="ru-RU" dirty="0"/>
              <a:t>Вопросы</a:t>
            </a:r>
            <a:r>
              <a:rPr lang="en-US" dirty="0"/>
              <a:t>?</a:t>
            </a:r>
          </a:p>
        </p:txBody>
      </p:sp>
      <p:sp>
        <p:nvSpPr>
          <p:cNvPr id="4" name="Text Placeholder 3">
            <a:extLst>
              <a:ext uri="{FF2B5EF4-FFF2-40B4-BE49-F238E27FC236}">
                <a16:creationId xmlns:a16="http://schemas.microsoft.com/office/drawing/2014/main" id="{680E663F-ACF5-0B33-EACF-F57F7735F63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836234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2305</TotalTime>
  <Words>5778</Words>
  <Application>Microsoft Office PowerPoint</Application>
  <PresentationFormat>Widescreen</PresentationFormat>
  <Paragraphs>552</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Aptos Display</vt:lpstr>
      <vt:lpstr>Arial</vt:lpstr>
      <vt:lpstr>Consolas</vt:lpstr>
      <vt:lpstr>Office Theme</vt:lpstr>
      <vt:lpstr>Конкурентность  и параллелизм</vt:lpstr>
      <vt:lpstr>Конкурентность (Concurrency)</vt:lpstr>
      <vt:lpstr>Параллелизм (Parallelism)</vt:lpstr>
      <vt:lpstr>Предпосылки использования конкурентности</vt:lpstr>
      <vt:lpstr>Отличие конкурентности от параллелизма</vt:lpstr>
      <vt:lpstr>Конкурентное и параллельное выполнение</vt:lpstr>
      <vt:lpstr>Выполнение задач на многоядерном компьютере</vt:lpstr>
      <vt:lpstr>Подходы к конкурентности</vt:lpstr>
      <vt:lpstr>Два подхода к конкурентности </vt:lpstr>
      <vt:lpstr>Многопроцессность</vt:lpstr>
      <vt:lpstr>PowerPoint Presentation</vt:lpstr>
      <vt:lpstr>Многопоточность</vt:lpstr>
      <vt:lpstr>Векторизация</vt:lpstr>
      <vt:lpstr>Векторное сложение элементов массивов</vt:lpstr>
      <vt:lpstr>Векторное сложение массивов (AVX2)</vt:lpstr>
      <vt:lpstr>Параллельные вычисления на GPU</vt:lpstr>
      <vt:lpstr>Для чего использовать конкурентность?</vt:lpstr>
      <vt:lpstr>Конкурентность для разделения ответственности</vt:lpstr>
      <vt:lpstr>Пример: многопоточный видео-плеер</vt:lpstr>
      <vt:lpstr>Закон Мура и конец роста тактовой частоты</vt:lpstr>
      <vt:lpstr>PowerPoint Presentation</vt:lpstr>
      <vt:lpstr>Конкурентность для повышения производительности</vt:lpstr>
      <vt:lpstr>Виды параллелизма</vt:lpstr>
      <vt:lpstr>Чрезвычайная параллельность</vt:lpstr>
      <vt:lpstr>Когда не следует использовать конкурентность</vt:lpstr>
      <vt:lpstr>Пример: многопоточный веб-сервер</vt:lpstr>
      <vt:lpstr>Список литературы</vt:lpstr>
      <vt:lpstr>Вопросы?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Алексей Малов</dc:creator>
  <cp:lastModifiedBy>Алексей Малов</cp:lastModifiedBy>
  <cp:revision>67</cp:revision>
  <dcterms:created xsi:type="dcterms:W3CDTF">2024-08-02T19:39:14Z</dcterms:created>
  <dcterms:modified xsi:type="dcterms:W3CDTF">2026-02-06T17:44:19Z</dcterms:modified>
</cp:coreProperties>
</file>